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ags/tag1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20.xml" ContentType="application/vnd.openxmlformats-officedocument.presentationml.tags+xml"/>
  <Override PartName="/ppt/notesSlides/notesSlide44.xml" ContentType="application/vnd.openxmlformats-officedocument.presentationml.notesSlide+xml"/>
  <Override PartName="/ppt/tags/tag21.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47.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53.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1"/>
  </p:sldMasterIdLst>
  <p:notesMasterIdLst>
    <p:notesMasterId r:id="rId72"/>
  </p:notesMasterIdLst>
  <p:sldIdLst>
    <p:sldId id="499" r:id="rId12"/>
    <p:sldId id="282" r:id="rId13"/>
    <p:sldId id="2147483585" r:id="rId14"/>
    <p:sldId id="2142533328" r:id="rId15"/>
    <p:sldId id="2147483582" r:id="rId16"/>
    <p:sldId id="2147473902" r:id="rId17"/>
    <p:sldId id="2147483602" r:id="rId18"/>
    <p:sldId id="2147479640" r:id="rId19"/>
    <p:sldId id="2147483589" r:id="rId20"/>
    <p:sldId id="2147473904" r:id="rId21"/>
    <p:sldId id="2147483590" r:id="rId22"/>
    <p:sldId id="2142533238" r:id="rId23"/>
    <p:sldId id="2147483587" r:id="rId24"/>
    <p:sldId id="2147473906" r:id="rId25"/>
    <p:sldId id="2147473911" r:id="rId26"/>
    <p:sldId id="2147473912" r:id="rId27"/>
    <p:sldId id="2147473907" r:id="rId28"/>
    <p:sldId id="2147473914" r:id="rId29"/>
    <p:sldId id="2147473913" r:id="rId30"/>
    <p:sldId id="2147475101" r:id="rId31"/>
    <p:sldId id="2147473908" r:id="rId32"/>
    <p:sldId id="2142533348" r:id="rId33"/>
    <p:sldId id="2147473909" r:id="rId34"/>
    <p:sldId id="2147483584" r:id="rId35"/>
    <p:sldId id="2142534241" r:id="rId36"/>
    <p:sldId id="2147483588" r:id="rId37"/>
    <p:sldId id="2147483586" r:id="rId38"/>
    <p:sldId id="2147483583" r:id="rId39"/>
    <p:sldId id="2142533320" r:id="rId40"/>
    <p:sldId id="285" r:id="rId41"/>
    <p:sldId id="270" r:id="rId42"/>
    <p:sldId id="2147483597" r:id="rId43"/>
    <p:sldId id="2147473905" r:id="rId44"/>
    <p:sldId id="2147475103" r:id="rId45"/>
    <p:sldId id="2147483599" r:id="rId46"/>
    <p:sldId id="2147483591" r:id="rId47"/>
    <p:sldId id="2147483593" r:id="rId48"/>
    <p:sldId id="2147483601" r:id="rId49"/>
    <p:sldId id="2147483594" r:id="rId50"/>
    <p:sldId id="2147483596" r:id="rId51"/>
    <p:sldId id="2147483600" r:id="rId52"/>
    <p:sldId id="2147483598" r:id="rId53"/>
    <p:sldId id="2147473898" r:id="rId54"/>
    <p:sldId id="2142534247" r:id="rId55"/>
    <p:sldId id="506" r:id="rId56"/>
    <p:sldId id="262" r:id="rId57"/>
    <p:sldId id="258" r:id="rId58"/>
    <p:sldId id="503" r:id="rId59"/>
    <p:sldId id="260" r:id="rId60"/>
    <p:sldId id="261" r:id="rId61"/>
    <p:sldId id="265" r:id="rId62"/>
    <p:sldId id="264" r:id="rId63"/>
    <p:sldId id="263" r:id="rId64"/>
    <p:sldId id="11755" r:id="rId65"/>
    <p:sldId id="11756" r:id="rId66"/>
    <p:sldId id="11757" r:id="rId67"/>
    <p:sldId id="11758" r:id="rId68"/>
    <p:sldId id="2147473743" r:id="rId69"/>
    <p:sldId id="2147473899" r:id="rId70"/>
    <p:sldId id="2147473900" r:id="rId71"/>
  </p:sldIdLst>
  <p:sldSz cx="12192000" cy="6858000"/>
  <p:notesSz cx="6858000" cy="9144000"/>
  <p:custDataLst>
    <p:custData r:id="rId4"/>
    <p:custData r:id="rId5"/>
    <p:custData r:id="rId6"/>
    <p:custData r:id="rId7"/>
    <p:custData r:id="rId8"/>
    <p:custData r:id="rId9"/>
    <p:custData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36"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37DF7A-A618-48C1-B212-497D1F0F896A}" name="Kevin Pitre" initials="KP" userId="S::3904956@ups.com::67706408-a8f4-41ac-87ea-d9cfa0f43390" providerId="AD"/>
  <p188:author id="{11FC55F8-120D-9FA9-AE40-E0E957A4489C}" name="Charles Russo" initials="CR" userId="S::0041923@ups.com::bc776cd1-5c0c-4f3e-90bb-c22cf4f6689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393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16" Type="http://schemas.openxmlformats.org/officeDocument/2006/relationships/slide" Target="slides/slide5.xml"/><Relationship Id="rId11" Type="http://schemas.openxmlformats.org/officeDocument/2006/relationships/slideMaster" Target="slideMasters/slideMaster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openxmlformats.org/officeDocument/2006/relationships/slide" Target="slides/slide55.xml"/><Relationship Id="rId74" Type="http://schemas.openxmlformats.org/officeDocument/2006/relationships/viewProps" Target="viewProps.xml"/><Relationship Id="rId5" Type="http://schemas.openxmlformats.org/officeDocument/2006/relationships/customXml" Target="../customXml/item5.xml"/><Relationship Id="rId61" Type="http://schemas.openxmlformats.org/officeDocument/2006/relationships/slide" Target="slides/slide50.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microsoft.com/office/2016/11/relationships/changesInfo" Target="changesInfos/changesInfo1.xml"/><Relationship Id="rId8" Type="http://schemas.openxmlformats.org/officeDocument/2006/relationships/customXml" Target="../customXml/item8.xml"/><Relationship Id="rId51" Type="http://schemas.openxmlformats.org/officeDocument/2006/relationships/slide" Target="slides/slide40.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customXml" Target="../customXml/item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presProps" Target="presProps.xml"/><Relationship Id="rId78" Type="http://schemas.microsoft.com/office/2018/10/relationships/authors" Target="author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tableStyles" Target="tableStyles.xml"/><Relationship Id="rId7" Type="http://schemas.openxmlformats.org/officeDocument/2006/relationships/customXml" Target="../customXml/item7.xml"/><Relationship Id="rId71" Type="http://schemas.openxmlformats.org/officeDocument/2006/relationships/slide" Target="slides/slide60.xml"/><Relationship Id="rId2" Type="http://schemas.openxmlformats.org/officeDocument/2006/relationships/customXml" Target="../customXml/item2.xml"/><Relationship Id="rId2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ssa Walston" userId="3abc4d65-f3bd-4821-ad36-dd584e423253" providerId="ADAL" clId="{6D6FB631-18C1-43CB-AA61-0A11F3D91878}"/>
    <pc:docChg chg="custSel delSld modSld">
      <pc:chgData name="Alyssa Walston" userId="3abc4d65-f3bd-4821-ad36-dd584e423253" providerId="ADAL" clId="{6D6FB631-18C1-43CB-AA61-0A11F3D91878}" dt="2026-07-14T15:56:12.311" v="1038"/>
      <pc:docMkLst>
        <pc:docMk/>
      </pc:docMkLst>
      <pc:sldChg chg="delSp modSp mod">
        <pc:chgData name="Alyssa Walston" userId="3abc4d65-f3bd-4821-ad36-dd584e423253" providerId="ADAL" clId="{6D6FB631-18C1-43CB-AA61-0A11F3D91878}" dt="2026-07-14T15:46:40.965" v="251" actId="20577"/>
        <pc:sldMkLst>
          <pc:docMk/>
          <pc:sldMk cId="2122272021" sldId="282"/>
        </pc:sldMkLst>
        <pc:spChg chg="del">
          <ac:chgData name="Alyssa Walston" userId="3abc4d65-f3bd-4821-ad36-dd584e423253" providerId="ADAL" clId="{6D6FB631-18C1-43CB-AA61-0A11F3D91878}" dt="2026-07-14T15:45:41.935" v="178" actId="21"/>
          <ac:spMkLst>
            <pc:docMk/>
            <pc:sldMk cId="2122272021" sldId="282"/>
            <ac:spMk id="2" creationId="{F5D83BD2-AFC1-E1D1-6EB9-B63698D050F8}"/>
          </ac:spMkLst>
        </pc:spChg>
        <pc:spChg chg="mod">
          <ac:chgData name="Alyssa Walston" userId="3abc4d65-f3bd-4821-ad36-dd584e423253" providerId="ADAL" clId="{6D6FB631-18C1-43CB-AA61-0A11F3D91878}" dt="2026-07-14T15:46:40.965" v="251" actId="20577"/>
          <ac:spMkLst>
            <pc:docMk/>
            <pc:sldMk cId="2122272021" sldId="282"/>
            <ac:spMk id="8" creationId="{38E13AAA-1571-488C-BF3D-BFAF1A80E4F9}"/>
          </ac:spMkLst>
        </pc:spChg>
      </pc:sldChg>
      <pc:sldChg chg="del">
        <pc:chgData name="Alyssa Walston" userId="3abc4d65-f3bd-4821-ad36-dd584e423253" providerId="ADAL" clId="{6D6FB631-18C1-43CB-AA61-0A11F3D91878}" dt="2026-07-14T15:46:19.982" v="203" actId="2696"/>
        <pc:sldMkLst>
          <pc:docMk/>
          <pc:sldMk cId="2075033249" sldId="294"/>
        </pc:sldMkLst>
      </pc:sldChg>
      <pc:sldChg chg="modSp mod">
        <pc:chgData name="Alyssa Walston" userId="3abc4d65-f3bd-4821-ad36-dd584e423253" providerId="ADAL" clId="{6D6FB631-18C1-43CB-AA61-0A11F3D91878}" dt="2026-07-14T15:45:33.103" v="177" actId="20577"/>
        <pc:sldMkLst>
          <pc:docMk/>
          <pc:sldMk cId="778175216" sldId="499"/>
        </pc:sldMkLst>
        <pc:spChg chg="mod">
          <ac:chgData name="Alyssa Walston" userId="3abc4d65-f3bd-4821-ad36-dd584e423253" providerId="ADAL" clId="{6D6FB631-18C1-43CB-AA61-0A11F3D91878}" dt="2026-07-14T15:45:19.842" v="157" actId="20577"/>
          <ac:spMkLst>
            <pc:docMk/>
            <pc:sldMk cId="778175216" sldId="499"/>
            <ac:spMk id="7" creationId="{9D5DD448-132D-439E-8AD3-A2AA681A35BB}"/>
          </ac:spMkLst>
        </pc:spChg>
        <pc:spChg chg="mod">
          <ac:chgData name="Alyssa Walston" userId="3abc4d65-f3bd-4821-ad36-dd584e423253" providerId="ADAL" clId="{6D6FB631-18C1-43CB-AA61-0A11F3D91878}" dt="2026-07-14T15:45:33.103" v="177" actId="20577"/>
          <ac:spMkLst>
            <pc:docMk/>
            <pc:sldMk cId="778175216" sldId="499"/>
            <ac:spMk id="8" creationId="{AC1521E4-04A7-4F65-AE24-F3016DC4664E}"/>
          </ac:spMkLst>
        </pc:spChg>
      </pc:sldChg>
      <pc:sldChg chg="modSp del mod">
        <pc:chgData name="Alyssa Walston" userId="3abc4d65-f3bd-4821-ad36-dd584e423253" providerId="ADAL" clId="{6D6FB631-18C1-43CB-AA61-0A11F3D91878}" dt="2026-07-14T15:47:14.790" v="274" actId="2696"/>
        <pc:sldMkLst>
          <pc:docMk/>
          <pc:sldMk cId="2179836643" sldId="2147483581"/>
        </pc:sldMkLst>
        <pc:spChg chg="mod">
          <ac:chgData name="Alyssa Walston" userId="3abc4d65-f3bd-4821-ad36-dd584e423253" providerId="ADAL" clId="{6D6FB631-18C1-43CB-AA61-0A11F3D91878}" dt="2026-07-14T15:46:56.258" v="273" actId="13926"/>
          <ac:spMkLst>
            <pc:docMk/>
            <pc:sldMk cId="2179836643" sldId="2147483581"/>
            <ac:spMk id="2" creationId="{2E760E80-43ED-106D-D4EF-EFA00D35A4C3}"/>
          </ac:spMkLst>
        </pc:spChg>
      </pc:sldChg>
      <pc:sldChg chg="modSp mod">
        <pc:chgData name="Alyssa Walston" userId="3abc4d65-f3bd-4821-ad36-dd584e423253" providerId="ADAL" clId="{6D6FB631-18C1-43CB-AA61-0A11F3D91878}" dt="2026-07-14T15:52:56.924" v="971" actId="20577"/>
        <pc:sldMkLst>
          <pc:docMk/>
          <pc:sldMk cId="3849009484" sldId="2147483582"/>
        </pc:sldMkLst>
        <pc:spChg chg="mod">
          <ac:chgData name="Alyssa Walston" userId="3abc4d65-f3bd-4821-ad36-dd584e423253" providerId="ADAL" clId="{6D6FB631-18C1-43CB-AA61-0A11F3D91878}" dt="2026-07-14T15:52:22.799" v="880" actId="20577"/>
          <ac:spMkLst>
            <pc:docMk/>
            <pc:sldMk cId="3849009484" sldId="2147483582"/>
            <ac:spMk id="12" creationId="{EFCED802-EF78-7140-BEC7-F0ACF674893E}"/>
          </ac:spMkLst>
        </pc:spChg>
        <pc:spChg chg="mod">
          <ac:chgData name="Alyssa Walston" userId="3abc4d65-f3bd-4821-ad36-dd584e423253" providerId="ADAL" clId="{6D6FB631-18C1-43CB-AA61-0A11F3D91878}" dt="2026-07-14T15:52:56.924" v="971" actId="20577"/>
          <ac:spMkLst>
            <pc:docMk/>
            <pc:sldMk cId="3849009484" sldId="2147483582"/>
            <ac:spMk id="14" creationId="{9FA65F52-E4A1-3A52-2B16-53F72E2AD203}"/>
          </ac:spMkLst>
        </pc:spChg>
      </pc:sldChg>
      <pc:sldChg chg="delSp modSp mod">
        <pc:chgData name="Alyssa Walston" userId="3abc4d65-f3bd-4821-ad36-dd584e423253" providerId="ADAL" clId="{6D6FB631-18C1-43CB-AA61-0A11F3D91878}" dt="2026-07-14T15:51:28.867" v="692" actId="20577"/>
        <pc:sldMkLst>
          <pc:docMk/>
          <pc:sldMk cId="3676354089" sldId="2147483585"/>
        </pc:sldMkLst>
        <pc:spChg chg="mod">
          <ac:chgData name="Alyssa Walston" userId="3abc4d65-f3bd-4821-ad36-dd584e423253" providerId="ADAL" clId="{6D6FB631-18C1-43CB-AA61-0A11F3D91878}" dt="2026-07-14T15:47:22.904" v="295" actId="20577"/>
          <ac:spMkLst>
            <pc:docMk/>
            <pc:sldMk cId="3676354089" sldId="2147483585"/>
            <ac:spMk id="2" creationId="{AB97E0F7-2E62-751D-7771-3D77FDEF4B87}"/>
          </ac:spMkLst>
        </pc:spChg>
        <pc:spChg chg="del">
          <ac:chgData name="Alyssa Walston" userId="3abc4d65-f3bd-4821-ad36-dd584e423253" providerId="ADAL" clId="{6D6FB631-18C1-43CB-AA61-0A11F3D91878}" dt="2026-07-14T15:47:25.776" v="296" actId="21"/>
          <ac:spMkLst>
            <pc:docMk/>
            <pc:sldMk cId="3676354089" sldId="2147483585"/>
            <ac:spMk id="3" creationId="{16060A6F-ABEC-317F-DD95-76C9580DA8AB}"/>
          </ac:spMkLst>
        </pc:spChg>
        <pc:spChg chg="mod">
          <ac:chgData name="Alyssa Walston" userId="3abc4d65-f3bd-4821-ad36-dd584e423253" providerId="ADAL" clId="{6D6FB631-18C1-43CB-AA61-0A11F3D91878}" dt="2026-07-14T15:47:56.722" v="374" actId="20577"/>
          <ac:spMkLst>
            <pc:docMk/>
            <pc:sldMk cId="3676354089" sldId="2147483585"/>
            <ac:spMk id="9" creationId="{757F786B-9B4D-E267-7CE6-8DE08E46E7EB}"/>
          </ac:spMkLst>
        </pc:spChg>
        <pc:spChg chg="mod">
          <ac:chgData name="Alyssa Walston" userId="3abc4d65-f3bd-4821-ad36-dd584e423253" providerId="ADAL" clId="{6D6FB631-18C1-43CB-AA61-0A11F3D91878}" dt="2026-07-14T15:48:29.420" v="443" actId="20577"/>
          <ac:spMkLst>
            <pc:docMk/>
            <pc:sldMk cId="3676354089" sldId="2147483585"/>
            <ac:spMk id="10" creationId="{137BA985-6E9B-4C29-A1F1-DD0147C9B4A9}"/>
          </ac:spMkLst>
        </pc:spChg>
        <pc:spChg chg="mod">
          <ac:chgData name="Alyssa Walston" userId="3abc4d65-f3bd-4821-ad36-dd584e423253" providerId="ADAL" clId="{6D6FB631-18C1-43CB-AA61-0A11F3D91878}" dt="2026-07-14T15:50:56.964" v="617" actId="20577"/>
          <ac:spMkLst>
            <pc:docMk/>
            <pc:sldMk cId="3676354089" sldId="2147483585"/>
            <ac:spMk id="12" creationId="{C17DD252-9277-7359-755B-097F7C5D12DE}"/>
          </ac:spMkLst>
        </pc:spChg>
        <pc:spChg chg="del">
          <ac:chgData name="Alyssa Walston" userId="3abc4d65-f3bd-4821-ad36-dd584e423253" providerId="ADAL" clId="{6D6FB631-18C1-43CB-AA61-0A11F3D91878}" dt="2026-07-14T15:48:46.689" v="444" actId="21"/>
          <ac:spMkLst>
            <pc:docMk/>
            <pc:sldMk cId="3676354089" sldId="2147483585"/>
            <ac:spMk id="13" creationId="{6F9B79BE-1B87-046F-8A47-E7D1572DFA8F}"/>
          </ac:spMkLst>
        </pc:spChg>
        <pc:spChg chg="mod">
          <ac:chgData name="Alyssa Walston" userId="3abc4d65-f3bd-4821-ad36-dd584e423253" providerId="ADAL" clId="{6D6FB631-18C1-43CB-AA61-0A11F3D91878}" dt="2026-07-14T15:51:28.867" v="692" actId="20577"/>
          <ac:spMkLst>
            <pc:docMk/>
            <pc:sldMk cId="3676354089" sldId="2147483585"/>
            <ac:spMk id="14" creationId="{853C329F-D67B-889F-1D51-B8487220D94B}"/>
          </ac:spMkLst>
        </pc:spChg>
        <pc:spChg chg="mod">
          <ac:chgData name="Alyssa Walston" userId="3abc4d65-f3bd-4821-ad36-dd584e423253" providerId="ADAL" clId="{6D6FB631-18C1-43CB-AA61-0A11F3D91878}" dt="2026-07-14T15:50:19.095" v="547" actId="20577"/>
          <ac:spMkLst>
            <pc:docMk/>
            <pc:sldMk cId="3676354089" sldId="2147483585"/>
            <ac:spMk id="16" creationId="{9B45956C-4AA0-1463-37BE-7DCB9F1E02C4}"/>
          </ac:spMkLst>
        </pc:spChg>
        <pc:cxnChg chg="mod">
          <ac:chgData name="Alyssa Walston" userId="3abc4d65-f3bd-4821-ad36-dd584e423253" providerId="ADAL" clId="{6D6FB631-18C1-43CB-AA61-0A11F3D91878}" dt="2026-07-14T15:48:50.783" v="445" actId="1076"/>
          <ac:cxnSpMkLst>
            <pc:docMk/>
            <pc:sldMk cId="3676354089" sldId="2147483585"/>
            <ac:cxnSpMk id="5" creationId="{FDF2CDA8-A987-7F03-719D-8871E22D3327}"/>
          </ac:cxnSpMkLst>
        </pc:cxnChg>
        <pc:cxnChg chg="mod">
          <ac:chgData name="Alyssa Walston" userId="3abc4d65-f3bd-4821-ad36-dd584e423253" providerId="ADAL" clId="{6D6FB631-18C1-43CB-AA61-0A11F3D91878}" dt="2026-07-14T15:49:26.405" v="452" actId="1076"/>
          <ac:cxnSpMkLst>
            <pc:docMk/>
            <pc:sldMk cId="3676354089" sldId="2147483585"/>
            <ac:cxnSpMk id="26" creationId="{6FE6B259-7A5B-00C1-EE75-F875613326A8}"/>
          </ac:cxnSpMkLst>
        </pc:cxnChg>
        <pc:cxnChg chg="mod">
          <ac:chgData name="Alyssa Walston" userId="3abc4d65-f3bd-4821-ad36-dd584e423253" providerId="ADAL" clId="{6D6FB631-18C1-43CB-AA61-0A11F3D91878}" dt="2026-07-14T15:49:21.722" v="451" actId="1076"/>
          <ac:cxnSpMkLst>
            <pc:docMk/>
            <pc:sldMk cId="3676354089" sldId="2147483585"/>
            <ac:cxnSpMk id="27" creationId="{5F5C1F79-8C22-BC96-8246-204D4DDD6E53}"/>
          </ac:cxnSpMkLst>
        </pc:cxnChg>
        <pc:cxnChg chg="mod">
          <ac:chgData name="Alyssa Walston" userId="3abc4d65-f3bd-4821-ad36-dd584e423253" providerId="ADAL" clId="{6D6FB631-18C1-43CB-AA61-0A11F3D91878}" dt="2026-07-14T15:49:42.457" v="454" actId="1076"/>
          <ac:cxnSpMkLst>
            <pc:docMk/>
            <pc:sldMk cId="3676354089" sldId="2147483585"/>
            <ac:cxnSpMk id="28" creationId="{F4395621-296C-37FD-DDE2-B4D6B6070113}"/>
          </ac:cxnSpMkLst>
        </pc:cxnChg>
        <pc:cxnChg chg="mod">
          <ac:chgData name="Alyssa Walston" userId="3abc4d65-f3bd-4821-ad36-dd584e423253" providerId="ADAL" clId="{6D6FB631-18C1-43CB-AA61-0A11F3D91878}" dt="2026-07-14T15:49:37.200" v="453" actId="1076"/>
          <ac:cxnSpMkLst>
            <pc:docMk/>
            <pc:sldMk cId="3676354089" sldId="2147483585"/>
            <ac:cxnSpMk id="30" creationId="{8BD5E47B-4B37-B8CF-3BF3-D767D56B192B}"/>
          </ac:cxnSpMkLst>
        </pc:cxnChg>
      </pc:sldChg>
      <pc:sldChg chg="delSp modSp mod">
        <pc:chgData name="Alyssa Walston" userId="3abc4d65-f3bd-4821-ad36-dd584e423253" providerId="ADAL" clId="{6D6FB631-18C1-43CB-AA61-0A11F3D91878}" dt="2026-07-14T15:56:12.311" v="1038"/>
        <pc:sldMkLst>
          <pc:docMk/>
          <pc:sldMk cId="2539758075" sldId="2147483587"/>
        </pc:sldMkLst>
        <pc:spChg chg="mod">
          <ac:chgData name="Alyssa Walston" userId="3abc4d65-f3bd-4821-ad36-dd584e423253" providerId="ADAL" clId="{6D6FB631-18C1-43CB-AA61-0A11F3D91878}" dt="2026-07-14T15:55:26.364" v="1016" actId="13926"/>
          <ac:spMkLst>
            <pc:docMk/>
            <pc:sldMk cId="2539758075" sldId="2147483587"/>
            <ac:spMk id="4" creationId="{9D7CD8F4-F8D2-FE49-78B9-87E1678EEDFE}"/>
          </ac:spMkLst>
        </pc:spChg>
        <pc:spChg chg="del">
          <ac:chgData name="Alyssa Walston" userId="3abc4d65-f3bd-4821-ad36-dd584e423253" providerId="ADAL" clId="{6D6FB631-18C1-43CB-AA61-0A11F3D91878}" dt="2026-07-14T15:53:30.278" v="972" actId="21"/>
          <ac:spMkLst>
            <pc:docMk/>
            <pc:sldMk cId="2539758075" sldId="2147483587"/>
            <ac:spMk id="7" creationId="{5A9EECF4-F519-C8D8-A501-4A36E3A2DB1E}"/>
          </ac:spMkLst>
        </pc:spChg>
        <pc:graphicFrameChg chg="mod">
          <ac:chgData name="Alyssa Walston" userId="3abc4d65-f3bd-4821-ad36-dd584e423253" providerId="ADAL" clId="{6D6FB631-18C1-43CB-AA61-0A11F3D91878}" dt="2026-07-14T15:56:12.311" v="1038"/>
          <ac:graphicFrameMkLst>
            <pc:docMk/>
            <pc:sldMk cId="2539758075" sldId="2147483587"/>
            <ac:graphicFrameMk id="5" creationId="{194353D3-CA0A-8824-049C-56F6B66C9217}"/>
          </ac:graphicFrameMkLst>
        </pc:graphicFrameChg>
        <pc:graphicFrameChg chg="modGraphic">
          <ac:chgData name="Alyssa Walston" userId="3abc4d65-f3bd-4821-ad36-dd584e423253" providerId="ADAL" clId="{6D6FB631-18C1-43CB-AA61-0A11F3D91878}" dt="2026-07-14T15:55:56.184" v="1036" actId="20577"/>
          <ac:graphicFrameMkLst>
            <pc:docMk/>
            <pc:sldMk cId="2539758075" sldId="2147483587"/>
            <ac:graphicFrameMk id="6" creationId="{52C354C1-90F6-FDFE-CBB8-C5CFD31A9B85}"/>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Receipts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4615999768079047E-2"/>
          <c:y val="3.6026843657137063E-2"/>
          <c:w val="0.90881022778869802"/>
          <c:h val="0.79012451270370776"/>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c:formatCode>
                <c:ptCount val="4"/>
                <c:pt idx="0">
                  <c:v>2241240</c:v>
                </c:pt>
                <c:pt idx="1">
                  <c:v>1995600</c:v>
                </c:pt>
                <c:pt idx="2">
                  <c:v>3111960</c:v>
                </c:pt>
                <c:pt idx="3">
                  <c:v>3560160</c:v>
                </c:pt>
              </c:numCache>
            </c:numRef>
          </c:val>
          <c:extLst>
            <c:ext xmlns:c16="http://schemas.microsoft.com/office/drawing/2014/chart" uri="{C3380CC4-5D6E-409C-BE32-E72D297353CC}">
              <c16:uniqueId val="{00000000-7C5D-480A-B473-D8DBC79ABEDC}"/>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0">
                  <c:v>1774680</c:v>
                </c:pt>
              </c:numCache>
            </c:numRef>
          </c:val>
          <c:extLst>
            <c:ext xmlns:c16="http://schemas.microsoft.com/office/drawing/2014/chart" uri="{C3380CC4-5D6E-409C-BE32-E72D297353CC}">
              <c16:uniqueId val="{00000001-7C5D-480A-B473-D8DBC79ABEDC}"/>
            </c:ext>
          </c:extLst>
        </c:ser>
        <c:dLbls>
          <c:showLegendKey val="0"/>
          <c:showVal val="0"/>
          <c:showCatName val="0"/>
          <c:showSerName val="0"/>
          <c:showPercent val="0"/>
          <c:showBubbleSize val="0"/>
        </c:dLbls>
        <c:gapWidth val="219"/>
        <c:overlap val="-27"/>
        <c:axId val="283615152"/>
        <c:axId val="283614760"/>
      </c:barChart>
      <c:catAx>
        <c:axId val="283615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3614760"/>
        <c:crosses val="autoZero"/>
        <c:auto val="1"/>
        <c:lblAlgn val="ctr"/>
        <c:lblOffset val="100"/>
        <c:noMultiLvlLbl val="0"/>
      </c:catAx>
      <c:valAx>
        <c:axId val="28361476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83615152"/>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2"/>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Shipments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427614686751113"/>
          <c:y val="6.5968394147148626E-2"/>
          <c:w val="0.88265079306814798"/>
          <c:h val="0.7018061029505247"/>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c:formatCode>
                <c:ptCount val="4"/>
                <c:pt idx="0">
                  <c:v>1771206</c:v>
                </c:pt>
                <c:pt idx="1">
                  <c:v>3650606</c:v>
                </c:pt>
                <c:pt idx="2" formatCode="_(* #,##0_);_(* \(#,##0\);_(* &quot;-&quot;??_);_(@_)">
                  <c:v>2939286</c:v>
                </c:pt>
                <c:pt idx="3" formatCode="_(* #,##0_);_(* \(#,##0\);_(* &quot;-&quot;??_);_(@_)">
                  <c:v>3190944</c:v>
                </c:pt>
              </c:numCache>
            </c:numRef>
          </c:val>
          <c:extLst>
            <c:ext xmlns:c16="http://schemas.microsoft.com/office/drawing/2014/chart" uri="{C3380CC4-5D6E-409C-BE32-E72D297353CC}">
              <c16:uniqueId val="{00000000-5DD7-4850-9C08-58CC246D97B3}"/>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0">
                  <c:v>3077871</c:v>
                </c:pt>
              </c:numCache>
            </c:numRef>
          </c:val>
          <c:extLst>
            <c:ext xmlns:c16="http://schemas.microsoft.com/office/drawing/2014/chart" uri="{C3380CC4-5D6E-409C-BE32-E72D297353CC}">
              <c16:uniqueId val="{00000001-5DD7-4850-9C08-58CC246D97B3}"/>
            </c:ext>
          </c:extLst>
        </c:ser>
        <c:dLbls>
          <c:showLegendKey val="0"/>
          <c:showVal val="0"/>
          <c:showCatName val="0"/>
          <c:showSerName val="0"/>
          <c:showPercent val="0"/>
          <c:showBubbleSize val="0"/>
        </c:dLbls>
        <c:gapWidth val="219"/>
        <c:overlap val="-27"/>
        <c:axId val="283616720"/>
        <c:axId val="283617112"/>
      </c:barChart>
      <c:catAx>
        <c:axId val="283616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3617112"/>
        <c:crosses val="autoZero"/>
        <c:auto val="1"/>
        <c:lblAlgn val="ctr"/>
        <c:lblOffset val="100"/>
        <c:noMultiLvlLbl val="0"/>
      </c:catAx>
      <c:valAx>
        <c:axId val="28361711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361672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Number of units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4644644894071771E-2"/>
          <c:y val="9.2996945898150898E-2"/>
          <c:w val="0.88265079306814798"/>
          <c:h val="0.69276897588570452"/>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c:formatCode>
                <c:ptCount val="4"/>
                <c:pt idx="0">
                  <c:v>5324209</c:v>
                </c:pt>
                <c:pt idx="1">
                  <c:v>6458032</c:v>
                </c:pt>
                <c:pt idx="2">
                  <c:v>1234387</c:v>
                </c:pt>
                <c:pt idx="3">
                  <c:v>2727720</c:v>
                </c:pt>
              </c:numCache>
            </c:numRef>
          </c:val>
          <c:extLst>
            <c:ext xmlns:c16="http://schemas.microsoft.com/office/drawing/2014/chart" uri="{C3380CC4-5D6E-409C-BE32-E72D297353CC}">
              <c16:uniqueId val="{00000000-9B69-4226-A82D-399D36DCDAD1}"/>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0">
                  <c:v>546960</c:v>
                </c:pt>
              </c:numCache>
            </c:numRef>
          </c:val>
          <c:extLst>
            <c:ext xmlns:c16="http://schemas.microsoft.com/office/drawing/2014/chart" uri="{C3380CC4-5D6E-409C-BE32-E72D297353CC}">
              <c16:uniqueId val="{00000001-9B69-4226-A82D-399D36DCDAD1}"/>
            </c:ext>
          </c:extLst>
        </c:ser>
        <c:dLbls>
          <c:showLegendKey val="0"/>
          <c:showVal val="0"/>
          <c:showCatName val="0"/>
          <c:showSerName val="0"/>
          <c:showPercent val="0"/>
          <c:showBubbleSize val="0"/>
        </c:dLbls>
        <c:gapWidth val="219"/>
        <c:overlap val="-27"/>
        <c:axId val="280478792"/>
        <c:axId val="280474088"/>
      </c:barChart>
      <c:catAx>
        <c:axId val="280478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0474088"/>
        <c:crosses val="autoZero"/>
        <c:auto val="1"/>
        <c:lblAlgn val="ctr"/>
        <c:lblOffset val="100"/>
        <c:noMultiLvlLbl val="0"/>
      </c:catAx>
      <c:valAx>
        <c:axId val="28047408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0478792"/>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2025 Shipments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8.8180608582109923E-2"/>
          <c:y val="0.12270234630855142"/>
          <c:w val="0.89319020188128861"/>
          <c:h val="0.68691023408582985"/>
        </c:manualLayout>
      </c:layout>
      <c:barChart>
        <c:barDir val="col"/>
        <c:grouping val="clustered"/>
        <c:varyColors val="0"/>
        <c:ser>
          <c:idx val="0"/>
          <c:order val="0"/>
          <c:tx>
            <c:strRef>
              <c:f>Sheet1!$B$1</c:f>
              <c:strCache>
                <c:ptCount val="1"/>
                <c:pt idx="0">
                  <c:v>Forecast</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General</c:formatCode>
                <c:ptCount val="4"/>
                <c:pt idx="0">
                  <c:v>200</c:v>
                </c:pt>
                <c:pt idx="1">
                  <c:v>176</c:v>
                </c:pt>
                <c:pt idx="2">
                  <c:v>350</c:v>
                </c:pt>
                <c:pt idx="3">
                  <c:v>412</c:v>
                </c:pt>
              </c:numCache>
            </c:numRef>
          </c:val>
          <c:extLst>
            <c:ext xmlns:c16="http://schemas.microsoft.com/office/drawing/2014/chart" uri="{C3380CC4-5D6E-409C-BE32-E72D297353CC}">
              <c16:uniqueId val="{00000000-45FA-4D42-BCEF-F0C70FBC8919}"/>
            </c:ext>
          </c:extLst>
        </c:ser>
        <c:ser>
          <c:idx val="1"/>
          <c:order val="1"/>
          <c:tx>
            <c:strRef>
              <c:f>Sheet1!$C$1</c:f>
              <c:strCache>
                <c:ptCount val="1"/>
                <c:pt idx="0">
                  <c:v>Actual</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c:v>212</c:v>
                </c:pt>
                <c:pt idx="1">
                  <c:v>200</c:v>
                </c:pt>
                <c:pt idx="2">
                  <c:v>345</c:v>
                </c:pt>
                <c:pt idx="3">
                  <c:v>443</c:v>
                </c:pt>
              </c:numCache>
            </c:numRef>
          </c:val>
          <c:extLst>
            <c:ext xmlns:c16="http://schemas.microsoft.com/office/drawing/2014/chart" uri="{C3380CC4-5D6E-409C-BE32-E72D297353CC}">
              <c16:uniqueId val="{00000001-45FA-4D42-BCEF-F0C70FBC8919}"/>
            </c:ext>
          </c:extLst>
        </c:ser>
        <c:dLbls>
          <c:showLegendKey val="0"/>
          <c:showVal val="0"/>
          <c:showCatName val="0"/>
          <c:showSerName val="0"/>
          <c:showPercent val="0"/>
          <c:showBubbleSize val="0"/>
        </c:dLbls>
        <c:gapWidth val="219"/>
        <c:overlap val="-27"/>
        <c:axId val="1586015759"/>
        <c:axId val="1586017679"/>
      </c:barChart>
      <c:catAx>
        <c:axId val="1586015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86017679"/>
        <c:crosses val="autoZero"/>
        <c:auto val="1"/>
        <c:lblAlgn val="ctr"/>
        <c:lblOffset val="100"/>
        <c:noMultiLvlLbl val="0"/>
      </c:catAx>
      <c:valAx>
        <c:axId val="15860176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8601575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Square Feet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1936452011490644E-2"/>
          <c:y val="0.14821601541521662"/>
          <c:w val="0.89543781256427468"/>
          <c:h val="0.62180904467474607"/>
        </c:manualLayout>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c:formatCode>
                <c:ptCount val="4"/>
                <c:pt idx="0">
                  <c:v>8000</c:v>
                </c:pt>
                <c:pt idx="1">
                  <c:v>8500</c:v>
                </c:pt>
                <c:pt idx="2">
                  <c:v>7400</c:v>
                </c:pt>
                <c:pt idx="3">
                  <c:v>7500</c:v>
                </c:pt>
              </c:numCache>
            </c:numRef>
          </c:val>
          <c:extLst>
            <c:ext xmlns:c16="http://schemas.microsoft.com/office/drawing/2014/chart" uri="{C3380CC4-5D6E-409C-BE32-E72D297353CC}">
              <c16:uniqueId val="{00000000-F130-416F-B80A-FF0F9D835A7C}"/>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0">
                  <c:v>7200</c:v>
                </c:pt>
              </c:numCache>
            </c:numRef>
          </c:val>
          <c:extLst>
            <c:ext xmlns:c16="http://schemas.microsoft.com/office/drawing/2014/chart" uri="{C3380CC4-5D6E-409C-BE32-E72D297353CC}">
              <c16:uniqueId val="{00000001-F130-416F-B80A-FF0F9D835A7C}"/>
            </c:ext>
          </c:extLst>
        </c:ser>
        <c:dLbls>
          <c:showLegendKey val="0"/>
          <c:showVal val="0"/>
          <c:showCatName val="0"/>
          <c:showSerName val="0"/>
          <c:showPercent val="0"/>
          <c:showBubbleSize val="0"/>
        </c:dLbls>
        <c:gapWidth val="219"/>
        <c:overlap val="-27"/>
        <c:axId val="1340769023"/>
        <c:axId val="1340768543"/>
      </c:barChart>
      <c:catAx>
        <c:axId val="13407690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40768543"/>
        <c:crosses val="autoZero"/>
        <c:auto val="1"/>
        <c:lblAlgn val="ctr"/>
        <c:lblOffset val="100"/>
        <c:noMultiLvlLbl val="0"/>
      </c:catAx>
      <c:valAx>
        <c:axId val="1340768543"/>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40769023"/>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Spend</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"$"#,##0_);[Red]\("$"#,##0\)</c:formatCode>
                <c:ptCount val="4"/>
                <c:pt idx="0">
                  <c:v>1000000</c:v>
                </c:pt>
                <c:pt idx="1">
                  <c:v>1250000</c:v>
                </c:pt>
                <c:pt idx="2">
                  <c:v>1050000</c:v>
                </c:pt>
                <c:pt idx="3">
                  <c:v>1770000</c:v>
                </c:pt>
              </c:numCache>
            </c:numRef>
          </c:val>
          <c:extLst>
            <c:ext xmlns:c16="http://schemas.microsoft.com/office/drawing/2014/chart" uri="{C3380CC4-5D6E-409C-BE32-E72D297353CC}">
              <c16:uniqueId val="{00000000-B36C-4985-A309-97E007002113}"/>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quot;$&quot;#,##0_);[Red]\(&quot;$&quot;#,##0\)">
                  <c:v>2000000</c:v>
                </c:pt>
              </c:numCache>
            </c:numRef>
          </c:val>
          <c:extLst>
            <c:ext xmlns:c16="http://schemas.microsoft.com/office/drawing/2014/chart" uri="{C3380CC4-5D6E-409C-BE32-E72D297353CC}">
              <c16:uniqueId val="{00000001-B36C-4985-A309-97E007002113}"/>
            </c:ext>
          </c:extLst>
        </c:ser>
        <c:dLbls>
          <c:showLegendKey val="0"/>
          <c:showVal val="0"/>
          <c:showCatName val="0"/>
          <c:showSerName val="0"/>
          <c:showPercent val="0"/>
          <c:showBubbleSize val="0"/>
        </c:dLbls>
        <c:gapWidth val="219"/>
        <c:overlap val="-27"/>
        <c:axId val="1338762783"/>
        <c:axId val="1340772863"/>
      </c:barChart>
      <c:catAx>
        <c:axId val="13387627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40772863"/>
        <c:crosses val="autoZero"/>
        <c:auto val="1"/>
        <c:lblAlgn val="ctr"/>
        <c:lblOffset val="100"/>
        <c:noMultiLvlLbl val="0"/>
      </c:catAx>
      <c:valAx>
        <c:axId val="1340772863"/>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38762783"/>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Total Debt AR Balance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"$"#,##0_);[Red]\("$"#,##0\)</c:formatCode>
                <c:ptCount val="4"/>
                <c:pt idx="0">
                  <c:v>5000</c:v>
                </c:pt>
                <c:pt idx="1">
                  <c:v>12000</c:v>
                </c:pt>
                <c:pt idx="2">
                  <c:v>17000</c:v>
                </c:pt>
                <c:pt idx="3">
                  <c:v>22000</c:v>
                </c:pt>
              </c:numCache>
            </c:numRef>
          </c:val>
          <c:extLst>
            <c:ext xmlns:c16="http://schemas.microsoft.com/office/drawing/2014/chart" uri="{C3380CC4-5D6E-409C-BE32-E72D297353CC}">
              <c16:uniqueId val="{00000000-3C70-490D-81AD-CB3B291F8555}"/>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quot;$&quot;#,##0_);[Red]\(&quot;$&quot;#,##0\)">
                  <c:v>2500</c:v>
                </c:pt>
              </c:numCache>
            </c:numRef>
          </c:val>
          <c:extLst>
            <c:ext xmlns:c16="http://schemas.microsoft.com/office/drawing/2014/chart" uri="{C3380CC4-5D6E-409C-BE32-E72D297353CC}">
              <c16:uniqueId val="{00000001-3C70-490D-81AD-CB3B291F8555}"/>
            </c:ext>
          </c:extLst>
        </c:ser>
        <c:dLbls>
          <c:showLegendKey val="0"/>
          <c:showVal val="0"/>
          <c:showCatName val="0"/>
          <c:showSerName val="0"/>
          <c:showPercent val="0"/>
          <c:showBubbleSize val="0"/>
        </c:dLbls>
        <c:gapWidth val="219"/>
        <c:overlap val="-27"/>
        <c:axId val="6505088"/>
        <c:axId val="6500288"/>
      </c:barChart>
      <c:catAx>
        <c:axId val="6505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00288"/>
        <c:crosses val="autoZero"/>
        <c:auto val="1"/>
        <c:lblAlgn val="ctr"/>
        <c:lblOffset val="100"/>
        <c:noMultiLvlLbl val="0"/>
      </c:catAx>
      <c:valAx>
        <c:axId val="6500288"/>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50508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solidFill>
                  <a:schemeClr val="accent1"/>
                </a:solidFill>
              </a:rPr>
              <a:t>Cost Per Unit</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E0C-4984-A61A-98362CA5FBF0}"/>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c:v>2.4</c:v>
                </c:pt>
              </c:numCache>
            </c:numRef>
          </c:val>
          <c:extLst>
            <c:ext xmlns:c16="http://schemas.microsoft.com/office/drawing/2014/chart" uri="{C3380CC4-5D6E-409C-BE32-E72D297353CC}">
              <c16:uniqueId val="{00000001-0E0C-4984-A61A-98362CA5FBF0}"/>
            </c:ext>
          </c:extLst>
        </c:ser>
        <c:dLbls>
          <c:showLegendKey val="0"/>
          <c:showVal val="0"/>
          <c:showCatName val="0"/>
          <c:showSerName val="0"/>
          <c:showPercent val="0"/>
          <c:showBubbleSize val="0"/>
        </c:dLbls>
        <c:gapWidth val="219"/>
        <c:overlap val="-27"/>
        <c:axId val="1221681952"/>
        <c:axId val="1221666112"/>
      </c:barChart>
      <c:catAx>
        <c:axId val="1221681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1666112"/>
        <c:crosses val="autoZero"/>
        <c:auto val="1"/>
        <c:lblAlgn val="ctr"/>
        <c:lblOffset val="100"/>
        <c:noMultiLvlLbl val="0"/>
      </c:catAx>
      <c:valAx>
        <c:axId val="1221666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1681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solidFill>
                  <a:schemeClr val="accent1"/>
                </a:solidFill>
              </a:rPr>
              <a:t>Cost Per Line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"$"#,##0.00_);[Red]\("$"#,##0.00\)</c:formatCode>
                <c:ptCount val="4"/>
                <c:pt idx="0">
                  <c:v>14</c:v>
                </c:pt>
                <c:pt idx="1">
                  <c:v>14.6</c:v>
                </c:pt>
                <c:pt idx="2">
                  <c:v>14.5</c:v>
                </c:pt>
                <c:pt idx="3">
                  <c:v>14.1</c:v>
                </c:pt>
              </c:numCache>
            </c:numRef>
          </c:val>
          <c:extLst>
            <c:ext xmlns:c16="http://schemas.microsoft.com/office/drawing/2014/chart" uri="{C3380CC4-5D6E-409C-BE32-E72D297353CC}">
              <c16:uniqueId val="{00000000-0C40-47EC-8157-D6BFB6E5082A}"/>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quot;$&quot;#,##0.00_);[Red]\(&quot;$&quot;#,##0.00\)">
                  <c:v>14.25</c:v>
                </c:pt>
              </c:numCache>
            </c:numRef>
          </c:val>
          <c:extLst>
            <c:ext xmlns:c16="http://schemas.microsoft.com/office/drawing/2014/chart" uri="{C3380CC4-5D6E-409C-BE32-E72D297353CC}">
              <c16:uniqueId val="{00000001-0C40-47EC-8157-D6BFB6E5082A}"/>
            </c:ext>
          </c:extLst>
        </c:ser>
        <c:dLbls>
          <c:showLegendKey val="0"/>
          <c:showVal val="0"/>
          <c:showCatName val="0"/>
          <c:showSerName val="0"/>
          <c:showPercent val="0"/>
          <c:showBubbleSize val="0"/>
        </c:dLbls>
        <c:gapWidth val="219"/>
        <c:overlap val="-27"/>
        <c:axId val="1221681952"/>
        <c:axId val="1221666112"/>
      </c:barChart>
      <c:catAx>
        <c:axId val="1221681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1666112"/>
        <c:crosses val="autoZero"/>
        <c:auto val="1"/>
        <c:lblAlgn val="ctr"/>
        <c:lblOffset val="100"/>
        <c:noMultiLvlLbl val="0"/>
      </c:catAx>
      <c:valAx>
        <c:axId val="1221666112"/>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_);[Red]\(&quot;$&quot;#,##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1681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solidFill>
                  <a:schemeClr val="accent1"/>
                </a:solidFill>
              </a:rPr>
              <a:t>Cost Per Order</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2025</c:v>
                </c:pt>
              </c:strCache>
            </c:strRef>
          </c:tx>
          <c:spPr>
            <a:solidFill>
              <a:schemeClr val="accent1"/>
            </a:solidFill>
            <a:ln>
              <a:noFill/>
            </a:ln>
            <a:effectLst/>
          </c:spPr>
          <c:invertIfNegative val="0"/>
          <c:cat>
            <c:strRef>
              <c:f>Sheet1!$A$2:$A$5</c:f>
              <c:strCache>
                <c:ptCount val="4"/>
                <c:pt idx="0">
                  <c:v>Q1</c:v>
                </c:pt>
                <c:pt idx="1">
                  <c:v>Q2</c:v>
                </c:pt>
                <c:pt idx="2">
                  <c:v>Q3</c:v>
                </c:pt>
                <c:pt idx="3">
                  <c:v>Q4</c:v>
                </c:pt>
              </c:strCache>
            </c:strRef>
          </c:cat>
          <c:val>
            <c:numRef>
              <c:f>Sheet1!$B$2:$B$5</c:f>
              <c:numCache>
                <c:formatCode>"$"#,##0.00_);[Red]\("$"#,##0.00\)</c:formatCode>
                <c:ptCount val="4"/>
                <c:pt idx="0">
                  <c:v>23.5</c:v>
                </c:pt>
                <c:pt idx="1">
                  <c:v>23.25</c:v>
                </c:pt>
                <c:pt idx="2">
                  <c:v>23.85</c:v>
                </c:pt>
                <c:pt idx="3">
                  <c:v>23.5</c:v>
                </c:pt>
              </c:numCache>
            </c:numRef>
          </c:val>
          <c:extLst>
            <c:ext xmlns:c16="http://schemas.microsoft.com/office/drawing/2014/chart" uri="{C3380CC4-5D6E-409C-BE32-E72D297353CC}">
              <c16:uniqueId val="{00000000-08AB-4AF8-BE4E-F33A39C7BD2B}"/>
            </c:ext>
          </c:extLst>
        </c:ser>
        <c:ser>
          <c:idx val="1"/>
          <c:order val="1"/>
          <c:tx>
            <c:strRef>
              <c:f>Sheet1!$C$1</c:f>
              <c:strCache>
                <c:ptCount val="1"/>
                <c:pt idx="0">
                  <c:v>2026</c:v>
                </c:pt>
              </c:strCache>
            </c:strRef>
          </c:tx>
          <c:spPr>
            <a:solidFill>
              <a:schemeClr val="accent2"/>
            </a:solidFill>
            <a:ln>
              <a:noFill/>
            </a:ln>
            <a:effectLst/>
          </c:spPr>
          <c:invertIfNegative val="0"/>
          <c:cat>
            <c:strRef>
              <c:f>Sheet1!$A$2:$A$5</c:f>
              <c:strCache>
                <c:ptCount val="4"/>
                <c:pt idx="0">
                  <c:v>Q1</c:v>
                </c:pt>
                <c:pt idx="1">
                  <c:v>Q2</c:v>
                </c:pt>
                <c:pt idx="2">
                  <c:v>Q3</c:v>
                </c:pt>
                <c:pt idx="3">
                  <c:v>Q4</c:v>
                </c:pt>
              </c:strCache>
            </c:strRef>
          </c:cat>
          <c:val>
            <c:numRef>
              <c:f>Sheet1!$C$2:$C$5</c:f>
              <c:numCache>
                <c:formatCode>General</c:formatCode>
                <c:ptCount val="4"/>
                <c:pt idx="0" formatCode="&quot;$&quot;#,##0.00_);[Red]\(&quot;$&quot;#,##0.00\)">
                  <c:v>23.8</c:v>
                </c:pt>
              </c:numCache>
            </c:numRef>
          </c:val>
          <c:extLst>
            <c:ext xmlns:c16="http://schemas.microsoft.com/office/drawing/2014/chart" uri="{C3380CC4-5D6E-409C-BE32-E72D297353CC}">
              <c16:uniqueId val="{00000001-08AB-4AF8-BE4E-F33A39C7BD2B}"/>
            </c:ext>
          </c:extLst>
        </c:ser>
        <c:dLbls>
          <c:showLegendKey val="0"/>
          <c:showVal val="0"/>
          <c:showCatName val="0"/>
          <c:showSerName val="0"/>
          <c:showPercent val="0"/>
          <c:showBubbleSize val="0"/>
        </c:dLbls>
        <c:gapWidth val="219"/>
        <c:overlap val="-27"/>
        <c:axId val="1221681952"/>
        <c:axId val="1221666112"/>
      </c:barChart>
      <c:catAx>
        <c:axId val="1221681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1666112"/>
        <c:crosses val="autoZero"/>
        <c:auto val="1"/>
        <c:lblAlgn val="ctr"/>
        <c:lblOffset val="100"/>
        <c:noMultiLvlLbl val="0"/>
      </c:catAx>
      <c:valAx>
        <c:axId val="1221666112"/>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_);[Red]\(&quot;$&quot;#,##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216819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897B-4D7B-81CB-C5CFF91EEF24}"/>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897B-4D7B-81CB-C5CFF91EEF2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97B-4D7B-81CB-C5CFF91EEF2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897B-4D7B-81CB-C5CFF91EEF24}"/>
              </c:ext>
            </c:extLst>
          </c:dPt>
          <c:cat>
            <c:strRef>
              <c:f>Sheet1!$A$2:$A$5</c:f>
              <c:strCache>
                <c:ptCount val="2"/>
                <c:pt idx="0">
                  <c:v>1st Qtr</c:v>
                </c:pt>
                <c:pt idx="1">
                  <c:v>2nd Qtr</c:v>
                </c:pt>
              </c:strCache>
            </c:strRef>
          </c:cat>
          <c:val>
            <c:numRef>
              <c:f>Sheet1!$B$2:$B$5</c:f>
              <c:numCache>
                <c:formatCode>General</c:formatCode>
                <c:ptCount val="4"/>
                <c:pt idx="0">
                  <c:v>60</c:v>
                </c:pt>
                <c:pt idx="1">
                  <c:v>40</c:v>
                </c:pt>
              </c:numCache>
            </c:numRef>
          </c:val>
          <c:extLst>
            <c:ext xmlns:c16="http://schemas.microsoft.com/office/drawing/2014/chart" uri="{C3380CC4-5D6E-409C-BE32-E72D297353CC}">
              <c16:uniqueId val="{00000008-897B-4D7B-81CB-C5CFF91EEF2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7C30-4221-9D55-A457954ECDA4}"/>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7C30-4221-9D55-A457954ECDA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C30-4221-9D55-A457954ECDA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C30-4221-9D55-A457954ECDA4}"/>
              </c:ext>
            </c:extLst>
          </c:dPt>
          <c:cat>
            <c:strRef>
              <c:f>Sheet1!$A$2:$A$5</c:f>
              <c:strCache>
                <c:ptCount val="2"/>
                <c:pt idx="0">
                  <c:v>1st Qtr</c:v>
                </c:pt>
                <c:pt idx="1">
                  <c:v>2nd Qtr</c:v>
                </c:pt>
              </c:strCache>
            </c:strRef>
          </c:cat>
          <c:val>
            <c:numRef>
              <c:f>Sheet1!$B$2:$B$5</c:f>
              <c:numCache>
                <c:formatCode>General</c:formatCode>
                <c:ptCount val="4"/>
                <c:pt idx="0">
                  <c:v>51</c:v>
                </c:pt>
                <c:pt idx="1">
                  <c:v>49</c:v>
                </c:pt>
              </c:numCache>
            </c:numRef>
          </c:val>
          <c:extLst>
            <c:ext xmlns:c16="http://schemas.microsoft.com/office/drawing/2014/chart" uri="{C3380CC4-5D6E-409C-BE32-E72D297353CC}">
              <c16:uniqueId val="{00000008-7C30-4221-9D55-A457954ECDA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837483093526358E-2"/>
          <c:y val="6.1232984810684003E-2"/>
          <c:w val="0.74103274101733441"/>
          <c:h val="0.85031937046277239"/>
        </c:manualLayout>
      </c:layout>
      <c:doughnutChart>
        <c:varyColors val="1"/>
        <c:ser>
          <c:idx val="0"/>
          <c:order val="0"/>
          <c:tx>
            <c:strRef>
              <c:f>Sheet1!$B$1</c:f>
              <c:strCache>
                <c:ptCount val="1"/>
                <c:pt idx="0">
                  <c:v>Column1</c:v>
                </c:pt>
              </c:strCache>
            </c:strRef>
          </c:tx>
          <c:dPt>
            <c:idx val="0"/>
            <c:bubble3D val="0"/>
            <c:spPr>
              <a:solidFill>
                <a:srgbClr val="FFE8A6"/>
              </a:solidFill>
              <a:ln w="19050">
                <a:solidFill>
                  <a:schemeClr val="lt1"/>
                </a:solidFill>
              </a:ln>
              <a:effectLst/>
            </c:spPr>
            <c:extLst>
              <c:ext xmlns:c16="http://schemas.microsoft.com/office/drawing/2014/chart" uri="{C3380CC4-5D6E-409C-BE32-E72D297353CC}">
                <c16:uniqueId val="{00000001-1390-4AD3-9337-A7FE79643994}"/>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1390-4AD3-9337-A7FE7964399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390-4AD3-9337-A7FE7964399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390-4AD3-9337-A7FE79643994}"/>
              </c:ext>
            </c:extLst>
          </c:dPt>
          <c:cat>
            <c:strRef>
              <c:f>Sheet1!$A$2:$A$5</c:f>
              <c:strCache>
                <c:ptCount val="2"/>
                <c:pt idx="0">
                  <c:v>1st Qtr</c:v>
                </c:pt>
                <c:pt idx="1">
                  <c:v>2nd Qtr</c:v>
                </c:pt>
              </c:strCache>
            </c:strRef>
          </c:cat>
          <c:val>
            <c:numRef>
              <c:f>Sheet1!$B$2:$B$5</c:f>
              <c:numCache>
                <c:formatCode>General</c:formatCode>
                <c:ptCount val="4"/>
                <c:pt idx="0">
                  <c:v>44</c:v>
                </c:pt>
                <c:pt idx="1">
                  <c:v>40</c:v>
                </c:pt>
              </c:numCache>
            </c:numRef>
          </c:val>
          <c:extLst>
            <c:ext xmlns:c16="http://schemas.microsoft.com/office/drawing/2014/chart" uri="{C3380CC4-5D6E-409C-BE32-E72D297353CC}">
              <c16:uniqueId val="{00000008-1390-4AD3-9337-A7FE79643994}"/>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solidFill>
              <a:schemeClr val="accent4"/>
            </a:solidFill>
          </c:spPr>
          <c:dPt>
            <c:idx val="0"/>
            <c:bubble3D val="0"/>
            <c:spPr>
              <a:solidFill>
                <a:srgbClr val="A6D4D2"/>
              </a:solidFill>
              <a:ln w="19050">
                <a:solidFill>
                  <a:schemeClr val="lt1"/>
                </a:solidFill>
              </a:ln>
              <a:effectLst/>
            </c:spPr>
            <c:extLst>
              <c:ext xmlns:c16="http://schemas.microsoft.com/office/drawing/2014/chart" uri="{C3380CC4-5D6E-409C-BE32-E72D297353CC}">
                <c16:uniqueId val="{00000001-536E-4FE4-BCC5-A4DBC4997F26}"/>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536E-4FE4-BCC5-A4DBC4997F26}"/>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536E-4FE4-BCC5-A4DBC4997F2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36E-4FE4-BCC5-A4DBC4997F26}"/>
              </c:ext>
            </c:extLst>
          </c:dPt>
          <c:cat>
            <c:strRef>
              <c:f>Sheet1!$A$2:$A$5</c:f>
              <c:strCache>
                <c:ptCount val="2"/>
                <c:pt idx="0">
                  <c:v>1st Qtr</c:v>
                </c:pt>
                <c:pt idx="1">
                  <c:v>2nd Qtr</c:v>
                </c:pt>
              </c:strCache>
            </c:strRef>
          </c:cat>
          <c:val>
            <c:numRef>
              <c:f>Sheet1!$B$2:$B$5</c:f>
              <c:numCache>
                <c:formatCode>General</c:formatCode>
                <c:ptCount val="4"/>
                <c:pt idx="0">
                  <c:v>40</c:v>
                </c:pt>
                <c:pt idx="1">
                  <c:v>60</c:v>
                </c:pt>
              </c:numCache>
            </c:numRef>
          </c:val>
          <c:extLst>
            <c:ext xmlns:c16="http://schemas.microsoft.com/office/drawing/2014/chart" uri="{C3380CC4-5D6E-409C-BE32-E72D297353CC}">
              <c16:uniqueId val="{00000008-536E-4FE4-BCC5-A4DBC4997F2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F7E8-457B-A8A8-F140BC8F7260}"/>
              </c:ext>
            </c:extLst>
          </c:dPt>
          <c:dPt>
            <c:idx val="1"/>
            <c:bubble3D val="0"/>
            <c:spPr>
              <a:solidFill>
                <a:schemeClr val="accent2"/>
              </a:solidFill>
              <a:ln w="19050">
                <a:noFill/>
              </a:ln>
              <a:effectLst/>
            </c:spPr>
            <c:extLst>
              <c:ext xmlns:c16="http://schemas.microsoft.com/office/drawing/2014/chart" uri="{C3380CC4-5D6E-409C-BE32-E72D297353CC}">
                <c16:uniqueId val="{00000003-F7E8-457B-A8A8-F140BC8F7260}"/>
              </c:ext>
            </c:extLst>
          </c:dPt>
          <c:dPt>
            <c:idx val="2"/>
            <c:bubble3D val="0"/>
            <c:spPr>
              <a:solidFill>
                <a:schemeClr val="accent3"/>
              </a:solidFill>
              <a:ln w="19050">
                <a:noFill/>
              </a:ln>
              <a:effectLst/>
            </c:spPr>
            <c:extLst>
              <c:ext xmlns:c16="http://schemas.microsoft.com/office/drawing/2014/chart" uri="{C3380CC4-5D6E-409C-BE32-E72D297353CC}">
                <c16:uniqueId val="{00000005-F7E8-457B-A8A8-F140BC8F7260}"/>
              </c:ext>
            </c:extLst>
          </c:dPt>
          <c:dPt>
            <c:idx val="3"/>
            <c:bubble3D val="0"/>
            <c:spPr>
              <a:solidFill>
                <a:schemeClr val="accent4"/>
              </a:solidFill>
              <a:ln w="19050">
                <a:noFill/>
              </a:ln>
              <a:effectLst/>
            </c:spPr>
            <c:extLst>
              <c:ext xmlns:c16="http://schemas.microsoft.com/office/drawing/2014/chart" uri="{C3380CC4-5D6E-409C-BE32-E72D297353CC}">
                <c16:uniqueId val="{00000007-F7E8-457B-A8A8-F140BC8F7260}"/>
              </c:ext>
            </c:extLst>
          </c:dPt>
          <c:cat>
            <c:strRef>
              <c:f>Sheet1!$A$2:$A$5</c:f>
              <c:strCache>
                <c:ptCount val="2"/>
                <c:pt idx="0">
                  <c:v>1st Qtr</c:v>
                </c:pt>
                <c:pt idx="1">
                  <c:v>2nd Qtr</c:v>
                </c:pt>
              </c:strCache>
            </c:strRef>
          </c:cat>
          <c:val>
            <c:numRef>
              <c:f>Sheet1!$B$2:$B$5</c:f>
              <c:numCache>
                <c:formatCode>General</c:formatCode>
                <c:ptCount val="4"/>
                <c:pt idx="0">
                  <c:v>40</c:v>
                </c:pt>
                <c:pt idx="1">
                  <c:v>60</c:v>
                </c:pt>
              </c:numCache>
            </c:numRef>
          </c:val>
          <c:extLst>
            <c:ext xmlns:c16="http://schemas.microsoft.com/office/drawing/2014/chart" uri="{C3380CC4-5D6E-409C-BE32-E72D297353CC}">
              <c16:uniqueId val="{00000008-F7E8-457B-A8A8-F140BC8F726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D6A1-4860-9240-921D74B47916}"/>
              </c:ext>
            </c:extLst>
          </c:dPt>
          <c:dPt>
            <c:idx val="1"/>
            <c:bubble3D val="0"/>
            <c:spPr>
              <a:solidFill>
                <a:schemeClr val="accent2"/>
              </a:solidFill>
              <a:ln w="19050">
                <a:noFill/>
              </a:ln>
              <a:effectLst/>
            </c:spPr>
            <c:extLst>
              <c:ext xmlns:c16="http://schemas.microsoft.com/office/drawing/2014/chart" uri="{C3380CC4-5D6E-409C-BE32-E72D297353CC}">
                <c16:uniqueId val="{00000003-D6A1-4860-9240-921D74B47916}"/>
              </c:ext>
            </c:extLst>
          </c:dPt>
          <c:dPt>
            <c:idx val="2"/>
            <c:bubble3D val="0"/>
            <c:spPr>
              <a:solidFill>
                <a:schemeClr val="accent3"/>
              </a:solidFill>
              <a:ln w="19050">
                <a:noFill/>
              </a:ln>
              <a:effectLst/>
            </c:spPr>
            <c:extLst>
              <c:ext xmlns:c16="http://schemas.microsoft.com/office/drawing/2014/chart" uri="{C3380CC4-5D6E-409C-BE32-E72D297353CC}">
                <c16:uniqueId val="{00000005-D6A1-4860-9240-921D74B47916}"/>
              </c:ext>
            </c:extLst>
          </c:dPt>
          <c:dPt>
            <c:idx val="3"/>
            <c:bubble3D val="0"/>
            <c:spPr>
              <a:solidFill>
                <a:schemeClr val="accent4"/>
              </a:solidFill>
              <a:ln w="19050">
                <a:noFill/>
              </a:ln>
              <a:effectLst/>
            </c:spPr>
            <c:extLst>
              <c:ext xmlns:c16="http://schemas.microsoft.com/office/drawing/2014/chart" uri="{C3380CC4-5D6E-409C-BE32-E72D297353CC}">
                <c16:uniqueId val="{00000007-D6A1-4860-9240-921D74B47916}"/>
              </c:ext>
            </c:extLst>
          </c:dPt>
          <c:cat>
            <c:strRef>
              <c:f>Sheet1!$A$2:$A$5</c:f>
              <c:strCache>
                <c:ptCount val="2"/>
                <c:pt idx="0">
                  <c:v>1st Qtr</c:v>
                </c:pt>
                <c:pt idx="1">
                  <c:v>2nd Qtr</c:v>
                </c:pt>
              </c:strCache>
            </c:strRef>
          </c:cat>
          <c:val>
            <c:numRef>
              <c:f>Sheet1!$B$2:$B$5</c:f>
              <c:numCache>
                <c:formatCode>General</c:formatCode>
                <c:ptCount val="4"/>
                <c:pt idx="0">
                  <c:v>44</c:v>
                </c:pt>
                <c:pt idx="1">
                  <c:v>40</c:v>
                </c:pt>
              </c:numCache>
            </c:numRef>
          </c:val>
          <c:extLst>
            <c:ext xmlns:c16="http://schemas.microsoft.com/office/drawing/2014/chart" uri="{C3380CC4-5D6E-409C-BE32-E72D297353CC}">
              <c16:uniqueId val="{00000008-D6A1-4860-9240-921D74B4791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567-4255-A99D-E5A036EE479A}"/>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567-4255-A99D-E5A036EE479A}"/>
            </c:ext>
          </c:extLst>
        </c:ser>
        <c:ser>
          <c:idx val="2"/>
          <c:order val="2"/>
          <c:tx>
            <c:strRef>
              <c:f>Sheet1!$D$1</c:f>
              <c:strCache>
                <c:ptCount val="1"/>
                <c:pt idx="0">
                  <c:v>Series 3</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567-4255-A99D-E5A036EE479A}"/>
            </c:ext>
          </c:extLst>
        </c:ser>
        <c:dLbls>
          <c:showLegendKey val="0"/>
          <c:showVal val="0"/>
          <c:showCatName val="0"/>
          <c:showSerName val="0"/>
          <c:showPercent val="0"/>
          <c:showBubbleSize val="0"/>
        </c:dLbls>
        <c:gapWidth val="219"/>
        <c:overlap val="-27"/>
        <c:axId val="621681624"/>
        <c:axId val="621683976"/>
      </c:barChart>
      <c:catAx>
        <c:axId val="621681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21683976"/>
        <c:crosses val="autoZero"/>
        <c:auto val="1"/>
        <c:lblAlgn val="ctr"/>
        <c:lblOffset val="100"/>
        <c:noMultiLvlLbl val="0"/>
      </c:catAx>
      <c:valAx>
        <c:axId val="621683976"/>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216816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5.7145812977757345E-2"/>
          <c:y val="0.11528139679874293"/>
          <c:w val="0.91814896523672895"/>
          <c:h val="0.67370342492705881"/>
        </c:manualLayout>
      </c:layout>
      <c:lineChart>
        <c:grouping val="standard"/>
        <c:varyColors val="0"/>
        <c:ser>
          <c:idx val="0"/>
          <c:order val="0"/>
          <c:tx>
            <c:strRef>
              <c:f>Sheet1!$B$1</c:f>
              <c:strCache>
                <c:ptCount val="1"/>
                <c:pt idx="0">
                  <c:v>Series 1</c:v>
                </c:pt>
              </c:strCache>
            </c:strRef>
          </c:tx>
          <c:spPr>
            <a:ln w="28575" cap="rnd">
              <a:solidFill>
                <a:schemeClr val="accent4"/>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DB53-4CFE-929E-46AA81427ACF}"/>
            </c:ext>
          </c:extLst>
        </c:ser>
        <c:ser>
          <c:idx val="1"/>
          <c:order val="1"/>
          <c:tx>
            <c:strRef>
              <c:f>Sheet1!$C$1</c:f>
              <c:strCache>
                <c:ptCount val="1"/>
                <c:pt idx="0">
                  <c:v>Series 2</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DB53-4CFE-929E-46AA81427ACF}"/>
            </c:ext>
          </c:extLst>
        </c:ser>
        <c:ser>
          <c:idx val="2"/>
          <c:order val="2"/>
          <c:tx>
            <c:strRef>
              <c:f>Sheet1!$D$1</c:f>
              <c:strCache>
                <c:ptCount val="1"/>
                <c:pt idx="0">
                  <c:v>Series 3</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DB53-4CFE-929E-46AA81427ACF}"/>
            </c:ext>
          </c:extLst>
        </c:ser>
        <c:dLbls>
          <c:showLegendKey val="0"/>
          <c:showVal val="0"/>
          <c:showCatName val="0"/>
          <c:showSerName val="0"/>
          <c:showPercent val="0"/>
          <c:showBubbleSize val="0"/>
        </c:dLbls>
        <c:smooth val="0"/>
        <c:axId val="621676920"/>
        <c:axId val="621677312"/>
      </c:lineChart>
      <c:catAx>
        <c:axId val="621676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21677312"/>
        <c:crosses val="autoZero"/>
        <c:auto val="1"/>
        <c:lblAlgn val="ctr"/>
        <c:lblOffset val="100"/>
        <c:noMultiLvlLbl val="0"/>
      </c:catAx>
      <c:valAx>
        <c:axId val="621677312"/>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216769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428225317989097E-2"/>
          <c:y val="0.11528139679874293"/>
          <c:w val="0.90101252503459528"/>
          <c:h val="0.67370342492705881"/>
        </c:manualLayout>
      </c:layout>
      <c:lineChart>
        <c:grouping val="stacked"/>
        <c:varyColors val="0"/>
        <c:ser>
          <c:idx val="0"/>
          <c:order val="0"/>
          <c:tx>
            <c:strRef>
              <c:f>Sheet1!$B$1</c:f>
              <c:strCache>
                <c:ptCount val="1"/>
                <c:pt idx="0">
                  <c:v>Series 1</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BB20-4A14-9888-F9157CF7B033}"/>
            </c:ext>
          </c:extLst>
        </c:ser>
        <c:ser>
          <c:idx val="1"/>
          <c:order val="1"/>
          <c:tx>
            <c:strRef>
              <c:f>Sheet1!$C$1</c:f>
              <c:strCache>
                <c:ptCount val="1"/>
                <c:pt idx="0">
                  <c:v>Series 2</c:v>
                </c:pt>
              </c:strCache>
            </c:strRef>
          </c:tx>
          <c:spPr>
            <a:ln w="28575" cap="rnd">
              <a:solidFill>
                <a:schemeClr val="accent4"/>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BB20-4A14-9888-F9157CF7B033}"/>
            </c:ext>
          </c:extLst>
        </c:ser>
        <c:ser>
          <c:idx val="2"/>
          <c:order val="2"/>
          <c:tx>
            <c:strRef>
              <c:f>Sheet1!$D$1</c:f>
              <c:strCache>
                <c:ptCount val="1"/>
                <c:pt idx="0">
                  <c:v>Series 3</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BB20-4A14-9888-F9157CF7B033}"/>
            </c:ext>
          </c:extLst>
        </c:ser>
        <c:dLbls>
          <c:showLegendKey val="0"/>
          <c:showVal val="0"/>
          <c:showCatName val="0"/>
          <c:showSerName val="0"/>
          <c:showPercent val="0"/>
          <c:showBubbleSize val="0"/>
        </c:dLbls>
        <c:smooth val="0"/>
        <c:axId val="621697304"/>
        <c:axId val="621697696"/>
      </c:lineChart>
      <c:catAx>
        <c:axId val="621697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21697696"/>
        <c:crosses val="autoZero"/>
        <c:auto val="1"/>
        <c:lblAlgn val="ctr"/>
        <c:lblOffset val="100"/>
        <c:noMultiLvlLbl val="0"/>
      </c:catAx>
      <c:valAx>
        <c:axId val="621697696"/>
        <c:scaling>
          <c:orientation val="minMax"/>
        </c:scaling>
        <c:delete val="0"/>
        <c:axPos val="l"/>
        <c:majorGridlines>
          <c:spPr>
            <a:ln w="9525" cap="flat" cmpd="sng" algn="ctr">
              <a:solidFill>
                <a:schemeClr val="bg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6216973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ED8C5-1FA1-4181-A53A-5B33236B9067}" type="datetimeFigureOut">
              <a:rPr lang="en-US" smtClean="0"/>
              <a:t>7/14/2026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5BC95C-124B-46AE-BB45-57BDEEE8D2B1}" type="slidenum">
              <a:rPr lang="en-US" smtClean="0"/>
              <a:t>‹#›</a:t>
            </a:fld>
            <a:endParaRPr lang="en-US" dirty="0"/>
          </a:p>
        </p:txBody>
      </p:sp>
    </p:spTree>
    <p:extLst>
      <p:ext uri="{BB962C8B-B14F-4D97-AF65-F5344CB8AC3E}">
        <p14:creationId xmlns:p14="http://schemas.microsoft.com/office/powerpoint/2010/main" val="3822733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a:t>
            </a:fld>
            <a:endParaRPr lang="en-US" dirty="0"/>
          </a:p>
        </p:txBody>
      </p:sp>
    </p:spTree>
    <p:extLst>
      <p:ext uri="{BB962C8B-B14F-4D97-AF65-F5344CB8AC3E}">
        <p14:creationId xmlns:p14="http://schemas.microsoft.com/office/powerpoint/2010/main" val="358537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a:t>
            </a:fld>
            <a:endParaRPr lang="en-US" dirty="0"/>
          </a:p>
        </p:txBody>
      </p:sp>
    </p:spTree>
    <p:extLst>
      <p:ext uri="{BB962C8B-B14F-4D97-AF65-F5344CB8AC3E}">
        <p14:creationId xmlns:p14="http://schemas.microsoft.com/office/powerpoint/2010/main" val="91946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49954-8DBD-63FC-38F0-5F7AA29737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E9F66C-F384-FF32-6764-53C3F8F56CC1}"/>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62BFFF35-4854-7E24-CE83-B2ACED043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5556E6-69E3-FA1E-EDE5-274DF66F6C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5BC95C-124B-46AE-BB45-57BDEEE8D2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23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1F7C37-D2A2-4AFB-ABB4-3592BB4356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709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a:t>
            </a:fld>
            <a:endParaRPr lang="en-US" dirty="0"/>
          </a:p>
        </p:txBody>
      </p:sp>
    </p:spTree>
    <p:extLst>
      <p:ext uri="{BB962C8B-B14F-4D97-AF65-F5344CB8AC3E}">
        <p14:creationId xmlns:p14="http://schemas.microsoft.com/office/powerpoint/2010/main" val="265058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6</a:t>
            </a:fld>
            <a:endParaRPr lang="en-US" dirty="0"/>
          </a:p>
        </p:txBody>
      </p:sp>
    </p:spTree>
    <p:extLst>
      <p:ext uri="{BB962C8B-B14F-4D97-AF65-F5344CB8AC3E}">
        <p14:creationId xmlns:p14="http://schemas.microsoft.com/office/powerpoint/2010/main" val="2163320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7A3C7-8AE2-ADEF-1FFE-9F48F1B37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1C408-8B89-F83A-33AD-5D4B5CE8F45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93B123B-A282-262C-7808-4E3F50D105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06E372-DE61-38CA-5DDA-8F83283F20CA}"/>
              </a:ext>
            </a:extLst>
          </p:cNvPr>
          <p:cNvSpPr>
            <a:spLocks noGrp="1"/>
          </p:cNvSpPr>
          <p:nvPr>
            <p:ph type="sldNum" sz="quarter" idx="5"/>
          </p:nvPr>
        </p:nvSpPr>
        <p:spPr/>
        <p:txBody>
          <a:bodyPr/>
          <a:lstStyle/>
          <a:p>
            <a:fld id="{9D5BC95C-124B-46AE-BB45-57BDEEE8D2B1}" type="slidenum">
              <a:rPr lang="en-US" smtClean="0"/>
              <a:t>7</a:t>
            </a:fld>
            <a:endParaRPr lang="en-US" dirty="0"/>
          </a:p>
        </p:txBody>
      </p:sp>
    </p:spTree>
    <p:extLst>
      <p:ext uri="{BB962C8B-B14F-4D97-AF65-F5344CB8AC3E}">
        <p14:creationId xmlns:p14="http://schemas.microsoft.com/office/powerpoint/2010/main" val="3605780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8</a:t>
            </a:fld>
            <a:endParaRPr lang="en-US" dirty="0"/>
          </a:p>
        </p:txBody>
      </p:sp>
    </p:spTree>
    <p:extLst>
      <p:ext uri="{BB962C8B-B14F-4D97-AF65-F5344CB8AC3E}">
        <p14:creationId xmlns:p14="http://schemas.microsoft.com/office/powerpoint/2010/main" val="2516554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9</a:t>
            </a:fld>
            <a:endParaRPr lang="en-US" dirty="0"/>
          </a:p>
        </p:txBody>
      </p:sp>
    </p:spTree>
    <p:extLst>
      <p:ext uri="{BB962C8B-B14F-4D97-AF65-F5344CB8AC3E}">
        <p14:creationId xmlns:p14="http://schemas.microsoft.com/office/powerpoint/2010/main" val="942001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10</a:t>
            </a:fld>
            <a:endParaRPr lang="en-US" dirty="0"/>
          </a:p>
        </p:txBody>
      </p:sp>
    </p:spTree>
    <p:extLst>
      <p:ext uri="{BB962C8B-B14F-4D97-AF65-F5344CB8AC3E}">
        <p14:creationId xmlns:p14="http://schemas.microsoft.com/office/powerpoint/2010/main" val="1511853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11</a:t>
            </a:fld>
            <a:endParaRPr lang="en-US" dirty="0"/>
          </a:p>
        </p:txBody>
      </p:sp>
    </p:spTree>
    <p:extLst>
      <p:ext uri="{BB962C8B-B14F-4D97-AF65-F5344CB8AC3E}">
        <p14:creationId xmlns:p14="http://schemas.microsoft.com/office/powerpoint/2010/main" val="205686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12</a:t>
            </a:fld>
            <a:endParaRPr lang="en-US" dirty="0"/>
          </a:p>
        </p:txBody>
      </p:sp>
    </p:spTree>
    <p:extLst>
      <p:ext uri="{BB962C8B-B14F-4D97-AF65-F5344CB8AC3E}">
        <p14:creationId xmlns:p14="http://schemas.microsoft.com/office/powerpoint/2010/main" val="2636526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13</a:t>
            </a:fld>
            <a:endParaRPr lang="en-US" dirty="0"/>
          </a:p>
        </p:txBody>
      </p:sp>
    </p:spTree>
    <p:extLst>
      <p:ext uri="{BB962C8B-B14F-4D97-AF65-F5344CB8AC3E}">
        <p14:creationId xmlns:p14="http://schemas.microsoft.com/office/powerpoint/2010/main" val="573823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14</a:t>
            </a:fld>
            <a:endParaRPr lang="en-US" dirty="0"/>
          </a:p>
        </p:txBody>
      </p:sp>
    </p:spTree>
    <p:extLst>
      <p:ext uri="{BB962C8B-B14F-4D97-AF65-F5344CB8AC3E}">
        <p14:creationId xmlns:p14="http://schemas.microsoft.com/office/powerpoint/2010/main" val="412610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15</a:t>
            </a:fld>
            <a:endParaRPr lang="en-US" dirty="0"/>
          </a:p>
        </p:txBody>
      </p:sp>
    </p:spTree>
    <p:extLst>
      <p:ext uri="{BB962C8B-B14F-4D97-AF65-F5344CB8AC3E}">
        <p14:creationId xmlns:p14="http://schemas.microsoft.com/office/powerpoint/2010/main" val="2692374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16</a:t>
            </a:fld>
            <a:endParaRPr lang="en-US" dirty="0"/>
          </a:p>
        </p:txBody>
      </p:sp>
    </p:spTree>
    <p:extLst>
      <p:ext uri="{BB962C8B-B14F-4D97-AF65-F5344CB8AC3E}">
        <p14:creationId xmlns:p14="http://schemas.microsoft.com/office/powerpoint/2010/main" val="19469863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17</a:t>
            </a:fld>
            <a:endParaRPr lang="en-US" dirty="0"/>
          </a:p>
        </p:txBody>
      </p:sp>
    </p:spTree>
    <p:extLst>
      <p:ext uri="{BB962C8B-B14F-4D97-AF65-F5344CB8AC3E}">
        <p14:creationId xmlns:p14="http://schemas.microsoft.com/office/powerpoint/2010/main" val="956823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18</a:t>
            </a:fld>
            <a:endParaRPr lang="en-US" dirty="0"/>
          </a:p>
        </p:txBody>
      </p:sp>
    </p:spTree>
    <p:extLst>
      <p:ext uri="{BB962C8B-B14F-4D97-AF65-F5344CB8AC3E}">
        <p14:creationId xmlns:p14="http://schemas.microsoft.com/office/powerpoint/2010/main" val="632115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19</a:t>
            </a:fld>
            <a:endParaRPr lang="en-US" dirty="0"/>
          </a:p>
        </p:txBody>
      </p:sp>
    </p:spTree>
    <p:extLst>
      <p:ext uri="{BB962C8B-B14F-4D97-AF65-F5344CB8AC3E}">
        <p14:creationId xmlns:p14="http://schemas.microsoft.com/office/powerpoint/2010/main" val="1840716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20</a:t>
            </a:fld>
            <a:endParaRPr lang="en-US" dirty="0"/>
          </a:p>
        </p:txBody>
      </p:sp>
    </p:spTree>
    <p:extLst>
      <p:ext uri="{BB962C8B-B14F-4D97-AF65-F5344CB8AC3E}">
        <p14:creationId xmlns:p14="http://schemas.microsoft.com/office/powerpoint/2010/main" val="23697737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21</a:t>
            </a:fld>
            <a:endParaRPr lang="en-US" dirty="0"/>
          </a:p>
        </p:txBody>
      </p:sp>
    </p:spTree>
    <p:extLst>
      <p:ext uri="{BB962C8B-B14F-4D97-AF65-F5344CB8AC3E}">
        <p14:creationId xmlns:p14="http://schemas.microsoft.com/office/powerpoint/2010/main" val="15615590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22</a:t>
            </a:fld>
            <a:endParaRPr lang="en-US" dirty="0"/>
          </a:p>
        </p:txBody>
      </p:sp>
    </p:spTree>
    <p:extLst>
      <p:ext uri="{BB962C8B-B14F-4D97-AF65-F5344CB8AC3E}">
        <p14:creationId xmlns:p14="http://schemas.microsoft.com/office/powerpoint/2010/main" val="5681328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23</a:t>
            </a:fld>
            <a:endParaRPr lang="en-US" dirty="0"/>
          </a:p>
        </p:txBody>
      </p:sp>
    </p:spTree>
    <p:extLst>
      <p:ext uri="{BB962C8B-B14F-4D97-AF65-F5344CB8AC3E}">
        <p14:creationId xmlns:p14="http://schemas.microsoft.com/office/powerpoint/2010/main" val="3008703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24</a:t>
            </a:fld>
            <a:endParaRPr lang="en-US" dirty="0"/>
          </a:p>
        </p:txBody>
      </p:sp>
    </p:spTree>
    <p:extLst>
      <p:ext uri="{BB962C8B-B14F-4D97-AF65-F5344CB8AC3E}">
        <p14:creationId xmlns:p14="http://schemas.microsoft.com/office/powerpoint/2010/main" val="21858444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25</a:t>
            </a:fld>
            <a:endParaRPr lang="en-US" dirty="0"/>
          </a:p>
        </p:txBody>
      </p:sp>
    </p:spTree>
    <p:extLst>
      <p:ext uri="{BB962C8B-B14F-4D97-AF65-F5344CB8AC3E}">
        <p14:creationId xmlns:p14="http://schemas.microsoft.com/office/powerpoint/2010/main" val="2258732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C5D58-71F2-2A7E-1E27-AEB6B08F37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11059-9AA7-EBAC-8E42-5479E2F2F62C}"/>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F5D81108-D100-6794-6C22-694ABAD6DB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DFC3B-B32A-1331-6425-3AA26791AF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5BC95C-124B-46AE-BB45-57BDEEE8D2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640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27</a:t>
            </a:fld>
            <a:endParaRPr lang="en-US" dirty="0"/>
          </a:p>
        </p:txBody>
      </p:sp>
    </p:spTree>
    <p:extLst>
      <p:ext uri="{BB962C8B-B14F-4D97-AF65-F5344CB8AC3E}">
        <p14:creationId xmlns:p14="http://schemas.microsoft.com/office/powerpoint/2010/main" val="3975022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28</a:t>
            </a:fld>
            <a:endParaRPr lang="en-US" dirty="0"/>
          </a:p>
        </p:txBody>
      </p:sp>
    </p:spTree>
    <p:extLst>
      <p:ext uri="{BB962C8B-B14F-4D97-AF65-F5344CB8AC3E}">
        <p14:creationId xmlns:p14="http://schemas.microsoft.com/office/powerpoint/2010/main" val="4128102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51F7C37-D2A2-4AFB-ABB4-3592BB4356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08309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30</a:t>
            </a:fld>
            <a:endParaRPr lang="en-US" dirty="0"/>
          </a:p>
        </p:txBody>
      </p:sp>
    </p:spTree>
    <p:extLst>
      <p:ext uri="{BB962C8B-B14F-4D97-AF65-F5344CB8AC3E}">
        <p14:creationId xmlns:p14="http://schemas.microsoft.com/office/powerpoint/2010/main" val="23178938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31</a:t>
            </a:fld>
            <a:endParaRPr lang="en-US" dirty="0"/>
          </a:p>
        </p:txBody>
      </p:sp>
    </p:spTree>
    <p:extLst>
      <p:ext uri="{BB962C8B-B14F-4D97-AF65-F5344CB8AC3E}">
        <p14:creationId xmlns:p14="http://schemas.microsoft.com/office/powerpoint/2010/main" val="5015824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32</a:t>
            </a:fld>
            <a:endParaRPr lang="en-US" dirty="0"/>
          </a:p>
        </p:txBody>
      </p:sp>
    </p:spTree>
    <p:extLst>
      <p:ext uri="{BB962C8B-B14F-4D97-AF65-F5344CB8AC3E}">
        <p14:creationId xmlns:p14="http://schemas.microsoft.com/office/powerpoint/2010/main" val="2097272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33</a:t>
            </a:fld>
            <a:endParaRPr lang="en-US" dirty="0"/>
          </a:p>
        </p:txBody>
      </p:sp>
    </p:spTree>
    <p:extLst>
      <p:ext uri="{BB962C8B-B14F-4D97-AF65-F5344CB8AC3E}">
        <p14:creationId xmlns:p14="http://schemas.microsoft.com/office/powerpoint/2010/main" val="2265741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34</a:t>
            </a:fld>
            <a:endParaRPr lang="en-US" dirty="0"/>
          </a:p>
        </p:txBody>
      </p:sp>
    </p:spTree>
    <p:extLst>
      <p:ext uri="{BB962C8B-B14F-4D97-AF65-F5344CB8AC3E}">
        <p14:creationId xmlns:p14="http://schemas.microsoft.com/office/powerpoint/2010/main" val="14447313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35</a:t>
            </a:fld>
            <a:endParaRPr lang="en-US" dirty="0"/>
          </a:p>
        </p:txBody>
      </p:sp>
    </p:spTree>
    <p:extLst>
      <p:ext uri="{BB962C8B-B14F-4D97-AF65-F5344CB8AC3E}">
        <p14:creationId xmlns:p14="http://schemas.microsoft.com/office/powerpoint/2010/main" val="3587494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Impact=Volume×(Target−Industry)×Cost per Failure\text{Impact}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 On-Time Receiving</a:t>
            </a:r>
          </a:p>
          <a:p>
            <a:r>
              <a:rPr lang="en-US" dirty="0"/>
              <a:t>Formula – Customer Volume (2153 receipts) x target (99.5% UPS) – industry (97% Avg) x cost per failure ($30 avg as defined by Copilot) = $impact</a:t>
            </a:r>
          </a:p>
          <a:p>
            <a:r>
              <a:rPr lang="en-US" dirty="0"/>
              <a:t>[Customer] actual YTD 2025 -</a:t>
            </a:r>
            <a:r>
              <a:rPr lang="en-US" dirty="0">
                <a:solidFill>
                  <a:srgbClr val="FF0000"/>
                </a:solidFill>
              </a:rPr>
              <a:t> </a:t>
            </a:r>
            <a:r>
              <a:rPr lang="en-US" dirty="0">
                <a:solidFill>
                  <a:srgbClr val="FF0000"/>
                </a:solidFill>
                <a:highlight>
                  <a:srgbClr val="FFFF00"/>
                </a:highlight>
              </a:rPr>
              <a:t>2153</a:t>
            </a:r>
            <a:r>
              <a:rPr lang="en-US" dirty="0">
                <a:solidFill>
                  <a:srgbClr val="FF0000"/>
                </a:solidFill>
              </a:rPr>
              <a:t> </a:t>
            </a:r>
            <a:r>
              <a:rPr lang="en-US" dirty="0"/>
              <a:t>x 2.5% (UPS vs industry gap) x $30 = $1615</a:t>
            </a:r>
          </a:p>
          <a:p>
            <a:r>
              <a:rPr lang="en-US" dirty="0"/>
              <a:t>On-Time Receiving cost per failure - $30 is defined as $10 rehandling fee + $15 inventory delay/stockout fee + $5 administrative/re-scheduling fee</a:t>
            </a:r>
          </a:p>
          <a:p>
            <a:r>
              <a:rPr lang="en-US" dirty="0"/>
              <a:t>Shipment Accuracy cost per failure - $45 </a:t>
            </a:r>
          </a:p>
          <a:p>
            <a:r>
              <a:rPr lang="en-US" dirty="0"/>
              <a:t>On-Time Shipping cost per failure - $18</a:t>
            </a:r>
          </a:p>
          <a:p>
            <a:r>
              <a:rPr lang="en-US" dirty="0"/>
              <a:t>Inventory Accuracy cost per failure - $20 </a:t>
            </a:r>
          </a:p>
          <a:p>
            <a:r>
              <a:rPr lang="en-US" dirty="0"/>
              <a:t>Returns On-Time cost per failure - $12</a:t>
            </a:r>
          </a:p>
          <a:p>
            <a:r>
              <a:rPr lang="en-US" dirty="0"/>
              <a:t>Frame it as: “Running at industry average vs our SLA would cost about $XXX annually in operational and customer-experience losses.”</a:t>
            </a:r>
          </a:p>
          <a:p>
            <a:endParaRPr lang="en-US" dirty="0"/>
          </a:p>
        </p:txBody>
      </p:sp>
      <p:sp>
        <p:nvSpPr>
          <p:cNvPr id="4" name="Slide Number Placeholder 3"/>
          <p:cNvSpPr>
            <a:spLocks noGrp="1"/>
          </p:cNvSpPr>
          <p:nvPr>
            <p:ph type="sldNum" sz="quarter" idx="5"/>
          </p:nvPr>
        </p:nvSpPr>
        <p:spPr/>
        <p:txBody>
          <a:bodyPr/>
          <a:lstStyle/>
          <a:p>
            <a:fld id="{80ADCA24-3BDC-485C-921C-14EA436117A3}" type="slidenum">
              <a:rPr lang="en-US" smtClean="0"/>
              <a:t>36</a:t>
            </a:fld>
            <a:endParaRPr lang="en-US" dirty="0"/>
          </a:p>
        </p:txBody>
      </p:sp>
    </p:spTree>
    <p:extLst>
      <p:ext uri="{BB962C8B-B14F-4D97-AF65-F5344CB8AC3E}">
        <p14:creationId xmlns:p14="http://schemas.microsoft.com/office/powerpoint/2010/main" val="36322395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37</a:t>
            </a:fld>
            <a:endParaRPr lang="en-US" dirty="0"/>
          </a:p>
        </p:txBody>
      </p:sp>
    </p:spTree>
    <p:extLst>
      <p:ext uri="{BB962C8B-B14F-4D97-AF65-F5344CB8AC3E}">
        <p14:creationId xmlns:p14="http://schemas.microsoft.com/office/powerpoint/2010/main" val="8392365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38</a:t>
            </a:fld>
            <a:endParaRPr lang="en-US" dirty="0"/>
          </a:p>
        </p:txBody>
      </p:sp>
    </p:spTree>
    <p:extLst>
      <p:ext uri="{BB962C8B-B14F-4D97-AF65-F5344CB8AC3E}">
        <p14:creationId xmlns:p14="http://schemas.microsoft.com/office/powerpoint/2010/main" val="26591055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39</a:t>
            </a:fld>
            <a:endParaRPr lang="en-US" dirty="0"/>
          </a:p>
        </p:txBody>
      </p:sp>
    </p:spTree>
    <p:extLst>
      <p:ext uri="{BB962C8B-B14F-4D97-AF65-F5344CB8AC3E}">
        <p14:creationId xmlns:p14="http://schemas.microsoft.com/office/powerpoint/2010/main" val="26556007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40</a:t>
            </a:fld>
            <a:endParaRPr lang="en-US" dirty="0"/>
          </a:p>
        </p:txBody>
      </p:sp>
    </p:spTree>
    <p:extLst>
      <p:ext uri="{BB962C8B-B14F-4D97-AF65-F5344CB8AC3E}">
        <p14:creationId xmlns:p14="http://schemas.microsoft.com/office/powerpoint/2010/main" val="4910628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41</a:t>
            </a:fld>
            <a:endParaRPr lang="en-US" dirty="0"/>
          </a:p>
        </p:txBody>
      </p:sp>
    </p:spTree>
    <p:extLst>
      <p:ext uri="{BB962C8B-B14F-4D97-AF65-F5344CB8AC3E}">
        <p14:creationId xmlns:p14="http://schemas.microsoft.com/office/powerpoint/2010/main" val="39816851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42</a:t>
            </a:fld>
            <a:endParaRPr lang="en-US" dirty="0"/>
          </a:p>
        </p:txBody>
      </p:sp>
    </p:spTree>
    <p:extLst>
      <p:ext uri="{BB962C8B-B14F-4D97-AF65-F5344CB8AC3E}">
        <p14:creationId xmlns:p14="http://schemas.microsoft.com/office/powerpoint/2010/main" val="34527848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43</a:t>
            </a:fld>
            <a:endParaRPr lang="en-US" dirty="0"/>
          </a:p>
        </p:txBody>
      </p:sp>
    </p:spTree>
    <p:extLst>
      <p:ext uri="{BB962C8B-B14F-4D97-AF65-F5344CB8AC3E}">
        <p14:creationId xmlns:p14="http://schemas.microsoft.com/office/powerpoint/2010/main" val="35175178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44</a:t>
            </a:fld>
            <a:endParaRPr lang="en-US" dirty="0"/>
          </a:p>
        </p:txBody>
      </p:sp>
    </p:spTree>
    <p:extLst>
      <p:ext uri="{BB962C8B-B14F-4D97-AF65-F5344CB8AC3E}">
        <p14:creationId xmlns:p14="http://schemas.microsoft.com/office/powerpoint/2010/main" val="6793363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D49DB1-CF9B-2D4C-BCA2-7748C581686D}" type="slidenum">
              <a:rPr lang="en-US" smtClean="0"/>
              <a:pPr/>
              <a:t>45</a:t>
            </a:fld>
            <a:endParaRPr lang="en-US" dirty="0"/>
          </a:p>
        </p:txBody>
      </p:sp>
    </p:spTree>
    <p:extLst>
      <p:ext uri="{BB962C8B-B14F-4D97-AF65-F5344CB8AC3E}">
        <p14:creationId xmlns:p14="http://schemas.microsoft.com/office/powerpoint/2010/main" val="7864488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46</a:t>
            </a:fld>
            <a:endParaRPr lang="en-US" dirty="0"/>
          </a:p>
        </p:txBody>
      </p:sp>
    </p:spTree>
    <p:extLst>
      <p:ext uri="{BB962C8B-B14F-4D97-AF65-F5344CB8AC3E}">
        <p14:creationId xmlns:p14="http://schemas.microsoft.com/office/powerpoint/2010/main" val="11952765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47</a:t>
            </a:fld>
            <a:endParaRPr lang="en-US" dirty="0"/>
          </a:p>
        </p:txBody>
      </p:sp>
    </p:spTree>
    <p:extLst>
      <p:ext uri="{BB962C8B-B14F-4D97-AF65-F5344CB8AC3E}">
        <p14:creationId xmlns:p14="http://schemas.microsoft.com/office/powerpoint/2010/main" val="24046708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48</a:t>
            </a:fld>
            <a:endParaRPr lang="en-US" dirty="0"/>
          </a:p>
        </p:txBody>
      </p:sp>
    </p:spTree>
    <p:extLst>
      <p:ext uri="{BB962C8B-B14F-4D97-AF65-F5344CB8AC3E}">
        <p14:creationId xmlns:p14="http://schemas.microsoft.com/office/powerpoint/2010/main" val="28688766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49</a:t>
            </a:fld>
            <a:endParaRPr lang="en-US" dirty="0"/>
          </a:p>
        </p:txBody>
      </p:sp>
    </p:spTree>
    <p:extLst>
      <p:ext uri="{BB962C8B-B14F-4D97-AF65-F5344CB8AC3E}">
        <p14:creationId xmlns:p14="http://schemas.microsoft.com/office/powerpoint/2010/main" val="26878655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50</a:t>
            </a:fld>
            <a:endParaRPr lang="en-US" dirty="0"/>
          </a:p>
        </p:txBody>
      </p:sp>
    </p:spTree>
    <p:extLst>
      <p:ext uri="{BB962C8B-B14F-4D97-AF65-F5344CB8AC3E}">
        <p14:creationId xmlns:p14="http://schemas.microsoft.com/office/powerpoint/2010/main" val="31043522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51</a:t>
            </a:fld>
            <a:endParaRPr lang="en-US" dirty="0"/>
          </a:p>
        </p:txBody>
      </p:sp>
    </p:spTree>
    <p:extLst>
      <p:ext uri="{BB962C8B-B14F-4D97-AF65-F5344CB8AC3E}">
        <p14:creationId xmlns:p14="http://schemas.microsoft.com/office/powerpoint/2010/main" val="38689294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52</a:t>
            </a:fld>
            <a:endParaRPr lang="en-US" dirty="0"/>
          </a:p>
        </p:txBody>
      </p:sp>
    </p:spTree>
    <p:extLst>
      <p:ext uri="{BB962C8B-B14F-4D97-AF65-F5344CB8AC3E}">
        <p14:creationId xmlns:p14="http://schemas.microsoft.com/office/powerpoint/2010/main" val="39541980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53</a:t>
            </a:fld>
            <a:endParaRPr lang="en-US" dirty="0"/>
          </a:p>
        </p:txBody>
      </p:sp>
    </p:spTree>
    <p:extLst>
      <p:ext uri="{BB962C8B-B14F-4D97-AF65-F5344CB8AC3E}">
        <p14:creationId xmlns:p14="http://schemas.microsoft.com/office/powerpoint/2010/main" val="10643328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54</a:t>
            </a:fld>
            <a:endParaRPr lang="en-US" dirty="0"/>
          </a:p>
        </p:txBody>
      </p:sp>
    </p:spTree>
    <p:extLst>
      <p:ext uri="{BB962C8B-B14F-4D97-AF65-F5344CB8AC3E}">
        <p14:creationId xmlns:p14="http://schemas.microsoft.com/office/powerpoint/2010/main" val="35818899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55</a:t>
            </a:fld>
            <a:endParaRPr lang="en-US" dirty="0"/>
          </a:p>
        </p:txBody>
      </p:sp>
    </p:spTree>
    <p:extLst>
      <p:ext uri="{BB962C8B-B14F-4D97-AF65-F5344CB8AC3E}">
        <p14:creationId xmlns:p14="http://schemas.microsoft.com/office/powerpoint/2010/main" val="42660345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56</a:t>
            </a:fld>
            <a:endParaRPr lang="en-US" dirty="0"/>
          </a:p>
        </p:txBody>
      </p:sp>
    </p:spTree>
    <p:extLst>
      <p:ext uri="{BB962C8B-B14F-4D97-AF65-F5344CB8AC3E}">
        <p14:creationId xmlns:p14="http://schemas.microsoft.com/office/powerpoint/2010/main" val="24434694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57</a:t>
            </a:fld>
            <a:endParaRPr lang="en-US" dirty="0"/>
          </a:p>
        </p:txBody>
      </p:sp>
    </p:spTree>
    <p:extLst>
      <p:ext uri="{BB962C8B-B14F-4D97-AF65-F5344CB8AC3E}">
        <p14:creationId xmlns:p14="http://schemas.microsoft.com/office/powerpoint/2010/main" val="27948505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5F2F1E-3C18-42B9-9091-254A294E3F80}" type="slidenum">
              <a:rPr lang="en-US" smtClean="0"/>
              <a:t>58</a:t>
            </a:fld>
            <a:endParaRPr lang="en-US" dirty="0"/>
          </a:p>
        </p:txBody>
      </p:sp>
    </p:spTree>
    <p:extLst>
      <p:ext uri="{BB962C8B-B14F-4D97-AF65-F5344CB8AC3E}">
        <p14:creationId xmlns:p14="http://schemas.microsoft.com/office/powerpoint/2010/main" val="37611158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59</a:t>
            </a:fld>
            <a:endParaRPr lang="en-US" dirty="0"/>
          </a:p>
        </p:txBody>
      </p:sp>
    </p:spTree>
    <p:extLst>
      <p:ext uri="{BB962C8B-B14F-4D97-AF65-F5344CB8AC3E}">
        <p14:creationId xmlns:p14="http://schemas.microsoft.com/office/powerpoint/2010/main" val="38776804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5BC95C-124B-46AE-BB45-57BDEEE8D2B1}" type="slidenum">
              <a:rPr lang="en-US" smtClean="0"/>
              <a:t>60</a:t>
            </a:fld>
            <a:endParaRPr lang="en-US" dirty="0"/>
          </a:p>
        </p:txBody>
      </p:sp>
    </p:spTree>
    <p:extLst>
      <p:ext uri="{BB962C8B-B14F-4D97-AF65-F5344CB8AC3E}">
        <p14:creationId xmlns:p14="http://schemas.microsoft.com/office/powerpoint/2010/main" val="10715450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4.emf"/><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6.emf"/><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9.jpeg"/><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Blue">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1106272A-777A-476E-A120-16CB29B65336}"/>
              </a:ext>
            </a:extLst>
          </p:cNvPr>
          <p:cNvGraphicFramePr>
            <a:graphicFrameLocks noChangeAspect="1"/>
          </p:cNvGraphicFramePr>
          <p:nvPr>
            <p:custDataLst>
              <p:tags r:id="rId1"/>
            </p:custDataLst>
            <p:extLst>
              <p:ext uri="{D42A27DB-BD31-4B8C-83A1-F6EECF244321}">
                <p14:modId xmlns:p14="http://schemas.microsoft.com/office/powerpoint/2010/main" val="1225238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1" name="Object 10" hidden="1">
                        <a:extLst>
                          <a:ext uri="{FF2B5EF4-FFF2-40B4-BE49-F238E27FC236}">
                            <a16:creationId xmlns:a16="http://schemas.microsoft.com/office/drawing/2014/main" id="{1106272A-777A-476E-A120-16CB29B653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Graphic 2">
            <a:extLst>
              <a:ext uri="{FF2B5EF4-FFF2-40B4-BE49-F238E27FC236}">
                <a16:creationId xmlns:a16="http://schemas.microsoft.com/office/drawing/2014/main" id="{AB9996F4-A930-4CBA-8848-D7D5539FB260}"/>
              </a:ext>
            </a:extLst>
          </p:cNvPr>
          <p:cNvSpPr>
            <a:spLocks noChangeAspect="1"/>
          </p:cNvSpPr>
          <p:nvPr/>
        </p:nvSpPr>
        <p:spPr>
          <a:xfrm>
            <a:off x="0" y="3983"/>
            <a:ext cx="5397192" cy="6854017"/>
          </a:xfrm>
          <a:custGeom>
            <a:avLst/>
            <a:gdLst>
              <a:gd name="connsiteX0" fmla="*/ 4050697 w 4050696"/>
              <a:gd name="connsiteY0" fmla="*/ 3763613 h 5144071"/>
              <a:gd name="connsiteX1" fmla="*/ 4050697 w 4050696"/>
              <a:gd name="connsiteY1" fmla="*/ 3763613 h 5144071"/>
              <a:gd name="connsiteX2" fmla="*/ 3370421 w 4050696"/>
              <a:gd name="connsiteY2" fmla="*/ 0 h 5144071"/>
              <a:gd name="connsiteX3" fmla="*/ 0 w 4050696"/>
              <a:gd name="connsiteY3" fmla="*/ 0 h 5144071"/>
              <a:gd name="connsiteX4" fmla="*/ 0 w 4050696"/>
              <a:gd name="connsiteY4" fmla="*/ 5144072 h 5144071"/>
              <a:gd name="connsiteX5" fmla="*/ 3986689 w 4050696"/>
              <a:gd name="connsiteY5" fmla="*/ 5144072 h 5144071"/>
              <a:gd name="connsiteX6" fmla="*/ 4050697 w 4050696"/>
              <a:gd name="connsiteY6" fmla="*/ 3763613 h 5144071"/>
              <a:gd name="connsiteX7" fmla="*/ 4050697 w 4050696"/>
              <a:gd name="connsiteY7" fmla="*/ 3763613 h 514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0696" h="5144071">
                <a:moveTo>
                  <a:pt x="4050697" y="3763613"/>
                </a:moveTo>
                <a:lnTo>
                  <a:pt x="4050697" y="3763613"/>
                </a:lnTo>
                <a:cubicBezTo>
                  <a:pt x="4050697" y="2523744"/>
                  <a:pt x="3885629" y="1227296"/>
                  <a:pt x="3370421" y="0"/>
                </a:cubicBezTo>
                <a:lnTo>
                  <a:pt x="0" y="0"/>
                </a:lnTo>
                <a:lnTo>
                  <a:pt x="0" y="5144072"/>
                </a:lnTo>
                <a:lnTo>
                  <a:pt x="3986689" y="5144072"/>
                </a:lnTo>
                <a:cubicBezTo>
                  <a:pt x="4009263" y="4817840"/>
                  <a:pt x="4050697" y="4157091"/>
                  <a:pt x="4050697" y="3763613"/>
                </a:cubicBezTo>
                <a:lnTo>
                  <a:pt x="4050697" y="3763613"/>
                </a:lnTo>
                <a:close/>
              </a:path>
            </a:pathLst>
          </a:custGeom>
          <a:solidFill>
            <a:schemeClr val="accent1"/>
          </a:solidFill>
          <a:ln w="9525" cap="flat">
            <a:noFill/>
            <a:prstDash val="solid"/>
            <a:miter/>
          </a:ln>
        </p:spPr>
        <p:txBody>
          <a:bodyPr rtlCol="0" anchor="ctr"/>
          <a:lstStyle/>
          <a:p>
            <a:endParaRPr lang="en-US" dirty="0"/>
          </a:p>
        </p:txBody>
      </p:sp>
      <p:sp>
        <p:nvSpPr>
          <p:cNvPr id="10" name="Picture Placeholder 9">
            <a:extLst>
              <a:ext uri="{FF2B5EF4-FFF2-40B4-BE49-F238E27FC236}">
                <a16:creationId xmlns:a16="http://schemas.microsoft.com/office/drawing/2014/main" id="{5FDCB6D8-F85A-42D9-B013-9D92DFA4101D}"/>
              </a:ext>
            </a:extLst>
          </p:cNvPr>
          <p:cNvSpPr>
            <a:spLocks noGrp="1"/>
          </p:cNvSpPr>
          <p:nvPr>
            <p:ph type="pic" sz="quarter" idx="16"/>
          </p:nvPr>
        </p:nvSpPr>
        <p:spPr>
          <a:xfrm>
            <a:off x="4490786" y="3983"/>
            <a:ext cx="7701213" cy="6854017"/>
          </a:xfrm>
          <a:custGeom>
            <a:avLst/>
            <a:gdLst>
              <a:gd name="connsiteX0" fmla="*/ 0 w 7701213"/>
              <a:gd name="connsiteY0" fmla="*/ 0 h 6854017"/>
              <a:gd name="connsiteX1" fmla="*/ 7701213 w 7701213"/>
              <a:gd name="connsiteY1" fmla="*/ 0 h 6854017"/>
              <a:gd name="connsiteX2" fmla="*/ 7701213 w 7701213"/>
              <a:gd name="connsiteY2" fmla="*/ 6854017 h 6854017"/>
              <a:gd name="connsiteX3" fmla="*/ 821123 w 7701213"/>
              <a:gd name="connsiteY3" fmla="*/ 6854017 h 6854017"/>
              <a:gd name="connsiteX4" fmla="*/ 827037 w 7701213"/>
              <a:gd name="connsiteY4" fmla="*/ 6767490 h 6854017"/>
              <a:gd name="connsiteX5" fmla="*/ 906408 w 7701213"/>
              <a:gd name="connsiteY5" fmla="*/ 5014680 h 6854017"/>
              <a:gd name="connsiteX6" fmla="*/ 0 w 7701213"/>
              <a:gd name="connsiteY6" fmla="*/ 0 h 685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1213" h="6854017">
                <a:moveTo>
                  <a:pt x="0" y="0"/>
                </a:moveTo>
                <a:lnTo>
                  <a:pt x="7701213" y="0"/>
                </a:lnTo>
                <a:lnTo>
                  <a:pt x="7701213" y="6854017"/>
                </a:lnTo>
                <a:lnTo>
                  <a:pt x="821123" y="6854017"/>
                </a:lnTo>
                <a:lnTo>
                  <a:pt x="827037" y="6767490"/>
                </a:lnTo>
                <a:cubicBezTo>
                  <a:pt x="857886" y="6310686"/>
                  <a:pt x="906408" y="5506187"/>
                  <a:pt x="906408" y="5014680"/>
                </a:cubicBezTo>
                <a:cubicBezTo>
                  <a:pt x="906408" y="3362664"/>
                  <a:pt x="686469" y="1635263"/>
                  <a:pt x="0" y="0"/>
                </a:cubicBezTo>
                <a:close/>
              </a:path>
            </a:pathLst>
          </a:custGeom>
        </p:spPr>
        <p:txBody>
          <a:bodyPr wrap="square">
            <a:noAutofit/>
          </a:bodyPr>
          <a:lstStyle/>
          <a:p>
            <a:r>
              <a:rPr lang="en-US" dirty="0"/>
              <a:t>Click icon to add picture</a:t>
            </a:r>
          </a:p>
        </p:txBody>
      </p:sp>
      <p:pic>
        <p:nvPicPr>
          <p:cNvPr id="12" name="Picture 11">
            <a:extLst>
              <a:ext uri="{FF2B5EF4-FFF2-40B4-BE49-F238E27FC236}">
                <a16:creationId xmlns:a16="http://schemas.microsoft.com/office/drawing/2014/main" id="{E90A1D1D-9050-4317-A9F9-FFF0B3E10DA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04447" y="2795944"/>
            <a:ext cx="3455087" cy="777847"/>
          </a:xfrm>
          <a:prstGeom prst="rect">
            <a:avLst/>
          </a:prstGeom>
        </p:spPr>
      </p:pic>
      <p:sp>
        <p:nvSpPr>
          <p:cNvPr id="15" name="Text Placeholder 14">
            <a:extLst>
              <a:ext uri="{FF2B5EF4-FFF2-40B4-BE49-F238E27FC236}">
                <a16:creationId xmlns:a16="http://schemas.microsoft.com/office/drawing/2014/main" id="{AB26C4D6-E44E-45A9-83DA-A7334E5401E9}"/>
              </a:ext>
            </a:extLst>
          </p:cNvPr>
          <p:cNvSpPr>
            <a:spLocks noGrp="1"/>
          </p:cNvSpPr>
          <p:nvPr>
            <p:ph type="body" sz="quarter" idx="13" hasCustomPrompt="1"/>
          </p:nvPr>
        </p:nvSpPr>
        <p:spPr>
          <a:xfrm>
            <a:off x="604446" y="4306530"/>
            <a:ext cx="4424753" cy="777848"/>
          </a:xfrm>
        </p:spPr>
        <p:txBody>
          <a:bodyPr lIns="0"/>
          <a:lstStyle>
            <a:lvl1pPr>
              <a:defRPr sz="2200" b="1">
                <a:solidFill>
                  <a:schemeClr val="bg1"/>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CLICK TO EDIT MASTER TEXT STYLES</a:t>
            </a:r>
          </a:p>
        </p:txBody>
      </p:sp>
      <p:sp>
        <p:nvSpPr>
          <p:cNvPr id="16" name="Text Placeholder 14">
            <a:extLst>
              <a:ext uri="{FF2B5EF4-FFF2-40B4-BE49-F238E27FC236}">
                <a16:creationId xmlns:a16="http://schemas.microsoft.com/office/drawing/2014/main" id="{7D508FCB-84E4-4379-AD8A-44667A82D455}"/>
              </a:ext>
            </a:extLst>
          </p:cNvPr>
          <p:cNvSpPr>
            <a:spLocks noGrp="1"/>
          </p:cNvSpPr>
          <p:nvPr>
            <p:ph type="body" sz="quarter" idx="14" hasCustomPrompt="1"/>
          </p:nvPr>
        </p:nvSpPr>
        <p:spPr>
          <a:xfrm>
            <a:off x="604446" y="5187184"/>
            <a:ext cx="4424753" cy="777849"/>
          </a:xfrm>
        </p:spPr>
        <p:txBody>
          <a:bodyPr lIns="0"/>
          <a:lstStyle>
            <a:lvl1pPr>
              <a:defRPr sz="1400" b="0">
                <a:solidFill>
                  <a:schemeClr val="bg1"/>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Click to edit master text styles</a:t>
            </a:r>
          </a:p>
          <a:p>
            <a:pPr lvl="0"/>
            <a:endParaRPr lang="en-US"/>
          </a:p>
        </p:txBody>
      </p:sp>
      <p:sp>
        <p:nvSpPr>
          <p:cNvPr id="17" name="Text Placeholder 14">
            <a:extLst>
              <a:ext uri="{FF2B5EF4-FFF2-40B4-BE49-F238E27FC236}">
                <a16:creationId xmlns:a16="http://schemas.microsoft.com/office/drawing/2014/main" id="{B0B73FA3-916E-4228-B88C-17A37F11EAFB}"/>
              </a:ext>
            </a:extLst>
          </p:cNvPr>
          <p:cNvSpPr>
            <a:spLocks noGrp="1"/>
          </p:cNvSpPr>
          <p:nvPr>
            <p:ph type="body" sz="quarter" idx="15" hasCustomPrompt="1"/>
          </p:nvPr>
        </p:nvSpPr>
        <p:spPr>
          <a:xfrm>
            <a:off x="604446" y="6131554"/>
            <a:ext cx="4424753" cy="359785"/>
          </a:xfrm>
        </p:spPr>
        <p:txBody>
          <a:bodyPr lIns="0"/>
          <a:lstStyle>
            <a:lvl1pPr>
              <a:defRPr sz="1400" b="0">
                <a:solidFill>
                  <a:schemeClr val="bg1"/>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MM/DD/20xx</a:t>
            </a:r>
          </a:p>
        </p:txBody>
      </p:sp>
      <p:sp>
        <p:nvSpPr>
          <p:cNvPr id="9" name="Slide Number Placeholder 5">
            <a:extLst>
              <a:ext uri="{FF2B5EF4-FFF2-40B4-BE49-F238E27FC236}">
                <a16:creationId xmlns:a16="http://schemas.microsoft.com/office/drawing/2014/main" id="{DBF4C9DC-AE48-49A7-87DE-ACFA4E7D7C92}"/>
              </a:ext>
            </a:extLst>
          </p:cNvPr>
          <p:cNvSpPr>
            <a:spLocks noGrp="1"/>
          </p:cNvSpPr>
          <p:nvPr>
            <p:ph type="sldNum" sz="quarter" idx="4"/>
          </p:nvPr>
        </p:nvSpPr>
        <p:spPr>
          <a:xfrm>
            <a:off x="11287760" y="6491339"/>
            <a:ext cx="538480" cy="277002"/>
          </a:xfrm>
          <a:prstGeom prst="rect">
            <a:avLst/>
          </a:prstGeom>
        </p:spPr>
        <p:txBody>
          <a:bodyPr vert="horz" lIns="0" tIns="0" rIns="0" bIns="0" rtlCol="0" anchor="ctr">
            <a:noAutofit/>
          </a:bodyPr>
          <a:lstStyle>
            <a:lvl1pPr>
              <a:defRPr lang="en-US" sz="750" smtClean="0">
                <a:solidFill>
                  <a:srgbClr val="8C8285"/>
                </a:solidFill>
                <a:latin typeface="Verdana" panose="020B0604030504040204" pitchFamily="34" charset="0"/>
              </a:defRPr>
            </a:lvl1pPr>
          </a:lstStyle>
          <a:p>
            <a:pPr algn="r"/>
            <a:fld id="{4FA92F45-BA5D-4C7A-ACC7-D44B34072B97}" type="slidenum">
              <a:rPr lang="en-IN" smtClean="0"/>
              <a:pPr algn="r"/>
              <a:t>‹#›</a:t>
            </a:fld>
            <a:endParaRPr lang="en-IN" dirty="0"/>
          </a:p>
        </p:txBody>
      </p:sp>
    </p:spTree>
    <p:extLst>
      <p:ext uri="{BB962C8B-B14F-4D97-AF65-F5344CB8AC3E}">
        <p14:creationId xmlns:p14="http://schemas.microsoft.com/office/powerpoint/2010/main" val="310438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Cover Blue">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1106272A-777A-476E-A120-16CB29B65336}"/>
              </a:ext>
            </a:extLst>
          </p:cNvPr>
          <p:cNvGraphicFramePr>
            <a:graphicFrameLocks noChangeAspect="1"/>
          </p:cNvGraphicFramePr>
          <p:nvPr>
            <p:custDataLst>
              <p:tags r:id="rId1"/>
            </p:custDataLst>
            <p:extLst>
              <p:ext uri="{D42A27DB-BD31-4B8C-83A1-F6EECF244321}">
                <p14:modId xmlns:p14="http://schemas.microsoft.com/office/powerpoint/2010/main" val="35780760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1" name="Object 10" hidden="1">
                        <a:extLst>
                          <a:ext uri="{FF2B5EF4-FFF2-40B4-BE49-F238E27FC236}">
                            <a16:creationId xmlns:a16="http://schemas.microsoft.com/office/drawing/2014/main" id="{1106272A-777A-476E-A120-16CB29B653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Graphic 2">
            <a:extLst>
              <a:ext uri="{FF2B5EF4-FFF2-40B4-BE49-F238E27FC236}">
                <a16:creationId xmlns:a16="http://schemas.microsoft.com/office/drawing/2014/main" id="{AB9996F4-A930-4CBA-8848-D7D5539FB260}"/>
              </a:ext>
            </a:extLst>
          </p:cNvPr>
          <p:cNvSpPr>
            <a:spLocks noChangeAspect="1"/>
          </p:cNvSpPr>
          <p:nvPr/>
        </p:nvSpPr>
        <p:spPr>
          <a:xfrm>
            <a:off x="0" y="3983"/>
            <a:ext cx="5397192" cy="6854017"/>
          </a:xfrm>
          <a:custGeom>
            <a:avLst/>
            <a:gdLst>
              <a:gd name="connsiteX0" fmla="*/ 4050697 w 4050696"/>
              <a:gd name="connsiteY0" fmla="*/ 3763613 h 5144071"/>
              <a:gd name="connsiteX1" fmla="*/ 4050697 w 4050696"/>
              <a:gd name="connsiteY1" fmla="*/ 3763613 h 5144071"/>
              <a:gd name="connsiteX2" fmla="*/ 3370421 w 4050696"/>
              <a:gd name="connsiteY2" fmla="*/ 0 h 5144071"/>
              <a:gd name="connsiteX3" fmla="*/ 0 w 4050696"/>
              <a:gd name="connsiteY3" fmla="*/ 0 h 5144071"/>
              <a:gd name="connsiteX4" fmla="*/ 0 w 4050696"/>
              <a:gd name="connsiteY4" fmla="*/ 5144072 h 5144071"/>
              <a:gd name="connsiteX5" fmla="*/ 3986689 w 4050696"/>
              <a:gd name="connsiteY5" fmla="*/ 5144072 h 5144071"/>
              <a:gd name="connsiteX6" fmla="*/ 4050697 w 4050696"/>
              <a:gd name="connsiteY6" fmla="*/ 3763613 h 5144071"/>
              <a:gd name="connsiteX7" fmla="*/ 4050697 w 4050696"/>
              <a:gd name="connsiteY7" fmla="*/ 3763613 h 514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0696" h="5144071">
                <a:moveTo>
                  <a:pt x="4050697" y="3763613"/>
                </a:moveTo>
                <a:lnTo>
                  <a:pt x="4050697" y="3763613"/>
                </a:lnTo>
                <a:cubicBezTo>
                  <a:pt x="4050697" y="2523744"/>
                  <a:pt x="3885629" y="1227296"/>
                  <a:pt x="3370421" y="0"/>
                </a:cubicBezTo>
                <a:lnTo>
                  <a:pt x="0" y="0"/>
                </a:lnTo>
                <a:lnTo>
                  <a:pt x="0" y="5144072"/>
                </a:lnTo>
                <a:lnTo>
                  <a:pt x="3986689" y="5144072"/>
                </a:lnTo>
                <a:cubicBezTo>
                  <a:pt x="4009263" y="4817840"/>
                  <a:pt x="4050697" y="4157091"/>
                  <a:pt x="4050697" y="3763613"/>
                </a:cubicBezTo>
                <a:lnTo>
                  <a:pt x="4050697" y="3763613"/>
                </a:lnTo>
                <a:close/>
              </a:path>
            </a:pathLst>
          </a:custGeom>
          <a:solidFill>
            <a:schemeClr val="bg1"/>
          </a:solidFill>
          <a:ln w="9525" cap="flat">
            <a:noFill/>
            <a:prstDash val="solid"/>
            <a:miter/>
          </a:ln>
        </p:spPr>
        <p:txBody>
          <a:bodyPr rtlCol="0" anchor="ctr"/>
          <a:lstStyle/>
          <a:p>
            <a:endParaRPr lang="en-US" dirty="0"/>
          </a:p>
        </p:txBody>
      </p:sp>
      <p:sp>
        <p:nvSpPr>
          <p:cNvPr id="10" name="Picture Placeholder 9">
            <a:extLst>
              <a:ext uri="{FF2B5EF4-FFF2-40B4-BE49-F238E27FC236}">
                <a16:creationId xmlns:a16="http://schemas.microsoft.com/office/drawing/2014/main" id="{5FDCB6D8-F85A-42D9-B013-9D92DFA4101D}"/>
              </a:ext>
            </a:extLst>
          </p:cNvPr>
          <p:cNvSpPr>
            <a:spLocks noGrp="1"/>
          </p:cNvSpPr>
          <p:nvPr>
            <p:ph type="pic" sz="quarter" idx="16"/>
          </p:nvPr>
        </p:nvSpPr>
        <p:spPr>
          <a:xfrm>
            <a:off x="4490786" y="3983"/>
            <a:ext cx="7701213" cy="6854017"/>
          </a:xfrm>
          <a:custGeom>
            <a:avLst/>
            <a:gdLst>
              <a:gd name="connsiteX0" fmla="*/ 0 w 7701213"/>
              <a:gd name="connsiteY0" fmla="*/ 0 h 6854017"/>
              <a:gd name="connsiteX1" fmla="*/ 7701213 w 7701213"/>
              <a:gd name="connsiteY1" fmla="*/ 0 h 6854017"/>
              <a:gd name="connsiteX2" fmla="*/ 7701213 w 7701213"/>
              <a:gd name="connsiteY2" fmla="*/ 6854017 h 6854017"/>
              <a:gd name="connsiteX3" fmla="*/ 821123 w 7701213"/>
              <a:gd name="connsiteY3" fmla="*/ 6854017 h 6854017"/>
              <a:gd name="connsiteX4" fmla="*/ 827037 w 7701213"/>
              <a:gd name="connsiteY4" fmla="*/ 6767490 h 6854017"/>
              <a:gd name="connsiteX5" fmla="*/ 906408 w 7701213"/>
              <a:gd name="connsiteY5" fmla="*/ 5014680 h 6854017"/>
              <a:gd name="connsiteX6" fmla="*/ 0 w 7701213"/>
              <a:gd name="connsiteY6" fmla="*/ 0 h 685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1213" h="6854017">
                <a:moveTo>
                  <a:pt x="0" y="0"/>
                </a:moveTo>
                <a:lnTo>
                  <a:pt x="7701213" y="0"/>
                </a:lnTo>
                <a:lnTo>
                  <a:pt x="7701213" y="6854017"/>
                </a:lnTo>
                <a:lnTo>
                  <a:pt x="821123" y="6854017"/>
                </a:lnTo>
                <a:lnTo>
                  <a:pt x="827037" y="6767490"/>
                </a:lnTo>
                <a:cubicBezTo>
                  <a:pt x="857886" y="6310686"/>
                  <a:pt x="906408" y="5506187"/>
                  <a:pt x="906408" y="5014680"/>
                </a:cubicBezTo>
                <a:cubicBezTo>
                  <a:pt x="906408" y="3362664"/>
                  <a:pt x="686469" y="1635263"/>
                  <a:pt x="0" y="0"/>
                </a:cubicBezTo>
                <a:close/>
              </a:path>
            </a:pathLst>
          </a:custGeom>
        </p:spPr>
        <p:txBody>
          <a:bodyPr wrap="square">
            <a:noAutofit/>
          </a:bodyPr>
          <a:lstStyle/>
          <a:p>
            <a:r>
              <a:rPr lang="en-US" dirty="0"/>
              <a:t>Click icon to add picture</a:t>
            </a:r>
          </a:p>
        </p:txBody>
      </p:sp>
      <p:pic>
        <p:nvPicPr>
          <p:cNvPr id="12" name="Picture 11">
            <a:extLst>
              <a:ext uri="{FF2B5EF4-FFF2-40B4-BE49-F238E27FC236}">
                <a16:creationId xmlns:a16="http://schemas.microsoft.com/office/drawing/2014/main" id="{E90A1D1D-9050-4317-A9F9-FFF0B3E10DA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04447" y="2795944"/>
            <a:ext cx="3455087" cy="777847"/>
          </a:xfrm>
          <a:prstGeom prst="rect">
            <a:avLst/>
          </a:prstGeom>
        </p:spPr>
      </p:pic>
      <p:sp>
        <p:nvSpPr>
          <p:cNvPr id="15" name="Text Placeholder 14">
            <a:extLst>
              <a:ext uri="{FF2B5EF4-FFF2-40B4-BE49-F238E27FC236}">
                <a16:creationId xmlns:a16="http://schemas.microsoft.com/office/drawing/2014/main" id="{AB26C4D6-E44E-45A9-83DA-A7334E5401E9}"/>
              </a:ext>
            </a:extLst>
          </p:cNvPr>
          <p:cNvSpPr>
            <a:spLocks noGrp="1"/>
          </p:cNvSpPr>
          <p:nvPr>
            <p:ph type="body" sz="quarter" idx="13" hasCustomPrompt="1"/>
          </p:nvPr>
        </p:nvSpPr>
        <p:spPr>
          <a:xfrm>
            <a:off x="604446" y="4306530"/>
            <a:ext cx="4424753" cy="777848"/>
          </a:xfrm>
        </p:spPr>
        <p:txBody>
          <a:bodyPr lIns="0"/>
          <a:lstStyle>
            <a:lvl1pPr>
              <a:defRPr sz="2200" b="1">
                <a:solidFill>
                  <a:srgbClr val="002060"/>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CLICK TO EDIT MASTER TEXT STYLES</a:t>
            </a:r>
          </a:p>
        </p:txBody>
      </p:sp>
      <p:sp>
        <p:nvSpPr>
          <p:cNvPr id="16" name="Text Placeholder 14">
            <a:extLst>
              <a:ext uri="{FF2B5EF4-FFF2-40B4-BE49-F238E27FC236}">
                <a16:creationId xmlns:a16="http://schemas.microsoft.com/office/drawing/2014/main" id="{7D508FCB-84E4-4379-AD8A-44667A82D455}"/>
              </a:ext>
            </a:extLst>
          </p:cNvPr>
          <p:cNvSpPr>
            <a:spLocks noGrp="1"/>
          </p:cNvSpPr>
          <p:nvPr>
            <p:ph type="body" sz="quarter" idx="14" hasCustomPrompt="1"/>
          </p:nvPr>
        </p:nvSpPr>
        <p:spPr>
          <a:xfrm>
            <a:off x="604446" y="5187184"/>
            <a:ext cx="4424753" cy="777849"/>
          </a:xfrm>
        </p:spPr>
        <p:txBody>
          <a:bodyPr lIns="0"/>
          <a:lstStyle>
            <a:lvl1pPr>
              <a:defRPr sz="1400" b="0">
                <a:solidFill>
                  <a:srgbClr val="002060"/>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Click to edit master text styles</a:t>
            </a:r>
          </a:p>
          <a:p>
            <a:pPr lvl="0"/>
            <a:endParaRPr lang="en-US"/>
          </a:p>
        </p:txBody>
      </p:sp>
      <p:sp>
        <p:nvSpPr>
          <p:cNvPr id="17" name="Text Placeholder 14">
            <a:extLst>
              <a:ext uri="{FF2B5EF4-FFF2-40B4-BE49-F238E27FC236}">
                <a16:creationId xmlns:a16="http://schemas.microsoft.com/office/drawing/2014/main" id="{B0B73FA3-916E-4228-B88C-17A37F11EAFB}"/>
              </a:ext>
            </a:extLst>
          </p:cNvPr>
          <p:cNvSpPr>
            <a:spLocks noGrp="1"/>
          </p:cNvSpPr>
          <p:nvPr>
            <p:ph type="body" sz="quarter" idx="15" hasCustomPrompt="1"/>
          </p:nvPr>
        </p:nvSpPr>
        <p:spPr>
          <a:xfrm>
            <a:off x="604446" y="6131554"/>
            <a:ext cx="4424753" cy="359785"/>
          </a:xfrm>
        </p:spPr>
        <p:txBody>
          <a:bodyPr lIns="0"/>
          <a:lstStyle>
            <a:lvl1pPr>
              <a:defRPr sz="1400" b="0">
                <a:solidFill>
                  <a:srgbClr val="002060"/>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MM/DD/20xx</a:t>
            </a:r>
          </a:p>
        </p:txBody>
      </p:sp>
      <p:sp>
        <p:nvSpPr>
          <p:cNvPr id="9" name="Slide Number Placeholder 5">
            <a:extLst>
              <a:ext uri="{FF2B5EF4-FFF2-40B4-BE49-F238E27FC236}">
                <a16:creationId xmlns:a16="http://schemas.microsoft.com/office/drawing/2014/main" id="{DBF4C9DC-AE48-49A7-87DE-ACFA4E7D7C92}"/>
              </a:ext>
            </a:extLst>
          </p:cNvPr>
          <p:cNvSpPr>
            <a:spLocks noGrp="1"/>
          </p:cNvSpPr>
          <p:nvPr>
            <p:ph type="sldNum" sz="quarter" idx="4"/>
          </p:nvPr>
        </p:nvSpPr>
        <p:spPr>
          <a:xfrm>
            <a:off x="11287760" y="6491339"/>
            <a:ext cx="538480" cy="277002"/>
          </a:xfrm>
          <a:prstGeom prst="rect">
            <a:avLst/>
          </a:prstGeom>
        </p:spPr>
        <p:txBody>
          <a:bodyPr vert="horz" lIns="0" tIns="0" rIns="0" bIns="0" rtlCol="0" anchor="ctr">
            <a:noAutofit/>
          </a:bodyPr>
          <a:lstStyle>
            <a:lvl1pPr>
              <a:defRPr lang="en-US" sz="750" smtClean="0">
                <a:solidFill>
                  <a:srgbClr val="8C8285"/>
                </a:solidFill>
                <a:latin typeface="Verdana" panose="020B0604030504040204" pitchFamily="34" charset="0"/>
              </a:defRPr>
            </a:lvl1pPr>
          </a:lstStyle>
          <a:p>
            <a:pPr algn="r"/>
            <a:fld id="{4FA92F45-BA5D-4C7A-ACC7-D44B34072B97}" type="slidenum">
              <a:rPr lang="en-IN" smtClean="0"/>
              <a:pPr algn="r"/>
              <a:t>‹#›</a:t>
            </a:fld>
            <a:endParaRPr lang="en-IN" dirty="0"/>
          </a:p>
        </p:txBody>
      </p:sp>
      <p:pic>
        <p:nvPicPr>
          <p:cNvPr id="14" name="Picture 13">
            <a:extLst>
              <a:ext uri="{FF2B5EF4-FFF2-40B4-BE49-F238E27FC236}">
                <a16:creationId xmlns:a16="http://schemas.microsoft.com/office/drawing/2014/main" id="{F66B668F-D84E-4934-A1C9-3C95EA48E1C0}"/>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04447" y="2795944"/>
            <a:ext cx="3608935" cy="768239"/>
          </a:xfrm>
          <a:prstGeom prst="rect">
            <a:avLst/>
          </a:prstGeom>
        </p:spPr>
      </p:pic>
    </p:spTree>
    <p:extLst>
      <p:ext uri="{BB962C8B-B14F-4D97-AF65-F5344CB8AC3E}">
        <p14:creationId xmlns:p14="http://schemas.microsoft.com/office/powerpoint/2010/main" val="2887361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branding Title Slid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4E43818-986D-4A61-BBFE-35894368469E}"/>
              </a:ext>
            </a:extLst>
          </p:cNvPr>
          <p:cNvGraphicFramePr>
            <a:graphicFrameLocks noChangeAspect="1"/>
          </p:cNvGraphicFramePr>
          <p:nvPr>
            <p:custDataLst>
              <p:tags r:id="rId1"/>
            </p:custDataLst>
            <p:extLst>
              <p:ext uri="{D42A27DB-BD31-4B8C-83A1-F6EECF244321}">
                <p14:modId xmlns:p14="http://schemas.microsoft.com/office/powerpoint/2010/main" val="9546597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3" name="Object 2" hidden="1">
                        <a:extLst>
                          <a:ext uri="{FF2B5EF4-FFF2-40B4-BE49-F238E27FC236}">
                            <a16:creationId xmlns:a16="http://schemas.microsoft.com/office/drawing/2014/main" id="{84E43818-986D-4A61-BBFE-35894368469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Picture Placeholder 12"/>
          <p:cNvSpPr>
            <a:spLocks noGrp="1"/>
          </p:cNvSpPr>
          <p:nvPr>
            <p:ph type="pic" sz="quarter" idx="12"/>
          </p:nvPr>
        </p:nvSpPr>
        <p:spPr>
          <a:xfrm>
            <a:off x="1" y="0"/>
            <a:ext cx="12192000" cy="5119921"/>
          </a:xfrm>
          <a:prstGeom prst="rect">
            <a:avLst/>
          </a:prstGeom>
        </p:spPr>
        <p:txBody>
          <a:bodyPr wrap="square">
            <a:noAutofit/>
          </a:bodyPr>
          <a:lstStyle>
            <a:lvl1pPr algn="ctr">
              <a:defRPr/>
            </a:lvl1pPr>
          </a:lstStyle>
          <a:p>
            <a:r>
              <a:rPr lang="en-US" dirty="0"/>
              <a:t>Click icon to add picture</a:t>
            </a:r>
          </a:p>
        </p:txBody>
      </p:sp>
      <p:sp>
        <p:nvSpPr>
          <p:cNvPr id="24" name="Text Placeholder 28"/>
          <p:cNvSpPr>
            <a:spLocks noGrp="1"/>
          </p:cNvSpPr>
          <p:nvPr>
            <p:ph type="ctrTitle" hasCustomPrompt="1"/>
          </p:nvPr>
        </p:nvSpPr>
        <p:spPr>
          <a:xfrm>
            <a:off x="102870" y="5198925"/>
            <a:ext cx="12089131" cy="934520"/>
          </a:xfrm>
          <a:prstGeom prst="rect">
            <a:avLst/>
          </a:prstGeom>
          <a:noFill/>
          <a:ln>
            <a:noFill/>
          </a:ln>
        </p:spPr>
        <p:txBody>
          <a:bodyPr vert="horz" wrap="square" lIns="274320" tIns="91440" rIns="0" anchor="t" anchorCtr="0">
            <a:noAutofit/>
          </a:bodyPr>
          <a:lstStyle>
            <a:lvl1pPr marL="346075" indent="0" algn="l" defTabSz="685800" rtl="0" eaLnBrk="1" latinLnBrk="0" hangingPunct="1">
              <a:lnSpc>
                <a:spcPct val="100000"/>
              </a:lnSpc>
              <a:spcBef>
                <a:spcPct val="0"/>
              </a:spcBef>
              <a:buNone/>
              <a:tabLst/>
              <a:defRPr lang="en-US" sz="2200" b="1" i="0" kern="1200" dirty="0">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TITLE STYLE</a:t>
            </a:r>
          </a:p>
        </p:txBody>
      </p:sp>
      <p:sp>
        <p:nvSpPr>
          <p:cNvPr id="22" name="Subtitle 21"/>
          <p:cNvSpPr>
            <a:spLocks noGrp="1"/>
          </p:cNvSpPr>
          <p:nvPr>
            <p:ph type="subTitle" idx="1" hasCustomPrompt="1"/>
          </p:nvPr>
        </p:nvSpPr>
        <p:spPr>
          <a:xfrm>
            <a:off x="102871" y="6212449"/>
            <a:ext cx="12089130" cy="645551"/>
          </a:xfrm>
          <a:prstGeom prst="rect">
            <a:avLst/>
          </a:prstGeom>
          <a:noFill/>
        </p:spPr>
        <p:txBody>
          <a:bodyPr wrap="square" lIns="274320" anchor="t">
            <a:noAutofit/>
          </a:bodyPr>
          <a:lstStyle>
            <a:lvl1pPr marL="401638" indent="0" algn="l">
              <a:buNone/>
              <a:tabLst/>
              <a:defRPr sz="1400" b="1" cap="none" baseline="0">
                <a:solidFill>
                  <a:srgbClr val="59555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Company Name</a:t>
            </a:r>
          </a:p>
        </p:txBody>
      </p:sp>
    </p:spTree>
    <p:extLst>
      <p:ext uri="{BB962C8B-B14F-4D97-AF65-F5344CB8AC3E}">
        <p14:creationId xmlns:p14="http://schemas.microsoft.com/office/powerpoint/2010/main" val="670250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White">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1106272A-777A-476E-A120-16CB29B65336}"/>
              </a:ext>
            </a:extLst>
          </p:cNvPr>
          <p:cNvGraphicFramePr>
            <a:graphicFrameLocks noChangeAspect="1"/>
          </p:cNvGraphicFramePr>
          <p:nvPr>
            <p:custDataLst>
              <p:tags r:id="rId1"/>
            </p:custDataLst>
            <p:extLst>
              <p:ext uri="{D42A27DB-BD31-4B8C-83A1-F6EECF244321}">
                <p14:modId xmlns:p14="http://schemas.microsoft.com/office/powerpoint/2010/main" val="110193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1" name="Object 10" hidden="1">
                        <a:extLst>
                          <a:ext uri="{FF2B5EF4-FFF2-40B4-BE49-F238E27FC236}">
                            <a16:creationId xmlns:a16="http://schemas.microsoft.com/office/drawing/2014/main" id="{1106272A-777A-476E-A120-16CB29B653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02F66AD3-EC1E-4874-BA3E-7B33965ADAAB}"/>
              </a:ext>
            </a:extLst>
          </p:cNvPr>
          <p:cNvSpPr>
            <a:spLocks noChangeAspect="1"/>
          </p:cNvSpPr>
          <p:nvPr/>
        </p:nvSpPr>
        <p:spPr>
          <a:xfrm>
            <a:off x="-1745" y="3983"/>
            <a:ext cx="4119774" cy="6854019"/>
          </a:xfrm>
          <a:custGeom>
            <a:avLst/>
            <a:gdLst>
              <a:gd name="connsiteX0" fmla="*/ 0 w 4119774"/>
              <a:gd name="connsiteY0" fmla="*/ 0 h 6854019"/>
              <a:gd name="connsiteX1" fmla="*/ 3213366 w 4119774"/>
              <a:gd name="connsiteY1" fmla="*/ 0 h 6854019"/>
              <a:gd name="connsiteX2" fmla="*/ 4119774 w 4119774"/>
              <a:gd name="connsiteY2" fmla="*/ 5014680 h 6854019"/>
              <a:gd name="connsiteX3" fmla="*/ 4034489 w 4119774"/>
              <a:gd name="connsiteY3" fmla="*/ 6854019 h 6854019"/>
              <a:gd name="connsiteX4" fmla="*/ 0 w 4119774"/>
              <a:gd name="connsiteY4" fmla="*/ 6854019 h 6854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9774" h="6854019">
                <a:moveTo>
                  <a:pt x="0" y="0"/>
                </a:moveTo>
                <a:lnTo>
                  <a:pt x="3213366" y="0"/>
                </a:lnTo>
                <a:cubicBezTo>
                  <a:pt x="3899835" y="1635263"/>
                  <a:pt x="4119774" y="3362664"/>
                  <a:pt x="4119774" y="5014680"/>
                </a:cubicBezTo>
                <a:cubicBezTo>
                  <a:pt x="4119774" y="5538954"/>
                  <a:pt x="4064566" y="6419343"/>
                  <a:pt x="4034489" y="6854019"/>
                </a:cubicBezTo>
                <a:lnTo>
                  <a:pt x="0" y="6854019"/>
                </a:lnTo>
                <a:close/>
              </a:path>
            </a:pathLst>
          </a:custGeom>
          <a:solidFill>
            <a:schemeClr val="bg1"/>
          </a:solidFill>
          <a:ln w="9525" cap="flat">
            <a:noFill/>
            <a:prstDash val="solid"/>
            <a:miter/>
          </a:ln>
        </p:spPr>
        <p:txBody>
          <a:bodyPr rtlCol="0" anchor="ctr"/>
          <a:lstStyle/>
          <a:p>
            <a:endParaRPr lang="en-US" dirty="0"/>
          </a:p>
        </p:txBody>
      </p:sp>
      <p:sp>
        <p:nvSpPr>
          <p:cNvPr id="7" name="Picture Placeholder 6">
            <a:extLst>
              <a:ext uri="{FF2B5EF4-FFF2-40B4-BE49-F238E27FC236}">
                <a16:creationId xmlns:a16="http://schemas.microsoft.com/office/drawing/2014/main" id="{F975C14C-A2EB-4EBF-A33C-CB304F3F98B9}"/>
              </a:ext>
            </a:extLst>
          </p:cNvPr>
          <p:cNvSpPr>
            <a:spLocks noGrp="1"/>
          </p:cNvSpPr>
          <p:nvPr>
            <p:ph type="pic" sz="quarter" idx="16"/>
          </p:nvPr>
        </p:nvSpPr>
        <p:spPr>
          <a:xfrm>
            <a:off x="3211621" y="3983"/>
            <a:ext cx="8980379" cy="6854017"/>
          </a:xfrm>
          <a:custGeom>
            <a:avLst/>
            <a:gdLst>
              <a:gd name="connsiteX0" fmla="*/ 0 w 8980379"/>
              <a:gd name="connsiteY0" fmla="*/ 0 h 6854017"/>
              <a:gd name="connsiteX1" fmla="*/ 8980379 w 8980379"/>
              <a:gd name="connsiteY1" fmla="*/ 0 h 6854017"/>
              <a:gd name="connsiteX2" fmla="*/ 8980379 w 8980379"/>
              <a:gd name="connsiteY2" fmla="*/ 6854017 h 6854017"/>
              <a:gd name="connsiteX3" fmla="*/ 821123 w 8980379"/>
              <a:gd name="connsiteY3" fmla="*/ 6854017 h 6854017"/>
              <a:gd name="connsiteX4" fmla="*/ 827038 w 8980379"/>
              <a:gd name="connsiteY4" fmla="*/ 6767490 h 6854017"/>
              <a:gd name="connsiteX5" fmla="*/ 906408 w 8980379"/>
              <a:gd name="connsiteY5" fmla="*/ 5014680 h 6854017"/>
              <a:gd name="connsiteX6" fmla="*/ 0 w 8980379"/>
              <a:gd name="connsiteY6" fmla="*/ 0 h 6854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80379" h="6854017">
                <a:moveTo>
                  <a:pt x="0" y="0"/>
                </a:moveTo>
                <a:lnTo>
                  <a:pt x="8980379" y="0"/>
                </a:lnTo>
                <a:lnTo>
                  <a:pt x="8980379" y="6854017"/>
                </a:lnTo>
                <a:lnTo>
                  <a:pt x="821123" y="6854017"/>
                </a:lnTo>
                <a:lnTo>
                  <a:pt x="827038" y="6767490"/>
                </a:lnTo>
                <a:cubicBezTo>
                  <a:pt x="857886" y="6310686"/>
                  <a:pt x="906408" y="5506187"/>
                  <a:pt x="906408" y="5014680"/>
                </a:cubicBezTo>
                <a:cubicBezTo>
                  <a:pt x="906408" y="3362664"/>
                  <a:pt x="686469" y="1635263"/>
                  <a:pt x="0" y="0"/>
                </a:cubicBezTo>
                <a:close/>
              </a:path>
            </a:pathLst>
          </a:custGeom>
        </p:spPr>
        <p:txBody>
          <a:bodyPr wrap="square">
            <a:noAutofit/>
          </a:bodyPr>
          <a:lstStyle/>
          <a:p>
            <a:r>
              <a:rPr lang="en-US" dirty="0"/>
              <a:t>Click icon to add picture</a:t>
            </a:r>
          </a:p>
        </p:txBody>
      </p:sp>
      <p:sp>
        <p:nvSpPr>
          <p:cNvPr id="15" name="Text Placeholder 14">
            <a:extLst>
              <a:ext uri="{FF2B5EF4-FFF2-40B4-BE49-F238E27FC236}">
                <a16:creationId xmlns:a16="http://schemas.microsoft.com/office/drawing/2014/main" id="{AB26C4D6-E44E-45A9-83DA-A7334E5401E9}"/>
              </a:ext>
            </a:extLst>
          </p:cNvPr>
          <p:cNvSpPr>
            <a:spLocks noGrp="1"/>
          </p:cNvSpPr>
          <p:nvPr>
            <p:ph type="body" sz="quarter" idx="13" hasCustomPrompt="1"/>
          </p:nvPr>
        </p:nvSpPr>
        <p:spPr>
          <a:xfrm>
            <a:off x="-2" y="4478361"/>
            <a:ext cx="3782992" cy="1364977"/>
          </a:xfrm>
        </p:spPr>
        <p:txBody>
          <a:bodyPr lIns="518400"/>
          <a:lstStyle>
            <a:lvl1pPr>
              <a:defRPr sz="2200" b="1">
                <a:solidFill>
                  <a:schemeClr val="accent1"/>
                </a:solidFill>
              </a:defRPr>
            </a:lvl1pPr>
            <a:lvl2pPr>
              <a:defRPr sz="2200">
                <a:solidFill>
                  <a:schemeClr val="accent3"/>
                </a:solidFill>
              </a:defRPr>
            </a:lvl2pPr>
            <a:lvl3pPr>
              <a:defRPr sz="2200">
                <a:solidFill>
                  <a:schemeClr val="accent3"/>
                </a:solidFill>
              </a:defRPr>
            </a:lvl3pPr>
            <a:lvl4pPr>
              <a:defRPr sz="2200">
                <a:solidFill>
                  <a:schemeClr val="accent3"/>
                </a:solidFill>
              </a:defRPr>
            </a:lvl4pPr>
            <a:lvl5pPr>
              <a:defRPr sz="2200">
                <a:solidFill>
                  <a:schemeClr val="accent3"/>
                </a:solidFill>
              </a:defRPr>
            </a:lvl5pPr>
          </a:lstStyle>
          <a:p>
            <a:pPr lvl="0"/>
            <a:r>
              <a:rPr lang="en-US"/>
              <a:t>CLICK TO EDIT MASTER TEXT STYLES</a:t>
            </a:r>
          </a:p>
          <a:p>
            <a:pPr lvl="0"/>
            <a:endParaRPr lang="en-US"/>
          </a:p>
        </p:txBody>
      </p:sp>
      <p:pic>
        <p:nvPicPr>
          <p:cNvPr id="14" name="Picture 13">
            <a:extLst>
              <a:ext uri="{FF2B5EF4-FFF2-40B4-BE49-F238E27FC236}">
                <a16:creationId xmlns:a16="http://schemas.microsoft.com/office/drawing/2014/main" id="{062D609B-D61D-466D-BE6A-0071EFB9DBBE}"/>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31311" y="535972"/>
            <a:ext cx="1721734" cy="1147823"/>
          </a:xfrm>
          <a:prstGeom prst="rect">
            <a:avLst/>
          </a:prstGeom>
        </p:spPr>
      </p:pic>
    </p:spTree>
    <p:extLst>
      <p:ext uri="{BB962C8B-B14F-4D97-AF65-F5344CB8AC3E}">
        <p14:creationId xmlns:p14="http://schemas.microsoft.com/office/powerpoint/2010/main" val="4062093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A2BD004-6672-459B-97D1-DFA36628FA1F}"/>
              </a:ext>
            </a:extLst>
          </p:cNvPr>
          <p:cNvGraphicFramePr>
            <a:graphicFrameLocks noChangeAspect="1"/>
          </p:cNvGraphicFramePr>
          <p:nvPr>
            <p:custDataLst>
              <p:tags r:id="rId1"/>
            </p:custDataLst>
            <p:extLst>
              <p:ext uri="{D42A27DB-BD31-4B8C-83A1-F6EECF244321}">
                <p14:modId xmlns:p14="http://schemas.microsoft.com/office/powerpoint/2010/main" val="9762530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Object 3" hidden="1">
                        <a:extLst>
                          <a:ext uri="{FF2B5EF4-FFF2-40B4-BE49-F238E27FC236}">
                            <a16:creationId xmlns:a16="http://schemas.microsoft.com/office/drawing/2014/main" id="{8A2BD004-6672-459B-97D1-DFA36628FA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11287760" y="6491339"/>
            <a:ext cx="538480" cy="277002"/>
          </a:xfrm>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7" name="Text Placeholder 28">
            <a:extLst>
              <a:ext uri="{FF2B5EF4-FFF2-40B4-BE49-F238E27FC236}">
                <a16:creationId xmlns:a16="http://schemas.microsoft.com/office/drawing/2014/main" id="{2AE73762-A30B-2043-957B-DA9EF6927E78}"/>
              </a:ext>
            </a:extLst>
          </p:cNvPr>
          <p:cNvSpPr>
            <a:spLocks noGrp="1"/>
          </p:cNvSpPr>
          <p:nvPr>
            <p:ph type="title" hasCustomPrompt="1"/>
          </p:nvPr>
        </p:nvSpPr>
        <p:spPr>
          <a:xfrm>
            <a:off x="363600" y="363600"/>
            <a:ext cx="11460480" cy="383773"/>
          </a:xfrm>
        </p:spPr>
        <p:txBody>
          <a:bodyPr vert="horz"/>
          <a:lstStyle>
            <a:lvl1pPr>
              <a:defRPr i="0"/>
            </a:lvl1pPr>
          </a:lstStyle>
          <a:p>
            <a:r>
              <a:rPr lang="en-US"/>
              <a:t>CLICK TO EDIT MASTER TITLE STYLE</a:t>
            </a:r>
          </a:p>
        </p:txBody>
      </p:sp>
      <p:sp>
        <p:nvSpPr>
          <p:cNvPr id="9" name="Text Placeholder 31">
            <a:extLst>
              <a:ext uri="{FF2B5EF4-FFF2-40B4-BE49-F238E27FC236}">
                <a16:creationId xmlns:a16="http://schemas.microsoft.com/office/drawing/2014/main" id="{B1F06203-FA62-3340-826C-5D73E391DE04}"/>
              </a:ext>
            </a:extLst>
          </p:cNvPr>
          <p:cNvSpPr>
            <a:spLocks noGrp="1"/>
          </p:cNvSpPr>
          <p:nvPr>
            <p:ph type="body" sz="quarter" idx="13" hasCustomPrompt="1"/>
          </p:nvPr>
        </p:nvSpPr>
        <p:spPr>
          <a:xfrm>
            <a:off x="363600" y="763200"/>
            <a:ext cx="11460480" cy="223838"/>
          </a:xfrm>
        </p:spPr>
        <p:txBody>
          <a:bodyPr/>
          <a:lstStyle>
            <a:lvl1pPr>
              <a:defRPr i="0"/>
            </a:lvl1pPr>
          </a:lstStyle>
          <a:p>
            <a:pPr lvl="0"/>
            <a:r>
              <a:rPr lang="en-US"/>
              <a:t>Sub-header</a:t>
            </a:r>
          </a:p>
        </p:txBody>
      </p:sp>
      <p:pic>
        <p:nvPicPr>
          <p:cNvPr id="10" name="MyUPSLogo">
            <a:extLst>
              <a:ext uri="{FF2B5EF4-FFF2-40B4-BE49-F238E27FC236}">
                <a16:creationId xmlns:a16="http://schemas.microsoft.com/office/drawing/2014/main" id="{1ADA6DF1-EE96-4C8D-9648-923E72F44DDD}"/>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11" name="TextBox 10">
            <a:extLst>
              <a:ext uri="{FF2B5EF4-FFF2-40B4-BE49-F238E27FC236}">
                <a16:creationId xmlns:a16="http://schemas.microsoft.com/office/drawing/2014/main" id="{A7F9334A-FF06-442D-9C69-05A99C88B76E}"/>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991602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 Insert_Curved Shape Layou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A2BD004-6672-459B-97D1-DFA36628FA1F}"/>
              </a:ext>
            </a:extLst>
          </p:cNvPr>
          <p:cNvGraphicFramePr>
            <a:graphicFrameLocks noChangeAspect="1"/>
          </p:cNvGraphicFramePr>
          <p:nvPr>
            <p:custDataLst>
              <p:tags r:id="rId1"/>
            </p:custDataLst>
            <p:extLst>
              <p:ext uri="{D42A27DB-BD31-4B8C-83A1-F6EECF244321}">
                <p14:modId xmlns:p14="http://schemas.microsoft.com/office/powerpoint/2010/main" val="22422833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Object 3" hidden="1">
                        <a:extLst>
                          <a:ext uri="{FF2B5EF4-FFF2-40B4-BE49-F238E27FC236}">
                            <a16:creationId xmlns:a16="http://schemas.microsoft.com/office/drawing/2014/main" id="{8A2BD004-6672-459B-97D1-DFA36628FA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 Placeholder 28">
            <a:extLst>
              <a:ext uri="{FF2B5EF4-FFF2-40B4-BE49-F238E27FC236}">
                <a16:creationId xmlns:a16="http://schemas.microsoft.com/office/drawing/2014/main" id="{2AE73762-A30B-2043-957B-DA9EF6927E78}"/>
              </a:ext>
            </a:extLst>
          </p:cNvPr>
          <p:cNvSpPr>
            <a:spLocks noGrp="1"/>
          </p:cNvSpPr>
          <p:nvPr>
            <p:ph type="title" hasCustomPrompt="1"/>
          </p:nvPr>
        </p:nvSpPr>
        <p:spPr>
          <a:xfrm>
            <a:off x="5456902" y="365127"/>
            <a:ext cx="6369337" cy="383773"/>
          </a:xfrm>
        </p:spPr>
        <p:txBody>
          <a:bodyPr vert="horz"/>
          <a:lstStyle>
            <a:lvl1pPr>
              <a:defRPr i="0"/>
            </a:lvl1pPr>
          </a:lstStyle>
          <a:p>
            <a:r>
              <a:rPr lang="en-US"/>
              <a:t>CLICK TO EDIT MASTER TITLE STYLE</a:t>
            </a:r>
          </a:p>
        </p:txBody>
      </p:sp>
      <p:sp>
        <p:nvSpPr>
          <p:cNvPr id="9" name="Text Placeholder 31">
            <a:extLst>
              <a:ext uri="{FF2B5EF4-FFF2-40B4-BE49-F238E27FC236}">
                <a16:creationId xmlns:a16="http://schemas.microsoft.com/office/drawing/2014/main" id="{B1F06203-FA62-3340-826C-5D73E391DE04}"/>
              </a:ext>
            </a:extLst>
          </p:cNvPr>
          <p:cNvSpPr>
            <a:spLocks noGrp="1"/>
          </p:cNvSpPr>
          <p:nvPr>
            <p:ph type="body" sz="quarter" idx="13" hasCustomPrompt="1"/>
          </p:nvPr>
        </p:nvSpPr>
        <p:spPr>
          <a:xfrm>
            <a:off x="5456902" y="763200"/>
            <a:ext cx="6369337" cy="223838"/>
          </a:xfrm>
        </p:spPr>
        <p:txBody>
          <a:bodyPr/>
          <a:lstStyle>
            <a:lvl1pPr>
              <a:defRPr i="0"/>
            </a:lvl1pPr>
          </a:lstStyle>
          <a:p>
            <a:pPr lvl="0"/>
            <a:r>
              <a:rPr lang="en-US"/>
              <a:t>Sub-header</a:t>
            </a:r>
          </a:p>
        </p:txBody>
      </p:sp>
      <p:pic>
        <p:nvPicPr>
          <p:cNvPr id="8" name="MyUPSLogo">
            <a:extLst>
              <a:ext uri="{FF2B5EF4-FFF2-40B4-BE49-F238E27FC236}">
                <a16:creationId xmlns:a16="http://schemas.microsoft.com/office/drawing/2014/main" id="{F4948602-03C6-48A5-9AF9-13AC7A283A7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11" name="Slide Number Placeholder 5">
            <a:extLst>
              <a:ext uri="{FF2B5EF4-FFF2-40B4-BE49-F238E27FC236}">
                <a16:creationId xmlns:a16="http://schemas.microsoft.com/office/drawing/2014/main" id="{AF9EDA79-216F-4CBB-A25C-0F0FD123ADE6}"/>
              </a:ext>
            </a:extLst>
          </p:cNvPr>
          <p:cNvSpPr>
            <a:spLocks noGrp="1"/>
          </p:cNvSpPr>
          <p:nvPr>
            <p:ph type="sldNum" sz="quarter" idx="12"/>
          </p:nvPr>
        </p:nvSpPr>
        <p:spPr>
          <a:xfrm>
            <a:off x="11287760" y="6491339"/>
            <a:ext cx="538480" cy="277002"/>
          </a:xfrm>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2" name="TextBox 1">
            <a:extLst>
              <a:ext uri="{FF2B5EF4-FFF2-40B4-BE49-F238E27FC236}">
                <a16:creationId xmlns:a16="http://schemas.microsoft.com/office/drawing/2014/main" id="{B60D74AD-9EE9-A34E-0481-811CDDEC16F5}"/>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502397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76347A9-652D-415E-82BD-0146650D876A}"/>
              </a:ext>
            </a:extLst>
          </p:cNvPr>
          <p:cNvGraphicFramePr>
            <a:graphicFrameLocks noChangeAspect="1"/>
          </p:cNvGraphicFramePr>
          <p:nvPr>
            <p:custDataLst>
              <p:tags r:id="rId1"/>
            </p:custDataLst>
            <p:extLst>
              <p:ext uri="{D42A27DB-BD31-4B8C-83A1-F6EECF244321}">
                <p14:modId xmlns:p14="http://schemas.microsoft.com/office/powerpoint/2010/main" val="16243256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776347A9-652D-415E-82BD-0146650D87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p:nvPr>
        </p:nvSpPr>
        <p:spPr>
          <a:xfrm>
            <a:off x="365760" y="1395592"/>
            <a:ext cx="11460480" cy="4792449"/>
          </a:xfrm>
        </p:spPr>
        <p:txBody>
          <a:bodyPr/>
          <a:lstStyle>
            <a:lvl2pPr marL="203597" indent="-203597">
              <a:buFont typeface="Arial" panose="020B0604020202020204" pitchFamily="34" charset="0"/>
              <a:buChar char="•"/>
              <a:defRPr/>
            </a:lvl2pPr>
            <a:lvl3pPr marL="429816" indent="-215504">
              <a:buFont typeface="Courier New" panose="02070309020205020404" pitchFamily="49" charset="0"/>
              <a:buChar char="o"/>
              <a:defRPr/>
            </a:lvl3pPr>
            <a:lvl5pPr marL="860822" indent="-220266">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7" name="Text Placeholder 28">
            <a:extLst>
              <a:ext uri="{FF2B5EF4-FFF2-40B4-BE49-F238E27FC236}">
                <a16:creationId xmlns:a16="http://schemas.microsoft.com/office/drawing/2014/main" id="{98944949-A2F0-2E4B-8D73-A80ED0217077}"/>
              </a:ext>
            </a:extLst>
          </p:cNvPr>
          <p:cNvSpPr>
            <a:spLocks noGrp="1"/>
          </p:cNvSpPr>
          <p:nvPr>
            <p:ph type="title" hasCustomPrompt="1"/>
          </p:nvPr>
        </p:nvSpPr>
        <p:spPr>
          <a:xfrm>
            <a:off x="363600" y="363600"/>
            <a:ext cx="11460480" cy="383773"/>
          </a:xfrm>
          <a:prstGeom prst="rect">
            <a:avLst/>
          </a:prstGeom>
        </p:spPr>
        <p:txBody>
          <a:bodyPr vert="horz"/>
          <a:lstStyle>
            <a:lvl1pPr>
              <a:defRPr i="0"/>
            </a:lvl1pPr>
          </a:lstStyle>
          <a:p>
            <a:r>
              <a:rPr lang="en-US"/>
              <a:t>CLICK TO EDIT MASTER TITLE STYLE</a:t>
            </a:r>
          </a:p>
        </p:txBody>
      </p:sp>
      <p:sp>
        <p:nvSpPr>
          <p:cNvPr id="10" name="Text Placeholder 31">
            <a:extLst>
              <a:ext uri="{FF2B5EF4-FFF2-40B4-BE49-F238E27FC236}">
                <a16:creationId xmlns:a16="http://schemas.microsoft.com/office/drawing/2014/main" id="{6D978547-EC4D-EA4B-82A5-5837BA00A058}"/>
              </a:ext>
            </a:extLst>
          </p:cNvPr>
          <p:cNvSpPr>
            <a:spLocks noGrp="1"/>
          </p:cNvSpPr>
          <p:nvPr>
            <p:ph type="body" sz="quarter" idx="13" hasCustomPrompt="1"/>
          </p:nvPr>
        </p:nvSpPr>
        <p:spPr>
          <a:xfrm>
            <a:off x="363600" y="763200"/>
            <a:ext cx="11460480" cy="223838"/>
          </a:xfrm>
        </p:spPr>
        <p:txBody>
          <a:bodyPr/>
          <a:lstStyle>
            <a:lvl1pPr>
              <a:defRPr i="0"/>
            </a:lvl1pPr>
          </a:lstStyle>
          <a:p>
            <a:pPr lvl="0"/>
            <a:r>
              <a:rPr lang="en-US"/>
              <a:t>Sub-header</a:t>
            </a:r>
          </a:p>
        </p:txBody>
      </p:sp>
      <p:pic>
        <p:nvPicPr>
          <p:cNvPr id="8" name="MyUPSLogo">
            <a:extLst>
              <a:ext uri="{FF2B5EF4-FFF2-40B4-BE49-F238E27FC236}">
                <a16:creationId xmlns:a16="http://schemas.microsoft.com/office/drawing/2014/main" id="{86FAF972-F6B4-4B7C-906A-7273E0F7ED02}"/>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2" name="TextBox 1">
            <a:extLst>
              <a:ext uri="{FF2B5EF4-FFF2-40B4-BE49-F238E27FC236}">
                <a16:creationId xmlns:a16="http://schemas.microsoft.com/office/drawing/2014/main" id="{5B73B562-7EAC-7932-1AEE-A3642A86E11D}"/>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4114930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2 Content Boxes">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73818C39-4071-46D5-8CC4-EB2106418094}"/>
              </a:ext>
            </a:extLst>
          </p:cNvPr>
          <p:cNvGraphicFramePr>
            <a:graphicFrameLocks noChangeAspect="1"/>
          </p:cNvGraphicFramePr>
          <p:nvPr>
            <p:custDataLst>
              <p:tags r:id="rId1"/>
            </p:custDataLst>
            <p:extLst>
              <p:ext uri="{D42A27DB-BD31-4B8C-83A1-F6EECF244321}">
                <p14:modId xmlns:p14="http://schemas.microsoft.com/office/powerpoint/2010/main" val="3422561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8" name="Object 7" hidden="1">
                        <a:extLst>
                          <a:ext uri="{FF2B5EF4-FFF2-40B4-BE49-F238E27FC236}">
                            <a16:creationId xmlns:a16="http://schemas.microsoft.com/office/drawing/2014/main" id="{73818C39-4071-46D5-8CC4-EB21064180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28"/>
          <p:cNvSpPr>
            <a:spLocks noGrp="1"/>
          </p:cNvSpPr>
          <p:nvPr>
            <p:ph type="title" hasCustomPrompt="1"/>
          </p:nvPr>
        </p:nvSpPr>
        <p:spPr>
          <a:xfrm>
            <a:off x="363600" y="363600"/>
            <a:ext cx="11460480" cy="383773"/>
          </a:xfrm>
          <a:prstGeom prst="rect">
            <a:avLst/>
          </a:prstGeom>
        </p:spPr>
        <p:txBody>
          <a:bodyPr vert="horz"/>
          <a:lstStyle>
            <a:lvl1pPr>
              <a:defRPr i="0"/>
            </a:lvl1pPr>
          </a:lstStyle>
          <a:p>
            <a:r>
              <a:rPr lang="en-US"/>
              <a:t>CLICK TO EDIT MASTER TITLE STYLE</a:t>
            </a:r>
          </a:p>
        </p:txBody>
      </p:sp>
      <p:sp>
        <p:nvSpPr>
          <p:cNvPr id="3" name="Content Placeholder 2"/>
          <p:cNvSpPr>
            <a:spLocks noGrp="1"/>
          </p:cNvSpPr>
          <p:nvPr>
            <p:ph idx="1" hasCustomPrompt="1"/>
          </p:nvPr>
        </p:nvSpPr>
        <p:spPr>
          <a:xfrm>
            <a:off x="365760" y="1459002"/>
            <a:ext cx="5654040" cy="4791600"/>
          </a:xfrm>
        </p:spPr>
        <p:txBody>
          <a:bodyPr/>
          <a:lstStyle>
            <a:lvl2pPr marL="203597" indent="-203597">
              <a:buFont typeface="Arial" panose="020B0604020202020204" pitchFamily="34" charset="0"/>
              <a:buChar char="•"/>
              <a:defRPr/>
            </a:lvl2pPr>
            <a:lvl3pPr marL="429816" indent="-215504">
              <a:buFont typeface="Courier New" panose="02070309020205020404" pitchFamily="49" charset="0"/>
              <a:buChar char="o"/>
              <a:defRPr/>
            </a:lvl3pPr>
            <a:lvl5pPr marL="860822" indent="-220266">
              <a:buFont typeface="Arial" panose="020B0604020202020204" pitchFamily="34" charset="0"/>
              <a:buChar char="•"/>
              <a:defRPr/>
            </a:lvl5pPr>
          </a:lstStyle>
          <a:p>
            <a:r>
              <a:rPr lang="en-US" sz="1800" b="1"/>
              <a:t>First Level Title, 18 </a:t>
            </a:r>
            <a:r>
              <a:rPr lang="en-US" sz="1800" b="1" err="1"/>
              <a:t>pt</a:t>
            </a:r>
            <a:r>
              <a:rPr lang="en-US" sz="1800" b="1"/>
              <a:t> with Bullets</a:t>
            </a:r>
          </a:p>
          <a:p>
            <a:pPr lvl="1"/>
            <a:r>
              <a:rPr lang="en-US"/>
              <a:t>Second level 18pt</a:t>
            </a:r>
          </a:p>
          <a:p>
            <a:pPr lvl="2"/>
            <a:r>
              <a:rPr lang="en-US"/>
              <a:t>Third level 16pt</a:t>
            </a:r>
          </a:p>
          <a:p>
            <a:pPr lvl="3"/>
            <a:r>
              <a:rPr lang="en-US"/>
              <a:t>Fourth level 14pt</a:t>
            </a:r>
          </a:p>
        </p:txBody>
      </p:sp>
      <p:sp>
        <p:nvSpPr>
          <p:cNvPr id="6" name="Slide Number Placeholder 5"/>
          <p:cNvSpPr>
            <a:spLocks noGrp="1"/>
          </p:cNvSpPr>
          <p:nvPr>
            <p:ph type="sldNum" sz="quarter" idx="12"/>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7" name="Text Placeholder 31">
            <a:extLst>
              <a:ext uri="{FF2B5EF4-FFF2-40B4-BE49-F238E27FC236}">
                <a16:creationId xmlns:a16="http://schemas.microsoft.com/office/drawing/2014/main" id="{05C855F1-1239-8246-8AE3-00D1D930B062}"/>
              </a:ext>
            </a:extLst>
          </p:cNvPr>
          <p:cNvSpPr>
            <a:spLocks noGrp="1"/>
          </p:cNvSpPr>
          <p:nvPr>
            <p:ph type="body" sz="quarter" idx="13" hasCustomPrompt="1"/>
          </p:nvPr>
        </p:nvSpPr>
        <p:spPr>
          <a:xfrm>
            <a:off x="363600" y="763200"/>
            <a:ext cx="11460480" cy="223838"/>
          </a:xfrm>
        </p:spPr>
        <p:txBody>
          <a:bodyPr/>
          <a:lstStyle>
            <a:lvl1pPr>
              <a:defRPr i="0"/>
            </a:lvl1pPr>
          </a:lstStyle>
          <a:p>
            <a:pPr lvl="0"/>
            <a:r>
              <a:rPr lang="en-US"/>
              <a:t>Sub-header</a:t>
            </a:r>
          </a:p>
        </p:txBody>
      </p:sp>
      <p:sp>
        <p:nvSpPr>
          <p:cNvPr id="35" name="Content Placeholder 2">
            <a:extLst>
              <a:ext uri="{FF2B5EF4-FFF2-40B4-BE49-F238E27FC236}">
                <a16:creationId xmlns:a16="http://schemas.microsoft.com/office/drawing/2014/main" id="{96772D65-CE61-4860-9509-399AFF5CF2F9}"/>
              </a:ext>
            </a:extLst>
          </p:cNvPr>
          <p:cNvSpPr>
            <a:spLocks noGrp="1"/>
          </p:cNvSpPr>
          <p:nvPr>
            <p:ph idx="14" hasCustomPrompt="1"/>
          </p:nvPr>
        </p:nvSpPr>
        <p:spPr>
          <a:xfrm>
            <a:off x="6171564" y="1459002"/>
            <a:ext cx="5654040" cy="4791600"/>
          </a:xfrm>
        </p:spPr>
        <p:txBody>
          <a:bodyPr/>
          <a:lstStyle>
            <a:lvl2pPr marL="203597" indent="-203597">
              <a:buFont typeface="Arial" panose="020B0604020202020204" pitchFamily="34" charset="0"/>
              <a:buChar char="•"/>
              <a:defRPr/>
            </a:lvl2pPr>
            <a:lvl3pPr marL="429816" indent="-215504">
              <a:buFont typeface="Courier New" panose="02070309020205020404" pitchFamily="49" charset="0"/>
              <a:buChar char="o"/>
              <a:defRPr/>
            </a:lvl3pPr>
            <a:lvl5pPr marL="860822" indent="-220266">
              <a:buFont typeface="Arial" panose="020B0604020202020204" pitchFamily="34" charset="0"/>
              <a:buChar char="•"/>
              <a:defRPr/>
            </a:lvl5pPr>
          </a:lstStyle>
          <a:p>
            <a:r>
              <a:rPr lang="en-US" sz="1800" b="1">
                <a:solidFill>
                  <a:schemeClr val="accent2"/>
                </a:solidFill>
              </a:rPr>
              <a:t>Option, color header</a:t>
            </a:r>
          </a:p>
          <a:p>
            <a:pPr lvl="1"/>
            <a:r>
              <a:rPr lang="en-US"/>
              <a:t>Second level 18pt</a:t>
            </a:r>
          </a:p>
          <a:p>
            <a:pPr lvl="2"/>
            <a:r>
              <a:rPr lang="en-US"/>
              <a:t>Third level 16pt</a:t>
            </a:r>
          </a:p>
          <a:p>
            <a:pPr lvl="3"/>
            <a:r>
              <a:rPr lang="en-US"/>
              <a:t>Fourth level 14pt</a:t>
            </a:r>
          </a:p>
        </p:txBody>
      </p:sp>
      <p:pic>
        <p:nvPicPr>
          <p:cNvPr id="10" name="MyUPSLogo">
            <a:extLst>
              <a:ext uri="{FF2B5EF4-FFF2-40B4-BE49-F238E27FC236}">
                <a16:creationId xmlns:a16="http://schemas.microsoft.com/office/drawing/2014/main" id="{6E09D441-2EAE-45E5-A159-7CEE57247B53}"/>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4" name="TextBox 3">
            <a:extLst>
              <a:ext uri="{FF2B5EF4-FFF2-40B4-BE49-F238E27FC236}">
                <a16:creationId xmlns:a16="http://schemas.microsoft.com/office/drawing/2014/main" id="{B478C7AB-AAFF-C946-5086-D670EE6C94A2}"/>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415842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Section Header_No Imag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F96FB1C-96D1-40E1-A8E8-FED4E970A0DD}"/>
              </a:ext>
            </a:extLst>
          </p:cNvPr>
          <p:cNvGraphicFramePr>
            <a:graphicFrameLocks noChangeAspect="1"/>
          </p:cNvGraphicFramePr>
          <p:nvPr>
            <p:custDataLst>
              <p:tags r:id="rId1"/>
            </p:custDataLst>
            <p:extLst>
              <p:ext uri="{D42A27DB-BD31-4B8C-83A1-F6EECF244321}">
                <p14:modId xmlns:p14="http://schemas.microsoft.com/office/powerpoint/2010/main" val="1442996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9F96FB1C-96D1-40E1-A8E8-FED4E970A0D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BEE19B-5C57-4738-BF06-A1905D8E5C45}"/>
              </a:ext>
            </a:extLst>
          </p:cNvPr>
          <p:cNvSpPr>
            <a:spLocks noGrp="1"/>
          </p:cNvSpPr>
          <p:nvPr>
            <p:ph type="title" hasCustomPrompt="1"/>
          </p:nvPr>
        </p:nvSpPr>
        <p:spPr>
          <a:xfrm>
            <a:off x="3265170" y="3338316"/>
            <a:ext cx="5692588" cy="1511046"/>
          </a:xfrm>
        </p:spPr>
        <p:txBody>
          <a:bodyPr vert="horz"/>
          <a:lstStyle>
            <a:lvl1pPr algn="l" defTabSz="685800" rtl="0" eaLnBrk="1" latinLnBrk="0" hangingPunct="1">
              <a:lnSpc>
                <a:spcPct val="100000"/>
              </a:lnSpc>
              <a:spcBef>
                <a:spcPct val="0"/>
              </a:spcBef>
              <a:buNone/>
              <a:defRPr lang="en-US" sz="2800" b="1" i="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r>
              <a:rPr lang="en-US"/>
              <a:t>SECTION HEADER</a:t>
            </a:r>
          </a:p>
        </p:txBody>
      </p:sp>
      <p:sp>
        <p:nvSpPr>
          <p:cNvPr id="3" name="Slide Number Placeholder 2">
            <a:extLst>
              <a:ext uri="{FF2B5EF4-FFF2-40B4-BE49-F238E27FC236}">
                <a16:creationId xmlns:a16="http://schemas.microsoft.com/office/drawing/2014/main" id="{B96DE1C8-B81C-4BDD-A00F-3DC62BC4A75E}"/>
              </a:ext>
            </a:extLst>
          </p:cNvPr>
          <p:cNvSpPr>
            <a:spLocks noGrp="1"/>
          </p:cNvSpPr>
          <p:nvPr>
            <p:ph type="sldNum" sz="quarter" idx="10"/>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pic>
        <p:nvPicPr>
          <p:cNvPr id="8" name="Picture 7">
            <a:extLst>
              <a:ext uri="{FF2B5EF4-FFF2-40B4-BE49-F238E27FC236}">
                <a16:creationId xmlns:a16="http://schemas.microsoft.com/office/drawing/2014/main" id="{AFE2ED35-1BF1-427E-B858-186835CDC04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pic>
        <p:nvPicPr>
          <p:cNvPr id="6" name="MyUPSLogo">
            <a:extLst>
              <a:ext uri="{FF2B5EF4-FFF2-40B4-BE49-F238E27FC236}">
                <a16:creationId xmlns:a16="http://schemas.microsoft.com/office/drawing/2014/main" id="{B14C7103-8B6A-4BD5-B395-D87028BED055}"/>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7" name="TextBox 6">
            <a:extLst>
              <a:ext uri="{FF2B5EF4-FFF2-40B4-BE49-F238E27FC236}">
                <a16:creationId xmlns:a16="http://schemas.microsoft.com/office/drawing/2014/main" id="{CEB56B34-0518-5163-4A2D-1D09B3E2A043}"/>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3902585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2_Section Header_No Image_Blue BG">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A9A0E67-1C1A-8B66-A8E0-815C52B3EB4C}"/>
              </a:ext>
            </a:extLst>
          </p:cNvPr>
          <p:cNvSpPr/>
          <p:nvPr userDrawn="1"/>
        </p:nvSpPr>
        <p:spPr>
          <a:xfrm>
            <a:off x="0" y="0"/>
            <a:ext cx="12192000" cy="6248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Object 4" hidden="1">
            <a:extLst>
              <a:ext uri="{FF2B5EF4-FFF2-40B4-BE49-F238E27FC236}">
                <a16:creationId xmlns:a16="http://schemas.microsoft.com/office/drawing/2014/main" id="{9F96FB1C-96D1-40E1-A8E8-FED4E970A0DD}"/>
              </a:ext>
            </a:extLst>
          </p:cNvPr>
          <p:cNvGraphicFramePr>
            <a:graphicFrameLocks noChangeAspect="1"/>
          </p:cNvGraphicFramePr>
          <p:nvPr>
            <p:custDataLst>
              <p:tags r:id="rId1"/>
            </p:custDataLst>
            <p:extLst>
              <p:ext uri="{D42A27DB-BD31-4B8C-83A1-F6EECF244321}">
                <p14:modId xmlns:p14="http://schemas.microsoft.com/office/powerpoint/2010/main" val="30946789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9F96FB1C-96D1-40E1-A8E8-FED4E970A0D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ABEE19B-5C57-4738-BF06-A1905D8E5C45}"/>
              </a:ext>
            </a:extLst>
          </p:cNvPr>
          <p:cNvSpPr>
            <a:spLocks noGrp="1"/>
          </p:cNvSpPr>
          <p:nvPr>
            <p:ph type="title" hasCustomPrompt="1"/>
          </p:nvPr>
        </p:nvSpPr>
        <p:spPr>
          <a:xfrm>
            <a:off x="3265170" y="3338316"/>
            <a:ext cx="5692588" cy="1511046"/>
          </a:xfrm>
        </p:spPr>
        <p:txBody>
          <a:bodyPr vert="horz"/>
          <a:lstStyle>
            <a:lvl1pPr algn="l" defTabSz="685800" rtl="0" eaLnBrk="1" latinLnBrk="0" hangingPunct="1">
              <a:lnSpc>
                <a:spcPct val="100000"/>
              </a:lnSpc>
              <a:spcBef>
                <a:spcPct val="0"/>
              </a:spcBef>
              <a:buNone/>
              <a:defRPr lang="en-US" sz="2800" b="1" i="0" kern="1200" dirty="0">
                <a:solidFill>
                  <a:srgbClr val="FFBE00"/>
                </a:solidFill>
                <a:latin typeface="Verdana" panose="020B0604030504040204" pitchFamily="34" charset="0"/>
                <a:ea typeface="Verdana" panose="020B0604030504040204" pitchFamily="34" charset="0"/>
                <a:cs typeface="Verdana" panose="020B0604030504040204" pitchFamily="34" charset="0"/>
              </a:defRPr>
            </a:lvl1pPr>
          </a:lstStyle>
          <a:p>
            <a:r>
              <a:rPr lang="en-US"/>
              <a:t>SECTION HEADER</a:t>
            </a:r>
          </a:p>
        </p:txBody>
      </p:sp>
      <p:pic>
        <p:nvPicPr>
          <p:cNvPr id="6" name="Picture 5">
            <a:extLst>
              <a:ext uri="{FF2B5EF4-FFF2-40B4-BE49-F238E27FC236}">
                <a16:creationId xmlns:a16="http://schemas.microsoft.com/office/drawing/2014/main" id="{A6B6A16E-87E3-4478-A051-D7EBE44C404E}"/>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pic>
        <p:nvPicPr>
          <p:cNvPr id="7" name="MyUPSLogoWhite">
            <a:extLst>
              <a:ext uri="{FF2B5EF4-FFF2-40B4-BE49-F238E27FC236}">
                <a16:creationId xmlns:a16="http://schemas.microsoft.com/office/drawing/2014/main" id="{33557382-3A65-416F-809C-7A254E9A45B6}"/>
              </a:ext>
            </a:extLst>
          </p:cNvPr>
          <p:cNvPicPr>
            <a:picLocks/>
          </p:cNvPicPr>
          <p:nvPr userDrawn="1"/>
        </p:nvPicPr>
        <p:blipFill>
          <a:blip r:embed="rId6" cstate="screen">
            <a:extLst>
              <a:ext uri="{28A0092B-C50C-407E-A947-70E740481C1C}">
                <a14:useLocalDpi xmlns:a14="http://schemas.microsoft.com/office/drawing/2010/main"/>
              </a:ext>
            </a:extLst>
          </a:blip>
          <a:stretch>
            <a:fillRect/>
          </a:stretch>
        </p:blipFill>
        <p:spPr>
          <a:xfrm>
            <a:off x="252000" y="6413500"/>
            <a:ext cx="2108200" cy="374650"/>
          </a:xfrm>
          <a:prstGeom prst="rect">
            <a:avLst/>
          </a:prstGeom>
        </p:spPr>
      </p:pic>
      <p:pic>
        <p:nvPicPr>
          <p:cNvPr id="9" name="MyUPSLogo">
            <a:extLst>
              <a:ext uri="{FF2B5EF4-FFF2-40B4-BE49-F238E27FC236}">
                <a16:creationId xmlns:a16="http://schemas.microsoft.com/office/drawing/2014/main" id="{ABA632D6-E62F-DD8A-0376-A3E32AB73B0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10" name="Slide Number Placeholder 4">
            <a:extLst>
              <a:ext uri="{FF2B5EF4-FFF2-40B4-BE49-F238E27FC236}">
                <a16:creationId xmlns:a16="http://schemas.microsoft.com/office/drawing/2014/main" id="{BE3B71BF-ADDB-BB51-6F7B-3682AF0B35A3}"/>
              </a:ext>
            </a:extLst>
          </p:cNvPr>
          <p:cNvSpPr>
            <a:spLocks noGrp="1"/>
          </p:cNvSpPr>
          <p:nvPr>
            <p:ph type="sldNum" sz="quarter" idx="12"/>
          </p:nvPr>
        </p:nvSpPr>
        <p:spPr>
          <a:xfrm>
            <a:off x="11287760" y="6491339"/>
            <a:ext cx="538480" cy="277002"/>
          </a:xfrm>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3" name="TextBox 2">
            <a:extLst>
              <a:ext uri="{FF2B5EF4-FFF2-40B4-BE49-F238E27FC236}">
                <a16:creationId xmlns:a16="http://schemas.microsoft.com/office/drawing/2014/main" id="{9B6EA91B-28CE-3A05-5050-A01B40A2C8BD}"/>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6113343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936"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ction Header">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95FC6E2-B5AC-44AA-AB95-79692EC571C4}"/>
              </a:ext>
            </a:extLst>
          </p:cNvPr>
          <p:cNvGraphicFramePr>
            <a:graphicFrameLocks noChangeAspect="1"/>
          </p:cNvGraphicFramePr>
          <p:nvPr>
            <p:custDataLst>
              <p:tags r:id="rId1"/>
            </p:custDataLst>
            <p:extLst>
              <p:ext uri="{D42A27DB-BD31-4B8C-83A1-F6EECF244321}">
                <p14:modId xmlns:p14="http://schemas.microsoft.com/office/powerpoint/2010/main" val="1380486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4" name="Object 3" hidden="1">
                        <a:extLst>
                          <a:ext uri="{FF2B5EF4-FFF2-40B4-BE49-F238E27FC236}">
                            <a16:creationId xmlns:a16="http://schemas.microsoft.com/office/drawing/2014/main" id="{D95FC6E2-B5AC-44AA-AB95-79692EC571C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a:xfrm>
            <a:off x="5029200" y="1828800"/>
            <a:ext cx="6400800" cy="3044952"/>
          </a:xfrm>
          <a:prstGeom prst="rect">
            <a:avLst/>
          </a:prstGeom>
        </p:spPr>
        <p:txBody>
          <a:bodyPr vert="horz" anchor="ctr"/>
          <a:lstStyle>
            <a:lvl1pPr>
              <a:defRPr sz="3000" b="1">
                <a:solidFill>
                  <a:schemeClr val="accent2"/>
                </a:solidFill>
              </a:defRPr>
            </a:lvl1pPr>
          </a:lstStyle>
          <a:p>
            <a:r>
              <a:rPr lang="en-US"/>
              <a:t>CLICK TO EDIT TITLE STYLE</a:t>
            </a:r>
          </a:p>
        </p:txBody>
      </p:sp>
      <p:sp>
        <p:nvSpPr>
          <p:cNvPr id="7" name="Picture Placeholder 6">
            <a:extLst>
              <a:ext uri="{FF2B5EF4-FFF2-40B4-BE49-F238E27FC236}">
                <a16:creationId xmlns:a16="http://schemas.microsoft.com/office/drawing/2014/main" id="{974C7081-0C70-8A47-B1DC-61732F26001D}"/>
              </a:ext>
            </a:extLst>
          </p:cNvPr>
          <p:cNvSpPr>
            <a:spLocks noGrp="1"/>
          </p:cNvSpPr>
          <p:nvPr>
            <p:ph type="pic" sz="quarter" idx="17" hasCustomPrompt="1"/>
          </p:nvPr>
        </p:nvSpPr>
        <p:spPr>
          <a:xfrm>
            <a:off x="0" y="0"/>
            <a:ext cx="4240213" cy="6858000"/>
          </a:xfrm>
        </p:spPr>
        <p:txBody>
          <a:bodyPr/>
          <a:lstStyle>
            <a:lvl1pPr>
              <a:defRPr/>
            </a:lvl1pPr>
          </a:lstStyle>
          <a:p>
            <a:r>
              <a:rPr lang="en-US" dirty="0"/>
              <a:t>Click icon to add picture\</a:t>
            </a:r>
          </a:p>
        </p:txBody>
      </p:sp>
      <p:sp>
        <p:nvSpPr>
          <p:cNvPr id="6" name="Slide Number Placeholder 2">
            <a:extLst>
              <a:ext uri="{FF2B5EF4-FFF2-40B4-BE49-F238E27FC236}">
                <a16:creationId xmlns:a16="http://schemas.microsoft.com/office/drawing/2014/main" id="{3D0CEA5D-0014-4C6C-8D25-4346E595DB5D}"/>
              </a:ext>
            </a:extLst>
          </p:cNvPr>
          <p:cNvSpPr>
            <a:spLocks noGrp="1"/>
          </p:cNvSpPr>
          <p:nvPr>
            <p:ph type="sldNum" sz="quarter" idx="10"/>
          </p:nvPr>
        </p:nvSpPr>
        <p:spPr>
          <a:xfrm>
            <a:off x="11287760" y="6491339"/>
            <a:ext cx="538480" cy="277002"/>
          </a:xfrm>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3" name="TextBox 2">
            <a:extLst>
              <a:ext uri="{FF2B5EF4-FFF2-40B4-BE49-F238E27FC236}">
                <a16:creationId xmlns:a16="http://schemas.microsoft.com/office/drawing/2014/main" id="{5892B1FB-3706-C7EC-8A0B-37E8FC3CBA86}"/>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47392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Section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8848238-4ECE-4E1E-86A3-47E39DD91AF4}"/>
              </a:ext>
            </a:extLst>
          </p:cNvPr>
          <p:cNvGraphicFramePr>
            <a:graphicFrameLocks noChangeAspect="1"/>
          </p:cNvGraphicFramePr>
          <p:nvPr>
            <p:custDataLst>
              <p:tags r:id="rId1"/>
            </p:custDataLst>
            <p:extLst>
              <p:ext uri="{D42A27DB-BD31-4B8C-83A1-F6EECF244321}">
                <p14:modId xmlns:p14="http://schemas.microsoft.com/office/powerpoint/2010/main" val="15468230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18848238-4ECE-4E1E-86A3-47E39DD91AF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p:cNvSpPr/>
          <p:nvPr/>
        </p:nvSpPr>
        <p:spPr>
          <a:xfrm>
            <a:off x="0" y="0"/>
            <a:ext cx="5892800" cy="62345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 name="Title 1"/>
          <p:cNvSpPr>
            <a:spLocks noGrp="1"/>
          </p:cNvSpPr>
          <p:nvPr>
            <p:ph type="title" hasCustomPrompt="1"/>
          </p:nvPr>
        </p:nvSpPr>
        <p:spPr>
          <a:xfrm>
            <a:off x="365760" y="2317172"/>
            <a:ext cx="5135155" cy="1600200"/>
          </a:xfrm>
          <a:prstGeom prst="rect">
            <a:avLst/>
          </a:prstGeom>
        </p:spPr>
        <p:txBody>
          <a:bodyPr vert="horz" anchor="ctr"/>
          <a:lstStyle>
            <a:lvl1pPr algn="ctr">
              <a:defRPr sz="2200">
                <a:solidFill>
                  <a:schemeClr val="bg1"/>
                </a:solidFill>
              </a:defRPr>
            </a:lvl1pPr>
          </a:lstStyle>
          <a:p>
            <a:r>
              <a:rPr lang="en-US"/>
              <a:t>CLICK TO EDIT TITLE</a:t>
            </a:r>
          </a:p>
        </p:txBody>
      </p:sp>
      <p:sp>
        <p:nvSpPr>
          <p:cNvPr id="3" name="Content Placeholder 2"/>
          <p:cNvSpPr>
            <a:spLocks noGrp="1"/>
          </p:cNvSpPr>
          <p:nvPr>
            <p:ph idx="1"/>
          </p:nvPr>
        </p:nvSpPr>
        <p:spPr>
          <a:xfrm>
            <a:off x="6258560" y="905091"/>
            <a:ext cx="5567680" cy="4424362"/>
          </a:xfrm>
        </p:spPr>
        <p:txBody>
          <a:bodyPr vert="horz" lIns="0" tIns="0" rIns="0" bIns="0" rtlCol="0" anchor="ctr">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pic>
        <p:nvPicPr>
          <p:cNvPr id="10" name="MyUPSLogo">
            <a:extLst>
              <a:ext uri="{FF2B5EF4-FFF2-40B4-BE49-F238E27FC236}">
                <a16:creationId xmlns:a16="http://schemas.microsoft.com/office/drawing/2014/main" id="{663FD6F7-9F42-449E-A5F4-A081DB0D88FA}"/>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4" name="TextBox 3">
            <a:extLst>
              <a:ext uri="{FF2B5EF4-FFF2-40B4-BE49-F238E27FC236}">
                <a16:creationId xmlns:a16="http://schemas.microsoft.com/office/drawing/2014/main" id="{F5E9CBDA-648C-CC78-2193-855F3E40A857}"/>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3534983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6_Section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E431524-D9EA-4D30-AD8D-AAE1D45707A6}"/>
              </a:ext>
            </a:extLst>
          </p:cNvPr>
          <p:cNvGraphicFramePr>
            <a:graphicFrameLocks noChangeAspect="1"/>
          </p:cNvGraphicFramePr>
          <p:nvPr>
            <p:custDataLst>
              <p:tags r:id="rId1"/>
            </p:custDataLst>
            <p:extLst>
              <p:ext uri="{D42A27DB-BD31-4B8C-83A1-F6EECF244321}">
                <p14:modId xmlns:p14="http://schemas.microsoft.com/office/powerpoint/2010/main" val="2020632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BE431524-D9EA-4D30-AD8D-AAE1D45707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p:cNvSpPr/>
          <p:nvPr/>
        </p:nvSpPr>
        <p:spPr>
          <a:xfrm>
            <a:off x="0" y="0"/>
            <a:ext cx="5892800" cy="62345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 name="Title 1"/>
          <p:cNvSpPr>
            <a:spLocks noGrp="1"/>
          </p:cNvSpPr>
          <p:nvPr>
            <p:ph type="title" hasCustomPrompt="1"/>
          </p:nvPr>
        </p:nvSpPr>
        <p:spPr>
          <a:xfrm>
            <a:off x="365760" y="2317172"/>
            <a:ext cx="5135155" cy="1600200"/>
          </a:xfrm>
          <a:prstGeom prst="rect">
            <a:avLst/>
          </a:prstGeom>
        </p:spPr>
        <p:txBody>
          <a:bodyPr vert="horz" anchor="ctr"/>
          <a:lstStyle>
            <a:lvl1pPr algn="ctr">
              <a:defRPr sz="2200">
                <a:solidFill>
                  <a:schemeClr val="bg1"/>
                </a:solidFill>
              </a:defRPr>
            </a:lvl1pPr>
          </a:lstStyle>
          <a:p>
            <a:r>
              <a:rPr lang="en-US"/>
              <a:t>CLICK TO EDIT TITLE</a:t>
            </a:r>
          </a:p>
        </p:txBody>
      </p:sp>
      <p:sp>
        <p:nvSpPr>
          <p:cNvPr id="3" name="Content Placeholder 2"/>
          <p:cNvSpPr>
            <a:spLocks noGrp="1"/>
          </p:cNvSpPr>
          <p:nvPr>
            <p:ph idx="1"/>
          </p:nvPr>
        </p:nvSpPr>
        <p:spPr>
          <a:xfrm>
            <a:off x="6258560" y="905091"/>
            <a:ext cx="5567680" cy="4424362"/>
          </a:xfrm>
        </p:spPr>
        <p:txBody>
          <a:bodyPr vert="horz" lIns="0" tIns="0" rIns="0" bIns="0" rtlCol="0" anchor="ctr">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pic>
        <p:nvPicPr>
          <p:cNvPr id="10" name="MyUPSLogo">
            <a:extLst>
              <a:ext uri="{FF2B5EF4-FFF2-40B4-BE49-F238E27FC236}">
                <a16:creationId xmlns:a16="http://schemas.microsoft.com/office/drawing/2014/main" id="{8D02418E-E88F-4432-BF78-EA4D8D3B973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4" name="TextBox 3">
            <a:extLst>
              <a:ext uri="{FF2B5EF4-FFF2-40B4-BE49-F238E27FC236}">
                <a16:creationId xmlns:a16="http://schemas.microsoft.com/office/drawing/2014/main" id="{71FB07C3-9BEF-D64A-E0B9-3FCB99BF0CED}"/>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335574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9_Section Header">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2D972570-2DB8-4A48-9DBA-8CB05FDD12E4}"/>
              </a:ext>
            </a:extLst>
          </p:cNvPr>
          <p:cNvGraphicFramePr>
            <a:graphicFrameLocks noChangeAspect="1"/>
          </p:cNvGraphicFramePr>
          <p:nvPr>
            <p:custDataLst>
              <p:tags r:id="rId1"/>
            </p:custDataLst>
            <p:extLst>
              <p:ext uri="{D42A27DB-BD31-4B8C-83A1-F6EECF244321}">
                <p14:modId xmlns:p14="http://schemas.microsoft.com/office/powerpoint/2010/main" val="1876995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Object 5" hidden="1">
                        <a:extLst>
                          <a:ext uri="{FF2B5EF4-FFF2-40B4-BE49-F238E27FC236}">
                            <a16:creationId xmlns:a16="http://schemas.microsoft.com/office/drawing/2014/main" id="{2D972570-2DB8-4A48-9DBA-8CB05FDD12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p:cNvSpPr/>
          <p:nvPr/>
        </p:nvSpPr>
        <p:spPr>
          <a:xfrm>
            <a:off x="0" y="0"/>
            <a:ext cx="5892800" cy="6248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 name="Text Placeholder 28"/>
          <p:cNvSpPr>
            <a:spLocks noGrp="1"/>
          </p:cNvSpPr>
          <p:nvPr>
            <p:ph type="title" hasCustomPrompt="1"/>
          </p:nvPr>
        </p:nvSpPr>
        <p:spPr>
          <a:xfrm>
            <a:off x="363600" y="340900"/>
            <a:ext cx="5077097" cy="1015614"/>
          </a:xfrm>
          <a:prstGeom prst="rect">
            <a:avLst/>
          </a:prstGeom>
        </p:spPr>
        <p:txBody>
          <a:bodyPr vert="horz" anchor="t"/>
          <a:lstStyle>
            <a:lvl1pPr>
              <a:defRPr sz="2200">
                <a:solidFill>
                  <a:schemeClr val="accent2"/>
                </a:solidFill>
              </a:defRPr>
            </a:lvl1pPr>
          </a:lstStyle>
          <a:p>
            <a:r>
              <a:rPr lang="en-US"/>
              <a:t>CLICK TO EDIT TITLE</a:t>
            </a:r>
          </a:p>
        </p:txBody>
      </p:sp>
      <p:sp>
        <p:nvSpPr>
          <p:cNvPr id="3" name="Picture Placeholder 2"/>
          <p:cNvSpPr>
            <a:spLocks noGrp="1"/>
          </p:cNvSpPr>
          <p:nvPr>
            <p:ph type="pic" idx="1"/>
          </p:nvPr>
        </p:nvSpPr>
        <p:spPr>
          <a:xfrm>
            <a:off x="5892800" y="0"/>
            <a:ext cx="6299200" cy="6248400"/>
          </a:xfrm>
        </p:spPr>
        <p:txBody>
          <a:bodyPr anchor="ctr"/>
          <a:lstStyle>
            <a:lvl1pPr marL="0" indent="0" algn="ctr">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hasCustomPrompt="1"/>
          </p:nvPr>
        </p:nvSpPr>
        <p:spPr>
          <a:xfrm>
            <a:off x="363600" y="1697413"/>
            <a:ext cx="5077097" cy="4550987"/>
          </a:xfrm>
        </p:spPr>
        <p:txBody>
          <a:bodyPr/>
          <a:lstStyle>
            <a:lvl1pPr marL="0" indent="0">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r>
              <a:rPr lang="en-US" b="1">
                <a:solidFill>
                  <a:schemeClr val="accent1"/>
                </a:solidFill>
                <a:latin typeface="Verdana" panose="020B0604030504040204" pitchFamily="34" charset="0"/>
                <a:ea typeface="Verdana" panose="020B0604030504040204" pitchFamily="34" charset="0"/>
                <a:cs typeface="Verdana" panose="020B0604030504040204" pitchFamily="34" charset="0"/>
              </a:rPr>
              <a:t>Overview</a:t>
            </a:r>
          </a:p>
          <a:p>
            <a:pPr marL="171450" indent="-171450">
              <a:buFont typeface="Arial" panose="020B0604020202020204" pitchFamily="34" charset="0"/>
              <a:buChar char="•"/>
            </a:pPr>
            <a:r>
              <a:rPr lang="en-US">
                <a:solidFill>
                  <a:schemeClr val="tx2"/>
                </a:solidFill>
              </a:rPr>
              <a:t>Include visuals that help back up your story or presentation.</a:t>
            </a:r>
          </a:p>
          <a:p>
            <a:pPr marL="171450" indent="-171450">
              <a:buFont typeface="Arial" panose="020B0604020202020204" pitchFamily="34" charset="0"/>
              <a:buChar char="•"/>
            </a:pPr>
            <a:r>
              <a:rPr lang="en-US">
                <a:solidFill>
                  <a:schemeClr val="tx2"/>
                </a:solidFill>
              </a:rPr>
              <a:t>This includes imagery, charts, iconography, or tables that can make your data more visually appealing.</a:t>
            </a:r>
          </a:p>
        </p:txBody>
      </p:sp>
      <p:sp>
        <p:nvSpPr>
          <p:cNvPr id="7" name="Slide Number Placeholder 6"/>
          <p:cNvSpPr>
            <a:spLocks noGrp="1"/>
          </p:cNvSpPr>
          <p:nvPr>
            <p:ph type="sldNum" sz="quarter" idx="12"/>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pic>
        <p:nvPicPr>
          <p:cNvPr id="9" name="MyUPSLogo">
            <a:extLst>
              <a:ext uri="{FF2B5EF4-FFF2-40B4-BE49-F238E27FC236}">
                <a16:creationId xmlns:a16="http://schemas.microsoft.com/office/drawing/2014/main" id="{28298026-3AA7-4449-83AC-ECBAD11D0C4F}"/>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5" name="TextBox 4">
            <a:extLst>
              <a:ext uri="{FF2B5EF4-FFF2-40B4-BE49-F238E27FC236}">
                <a16:creationId xmlns:a16="http://schemas.microsoft.com/office/drawing/2014/main" id="{42B7DAD0-34E1-0CC9-2256-42FDE822A9E6}"/>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393007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10_Section Header">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79026EB-0AEC-4471-A7D1-52842711B110}"/>
              </a:ext>
            </a:extLst>
          </p:cNvPr>
          <p:cNvGraphicFramePr>
            <a:graphicFrameLocks noChangeAspect="1"/>
          </p:cNvGraphicFramePr>
          <p:nvPr>
            <p:custDataLst>
              <p:tags r:id="rId1"/>
            </p:custDataLst>
            <p:extLst>
              <p:ext uri="{D42A27DB-BD31-4B8C-83A1-F6EECF244321}">
                <p14:modId xmlns:p14="http://schemas.microsoft.com/office/powerpoint/2010/main" val="42024219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6" name="Object 5" hidden="1">
                        <a:extLst>
                          <a:ext uri="{FF2B5EF4-FFF2-40B4-BE49-F238E27FC236}">
                            <a16:creationId xmlns:a16="http://schemas.microsoft.com/office/drawing/2014/main" id="{D79026EB-0AEC-4471-A7D1-52842711B11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EDB1782C-4B64-4232-AB1E-192FC770B0D0}"/>
              </a:ext>
            </a:extLst>
          </p:cNvPr>
          <p:cNvSpPr/>
          <p:nvPr/>
        </p:nvSpPr>
        <p:spPr>
          <a:xfrm>
            <a:off x="0" y="0"/>
            <a:ext cx="5892800" cy="62345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 name="Title 1"/>
          <p:cNvSpPr>
            <a:spLocks noGrp="1"/>
          </p:cNvSpPr>
          <p:nvPr>
            <p:ph type="title" hasCustomPrompt="1"/>
          </p:nvPr>
        </p:nvSpPr>
        <p:spPr>
          <a:xfrm>
            <a:off x="363600" y="340900"/>
            <a:ext cx="5077097" cy="1015614"/>
          </a:xfrm>
          <a:prstGeom prst="rect">
            <a:avLst/>
          </a:prstGeom>
        </p:spPr>
        <p:txBody>
          <a:bodyPr vert="horz" anchor="t"/>
          <a:lstStyle>
            <a:lvl1pPr>
              <a:defRPr sz="2200">
                <a:solidFill>
                  <a:schemeClr val="bg1"/>
                </a:solidFill>
              </a:defRPr>
            </a:lvl1pPr>
          </a:lstStyle>
          <a:p>
            <a:r>
              <a:rPr lang="en-US"/>
              <a:t>CLICK TO EDIT TITLE</a:t>
            </a:r>
          </a:p>
        </p:txBody>
      </p:sp>
      <p:sp>
        <p:nvSpPr>
          <p:cNvPr id="3" name="Picture Placeholder 2"/>
          <p:cNvSpPr>
            <a:spLocks noGrp="1"/>
          </p:cNvSpPr>
          <p:nvPr>
            <p:ph type="pic" idx="1"/>
          </p:nvPr>
        </p:nvSpPr>
        <p:spPr>
          <a:xfrm>
            <a:off x="5892800" y="0"/>
            <a:ext cx="6299200" cy="6234545"/>
          </a:xfrm>
        </p:spPr>
        <p:txBody>
          <a:bodyPr anchor="ctr"/>
          <a:lstStyle>
            <a:lvl1pPr marL="0" indent="0" algn="ctr">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363600" y="1455951"/>
            <a:ext cx="5077097" cy="4340012"/>
          </a:xfrm>
        </p:spPr>
        <p:txBody>
          <a:bodyPr/>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p:cNvSpPr>
            <a:spLocks noGrp="1"/>
          </p:cNvSpPr>
          <p:nvPr>
            <p:ph type="sldNum" sz="quarter" idx="12"/>
          </p:nvPr>
        </p:nvSpPr>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pic>
        <p:nvPicPr>
          <p:cNvPr id="10" name="MyUPSLogo">
            <a:extLst>
              <a:ext uri="{FF2B5EF4-FFF2-40B4-BE49-F238E27FC236}">
                <a16:creationId xmlns:a16="http://schemas.microsoft.com/office/drawing/2014/main" id="{9A253C6F-D8D1-4B0A-B486-B3CC9ED5088C}"/>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5" name="TextBox 4">
            <a:extLst>
              <a:ext uri="{FF2B5EF4-FFF2-40B4-BE49-F238E27FC236}">
                <a16:creationId xmlns:a16="http://schemas.microsoft.com/office/drawing/2014/main" id="{7631A3FB-C268-BA88-84C7-D4440271650B}"/>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3171730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C79802D6-AA84-F148-8226-92CC49B218AC}"/>
              </a:ext>
            </a:extLst>
          </p:cNvPr>
          <p:cNvSpPr>
            <a:spLocks noGrp="1"/>
          </p:cNvSpPr>
          <p:nvPr>
            <p:ph type="sldNum" sz="quarter" idx="12"/>
          </p:nvPr>
        </p:nvSpPr>
        <p:spPr>
          <a:xfrm>
            <a:off x="11287760" y="6491339"/>
            <a:ext cx="538480" cy="277002"/>
          </a:xfrm>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pic>
        <p:nvPicPr>
          <p:cNvPr id="5" name="MyUPSLogo">
            <a:extLst>
              <a:ext uri="{FF2B5EF4-FFF2-40B4-BE49-F238E27FC236}">
                <a16:creationId xmlns:a16="http://schemas.microsoft.com/office/drawing/2014/main" id="{B9E667F4-1297-4EF1-A896-BE844891E61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52001" y="6413500"/>
            <a:ext cx="2104711" cy="374650"/>
          </a:xfrm>
          <a:prstGeom prst="rect">
            <a:avLst/>
          </a:prstGeom>
        </p:spPr>
      </p:pic>
      <p:sp>
        <p:nvSpPr>
          <p:cNvPr id="2" name="TextBox 1">
            <a:extLst>
              <a:ext uri="{FF2B5EF4-FFF2-40B4-BE49-F238E27FC236}">
                <a16:creationId xmlns:a16="http://schemas.microsoft.com/office/drawing/2014/main" id="{0E565C06-E11A-E3DC-82D2-DA3280FB0A20}"/>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2902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hank you blu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354ACF5-0136-4490-B70F-FA9C36DDEEC7}"/>
              </a:ext>
            </a:extLst>
          </p:cNvPr>
          <p:cNvGraphicFramePr>
            <a:graphicFrameLocks noChangeAspect="1"/>
          </p:cNvGraphicFramePr>
          <p:nvPr>
            <p:custDataLst>
              <p:tags r:id="rId1"/>
            </p:custDataLst>
            <p:extLst>
              <p:ext uri="{D42A27DB-BD31-4B8C-83A1-F6EECF244321}">
                <p14:modId xmlns:p14="http://schemas.microsoft.com/office/powerpoint/2010/main" val="2750522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2" name="Object 1" hidden="1">
                        <a:extLst>
                          <a:ext uri="{FF2B5EF4-FFF2-40B4-BE49-F238E27FC236}">
                            <a16:creationId xmlns:a16="http://schemas.microsoft.com/office/drawing/2014/main" id="{C354ACF5-0136-4490-B70F-FA9C36DDEE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6F89C34F-7D9A-473B-AE57-2CC7DDDE0935}"/>
              </a:ext>
            </a:extLst>
          </p:cNvPr>
          <p:cNvSpPr/>
          <p:nvPr/>
        </p:nvSpPr>
        <p:spPr>
          <a:xfrm>
            <a:off x="3" y="0"/>
            <a:ext cx="12191999" cy="6873972"/>
          </a:xfrm>
          <a:prstGeom prst="rect">
            <a:avLst/>
          </a:prstGeom>
          <a:solidFill>
            <a:srgbClr val="0E2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426EB7"/>
              </a:solidFill>
              <a:latin typeface="Verdana" panose="020B0604030504040204" pitchFamily="34" charset="0"/>
              <a:ea typeface="Verdana" panose="020B0604030504040204" pitchFamily="34" charset="0"/>
              <a:sym typeface="Verdana" panose="020B0604030504040204" pitchFamily="34" charset="0"/>
            </a:endParaRPr>
          </a:p>
        </p:txBody>
      </p:sp>
      <p:pic>
        <p:nvPicPr>
          <p:cNvPr id="17" name="Picture 16">
            <a:extLst>
              <a:ext uri="{FF2B5EF4-FFF2-40B4-BE49-F238E27FC236}">
                <a16:creationId xmlns:a16="http://schemas.microsoft.com/office/drawing/2014/main" id="{ECC769B6-959D-413B-848A-C6886236049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81111" y="1752369"/>
            <a:ext cx="3829778" cy="3353262"/>
          </a:xfrm>
          <a:prstGeom prst="rect">
            <a:avLst/>
          </a:prstGeom>
        </p:spPr>
      </p:pic>
      <p:sp>
        <p:nvSpPr>
          <p:cNvPr id="6" name="Slide Number Placeholder 5">
            <a:extLst>
              <a:ext uri="{FF2B5EF4-FFF2-40B4-BE49-F238E27FC236}">
                <a16:creationId xmlns:a16="http://schemas.microsoft.com/office/drawing/2014/main" id="{99242346-331F-409E-95FD-647084108311}"/>
              </a:ext>
            </a:extLst>
          </p:cNvPr>
          <p:cNvSpPr>
            <a:spLocks noGrp="1"/>
          </p:cNvSpPr>
          <p:nvPr>
            <p:ph type="sldNum" sz="quarter" idx="4"/>
          </p:nvPr>
        </p:nvSpPr>
        <p:spPr>
          <a:xfrm>
            <a:off x="11287760" y="6491339"/>
            <a:ext cx="538480" cy="277002"/>
          </a:xfrm>
          <a:prstGeom prst="rect">
            <a:avLst/>
          </a:prstGeom>
        </p:spPr>
        <p:txBody>
          <a:bodyPr vert="horz" lIns="0" tIns="0" rIns="0" bIns="0" rtlCol="0" anchor="ctr">
            <a:noAutofit/>
          </a:bodyPr>
          <a:lstStyle>
            <a:lvl1pPr>
              <a:defRPr lang="en-US" sz="750" smtClean="0">
                <a:solidFill>
                  <a:schemeClr val="bg1"/>
                </a:solidFill>
                <a:latin typeface="Verdana" panose="020B0604030504040204" pitchFamily="34" charset="0"/>
              </a:defRPr>
            </a:lvl1pPr>
          </a:lstStyle>
          <a:p>
            <a:pPr algn="r"/>
            <a:fld id="{4FA92F45-BA5D-4C7A-ACC7-D44B34072B97}" type="slidenum">
              <a:rPr lang="en-IN" smtClean="0"/>
              <a:pPr algn="r"/>
              <a:t>‹#›</a:t>
            </a:fld>
            <a:endParaRPr lang="en-IN" dirty="0"/>
          </a:p>
        </p:txBody>
      </p:sp>
      <p:sp>
        <p:nvSpPr>
          <p:cNvPr id="3" name="TextBox 2">
            <a:extLst>
              <a:ext uri="{FF2B5EF4-FFF2-40B4-BE49-F238E27FC236}">
                <a16:creationId xmlns:a16="http://schemas.microsoft.com/office/drawing/2014/main" id="{51F87CE7-2859-141A-F66E-0A89A4E19138}"/>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chemeClr val="bg1"/>
                </a:solidFill>
              </a:rPr>
              <a:t>Proprietary and Confidential: This presentation may not be used or disclosed to other than employees or customers, unless expressly authorized by UPS.</a:t>
            </a:r>
            <a:br>
              <a:rPr lang="en-US" sz="450" dirty="0">
                <a:solidFill>
                  <a:schemeClr val="bg1"/>
                </a:solidFill>
              </a:rPr>
            </a:br>
            <a:r>
              <a:rPr lang="en-US" sz="450" dirty="0">
                <a:solidFill>
                  <a:schemeClr val="bg1"/>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116326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hank you whit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42C442-E22F-C04A-B6D3-7261ECCF1C08}"/>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808035" y="2570357"/>
            <a:ext cx="2575931" cy="1717287"/>
          </a:xfrm>
          <a:prstGeom prst="rect">
            <a:avLst/>
          </a:prstGeom>
        </p:spPr>
      </p:pic>
      <p:sp>
        <p:nvSpPr>
          <p:cNvPr id="6" name="Slide Number Placeholder 4">
            <a:extLst>
              <a:ext uri="{FF2B5EF4-FFF2-40B4-BE49-F238E27FC236}">
                <a16:creationId xmlns:a16="http://schemas.microsoft.com/office/drawing/2014/main" id="{FE640717-69AA-4842-AD4B-7070A0D7983A}"/>
              </a:ext>
            </a:extLst>
          </p:cNvPr>
          <p:cNvSpPr>
            <a:spLocks noGrp="1"/>
          </p:cNvSpPr>
          <p:nvPr>
            <p:ph type="sldNum" sz="quarter" idx="12"/>
          </p:nvPr>
        </p:nvSpPr>
        <p:spPr>
          <a:xfrm>
            <a:off x="11287760" y="6491339"/>
            <a:ext cx="538480" cy="277002"/>
          </a:xfrm>
        </p:spPr>
        <p:txBody>
          <a:bodyPr vert="horz" lIns="0" tIns="0" rIns="0" bIns="0" rtlCol="0" anchor="ctr">
            <a:noAutofit/>
          </a:bodyPr>
          <a:lstStyle>
            <a:lvl1pPr>
              <a:defRPr lang="en-IN" smtClean="0"/>
            </a:lvl1pPr>
          </a:lstStyle>
          <a:p>
            <a:pPr algn="r"/>
            <a:fld id="{4FA92F45-BA5D-4C7A-ACC7-D44B34072B97}" type="slidenum">
              <a:rPr lang="en-IN" smtClean="0"/>
              <a:pPr algn="r"/>
              <a:t>‹#›</a:t>
            </a:fld>
            <a:endParaRPr lang="en-IN" dirty="0"/>
          </a:p>
        </p:txBody>
      </p:sp>
      <p:sp>
        <p:nvSpPr>
          <p:cNvPr id="2" name="TextBox 1">
            <a:extLst>
              <a:ext uri="{FF2B5EF4-FFF2-40B4-BE49-F238E27FC236}">
                <a16:creationId xmlns:a16="http://schemas.microsoft.com/office/drawing/2014/main" id="{FE8A26B4-53BF-9804-64C5-C0DD42908B10}"/>
              </a:ext>
            </a:extLst>
          </p:cNvPr>
          <p:cNvSpPr txBox="1">
            <a:spLocks/>
          </p:cNvSpPr>
          <p:nvPr userDrawn="1"/>
        </p:nvSpPr>
        <p:spPr>
          <a:xfrm>
            <a:off x="1332992" y="6537509"/>
            <a:ext cx="9526016" cy="230832"/>
          </a:xfrm>
          <a:prstGeom prst="rect">
            <a:avLst/>
          </a:prstGeom>
          <a:noFill/>
        </p:spPr>
        <p:txBody>
          <a:bodyPr wrap="square" rtlCol="0">
            <a:spAutoFit/>
          </a:bodyPr>
          <a:lstStyle/>
          <a:p>
            <a:pPr algn="ctr"/>
            <a:r>
              <a:rPr lang="en-US" sz="450" dirty="0">
                <a:solidFill>
                  <a:srgbClr val="595555"/>
                </a:solidFill>
              </a:rPr>
              <a:t>Proprietary and Confidential: This presentation may not be used or disclosed to other than employees or customers, unless expressly authorized by UPS.</a:t>
            </a:r>
            <a:br>
              <a:rPr lang="en-US" sz="450" dirty="0">
                <a:solidFill>
                  <a:srgbClr val="595555"/>
                </a:solidFill>
              </a:rPr>
            </a:br>
            <a:r>
              <a:rPr lang="en-US" sz="450" dirty="0">
                <a:solidFill>
                  <a:srgbClr val="595555"/>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1406487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1E9A3EE-56CC-4C7A-8326-CB09F006B3FB}"/>
              </a:ext>
            </a:extLst>
          </p:cNvPr>
          <p:cNvGraphicFramePr>
            <a:graphicFrameLocks noChangeAspect="1"/>
          </p:cNvGraphicFramePr>
          <p:nvPr userDrawn="1">
            <p:custDataLst>
              <p:tags r:id="rId1"/>
            </p:custDataLst>
            <p:extLst>
              <p:ext uri="{D42A27DB-BD31-4B8C-83A1-F6EECF244321}">
                <p14:modId xmlns:p14="http://schemas.microsoft.com/office/powerpoint/2010/main" val="419704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5" name="Object 4" hidden="1">
                        <a:extLst>
                          <a:ext uri="{FF2B5EF4-FFF2-40B4-BE49-F238E27FC236}">
                            <a16:creationId xmlns:a16="http://schemas.microsoft.com/office/drawing/2014/main" id="{F1E9A3EE-56CC-4C7A-8326-CB09F006B3F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98944949-A2F0-2E4B-8D73-A80ED0217077}"/>
              </a:ext>
            </a:extLst>
          </p:cNvPr>
          <p:cNvSpPr>
            <a:spLocks noGrp="1"/>
          </p:cNvSpPr>
          <p:nvPr>
            <p:ph type="title" hasCustomPrompt="1"/>
          </p:nvPr>
        </p:nvSpPr>
        <p:spPr>
          <a:xfrm>
            <a:off x="365760" y="365127"/>
            <a:ext cx="11460480" cy="383773"/>
          </a:xfrm>
          <a:prstGeom prst="rect">
            <a:avLst/>
          </a:prstGeom>
        </p:spPr>
        <p:txBody>
          <a:bodyPr vert="horz"/>
          <a:lstStyle>
            <a:lvl1pPr>
              <a:defRPr i="0"/>
            </a:lvl1pPr>
          </a:lstStyle>
          <a:p>
            <a:r>
              <a:rPr lang="en-US"/>
              <a:t>CLICK TO EDIT MASTER TITLE STYLE</a:t>
            </a:r>
          </a:p>
        </p:txBody>
      </p:sp>
    </p:spTree>
    <p:extLst>
      <p:ext uri="{BB962C8B-B14F-4D97-AF65-F5344CB8AC3E}">
        <p14:creationId xmlns:p14="http://schemas.microsoft.com/office/powerpoint/2010/main" val="293665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CEABB9F-6B8D-418D-9619-A040F0320C3C}"/>
              </a:ext>
            </a:extLst>
          </p:cNvPr>
          <p:cNvGraphicFramePr>
            <a:graphicFrameLocks noChangeAspect="1"/>
          </p:cNvGraphicFramePr>
          <p:nvPr>
            <p:custDataLst>
              <p:tags r:id="rId21"/>
            </p:custDataLst>
            <p:extLst>
              <p:ext uri="{D42A27DB-BD31-4B8C-83A1-F6EECF244321}">
                <p14:modId xmlns:p14="http://schemas.microsoft.com/office/powerpoint/2010/main" val="678988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2" imgW="473" imgH="473" progId="TCLayout.ActiveDocument.1">
                  <p:embed/>
                </p:oleObj>
              </mc:Choice>
              <mc:Fallback>
                <p:oleObj name="think-cell Slide" r:id="rId22" imgW="473" imgH="473" progId="TCLayout.ActiveDocument.1">
                  <p:embed/>
                  <p:pic>
                    <p:nvPicPr>
                      <p:cNvPr id="7" name="Object 6" hidden="1">
                        <a:extLst>
                          <a:ext uri="{FF2B5EF4-FFF2-40B4-BE49-F238E27FC236}">
                            <a16:creationId xmlns:a16="http://schemas.microsoft.com/office/drawing/2014/main" id="{9CEABB9F-6B8D-418D-9619-A040F0320C3C}"/>
                          </a:ext>
                        </a:extLst>
                      </p:cNvPr>
                      <p:cNvPicPr/>
                      <p:nvPr/>
                    </p:nvPicPr>
                    <p:blipFill>
                      <a:blip r:embed="rId23"/>
                      <a:stretch>
                        <a:fillRect/>
                      </a:stretch>
                    </p:blipFill>
                    <p:spPr>
                      <a:xfrm>
                        <a:off x="1588" y="1588"/>
                        <a:ext cx="1588" cy="1588"/>
                      </a:xfrm>
                      <a:prstGeom prst="rect">
                        <a:avLst/>
                      </a:prstGeom>
                    </p:spPr>
                  </p:pic>
                </p:oleObj>
              </mc:Fallback>
            </mc:AlternateContent>
          </a:graphicData>
        </a:graphic>
      </p:graphicFrame>
      <p:sp>
        <p:nvSpPr>
          <p:cNvPr id="2" name="Text Placeholder 28"/>
          <p:cNvSpPr>
            <a:spLocks noGrp="1"/>
          </p:cNvSpPr>
          <p:nvPr>
            <p:ph type="title"/>
          </p:nvPr>
        </p:nvSpPr>
        <p:spPr>
          <a:xfrm>
            <a:off x="363600" y="363600"/>
            <a:ext cx="11460480" cy="944881"/>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3600" y="1455950"/>
            <a:ext cx="11460480" cy="47916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1287760" y="6491339"/>
            <a:ext cx="538480" cy="277002"/>
          </a:xfrm>
          <a:prstGeom prst="rect">
            <a:avLst/>
          </a:prstGeom>
        </p:spPr>
        <p:txBody>
          <a:bodyPr vert="horz" lIns="0" tIns="0" rIns="0" bIns="0" rtlCol="0" anchor="ctr">
            <a:noAutofit/>
          </a:bodyPr>
          <a:lstStyle>
            <a:lvl1pPr>
              <a:defRPr lang="en-US" sz="750" smtClean="0">
                <a:solidFill>
                  <a:srgbClr val="8C8285"/>
                </a:solidFill>
                <a:latin typeface="Verdana" panose="020B0604030504040204" pitchFamily="34" charset="0"/>
              </a:defRPr>
            </a:lvl1pPr>
          </a:lstStyle>
          <a:p>
            <a:pPr algn="r"/>
            <a:fld id="{4FA92F45-BA5D-4C7A-ACC7-D44B34072B97}" type="slidenum">
              <a:rPr lang="en-IN" smtClean="0"/>
              <a:pPr algn="r"/>
              <a:t>‹#›</a:t>
            </a:fld>
            <a:endParaRPr lang="en-IN" dirty="0"/>
          </a:p>
        </p:txBody>
      </p:sp>
      <p:pic>
        <p:nvPicPr>
          <p:cNvPr id="9" name="logoUPS" hidden="1">
            <a:extLst>
              <a:ext uri="{FF2B5EF4-FFF2-40B4-BE49-F238E27FC236}">
                <a16:creationId xmlns:a16="http://schemas.microsoft.com/office/drawing/2014/main" id="{471D4F18-A534-4FF5-8375-1D3276CCC1B3}"/>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51565" y="6411611"/>
            <a:ext cx="2108738" cy="375367"/>
          </a:xfrm>
          <a:prstGeom prst="rect">
            <a:avLst/>
          </a:prstGeom>
        </p:spPr>
      </p:pic>
      <p:pic>
        <p:nvPicPr>
          <p:cNvPr id="8" name="MyUPSLogoWhite">
            <a:extLst>
              <a:ext uri="{FF2B5EF4-FFF2-40B4-BE49-F238E27FC236}">
                <a16:creationId xmlns:a16="http://schemas.microsoft.com/office/drawing/2014/main" id="{364F119B-1760-48F0-A65E-9424D9258EC2}"/>
              </a:ext>
            </a:extLst>
          </p:cNvPr>
          <p:cNvPicPr>
            <a:picLocks/>
          </p:cNvPicPr>
          <p:nvPr/>
        </p:nvPicPr>
        <p:blipFill>
          <a:blip r:embed="rId25" cstate="screen">
            <a:extLst>
              <a:ext uri="{28A0092B-C50C-407E-A947-70E740481C1C}">
                <a14:useLocalDpi xmlns:a14="http://schemas.microsoft.com/office/drawing/2010/main"/>
              </a:ext>
            </a:extLst>
          </a:blip>
          <a:stretch>
            <a:fillRect/>
          </a:stretch>
        </p:blipFill>
        <p:spPr>
          <a:xfrm>
            <a:off x="2331060" y="6413500"/>
            <a:ext cx="2108200" cy="374650"/>
          </a:xfrm>
          <a:prstGeom prst="rect">
            <a:avLst/>
          </a:prstGeom>
        </p:spPr>
      </p:pic>
    </p:spTree>
    <p:extLst>
      <p:ext uri="{BB962C8B-B14F-4D97-AF65-F5344CB8AC3E}">
        <p14:creationId xmlns:p14="http://schemas.microsoft.com/office/powerpoint/2010/main" val="397051643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9" r:id="rId4"/>
    <p:sldLayoutId id="2147483665" r:id="rId5"/>
    <p:sldLayoutId id="2147483666" r:id="rId6"/>
    <p:sldLayoutId id="2147483667" r:id="rId7"/>
    <p:sldLayoutId id="2147483668" r:id="rId8"/>
    <p:sldLayoutId id="2147483670" r:id="rId9"/>
    <p:sldLayoutId id="2147483671" r:id="rId10"/>
    <p:sldLayoutId id="2147483672" r:id="rId11"/>
    <p:sldLayoutId id="2147483674" r:id="rId12"/>
    <p:sldLayoutId id="2147483675" r:id="rId13"/>
    <p:sldLayoutId id="2147483678" r:id="rId14"/>
    <p:sldLayoutId id="2147483679" r:id="rId15"/>
    <p:sldLayoutId id="2147483680" r:id="rId16"/>
    <p:sldLayoutId id="2147483681" r:id="rId17"/>
    <p:sldLayoutId id="2147483682" r:id="rId18"/>
    <p:sldLayoutId id="2147483690"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latinLnBrk="0" hangingPunct="1">
        <a:lnSpc>
          <a:spcPct val="100000"/>
        </a:lnSpc>
        <a:spcBef>
          <a:spcPct val="0"/>
        </a:spcBef>
        <a:buNone/>
        <a:defRPr sz="2200" b="1" i="0" kern="1200">
          <a:solidFill>
            <a:schemeClr val="accent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emf"/><Relationship Id="rId2" Type="http://schemas.openxmlformats.org/officeDocument/2006/relationships/slideLayout" Target="../slideLayouts/slideLayout16.xml"/><Relationship Id="rId1" Type="http://schemas.openxmlformats.org/officeDocument/2006/relationships/tags" Target="../tags/tag19.xml"/><Relationship Id="rId6" Type="http://schemas.openxmlformats.org/officeDocument/2006/relationships/image" Target="../media/image10.jpeg"/><Relationship Id="rId5" Type="http://schemas.openxmlformats.org/officeDocument/2006/relationships/image" Target="../media/image1.emf"/><Relationship Id="rId4" Type="http://schemas.openxmlformats.org/officeDocument/2006/relationships/oleObject" Target="../embeddings/oleObject18.bin"/></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hyperlink" Target="https://eng2e.seismic.com/i/9PrPLUSSIGNbpUo___Os1XvAIPLUSSIGN934GOLGgMC___awpoLgJoERlFGleiVJ18LmYFCV6voPLUSSIGNsJHoHXKxb1vlNTWbHHCPhrgvFb8BNMeDzqHUPuAu___2ZcgwQJMEQUALSIGN" TargetMode="External"/><Relationship Id="rId5" Type="http://schemas.openxmlformats.org/officeDocument/2006/relationships/image" Target="../media/image21.png"/><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8" Type="http://schemas.openxmlformats.org/officeDocument/2006/relationships/hyperlink" Target="https://eng2e.seismic.com/i/9PrPLUSSIGNbpUo___Os1XvAIPLUSSIGN934GOLGgMC___awpoLgJoERlFGlflb51Jk7LPLUSSIGNHwdZ9UqUaRSgHqzew5e7tOYuTuB___9PJDBiT5nQmJNsa7lhzUTMj4s90EQUALSIGN" TargetMode="External"/><Relationship Id="rId13" Type="http://schemas.openxmlformats.org/officeDocument/2006/relationships/image" Target="../media/image27.png"/><Relationship Id="rId3" Type="http://schemas.openxmlformats.org/officeDocument/2006/relationships/hyperlink" Target="https://eng2e.seismic.com/i/9PrPLUSSIGNbpUo___Os1XvAIPLUSSIGN934GOLGgMC___awpoLgJoERlFGld7z4Va75eMmfQXqbtPLUSSIGNVtEePqPFvtuIfLPLUSSIGNQxr85UeZZFaW22tED82UfFXffqRqhhEsEQUALSIGN" TargetMode="External"/><Relationship Id="rId7" Type="http://schemas.openxmlformats.org/officeDocument/2006/relationships/image" Target="../media/image24.png"/><Relationship Id="rId12" Type="http://schemas.openxmlformats.org/officeDocument/2006/relationships/hyperlink" Target="https://eng2e.seismic.com/i/9PrPLUSSIGNbpUo___Os1XvAIPLUSSIGN934GOLGgMC___awpoLgJoERlFGlf75cYHHleCc4P41v888wUSAQFqh85sWxLfxxy454LcUhpRPBnSPMGH9sqEUbWVnRIEQUALSIGN"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hyperlink" Target="https://eng2e.seismic.com/i/9PrPLUSSIGNbpUo___Os1XvAIPLUSSIGN934GOLGgMC___awpoLgJoERlFGlfHDI5KUgIcB1VWFTZpcf2AS4Cve6R2xyzuwdyLWuQe0ilyCuoPDBGSzOTZFcC6L5AEQUALSIGN" TargetMode="External"/><Relationship Id="rId11" Type="http://schemas.openxmlformats.org/officeDocument/2006/relationships/image" Target="../media/image26.png"/><Relationship Id="rId5" Type="http://schemas.openxmlformats.org/officeDocument/2006/relationships/image" Target="../media/image23.png"/><Relationship Id="rId10" Type="http://schemas.openxmlformats.org/officeDocument/2006/relationships/hyperlink" Target="https://eng2e.seismic.com/i/9PrPLUSSIGNbpUo___Os1XvAIPLUSSIGN934GOLGgMC___awpoLgJoERlFGlf3JOHtrPLUSSIGNWCSyspTk1j1fl2lo05kc9pIwGP___7n___i0lSNIrmhz0aV9C5KLze5oSdBI0EQUALSIGN" TargetMode="External"/><Relationship Id="rId4" Type="http://schemas.openxmlformats.org/officeDocument/2006/relationships/image" Target="../media/image22.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chart" Target="../charts/char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chart" Target="../charts/char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16.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chart" Target="../charts/chart10.xml"/><Relationship Id="rId4" Type="http://schemas.openxmlformats.org/officeDocument/2006/relationships/chart" Target="../charts/chart9.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notesSlide" Target="../notesSlides/notesSlide44.xml"/><Relationship Id="rId7" Type="http://schemas.openxmlformats.org/officeDocument/2006/relationships/image" Target="../media/image42.png"/><Relationship Id="rId2" Type="http://schemas.openxmlformats.org/officeDocument/2006/relationships/slideLayout" Target="../slideLayouts/slideLayout5.xml"/><Relationship Id="rId1" Type="http://schemas.openxmlformats.org/officeDocument/2006/relationships/tags" Target="../tags/tag20.xml"/><Relationship Id="rId6" Type="http://schemas.openxmlformats.org/officeDocument/2006/relationships/image" Target="../media/image41.png"/><Relationship Id="rId5" Type="http://schemas.openxmlformats.org/officeDocument/2006/relationships/image" Target="../media/image1.emf"/><Relationship Id="rId4" Type="http://schemas.openxmlformats.org/officeDocument/2006/relationships/oleObject" Target="../embeddings/oleObject19.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20.bin"/></Relationships>
</file>

<file path=ppt/slides/_rels/slide46.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46.xml"/><Relationship Id="rId1" Type="http://schemas.openxmlformats.org/officeDocument/2006/relationships/slideLayout" Target="../slideLayouts/slideLayout5.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47.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hyperlink" Target="http://ups.com/insideretail" TargetMode="External"/><Relationship Id="rId4" Type="http://schemas.openxmlformats.org/officeDocument/2006/relationships/chart" Target="../charts/char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chart" Target="../charts/chart1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58.xml"/><Relationship Id="rId1" Type="http://schemas.openxmlformats.org/officeDocument/2006/relationships/slideLayout" Target="../slideLayouts/slideLayout19.xml"/><Relationship Id="rId6" Type="http://schemas.openxmlformats.org/officeDocument/2006/relationships/image" Target="../media/image47.svg"/><Relationship Id="rId5" Type="http://schemas.openxmlformats.org/officeDocument/2006/relationships/image" Target="../media/image46.sv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svg"/></Relationships>
</file>

<file path=ppt/slides/_rels/slide5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notesSlide" Target="../notesSlides/notesSlide59.xml"/><Relationship Id="rId1" Type="http://schemas.openxmlformats.org/officeDocument/2006/relationships/slideLayout" Target="../slideLayouts/slideLayout5.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60.xml.rels><?xml version="1.0" encoding="UTF-8" standalone="yes"?>
<Relationships xmlns="http://schemas.openxmlformats.org/package/2006/relationships"><Relationship Id="rId13" Type="http://schemas.openxmlformats.org/officeDocument/2006/relationships/image" Target="../media/image72.emf"/><Relationship Id="rId18" Type="http://schemas.openxmlformats.org/officeDocument/2006/relationships/image" Target="../media/image77.emf"/><Relationship Id="rId26" Type="http://schemas.openxmlformats.org/officeDocument/2006/relationships/image" Target="../media/image85.emf"/><Relationship Id="rId39" Type="http://schemas.openxmlformats.org/officeDocument/2006/relationships/image" Target="../media/image98.emf"/><Relationship Id="rId21" Type="http://schemas.openxmlformats.org/officeDocument/2006/relationships/image" Target="../media/image80.emf"/><Relationship Id="rId34" Type="http://schemas.openxmlformats.org/officeDocument/2006/relationships/image" Target="../media/image93.emf"/><Relationship Id="rId42" Type="http://schemas.openxmlformats.org/officeDocument/2006/relationships/image" Target="../media/image101.emf"/><Relationship Id="rId47" Type="http://schemas.openxmlformats.org/officeDocument/2006/relationships/image" Target="../media/image106.emf"/><Relationship Id="rId50" Type="http://schemas.openxmlformats.org/officeDocument/2006/relationships/image" Target="../media/image109.emf"/><Relationship Id="rId55" Type="http://schemas.openxmlformats.org/officeDocument/2006/relationships/image" Target="../media/image114.emf"/><Relationship Id="rId7" Type="http://schemas.openxmlformats.org/officeDocument/2006/relationships/image" Target="../media/image66.emf"/><Relationship Id="rId2" Type="http://schemas.openxmlformats.org/officeDocument/2006/relationships/notesSlide" Target="../notesSlides/notesSlide60.xml"/><Relationship Id="rId16" Type="http://schemas.openxmlformats.org/officeDocument/2006/relationships/image" Target="../media/image75.emf"/><Relationship Id="rId29" Type="http://schemas.openxmlformats.org/officeDocument/2006/relationships/image" Target="../media/image88.emf"/><Relationship Id="rId11" Type="http://schemas.openxmlformats.org/officeDocument/2006/relationships/image" Target="../media/image70.emf"/><Relationship Id="rId24" Type="http://schemas.openxmlformats.org/officeDocument/2006/relationships/image" Target="../media/image83.emf"/><Relationship Id="rId32" Type="http://schemas.openxmlformats.org/officeDocument/2006/relationships/image" Target="../media/image91.emf"/><Relationship Id="rId37" Type="http://schemas.openxmlformats.org/officeDocument/2006/relationships/image" Target="../media/image96.emf"/><Relationship Id="rId40" Type="http://schemas.openxmlformats.org/officeDocument/2006/relationships/image" Target="../media/image99.emf"/><Relationship Id="rId45" Type="http://schemas.openxmlformats.org/officeDocument/2006/relationships/image" Target="../media/image104.emf"/><Relationship Id="rId53" Type="http://schemas.openxmlformats.org/officeDocument/2006/relationships/image" Target="../media/image112.emf"/><Relationship Id="rId5" Type="http://schemas.openxmlformats.org/officeDocument/2006/relationships/image" Target="../media/image64.emf"/><Relationship Id="rId19" Type="http://schemas.openxmlformats.org/officeDocument/2006/relationships/image" Target="../media/image78.emf"/><Relationship Id="rId4" Type="http://schemas.openxmlformats.org/officeDocument/2006/relationships/image" Target="../media/image63.emf"/><Relationship Id="rId9" Type="http://schemas.openxmlformats.org/officeDocument/2006/relationships/image" Target="../media/image68.emf"/><Relationship Id="rId14" Type="http://schemas.openxmlformats.org/officeDocument/2006/relationships/image" Target="../media/image73.emf"/><Relationship Id="rId22" Type="http://schemas.openxmlformats.org/officeDocument/2006/relationships/image" Target="../media/image81.emf"/><Relationship Id="rId27" Type="http://schemas.openxmlformats.org/officeDocument/2006/relationships/image" Target="../media/image86.emf"/><Relationship Id="rId30" Type="http://schemas.openxmlformats.org/officeDocument/2006/relationships/image" Target="../media/image89.emf"/><Relationship Id="rId35" Type="http://schemas.openxmlformats.org/officeDocument/2006/relationships/image" Target="../media/image94.emf"/><Relationship Id="rId43" Type="http://schemas.openxmlformats.org/officeDocument/2006/relationships/image" Target="../media/image102.emf"/><Relationship Id="rId48" Type="http://schemas.openxmlformats.org/officeDocument/2006/relationships/image" Target="../media/image107.emf"/><Relationship Id="rId56" Type="http://schemas.openxmlformats.org/officeDocument/2006/relationships/image" Target="../media/image115.png"/><Relationship Id="rId8" Type="http://schemas.openxmlformats.org/officeDocument/2006/relationships/image" Target="../media/image67.emf"/><Relationship Id="rId51" Type="http://schemas.openxmlformats.org/officeDocument/2006/relationships/image" Target="../media/image110.emf"/><Relationship Id="rId3" Type="http://schemas.openxmlformats.org/officeDocument/2006/relationships/image" Target="../media/image62.emf"/><Relationship Id="rId12" Type="http://schemas.openxmlformats.org/officeDocument/2006/relationships/image" Target="../media/image71.emf"/><Relationship Id="rId17" Type="http://schemas.openxmlformats.org/officeDocument/2006/relationships/image" Target="../media/image76.emf"/><Relationship Id="rId25" Type="http://schemas.openxmlformats.org/officeDocument/2006/relationships/image" Target="../media/image84.emf"/><Relationship Id="rId33" Type="http://schemas.openxmlformats.org/officeDocument/2006/relationships/image" Target="../media/image92.emf"/><Relationship Id="rId38" Type="http://schemas.openxmlformats.org/officeDocument/2006/relationships/image" Target="../media/image97.emf"/><Relationship Id="rId46" Type="http://schemas.openxmlformats.org/officeDocument/2006/relationships/image" Target="../media/image105.emf"/><Relationship Id="rId20" Type="http://schemas.openxmlformats.org/officeDocument/2006/relationships/image" Target="../media/image79.emf"/><Relationship Id="rId41" Type="http://schemas.openxmlformats.org/officeDocument/2006/relationships/image" Target="../media/image100.emf"/><Relationship Id="rId54" Type="http://schemas.openxmlformats.org/officeDocument/2006/relationships/image" Target="../media/image113.emf"/><Relationship Id="rId1" Type="http://schemas.openxmlformats.org/officeDocument/2006/relationships/slideLayout" Target="../slideLayouts/slideLayout5.xml"/><Relationship Id="rId6" Type="http://schemas.openxmlformats.org/officeDocument/2006/relationships/image" Target="../media/image65.emf"/><Relationship Id="rId15" Type="http://schemas.openxmlformats.org/officeDocument/2006/relationships/image" Target="../media/image74.emf"/><Relationship Id="rId23" Type="http://schemas.openxmlformats.org/officeDocument/2006/relationships/image" Target="../media/image82.emf"/><Relationship Id="rId28" Type="http://schemas.openxmlformats.org/officeDocument/2006/relationships/image" Target="../media/image87.emf"/><Relationship Id="rId36" Type="http://schemas.openxmlformats.org/officeDocument/2006/relationships/image" Target="../media/image95.emf"/><Relationship Id="rId49" Type="http://schemas.openxmlformats.org/officeDocument/2006/relationships/image" Target="../media/image108.emf"/><Relationship Id="rId57" Type="http://schemas.openxmlformats.org/officeDocument/2006/relationships/image" Target="../media/image116.png"/><Relationship Id="rId10" Type="http://schemas.openxmlformats.org/officeDocument/2006/relationships/image" Target="../media/image69.emf"/><Relationship Id="rId31" Type="http://schemas.openxmlformats.org/officeDocument/2006/relationships/image" Target="../media/image90.emf"/><Relationship Id="rId44" Type="http://schemas.openxmlformats.org/officeDocument/2006/relationships/image" Target="../media/image103.emf"/><Relationship Id="rId52" Type="http://schemas.openxmlformats.org/officeDocument/2006/relationships/image" Target="../media/image1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E406A30-8A7C-4F5D-8F7B-6FEC5D28BC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8E406A30-8A7C-4F5D-8F7B-6FEC5D28BC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3A0CE22A-DD32-432E-9829-039F7EC1BCA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9D5DD448-132D-439E-8AD3-A2AA681A35BB}"/>
              </a:ext>
            </a:extLst>
          </p:cNvPr>
          <p:cNvSpPr/>
          <p:nvPr/>
        </p:nvSpPr>
        <p:spPr>
          <a:xfrm>
            <a:off x="0" y="4706471"/>
            <a:ext cx="12192000" cy="2151529"/>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BIORIDGE PHARMA </a:t>
            </a:r>
          </a:p>
          <a:p>
            <a:pPr algn="ctr"/>
            <a:r>
              <a:rPr lang="en-US" dirty="0"/>
              <a:t>										Monthly Business </a:t>
            </a:r>
          </a:p>
          <a:p>
            <a:pPr algn="ctr"/>
            <a:r>
              <a:rPr lang="en-US" dirty="0"/>
              <a:t>										Review</a:t>
            </a:r>
          </a:p>
        </p:txBody>
      </p:sp>
      <p:sp>
        <p:nvSpPr>
          <p:cNvPr id="8" name="Date Placeholder 1">
            <a:extLst>
              <a:ext uri="{FF2B5EF4-FFF2-40B4-BE49-F238E27FC236}">
                <a16:creationId xmlns:a16="http://schemas.microsoft.com/office/drawing/2014/main" id="{AC1521E4-04A7-4F65-AE24-F3016DC4664E}"/>
              </a:ext>
            </a:extLst>
          </p:cNvPr>
          <p:cNvSpPr txBox="1">
            <a:spLocks/>
          </p:cNvSpPr>
          <p:nvPr/>
        </p:nvSpPr>
        <p:spPr>
          <a:xfrm>
            <a:off x="704931" y="6231161"/>
            <a:ext cx="2047757" cy="247424"/>
          </a:xfrm>
          <a:prstGeom prst="rect">
            <a:avLst/>
          </a:prstGeom>
        </p:spPr>
        <p:txBody>
          <a:bodyPr vert="horz" lIns="0" tIns="0" rIns="0" bIns="0" rtlCol="0" anchor="ctr">
            <a:noAutofit/>
          </a:bodyPr>
          <a:lstStyle>
            <a:defPPr>
              <a:defRPr lang="en-US"/>
            </a:defPPr>
            <a:lvl1pPr marL="0" algn="r" defTabSz="914400" rtl="0" eaLnBrk="1" latinLnBrk="0" hangingPunct="1">
              <a:defRPr sz="750" kern="1200">
                <a:solidFill>
                  <a:srgbClr val="59555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400" dirty="0">
                <a:solidFill>
                  <a:schemeClr val="bg1"/>
                </a:solidFill>
              </a:rPr>
              <a:t>August 6</a:t>
            </a:r>
            <a:r>
              <a:rPr lang="en-US" sz="1400" baseline="30000" dirty="0">
                <a:solidFill>
                  <a:schemeClr val="bg1"/>
                </a:solidFill>
              </a:rPr>
              <a:t>th</a:t>
            </a:r>
            <a:r>
              <a:rPr lang="en-US" sz="1400" dirty="0">
                <a:solidFill>
                  <a:schemeClr val="bg1"/>
                </a:solidFill>
              </a:rPr>
              <a:t> 2026</a:t>
            </a:r>
          </a:p>
        </p:txBody>
      </p:sp>
      <p:sp>
        <p:nvSpPr>
          <p:cNvPr id="9" name="Title 5">
            <a:extLst>
              <a:ext uri="{FF2B5EF4-FFF2-40B4-BE49-F238E27FC236}">
                <a16:creationId xmlns:a16="http://schemas.microsoft.com/office/drawing/2014/main" id="{16AE83EA-AFAF-4776-87DA-267C06C952BE}"/>
              </a:ext>
            </a:extLst>
          </p:cNvPr>
          <p:cNvSpPr txBox="1">
            <a:spLocks/>
          </p:cNvSpPr>
          <p:nvPr/>
        </p:nvSpPr>
        <p:spPr>
          <a:xfrm>
            <a:off x="7458228" y="5201010"/>
            <a:ext cx="4336474" cy="868106"/>
          </a:xfrm>
          <a:prstGeom prst="rect">
            <a:avLst/>
          </a:prstGeom>
          <a:effectLst/>
        </p:spPr>
        <p:txBody>
          <a:bodyPr lIns="274320" tIns="274320" anchor="ctr"/>
          <a:lstStyle>
            <a:lvl1pPr algn="l" defTabSz="685800" rtl="0" eaLnBrk="1" latinLnBrk="0" hangingPunct="1">
              <a:lnSpc>
                <a:spcPct val="100000"/>
              </a:lnSpc>
              <a:spcBef>
                <a:spcPct val="0"/>
              </a:spcBef>
              <a:buNone/>
              <a:defRPr sz="2200" b="1" i="0" kern="1200">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endParaRPr lang="en-US" dirty="0">
              <a:solidFill>
                <a:schemeClr val="accent4"/>
              </a:solidFill>
            </a:endParaRPr>
          </a:p>
        </p:txBody>
      </p:sp>
      <p:pic>
        <p:nvPicPr>
          <p:cNvPr id="11" name="Picture 10">
            <a:extLst>
              <a:ext uri="{FF2B5EF4-FFF2-40B4-BE49-F238E27FC236}">
                <a16:creationId xmlns:a16="http://schemas.microsoft.com/office/drawing/2014/main" id="{6A9EE4BC-1B49-45DE-BAC2-E3CECD5A9836}"/>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699117" y="5293990"/>
            <a:ext cx="3029997" cy="682146"/>
          </a:xfrm>
          <a:prstGeom prst="rect">
            <a:avLst/>
          </a:prstGeom>
        </p:spPr>
      </p:pic>
    </p:spTree>
    <p:extLst>
      <p:ext uri="{BB962C8B-B14F-4D97-AF65-F5344CB8AC3E}">
        <p14:creationId xmlns:p14="http://schemas.microsoft.com/office/powerpoint/2010/main" val="778175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403D38-C6BB-44F4-9A5D-DCDEBEB6C0CF}"/>
              </a:ext>
            </a:extLst>
          </p:cNvPr>
          <p:cNvSpPr txBox="1">
            <a:spLocks/>
          </p:cNvSpPr>
          <p:nvPr/>
        </p:nvSpPr>
        <p:spPr>
          <a:xfrm>
            <a:off x="363600" y="363600"/>
            <a:ext cx="11460480" cy="383773"/>
          </a:xfrm>
          <a:prstGeom prst="rect">
            <a:avLst/>
          </a:prstGeom>
        </p:spPr>
        <p:txBody>
          <a:bodyPr vert="horz"/>
          <a:lstStyle>
            <a:lvl1pPr algn="l" defTabSz="685800" rtl="0" eaLnBrk="1" latinLnBrk="0" hangingPunct="1">
              <a:lnSpc>
                <a:spcPct val="100000"/>
              </a:lnSpc>
              <a:spcBef>
                <a:spcPct val="0"/>
              </a:spcBef>
              <a:buNone/>
              <a:defRPr sz="2200" b="1" i="0" kern="1200">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IN" dirty="0"/>
              <a:t>TODAY’S DISCUSSION</a:t>
            </a:r>
          </a:p>
        </p:txBody>
      </p:sp>
      <p:pic>
        <p:nvPicPr>
          <p:cNvPr id="12" name="Picture Placeholder 11"/>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b="-1"/>
          <a:stretch/>
        </p:blipFill>
        <p:spPr>
          <a:xfrm>
            <a:off x="7629235" y="1"/>
            <a:ext cx="4562765" cy="6248399"/>
          </a:xfrm>
        </p:spPr>
      </p:pic>
      <p:sp>
        <p:nvSpPr>
          <p:cNvPr id="8" name="TextBox 7">
            <a:extLst>
              <a:ext uri="{FF2B5EF4-FFF2-40B4-BE49-F238E27FC236}">
                <a16:creationId xmlns:a16="http://schemas.microsoft.com/office/drawing/2014/main" id="{38E13AAA-1571-488C-BF3D-BFAF1A80E4F9}"/>
              </a:ext>
            </a:extLst>
          </p:cNvPr>
          <p:cNvSpPr txBox="1"/>
          <p:nvPr/>
        </p:nvSpPr>
        <p:spPr>
          <a:xfrm>
            <a:off x="499391" y="1271673"/>
            <a:ext cx="6781303" cy="3879652"/>
          </a:xfrm>
          <a:prstGeom prst="rect">
            <a:avLst/>
          </a:prstGeom>
          <a:noFill/>
        </p:spPr>
        <p:txBody>
          <a:bodyPr wrap="square" rtlCol="0">
            <a:spAutoFit/>
          </a:bodyPr>
          <a:lstStyle/>
          <a:p>
            <a:pPr marL="285750" indent="-285750">
              <a:lnSpc>
                <a:spcPct val="200000"/>
              </a:lnSpc>
              <a:buFont typeface="Arial" panose="020B0604020202020204" pitchFamily="34" charset="0"/>
              <a:buChar char="•"/>
              <a:defRPr/>
            </a:pPr>
            <a:r>
              <a:rPr lang="en-US" dirty="0">
                <a:solidFill>
                  <a:schemeClr val="tx2"/>
                </a:solidFill>
              </a:rPr>
              <a:t>Welcome and Organization Structure </a:t>
            </a:r>
          </a:p>
          <a:p>
            <a:pPr marL="285750" indent="-285750">
              <a:lnSpc>
                <a:spcPct val="200000"/>
              </a:lnSpc>
              <a:buFont typeface="Arial" panose="020B0604020202020204" pitchFamily="34" charset="0"/>
              <a:buChar char="•"/>
              <a:defRPr/>
            </a:pPr>
            <a:r>
              <a:rPr lang="en-US" dirty="0">
                <a:solidFill>
                  <a:schemeClr val="tx2"/>
                </a:solidFill>
              </a:rPr>
              <a:t>Executive Summary</a:t>
            </a:r>
          </a:p>
          <a:p>
            <a:pPr marL="285750" indent="-285750">
              <a:lnSpc>
                <a:spcPct val="200000"/>
              </a:lnSpc>
              <a:buFont typeface="Arial" panose="020B0604020202020204" pitchFamily="34" charset="0"/>
              <a:buChar char="•"/>
              <a:defRPr/>
            </a:pPr>
            <a:r>
              <a:rPr lang="en-US" dirty="0">
                <a:solidFill>
                  <a:schemeClr val="tx2"/>
                </a:solidFill>
              </a:rPr>
              <a:t>Performance Management Updates</a:t>
            </a:r>
          </a:p>
          <a:p>
            <a:pPr marL="285750" indent="-285750">
              <a:lnSpc>
                <a:spcPct val="200000"/>
              </a:lnSpc>
              <a:buFont typeface="Arial" panose="020B0604020202020204" pitchFamily="34" charset="0"/>
              <a:buChar char="•"/>
              <a:defRPr/>
            </a:pPr>
            <a:r>
              <a:rPr lang="en-US" dirty="0">
                <a:solidFill>
                  <a:schemeClr val="tx2"/>
                </a:solidFill>
              </a:rPr>
              <a:t>Continuous Improvement Program Updates</a:t>
            </a:r>
          </a:p>
          <a:p>
            <a:pPr marL="285750" indent="-285750">
              <a:lnSpc>
                <a:spcPct val="200000"/>
              </a:lnSpc>
              <a:buFont typeface="Arial" panose="020B0604020202020204" pitchFamily="34" charset="0"/>
              <a:buChar char="•"/>
              <a:defRPr/>
            </a:pPr>
            <a:r>
              <a:rPr lang="en-US" dirty="0">
                <a:solidFill>
                  <a:schemeClr val="tx2"/>
                </a:solidFill>
              </a:rPr>
              <a:t>Transportation Updates </a:t>
            </a:r>
          </a:p>
          <a:p>
            <a:pPr marL="285750" indent="-285750">
              <a:lnSpc>
                <a:spcPct val="200000"/>
              </a:lnSpc>
              <a:buFont typeface="Arial" panose="020B0604020202020204" pitchFamily="34" charset="0"/>
              <a:buChar char="•"/>
              <a:defRPr/>
            </a:pPr>
            <a:r>
              <a:rPr lang="en-US" dirty="0">
                <a:solidFill>
                  <a:schemeClr val="tx2"/>
                </a:solidFill>
              </a:rPr>
              <a:t>Quality System Management Updates</a:t>
            </a:r>
          </a:p>
          <a:p>
            <a:pPr marL="285750" indent="-285750">
              <a:lnSpc>
                <a:spcPct val="200000"/>
              </a:lnSpc>
              <a:buFont typeface="Arial" panose="020B0604020202020204" pitchFamily="34" charset="0"/>
              <a:buChar char="•"/>
              <a:defRPr/>
            </a:pPr>
            <a:r>
              <a:rPr lang="en-US" dirty="0">
                <a:solidFill>
                  <a:schemeClr val="tx2"/>
                </a:solidFill>
              </a:rPr>
              <a:t>Next Steps</a:t>
            </a:r>
          </a:p>
        </p:txBody>
      </p:sp>
      <p:sp>
        <p:nvSpPr>
          <p:cNvPr id="3" name="Slide Number Placeholder 2">
            <a:extLst>
              <a:ext uri="{FF2B5EF4-FFF2-40B4-BE49-F238E27FC236}">
                <a16:creationId xmlns:a16="http://schemas.microsoft.com/office/drawing/2014/main" id="{7F41A905-722B-4818-9D37-FAEBEAEFEE72}"/>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2</a:t>
            </a:fld>
            <a:endParaRPr lang="en-IN" dirty="0">
              <a:solidFill>
                <a:srgbClr val="8C8585"/>
              </a:solidFill>
            </a:endParaRPr>
          </a:p>
        </p:txBody>
      </p:sp>
    </p:spTree>
    <p:extLst>
      <p:ext uri="{BB962C8B-B14F-4D97-AF65-F5344CB8AC3E}">
        <p14:creationId xmlns:p14="http://schemas.microsoft.com/office/powerpoint/2010/main" val="212227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EE18-A7E3-4A2B-7B32-0570840CB536}"/>
            </a:ext>
          </a:extLst>
        </p:cNvPr>
        <p:cNvGrpSpPr/>
        <p:nvPr/>
      </p:nvGrpSpPr>
      <p:grpSpPr>
        <a:xfrm>
          <a:off x="0" y="0"/>
          <a:ext cx="0" cy="0"/>
          <a:chOff x="0" y="0"/>
          <a:chExt cx="0" cy="0"/>
        </a:xfrm>
      </p:grpSpPr>
      <p:pic>
        <p:nvPicPr>
          <p:cNvPr id="91" name="Picture 90" descr="Woman in business attire">
            <a:extLst>
              <a:ext uri="{FF2B5EF4-FFF2-40B4-BE49-F238E27FC236}">
                <a16:creationId xmlns:a16="http://schemas.microsoft.com/office/drawing/2014/main" id="{CDD9972D-5E8B-71CB-90D0-4E56679439D6}"/>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rcRect/>
          <a:stretch/>
        </p:blipFill>
        <p:spPr>
          <a:xfrm>
            <a:off x="0" y="0"/>
            <a:ext cx="12192000" cy="6248400"/>
          </a:xfrm>
          <a:prstGeom prst="rect">
            <a:avLst/>
          </a:prstGeom>
        </p:spPr>
      </p:pic>
      <p:sp>
        <p:nvSpPr>
          <p:cNvPr id="2" name="Title 1">
            <a:extLst>
              <a:ext uri="{FF2B5EF4-FFF2-40B4-BE49-F238E27FC236}">
                <a16:creationId xmlns:a16="http://schemas.microsoft.com/office/drawing/2014/main" id="{AB97E0F7-2E62-751D-7771-3D77FDEF4B87}"/>
              </a:ext>
            </a:extLst>
          </p:cNvPr>
          <p:cNvSpPr>
            <a:spLocks noGrp="1"/>
          </p:cNvSpPr>
          <p:nvPr>
            <p:ph type="title"/>
          </p:nvPr>
        </p:nvSpPr>
        <p:spPr/>
        <p:txBody>
          <a:bodyPr/>
          <a:lstStyle/>
          <a:p>
            <a:r>
              <a:rPr lang="en-US" dirty="0">
                <a:solidFill>
                  <a:srgbClr val="426DA9"/>
                </a:solidFill>
                <a:latin typeface="verdana"/>
                <a:ea typeface="Verdana"/>
              </a:rPr>
              <a:t>ORGANIZATIONAL STRUCTURE FOR BIORIDGE</a:t>
            </a:r>
            <a:endParaRPr lang="en-US" dirty="0">
              <a:highlight>
                <a:srgbClr val="FF00FF"/>
              </a:highlight>
              <a:latin typeface="verdana"/>
              <a:ea typeface="Verdana"/>
            </a:endParaRPr>
          </a:p>
        </p:txBody>
      </p:sp>
      <p:sp>
        <p:nvSpPr>
          <p:cNvPr id="15" name="Slide Number Placeholder 14">
            <a:extLst>
              <a:ext uri="{FF2B5EF4-FFF2-40B4-BE49-F238E27FC236}">
                <a16:creationId xmlns:a16="http://schemas.microsoft.com/office/drawing/2014/main" id="{5EB6582A-9C65-8F3A-423A-2E5660536FB7}"/>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3</a:t>
            </a:fld>
            <a:endParaRPr lang="en-IN" dirty="0">
              <a:solidFill>
                <a:srgbClr val="8C8585"/>
              </a:solidFill>
            </a:endParaRPr>
          </a:p>
        </p:txBody>
      </p:sp>
      <p:cxnSp>
        <p:nvCxnSpPr>
          <p:cNvPr id="5" name="Straight Connector 4">
            <a:extLst>
              <a:ext uri="{FF2B5EF4-FFF2-40B4-BE49-F238E27FC236}">
                <a16:creationId xmlns:a16="http://schemas.microsoft.com/office/drawing/2014/main" id="{FDF2CDA8-A987-7F03-719D-8871E22D3327}"/>
              </a:ext>
            </a:extLst>
          </p:cNvPr>
          <p:cNvCxnSpPr>
            <a:cxnSpLocks/>
          </p:cNvCxnSpPr>
          <p:nvPr/>
        </p:nvCxnSpPr>
        <p:spPr>
          <a:xfrm flipH="1">
            <a:off x="2767012" y="3352854"/>
            <a:ext cx="638247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4A11381-D802-FB12-015B-EA5ED33EA8F0}"/>
              </a:ext>
            </a:extLst>
          </p:cNvPr>
          <p:cNvCxnSpPr>
            <a:cxnSpLocks/>
          </p:cNvCxnSpPr>
          <p:nvPr/>
        </p:nvCxnSpPr>
        <p:spPr>
          <a:xfrm>
            <a:off x="6096000" y="1421310"/>
            <a:ext cx="0" cy="3737286"/>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E23885B6-382A-B735-8B5A-15656885993B}"/>
              </a:ext>
            </a:extLst>
          </p:cNvPr>
          <p:cNvSpPr>
            <a:spLocks/>
          </p:cNvSpPr>
          <p:nvPr/>
        </p:nvSpPr>
        <p:spPr>
          <a:xfrm flipH="1">
            <a:off x="4782814" y="871628"/>
            <a:ext cx="2648576" cy="549682"/>
          </a:xfrm>
          <a:prstGeom prst="roundRect">
            <a:avLst/>
          </a:prstGeom>
          <a:solidFill>
            <a:schemeClr val="accent1"/>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i="0" u="none" strike="noStrike" kern="1200" dirty="0">
                <a:solidFill>
                  <a:schemeClr val="bg1"/>
                </a:solidFill>
                <a:effectLst/>
              </a:rPr>
              <a:t>Nicole Gaudio</a:t>
            </a:r>
            <a:endParaRPr lang="en-US" sz="1200" b="1" i="0" u="none" strike="noStrike" dirty="0">
              <a:solidFill>
                <a:schemeClr val="bg1"/>
              </a:solidFill>
              <a:effectLst/>
            </a:endParaRPr>
          </a:p>
          <a:p>
            <a:pPr marL="0" algn="ctr" rtl="0" eaLnBrk="1" fontAlgn="b" latinLnBrk="0" hangingPunct="1">
              <a:spcBef>
                <a:spcPts val="0"/>
              </a:spcBef>
              <a:spcAft>
                <a:spcPts val="0"/>
              </a:spcAft>
            </a:pPr>
            <a:r>
              <a:rPr lang="en-US" sz="1200" b="0" i="0" u="none" strike="noStrike" kern="1200" dirty="0">
                <a:solidFill>
                  <a:schemeClr val="bg1"/>
                </a:solidFill>
                <a:effectLst/>
              </a:rPr>
              <a:t>Vice President</a:t>
            </a:r>
            <a:endParaRPr lang="en-US" sz="1200" b="0" i="0" u="none" strike="noStrike" dirty="0">
              <a:solidFill>
                <a:schemeClr val="bg1"/>
              </a:solidFill>
              <a:effectLst/>
            </a:endParaRPr>
          </a:p>
        </p:txBody>
      </p:sp>
      <p:sp>
        <p:nvSpPr>
          <p:cNvPr id="9" name="Rectangle: Rounded Corners 8">
            <a:extLst>
              <a:ext uri="{FF2B5EF4-FFF2-40B4-BE49-F238E27FC236}">
                <a16:creationId xmlns:a16="http://schemas.microsoft.com/office/drawing/2014/main" id="{757F786B-9B4D-E267-7CE6-8DE08E46E7EB}"/>
              </a:ext>
            </a:extLst>
          </p:cNvPr>
          <p:cNvSpPr>
            <a:spLocks/>
          </p:cNvSpPr>
          <p:nvPr/>
        </p:nvSpPr>
        <p:spPr>
          <a:xfrm flipH="1">
            <a:off x="4780610" y="1695362"/>
            <a:ext cx="2650780" cy="549682"/>
          </a:xfrm>
          <a:prstGeom prst="roundRect">
            <a:avLst/>
          </a:prstGeom>
          <a:solidFill>
            <a:schemeClr val="accent2"/>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i="0" u="none" strike="noStrike" dirty="0">
                <a:solidFill>
                  <a:schemeClr val="bg1"/>
                </a:solidFill>
                <a:effectLst/>
              </a:rPr>
              <a:t>Bob Anderson</a:t>
            </a:r>
          </a:p>
          <a:p>
            <a:pPr marL="0" algn="ctr" rtl="0" eaLnBrk="1" fontAlgn="b" latinLnBrk="0" hangingPunct="1">
              <a:spcBef>
                <a:spcPts val="0"/>
              </a:spcBef>
              <a:spcAft>
                <a:spcPts val="0"/>
              </a:spcAft>
            </a:pPr>
            <a:r>
              <a:rPr lang="en-US" sz="1200" b="0" i="0" u="none" strike="noStrike" dirty="0">
                <a:solidFill>
                  <a:schemeClr val="bg1"/>
                </a:solidFill>
                <a:effectLst/>
              </a:rPr>
              <a:t>Chief Financial Officer </a:t>
            </a:r>
          </a:p>
        </p:txBody>
      </p:sp>
      <p:sp>
        <p:nvSpPr>
          <p:cNvPr id="10" name="Rectangle: Rounded Corners 9">
            <a:extLst>
              <a:ext uri="{FF2B5EF4-FFF2-40B4-BE49-F238E27FC236}">
                <a16:creationId xmlns:a16="http://schemas.microsoft.com/office/drawing/2014/main" id="{137BA985-6E9B-4C29-A1F1-DD0147C9B4A9}"/>
              </a:ext>
            </a:extLst>
          </p:cNvPr>
          <p:cNvSpPr>
            <a:spLocks/>
          </p:cNvSpPr>
          <p:nvPr/>
        </p:nvSpPr>
        <p:spPr>
          <a:xfrm flipH="1">
            <a:off x="4776548" y="2519096"/>
            <a:ext cx="2650780" cy="549682"/>
          </a:xfrm>
          <a:prstGeom prst="roundRect">
            <a:avLst/>
          </a:prstGeom>
          <a:solidFill>
            <a:schemeClr val="accent2">
              <a:lumMod val="60000"/>
              <a:lumOff val="4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dirty="0">
                <a:solidFill>
                  <a:schemeClr val="bg1"/>
                </a:solidFill>
              </a:rPr>
              <a:t>Edwin Rodriguez</a:t>
            </a:r>
            <a:endParaRPr lang="en-US" sz="1200" b="1" i="0" u="none" strike="noStrike" dirty="0">
              <a:solidFill>
                <a:schemeClr val="bg1"/>
              </a:solidFill>
              <a:effectLst/>
            </a:endParaRPr>
          </a:p>
          <a:p>
            <a:pPr marL="0" algn="ctr" rtl="0" eaLnBrk="1" fontAlgn="b" latinLnBrk="0" hangingPunct="1">
              <a:spcBef>
                <a:spcPts val="0"/>
              </a:spcBef>
              <a:spcAft>
                <a:spcPts val="0"/>
              </a:spcAft>
            </a:pPr>
            <a:r>
              <a:rPr lang="en-US" sz="1200" dirty="0">
                <a:solidFill>
                  <a:schemeClr val="bg1"/>
                </a:solidFill>
              </a:rPr>
              <a:t>VP Trade Relations</a:t>
            </a:r>
            <a:endParaRPr lang="en-US" sz="1200" b="0" i="0" u="none" strike="noStrike" dirty="0">
              <a:solidFill>
                <a:schemeClr val="bg1"/>
              </a:solidFill>
              <a:effectLst/>
            </a:endParaRPr>
          </a:p>
        </p:txBody>
      </p:sp>
      <p:sp>
        <p:nvSpPr>
          <p:cNvPr id="11" name="Rectangle: Rounded Corners 10">
            <a:extLst>
              <a:ext uri="{FF2B5EF4-FFF2-40B4-BE49-F238E27FC236}">
                <a16:creationId xmlns:a16="http://schemas.microsoft.com/office/drawing/2014/main" id="{96F2020D-A9A7-38BA-923E-7D0DCEDDC041}"/>
              </a:ext>
            </a:extLst>
          </p:cNvPr>
          <p:cNvSpPr>
            <a:spLocks/>
          </p:cNvSpPr>
          <p:nvPr/>
        </p:nvSpPr>
        <p:spPr>
          <a:xfrm flipH="1">
            <a:off x="4876342" y="4980880"/>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i="0" u="none" strike="noStrike" kern="1200" dirty="0">
                <a:solidFill>
                  <a:schemeClr val="tx2"/>
                </a:solidFill>
                <a:effectLst/>
              </a:rPr>
              <a:t>William Smith (Bill)</a:t>
            </a:r>
            <a:endParaRPr lang="en-US" sz="1200" b="1" i="0" u="none" strike="noStrike" dirty="0">
              <a:solidFill>
                <a:schemeClr val="tx2"/>
              </a:solidFill>
              <a:effectLst/>
            </a:endParaRPr>
          </a:p>
          <a:p>
            <a:pPr marL="0" algn="ctr" rtl="0" eaLnBrk="1" fontAlgn="b" latinLnBrk="0" hangingPunct="1">
              <a:spcBef>
                <a:spcPts val="0"/>
              </a:spcBef>
              <a:spcAft>
                <a:spcPts val="0"/>
              </a:spcAft>
            </a:pPr>
            <a:r>
              <a:rPr lang="en-US" sz="1200" b="0" i="0" u="none" strike="noStrike" kern="1200" dirty="0">
                <a:solidFill>
                  <a:schemeClr val="tx2"/>
                </a:solidFill>
                <a:effectLst/>
              </a:rPr>
              <a:t>Inbound Lead </a:t>
            </a:r>
            <a:endParaRPr lang="en-US" sz="1200" b="0" i="0" u="none" strike="noStrike" dirty="0">
              <a:solidFill>
                <a:schemeClr val="tx2"/>
              </a:solidFill>
              <a:effectLst/>
            </a:endParaRPr>
          </a:p>
        </p:txBody>
      </p:sp>
      <p:sp>
        <p:nvSpPr>
          <p:cNvPr id="12" name="Rectangle: Rounded Corners 11">
            <a:extLst>
              <a:ext uri="{FF2B5EF4-FFF2-40B4-BE49-F238E27FC236}">
                <a16:creationId xmlns:a16="http://schemas.microsoft.com/office/drawing/2014/main" id="{C17DD252-9277-7359-755B-097F7C5D12DE}"/>
              </a:ext>
            </a:extLst>
          </p:cNvPr>
          <p:cNvSpPr>
            <a:spLocks/>
          </p:cNvSpPr>
          <p:nvPr/>
        </p:nvSpPr>
        <p:spPr>
          <a:xfrm flipH="1">
            <a:off x="4876342" y="3585394"/>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dirty="0">
                <a:solidFill>
                  <a:schemeClr val="tx2"/>
                </a:solidFill>
              </a:rPr>
              <a:t>Plarent </a:t>
            </a:r>
            <a:r>
              <a:rPr lang="en-US" sz="1200" b="1" dirty="0" err="1">
                <a:solidFill>
                  <a:schemeClr val="tx2"/>
                </a:solidFill>
              </a:rPr>
              <a:t>Sinamati</a:t>
            </a:r>
            <a:r>
              <a:rPr lang="en-US" sz="1200" b="1" dirty="0">
                <a:solidFill>
                  <a:schemeClr val="tx2"/>
                </a:solidFill>
              </a:rPr>
              <a:t> </a:t>
            </a:r>
            <a:endParaRPr lang="en-US" sz="1200" b="1" i="0" u="none" strike="noStrike" dirty="0">
              <a:solidFill>
                <a:schemeClr val="tx2"/>
              </a:solidFill>
              <a:effectLst/>
            </a:endParaRPr>
          </a:p>
          <a:p>
            <a:pPr marL="0" algn="ctr" rtl="0" eaLnBrk="1" fontAlgn="b" latinLnBrk="0" hangingPunct="1">
              <a:spcBef>
                <a:spcPts val="0"/>
              </a:spcBef>
              <a:spcAft>
                <a:spcPts val="0"/>
              </a:spcAft>
            </a:pPr>
            <a:r>
              <a:rPr lang="en-US" sz="1200" dirty="0">
                <a:solidFill>
                  <a:schemeClr val="tx2"/>
                </a:solidFill>
              </a:rPr>
              <a:t>Financial Analyst </a:t>
            </a:r>
            <a:endParaRPr lang="en-US" sz="1200" b="0" i="0" u="none" strike="noStrike" dirty="0">
              <a:solidFill>
                <a:schemeClr val="tx2"/>
              </a:solidFill>
              <a:effectLst/>
            </a:endParaRPr>
          </a:p>
        </p:txBody>
      </p:sp>
      <p:sp>
        <p:nvSpPr>
          <p:cNvPr id="14" name="Rectangle: Rounded Corners 13">
            <a:extLst>
              <a:ext uri="{FF2B5EF4-FFF2-40B4-BE49-F238E27FC236}">
                <a16:creationId xmlns:a16="http://schemas.microsoft.com/office/drawing/2014/main" id="{853C329F-D67B-889F-1D51-B8487220D94B}"/>
              </a:ext>
            </a:extLst>
          </p:cNvPr>
          <p:cNvSpPr>
            <a:spLocks/>
          </p:cNvSpPr>
          <p:nvPr/>
        </p:nvSpPr>
        <p:spPr>
          <a:xfrm flipH="1">
            <a:off x="7918841" y="3550437"/>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dirty="0">
                <a:solidFill>
                  <a:schemeClr val="tx2"/>
                </a:solidFill>
              </a:rPr>
              <a:t>Marlo Sanchez </a:t>
            </a:r>
            <a:endParaRPr lang="en-US" sz="1200" b="1" i="0" u="none" strike="noStrike" dirty="0">
              <a:solidFill>
                <a:schemeClr val="tx2"/>
              </a:solidFill>
              <a:effectLst/>
            </a:endParaRPr>
          </a:p>
          <a:p>
            <a:pPr marL="0" algn="ctr" rtl="0" eaLnBrk="1" fontAlgn="b" latinLnBrk="0" hangingPunct="1">
              <a:spcBef>
                <a:spcPts val="0"/>
              </a:spcBef>
              <a:spcAft>
                <a:spcPts val="0"/>
              </a:spcAft>
            </a:pPr>
            <a:r>
              <a:rPr lang="en-US" sz="1200" dirty="0">
                <a:solidFill>
                  <a:schemeClr val="tx2"/>
                </a:solidFill>
              </a:rPr>
              <a:t>Financial Analyst</a:t>
            </a:r>
            <a:endParaRPr lang="en-US" sz="1200" b="0" i="0" u="none" strike="noStrike" dirty="0">
              <a:solidFill>
                <a:schemeClr val="tx2"/>
              </a:solidFill>
              <a:effectLst/>
            </a:endParaRPr>
          </a:p>
        </p:txBody>
      </p:sp>
      <p:sp>
        <p:nvSpPr>
          <p:cNvPr id="16" name="Rectangle: Rounded Corners 15">
            <a:extLst>
              <a:ext uri="{FF2B5EF4-FFF2-40B4-BE49-F238E27FC236}">
                <a16:creationId xmlns:a16="http://schemas.microsoft.com/office/drawing/2014/main" id="{9B45956C-4AA0-1463-37BE-7DCB9F1E02C4}"/>
              </a:ext>
            </a:extLst>
          </p:cNvPr>
          <p:cNvSpPr>
            <a:spLocks/>
          </p:cNvSpPr>
          <p:nvPr/>
        </p:nvSpPr>
        <p:spPr>
          <a:xfrm flipH="1">
            <a:off x="1559106" y="3550437"/>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dirty="0">
                <a:solidFill>
                  <a:schemeClr val="tx2"/>
                </a:solidFill>
              </a:rPr>
              <a:t>Patrick Redmond</a:t>
            </a:r>
            <a:endParaRPr lang="en-US" sz="1200" b="1" i="0" u="none" strike="noStrike" dirty="0">
              <a:solidFill>
                <a:schemeClr val="tx2"/>
              </a:solidFill>
              <a:effectLst/>
            </a:endParaRPr>
          </a:p>
          <a:p>
            <a:pPr algn="ctr" rtl="0" eaLnBrk="1" fontAlgn="b" latinLnBrk="0" hangingPunct="1">
              <a:spcBef>
                <a:spcPts val="0"/>
              </a:spcBef>
              <a:spcAft>
                <a:spcPts val="0"/>
              </a:spcAft>
            </a:pPr>
            <a:r>
              <a:rPr lang="en-US" sz="1200" dirty="0">
                <a:solidFill>
                  <a:schemeClr val="tx2"/>
                </a:solidFill>
              </a:rPr>
              <a:t>Logistics Operations Coordinator</a:t>
            </a:r>
            <a:endParaRPr lang="en-US" sz="1200" b="0" i="0" u="none" strike="noStrike" dirty="0">
              <a:solidFill>
                <a:schemeClr val="tx2"/>
              </a:solidFill>
              <a:effectLst/>
            </a:endParaRPr>
          </a:p>
        </p:txBody>
      </p:sp>
      <p:sp>
        <p:nvSpPr>
          <p:cNvPr id="17" name="Rectangle: Rounded Corners 16">
            <a:extLst>
              <a:ext uri="{FF2B5EF4-FFF2-40B4-BE49-F238E27FC236}">
                <a16:creationId xmlns:a16="http://schemas.microsoft.com/office/drawing/2014/main" id="{9F83F160-C50E-CAA4-D2E9-E7DF16AE99E1}"/>
              </a:ext>
            </a:extLst>
          </p:cNvPr>
          <p:cNvSpPr>
            <a:spLocks/>
          </p:cNvSpPr>
          <p:nvPr/>
        </p:nvSpPr>
        <p:spPr>
          <a:xfrm flipH="1">
            <a:off x="1559106" y="4962836"/>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i="0" u="none" strike="noStrike" kern="1200" dirty="0">
                <a:solidFill>
                  <a:schemeClr val="tx2"/>
                </a:solidFill>
                <a:effectLst/>
              </a:rPr>
              <a:t>Joe Collins</a:t>
            </a:r>
            <a:endParaRPr lang="en-US" sz="1200" b="1" i="0" u="none" strike="noStrike" dirty="0">
              <a:solidFill>
                <a:schemeClr val="tx2"/>
              </a:solidFill>
              <a:effectLst/>
            </a:endParaRPr>
          </a:p>
          <a:p>
            <a:pPr marL="0" algn="ctr" rtl="0" eaLnBrk="1" fontAlgn="b" latinLnBrk="0" hangingPunct="1">
              <a:spcBef>
                <a:spcPts val="0"/>
              </a:spcBef>
              <a:spcAft>
                <a:spcPts val="0"/>
              </a:spcAft>
            </a:pPr>
            <a:r>
              <a:rPr lang="en-US" sz="1200" b="0" i="0" u="none" strike="noStrike" kern="1200" dirty="0">
                <a:solidFill>
                  <a:schemeClr val="tx2"/>
                </a:solidFill>
                <a:effectLst/>
              </a:rPr>
              <a:t>Small pack Lead</a:t>
            </a:r>
            <a:endParaRPr lang="en-US" sz="1200" b="0" i="0" u="none" strike="noStrike" dirty="0">
              <a:solidFill>
                <a:schemeClr val="tx2"/>
              </a:solidFill>
              <a:effectLst/>
            </a:endParaRPr>
          </a:p>
        </p:txBody>
      </p:sp>
      <p:sp>
        <p:nvSpPr>
          <p:cNvPr id="22" name="Rectangle: Rounded Corners 21">
            <a:extLst>
              <a:ext uri="{FF2B5EF4-FFF2-40B4-BE49-F238E27FC236}">
                <a16:creationId xmlns:a16="http://schemas.microsoft.com/office/drawing/2014/main" id="{98655018-076B-3081-EBC0-48D267AEB5D0}"/>
              </a:ext>
            </a:extLst>
          </p:cNvPr>
          <p:cNvSpPr>
            <a:spLocks/>
          </p:cNvSpPr>
          <p:nvPr/>
        </p:nvSpPr>
        <p:spPr>
          <a:xfrm flipH="1">
            <a:off x="7924332" y="4962836"/>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i="0" u="none" strike="noStrike" kern="1200" dirty="0">
                <a:solidFill>
                  <a:schemeClr val="tx2"/>
                </a:solidFill>
                <a:effectLst/>
              </a:rPr>
              <a:t>Eloisa Arciga</a:t>
            </a:r>
            <a:endParaRPr lang="en-US" sz="1200" b="1" i="0" u="none" strike="noStrike" dirty="0">
              <a:solidFill>
                <a:schemeClr val="tx2"/>
              </a:solidFill>
              <a:effectLst/>
            </a:endParaRPr>
          </a:p>
          <a:p>
            <a:pPr marL="0" algn="ctr" rtl="0" eaLnBrk="1" fontAlgn="b" latinLnBrk="0" hangingPunct="1">
              <a:spcBef>
                <a:spcPts val="0"/>
              </a:spcBef>
              <a:spcAft>
                <a:spcPts val="0"/>
              </a:spcAft>
            </a:pPr>
            <a:r>
              <a:rPr lang="en-US" sz="1200" b="0" i="0" u="none" strike="noStrike" kern="1200" dirty="0">
                <a:solidFill>
                  <a:schemeClr val="tx2"/>
                </a:solidFill>
                <a:effectLst/>
              </a:rPr>
              <a:t>Order Control</a:t>
            </a:r>
            <a:endParaRPr lang="en-US" sz="1200" b="0" i="0" u="none" strike="noStrike" dirty="0">
              <a:solidFill>
                <a:schemeClr val="tx2"/>
              </a:solidFill>
              <a:effectLst/>
            </a:endParaRPr>
          </a:p>
        </p:txBody>
      </p:sp>
      <p:sp>
        <p:nvSpPr>
          <p:cNvPr id="24" name="Rectangle: Rounded Corners 23">
            <a:extLst>
              <a:ext uri="{FF2B5EF4-FFF2-40B4-BE49-F238E27FC236}">
                <a16:creationId xmlns:a16="http://schemas.microsoft.com/office/drawing/2014/main" id="{3A9697BB-2F1C-4817-4DC7-8BA69724BCF5}"/>
              </a:ext>
            </a:extLst>
          </p:cNvPr>
          <p:cNvSpPr>
            <a:spLocks/>
          </p:cNvSpPr>
          <p:nvPr/>
        </p:nvSpPr>
        <p:spPr>
          <a:xfrm flipH="1">
            <a:off x="7924332" y="5691442"/>
            <a:ext cx="2450318" cy="549682"/>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algn="ctr" fontAlgn="b"/>
            <a:r>
              <a:rPr lang="en-US" sz="1200" b="1" i="0" u="none" strike="noStrike" kern="1200" dirty="0">
                <a:solidFill>
                  <a:schemeClr val="tx2"/>
                </a:solidFill>
                <a:effectLst/>
              </a:rPr>
              <a:t>Travis Cochran</a:t>
            </a:r>
            <a:endParaRPr lang="en-US" sz="1200" b="1" i="0" u="none" strike="noStrike" dirty="0">
              <a:solidFill>
                <a:schemeClr val="tx2"/>
              </a:solidFill>
              <a:effectLst/>
            </a:endParaRPr>
          </a:p>
          <a:p>
            <a:pPr marL="0" algn="ctr" rtl="0" eaLnBrk="1" fontAlgn="b" latinLnBrk="0" hangingPunct="1">
              <a:spcBef>
                <a:spcPts val="0"/>
              </a:spcBef>
              <a:spcAft>
                <a:spcPts val="0"/>
              </a:spcAft>
            </a:pPr>
            <a:r>
              <a:rPr lang="en-US" sz="1200" b="0" i="0" u="none" strike="noStrike" kern="1200" dirty="0">
                <a:solidFill>
                  <a:schemeClr val="tx2"/>
                </a:solidFill>
                <a:effectLst/>
              </a:rPr>
              <a:t>Outbound Lead</a:t>
            </a:r>
            <a:endParaRPr lang="en-US" sz="1200" b="0" i="0" u="none" strike="noStrike" dirty="0">
              <a:solidFill>
                <a:schemeClr val="tx2"/>
              </a:solidFill>
              <a:effectLst/>
            </a:endParaRPr>
          </a:p>
        </p:txBody>
      </p:sp>
      <p:cxnSp>
        <p:nvCxnSpPr>
          <p:cNvPr id="26" name="Straight Connector 25">
            <a:extLst>
              <a:ext uri="{FF2B5EF4-FFF2-40B4-BE49-F238E27FC236}">
                <a16:creationId xmlns:a16="http://schemas.microsoft.com/office/drawing/2014/main" id="{6FE6B259-7A5B-00C1-EE75-F875613326A8}"/>
              </a:ext>
            </a:extLst>
          </p:cNvPr>
          <p:cNvCxnSpPr>
            <a:cxnSpLocks/>
          </p:cNvCxnSpPr>
          <p:nvPr/>
        </p:nvCxnSpPr>
        <p:spPr>
          <a:xfrm>
            <a:off x="9151329" y="3352854"/>
            <a:ext cx="0" cy="19830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F5C1F79-8C22-BC96-8246-204D4DDD6E53}"/>
              </a:ext>
            </a:extLst>
          </p:cNvPr>
          <p:cNvCxnSpPr>
            <a:cxnSpLocks/>
          </p:cNvCxnSpPr>
          <p:nvPr/>
        </p:nvCxnSpPr>
        <p:spPr>
          <a:xfrm>
            <a:off x="2767012" y="3352854"/>
            <a:ext cx="0" cy="197583"/>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4395621-296C-37FD-DDE2-B4D6B6070113}"/>
              </a:ext>
            </a:extLst>
          </p:cNvPr>
          <p:cNvCxnSpPr>
            <a:cxnSpLocks/>
            <a:stCxn id="16" idx="2"/>
            <a:endCxn id="17" idx="0"/>
          </p:cNvCxnSpPr>
          <p:nvPr/>
        </p:nvCxnSpPr>
        <p:spPr>
          <a:xfrm>
            <a:off x="2784265" y="4100119"/>
            <a:ext cx="0" cy="86271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BD5E47B-4B37-B8CF-3BF3-D767D56B192B}"/>
              </a:ext>
            </a:extLst>
          </p:cNvPr>
          <p:cNvCxnSpPr>
            <a:cxnSpLocks/>
            <a:stCxn id="14" idx="2"/>
            <a:endCxn id="22" idx="0"/>
          </p:cNvCxnSpPr>
          <p:nvPr/>
        </p:nvCxnSpPr>
        <p:spPr>
          <a:xfrm>
            <a:off x="9144000" y="4100119"/>
            <a:ext cx="5491" cy="86271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240BCE0-89AA-144F-19FD-7018A936564B}"/>
              </a:ext>
            </a:extLst>
          </p:cNvPr>
          <p:cNvCxnSpPr>
            <a:cxnSpLocks/>
            <a:stCxn id="22" idx="2"/>
            <a:endCxn id="24" idx="0"/>
          </p:cNvCxnSpPr>
          <p:nvPr/>
        </p:nvCxnSpPr>
        <p:spPr>
          <a:xfrm>
            <a:off x="9149491" y="5512518"/>
            <a:ext cx="0" cy="17892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35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0"/>
            <a:ext cx="12191999" cy="6248402"/>
          </a:xfrm>
          <a:prstGeom prst="rect">
            <a:avLst/>
          </a:prstGeom>
        </p:spPr>
      </p:pic>
      <p:sp>
        <p:nvSpPr>
          <p:cNvPr id="7" name="Rectangle 6">
            <a:extLst>
              <a:ext uri="{FF2B5EF4-FFF2-40B4-BE49-F238E27FC236}">
                <a16:creationId xmlns:a16="http://schemas.microsoft.com/office/drawing/2014/main" id="{9871E957-0AAA-4AA8-8624-A9ED278E9785}"/>
              </a:ext>
            </a:extLst>
          </p:cNvPr>
          <p:cNvSpPr/>
          <p:nvPr/>
        </p:nvSpPr>
        <p:spPr>
          <a:xfrm>
            <a:off x="0" y="-1"/>
            <a:ext cx="12192000" cy="6248402"/>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pic>
        <p:nvPicPr>
          <p:cNvPr id="8" name="Picture 7">
            <a:extLst>
              <a:ext uri="{FF2B5EF4-FFF2-40B4-BE49-F238E27FC236}">
                <a16:creationId xmlns:a16="http://schemas.microsoft.com/office/drawing/2014/main" id="{9E51AD05-A860-48C4-A7B6-4EE9EA43A85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sp>
        <p:nvSpPr>
          <p:cNvPr id="6" name="Slide Number Placeholder 28">
            <a:extLst>
              <a:ext uri="{FF2B5EF4-FFF2-40B4-BE49-F238E27FC236}">
                <a16:creationId xmlns:a16="http://schemas.microsoft.com/office/drawing/2014/main" id="{671B241C-CB3D-2CBD-6ECE-BE05C7C09EA2}"/>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4</a:t>
            </a:fld>
            <a:endParaRPr lang="en-IN" dirty="0">
              <a:solidFill>
                <a:srgbClr val="8C8585"/>
              </a:solidFill>
            </a:endParaRPr>
          </a:p>
        </p:txBody>
      </p:sp>
      <p:sp>
        <p:nvSpPr>
          <p:cNvPr id="9" name="Title 6">
            <a:extLst>
              <a:ext uri="{FF2B5EF4-FFF2-40B4-BE49-F238E27FC236}">
                <a16:creationId xmlns:a16="http://schemas.microsoft.com/office/drawing/2014/main" id="{BA90351B-473F-739B-768B-7BDF01984B52}"/>
              </a:ext>
            </a:extLst>
          </p:cNvPr>
          <p:cNvSpPr txBox="1">
            <a:spLocks/>
          </p:cNvSpPr>
          <p:nvPr/>
        </p:nvSpPr>
        <p:spPr>
          <a:xfrm>
            <a:off x="3265170" y="3338316"/>
            <a:ext cx="5692588" cy="1511046"/>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2200" b="1" i="0" kern="1200">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en-US" sz="2800" dirty="0">
                <a:solidFill>
                  <a:schemeClr val="bg1"/>
                </a:solidFill>
                <a:latin typeface="+mn-lt"/>
              </a:rPr>
              <a:t>EXECUTIVE SUMMARY</a:t>
            </a:r>
            <a:endParaRPr lang="en-US" dirty="0">
              <a:solidFill>
                <a:schemeClr val="bg1"/>
              </a:solidFill>
              <a:latin typeface="+mn-lt"/>
            </a:endParaRPr>
          </a:p>
        </p:txBody>
      </p:sp>
    </p:spTree>
    <p:extLst>
      <p:ext uri="{BB962C8B-B14F-4D97-AF65-F5344CB8AC3E}">
        <p14:creationId xmlns:p14="http://schemas.microsoft.com/office/powerpoint/2010/main" val="38603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18FF77-EBA2-7A7D-B820-013EE78310E2}"/>
              </a:ext>
            </a:extLst>
          </p:cNvPr>
          <p:cNvSpPr>
            <a:spLocks noGrp="1"/>
          </p:cNvSpPr>
          <p:nvPr>
            <p:ph type="sldNum" sz="quarter" idx="12"/>
          </p:nvPr>
        </p:nvSpPr>
        <p:spPr/>
        <p:txBody>
          <a:bodyPr/>
          <a:lstStyle/>
          <a:p>
            <a:pPr algn="r"/>
            <a:fld id="{4FA92F45-BA5D-4C7A-ACC7-D44B34072B97}" type="slidenum">
              <a:rPr lang="en-IN" smtClean="0"/>
              <a:pPr algn="r"/>
              <a:t>5</a:t>
            </a:fld>
            <a:endParaRPr lang="en-IN" dirty="0"/>
          </a:p>
        </p:txBody>
      </p:sp>
      <p:sp>
        <p:nvSpPr>
          <p:cNvPr id="3" name="Title 2">
            <a:extLst>
              <a:ext uri="{FF2B5EF4-FFF2-40B4-BE49-F238E27FC236}">
                <a16:creationId xmlns:a16="http://schemas.microsoft.com/office/drawing/2014/main" id="{05754E3B-7BF2-2FFB-3FDD-2E1C1CE5042A}"/>
              </a:ext>
            </a:extLst>
          </p:cNvPr>
          <p:cNvSpPr>
            <a:spLocks noGrp="1"/>
          </p:cNvSpPr>
          <p:nvPr>
            <p:ph type="title"/>
          </p:nvPr>
        </p:nvSpPr>
        <p:spPr/>
        <p:txBody>
          <a:bodyPr/>
          <a:lstStyle/>
          <a:p>
            <a:r>
              <a:rPr lang="en-US" dirty="0"/>
              <a:t>PREVIOUS QUARTER ACHIEVEMENTS</a:t>
            </a:r>
          </a:p>
        </p:txBody>
      </p:sp>
      <p:grpSp>
        <p:nvGrpSpPr>
          <p:cNvPr id="5" name="Group 4">
            <a:extLst>
              <a:ext uri="{FF2B5EF4-FFF2-40B4-BE49-F238E27FC236}">
                <a16:creationId xmlns:a16="http://schemas.microsoft.com/office/drawing/2014/main" id="{56D4F099-67DC-3470-D8C0-A6F8D12963EC}"/>
              </a:ext>
            </a:extLst>
          </p:cNvPr>
          <p:cNvGrpSpPr/>
          <p:nvPr/>
        </p:nvGrpSpPr>
        <p:grpSpPr>
          <a:xfrm>
            <a:off x="379728" y="1236642"/>
            <a:ext cx="1910559" cy="4790829"/>
            <a:chOff x="36828" y="1460747"/>
            <a:chExt cx="1910559" cy="4790829"/>
          </a:xfrm>
        </p:grpSpPr>
        <p:pic>
          <p:nvPicPr>
            <p:cNvPr id="6" name="Picture 5" descr="A person in a blue striped shirt holding a tablet&#10;&#10;AI-generated content may be incorrect.">
              <a:extLst>
                <a:ext uri="{FF2B5EF4-FFF2-40B4-BE49-F238E27FC236}">
                  <a16:creationId xmlns:a16="http://schemas.microsoft.com/office/drawing/2014/main" id="{FF6C336E-977A-B5C8-C798-C0562C704D30}"/>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9856" y="4407993"/>
              <a:ext cx="1599357" cy="1843583"/>
            </a:xfrm>
            <a:custGeom>
              <a:avLst/>
              <a:gdLst>
                <a:gd name="connsiteX0" fmla="*/ 266522 w 1599357"/>
                <a:gd name="connsiteY0" fmla="*/ 0 h 1843583"/>
                <a:gd name="connsiteX1" fmla="*/ 1599357 w 1599357"/>
                <a:gd name="connsiteY1" fmla="*/ 769512 h 1843583"/>
                <a:gd name="connsiteX2" fmla="*/ 1595706 w 1599357"/>
                <a:gd name="connsiteY2" fmla="*/ 777859 h 1843583"/>
                <a:gd name="connsiteX3" fmla="*/ 949199 w 1599357"/>
                <a:gd name="connsiteY3" fmla="*/ 1665536 h 1843583"/>
                <a:gd name="connsiteX4" fmla="*/ 744885 w 1599357"/>
                <a:gd name="connsiteY4" fmla="*/ 1843583 h 1843583"/>
                <a:gd name="connsiteX5" fmla="*/ 0 w 1599357"/>
                <a:gd name="connsiteY5" fmla="*/ 446037 h 1843583"/>
                <a:gd name="connsiteX6" fmla="*/ 19362 w 1599357"/>
                <a:gd name="connsiteY6" fmla="*/ 424733 h 1843583"/>
                <a:gd name="connsiteX7" fmla="*/ 225656 w 1599357"/>
                <a:gd name="connsiteY7" fmla="*/ 98317 h 1843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9357" h="1843583">
                  <a:moveTo>
                    <a:pt x="266522" y="0"/>
                  </a:moveTo>
                  <a:lnTo>
                    <a:pt x="1599357" y="769512"/>
                  </a:lnTo>
                  <a:lnTo>
                    <a:pt x="1595706" y="777859"/>
                  </a:lnTo>
                  <a:cubicBezTo>
                    <a:pt x="1434687" y="1112026"/>
                    <a:pt x="1214683" y="1412420"/>
                    <a:pt x="949199" y="1665536"/>
                  </a:cubicBezTo>
                  <a:lnTo>
                    <a:pt x="744885" y="1843583"/>
                  </a:lnTo>
                  <a:lnTo>
                    <a:pt x="0" y="446037"/>
                  </a:lnTo>
                  <a:lnTo>
                    <a:pt x="19362" y="424733"/>
                  </a:lnTo>
                  <a:cubicBezTo>
                    <a:pt x="101145" y="325636"/>
                    <a:pt x="170681" y="216058"/>
                    <a:pt x="225656" y="98317"/>
                  </a:cubicBezTo>
                  <a:close/>
                </a:path>
              </a:pathLst>
            </a:custGeom>
            <a:ln w="19050">
              <a:solidFill>
                <a:srgbClr val="B0C4E0"/>
              </a:solidFill>
            </a:ln>
          </p:spPr>
        </p:pic>
        <p:grpSp>
          <p:nvGrpSpPr>
            <p:cNvPr id="7" name="Group 6">
              <a:extLst>
                <a:ext uri="{FF2B5EF4-FFF2-40B4-BE49-F238E27FC236}">
                  <a16:creationId xmlns:a16="http://schemas.microsoft.com/office/drawing/2014/main" id="{C3CD24FB-1CD3-8880-9A36-A5F1E1565014}"/>
                </a:ext>
              </a:extLst>
            </p:cNvPr>
            <p:cNvGrpSpPr/>
            <p:nvPr/>
          </p:nvGrpSpPr>
          <p:grpSpPr>
            <a:xfrm>
              <a:off x="36828" y="1460747"/>
              <a:ext cx="1910559" cy="3659545"/>
              <a:chOff x="36828" y="1460747"/>
              <a:chExt cx="1910559" cy="3659545"/>
            </a:xfrm>
          </p:grpSpPr>
          <p:pic>
            <p:nvPicPr>
              <p:cNvPr id="8" name="Picture 7" descr="A person sitting on a chair looking at a tablet&#10;&#10;AI-generated content may be incorrect.">
                <a:extLst>
                  <a:ext uri="{FF2B5EF4-FFF2-40B4-BE49-F238E27FC236}">
                    <a16:creationId xmlns:a16="http://schemas.microsoft.com/office/drawing/2014/main" id="{971E4296-D05C-3CE6-CED6-5B4426880889}"/>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338107" y="3861312"/>
                <a:ext cx="1609280" cy="1258980"/>
              </a:xfrm>
              <a:custGeom>
                <a:avLst/>
                <a:gdLst>
                  <a:gd name="connsiteX0" fmla="*/ 1609280 w 1609280"/>
                  <a:gd name="connsiteY0" fmla="*/ 0 h 1258980"/>
                  <a:gd name="connsiteX1" fmla="*/ 1397201 w 1609280"/>
                  <a:gd name="connsiteY1" fmla="*/ 1121112 h 1258980"/>
                  <a:gd name="connsiteX2" fmla="*/ 1336897 w 1609280"/>
                  <a:gd name="connsiteY2" fmla="*/ 1258980 h 1258980"/>
                  <a:gd name="connsiteX3" fmla="*/ 0 w 1609280"/>
                  <a:gd name="connsiteY3" fmla="*/ 487123 h 1258980"/>
                  <a:gd name="connsiteX4" fmla="*/ 27574 w 1609280"/>
                  <a:gd name="connsiteY4" fmla="*/ 400334 h 1258980"/>
                  <a:gd name="connsiteX5" fmla="*/ 80527 w 1609280"/>
                  <a:gd name="connsiteY5" fmla="*/ 1 h 1258980"/>
                  <a:gd name="connsiteX6" fmla="*/ 80526 w 1609280"/>
                  <a:gd name="connsiteY6" fmla="*/ 0 h 125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280" h="1258980">
                    <a:moveTo>
                      <a:pt x="1609280" y="0"/>
                    </a:moveTo>
                    <a:cubicBezTo>
                      <a:pt x="1609281" y="395769"/>
                      <a:pt x="1534085" y="773976"/>
                      <a:pt x="1397201" y="1121112"/>
                    </a:cubicBezTo>
                    <a:lnTo>
                      <a:pt x="1336897" y="1258980"/>
                    </a:lnTo>
                    <a:lnTo>
                      <a:pt x="0" y="487123"/>
                    </a:lnTo>
                    <a:lnTo>
                      <a:pt x="27574" y="400334"/>
                    </a:lnTo>
                    <a:cubicBezTo>
                      <a:pt x="62104" y="272737"/>
                      <a:pt x="80527" y="138520"/>
                      <a:pt x="80527" y="1"/>
                    </a:cubicBezTo>
                    <a:lnTo>
                      <a:pt x="80526" y="0"/>
                    </a:lnTo>
                    <a:close/>
                  </a:path>
                </a:pathLst>
              </a:custGeom>
              <a:ln w="19050">
                <a:solidFill>
                  <a:schemeClr val="accent6"/>
                </a:solidFill>
              </a:ln>
            </p:spPr>
          </p:pic>
          <p:grpSp>
            <p:nvGrpSpPr>
              <p:cNvPr id="9" name="Group 8">
                <a:extLst>
                  <a:ext uri="{FF2B5EF4-FFF2-40B4-BE49-F238E27FC236}">
                    <a16:creationId xmlns:a16="http://schemas.microsoft.com/office/drawing/2014/main" id="{38A69170-9DBC-BFC1-3D8C-C655C82F6324}"/>
                  </a:ext>
                </a:extLst>
              </p:cNvPr>
              <p:cNvGrpSpPr/>
              <p:nvPr/>
            </p:nvGrpSpPr>
            <p:grpSpPr>
              <a:xfrm>
                <a:off x="36828" y="1460747"/>
                <a:ext cx="1908178" cy="2333560"/>
                <a:chOff x="36828" y="1460747"/>
                <a:chExt cx="1908178" cy="2333560"/>
              </a:xfrm>
            </p:grpSpPr>
            <p:pic>
              <p:nvPicPr>
                <p:cNvPr id="10" name="Picture 9" descr="A group of men looking at a tablet&#10;&#10;AI-generated content may be incorrect.">
                  <a:extLst>
                    <a:ext uri="{FF2B5EF4-FFF2-40B4-BE49-F238E27FC236}">
                      <a16:creationId xmlns:a16="http://schemas.microsoft.com/office/drawing/2014/main" id="{82FDB89A-7058-9646-DEEA-597529C3BB96}"/>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18844" y="2545338"/>
                  <a:ext cx="1626162" cy="1248969"/>
                </a:xfrm>
                <a:custGeom>
                  <a:avLst/>
                  <a:gdLst>
                    <a:gd name="connsiteX0" fmla="*/ 1332924 w 1626162"/>
                    <a:gd name="connsiteY0" fmla="*/ 0 h 1248969"/>
                    <a:gd name="connsiteX1" fmla="*/ 1416477 w 1626162"/>
                    <a:gd name="connsiteY1" fmla="*/ 191021 h 1248969"/>
                    <a:gd name="connsiteX2" fmla="*/ 1619641 w 1626162"/>
                    <a:gd name="connsiteY2" fmla="*/ 1076886 h 1248969"/>
                    <a:gd name="connsiteX3" fmla="*/ 1626162 w 1626162"/>
                    <a:gd name="connsiteY3" fmla="*/ 1248969 h 1248969"/>
                    <a:gd name="connsiteX4" fmla="*/ 97011 w 1626162"/>
                    <a:gd name="connsiteY4" fmla="*/ 1248968 h 1248969"/>
                    <a:gd name="connsiteX5" fmla="*/ 93747 w 1626162"/>
                    <a:gd name="connsiteY5" fmla="*/ 1175133 h 1248969"/>
                    <a:gd name="connsiteX6" fmla="*/ 7038 w 1626162"/>
                    <a:gd name="connsiteY6" fmla="*/ 786496 h 1248969"/>
                    <a:gd name="connsiteX7" fmla="*/ 0 w 1626162"/>
                    <a:gd name="connsiteY7" fmla="*/ 769564 h 1248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6162" h="1248969">
                      <a:moveTo>
                        <a:pt x="1332924" y="0"/>
                      </a:moveTo>
                      <a:lnTo>
                        <a:pt x="1416477" y="191021"/>
                      </a:lnTo>
                      <a:cubicBezTo>
                        <a:pt x="1525984" y="468730"/>
                        <a:pt x="1596011" y="766323"/>
                        <a:pt x="1619641" y="1076886"/>
                      </a:cubicBezTo>
                      <a:lnTo>
                        <a:pt x="1626162" y="1248969"/>
                      </a:lnTo>
                      <a:lnTo>
                        <a:pt x="97011" y="1248968"/>
                      </a:lnTo>
                      <a:lnTo>
                        <a:pt x="93747" y="1175133"/>
                      </a:lnTo>
                      <a:cubicBezTo>
                        <a:pt x="81723" y="1039740"/>
                        <a:pt x="52047" y="909422"/>
                        <a:pt x="7038" y="786496"/>
                      </a:cubicBezTo>
                      <a:lnTo>
                        <a:pt x="0" y="769564"/>
                      </a:lnTo>
                      <a:close/>
                    </a:path>
                  </a:pathLst>
                </a:custGeom>
                <a:ln w="19050">
                  <a:solidFill>
                    <a:schemeClr val="accent2"/>
                  </a:solidFill>
                </a:ln>
              </p:spPr>
            </p:pic>
            <p:pic>
              <p:nvPicPr>
                <p:cNvPr id="11" name="Picture 10" descr="A person using a tablet&#10;&#10;AI-generated content may be incorrect.">
                  <a:extLst>
                    <a:ext uri="{FF2B5EF4-FFF2-40B4-BE49-F238E27FC236}">
                      <a16:creationId xmlns:a16="http://schemas.microsoft.com/office/drawing/2014/main" id="{104FFE6F-B18B-6478-A219-6EEF22FEAE6A}"/>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36828" y="1460747"/>
                  <a:ext cx="1587315" cy="1800935"/>
                </a:xfrm>
                <a:custGeom>
                  <a:avLst/>
                  <a:gdLst>
                    <a:gd name="connsiteX0" fmla="*/ 742383 w 1587315"/>
                    <a:gd name="connsiteY0" fmla="*/ 0 h 1800935"/>
                    <a:gd name="connsiteX1" fmla="*/ 882507 w 1587315"/>
                    <a:gd name="connsiteY1" fmla="*/ 114585 h 1800935"/>
                    <a:gd name="connsiteX2" fmla="*/ 1506429 w 1587315"/>
                    <a:gd name="connsiteY2" fmla="*/ 880426 h 1800935"/>
                    <a:gd name="connsiteX3" fmla="*/ 1587315 w 1587315"/>
                    <a:gd name="connsiteY3" fmla="*/ 1033748 h 1800935"/>
                    <a:gd name="connsiteX4" fmla="*/ 258508 w 1587315"/>
                    <a:gd name="connsiteY4" fmla="*/ 1800935 h 1800935"/>
                    <a:gd name="connsiteX5" fmla="*/ 239959 w 1587315"/>
                    <a:gd name="connsiteY5" fmla="*/ 1756310 h 1800935"/>
                    <a:gd name="connsiteX6" fmla="*/ 33666 w 1587315"/>
                    <a:gd name="connsiteY6" fmla="*/ 1429894 h 1800935"/>
                    <a:gd name="connsiteX7" fmla="*/ 0 w 1587315"/>
                    <a:gd name="connsiteY7" fmla="*/ 1392852 h 1800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87315" h="1800935">
                      <a:moveTo>
                        <a:pt x="742383" y="0"/>
                      </a:moveTo>
                      <a:lnTo>
                        <a:pt x="882507" y="114585"/>
                      </a:lnTo>
                      <a:cubicBezTo>
                        <a:pt x="1129507" y="333757"/>
                        <a:pt x="1340764" y="592320"/>
                        <a:pt x="1506429" y="880426"/>
                      </a:cubicBezTo>
                      <a:lnTo>
                        <a:pt x="1587315" y="1033748"/>
                      </a:lnTo>
                      <a:lnTo>
                        <a:pt x="258508" y="1800935"/>
                      </a:lnTo>
                      <a:lnTo>
                        <a:pt x="239959" y="1756310"/>
                      </a:lnTo>
                      <a:cubicBezTo>
                        <a:pt x="184985" y="1638568"/>
                        <a:pt x="115449" y="1528991"/>
                        <a:pt x="33666" y="1429894"/>
                      </a:cubicBezTo>
                      <a:lnTo>
                        <a:pt x="0" y="1392852"/>
                      </a:lnTo>
                      <a:close/>
                    </a:path>
                  </a:pathLst>
                </a:custGeom>
                <a:ln w="19050">
                  <a:solidFill>
                    <a:schemeClr val="accent1"/>
                  </a:solidFill>
                </a:ln>
              </p:spPr>
            </p:pic>
          </p:grpSp>
        </p:grpSp>
      </p:grpSp>
      <p:sp>
        <p:nvSpPr>
          <p:cNvPr id="12" name="Content Placeholder 42">
            <a:extLst>
              <a:ext uri="{FF2B5EF4-FFF2-40B4-BE49-F238E27FC236}">
                <a16:creationId xmlns:a16="http://schemas.microsoft.com/office/drawing/2014/main" id="{EFCED802-EF78-7140-BEC7-F0ACF674893E}"/>
              </a:ext>
            </a:extLst>
          </p:cNvPr>
          <p:cNvSpPr txBox="1">
            <a:spLocks/>
          </p:cNvSpPr>
          <p:nvPr/>
        </p:nvSpPr>
        <p:spPr>
          <a:xfrm>
            <a:off x="3589960" y="1199984"/>
            <a:ext cx="7831414" cy="428363"/>
          </a:xfrm>
          <a:prstGeom prst="rect">
            <a:avLst/>
          </a:prstGeom>
        </p:spPr>
        <p:txBody>
          <a:bodyPr/>
          <a:lstStyle>
            <a:lvl1pPr marL="0" indent="0" algn="l" defTabSz="685800" rtl="0" eaLnBrk="1" latinLnBrk="0" hangingPunct="1">
              <a:lnSpc>
                <a:spcPct val="100000"/>
              </a:lnSpc>
              <a:spcBef>
                <a:spcPts val="1000"/>
              </a:spcBef>
              <a:buFont typeface="Arial"/>
              <a:buNone/>
              <a:defRPr sz="1400" b="0" kern="1200" cap="none" baseline="0">
                <a:solidFill>
                  <a:schemeClr val="accent1"/>
                </a:solidFill>
                <a:latin typeface="+mn-lt"/>
                <a:ea typeface="+mn-ea"/>
                <a:cs typeface="+mn-cs"/>
              </a:defRPr>
            </a:lvl1pPr>
            <a:lvl2pPr marL="0" indent="0" algn="l" defTabSz="685800" rtl="0" eaLnBrk="1" latinLnBrk="0" hangingPunct="1">
              <a:lnSpc>
                <a:spcPct val="100000"/>
              </a:lnSpc>
              <a:spcBef>
                <a:spcPts val="1000"/>
              </a:spcBef>
              <a:buClr>
                <a:schemeClr val="tx2"/>
              </a:buClr>
              <a:buFont typeface="Wingdings" charset="2"/>
              <a:buNone/>
              <a:tabLst/>
              <a:defRPr sz="1600" kern="1200">
                <a:solidFill>
                  <a:schemeClr val="accent1"/>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accent1"/>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nSpc>
                <a:spcPct val="150000"/>
              </a:lnSpc>
            </a:pPr>
            <a:r>
              <a:rPr lang="en-US" dirty="0">
                <a:solidFill>
                  <a:schemeClr val="tx2"/>
                </a:solidFill>
              </a:rPr>
              <a:t>Transportation Amendment Signed – Reduces transportation cost </a:t>
            </a:r>
          </a:p>
        </p:txBody>
      </p:sp>
      <p:sp>
        <p:nvSpPr>
          <p:cNvPr id="13" name="Content Placeholder 42">
            <a:extLst>
              <a:ext uri="{FF2B5EF4-FFF2-40B4-BE49-F238E27FC236}">
                <a16:creationId xmlns:a16="http://schemas.microsoft.com/office/drawing/2014/main" id="{4E8311A9-8FFF-E93D-1FA6-A459CC06EA37}"/>
              </a:ext>
            </a:extLst>
          </p:cNvPr>
          <p:cNvSpPr txBox="1">
            <a:spLocks/>
          </p:cNvSpPr>
          <p:nvPr/>
        </p:nvSpPr>
        <p:spPr>
          <a:xfrm>
            <a:off x="3592221" y="2941090"/>
            <a:ext cx="7811900" cy="428363"/>
          </a:xfrm>
          <a:prstGeom prst="rect">
            <a:avLst/>
          </a:prstGeom>
        </p:spPr>
        <p:txBody>
          <a:bodyPr/>
          <a:lstStyle>
            <a:lvl1pPr marL="0" indent="0" algn="l" defTabSz="685800" rtl="0" eaLnBrk="1" latinLnBrk="0" hangingPunct="1">
              <a:lnSpc>
                <a:spcPct val="100000"/>
              </a:lnSpc>
              <a:spcBef>
                <a:spcPts val="1000"/>
              </a:spcBef>
              <a:buFont typeface="Arial"/>
              <a:buNone/>
              <a:defRPr sz="1400" b="0" kern="1200" cap="none" baseline="0">
                <a:solidFill>
                  <a:schemeClr val="accent1"/>
                </a:solidFill>
                <a:latin typeface="+mn-lt"/>
                <a:ea typeface="+mn-ea"/>
                <a:cs typeface="+mn-cs"/>
              </a:defRPr>
            </a:lvl1pPr>
            <a:lvl2pPr marL="0" indent="0" algn="l" defTabSz="685800" rtl="0" eaLnBrk="1" latinLnBrk="0" hangingPunct="1">
              <a:lnSpc>
                <a:spcPct val="100000"/>
              </a:lnSpc>
              <a:spcBef>
                <a:spcPts val="1000"/>
              </a:spcBef>
              <a:buClr>
                <a:schemeClr val="tx2"/>
              </a:buClr>
              <a:buFont typeface="Wingdings" charset="2"/>
              <a:buNone/>
              <a:tabLst/>
              <a:defRPr sz="1600" kern="1200">
                <a:solidFill>
                  <a:schemeClr val="accent1"/>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accent1"/>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nSpc>
                <a:spcPct val="150000"/>
              </a:lnSpc>
            </a:pPr>
            <a:r>
              <a:rPr lang="en-US" dirty="0">
                <a:solidFill>
                  <a:schemeClr val="tx2"/>
                </a:solidFill>
              </a:rPr>
              <a:t>Transportation Management services started 1/16</a:t>
            </a:r>
          </a:p>
        </p:txBody>
      </p:sp>
      <p:sp>
        <p:nvSpPr>
          <p:cNvPr id="14" name="Content Placeholder 42">
            <a:extLst>
              <a:ext uri="{FF2B5EF4-FFF2-40B4-BE49-F238E27FC236}">
                <a16:creationId xmlns:a16="http://schemas.microsoft.com/office/drawing/2014/main" id="{9FA65F52-E4A1-3A52-2B16-53F72E2AD203}"/>
              </a:ext>
            </a:extLst>
          </p:cNvPr>
          <p:cNvSpPr txBox="1">
            <a:spLocks/>
          </p:cNvSpPr>
          <p:nvPr/>
        </p:nvSpPr>
        <p:spPr>
          <a:xfrm>
            <a:off x="3590300" y="2065829"/>
            <a:ext cx="7796568" cy="428363"/>
          </a:xfrm>
          <a:prstGeom prst="rect">
            <a:avLst/>
          </a:prstGeom>
        </p:spPr>
        <p:txBody>
          <a:bodyPr/>
          <a:lstStyle>
            <a:lvl1pPr marL="0" indent="0" algn="l" defTabSz="685800" rtl="0" eaLnBrk="1" latinLnBrk="0" hangingPunct="1">
              <a:lnSpc>
                <a:spcPct val="100000"/>
              </a:lnSpc>
              <a:spcBef>
                <a:spcPts val="1000"/>
              </a:spcBef>
              <a:buFont typeface="Arial"/>
              <a:buNone/>
              <a:defRPr sz="1400" b="0" kern="1200" cap="none" baseline="0">
                <a:solidFill>
                  <a:schemeClr val="accent1"/>
                </a:solidFill>
                <a:latin typeface="+mn-lt"/>
                <a:ea typeface="+mn-ea"/>
                <a:cs typeface="+mn-cs"/>
              </a:defRPr>
            </a:lvl1pPr>
            <a:lvl2pPr marL="0" indent="0" algn="l" defTabSz="685800" rtl="0" eaLnBrk="1" latinLnBrk="0" hangingPunct="1">
              <a:lnSpc>
                <a:spcPct val="100000"/>
              </a:lnSpc>
              <a:spcBef>
                <a:spcPts val="1000"/>
              </a:spcBef>
              <a:buClr>
                <a:schemeClr val="tx2"/>
              </a:buClr>
              <a:buFont typeface="Wingdings" charset="2"/>
              <a:buNone/>
              <a:tabLst/>
              <a:defRPr sz="1600" kern="1200">
                <a:solidFill>
                  <a:schemeClr val="accent1"/>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accent1"/>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nSpc>
                <a:spcPct val="150000"/>
              </a:lnSpc>
            </a:pPr>
            <a:r>
              <a:rPr lang="en-US" dirty="0">
                <a:solidFill>
                  <a:schemeClr val="tx2"/>
                </a:solidFill>
              </a:rPr>
              <a:t>Successful CVS Tour </a:t>
            </a:r>
          </a:p>
        </p:txBody>
      </p:sp>
      <p:sp>
        <p:nvSpPr>
          <p:cNvPr id="15" name="Flowchart: Connector 14">
            <a:extLst>
              <a:ext uri="{FF2B5EF4-FFF2-40B4-BE49-F238E27FC236}">
                <a16:creationId xmlns:a16="http://schemas.microsoft.com/office/drawing/2014/main" id="{249F2B5C-475E-061E-DF71-DC48A4B2D73A}"/>
              </a:ext>
            </a:extLst>
          </p:cNvPr>
          <p:cNvSpPr/>
          <p:nvPr/>
        </p:nvSpPr>
        <p:spPr>
          <a:xfrm>
            <a:off x="2789301" y="1192490"/>
            <a:ext cx="457200" cy="457200"/>
          </a:xfrm>
          <a:prstGeom prst="flowChartConnector">
            <a:avLst/>
          </a:prstGeom>
          <a:solidFill>
            <a:schemeClr val="accent2"/>
          </a:solidFill>
          <a:ln>
            <a:solidFill>
              <a:schemeClr val="accent1"/>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1</a:t>
            </a:r>
          </a:p>
        </p:txBody>
      </p:sp>
      <p:sp>
        <p:nvSpPr>
          <p:cNvPr id="16" name="Flowchart: Connector 15">
            <a:extLst>
              <a:ext uri="{FF2B5EF4-FFF2-40B4-BE49-F238E27FC236}">
                <a16:creationId xmlns:a16="http://schemas.microsoft.com/office/drawing/2014/main" id="{1960159E-F8E6-37BF-E845-557E13421C18}"/>
              </a:ext>
            </a:extLst>
          </p:cNvPr>
          <p:cNvSpPr/>
          <p:nvPr/>
        </p:nvSpPr>
        <p:spPr>
          <a:xfrm>
            <a:off x="2789301" y="2047588"/>
            <a:ext cx="457200" cy="457200"/>
          </a:xfrm>
          <a:prstGeom prst="flowChartConnector">
            <a:avLst/>
          </a:prstGeom>
          <a:solidFill>
            <a:schemeClr val="accent2"/>
          </a:solidFill>
          <a:ln>
            <a:solidFill>
              <a:schemeClr val="accent1"/>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2</a:t>
            </a:r>
          </a:p>
        </p:txBody>
      </p:sp>
      <p:sp>
        <p:nvSpPr>
          <p:cNvPr id="17" name="Flowchart: Connector 16">
            <a:extLst>
              <a:ext uri="{FF2B5EF4-FFF2-40B4-BE49-F238E27FC236}">
                <a16:creationId xmlns:a16="http://schemas.microsoft.com/office/drawing/2014/main" id="{7F126C99-E802-9D62-7BAC-311864EC67F6}"/>
              </a:ext>
            </a:extLst>
          </p:cNvPr>
          <p:cNvSpPr/>
          <p:nvPr/>
        </p:nvSpPr>
        <p:spPr>
          <a:xfrm>
            <a:off x="2789301" y="2940784"/>
            <a:ext cx="457200" cy="457200"/>
          </a:xfrm>
          <a:prstGeom prst="flowChartConnector">
            <a:avLst/>
          </a:prstGeom>
          <a:solidFill>
            <a:schemeClr val="accent2"/>
          </a:solidFill>
          <a:ln>
            <a:solidFill>
              <a:schemeClr val="accent1"/>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3</a:t>
            </a:r>
          </a:p>
        </p:txBody>
      </p:sp>
      <p:sp>
        <p:nvSpPr>
          <p:cNvPr id="18" name="Flowchart: Connector 17">
            <a:extLst>
              <a:ext uri="{FF2B5EF4-FFF2-40B4-BE49-F238E27FC236}">
                <a16:creationId xmlns:a16="http://schemas.microsoft.com/office/drawing/2014/main" id="{5F5B037A-9F9A-45F1-B236-832428B9FBB2}"/>
              </a:ext>
            </a:extLst>
          </p:cNvPr>
          <p:cNvSpPr/>
          <p:nvPr/>
        </p:nvSpPr>
        <p:spPr>
          <a:xfrm>
            <a:off x="2789301" y="3853930"/>
            <a:ext cx="457200" cy="457200"/>
          </a:xfrm>
          <a:prstGeom prst="flowChartConnector">
            <a:avLst/>
          </a:prstGeom>
          <a:solidFill>
            <a:schemeClr val="accent2"/>
          </a:solidFill>
          <a:ln>
            <a:solidFill>
              <a:schemeClr val="accent1"/>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4</a:t>
            </a:r>
          </a:p>
        </p:txBody>
      </p:sp>
      <p:sp>
        <p:nvSpPr>
          <p:cNvPr id="19" name="Content Placeholder 42">
            <a:extLst>
              <a:ext uri="{FF2B5EF4-FFF2-40B4-BE49-F238E27FC236}">
                <a16:creationId xmlns:a16="http://schemas.microsoft.com/office/drawing/2014/main" id="{EA1382ED-9CAC-51CD-B8E0-2439C6A9E961}"/>
              </a:ext>
            </a:extLst>
          </p:cNvPr>
          <p:cNvSpPr txBox="1">
            <a:spLocks/>
          </p:cNvSpPr>
          <p:nvPr/>
        </p:nvSpPr>
        <p:spPr>
          <a:xfrm>
            <a:off x="3592220" y="3882811"/>
            <a:ext cx="7665251" cy="428363"/>
          </a:xfrm>
          <a:prstGeom prst="rect">
            <a:avLst/>
          </a:prstGeom>
        </p:spPr>
        <p:txBody>
          <a:bodyPr/>
          <a:lstStyle>
            <a:lvl1pPr marL="0" indent="0" algn="l" defTabSz="685800" rtl="0" eaLnBrk="1" latinLnBrk="0" hangingPunct="1">
              <a:lnSpc>
                <a:spcPct val="100000"/>
              </a:lnSpc>
              <a:spcBef>
                <a:spcPts val="1000"/>
              </a:spcBef>
              <a:buFont typeface="Arial"/>
              <a:buNone/>
              <a:defRPr sz="1400" b="0" kern="1200" cap="none" baseline="0">
                <a:solidFill>
                  <a:schemeClr val="accent1"/>
                </a:solidFill>
                <a:latin typeface="+mn-lt"/>
                <a:ea typeface="+mn-ea"/>
                <a:cs typeface="+mn-cs"/>
              </a:defRPr>
            </a:lvl1pPr>
            <a:lvl2pPr marL="0" indent="0" algn="l" defTabSz="685800" rtl="0" eaLnBrk="1" latinLnBrk="0" hangingPunct="1">
              <a:lnSpc>
                <a:spcPct val="100000"/>
              </a:lnSpc>
              <a:spcBef>
                <a:spcPts val="1000"/>
              </a:spcBef>
              <a:buClr>
                <a:schemeClr val="tx2"/>
              </a:buClr>
              <a:buFont typeface="Wingdings" charset="2"/>
              <a:buNone/>
              <a:tabLst/>
              <a:defRPr sz="1600" kern="1200">
                <a:solidFill>
                  <a:schemeClr val="accent1"/>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accent1"/>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nSpc>
                <a:spcPct val="150000"/>
              </a:lnSpc>
            </a:pPr>
            <a:r>
              <a:rPr lang="en-US" dirty="0">
                <a:solidFill>
                  <a:schemeClr val="tx2"/>
                </a:solidFill>
              </a:rPr>
              <a:t>Calgary UPS Healthcare Logistics and Distribution operations opened 1/25</a:t>
            </a:r>
          </a:p>
        </p:txBody>
      </p:sp>
      <p:sp>
        <p:nvSpPr>
          <p:cNvPr id="20" name="Rectangle 19">
            <a:extLst>
              <a:ext uri="{FF2B5EF4-FFF2-40B4-BE49-F238E27FC236}">
                <a16:creationId xmlns:a16="http://schemas.microsoft.com/office/drawing/2014/main" id="{286823C1-49FA-4E20-16B3-52761CDC1893}"/>
              </a:ext>
            </a:extLst>
          </p:cNvPr>
          <p:cNvSpPr/>
          <p:nvPr/>
        </p:nvSpPr>
        <p:spPr>
          <a:xfrm>
            <a:off x="9126747" y="232913"/>
            <a:ext cx="2234241"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slide</a:t>
            </a:r>
          </a:p>
          <a:p>
            <a:pPr algn="ctr"/>
            <a:r>
              <a:rPr lang="en-US" sz="1400" dirty="0">
                <a:solidFill>
                  <a:srgbClr val="C00000"/>
                </a:solidFill>
              </a:rPr>
              <a:t>Example text provided</a:t>
            </a:r>
          </a:p>
        </p:txBody>
      </p:sp>
      <p:sp>
        <p:nvSpPr>
          <p:cNvPr id="4" name="Content Placeholder 42">
            <a:extLst>
              <a:ext uri="{FF2B5EF4-FFF2-40B4-BE49-F238E27FC236}">
                <a16:creationId xmlns:a16="http://schemas.microsoft.com/office/drawing/2014/main" id="{785F0552-2EE5-77E4-0F22-5AFEFFC213C3}"/>
              </a:ext>
            </a:extLst>
          </p:cNvPr>
          <p:cNvSpPr txBox="1">
            <a:spLocks/>
          </p:cNvSpPr>
          <p:nvPr/>
        </p:nvSpPr>
        <p:spPr>
          <a:xfrm>
            <a:off x="3597972" y="4680750"/>
            <a:ext cx="7811900" cy="428363"/>
          </a:xfrm>
          <a:prstGeom prst="rect">
            <a:avLst/>
          </a:prstGeom>
        </p:spPr>
        <p:txBody>
          <a:bodyPr/>
          <a:lstStyle>
            <a:lvl1pPr marL="0" indent="0" algn="l" defTabSz="685800" rtl="0" eaLnBrk="1" latinLnBrk="0" hangingPunct="1">
              <a:lnSpc>
                <a:spcPct val="100000"/>
              </a:lnSpc>
              <a:spcBef>
                <a:spcPts val="1000"/>
              </a:spcBef>
              <a:buFont typeface="Arial"/>
              <a:buNone/>
              <a:defRPr sz="1400" b="0" kern="1200" cap="none" baseline="0">
                <a:solidFill>
                  <a:schemeClr val="accent1"/>
                </a:solidFill>
                <a:latin typeface="+mn-lt"/>
                <a:ea typeface="+mn-ea"/>
                <a:cs typeface="+mn-cs"/>
              </a:defRPr>
            </a:lvl1pPr>
            <a:lvl2pPr marL="0" indent="0" algn="l" defTabSz="685800" rtl="0" eaLnBrk="1" latinLnBrk="0" hangingPunct="1">
              <a:lnSpc>
                <a:spcPct val="100000"/>
              </a:lnSpc>
              <a:spcBef>
                <a:spcPts val="1000"/>
              </a:spcBef>
              <a:buClr>
                <a:schemeClr val="tx2"/>
              </a:buClr>
              <a:buFont typeface="Wingdings" charset="2"/>
              <a:buNone/>
              <a:tabLst/>
              <a:defRPr sz="1600" kern="1200">
                <a:solidFill>
                  <a:schemeClr val="accent1"/>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accent1"/>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nSpc>
                <a:spcPct val="150000"/>
              </a:lnSpc>
            </a:pPr>
            <a:r>
              <a:rPr lang="en-US" dirty="0">
                <a:solidFill>
                  <a:schemeClr val="tx2"/>
                </a:solidFill>
              </a:rPr>
              <a:t>Details</a:t>
            </a:r>
          </a:p>
        </p:txBody>
      </p:sp>
      <p:sp>
        <p:nvSpPr>
          <p:cNvPr id="21" name="Flowchart: Connector 20">
            <a:extLst>
              <a:ext uri="{FF2B5EF4-FFF2-40B4-BE49-F238E27FC236}">
                <a16:creationId xmlns:a16="http://schemas.microsoft.com/office/drawing/2014/main" id="{611B1F68-04DD-201E-5ECE-D5A2E2B2EC67}"/>
              </a:ext>
            </a:extLst>
          </p:cNvPr>
          <p:cNvSpPr/>
          <p:nvPr/>
        </p:nvSpPr>
        <p:spPr>
          <a:xfrm>
            <a:off x="2795052" y="4680444"/>
            <a:ext cx="457200" cy="457200"/>
          </a:xfrm>
          <a:prstGeom prst="flowChartConnector">
            <a:avLst/>
          </a:prstGeom>
          <a:solidFill>
            <a:schemeClr val="accent2"/>
          </a:solidFill>
          <a:ln>
            <a:solidFill>
              <a:schemeClr val="accent1"/>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5</a:t>
            </a:r>
          </a:p>
        </p:txBody>
      </p:sp>
      <p:sp>
        <p:nvSpPr>
          <p:cNvPr id="22" name="Flowchart: Connector 21">
            <a:extLst>
              <a:ext uri="{FF2B5EF4-FFF2-40B4-BE49-F238E27FC236}">
                <a16:creationId xmlns:a16="http://schemas.microsoft.com/office/drawing/2014/main" id="{04B9F50C-26BE-ECA5-BDE0-BC108F4ACA48}"/>
              </a:ext>
            </a:extLst>
          </p:cNvPr>
          <p:cNvSpPr/>
          <p:nvPr/>
        </p:nvSpPr>
        <p:spPr>
          <a:xfrm>
            <a:off x="2795052" y="5593590"/>
            <a:ext cx="457200" cy="457200"/>
          </a:xfrm>
          <a:prstGeom prst="flowChartConnector">
            <a:avLst/>
          </a:prstGeom>
          <a:solidFill>
            <a:schemeClr val="accent2"/>
          </a:solidFill>
          <a:ln>
            <a:solidFill>
              <a:schemeClr val="accent1"/>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6</a:t>
            </a:r>
          </a:p>
        </p:txBody>
      </p:sp>
      <p:sp>
        <p:nvSpPr>
          <p:cNvPr id="23" name="Content Placeholder 42">
            <a:extLst>
              <a:ext uri="{FF2B5EF4-FFF2-40B4-BE49-F238E27FC236}">
                <a16:creationId xmlns:a16="http://schemas.microsoft.com/office/drawing/2014/main" id="{314235D7-F84B-59E1-B733-AA93D64B6148}"/>
              </a:ext>
            </a:extLst>
          </p:cNvPr>
          <p:cNvSpPr txBox="1">
            <a:spLocks/>
          </p:cNvSpPr>
          <p:nvPr/>
        </p:nvSpPr>
        <p:spPr>
          <a:xfrm>
            <a:off x="3597971" y="5622471"/>
            <a:ext cx="7665251" cy="428363"/>
          </a:xfrm>
          <a:prstGeom prst="rect">
            <a:avLst/>
          </a:prstGeom>
        </p:spPr>
        <p:txBody>
          <a:bodyPr/>
          <a:lstStyle>
            <a:lvl1pPr marL="0" indent="0" algn="l" defTabSz="685800" rtl="0" eaLnBrk="1" latinLnBrk="0" hangingPunct="1">
              <a:lnSpc>
                <a:spcPct val="100000"/>
              </a:lnSpc>
              <a:spcBef>
                <a:spcPts val="1000"/>
              </a:spcBef>
              <a:buFont typeface="Arial"/>
              <a:buNone/>
              <a:defRPr sz="1400" b="0" kern="1200" cap="none" baseline="0">
                <a:solidFill>
                  <a:schemeClr val="accent1"/>
                </a:solidFill>
                <a:latin typeface="+mn-lt"/>
                <a:ea typeface="+mn-ea"/>
                <a:cs typeface="+mn-cs"/>
              </a:defRPr>
            </a:lvl1pPr>
            <a:lvl2pPr marL="0" indent="0" algn="l" defTabSz="685800" rtl="0" eaLnBrk="1" latinLnBrk="0" hangingPunct="1">
              <a:lnSpc>
                <a:spcPct val="100000"/>
              </a:lnSpc>
              <a:spcBef>
                <a:spcPts val="1000"/>
              </a:spcBef>
              <a:buClr>
                <a:schemeClr val="tx2"/>
              </a:buClr>
              <a:buFont typeface="Wingdings" charset="2"/>
              <a:buNone/>
              <a:tabLst/>
              <a:defRPr sz="1600" kern="1200">
                <a:solidFill>
                  <a:schemeClr val="accent1"/>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accent1"/>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lnSpc>
                <a:spcPct val="150000"/>
              </a:lnSpc>
            </a:pPr>
            <a:r>
              <a:rPr lang="en-US" dirty="0">
                <a:solidFill>
                  <a:schemeClr val="tx2"/>
                </a:solidFill>
              </a:rPr>
              <a:t>Details</a:t>
            </a:r>
          </a:p>
        </p:txBody>
      </p:sp>
    </p:spTree>
    <p:extLst>
      <p:ext uri="{BB962C8B-B14F-4D97-AF65-F5344CB8AC3E}">
        <p14:creationId xmlns:p14="http://schemas.microsoft.com/office/powerpoint/2010/main" val="3849009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2E4229-CD62-61A7-1515-DAE15F751F8D}"/>
              </a:ext>
            </a:extLst>
          </p:cNvPr>
          <p:cNvSpPr>
            <a:spLocks noGrp="1"/>
          </p:cNvSpPr>
          <p:nvPr>
            <p:ph type="sldNum" sz="quarter" idx="12"/>
          </p:nvPr>
        </p:nvSpPr>
        <p:spPr/>
        <p:txBody>
          <a:bodyPr/>
          <a:lstStyle/>
          <a:p>
            <a:pPr algn="r"/>
            <a:fld id="{4FA92F45-BA5D-4C7A-ACC7-D44B34072B97}" type="slidenum">
              <a:rPr lang="en-IN" smtClean="0"/>
              <a:pPr algn="r"/>
              <a:t>6</a:t>
            </a:fld>
            <a:endParaRPr lang="en-IN" dirty="0"/>
          </a:p>
        </p:txBody>
      </p:sp>
      <p:sp>
        <p:nvSpPr>
          <p:cNvPr id="3" name="Title 2">
            <a:extLst>
              <a:ext uri="{FF2B5EF4-FFF2-40B4-BE49-F238E27FC236}">
                <a16:creationId xmlns:a16="http://schemas.microsoft.com/office/drawing/2014/main" id="{5E25CC4E-A69A-58E0-248E-FAC129704BAA}"/>
              </a:ext>
            </a:extLst>
          </p:cNvPr>
          <p:cNvSpPr>
            <a:spLocks noGrp="1"/>
          </p:cNvSpPr>
          <p:nvPr>
            <p:ph type="title"/>
          </p:nvPr>
        </p:nvSpPr>
        <p:spPr/>
        <p:txBody>
          <a:bodyPr/>
          <a:lstStyle/>
          <a:p>
            <a:r>
              <a:rPr lang="en-US" dirty="0">
                <a:highlight>
                  <a:srgbClr val="FF00FF"/>
                </a:highlight>
              </a:rPr>
              <a:t>[CUSTOMER NAME]</a:t>
            </a:r>
            <a:r>
              <a:rPr lang="en-US" dirty="0"/>
              <a:t> PRIORITIES</a:t>
            </a:r>
          </a:p>
        </p:txBody>
      </p:sp>
      <p:sp>
        <p:nvSpPr>
          <p:cNvPr id="4" name="Text Placeholder 3">
            <a:extLst>
              <a:ext uri="{FF2B5EF4-FFF2-40B4-BE49-F238E27FC236}">
                <a16:creationId xmlns:a16="http://schemas.microsoft.com/office/drawing/2014/main" id="{61C0350F-65BE-FEE2-0964-C10139B48BEB}"/>
              </a:ext>
            </a:extLst>
          </p:cNvPr>
          <p:cNvSpPr>
            <a:spLocks noGrp="1"/>
          </p:cNvSpPr>
          <p:nvPr>
            <p:ph type="body" sz="quarter" idx="13"/>
          </p:nvPr>
        </p:nvSpPr>
        <p:spPr/>
        <p:txBody>
          <a:bodyPr/>
          <a:lstStyle/>
          <a:p>
            <a:endParaRPr lang="en-US" dirty="0"/>
          </a:p>
        </p:txBody>
      </p:sp>
      <p:sp>
        <p:nvSpPr>
          <p:cNvPr id="5" name="Rectangle 4">
            <a:extLst>
              <a:ext uri="{FF2B5EF4-FFF2-40B4-BE49-F238E27FC236}">
                <a16:creationId xmlns:a16="http://schemas.microsoft.com/office/drawing/2014/main" id="{369EAD2A-B787-F9DD-A0E3-532FE43B4A7C}"/>
              </a:ext>
            </a:extLst>
          </p:cNvPr>
          <p:cNvSpPr/>
          <p:nvPr/>
        </p:nvSpPr>
        <p:spPr>
          <a:xfrm>
            <a:off x="7480571" y="232913"/>
            <a:ext cx="3880418"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b="1" dirty="0">
                <a:solidFill>
                  <a:schemeClr val="accent1"/>
                </a:solidFill>
              </a:rPr>
              <a:t>Format Option 1</a:t>
            </a:r>
          </a:p>
          <a:p>
            <a:pPr algn="ctr"/>
            <a:r>
              <a:rPr lang="en-US" sz="1400" dirty="0">
                <a:solidFill>
                  <a:schemeClr val="accent1"/>
                </a:solidFill>
              </a:rPr>
              <a:t>May include customer slides or their specific goals/challenges</a:t>
            </a:r>
          </a:p>
        </p:txBody>
      </p:sp>
      <p:sp>
        <p:nvSpPr>
          <p:cNvPr id="26" name="Freeform: Shape 25">
            <a:extLst>
              <a:ext uri="{FF2B5EF4-FFF2-40B4-BE49-F238E27FC236}">
                <a16:creationId xmlns:a16="http://schemas.microsoft.com/office/drawing/2014/main" id="{ACE8043B-CE20-228C-A908-7865605933E8}"/>
              </a:ext>
            </a:extLst>
          </p:cNvPr>
          <p:cNvSpPr/>
          <p:nvPr/>
        </p:nvSpPr>
        <p:spPr>
          <a:xfrm>
            <a:off x="0" y="1586303"/>
            <a:ext cx="12192000" cy="4662097"/>
          </a:xfrm>
          <a:custGeom>
            <a:avLst/>
            <a:gdLst>
              <a:gd name="connsiteX0" fmla="*/ 0 w 12192000"/>
              <a:gd name="connsiteY0" fmla="*/ 0 h 4662097"/>
              <a:gd name="connsiteX1" fmla="*/ 33677 w 12192000"/>
              <a:gd name="connsiteY1" fmla="*/ 27027 h 4662097"/>
              <a:gd name="connsiteX2" fmla="*/ 7096153 w 12192000"/>
              <a:gd name="connsiteY2" fmla="*/ 1397338 h 4662097"/>
              <a:gd name="connsiteX3" fmla="*/ 11838231 w 12192000"/>
              <a:gd name="connsiteY3" fmla="*/ 1381350 h 4662097"/>
              <a:gd name="connsiteX4" fmla="*/ 12192000 w 12192000"/>
              <a:gd name="connsiteY4" fmla="*/ 1345992 h 4662097"/>
              <a:gd name="connsiteX5" fmla="*/ 12192000 w 12192000"/>
              <a:gd name="connsiteY5" fmla="*/ 4662097 h 4662097"/>
              <a:gd name="connsiteX6" fmla="*/ 0 w 12192000"/>
              <a:gd name="connsiteY6" fmla="*/ 4662097 h 4662097"/>
              <a:gd name="connsiteX7" fmla="*/ 0 w 12192000"/>
              <a:gd name="connsiteY7" fmla="*/ 0 h 4662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662097">
                <a:moveTo>
                  <a:pt x="0" y="0"/>
                </a:moveTo>
                <a:lnTo>
                  <a:pt x="33677" y="27027"/>
                </a:lnTo>
                <a:cubicBezTo>
                  <a:pt x="913566" y="626269"/>
                  <a:pt x="3731609" y="1194482"/>
                  <a:pt x="7096153" y="1397338"/>
                </a:cubicBezTo>
                <a:cubicBezTo>
                  <a:pt x="8890579" y="1505528"/>
                  <a:pt x="10543164" y="1491870"/>
                  <a:pt x="11838231" y="1381350"/>
                </a:cubicBezTo>
                <a:lnTo>
                  <a:pt x="12192000" y="1345992"/>
                </a:lnTo>
                <a:lnTo>
                  <a:pt x="12192000" y="4662097"/>
                </a:lnTo>
                <a:lnTo>
                  <a:pt x="0" y="4662097"/>
                </a:lnTo>
                <a:lnTo>
                  <a:pt x="0" y="0"/>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6">
            <a:extLst>
              <a:ext uri="{FF2B5EF4-FFF2-40B4-BE49-F238E27FC236}">
                <a16:creationId xmlns:a16="http://schemas.microsoft.com/office/drawing/2014/main" id="{88E31071-A149-77DC-47F6-A2401AC3165D}"/>
              </a:ext>
            </a:extLst>
          </p:cNvPr>
          <p:cNvSpPr/>
          <p:nvPr/>
        </p:nvSpPr>
        <p:spPr>
          <a:xfrm rot="313757">
            <a:off x="-37477" y="2001867"/>
            <a:ext cx="12275208" cy="1125063"/>
          </a:xfrm>
          <a:custGeom>
            <a:avLst/>
            <a:gdLst>
              <a:gd name="connsiteX0" fmla="*/ 0 w 12275208"/>
              <a:gd name="connsiteY0" fmla="*/ 132505 h 1125063"/>
              <a:gd name="connsiteX1" fmla="*/ 4352 w 12275208"/>
              <a:gd name="connsiteY1" fmla="*/ 135108 h 1125063"/>
              <a:gd name="connsiteX2" fmla="*/ 7227815 w 12275208"/>
              <a:gd name="connsiteY2" fmla="*/ 633046 h 1125063"/>
              <a:gd name="connsiteX3" fmla="*/ 11737651 w 12275208"/>
              <a:gd name="connsiteY3" fmla="*/ 96535 h 1125063"/>
              <a:gd name="connsiteX4" fmla="*/ 12203454 w 12275208"/>
              <a:gd name="connsiteY4" fmla="*/ 0 h 1125063"/>
              <a:gd name="connsiteX5" fmla="*/ 12275208 w 12275208"/>
              <a:gd name="connsiteY5" fmla="*/ 784008 h 1125063"/>
              <a:gd name="connsiteX6" fmla="*/ 12026340 w 12275208"/>
              <a:gd name="connsiteY6" fmla="*/ 823712 h 1125063"/>
              <a:gd name="connsiteX7" fmla="*/ 7244140 w 12275208"/>
              <a:gd name="connsiteY7" fmla="*/ 1125063 h 1125063"/>
              <a:gd name="connsiteX8" fmla="*/ 37124 w 12275208"/>
              <a:gd name="connsiteY8" fmla="*/ 182277 h 1125063"/>
              <a:gd name="connsiteX9" fmla="*/ 1512 w 12275208"/>
              <a:gd name="connsiteY9" fmla="*/ 157326 h 112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75208" h="1125063">
                <a:moveTo>
                  <a:pt x="0" y="132505"/>
                </a:moveTo>
                <a:lnTo>
                  <a:pt x="4352" y="135108"/>
                </a:lnTo>
                <a:cubicBezTo>
                  <a:pt x="987173" y="614644"/>
                  <a:pt x="3860329" y="833971"/>
                  <a:pt x="7227815" y="633046"/>
                </a:cubicBezTo>
                <a:cubicBezTo>
                  <a:pt x="8927749" y="531619"/>
                  <a:pt x="10489620" y="338851"/>
                  <a:pt x="11737651" y="96535"/>
                </a:cubicBezTo>
                <a:lnTo>
                  <a:pt x="12203454" y="0"/>
                </a:lnTo>
                <a:lnTo>
                  <a:pt x="12275208" y="784008"/>
                </a:lnTo>
                <a:lnTo>
                  <a:pt x="12026340" y="823712"/>
                </a:lnTo>
                <a:cubicBezTo>
                  <a:pt x="10726771" y="1011972"/>
                  <a:pt x="9060695" y="1125063"/>
                  <a:pt x="7244140" y="1125063"/>
                </a:cubicBezTo>
                <a:cubicBezTo>
                  <a:pt x="3838101" y="1125063"/>
                  <a:pt x="961081" y="727478"/>
                  <a:pt x="37124" y="182277"/>
                </a:cubicBezTo>
                <a:lnTo>
                  <a:pt x="1512" y="1573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7E1F81A2-4854-C2B2-93D4-CAF409B9F419}"/>
              </a:ext>
            </a:extLst>
          </p:cNvPr>
          <p:cNvSpPr/>
          <p:nvPr/>
        </p:nvSpPr>
        <p:spPr>
          <a:xfrm rot="207019">
            <a:off x="-36117" y="1768026"/>
            <a:ext cx="12252402" cy="1153908"/>
          </a:xfrm>
          <a:custGeom>
            <a:avLst/>
            <a:gdLst>
              <a:gd name="connsiteX0" fmla="*/ 0 w 12252402"/>
              <a:gd name="connsiteY0" fmla="*/ 161350 h 1153908"/>
              <a:gd name="connsiteX1" fmla="*/ 4307 w 12252402"/>
              <a:gd name="connsiteY1" fmla="*/ 163953 h 1153908"/>
              <a:gd name="connsiteX2" fmla="*/ 7152727 w 12252402"/>
              <a:gd name="connsiteY2" fmla="*/ 661891 h 1153908"/>
              <a:gd name="connsiteX3" fmla="*/ 12125503 w 12252402"/>
              <a:gd name="connsiteY3" fmla="*/ 18619 h 1153908"/>
              <a:gd name="connsiteX4" fmla="*/ 12204411 w 12252402"/>
              <a:gd name="connsiteY4" fmla="*/ 0 h 1153908"/>
              <a:gd name="connsiteX5" fmla="*/ 12252402 w 12252402"/>
              <a:gd name="connsiteY5" fmla="*/ 795972 h 1153908"/>
              <a:gd name="connsiteX6" fmla="*/ 11901402 w 12252402"/>
              <a:gd name="connsiteY6" fmla="*/ 852557 h 1153908"/>
              <a:gd name="connsiteX7" fmla="*/ 7168882 w 12252402"/>
              <a:gd name="connsiteY7" fmla="*/ 1153908 h 1153908"/>
              <a:gd name="connsiteX8" fmla="*/ 36738 w 12252402"/>
              <a:gd name="connsiteY8" fmla="*/ 211122 h 1153908"/>
              <a:gd name="connsiteX9" fmla="*/ 1496 w 12252402"/>
              <a:gd name="connsiteY9" fmla="*/ 186171 h 1153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52402" h="1153908">
                <a:moveTo>
                  <a:pt x="0" y="161350"/>
                </a:moveTo>
                <a:lnTo>
                  <a:pt x="4307" y="163953"/>
                </a:lnTo>
                <a:cubicBezTo>
                  <a:pt x="976917" y="643489"/>
                  <a:pt x="3820225" y="862816"/>
                  <a:pt x="7152727" y="661891"/>
                </a:cubicBezTo>
                <a:cubicBezTo>
                  <a:pt x="9075325" y="545974"/>
                  <a:pt x="10819472" y="310756"/>
                  <a:pt x="12125503" y="18619"/>
                </a:cubicBezTo>
                <a:lnTo>
                  <a:pt x="12204411" y="0"/>
                </a:lnTo>
                <a:lnTo>
                  <a:pt x="12252402" y="795972"/>
                </a:lnTo>
                <a:lnTo>
                  <a:pt x="11901402" y="852557"/>
                </a:lnTo>
                <a:cubicBezTo>
                  <a:pt x="10615334" y="1040817"/>
                  <a:pt x="8966566" y="1153908"/>
                  <a:pt x="7168882" y="1153908"/>
                </a:cubicBezTo>
                <a:cubicBezTo>
                  <a:pt x="3798228" y="1153908"/>
                  <a:pt x="951096" y="756323"/>
                  <a:pt x="36738" y="211122"/>
                </a:cubicBezTo>
                <a:lnTo>
                  <a:pt x="1496" y="186171"/>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0" name="Group 29">
            <a:extLst>
              <a:ext uri="{FF2B5EF4-FFF2-40B4-BE49-F238E27FC236}">
                <a16:creationId xmlns:a16="http://schemas.microsoft.com/office/drawing/2014/main" id="{46A1E23B-5107-8E37-5286-E8EEB32D5421}"/>
              </a:ext>
            </a:extLst>
          </p:cNvPr>
          <p:cNvGrpSpPr/>
          <p:nvPr/>
        </p:nvGrpSpPr>
        <p:grpSpPr>
          <a:xfrm>
            <a:off x="871835" y="2688207"/>
            <a:ext cx="2883039" cy="1651568"/>
            <a:chOff x="589733" y="2688207"/>
            <a:chExt cx="2883039" cy="1651568"/>
          </a:xfrm>
        </p:grpSpPr>
        <p:sp>
          <p:nvSpPr>
            <p:cNvPr id="31" name="Oval 30">
              <a:extLst>
                <a:ext uri="{FF2B5EF4-FFF2-40B4-BE49-F238E27FC236}">
                  <a16:creationId xmlns:a16="http://schemas.microsoft.com/office/drawing/2014/main" id="{E3938908-3B35-B750-4FD1-BBD93D3BCC99}"/>
                </a:ext>
              </a:extLst>
            </p:cNvPr>
            <p:cNvSpPr/>
            <p:nvPr/>
          </p:nvSpPr>
          <p:spPr>
            <a:xfrm>
              <a:off x="1574052" y="2688207"/>
              <a:ext cx="914400" cy="914400"/>
            </a:xfrm>
            <a:prstGeom prst="ellipse">
              <a:avLst/>
            </a:prstGeom>
            <a:solidFill>
              <a:schemeClr val="bg1"/>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32" name="Google Shape;873;g2813fe57c0f_1_214">
              <a:extLst>
                <a:ext uri="{FF2B5EF4-FFF2-40B4-BE49-F238E27FC236}">
                  <a16:creationId xmlns:a16="http://schemas.microsoft.com/office/drawing/2014/main" id="{E9181D31-B837-C863-D7F4-ACF75B76E468}"/>
                </a:ext>
              </a:extLst>
            </p:cNvPr>
            <p:cNvSpPr txBox="1"/>
            <p:nvPr/>
          </p:nvSpPr>
          <p:spPr>
            <a:xfrm>
              <a:off x="1241590" y="3520901"/>
              <a:ext cx="1579324" cy="533100"/>
            </a:xfrm>
            <a:prstGeom prst="rect">
              <a:avLst/>
            </a:prstGeom>
            <a:noFill/>
            <a:ln>
              <a:noFill/>
            </a:ln>
          </p:spPr>
          <p:txBody>
            <a:bodyPr spcFirstLastPara="1" wrap="square" lIns="45700" tIns="91425" rIns="91425" bIns="91425" anchor="t" anchorCtr="0">
              <a:noAutofit/>
            </a:bodyPr>
            <a:lstStyle/>
            <a:p>
              <a:pPr marL="0" marR="0" lvl="1" indent="0" algn="ctr" defTabSz="914400" rtl="0" eaLnBrk="1" fontAlgn="auto" latinLnBrk="0" hangingPunct="1">
                <a:lnSpc>
                  <a:spcPct val="150000"/>
                </a:lnSpc>
                <a:spcBef>
                  <a:spcPts val="0"/>
                </a:spcBef>
                <a:spcAft>
                  <a:spcPts val="0"/>
                </a:spcAft>
                <a:buClr>
                  <a:srgbClr val="000000"/>
                </a:buClr>
                <a:buSzPts val="2000"/>
                <a:buFont typeface="Barlow"/>
                <a:buNone/>
                <a:tabLst/>
                <a:defRPr/>
              </a:pPr>
              <a:r>
                <a:rPr kumimoji="0" lang="en-US" sz="1600" b="1" i="0" u="none" strike="noStrike" kern="0" cap="none" spc="0" normalizeH="0" baseline="0" noProof="0" dirty="0">
                  <a:ln>
                    <a:noFill/>
                  </a:ln>
                  <a:solidFill>
                    <a:schemeClr val="accent1"/>
                  </a:solidFill>
                  <a:effectLst/>
                  <a:uLnTx/>
                  <a:uFillTx/>
                  <a:ea typeface="Barlow Medium"/>
                  <a:cs typeface="Barlow Medium"/>
                  <a:sym typeface="Barlow Medium"/>
                </a:rPr>
                <a:t>PRIORITY 1</a:t>
              </a:r>
            </a:p>
          </p:txBody>
        </p:sp>
        <p:sp>
          <p:nvSpPr>
            <p:cNvPr id="33" name="Google Shape;879;g2813fe57c0f_1_214">
              <a:extLst>
                <a:ext uri="{FF2B5EF4-FFF2-40B4-BE49-F238E27FC236}">
                  <a16:creationId xmlns:a16="http://schemas.microsoft.com/office/drawing/2014/main" id="{7097D0E0-58BF-3DAC-E8B6-C45F45365F65}"/>
                </a:ext>
              </a:extLst>
            </p:cNvPr>
            <p:cNvSpPr txBox="1"/>
            <p:nvPr/>
          </p:nvSpPr>
          <p:spPr>
            <a:xfrm>
              <a:off x="589733" y="3939696"/>
              <a:ext cx="2883039" cy="400079"/>
            </a:xfrm>
            <a:prstGeom prst="rect">
              <a:avLst/>
            </a:prstGeom>
            <a:noFill/>
            <a:ln>
              <a:noFill/>
            </a:ln>
          </p:spPr>
          <p:txBody>
            <a:bodyPr spcFirstLastPara="1" wrap="square" lIns="91440" tIns="91425" rIns="91425" bIns="91425" anchor="t" anchorCtr="0">
              <a:spAutoFit/>
            </a:bodyPr>
            <a:lstStyle/>
            <a:p>
              <a:pPr marL="0" marR="0" lvl="0" indent="0" algn="ctr" defTabSz="914400" rtl="0" eaLnBrk="1" fontAlgn="auto" latinLnBrk="0" hangingPunct="1">
                <a:spcBef>
                  <a:spcPts val="0"/>
                </a:spcBef>
                <a:spcAft>
                  <a:spcPts val="0"/>
                </a:spcAft>
                <a:buClr>
                  <a:srgbClr val="000000"/>
                </a:buClr>
                <a:buSzPts val="1100"/>
                <a:buFont typeface="Arial"/>
                <a:buNone/>
                <a:tabLst/>
                <a:defRPr/>
              </a:pPr>
              <a:r>
                <a:rPr lang="en-US" sz="1400" kern="0" dirty="0">
                  <a:solidFill>
                    <a:schemeClr val="accent1"/>
                  </a:solidFill>
                  <a:ea typeface="Arial"/>
                  <a:cs typeface="Arial"/>
                  <a:sym typeface="Barlow"/>
                </a:rPr>
                <a:t>Supporting text here</a:t>
              </a:r>
              <a:endParaRPr kumimoji="0" b="0" i="0" u="none" strike="noStrike" kern="0" cap="none" spc="0" normalizeH="0" baseline="0" noProof="0" dirty="0">
                <a:ln>
                  <a:noFill/>
                </a:ln>
                <a:solidFill>
                  <a:schemeClr val="accent1"/>
                </a:solidFill>
                <a:effectLst/>
                <a:uLnTx/>
                <a:uFillTx/>
                <a:ea typeface="Arial"/>
                <a:cs typeface="Arial"/>
                <a:sym typeface="Arial"/>
              </a:endParaRPr>
            </a:p>
          </p:txBody>
        </p:sp>
        <p:sp>
          <p:nvSpPr>
            <p:cNvPr id="34" name="Freeform 851">
              <a:extLst>
                <a:ext uri="{FF2B5EF4-FFF2-40B4-BE49-F238E27FC236}">
                  <a16:creationId xmlns:a16="http://schemas.microsoft.com/office/drawing/2014/main" id="{E5D8305B-A13A-9C16-0B2A-CBC4720BE3D6}"/>
                </a:ext>
              </a:extLst>
            </p:cNvPr>
            <p:cNvSpPr>
              <a:spLocks noChangeAspect="1" noEditPoints="1"/>
            </p:cNvSpPr>
            <p:nvPr/>
          </p:nvSpPr>
          <p:spPr bwMode="auto">
            <a:xfrm>
              <a:off x="1839862" y="2950501"/>
              <a:ext cx="382781" cy="388566"/>
            </a:xfrm>
            <a:custGeom>
              <a:avLst/>
              <a:gdLst>
                <a:gd name="T0" fmla="*/ 0 w 80"/>
                <a:gd name="T1" fmla="*/ 28 h 81"/>
                <a:gd name="T2" fmla="*/ 28 w 80"/>
                <a:gd name="T3" fmla="*/ 56 h 81"/>
                <a:gd name="T4" fmla="*/ 43 w 80"/>
                <a:gd name="T5" fmla="*/ 52 h 81"/>
                <a:gd name="T6" fmla="*/ 71 w 80"/>
                <a:gd name="T7" fmla="*/ 80 h 81"/>
                <a:gd name="T8" fmla="*/ 75 w 80"/>
                <a:gd name="T9" fmla="*/ 80 h 81"/>
                <a:gd name="T10" fmla="*/ 79 w 80"/>
                <a:gd name="T11" fmla="*/ 75 h 81"/>
                <a:gd name="T12" fmla="*/ 79 w 80"/>
                <a:gd name="T13" fmla="*/ 72 h 81"/>
                <a:gd name="T14" fmla="*/ 51 w 80"/>
                <a:gd name="T15" fmla="*/ 44 h 81"/>
                <a:gd name="T16" fmla="*/ 56 w 80"/>
                <a:gd name="T17" fmla="*/ 28 h 81"/>
                <a:gd name="T18" fmla="*/ 28 w 80"/>
                <a:gd name="T19" fmla="*/ 0 h 81"/>
                <a:gd name="T20" fmla="*/ 0 w 80"/>
                <a:gd name="T21" fmla="*/ 28 h 81"/>
                <a:gd name="T22" fmla="*/ 11 w 80"/>
                <a:gd name="T23" fmla="*/ 28 h 81"/>
                <a:gd name="T24" fmla="*/ 28 w 80"/>
                <a:gd name="T25" fmla="*/ 11 h 81"/>
                <a:gd name="T26" fmla="*/ 45 w 80"/>
                <a:gd name="T27" fmla="*/ 28 h 81"/>
                <a:gd name="T28" fmla="*/ 28 w 80"/>
                <a:gd name="T29" fmla="*/ 46 h 81"/>
                <a:gd name="T30" fmla="*/ 11 w 80"/>
                <a:gd name="T31" fmla="*/ 28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81">
                  <a:moveTo>
                    <a:pt x="0" y="28"/>
                  </a:moveTo>
                  <a:cubicBezTo>
                    <a:pt x="0" y="44"/>
                    <a:pt x="12" y="56"/>
                    <a:pt x="28" y="56"/>
                  </a:cubicBezTo>
                  <a:cubicBezTo>
                    <a:pt x="33" y="56"/>
                    <a:pt x="39" y="55"/>
                    <a:pt x="43" y="52"/>
                  </a:cubicBezTo>
                  <a:cubicBezTo>
                    <a:pt x="71" y="80"/>
                    <a:pt x="71" y="80"/>
                    <a:pt x="71" y="80"/>
                  </a:cubicBezTo>
                  <a:cubicBezTo>
                    <a:pt x="72" y="81"/>
                    <a:pt x="74" y="81"/>
                    <a:pt x="75" y="80"/>
                  </a:cubicBezTo>
                  <a:cubicBezTo>
                    <a:pt x="79" y="75"/>
                    <a:pt x="79" y="75"/>
                    <a:pt x="79" y="75"/>
                  </a:cubicBezTo>
                  <a:cubicBezTo>
                    <a:pt x="80" y="74"/>
                    <a:pt x="80" y="73"/>
                    <a:pt x="79" y="72"/>
                  </a:cubicBezTo>
                  <a:cubicBezTo>
                    <a:pt x="51" y="44"/>
                    <a:pt x="51" y="44"/>
                    <a:pt x="51" y="44"/>
                  </a:cubicBezTo>
                  <a:cubicBezTo>
                    <a:pt x="54" y="39"/>
                    <a:pt x="56" y="34"/>
                    <a:pt x="56" y="28"/>
                  </a:cubicBezTo>
                  <a:cubicBezTo>
                    <a:pt x="56" y="13"/>
                    <a:pt x="43" y="0"/>
                    <a:pt x="28" y="0"/>
                  </a:cubicBezTo>
                  <a:cubicBezTo>
                    <a:pt x="12" y="0"/>
                    <a:pt x="0" y="13"/>
                    <a:pt x="0" y="28"/>
                  </a:cubicBezTo>
                  <a:close/>
                  <a:moveTo>
                    <a:pt x="11" y="28"/>
                  </a:moveTo>
                  <a:cubicBezTo>
                    <a:pt x="11" y="19"/>
                    <a:pt x="18" y="11"/>
                    <a:pt x="28" y="11"/>
                  </a:cubicBezTo>
                  <a:cubicBezTo>
                    <a:pt x="37" y="11"/>
                    <a:pt x="45" y="19"/>
                    <a:pt x="45" y="28"/>
                  </a:cubicBezTo>
                  <a:cubicBezTo>
                    <a:pt x="45" y="38"/>
                    <a:pt x="37" y="46"/>
                    <a:pt x="28" y="46"/>
                  </a:cubicBezTo>
                  <a:cubicBezTo>
                    <a:pt x="18" y="46"/>
                    <a:pt x="11" y="38"/>
                    <a:pt x="11" y="28"/>
                  </a:cubicBezTo>
                  <a:close/>
                </a:path>
              </a:pathLst>
            </a:custGeom>
            <a:solidFill>
              <a:srgbClr val="58595B"/>
            </a:solidFill>
            <a:ln w="6350">
              <a:noFill/>
            </a:ln>
          </p:spPr>
          <p:txBody>
            <a:bodyPr vert="horz" wrap="square" lIns="91440" tIns="45720" rIns="91440" bIns="45720" numCol="1" anchor="t" anchorCtr="0" compatLnSpc="1">
              <a:prstTxWarp prst="textNoShape">
                <a:avLst/>
              </a:prstTxWarp>
            </a:bodyPr>
            <a:lstStyle/>
            <a:p>
              <a:pPr algn="ctr"/>
              <a:endParaRPr lang="en-US" dirty="0">
                <a:solidFill>
                  <a:schemeClr val="accent1"/>
                </a:solidFill>
              </a:endParaRPr>
            </a:p>
          </p:txBody>
        </p:sp>
      </p:grpSp>
      <p:grpSp>
        <p:nvGrpSpPr>
          <p:cNvPr id="35" name="Group 34">
            <a:extLst>
              <a:ext uri="{FF2B5EF4-FFF2-40B4-BE49-F238E27FC236}">
                <a16:creationId xmlns:a16="http://schemas.microsoft.com/office/drawing/2014/main" id="{97ADC83E-4CB5-473A-A361-A4E69629BD85}"/>
              </a:ext>
            </a:extLst>
          </p:cNvPr>
          <p:cNvGrpSpPr/>
          <p:nvPr/>
        </p:nvGrpSpPr>
        <p:grpSpPr>
          <a:xfrm>
            <a:off x="4888146" y="2688207"/>
            <a:ext cx="2441643" cy="1651568"/>
            <a:chOff x="4766553" y="2688207"/>
            <a:chExt cx="2441643" cy="1651568"/>
          </a:xfrm>
        </p:grpSpPr>
        <p:sp>
          <p:nvSpPr>
            <p:cNvPr id="36" name="Oval 35">
              <a:extLst>
                <a:ext uri="{FF2B5EF4-FFF2-40B4-BE49-F238E27FC236}">
                  <a16:creationId xmlns:a16="http://schemas.microsoft.com/office/drawing/2014/main" id="{3BF67D8C-F0B3-CE23-3BFE-00729CF42DD3}"/>
                </a:ext>
              </a:extLst>
            </p:cNvPr>
            <p:cNvSpPr/>
            <p:nvPr/>
          </p:nvSpPr>
          <p:spPr>
            <a:xfrm>
              <a:off x="5530174" y="2688207"/>
              <a:ext cx="914400" cy="914400"/>
            </a:xfrm>
            <a:prstGeom prst="ellipse">
              <a:avLst/>
            </a:prstGeom>
            <a:solidFill>
              <a:schemeClr val="bg1"/>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37" name="Google Shape;874;g2813fe57c0f_1_214">
              <a:extLst>
                <a:ext uri="{FF2B5EF4-FFF2-40B4-BE49-F238E27FC236}">
                  <a16:creationId xmlns:a16="http://schemas.microsoft.com/office/drawing/2014/main" id="{ECBDF1A3-A3F6-C217-6F9A-38F109A49EB0}"/>
                </a:ext>
              </a:extLst>
            </p:cNvPr>
            <p:cNvSpPr txBox="1"/>
            <p:nvPr/>
          </p:nvSpPr>
          <p:spPr>
            <a:xfrm>
              <a:off x="5047399" y="3520916"/>
              <a:ext cx="1879950" cy="533100"/>
            </a:xfrm>
            <a:prstGeom prst="rect">
              <a:avLst/>
            </a:prstGeom>
            <a:noFill/>
            <a:ln>
              <a:noFill/>
            </a:ln>
          </p:spPr>
          <p:txBody>
            <a:bodyPr spcFirstLastPara="1" wrap="square" lIns="45700" tIns="91425" rIns="91425" bIns="91425" anchor="t" anchorCtr="0">
              <a:noAutofit/>
            </a:bodyPr>
            <a:lstStyle/>
            <a:p>
              <a:pPr marL="0" lvl="1" algn="ctr">
                <a:lnSpc>
                  <a:spcPct val="150000"/>
                </a:lnSpc>
                <a:buClr>
                  <a:srgbClr val="000000"/>
                </a:buClr>
                <a:buSzPts val="2000"/>
                <a:defRPr/>
              </a:pPr>
              <a:r>
                <a:rPr lang="en-US" sz="1600" b="1" kern="0" dirty="0">
                  <a:solidFill>
                    <a:schemeClr val="accent1"/>
                  </a:solidFill>
                  <a:ea typeface="Barlow Medium"/>
                  <a:cs typeface="Barlow Medium"/>
                  <a:sym typeface="Barlow Medium"/>
                </a:rPr>
                <a:t>PRIORITY 2</a:t>
              </a:r>
            </a:p>
          </p:txBody>
        </p:sp>
        <p:sp>
          <p:nvSpPr>
            <p:cNvPr id="38" name="Google Shape;880;g2813fe57c0f_1_214">
              <a:extLst>
                <a:ext uri="{FF2B5EF4-FFF2-40B4-BE49-F238E27FC236}">
                  <a16:creationId xmlns:a16="http://schemas.microsoft.com/office/drawing/2014/main" id="{62203AED-56E5-5DF7-F00C-55295184CA3F}"/>
                </a:ext>
              </a:extLst>
            </p:cNvPr>
            <p:cNvSpPr txBox="1"/>
            <p:nvPr/>
          </p:nvSpPr>
          <p:spPr>
            <a:xfrm>
              <a:off x="4766553" y="3939696"/>
              <a:ext cx="2441643" cy="400079"/>
            </a:xfrm>
            <a:prstGeom prst="rect">
              <a:avLst/>
            </a:prstGeom>
            <a:noFill/>
            <a:ln>
              <a:noFill/>
            </a:ln>
          </p:spPr>
          <p:txBody>
            <a:bodyPr spcFirstLastPara="1" wrap="square" lIns="91440" tIns="91425" rIns="91425" bIns="91425" anchor="t" anchorCtr="0">
              <a:spAutoFit/>
            </a:bodyPr>
            <a:lstStyle/>
            <a:p>
              <a:pPr lvl="0" algn="ctr">
                <a:buClr>
                  <a:srgbClr val="000000"/>
                </a:buClr>
                <a:buSzPts val="1100"/>
                <a:defRPr/>
              </a:pPr>
              <a:r>
                <a:rPr lang="en-US" sz="1400" kern="0" dirty="0">
                  <a:solidFill>
                    <a:schemeClr val="accent1"/>
                  </a:solidFill>
                  <a:ea typeface="Arial"/>
                  <a:cs typeface="Arial"/>
                  <a:sym typeface="Barlow"/>
                </a:rPr>
                <a:t>Supporting text here</a:t>
              </a:r>
              <a:endParaRPr lang="en-US" sz="1400" kern="0" dirty="0">
                <a:solidFill>
                  <a:schemeClr val="accent1"/>
                </a:solidFill>
                <a:ea typeface="Arial"/>
                <a:cs typeface="Arial"/>
                <a:sym typeface="Arial"/>
              </a:endParaRPr>
            </a:p>
          </p:txBody>
        </p:sp>
        <p:sp>
          <p:nvSpPr>
            <p:cNvPr id="39" name="Freeform 803">
              <a:extLst>
                <a:ext uri="{FF2B5EF4-FFF2-40B4-BE49-F238E27FC236}">
                  <a16:creationId xmlns:a16="http://schemas.microsoft.com/office/drawing/2014/main" id="{4F041010-B7D6-062E-79B8-771CDF83D96F}"/>
                </a:ext>
              </a:extLst>
            </p:cNvPr>
            <p:cNvSpPr>
              <a:spLocks noChangeAspect="1" noEditPoints="1"/>
            </p:cNvSpPr>
            <p:nvPr/>
          </p:nvSpPr>
          <p:spPr bwMode="auto">
            <a:xfrm>
              <a:off x="5875588" y="2950501"/>
              <a:ext cx="223572" cy="388566"/>
            </a:xfrm>
            <a:custGeom>
              <a:avLst/>
              <a:gdLst>
                <a:gd name="T0" fmla="*/ 0 w 46"/>
                <a:gd name="T1" fmla="*/ 5 h 80"/>
                <a:gd name="T2" fmla="*/ 0 w 46"/>
                <a:gd name="T3" fmla="*/ 74 h 80"/>
                <a:gd name="T4" fmla="*/ 6 w 46"/>
                <a:gd name="T5" fmla="*/ 80 h 80"/>
                <a:gd name="T6" fmla="*/ 40 w 46"/>
                <a:gd name="T7" fmla="*/ 80 h 80"/>
                <a:gd name="T8" fmla="*/ 46 w 46"/>
                <a:gd name="T9" fmla="*/ 74 h 80"/>
                <a:gd name="T10" fmla="*/ 46 w 46"/>
                <a:gd name="T11" fmla="*/ 5 h 80"/>
                <a:gd name="T12" fmla="*/ 40 w 46"/>
                <a:gd name="T13" fmla="*/ 0 h 80"/>
                <a:gd name="T14" fmla="*/ 6 w 46"/>
                <a:gd name="T15" fmla="*/ 0 h 80"/>
                <a:gd name="T16" fmla="*/ 0 w 46"/>
                <a:gd name="T17" fmla="*/ 5 h 80"/>
                <a:gd name="T18" fmla="*/ 23 w 46"/>
                <a:gd name="T19" fmla="*/ 76 h 80"/>
                <a:gd name="T20" fmla="*/ 19 w 46"/>
                <a:gd name="T21" fmla="*/ 72 h 80"/>
                <a:gd name="T22" fmla="*/ 23 w 46"/>
                <a:gd name="T23" fmla="*/ 68 h 80"/>
                <a:gd name="T24" fmla="*/ 27 w 46"/>
                <a:gd name="T25" fmla="*/ 72 h 80"/>
                <a:gd name="T26" fmla="*/ 23 w 46"/>
                <a:gd name="T27" fmla="*/ 76 h 80"/>
                <a:gd name="T28" fmla="*/ 39 w 46"/>
                <a:gd name="T29" fmla="*/ 64 h 80"/>
                <a:gd name="T30" fmla="*/ 7 w 46"/>
                <a:gd name="T31" fmla="*/ 64 h 80"/>
                <a:gd name="T32" fmla="*/ 7 w 46"/>
                <a:gd name="T33" fmla="*/ 10 h 80"/>
                <a:gd name="T34" fmla="*/ 39 w 46"/>
                <a:gd name="T35" fmla="*/ 10 h 80"/>
                <a:gd name="T36" fmla="*/ 39 w 46"/>
                <a:gd name="T37"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80">
                  <a:moveTo>
                    <a:pt x="0" y="5"/>
                  </a:moveTo>
                  <a:cubicBezTo>
                    <a:pt x="0" y="74"/>
                    <a:pt x="0" y="74"/>
                    <a:pt x="0" y="74"/>
                  </a:cubicBezTo>
                  <a:cubicBezTo>
                    <a:pt x="0" y="77"/>
                    <a:pt x="3" y="80"/>
                    <a:pt x="6" y="80"/>
                  </a:cubicBezTo>
                  <a:cubicBezTo>
                    <a:pt x="40" y="80"/>
                    <a:pt x="40" y="80"/>
                    <a:pt x="40" y="80"/>
                  </a:cubicBezTo>
                  <a:cubicBezTo>
                    <a:pt x="43" y="80"/>
                    <a:pt x="46" y="77"/>
                    <a:pt x="46" y="74"/>
                  </a:cubicBezTo>
                  <a:cubicBezTo>
                    <a:pt x="46" y="5"/>
                    <a:pt x="46" y="5"/>
                    <a:pt x="46" y="5"/>
                  </a:cubicBezTo>
                  <a:cubicBezTo>
                    <a:pt x="46" y="2"/>
                    <a:pt x="43" y="0"/>
                    <a:pt x="40" y="0"/>
                  </a:cubicBezTo>
                  <a:cubicBezTo>
                    <a:pt x="6" y="0"/>
                    <a:pt x="6" y="0"/>
                    <a:pt x="6" y="0"/>
                  </a:cubicBezTo>
                  <a:cubicBezTo>
                    <a:pt x="3" y="0"/>
                    <a:pt x="0" y="2"/>
                    <a:pt x="0" y="5"/>
                  </a:cubicBezTo>
                  <a:close/>
                  <a:moveTo>
                    <a:pt x="23" y="76"/>
                  </a:moveTo>
                  <a:cubicBezTo>
                    <a:pt x="21" y="76"/>
                    <a:pt x="19" y="74"/>
                    <a:pt x="19" y="72"/>
                  </a:cubicBezTo>
                  <a:cubicBezTo>
                    <a:pt x="19" y="69"/>
                    <a:pt x="21" y="68"/>
                    <a:pt x="23" y="68"/>
                  </a:cubicBezTo>
                  <a:cubicBezTo>
                    <a:pt x="25" y="68"/>
                    <a:pt x="27" y="69"/>
                    <a:pt x="27" y="72"/>
                  </a:cubicBezTo>
                  <a:cubicBezTo>
                    <a:pt x="27" y="74"/>
                    <a:pt x="25" y="76"/>
                    <a:pt x="23" y="76"/>
                  </a:cubicBezTo>
                  <a:close/>
                  <a:moveTo>
                    <a:pt x="39" y="64"/>
                  </a:moveTo>
                  <a:cubicBezTo>
                    <a:pt x="7" y="64"/>
                    <a:pt x="7" y="64"/>
                    <a:pt x="7" y="64"/>
                  </a:cubicBezTo>
                  <a:cubicBezTo>
                    <a:pt x="7" y="10"/>
                    <a:pt x="7" y="10"/>
                    <a:pt x="7" y="10"/>
                  </a:cubicBezTo>
                  <a:cubicBezTo>
                    <a:pt x="39" y="10"/>
                    <a:pt x="39" y="10"/>
                    <a:pt x="39" y="10"/>
                  </a:cubicBezTo>
                  <a:lnTo>
                    <a:pt x="39" y="64"/>
                  </a:lnTo>
                  <a:close/>
                </a:path>
              </a:pathLst>
            </a:custGeom>
            <a:solidFill>
              <a:srgbClr val="58595B"/>
            </a:solidFill>
            <a:ln w="6350">
              <a:noFill/>
            </a:ln>
          </p:spPr>
          <p:txBody>
            <a:bodyPr vert="horz" wrap="square" lIns="91440" tIns="45720" rIns="91440" bIns="45720" numCol="1" anchor="t" anchorCtr="0" compatLnSpc="1">
              <a:prstTxWarp prst="textNoShape">
                <a:avLst/>
              </a:prstTxWarp>
            </a:bodyPr>
            <a:lstStyle/>
            <a:p>
              <a:pPr algn="ctr"/>
              <a:endParaRPr lang="en-US" dirty="0">
                <a:solidFill>
                  <a:schemeClr val="accent1"/>
                </a:solidFill>
              </a:endParaRPr>
            </a:p>
          </p:txBody>
        </p:sp>
      </p:grpSp>
      <p:grpSp>
        <p:nvGrpSpPr>
          <p:cNvPr id="45" name="Group 44">
            <a:extLst>
              <a:ext uri="{FF2B5EF4-FFF2-40B4-BE49-F238E27FC236}">
                <a16:creationId xmlns:a16="http://schemas.microsoft.com/office/drawing/2014/main" id="{48F75426-7EB0-5AF4-9F6B-DEEECE050799}"/>
              </a:ext>
            </a:extLst>
          </p:cNvPr>
          <p:cNvGrpSpPr/>
          <p:nvPr/>
        </p:nvGrpSpPr>
        <p:grpSpPr>
          <a:xfrm>
            <a:off x="9017538" y="2688207"/>
            <a:ext cx="2078271" cy="1651568"/>
            <a:chOff x="9017538" y="2688207"/>
            <a:chExt cx="2078271" cy="1651568"/>
          </a:xfrm>
        </p:grpSpPr>
        <p:sp>
          <p:nvSpPr>
            <p:cNvPr id="41" name="Google Shape;881;g2813fe57c0f_1_214">
              <a:extLst>
                <a:ext uri="{FF2B5EF4-FFF2-40B4-BE49-F238E27FC236}">
                  <a16:creationId xmlns:a16="http://schemas.microsoft.com/office/drawing/2014/main" id="{532C48BE-4613-31D8-FAC4-23A5C5FFD82D}"/>
                </a:ext>
              </a:extLst>
            </p:cNvPr>
            <p:cNvSpPr txBox="1"/>
            <p:nvPr/>
          </p:nvSpPr>
          <p:spPr>
            <a:xfrm>
              <a:off x="9017538" y="3939696"/>
              <a:ext cx="2078271" cy="400079"/>
            </a:xfrm>
            <a:prstGeom prst="rect">
              <a:avLst/>
            </a:prstGeom>
            <a:noFill/>
            <a:ln>
              <a:noFill/>
            </a:ln>
          </p:spPr>
          <p:txBody>
            <a:bodyPr spcFirstLastPara="1" wrap="square" lIns="91440" tIns="91425" rIns="91425" bIns="91425" anchor="t" anchorCtr="0">
              <a:spAutoFit/>
            </a:bodyPr>
            <a:lstStyle/>
            <a:p>
              <a:pPr lvl="0" algn="ctr">
                <a:buClr>
                  <a:srgbClr val="000000"/>
                </a:buClr>
                <a:buSzPts val="1100"/>
                <a:defRPr/>
              </a:pPr>
              <a:r>
                <a:rPr lang="en-US" sz="1400" kern="0" dirty="0">
                  <a:solidFill>
                    <a:schemeClr val="accent1"/>
                  </a:solidFill>
                  <a:ea typeface="Arial"/>
                  <a:cs typeface="Arial"/>
                  <a:sym typeface="Barlow"/>
                </a:rPr>
                <a:t>Supporting text here</a:t>
              </a:r>
              <a:endParaRPr lang="en-US" kern="0" dirty="0">
                <a:solidFill>
                  <a:schemeClr val="accent1"/>
                </a:solidFill>
                <a:ea typeface="Arial"/>
                <a:cs typeface="Arial"/>
                <a:sym typeface="Arial"/>
              </a:endParaRPr>
            </a:p>
          </p:txBody>
        </p:sp>
        <p:sp>
          <p:nvSpPr>
            <p:cNvPr id="42" name="Oval 41">
              <a:extLst>
                <a:ext uri="{FF2B5EF4-FFF2-40B4-BE49-F238E27FC236}">
                  <a16:creationId xmlns:a16="http://schemas.microsoft.com/office/drawing/2014/main" id="{831A76FD-B431-6A58-DE74-1C6217661A28}"/>
                </a:ext>
              </a:extLst>
            </p:cNvPr>
            <p:cNvSpPr/>
            <p:nvPr/>
          </p:nvSpPr>
          <p:spPr>
            <a:xfrm>
              <a:off x="9599473" y="2688207"/>
              <a:ext cx="914400" cy="914400"/>
            </a:xfrm>
            <a:prstGeom prst="ellipse">
              <a:avLst/>
            </a:prstGeom>
            <a:solidFill>
              <a:schemeClr val="bg1"/>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43" name="Google Shape;875;g2813fe57c0f_1_214">
              <a:extLst>
                <a:ext uri="{FF2B5EF4-FFF2-40B4-BE49-F238E27FC236}">
                  <a16:creationId xmlns:a16="http://schemas.microsoft.com/office/drawing/2014/main" id="{6FC14541-8B76-EF3E-7CD7-5C915A8996A7}"/>
                </a:ext>
              </a:extLst>
            </p:cNvPr>
            <p:cNvSpPr txBox="1"/>
            <p:nvPr/>
          </p:nvSpPr>
          <p:spPr>
            <a:xfrm>
              <a:off x="9280446" y="3520915"/>
              <a:ext cx="1552455" cy="534000"/>
            </a:xfrm>
            <a:prstGeom prst="rect">
              <a:avLst/>
            </a:prstGeom>
            <a:noFill/>
            <a:ln>
              <a:noFill/>
            </a:ln>
          </p:spPr>
          <p:txBody>
            <a:bodyPr spcFirstLastPara="1" wrap="square" lIns="91425" tIns="91425" rIns="91425" bIns="91425" anchor="t" anchorCtr="0">
              <a:noAutofit/>
            </a:bodyPr>
            <a:lstStyle/>
            <a:p>
              <a:pPr marL="0" lvl="1" algn="ctr">
                <a:lnSpc>
                  <a:spcPct val="150000"/>
                </a:lnSpc>
                <a:buClr>
                  <a:srgbClr val="000000"/>
                </a:buClr>
                <a:buSzPts val="2000"/>
                <a:defRPr/>
              </a:pPr>
              <a:r>
                <a:rPr lang="en-US" sz="1600" b="1" kern="0" dirty="0">
                  <a:solidFill>
                    <a:schemeClr val="accent1"/>
                  </a:solidFill>
                  <a:ea typeface="Barlow Medium"/>
                  <a:cs typeface="Barlow Medium"/>
                  <a:sym typeface="Barlow Medium"/>
                </a:rPr>
                <a:t>PRIORITY 3</a:t>
              </a:r>
            </a:p>
          </p:txBody>
        </p:sp>
        <p:sp>
          <p:nvSpPr>
            <p:cNvPr id="44" name="Freeform 845">
              <a:extLst>
                <a:ext uri="{FF2B5EF4-FFF2-40B4-BE49-F238E27FC236}">
                  <a16:creationId xmlns:a16="http://schemas.microsoft.com/office/drawing/2014/main" id="{19941A12-5B54-A65E-C8E6-3A4024E86DB3}"/>
                </a:ext>
              </a:extLst>
            </p:cNvPr>
            <p:cNvSpPr>
              <a:spLocks noChangeAspect="1" noEditPoints="1"/>
            </p:cNvSpPr>
            <p:nvPr/>
          </p:nvSpPr>
          <p:spPr bwMode="auto">
            <a:xfrm>
              <a:off x="9889553" y="2950501"/>
              <a:ext cx="334240" cy="388566"/>
            </a:xfrm>
            <a:custGeom>
              <a:avLst/>
              <a:gdLst>
                <a:gd name="T0" fmla="*/ 1 w 73"/>
                <a:gd name="T1" fmla="*/ 77 h 85"/>
                <a:gd name="T2" fmla="*/ 0 w 73"/>
                <a:gd name="T3" fmla="*/ 67 h 85"/>
                <a:gd name="T4" fmla="*/ 7 w 73"/>
                <a:gd name="T5" fmla="*/ 56 h 85"/>
                <a:gd name="T6" fmla="*/ 22 w 73"/>
                <a:gd name="T7" fmla="*/ 50 h 85"/>
                <a:gd name="T8" fmla="*/ 28 w 73"/>
                <a:gd name="T9" fmla="*/ 63 h 85"/>
                <a:gd name="T10" fmla="*/ 29 w 73"/>
                <a:gd name="T11" fmla="*/ 63 h 85"/>
                <a:gd name="T12" fmla="*/ 29 w 73"/>
                <a:gd name="T13" fmla="*/ 63 h 85"/>
                <a:gd name="T14" fmla="*/ 32 w 73"/>
                <a:gd name="T15" fmla="*/ 59 h 85"/>
                <a:gd name="T16" fmla="*/ 36 w 73"/>
                <a:gd name="T17" fmla="*/ 56 h 85"/>
                <a:gd name="T18" fmla="*/ 41 w 73"/>
                <a:gd name="T19" fmla="*/ 59 h 85"/>
                <a:gd name="T20" fmla="*/ 44 w 73"/>
                <a:gd name="T21" fmla="*/ 63 h 85"/>
                <a:gd name="T22" fmla="*/ 44 w 73"/>
                <a:gd name="T23" fmla="*/ 63 h 85"/>
                <a:gd name="T24" fmla="*/ 45 w 73"/>
                <a:gd name="T25" fmla="*/ 63 h 85"/>
                <a:gd name="T26" fmla="*/ 51 w 73"/>
                <a:gd name="T27" fmla="*/ 50 h 85"/>
                <a:gd name="T28" fmla="*/ 66 w 73"/>
                <a:gd name="T29" fmla="*/ 56 h 85"/>
                <a:gd name="T30" fmla="*/ 73 w 73"/>
                <a:gd name="T31" fmla="*/ 67 h 85"/>
                <a:gd name="T32" fmla="*/ 72 w 73"/>
                <a:gd name="T33" fmla="*/ 77 h 85"/>
                <a:gd name="T34" fmla="*/ 36 w 73"/>
                <a:gd name="T35" fmla="*/ 85 h 85"/>
                <a:gd name="T36" fmla="*/ 1 w 73"/>
                <a:gd name="T37" fmla="*/ 77 h 85"/>
                <a:gd name="T38" fmla="*/ 21 w 73"/>
                <a:gd name="T39" fmla="*/ 36 h 85"/>
                <a:gd name="T40" fmla="*/ 32 w 73"/>
                <a:gd name="T41" fmla="*/ 50 h 85"/>
                <a:gd name="T42" fmla="*/ 41 w 73"/>
                <a:gd name="T43" fmla="*/ 50 h 85"/>
                <a:gd name="T44" fmla="*/ 48 w 73"/>
                <a:gd name="T45" fmla="*/ 44 h 85"/>
                <a:gd name="T46" fmla="*/ 49 w 73"/>
                <a:gd name="T47" fmla="*/ 43 h 85"/>
                <a:gd name="T48" fmla="*/ 52 w 73"/>
                <a:gd name="T49" fmla="*/ 36 h 85"/>
                <a:gd name="T50" fmla="*/ 55 w 73"/>
                <a:gd name="T51" fmla="*/ 30 h 85"/>
                <a:gd name="T52" fmla="*/ 53 w 73"/>
                <a:gd name="T53" fmla="*/ 24 h 85"/>
                <a:gd name="T54" fmla="*/ 54 w 73"/>
                <a:gd name="T55" fmla="*/ 22 h 85"/>
                <a:gd name="T56" fmla="*/ 49 w 73"/>
                <a:gd name="T57" fmla="*/ 6 h 85"/>
                <a:gd name="T58" fmla="*/ 44 w 73"/>
                <a:gd name="T59" fmla="*/ 2 h 85"/>
                <a:gd name="T60" fmla="*/ 35 w 73"/>
                <a:gd name="T61" fmla="*/ 0 h 85"/>
                <a:gd name="T62" fmla="*/ 32 w 73"/>
                <a:gd name="T63" fmla="*/ 1 h 85"/>
                <a:gd name="T64" fmla="*/ 28 w 73"/>
                <a:gd name="T65" fmla="*/ 3 h 85"/>
                <a:gd name="T66" fmla="*/ 23 w 73"/>
                <a:gd name="T67" fmla="*/ 6 h 85"/>
                <a:gd name="T68" fmla="*/ 19 w 73"/>
                <a:gd name="T69" fmla="*/ 14 h 85"/>
                <a:gd name="T70" fmla="*/ 19 w 73"/>
                <a:gd name="T71" fmla="*/ 22 h 85"/>
                <a:gd name="T72" fmla="*/ 20 w 73"/>
                <a:gd name="T73" fmla="*/ 24 h 85"/>
                <a:gd name="T74" fmla="*/ 18 w 73"/>
                <a:gd name="T75" fmla="*/ 31 h 85"/>
                <a:gd name="T76" fmla="*/ 21 w 73"/>
                <a:gd name="T77" fmla="*/ 3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3" h="85">
                  <a:moveTo>
                    <a:pt x="1" y="77"/>
                  </a:moveTo>
                  <a:cubicBezTo>
                    <a:pt x="1" y="74"/>
                    <a:pt x="0" y="71"/>
                    <a:pt x="0" y="67"/>
                  </a:cubicBezTo>
                  <a:cubicBezTo>
                    <a:pt x="0" y="64"/>
                    <a:pt x="1" y="57"/>
                    <a:pt x="7" y="56"/>
                  </a:cubicBezTo>
                  <a:cubicBezTo>
                    <a:pt x="14" y="54"/>
                    <a:pt x="18" y="52"/>
                    <a:pt x="22" y="50"/>
                  </a:cubicBezTo>
                  <a:cubicBezTo>
                    <a:pt x="23" y="53"/>
                    <a:pt x="27" y="60"/>
                    <a:pt x="28" y="63"/>
                  </a:cubicBezTo>
                  <a:cubicBezTo>
                    <a:pt x="28" y="63"/>
                    <a:pt x="29" y="63"/>
                    <a:pt x="29" y="63"/>
                  </a:cubicBezTo>
                  <a:cubicBezTo>
                    <a:pt x="29" y="63"/>
                    <a:pt x="29" y="63"/>
                    <a:pt x="29" y="63"/>
                  </a:cubicBezTo>
                  <a:cubicBezTo>
                    <a:pt x="29" y="63"/>
                    <a:pt x="30" y="61"/>
                    <a:pt x="32" y="59"/>
                  </a:cubicBezTo>
                  <a:cubicBezTo>
                    <a:pt x="33" y="57"/>
                    <a:pt x="35" y="56"/>
                    <a:pt x="36" y="56"/>
                  </a:cubicBezTo>
                  <a:cubicBezTo>
                    <a:pt x="38" y="56"/>
                    <a:pt x="40" y="57"/>
                    <a:pt x="41" y="59"/>
                  </a:cubicBezTo>
                  <a:cubicBezTo>
                    <a:pt x="43" y="61"/>
                    <a:pt x="44" y="63"/>
                    <a:pt x="44" y="63"/>
                  </a:cubicBezTo>
                  <a:cubicBezTo>
                    <a:pt x="44" y="63"/>
                    <a:pt x="44" y="63"/>
                    <a:pt x="44" y="63"/>
                  </a:cubicBezTo>
                  <a:cubicBezTo>
                    <a:pt x="44" y="63"/>
                    <a:pt x="44" y="63"/>
                    <a:pt x="45" y="63"/>
                  </a:cubicBezTo>
                  <a:cubicBezTo>
                    <a:pt x="46" y="60"/>
                    <a:pt x="50" y="53"/>
                    <a:pt x="51" y="50"/>
                  </a:cubicBezTo>
                  <a:cubicBezTo>
                    <a:pt x="55" y="52"/>
                    <a:pt x="59" y="54"/>
                    <a:pt x="66" y="56"/>
                  </a:cubicBezTo>
                  <a:cubicBezTo>
                    <a:pt x="72" y="57"/>
                    <a:pt x="73" y="64"/>
                    <a:pt x="73" y="67"/>
                  </a:cubicBezTo>
                  <a:cubicBezTo>
                    <a:pt x="73" y="71"/>
                    <a:pt x="72" y="74"/>
                    <a:pt x="72" y="77"/>
                  </a:cubicBezTo>
                  <a:cubicBezTo>
                    <a:pt x="72" y="77"/>
                    <a:pt x="59" y="85"/>
                    <a:pt x="36" y="85"/>
                  </a:cubicBezTo>
                  <a:cubicBezTo>
                    <a:pt x="14" y="85"/>
                    <a:pt x="1" y="77"/>
                    <a:pt x="1" y="77"/>
                  </a:cubicBezTo>
                  <a:close/>
                  <a:moveTo>
                    <a:pt x="21" y="36"/>
                  </a:moveTo>
                  <a:cubicBezTo>
                    <a:pt x="22" y="41"/>
                    <a:pt x="26" y="47"/>
                    <a:pt x="32" y="50"/>
                  </a:cubicBezTo>
                  <a:cubicBezTo>
                    <a:pt x="35" y="51"/>
                    <a:pt x="38" y="51"/>
                    <a:pt x="41" y="50"/>
                  </a:cubicBezTo>
                  <a:cubicBezTo>
                    <a:pt x="44" y="49"/>
                    <a:pt x="46" y="47"/>
                    <a:pt x="48" y="44"/>
                  </a:cubicBezTo>
                  <a:cubicBezTo>
                    <a:pt x="48" y="44"/>
                    <a:pt x="48" y="44"/>
                    <a:pt x="49" y="43"/>
                  </a:cubicBezTo>
                  <a:cubicBezTo>
                    <a:pt x="50" y="41"/>
                    <a:pt x="51" y="38"/>
                    <a:pt x="52" y="36"/>
                  </a:cubicBezTo>
                  <a:cubicBezTo>
                    <a:pt x="53" y="36"/>
                    <a:pt x="54" y="35"/>
                    <a:pt x="55" y="30"/>
                  </a:cubicBezTo>
                  <a:cubicBezTo>
                    <a:pt x="57" y="25"/>
                    <a:pt x="55" y="24"/>
                    <a:pt x="53" y="24"/>
                  </a:cubicBezTo>
                  <a:cubicBezTo>
                    <a:pt x="54" y="23"/>
                    <a:pt x="54" y="22"/>
                    <a:pt x="54" y="22"/>
                  </a:cubicBezTo>
                  <a:cubicBezTo>
                    <a:pt x="56" y="6"/>
                    <a:pt x="49" y="6"/>
                    <a:pt x="49" y="6"/>
                  </a:cubicBezTo>
                  <a:cubicBezTo>
                    <a:pt x="49" y="6"/>
                    <a:pt x="48" y="4"/>
                    <a:pt x="44" y="2"/>
                  </a:cubicBezTo>
                  <a:cubicBezTo>
                    <a:pt x="42" y="1"/>
                    <a:pt x="39" y="0"/>
                    <a:pt x="35" y="0"/>
                  </a:cubicBezTo>
                  <a:cubicBezTo>
                    <a:pt x="34" y="0"/>
                    <a:pt x="33" y="0"/>
                    <a:pt x="32" y="1"/>
                  </a:cubicBezTo>
                  <a:cubicBezTo>
                    <a:pt x="30" y="1"/>
                    <a:pt x="29" y="2"/>
                    <a:pt x="28" y="3"/>
                  </a:cubicBezTo>
                  <a:cubicBezTo>
                    <a:pt x="26" y="4"/>
                    <a:pt x="25" y="5"/>
                    <a:pt x="23" y="6"/>
                  </a:cubicBezTo>
                  <a:cubicBezTo>
                    <a:pt x="21" y="8"/>
                    <a:pt x="20" y="11"/>
                    <a:pt x="19" y="14"/>
                  </a:cubicBezTo>
                  <a:cubicBezTo>
                    <a:pt x="18" y="16"/>
                    <a:pt x="18" y="19"/>
                    <a:pt x="19" y="22"/>
                  </a:cubicBezTo>
                  <a:cubicBezTo>
                    <a:pt x="19" y="22"/>
                    <a:pt x="19" y="23"/>
                    <a:pt x="20" y="24"/>
                  </a:cubicBezTo>
                  <a:cubicBezTo>
                    <a:pt x="18" y="24"/>
                    <a:pt x="16" y="25"/>
                    <a:pt x="18" y="31"/>
                  </a:cubicBezTo>
                  <a:cubicBezTo>
                    <a:pt x="19" y="35"/>
                    <a:pt x="20" y="36"/>
                    <a:pt x="21" y="36"/>
                  </a:cubicBezTo>
                  <a:close/>
                </a:path>
              </a:pathLst>
            </a:custGeom>
            <a:solidFill>
              <a:srgbClr val="58595B"/>
            </a:solidFill>
            <a:ln w="6350">
              <a:noFill/>
            </a:ln>
          </p:spPr>
          <p:txBody>
            <a:bodyPr vert="horz" wrap="square" lIns="91440" tIns="45720" rIns="91440" bIns="45720" numCol="1" anchor="t" anchorCtr="0" compatLnSpc="1">
              <a:prstTxWarp prst="textNoShape">
                <a:avLst/>
              </a:prstTxWarp>
            </a:bodyPr>
            <a:lstStyle/>
            <a:p>
              <a:pPr algn="ctr"/>
              <a:endParaRPr lang="en-US" dirty="0">
                <a:solidFill>
                  <a:schemeClr val="accent1"/>
                </a:solidFill>
              </a:endParaRPr>
            </a:p>
          </p:txBody>
        </p:sp>
      </p:grpSp>
    </p:spTree>
    <p:extLst>
      <p:ext uri="{BB962C8B-B14F-4D97-AF65-F5344CB8AC3E}">
        <p14:creationId xmlns:p14="http://schemas.microsoft.com/office/powerpoint/2010/main" val="181097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CB75F-E783-27CA-0119-36DC466D072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0FD13B7-FA11-4EF2-979B-69797D99AFA1}"/>
              </a:ext>
            </a:extLst>
          </p:cNvPr>
          <p:cNvSpPr/>
          <p:nvPr/>
        </p:nvSpPr>
        <p:spPr>
          <a:xfrm>
            <a:off x="0" y="0"/>
            <a:ext cx="12192000" cy="6172200"/>
          </a:xfrm>
          <a:prstGeom prst="rect">
            <a:avLst/>
          </a:prstGeom>
          <a:blipFill>
            <a:blip r:embed="rId3"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E7ED9F7-6A15-ED86-A749-98F0815A482C}"/>
              </a:ext>
            </a:extLst>
          </p:cNvPr>
          <p:cNvSpPr/>
          <p:nvPr/>
        </p:nvSpPr>
        <p:spPr>
          <a:xfrm>
            <a:off x="0" y="0"/>
            <a:ext cx="12192000" cy="6172200"/>
          </a:xfrm>
          <a:prstGeom prst="rect">
            <a:avLst/>
          </a:prstGeom>
          <a:gradFill>
            <a:gsLst>
              <a:gs pos="17000">
                <a:schemeClr val="bg1"/>
              </a:gs>
              <a:gs pos="95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45997157-FB41-3253-B92A-87244BD547C8}"/>
              </a:ext>
            </a:extLst>
          </p:cNvPr>
          <p:cNvSpPr>
            <a:spLocks noGrp="1"/>
          </p:cNvSpPr>
          <p:nvPr>
            <p:ph type="sldNum" sz="quarter" idx="12"/>
          </p:nvPr>
        </p:nvSpPr>
        <p:spPr/>
        <p:txBody>
          <a:bodyPr/>
          <a:lstStyle/>
          <a:p>
            <a:pPr algn="r"/>
            <a:fld id="{4FA92F45-BA5D-4C7A-ACC7-D44B34072B97}" type="slidenum">
              <a:rPr lang="en-IN" smtClean="0"/>
              <a:pPr algn="r"/>
              <a:t>7</a:t>
            </a:fld>
            <a:endParaRPr lang="en-IN" dirty="0"/>
          </a:p>
        </p:txBody>
      </p:sp>
      <p:sp>
        <p:nvSpPr>
          <p:cNvPr id="3" name="Title 2">
            <a:extLst>
              <a:ext uri="{FF2B5EF4-FFF2-40B4-BE49-F238E27FC236}">
                <a16:creationId xmlns:a16="http://schemas.microsoft.com/office/drawing/2014/main" id="{3139F757-7B1E-B925-B62B-273A6575AC28}"/>
              </a:ext>
            </a:extLst>
          </p:cNvPr>
          <p:cNvSpPr>
            <a:spLocks noGrp="1"/>
          </p:cNvSpPr>
          <p:nvPr>
            <p:ph type="title"/>
          </p:nvPr>
        </p:nvSpPr>
        <p:spPr/>
        <p:txBody>
          <a:bodyPr/>
          <a:lstStyle/>
          <a:p>
            <a:r>
              <a:rPr lang="en-US" dirty="0">
                <a:highlight>
                  <a:srgbClr val="FF00FF"/>
                </a:highlight>
              </a:rPr>
              <a:t>[CUSTOMER NAME]</a:t>
            </a:r>
            <a:r>
              <a:rPr lang="en-US" dirty="0"/>
              <a:t> PRIORITIES</a:t>
            </a:r>
          </a:p>
        </p:txBody>
      </p:sp>
      <p:sp>
        <p:nvSpPr>
          <p:cNvPr id="4" name="Text Placeholder 3">
            <a:extLst>
              <a:ext uri="{FF2B5EF4-FFF2-40B4-BE49-F238E27FC236}">
                <a16:creationId xmlns:a16="http://schemas.microsoft.com/office/drawing/2014/main" id="{688FC811-EC6C-2A2F-325A-92FCAEDE0B0C}"/>
              </a:ext>
            </a:extLst>
          </p:cNvPr>
          <p:cNvSpPr>
            <a:spLocks noGrp="1"/>
          </p:cNvSpPr>
          <p:nvPr>
            <p:ph type="body" sz="quarter" idx="13"/>
          </p:nvPr>
        </p:nvSpPr>
        <p:spPr/>
        <p:txBody>
          <a:bodyPr/>
          <a:lstStyle/>
          <a:p>
            <a:endParaRPr lang="en-US" dirty="0"/>
          </a:p>
        </p:txBody>
      </p:sp>
      <p:sp>
        <p:nvSpPr>
          <p:cNvPr id="5" name="Rectangle 4">
            <a:extLst>
              <a:ext uri="{FF2B5EF4-FFF2-40B4-BE49-F238E27FC236}">
                <a16:creationId xmlns:a16="http://schemas.microsoft.com/office/drawing/2014/main" id="{13D60E25-2760-A752-5E13-8D6C36586A4A}"/>
              </a:ext>
            </a:extLst>
          </p:cNvPr>
          <p:cNvSpPr/>
          <p:nvPr/>
        </p:nvSpPr>
        <p:spPr>
          <a:xfrm>
            <a:off x="7480571" y="232913"/>
            <a:ext cx="3880418"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b="1" dirty="0">
                <a:solidFill>
                  <a:schemeClr val="accent1"/>
                </a:solidFill>
              </a:rPr>
              <a:t>Format Option 2 – </a:t>
            </a:r>
            <a:r>
              <a:rPr lang="en-US" sz="1400" b="1" dirty="0">
                <a:solidFill>
                  <a:srgbClr val="C00000"/>
                </a:solidFill>
              </a:rPr>
              <a:t>example text only</a:t>
            </a:r>
          </a:p>
          <a:p>
            <a:pPr algn="ctr"/>
            <a:r>
              <a:rPr lang="en-US" sz="1400" dirty="0">
                <a:solidFill>
                  <a:schemeClr val="accent1"/>
                </a:solidFill>
              </a:rPr>
              <a:t>May include customer slides or their specific goals/challenges</a:t>
            </a:r>
          </a:p>
        </p:txBody>
      </p:sp>
      <p:sp>
        <p:nvSpPr>
          <p:cNvPr id="8" name="Rectangle: Rounded Corners 7">
            <a:extLst>
              <a:ext uri="{FF2B5EF4-FFF2-40B4-BE49-F238E27FC236}">
                <a16:creationId xmlns:a16="http://schemas.microsoft.com/office/drawing/2014/main" id="{1E0711C0-7822-762C-271E-5E1AA7388EA8}"/>
              </a:ext>
            </a:extLst>
          </p:cNvPr>
          <p:cNvSpPr/>
          <p:nvPr/>
        </p:nvSpPr>
        <p:spPr>
          <a:xfrm>
            <a:off x="8305800" y="2314575"/>
            <a:ext cx="3419475" cy="2190750"/>
          </a:xfrm>
          <a:prstGeom prst="roundRect">
            <a:avLst/>
          </a:prstGeom>
          <a:solidFill>
            <a:schemeClr val="bg1">
              <a:lumMod val="95000"/>
            </a:schemeClr>
          </a:solidFill>
          <a:ln w="28575">
            <a:solidFill>
              <a:schemeClr val="tx2"/>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889615E6-7EB3-39A2-4091-5B2740265043}"/>
              </a:ext>
            </a:extLst>
          </p:cNvPr>
          <p:cNvSpPr/>
          <p:nvPr/>
        </p:nvSpPr>
        <p:spPr>
          <a:xfrm>
            <a:off x="4457700" y="2314575"/>
            <a:ext cx="3419475" cy="2190750"/>
          </a:xfrm>
          <a:prstGeom prst="roundRect">
            <a:avLst/>
          </a:prstGeom>
          <a:solidFill>
            <a:schemeClr val="bg1">
              <a:lumMod val="95000"/>
            </a:schemeClr>
          </a:solidFill>
          <a:ln w="28575">
            <a:solidFill>
              <a:schemeClr val="tx2"/>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Rounded Corners 9">
            <a:extLst>
              <a:ext uri="{FF2B5EF4-FFF2-40B4-BE49-F238E27FC236}">
                <a16:creationId xmlns:a16="http://schemas.microsoft.com/office/drawing/2014/main" id="{D58FABA2-C04D-EF4D-F199-FBEB4FF36E27}"/>
              </a:ext>
            </a:extLst>
          </p:cNvPr>
          <p:cNvSpPr/>
          <p:nvPr/>
        </p:nvSpPr>
        <p:spPr>
          <a:xfrm>
            <a:off x="603042" y="2314575"/>
            <a:ext cx="3419475" cy="2190750"/>
          </a:xfrm>
          <a:prstGeom prst="roundRect">
            <a:avLst/>
          </a:prstGeom>
          <a:solidFill>
            <a:schemeClr val="bg1">
              <a:lumMod val="95000"/>
            </a:schemeClr>
          </a:solidFill>
          <a:ln w="28575">
            <a:solidFill>
              <a:schemeClr val="tx2"/>
            </a:solid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Group 10">
            <a:extLst>
              <a:ext uri="{FF2B5EF4-FFF2-40B4-BE49-F238E27FC236}">
                <a16:creationId xmlns:a16="http://schemas.microsoft.com/office/drawing/2014/main" id="{B94124FC-A54E-8F99-1EA3-99BE376387D8}"/>
              </a:ext>
            </a:extLst>
          </p:cNvPr>
          <p:cNvGrpSpPr/>
          <p:nvPr/>
        </p:nvGrpSpPr>
        <p:grpSpPr>
          <a:xfrm>
            <a:off x="466725" y="2295525"/>
            <a:ext cx="3038476" cy="2200275"/>
            <a:chOff x="466725" y="2295525"/>
            <a:chExt cx="3038476" cy="2200275"/>
          </a:xfrm>
        </p:grpSpPr>
        <p:sp>
          <p:nvSpPr>
            <p:cNvPr id="12" name="Rectangle: Rounded Corners 11">
              <a:extLst>
                <a:ext uri="{FF2B5EF4-FFF2-40B4-BE49-F238E27FC236}">
                  <a16:creationId xmlns:a16="http://schemas.microsoft.com/office/drawing/2014/main" id="{F05942F4-78D2-2F57-050E-A4802D9A23C6}"/>
                </a:ext>
              </a:extLst>
            </p:cNvPr>
            <p:cNvSpPr/>
            <p:nvPr/>
          </p:nvSpPr>
          <p:spPr>
            <a:xfrm>
              <a:off x="466725" y="2295525"/>
              <a:ext cx="3038476" cy="504825"/>
            </a:xfrm>
            <a:prstGeom prst="roundRect">
              <a:avLst>
                <a:gd name="adj" fmla="val 50000"/>
              </a:avLst>
            </a:prstGeom>
            <a:solidFill>
              <a:schemeClr val="accent2"/>
            </a:solidFill>
            <a:ln w="28575">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2DCC7DEC-71AB-2108-CC8E-835F700F3327}"/>
                </a:ext>
              </a:extLst>
            </p:cNvPr>
            <p:cNvSpPr/>
            <p:nvPr/>
          </p:nvSpPr>
          <p:spPr>
            <a:xfrm>
              <a:off x="466725" y="2305050"/>
              <a:ext cx="1441242" cy="2190750"/>
            </a:xfrm>
            <a:custGeom>
              <a:avLst/>
              <a:gdLst>
                <a:gd name="connsiteX0" fmla="*/ 274643 w 1441242"/>
                <a:gd name="connsiteY0" fmla="*/ 0 h 2190750"/>
                <a:gd name="connsiteX1" fmla="*/ 1373182 w 1441242"/>
                <a:gd name="connsiteY1" fmla="*/ 0 h 2190750"/>
                <a:gd name="connsiteX2" fmla="*/ 1428532 w 1441242"/>
                <a:gd name="connsiteY2" fmla="*/ 5580 h 2190750"/>
                <a:gd name="connsiteX3" fmla="*/ 1441242 w 1441242"/>
                <a:gd name="connsiteY3" fmla="*/ 9525 h 2190750"/>
                <a:gd name="connsiteX4" fmla="*/ 508007 w 1441242"/>
                <a:gd name="connsiteY4" fmla="*/ 9525 h 2190750"/>
                <a:gd name="connsiteX5" fmla="*/ 142875 w 1441242"/>
                <a:gd name="connsiteY5" fmla="*/ 374657 h 2190750"/>
                <a:gd name="connsiteX6" fmla="*/ 142875 w 1441242"/>
                <a:gd name="connsiteY6" fmla="*/ 1835143 h 2190750"/>
                <a:gd name="connsiteX7" fmla="*/ 365881 w 1441242"/>
                <a:gd name="connsiteY7" fmla="*/ 2171581 h 2190750"/>
                <a:gd name="connsiteX8" fmla="*/ 427633 w 1441242"/>
                <a:gd name="connsiteY8" fmla="*/ 2190750 h 2190750"/>
                <a:gd name="connsiteX9" fmla="*/ 274643 w 1441242"/>
                <a:gd name="connsiteY9" fmla="*/ 2190750 h 2190750"/>
                <a:gd name="connsiteX10" fmla="*/ 0 w 1441242"/>
                <a:gd name="connsiteY10" fmla="*/ 1916107 h 2190750"/>
                <a:gd name="connsiteX11" fmla="*/ 0 w 1441242"/>
                <a:gd name="connsiteY11" fmla="*/ 274643 h 2190750"/>
                <a:gd name="connsiteX12" fmla="*/ 274643 w 1441242"/>
                <a:gd name="connsiteY12" fmla="*/ 0 h 219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1242" h="2190750">
                  <a:moveTo>
                    <a:pt x="274643" y="0"/>
                  </a:moveTo>
                  <a:lnTo>
                    <a:pt x="1373182" y="0"/>
                  </a:lnTo>
                  <a:cubicBezTo>
                    <a:pt x="1392142" y="0"/>
                    <a:pt x="1410654" y="1921"/>
                    <a:pt x="1428532" y="5580"/>
                  </a:cubicBezTo>
                  <a:lnTo>
                    <a:pt x="1441242" y="9525"/>
                  </a:lnTo>
                  <a:lnTo>
                    <a:pt x="508007" y="9525"/>
                  </a:lnTo>
                  <a:cubicBezTo>
                    <a:pt x="306350" y="9525"/>
                    <a:pt x="142875" y="173000"/>
                    <a:pt x="142875" y="374657"/>
                  </a:cubicBezTo>
                  <a:lnTo>
                    <a:pt x="142875" y="1835143"/>
                  </a:lnTo>
                  <a:cubicBezTo>
                    <a:pt x="142875" y="1986386"/>
                    <a:pt x="234830" y="2116151"/>
                    <a:pt x="365881" y="2171581"/>
                  </a:cubicBezTo>
                  <a:lnTo>
                    <a:pt x="427633" y="2190750"/>
                  </a:lnTo>
                  <a:lnTo>
                    <a:pt x="274643" y="2190750"/>
                  </a:lnTo>
                  <a:cubicBezTo>
                    <a:pt x="122962" y="2190750"/>
                    <a:pt x="0" y="2067788"/>
                    <a:pt x="0" y="1916107"/>
                  </a:cubicBezTo>
                  <a:lnTo>
                    <a:pt x="0" y="274643"/>
                  </a:lnTo>
                  <a:cubicBezTo>
                    <a:pt x="0" y="122962"/>
                    <a:pt x="122962" y="0"/>
                    <a:pt x="274643" y="0"/>
                  </a:cubicBezTo>
                  <a:close/>
                </a:path>
              </a:pathLst>
            </a:cu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4" name="Group 13">
            <a:extLst>
              <a:ext uri="{FF2B5EF4-FFF2-40B4-BE49-F238E27FC236}">
                <a16:creationId xmlns:a16="http://schemas.microsoft.com/office/drawing/2014/main" id="{B4DFDBB3-C712-D03F-4B8A-4650BDBF21F8}"/>
              </a:ext>
            </a:extLst>
          </p:cNvPr>
          <p:cNvGrpSpPr/>
          <p:nvPr/>
        </p:nvGrpSpPr>
        <p:grpSpPr>
          <a:xfrm>
            <a:off x="4324350" y="2295525"/>
            <a:ext cx="3038476" cy="2200275"/>
            <a:chOff x="466725" y="2295525"/>
            <a:chExt cx="3038476" cy="2200275"/>
          </a:xfrm>
          <a:solidFill>
            <a:schemeClr val="accent1"/>
          </a:solidFill>
        </p:grpSpPr>
        <p:sp>
          <p:nvSpPr>
            <p:cNvPr id="15" name="Rectangle: Rounded Corners 14">
              <a:extLst>
                <a:ext uri="{FF2B5EF4-FFF2-40B4-BE49-F238E27FC236}">
                  <a16:creationId xmlns:a16="http://schemas.microsoft.com/office/drawing/2014/main" id="{3AA92A2B-15CB-BFA6-A5FC-3ED9C0DA6B12}"/>
                </a:ext>
              </a:extLst>
            </p:cNvPr>
            <p:cNvSpPr/>
            <p:nvPr/>
          </p:nvSpPr>
          <p:spPr>
            <a:xfrm>
              <a:off x="466725" y="2295525"/>
              <a:ext cx="3038476" cy="504825"/>
            </a:xfrm>
            <a:prstGeom prst="roundRect">
              <a:avLst>
                <a:gd name="adj" fmla="val 50000"/>
              </a:avLst>
            </a:prstGeom>
            <a:grpFill/>
            <a:ln w="28575">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2E6115AA-2DDA-3FD9-1EE6-5B605796E946}"/>
                </a:ext>
              </a:extLst>
            </p:cNvPr>
            <p:cNvSpPr/>
            <p:nvPr/>
          </p:nvSpPr>
          <p:spPr>
            <a:xfrm>
              <a:off x="466725" y="2305050"/>
              <a:ext cx="1441242" cy="2190750"/>
            </a:xfrm>
            <a:custGeom>
              <a:avLst/>
              <a:gdLst>
                <a:gd name="connsiteX0" fmla="*/ 274643 w 1441242"/>
                <a:gd name="connsiteY0" fmla="*/ 0 h 2190750"/>
                <a:gd name="connsiteX1" fmla="*/ 1373182 w 1441242"/>
                <a:gd name="connsiteY1" fmla="*/ 0 h 2190750"/>
                <a:gd name="connsiteX2" fmla="*/ 1428532 w 1441242"/>
                <a:gd name="connsiteY2" fmla="*/ 5580 h 2190750"/>
                <a:gd name="connsiteX3" fmla="*/ 1441242 w 1441242"/>
                <a:gd name="connsiteY3" fmla="*/ 9525 h 2190750"/>
                <a:gd name="connsiteX4" fmla="*/ 508007 w 1441242"/>
                <a:gd name="connsiteY4" fmla="*/ 9525 h 2190750"/>
                <a:gd name="connsiteX5" fmla="*/ 142875 w 1441242"/>
                <a:gd name="connsiteY5" fmla="*/ 374657 h 2190750"/>
                <a:gd name="connsiteX6" fmla="*/ 142875 w 1441242"/>
                <a:gd name="connsiteY6" fmla="*/ 1835143 h 2190750"/>
                <a:gd name="connsiteX7" fmla="*/ 365881 w 1441242"/>
                <a:gd name="connsiteY7" fmla="*/ 2171581 h 2190750"/>
                <a:gd name="connsiteX8" fmla="*/ 427633 w 1441242"/>
                <a:gd name="connsiteY8" fmla="*/ 2190750 h 2190750"/>
                <a:gd name="connsiteX9" fmla="*/ 274643 w 1441242"/>
                <a:gd name="connsiteY9" fmla="*/ 2190750 h 2190750"/>
                <a:gd name="connsiteX10" fmla="*/ 0 w 1441242"/>
                <a:gd name="connsiteY10" fmla="*/ 1916107 h 2190750"/>
                <a:gd name="connsiteX11" fmla="*/ 0 w 1441242"/>
                <a:gd name="connsiteY11" fmla="*/ 274643 h 2190750"/>
                <a:gd name="connsiteX12" fmla="*/ 274643 w 1441242"/>
                <a:gd name="connsiteY12" fmla="*/ 0 h 219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1242" h="2190750">
                  <a:moveTo>
                    <a:pt x="274643" y="0"/>
                  </a:moveTo>
                  <a:lnTo>
                    <a:pt x="1373182" y="0"/>
                  </a:lnTo>
                  <a:cubicBezTo>
                    <a:pt x="1392142" y="0"/>
                    <a:pt x="1410654" y="1921"/>
                    <a:pt x="1428532" y="5580"/>
                  </a:cubicBezTo>
                  <a:lnTo>
                    <a:pt x="1441242" y="9525"/>
                  </a:lnTo>
                  <a:lnTo>
                    <a:pt x="508007" y="9525"/>
                  </a:lnTo>
                  <a:cubicBezTo>
                    <a:pt x="306350" y="9525"/>
                    <a:pt x="142875" y="173000"/>
                    <a:pt x="142875" y="374657"/>
                  </a:cubicBezTo>
                  <a:lnTo>
                    <a:pt x="142875" y="1835143"/>
                  </a:lnTo>
                  <a:cubicBezTo>
                    <a:pt x="142875" y="1986386"/>
                    <a:pt x="234830" y="2116151"/>
                    <a:pt x="365881" y="2171581"/>
                  </a:cubicBezTo>
                  <a:lnTo>
                    <a:pt x="427633" y="2190750"/>
                  </a:lnTo>
                  <a:lnTo>
                    <a:pt x="274643" y="2190750"/>
                  </a:lnTo>
                  <a:cubicBezTo>
                    <a:pt x="122962" y="2190750"/>
                    <a:pt x="0" y="2067788"/>
                    <a:pt x="0" y="1916107"/>
                  </a:cubicBezTo>
                  <a:lnTo>
                    <a:pt x="0" y="274643"/>
                  </a:lnTo>
                  <a:cubicBezTo>
                    <a:pt x="0" y="122962"/>
                    <a:pt x="122962" y="0"/>
                    <a:pt x="274643"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7" name="Group 16">
            <a:extLst>
              <a:ext uri="{FF2B5EF4-FFF2-40B4-BE49-F238E27FC236}">
                <a16:creationId xmlns:a16="http://schemas.microsoft.com/office/drawing/2014/main" id="{A152E7E6-1C56-597B-7B6E-8F8ABB712046}"/>
              </a:ext>
            </a:extLst>
          </p:cNvPr>
          <p:cNvGrpSpPr/>
          <p:nvPr/>
        </p:nvGrpSpPr>
        <p:grpSpPr>
          <a:xfrm>
            <a:off x="8179010" y="2295525"/>
            <a:ext cx="3038476" cy="2200275"/>
            <a:chOff x="466725" y="2295525"/>
            <a:chExt cx="3038476" cy="2200275"/>
          </a:xfrm>
          <a:solidFill>
            <a:schemeClr val="accent6"/>
          </a:solidFill>
        </p:grpSpPr>
        <p:sp>
          <p:nvSpPr>
            <p:cNvPr id="18" name="Rectangle: Rounded Corners 17">
              <a:extLst>
                <a:ext uri="{FF2B5EF4-FFF2-40B4-BE49-F238E27FC236}">
                  <a16:creationId xmlns:a16="http://schemas.microsoft.com/office/drawing/2014/main" id="{232F4EBE-82F0-8162-74E4-6CA4ABA5355E}"/>
                </a:ext>
              </a:extLst>
            </p:cNvPr>
            <p:cNvSpPr/>
            <p:nvPr/>
          </p:nvSpPr>
          <p:spPr>
            <a:xfrm>
              <a:off x="466725" y="2295525"/>
              <a:ext cx="3038476" cy="504825"/>
            </a:xfrm>
            <a:prstGeom prst="roundRect">
              <a:avLst>
                <a:gd name="adj" fmla="val 50000"/>
              </a:avLst>
            </a:prstGeom>
            <a:grpFill/>
            <a:ln w="28575">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B868DBBB-3DA2-337F-8D90-4E121BF46CF9}"/>
                </a:ext>
              </a:extLst>
            </p:cNvPr>
            <p:cNvSpPr/>
            <p:nvPr/>
          </p:nvSpPr>
          <p:spPr>
            <a:xfrm>
              <a:off x="466725" y="2305050"/>
              <a:ext cx="1441242" cy="2190750"/>
            </a:xfrm>
            <a:custGeom>
              <a:avLst/>
              <a:gdLst>
                <a:gd name="connsiteX0" fmla="*/ 274643 w 1441242"/>
                <a:gd name="connsiteY0" fmla="*/ 0 h 2190750"/>
                <a:gd name="connsiteX1" fmla="*/ 1373182 w 1441242"/>
                <a:gd name="connsiteY1" fmla="*/ 0 h 2190750"/>
                <a:gd name="connsiteX2" fmla="*/ 1428532 w 1441242"/>
                <a:gd name="connsiteY2" fmla="*/ 5580 h 2190750"/>
                <a:gd name="connsiteX3" fmla="*/ 1441242 w 1441242"/>
                <a:gd name="connsiteY3" fmla="*/ 9525 h 2190750"/>
                <a:gd name="connsiteX4" fmla="*/ 508007 w 1441242"/>
                <a:gd name="connsiteY4" fmla="*/ 9525 h 2190750"/>
                <a:gd name="connsiteX5" fmla="*/ 142875 w 1441242"/>
                <a:gd name="connsiteY5" fmla="*/ 374657 h 2190750"/>
                <a:gd name="connsiteX6" fmla="*/ 142875 w 1441242"/>
                <a:gd name="connsiteY6" fmla="*/ 1835143 h 2190750"/>
                <a:gd name="connsiteX7" fmla="*/ 365881 w 1441242"/>
                <a:gd name="connsiteY7" fmla="*/ 2171581 h 2190750"/>
                <a:gd name="connsiteX8" fmla="*/ 427633 w 1441242"/>
                <a:gd name="connsiteY8" fmla="*/ 2190750 h 2190750"/>
                <a:gd name="connsiteX9" fmla="*/ 274643 w 1441242"/>
                <a:gd name="connsiteY9" fmla="*/ 2190750 h 2190750"/>
                <a:gd name="connsiteX10" fmla="*/ 0 w 1441242"/>
                <a:gd name="connsiteY10" fmla="*/ 1916107 h 2190750"/>
                <a:gd name="connsiteX11" fmla="*/ 0 w 1441242"/>
                <a:gd name="connsiteY11" fmla="*/ 274643 h 2190750"/>
                <a:gd name="connsiteX12" fmla="*/ 274643 w 1441242"/>
                <a:gd name="connsiteY12" fmla="*/ 0 h 2190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1242" h="2190750">
                  <a:moveTo>
                    <a:pt x="274643" y="0"/>
                  </a:moveTo>
                  <a:lnTo>
                    <a:pt x="1373182" y="0"/>
                  </a:lnTo>
                  <a:cubicBezTo>
                    <a:pt x="1392142" y="0"/>
                    <a:pt x="1410654" y="1921"/>
                    <a:pt x="1428532" y="5580"/>
                  </a:cubicBezTo>
                  <a:lnTo>
                    <a:pt x="1441242" y="9525"/>
                  </a:lnTo>
                  <a:lnTo>
                    <a:pt x="508007" y="9525"/>
                  </a:lnTo>
                  <a:cubicBezTo>
                    <a:pt x="306350" y="9525"/>
                    <a:pt x="142875" y="173000"/>
                    <a:pt x="142875" y="374657"/>
                  </a:cubicBezTo>
                  <a:lnTo>
                    <a:pt x="142875" y="1835143"/>
                  </a:lnTo>
                  <a:cubicBezTo>
                    <a:pt x="142875" y="1986386"/>
                    <a:pt x="234830" y="2116151"/>
                    <a:pt x="365881" y="2171581"/>
                  </a:cubicBezTo>
                  <a:lnTo>
                    <a:pt x="427633" y="2190750"/>
                  </a:lnTo>
                  <a:lnTo>
                    <a:pt x="274643" y="2190750"/>
                  </a:lnTo>
                  <a:cubicBezTo>
                    <a:pt x="122962" y="2190750"/>
                    <a:pt x="0" y="2067788"/>
                    <a:pt x="0" y="1916107"/>
                  </a:cubicBezTo>
                  <a:lnTo>
                    <a:pt x="0" y="274643"/>
                  </a:lnTo>
                  <a:cubicBezTo>
                    <a:pt x="0" y="122962"/>
                    <a:pt x="122962" y="0"/>
                    <a:pt x="274643" y="0"/>
                  </a:cubicBezTo>
                  <a:close/>
                </a:path>
              </a:pathLst>
            </a:cu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0" name="Oval 19">
            <a:extLst>
              <a:ext uri="{FF2B5EF4-FFF2-40B4-BE49-F238E27FC236}">
                <a16:creationId xmlns:a16="http://schemas.microsoft.com/office/drawing/2014/main" id="{0821FEA2-7BC0-6083-560C-A7F26DEF04AC}"/>
              </a:ext>
            </a:extLst>
          </p:cNvPr>
          <p:cNvSpPr/>
          <p:nvPr/>
        </p:nvSpPr>
        <p:spPr>
          <a:xfrm>
            <a:off x="2895600" y="2085975"/>
            <a:ext cx="819150" cy="819150"/>
          </a:xfrm>
          <a:prstGeom prst="ellipse">
            <a:avLst/>
          </a:prstGeom>
          <a:solidFill>
            <a:schemeClr val="bg1">
              <a:lumMod val="9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06A122F7-1FCE-88E7-8055-EF701607442A}"/>
              </a:ext>
            </a:extLst>
          </p:cNvPr>
          <p:cNvSpPr/>
          <p:nvPr/>
        </p:nvSpPr>
        <p:spPr>
          <a:xfrm>
            <a:off x="6833021" y="2085975"/>
            <a:ext cx="819150" cy="819150"/>
          </a:xfrm>
          <a:prstGeom prst="ellipse">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57C98AC3-951D-E297-D527-8C128BEFD90B}"/>
              </a:ext>
            </a:extLst>
          </p:cNvPr>
          <p:cNvSpPr/>
          <p:nvPr/>
        </p:nvSpPr>
        <p:spPr>
          <a:xfrm>
            <a:off x="10690646" y="2085975"/>
            <a:ext cx="819150" cy="819150"/>
          </a:xfrm>
          <a:prstGeom prst="ellipse">
            <a:avLst/>
          </a:prstGeom>
          <a:solidFill>
            <a:schemeClr val="bg1">
              <a:lumMod val="95000"/>
            </a:schemeClr>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ED72EE79-8962-E9C2-C210-38D230E82CB3}"/>
              </a:ext>
            </a:extLst>
          </p:cNvPr>
          <p:cNvSpPr txBox="1"/>
          <p:nvPr/>
        </p:nvSpPr>
        <p:spPr>
          <a:xfrm>
            <a:off x="693639" y="2266950"/>
            <a:ext cx="2116663" cy="584775"/>
          </a:xfrm>
          <a:prstGeom prst="rect">
            <a:avLst/>
          </a:prstGeom>
          <a:noFill/>
        </p:spPr>
        <p:txBody>
          <a:bodyPr wrap="square" rtlCol="0">
            <a:spAutoFit/>
          </a:bodyPr>
          <a:lstStyle/>
          <a:p>
            <a:r>
              <a:rPr lang="en-US" sz="1600" b="1" dirty="0">
                <a:solidFill>
                  <a:schemeClr val="bg1"/>
                </a:solidFill>
              </a:rPr>
              <a:t>EXPAND TO                              NEW MARKETS </a:t>
            </a:r>
          </a:p>
        </p:txBody>
      </p:sp>
      <p:sp>
        <p:nvSpPr>
          <p:cNvPr id="24" name="TextBox 23">
            <a:extLst>
              <a:ext uri="{FF2B5EF4-FFF2-40B4-BE49-F238E27FC236}">
                <a16:creationId xmlns:a16="http://schemas.microsoft.com/office/drawing/2014/main" id="{C2098E13-5A35-4282-514E-725074135BC4}"/>
              </a:ext>
            </a:extLst>
          </p:cNvPr>
          <p:cNvSpPr txBox="1"/>
          <p:nvPr/>
        </p:nvSpPr>
        <p:spPr>
          <a:xfrm>
            <a:off x="4565440" y="2266950"/>
            <a:ext cx="2116663" cy="584775"/>
          </a:xfrm>
          <a:prstGeom prst="rect">
            <a:avLst/>
          </a:prstGeom>
          <a:noFill/>
        </p:spPr>
        <p:txBody>
          <a:bodyPr wrap="square" rtlCol="0">
            <a:spAutoFit/>
          </a:bodyPr>
          <a:lstStyle/>
          <a:p>
            <a:r>
              <a:rPr lang="en-US" sz="1600" b="1" dirty="0">
                <a:solidFill>
                  <a:schemeClr val="bg1"/>
                </a:solidFill>
              </a:rPr>
              <a:t>MITIGATE    RISK </a:t>
            </a:r>
          </a:p>
        </p:txBody>
      </p:sp>
      <p:sp>
        <p:nvSpPr>
          <p:cNvPr id="25" name="TextBox 24">
            <a:extLst>
              <a:ext uri="{FF2B5EF4-FFF2-40B4-BE49-F238E27FC236}">
                <a16:creationId xmlns:a16="http://schemas.microsoft.com/office/drawing/2014/main" id="{372CF5AB-1D77-300E-89AD-6A7BA5171793}"/>
              </a:ext>
            </a:extLst>
          </p:cNvPr>
          <p:cNvSpPr txBox="1"/>
          <p:nvPr/>
        </p:nvSpPr>
        <p:spPr>
          <a:xfrm>
            <a:off x="8442541" y="2266950"/>
            <a:ext cx="2116663" cy="584775"/>
          </a:xfrm>
          <a:prstGeom prst="rect">
            <a:avLst/>
          </a:prstGeom>
          <a:noFill/>
        </p:spPr>
        <p:txBody>
          <a:bodyPr wrap="square" rtlCol="0">
            <a:spAutoFit/>
          </a:bodyPr>
          <a:lstStyle/>
          <a:p>
            <a:r>
              <a:rPr lang="en-US" sz="1600" b="1" dirty="0">
                <a:solidFill>
                  <a:schemeClr val="bg1"/>
                </a:solidFill>
              </a:rPr>
              <a:t>ENHANCE VISIBILITY </a:t>
            </a:r>
          </a:p>
        </p:txBody>
      </p:sp>
      <p:sp>
        <p:nvSpPr>
          <p:cNvPr id="29" name="TextBox 28">
            <a:extLst>
              <a:ext uri="{FF2B5EF4-FFF2-40B4-BE49-F238E27FC236}">
                <a16:creationId xmlns:a16="http://schemas.microsoft.com/office/drawing/2014/main" id="{28CF0D26-4671-0440-DCCA-D0DC5C413AC1}"/>
              </a:ext>
            </a:extLst>
          </p:cNvPr>
          <p:cNvSpPr txBox="1"/>
          <p:nvPr/>
        </p:nvSpPr>
        <p:spPr>
          <a:xfrm>
            <a:off x="4722602" y="3018085"/>
            <a:ext cx="2889671" cy="1078992"/>
          </a:xfrm>
          <a:prstGeom prst="rect">
            <a:avLst/>
          </a:prstGeom>
          <a:noFill/>
        </p:spPr>
        <p:txBody>
          <a:bodyPr wrap="square" rtlCol="0">
            <a:spAutoFit/>
          </a:bodyPr>
          <a:lstStyle/>
          <a:p>
            <a:r>
              <a:rPr lang="en-US" sz="1600" dirty="0">
                <a:solidFill>
                  <a:srgbClr val="58595B"/>
                </a:solidFill>
              </a:rPr>
              <a:t>By partnering with time critical and cold chain logistics experts.</a:t>
            </a:r>
          </a:p>
        </p:txBody>
      </p:sp>
      <p:sp>
        <p:nvSpPr>
          <p:cNvPr id="40" name="TextBox 39">
            <a:extLst>
              <a:ext uri="{FF2B5EF4-FFF2-40B4-BE49-F238E27FC236}">
                <a16:creationId xmlns:a16="http://schemas.microsoft.com/office/drawing/2014/main" id="{E86E8484-9208-C590-B83C-F960E2F8DE72}"/>
              </a:ext>
            </a:extLst>
          </p:cNvPr>
          <p:cNvSpPr txBox="1"/>
          <p:nvPr/>
        </p:nvSpPr>
        <p:spPr>
          <a:xfrm>
            <a:off x="867944" y="3018087"/>
            <a:ext cx="2889671" cy="1077218"/>
          </a:xfrm>
          <a:prstGeom prst="rect">
            <a:avLst/>
          </a:prstGeom>
          <a:noFill/>
        </p:spPr>
        <p:txBody>
          <a:bodyPr wrap="square" rtlCol="0">
            <a:spAutoFit/>
          </a:bodyPr>
          <a:lstStyle/>
          <a:p>
            <a:r>
              <a:rPr lang="en-US" sz="1600" dirty="0">
                <a:solidFill>
                  <a:srgbClr val="58595B"/>
                </a:solidFill>
              </a:rPr>
              <a:t>By optimizing global supply chain to rapidly scale and adapt to increased demand </a:t>
            </a:r>
          </a:p>
        </p:txBody>
      </p:sp>
      <p:sp>
        <p:nvSpPr>
          <p:cNvPr id="46" name="TextBox 45">
            <a:extLst>
              <a:ext uri="{FF2B5EF4-FFF2-40B4-BE49-F238E27FC236}">
                <a16:creationId xmlns:a16="http://schemas.microsoft.com/office/drawing/2014/main" id="{6AC33A5F-FDC4-1BAB-DC78-D8B16CC1CFDF}"/>
              </a:ext>
            </a:extLst>
          </p:cNvPr>
          <p:cNvSpPr txBox="1"/>
          <p:nvPr/>
        </p:nvSpPr>
        <p:spPr>
          <a:xfrm>
            <a:off x="8570702" y="3018087"/>
            <a:ext cx="2889671" cy="1077218"/>
          </a:xfrm>
          <a:prstGeom prst="rect">
            <a:avLst/>
          </a:prstGeom>
          <a:noFill/>
        </p:spPr>
        <p:txBody>
          <a:bodyPr wrap="square" rtlCol="0">
            <a:spAutoFit/>
          </a:bodyPr>
          <a:lstStyle/>
          <a:p>
            <a:r>
              <a:rPr lang="en-US" sz="1600" dirty="0">
                <a:solidFill>
                  <a:srgbClr val="58595B"/>
                </a:solidFill>
              </a:rPr>
              <a:t>Using advanced technology platforms to provide insight across end-to-end service. </a:t>
            </a:r>
          </a:p>
        </p:txBody>
      </p:sp>
      <p:grpSp>
        <p:nvGrpSpPr>
          <p:cNvPr id="47" name="Group 46">
            <a:extLst>
              <a:ext uri="{FF2B5EF4-FFF2-40B4-BE49-F238E27FC236}">
                <a16:creationId xmlns:a16="http://schemas.microsoft.com/office/drawing/2014/main" id="{2BD69356-822C-63B2-032E-9D1127EB4D1F}"/>
              </a:ext>
            </a:extLst>
          </p:cNvPr>
          <p:cNvGrpSpPr>
            <a:grpSpLocks noChangeAspect="1"/>
          </p:cNvGrpSpPr>
          <p:nvPr/>
        </p:nvGrpSpPr>
        <p:grpSpPr>
          <a:xfrm>
            <a:off x="3084799" y="2274570"/>
            <a:ext cx="440752" cy="441960"/>
            <a:chOff x="2565400" y="4862513"/>
            <a:chExt cx="579438" cy="581025"/>
          </a:xfrm>
          <a:solidFill>
            <a:schemeClr val="accent2"/>
          </a:solidFill>
        </p:grpSpPr>
        <p:sp>
          <p:nvSpPr>
            <p:cNvPr id="48" name="Freeform 118">
              <a:extLst>
                <a:ext uri="{FF2B5EF4-FFF2-40B4-BE49-F238E27FC236}">
                  <a16:creationId xmlns:a16="http://schemas.microsoft.com/office/drawing/2014/main" id="{7A71904F-3ABB-3CB5-83CB-4682F0CD6525}"/>
                </a:ext>
              </a:extLst>
            </p:cNvPr>
            <p:cNvSpPr>
              <a:spLocks/>
            </p:cNvSpPr>
            <p:nvPr/>
          </p:nvSpPr>
          <p:spPr bwMode="auto">
            <a:xfrm>
              <a:off x="2716213" y="5019675"/>
              <a:ext cx="128588" cy="122238"/>
            </a:xfrm>
            <a:custGeom>
              <a:avLst/>
              <a:gdLst>
                <a:gd name="T0" fmla="*/ 0 w 19"/>
                <a:gd name="T1" fmla="*/ 18 h 18"/>
                <a:gd name="T2" fmla="*/ 19 w 19"/>
                <a:gd name="T3" fmla="*/ 18 h 18"/>
                <a:gd name="T4" fmla="*/ 19 w 19"/>
                <a:gd name="T5" fmla="*/ 2 h 18"/>
                <a:gd name="T6" fmla="*/ 3 w 19"/>
                <a:gd name="T7" fmla="*/ 0 h 18"/>
                <a:gd name="T8" fmla="*/ 0 w 19"/>
                <a:gd name="T9" fmla="*/ 18 h 18"/>
              </a:gdLst>
              <a:ahLst/>
              <a:cxnLst>
                <a:cxn ang="0">
                  <a:pos x="T0" y="T1"/>
                </a:cxn>
                <a:cxn ang="0">
                  <a:pos x="T2" y="T3"/>
                </a:cxn>
                <a:cxn ang="0">
                  <a:pos x="T4" y="T5"/>
                </a:cxn>
                <a:cxn ang="0">
                  <a:pos x="T6" y="T7"/>
                </a:cxn>
                <a:cxn ang="0">
                  <a:pos x="T8" y="T9"/>
                </a:cxn>
              </a:cxnLst>
              <a:rect l="0" t="0" r="r" b="b"/>
              <a:pathLst>
                <a:path w="19" h="18">
                  <a:moveTo>
                    <a:pt x="0" y="18"/>
                  </a:moveTo>
                  <a:cubicBezTo>
                    <a:pt x="19" y="18"/>
                    <a:pt x="19" y="18"/>
                    <a:pt x="19" y="18"/>
                  </a:cubicBezTo>
                  <a:cubicBezTo>
                    <a:pt x="19" y="2"/>
                    <a:pt x="19" y="2"/>
                    <a:pt x="19" y="2"/>
                  </a:cubicBezTo>
                  <a:cubicBezTo>
                    <a:pt x="14" y="1"/>
                    <a:pt x="8" y="1"/>
                    <a:pt x="3" y="0"/>
                  </a:cubicBezTo>
                  <a:cubicBezTo>
                    <a:pt x="1" y="5"/>
                    <a:pt x="0" y="12"/>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119">
              <a:extLst>
                <a:ext uri="{FF2B5EF4-FFF2-40B4-BE49-F238E27FC236}">
                  <a16:creationId xmlns:a16="http://schemas.microsoft.com/office/drawing/2014/main" id="{A3140EE5-6239-8BDA-BE6F-08A399963A8D}"/>
                </a:ext>
              </a:extLst>
            </p:cNvPr>
            <p:cNvSpPr>
              <a:spLocks/>
            </p:cNvSpPr>
            <p:nvPr/>
          </p:nvSpPr>
          <p:spPr bwMode="auto">
            <a:xfrm>
              <a:off x="2647950" y="4862513"/>
              <a:ext cx="149225" cy="123825"/>
            </a:xfrm>
            <a:custGeom>
              <a:avLst/>
              <a:gdLst>
                <a:gd name="T0" fmla="*/ 11 w 22"/>
                <a:gd name="T1" fmla="*/ 18 h 18"/>
                <a:gd name="T2" fmla="*/ 13 w 22"/>
                <a:gd name="T3" fmla="*/ 11 h 18"/>
                <a:gd name="T4" fmla="*/ 22 w 22"/>
                <a:gd name="T5" fmla="*/ 0 h 18"/>
                <a:gd name="T6" fmla="*/ 0 w 22"/>
                <a:gd name="T7" fmla="*/ 13 h 18"/>
                <a:gd name="T8" fmla="*/ 2 w 22"/>
                <a:gd name="T9" fmla="*/ 14 h 18"/>
                <a:gd name="T10" fmla="*/ 11 w 22"/>
                <a:gd name="T11" fmla="*/ 18 h 18"/>
              </a:gdLst>
              <a:ahLst/>
              <a:cxnLst>
                <a:cxn ang="0">
                  <a:pos x="T0" y="T1"/>
                </a:cxn>
                <a:cxn ang="0">
                  <a:pos x="T2" y="T3"/>
                </a:cxn>
                <a:cxn ang="0">
                  <a:pos x="T4" y="T5"/>
                </a:cxn>
                <a:cxn ang="0">
                  <a:pos x="T6" y="T7"/>
                </a:cxn>
                <a:cxn ang="0">
                  <a:pos x="T8" y="T9"/>
                </a:cxn>
                <a:cxn ang="0">
                  <a:pos x="T10" y="T11"/>
                </a:cxn>
              </a:cxnLst>
              <a:rect l="0" t="0" r="r" b="b"/>
              <a:pathLst>
                <a:path w="22" h="18">
                  <a:moveTo>
                    <a:pt x="11" y="18"/>
                  </a:moveTo>
                  <a:cubicBezTo>
                    <a:pt x="11" y="15"/>
                    <a:pt x="12" y="13"/>
                    <a:pt x="13" y="11"/>
                  </a:cubicBezTo>
                  <a:cubicBezTo>
                    <a:pt x="16" y="6"/>
                    <a:pt x="19" y="3"/>
                    <a:pt x="22" y="0"/>
                  </a:cubicBezTo>
                  <a:cubicBezTo>
                    <a:pt x="14" y="2"/>
                    <a:pt x="6" y="7"/>
                    <a:pt x="0" y="13"/>
                  </a:cubicBezTo>
                  <a:cubicBezTo>
                    <a:pt x="1" y="13"/>
                    <a:pt x="1" y="14"/>
                    <a:pt x="2" y="14"/>
                  </a:cubicBezTo>
                  <a:cubicBezTo>
                    <a:pt x="4" y="15"/>
                    <a:pt x="7" y="17"/>
                    <a:pt x="11"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120">
              <a:extLst>
                <a:ext uri="{FF2B5EF4-FFF2-40B4-BE49-F238E27FC236}">
                  <a16:creationId xmlns:a16="http://schemas.microsoft.com/office/drawing/2014/main" id="{09273242-9774-FA38-2F1A-B5507B4BA696}"/>
                </a:ext>
              </a:extLst>
            </p:cNvPr>
            <p:cNvSpPr>
              <a:spLocks/>
            </p:cNvSpPr>
            <p:nvPr/>
          </p:nvSpPr>
          <p:spPr bwMode="auto">
            <a:xfrm>
              <a:off x="2743200" y="4870450"/>
              <a:ext cx="101600" cy="136525"/>
            </a:xfrm>
            <a:custGeom>
              <a:avLst/>
              <a:gdLst>
                <a:gd name="T0" fmla="*/ 3 w 15"/>
                <a:gd name="T1" fmla="*/ 12 h 20"/>
                <a:gd name="T2" fmla="*/ 0 w 15"/>
                <a:gd name="T3" fmla="*/ 18 h 20"/>
                <a:gd name="T4" fmla="*/ 15 w 15"/>
                <a:gd name="T5" fmla="*/ 20 h 20"/>
                <a:gd name="T6" fmla="*/ 15 w 15"/>
                <a:gd name="T7" fmla="*/ 0 h 20"/>
                <a:gd name="T8" fmla="*/ 10 w 15"/>
                <a:gd name="T9" fmla="*/ 3 h 20"/>
                <a:gd name="T10" fmla="*/ 3 w 15"/>
                <a:gd name="T11" fmla="*/ 12 h 20"/>
              </a:gdLst>
              <a:ahLst/>
              <a:cxnLst>
                <a:cxn ang="0">
                  <a:pos x="T0" y="T1"/>
                </a:cxn>
                <a:cxn ang="0">
                  <a:pos x="T2" y="T3"/>
                </a:cxn>
                <a:cxn ang="0">
                  <a:pos x="T4" y="T5"/>
                </a:cxn>
                <a:cxn ang="0">
                  <a:pos x="T6" y="T7"/>
                </a:cxn>
                <a:cxn ang="0">
                  <a:pos x="T8" y="T9"/>
                </a:cxn>
                <a:cxn ang="0">
                  <a:pos x="T10" y="T11"/>
                </a:cxn>
              </a:cxnLst>
              <a:rect l="0" t="0" r="r" b="b"/>
              <a:pathLst>
                <a:path w="15" h="20">
                  <a:moveTo>
                    <a:pt x="3" y="12"/>
                  </a:moveTo>
                  <a:cubicBezTo>
                    <a:pt x="2" y="14"/>
                    <a:pt x="1" y="16"/>
                    <a:pt x="0" y="18"/>
                  </a:cubicBezTo>
                  <a:cubicBezTo>
                    <a:pt x="5" y="19"/>
                    <a:pt x="10" y="20"/>
                    <a:pt x="15" y="20"/>
                  </a:cubicBezTo>
                  <a:cubicBezTo>
                    <a:pt x="15" y="0"/>
                    <a:pt x="15" y="0"/>
                    <a:pt x="15" y="0"/>
                  </a:cubicBezTo>
                  <a:cubicBezTo>
                    <a:pt x="13" y="1"/>
                    <a:pt x="11" y="2"/>
                    <a:pt x="10" y="3"/>
                  </a:cubicBezTo>
                  <a:cubicBezTo>
                    <a:pt x="7" y="5"/>
                    <a:pt x="5" y="8"/>
                    <a:pt x="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121">
              <a:extLst>
                <a:ext uri="{FF2B5EF4-FFF2-40B4-BE49-F238E27FC236}">
                  <a16:creationId xmlns:a16="http://schemas.microsoft.com/office/drawing/2014/main" id="{E978854F-133F-56AD-2C49-9D8DE7873342}"/>
                </a:ext>
              </a:extLst>
            </p:cNvPr>
            <p:cNvSpPr>
              <a:spLocks/>
            </p:cNvSpPr>
            <p:nvPr/>
          </p:nvSpPr>
          <p:spPr bwMode="auto">
            <a:xfrm>
              <a:off x="2565400" y="4972050"/>
              <a:ext cx="142875" cy="169863"/>
            </a:xfrm>
            <a:custGeom>
              <a:avLst/>
              <a:gdLst>
                <a:gd name="T0" fmla="*/ 21 w 21"/>
                <a:gd name="T1" fmla="*/ 5 h 25"/>
                <a:gd name="T2" fmla="*/ 12 w 21"/>
                <a:gd name="T3" fmla="*/ 1 h 25"/>
                <a:gd name="T4" fmla="*/ 9 w 21"/>
                <a:gd name="T5" fmla="*/ 0 h 25"/>
                <a:gd name="T6" fmla="*/ 0 w 21"/>
                <a:gd name="T7" fmla="*/ 25 h 25"/>
                <a:gd name="T8" fmla="*/ 18 w 21"/>
                <a:gd name="T9" fmla="*/ 25 h 25"/>
                <a:gd name="T10" fmla="*/ 21 w 21"/>
                <a:gd name="T11" fmla="*/ 5 h 25"/>
              </a:gdLst>
              <a:ahLst/>
              <a:cxnLst>
                <a:cxn ang="0">
                  <a:pos x="T0" y="T1"/>
                </a:cxn>
                <a:cxn ang="0">
                  <a:pos x="T2" y="T3"/>
                </a:cxn>
                <a:cxn ang="0">
                  <a:pos x="T4" y="T5"/>
                </a:cxn>
                <a:cxn ang="0">
                  <a:pos x="T6" y="T7"/>
                </a:cxn>
                <a:cxn ang="0">
                  <a:pos x="T8" y="T9"/>
                </a:cxn>
                <a:cxn ang="0">
                  <a:pos x="T10" y="T11"/>
                </a:cxn>
              </a:cxnLst>
              <a:rect l="0" t="0" r="r" b="b"/>
              <a:pathLst>
                <a:path w="21" h="25">
                  <a:moveTo>
                    <a:pt x="21" y="5"/>
                  </a:moveTo>
                  <a:cubicBezTo>
                    <a:pt x="18" y="4"/>
                    <a:pt x="15" y="3"/>
                    <a:pt x="12" y="1"/>
                  </a:cubicBezTo>
                  <a:cubicBezTo>
                    <a:pt x="11" y="1"/>
                    <a:pt x="10" y="0"/>
                    <a:pt x="9" y="0"/>
                  </a:cubicBezTo>
                  <a:cubicBezTo>
                    <a:pt x="4" y="7"/>
                    <a:pt x="0" y="16"/>
                    <a:pt x="0" y="25"/>
                  </a:cubicBezTo>
                  <a:cubicBezTo>
                    <a:pt x="18" y="25"/>
                    <a:pt x="18" y="25"/>
                    <a:pt x="18" y="25"/>
                  </a:cubicBezTo>
                  <a:cubicBezTo>
                    <a:pt x="19" y="18"/>
                    <a:pt x="20" y="12"/>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122">
              <a:extLst>
                <a:ext uri="{FF2B5EF4-FFF2-40B4-BE49-F238E27FC236}">
                  <a16:creationId xmlns:a16="http://schemas.microsoft.com/office/drawing/2014/main" id="{B68F3A07-1D5F-86FE-F174-8907FCF754C1}"/>
                </a:ext>
              </a:extLst>
            </p:cNvPr>
            <p:cNvSpPr>
              <a:spLocks/>
            </p:cNvSpPr>
            <p:nvPr/>
          </p:nvSpPr>
          <p:spPr bwMode="auto">
            <a:xfrm>
              <a:off x="2865438" y="5019675"/>
              <a:ext cx="130175" cy="122238"/>
            </a:xfrm>
            <a:custGeom>
              <a:avLst/>
              <a:gdLst>
                <a:gd name="T0" fmla="*/ 16 w 19"/>
                <a:gd name="T1" fmla="*/ 0 h 18"/>
                <a:gd name="T2" fmla="*/ 0 w 19"/>
                <a:gd name="T3" fmla="*/ 2 h 18"/>
                <a:gd name="T4" fmla="*/ 0 w 19"/>
                <a:gd name="T5" fmla="*/ 18 h 18"/>
                <a:gd name="T6" fmla="*/ 19 w 19"/>
                <a:gd name="T7" fmla="*/ 18 h 18"/>
                <a:gd name="T8" fmla="*/ 16 w 19"/>
                <a:gd name="T9" fmla="*/ 0 h 18"/>
              </a:gdLst>
              <a:ahLst/>
              <a:cxnLst>
                <a:cxn ang="0">
                  <a:pos x="T0" y="T1"/>
                </a:cxn>
                <a:cxn ang="0">
                  <a:pos x="T2" y="T3"/>
                </a:cxn>
                <a:cxn ang="0">
                  <a:pos x="T4" y="T5"/>
                </a:cxn>
                <a:cxn ang="0">
                  <a:pos x="T6" y="T7"/>
                </a:cxn>
                <a:cxn ang="0">
                  <a:pos x="T8" y="T9"/>
                </a:cxn>
              </a:cxnLst>
              <a:rect l="0" t="0" r="r" b="b"/>
              <a:pathLst>
                <a:path w="19" h="18">
                  <a:moveTo>
                    <a:pt x="16" y="0"/>
                  </a:moveTo>
                  <a:cubicBezTo>
                    <a:pt x="11" y="1"/>
                    <a:pt x="6" y="1"/>
                    <a:pt x="0" y="2"/>
                  </a:cubicBezTo>
                  <a:cubicBezTo>
                    <a:pt x="0" y="18"/>
                    <a:pt x="0" y="18"/>
                    <a:pt x="0" y="18"/>
                  </a:cubicBezTo>
                  <a:cubicBezTo>
                    <a:pt x="19" y="18"/>
                    <a:pt x="19" y="18"/>
                    <a:pt x="19" y="18"/>
                  </a:cubicBezTo>
                  <a:cubicBezTo>
                    <a:pt x="19" y="12"/>
                    <a:pt x="18" y="5"/>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123">
              <a:extLst>
                <a:ext uri="{FF2B5EF4-FFF2-40B4-BE49-F238E27FC236}">
                  <a16:creationId xmlns:a16="http://schemas.microsoft.com/office/drawing/2014/main" id="{57583A07-292C-4C8E-BD36-621712CB5BF0}"/>
                </a:ext>
              </a:extLst>
            </p:cNvPr>
            <p:cNvSpPr>
              <a:spLocks/>
            </p:cNvSpPr>
            <p:nvPr/>
          </p:nvSpPr>
          <p:spPr bwMode="auto">
            <a:xfrm>
              <a:off x="2913063" y="4862513"/>
              <a:ext cx="150813" cy="123825"/>
            </a:xfrm>
            <a:custGeom>
              <a:avLst/>
              <a:gdLst>
                <a:gd name="T0" fmla="*/ 9 w 22"/>
                <a:gd name="T1" fmla="*/ 11 h 18"/>
                <a:gd name="T2" fmla="*/ 11 w 22"/>
                <a:gd name="T3" fmla="*/ 18 h 18"/>
                <a:gd name="T4" fmla="*/ 20 w 22"/>
                <a:gd name="T5" fmla="*/ 14 h 18"/>
                <a:gd name="T6" fmla="*/ 22 w 22"/>
                <a:gd name="T7" fmla="*/ 13 h 18"/>
                <a:gd name="T8" fmla="*/ 0 w 22"/>
                <a:gd name="T9" fmla="*/ 0 h 18"/>
                <a:gd name="T10" fmla="*/ 9 w 22"/>
                <a:gd name="T11" fmla="*/ 11 h 18"/>
              </a:gdLst>
              <a:ahLst/>
              <a:cxnLst>
                <a:cxn ang="0">
                  <a:pos x="T0" y="T1"/>
                </a:cxn>
                <a:cxn ang="0">
                  <a:pos x="T2" y="T3"/>
                </a:cxn>
                <a:cxn ang="0">
                  <a:pos x="T4" y="T5"/>
                </a:cxn>
                <a:cxn ang="0">
                  <a:pos x="T6" y="T7"/>
                </a:cxn>
                <a:cxn ang="0">
                  <a:pos x="T8" y="T9"/>
                </a:cxn>
                <a:cxn ang="0">
                  <a:pos x="T10" y="T11"/>
                </a:cxn>
              </a:cxnLst>
              <a:rect l="0" t="0" r="r" b="b"/>
              <a:pathLst>
                <a:path w="22" h="18">
                  <a:moveTo>
                    <a:pt x="9" y="11"/>
                  </a:moveTo>
                  <a:cubicBezTo>
                    <a:pt x="10" y="13"/>
                    <a:pt x="11" y="15"/>
                    <a:pt x="11" y="18"/>
                  </a:cubicBezTo>
                  <a:cubicBezTo>
                    <a:pt x="15" y="17"/>
                    <a:pt x="18" y="15"/>
                    <a:pt x="20" y="14"/>
                  </a:cubicBezTo>
                  <a:cubicBezTo>
                    <a:pt x="21" y="14"/>
                    <a:pt x="22" y="13"/>
                    <a:pt x="22" y="13"/>
                  </a:cubicBezTo>
                  <a:cubicBezTo>
                    <a:pt x="16" y="7"/>
                    <a:pt x="8" y="2"/>
                    <a:pt x="0" y="0"/>
                  </a:cubicBezTo>
                  <a:cubicBezTo>
                    <a:pt x="3" y="3"/>
                    <a:pt x="6" y="6"/>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124">
              <a:extLst>
                <a:ext uri="{FF2B5EF4-FFF2-40B4-BE49-F238E27FC236}">
                  <a16:creationId xmlns:a16="http://schemas.microsoft.com/office/drawing/2014/main" id="{FB6933F4-7022-E522-63B7-63F047EC7B5A}"/>
                </a:ext>
              </a:extLst>
            </p:cNvPr>
            <p:cNvSpPr>
              <a:spLocks/>
            </p:cNvSpPr>
            <p:nvPr/>
          </p:nvSpPr>
          <p:spPr bwMode="auto">
            <a:xfrm>
              <a:off x="2865438" y="4870450"/>
              <a:ext cx="103188" cy="136525"/>
            </a:xfrm>
            <a:custGeom>
              <a:avLst/>
              <a:gdLst>
                <a:gd name="T0" fmla="*/ 12 w 15"/>
                <a:gd name="T1" fmla="*/ 12 h 20"/>
                <a:gd name="T2" fmla="*/ 5 w 15"/>
                <a:gd name="T3" fmla="*/ 3 h 20"/>
                <a:gd name="T4" fmla="*/ 0 w 15"/>
                <a:gd name="T5" fmla="*/ 0 h 20"/>
                <a:gd name="T6" fmla="*/ 0 w 15"/>
                <a:gd name="T7" fmla="*/ 20 h 20"/>
                <a:gd name="T8" fmla="*/ 15 w 15"/>
                <a:gd name="T9" fmla="*/ 18 h 20"/>
                <a:gd name="T10" fmla="*/ 12 w 15"/>
                <a:gd name="T11" fmla="*/ 12 h 20"/>
              </a:gdLst>
              <a:ahLst/>
              <a:cxnLst>
                <a:cxn ang="0">
                  <a:pos x="T0" y="T1"/>
                </a:cxn>
                <a:cxn ang="0">
                  <a:pos x="T2" y="T3"/>
                </a:cxn>
                <a:cxn ang="0">
                  <a:pos x="T4" y="T5"/>
                </a:cxn>
                <a:cxn ang="0">
                  <a:pos x="T6" y="T7"/>
                </a:cxn>
                <a:cxn ang="0">
                  <a:pos x="T8" y="T9"/>
                </a:cxn>
                <a:cxn ang="0">
                  <a:pos x="T10" y="T11"/>
                </a:cxn>
              </a:cxnLst>
              <a:rect l="0" t="0" r="r" b="b"/>
              <a:pathLst>
                <a:path w="15" h="20">
                  <a:moveTo>
                    <a:pt x="12" y="12"/>
                  </a:moveTo>
                  <a:cubicBezTo>
                    <a:pt x="10" y="8"/>
                    <a:pt x="8" y="5"/>
                    <a:pt x="5" y="3"/>
                  </a:cubicBezTo>
                  <a:cubicBezTo>
                    <a:pt x="4" y="2"/>
                    <a:pt x="2" y="1"/>
                    <a:pt x="0" y="0"/>
                  </a:cubicBezTo>
                  <a:cubicBezTo>
                    <a:pt x="0" y="20"/>
                    <a:pt x="0" y="20"/>
                    <a:pt x="0" y="20"/>
                  </a:cubicBezTo>
                  <a:cubicBezTo>
                    <a:pt x="5" y="20"/>
                    <a:pt x="10" y="19"/>
                    <a:pt x="15" y="18"/>
                  </a:cubicBezTo>
                  <a:cubicBezTo>
                    <a:pt x="14" y="16"/>
                    <a:pt x="13" y="14"/>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125">
              <a:extLst>
                <a:ext uri="{FF2B5EF4-FFF2-40B4-BE49-F238E27FC236}">
                  <a16:creationId xmlns:a16="http://schemas.microsoft.com/office/drawing/2014/main" id="{5413F869-AD26-3AC0-35DE-F547785FA968}"/>
                </a:ext>
              </a:extLst>
            </p:cNvPr>
            <p:cNvSpPr>
              <a:spLocks/>
            </p:cNvSpPr>
            <p:nvPr/>
          </p:nvSpPr>
          <p:spPr bwMode="auto">
            <a:xfrm>
              <a:off x="3001963" y="4972050"/>
              <a:ext cx="142875" cy="169863"/>
            </a:xfrm>
            <a:custGeom>
              <a:avLst/>
              <a:gdLst>
                <a:gd name="T0" fmla="*/ 3 w 21"/>
                <a:gd name="T1" fmla="*/ 25 h 25"/>
                <a:gd name="T2" fmla="*/ 21 w 21"/>
                <a:gd name="T3" fmla="*/ 25 h 25"/>
                <a:gd name="T4" fmla="*/ 12 w 21"/>
                <a:gd name="T5" fmla="*/ 0 h 25"/>
                <a:gd name="T6" fmla="*/ 9 w 21"/>
                <a:gd name="T7" fmla="*/ 1 h 25"/>
                <a:gd name="T8" fmla="*/ 0 w 21"/>
                <a:gd name="T9" fmla="*/ 5 h 25"/>
                <a:gd name="T10" fmla="*/ 3 w 21"/>
                <a:gd name="T11" fmla="*/ 25 h 25"/>
              </a:gdLst>
              <a:ahLst/>
              <a:cxnLst>
                <a:cxn ang="0">
                  <a:pos x="T0" y="T1"/>
                </a:cxn>
                <a:cxn ang="0">
                  <a:pos x="T2" y="T3"/>
                </a:cxn>
                <a:cxn ang="0">
                  <a:pos x="T4" y="T5"/>
                </a:cxn>
                <a:cxn ang="0">
                  <a:pos x="T6" y="T7"/>
                </a:cxn>
                <a:cxn ang="0">
                  <a:pos x="T8" y="T9"/>
                </a:cxn>
                <a:cxn ang="0">
                  <a:pos x="T10" y="T11"/>
                </a:cxn>
              </a:cxnLst>
              <a:rect l="0" t="0" r="r" b="b"/>
              <a:pathLst>
                <a:path w="21" h="25">
                  <a:moveTo>
                    <a:pt x="3" y="25"/>
                  </a:moveTo>
                  <a:cubicBezTo>
                    <a:pt x="21" y="25"/>
                    <a:pt x="21" y="25"/>
                    <a:pt x="21" y="25"/>
                  </a:cubicBezTo>
                  <a:cubicBezTo>
                    <a:pt x="21" y="16"/>
                    <a:pt x="17" y="7"/>
                    <a:pt x="12" y="0"/>
                  </a:cubicBezTo>
                  <a:cubicBezTo>
                    <a:pt x="11" y="0"/>
                    <a:pt x="10" y="1"/>
                    <a:pt x="9" y="1"/>
                  </a:cubicBezTo>
                  <a:cubicBezTo>
                    <a:pt x="6" y="3"/>
                    <a:pt x="3" y="4"/>
                    <a:pt x="0" y="5"/>
                  </a:cubicBezTo>
                  <a:cubicBezTo>
                    <a:pt x="1" y="12"/>
                    <a:pt x="2" y="18"/>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126">
              <a:extLst>
                <a:ext uri="{FF2B5EF4-FFF2-40B4-BE49-F238E27FC236}">
                  <a16:creationId xmlns:a16="http://schemas.microsoft.com/office/drawing/2014/main" id="{438FBBAC-10CF-F98D-02E0-C5E6C4DF9985}"/>
                </a:ext>
              </a:extLst>
            </p:cNvPr>
            <p:cNvSpPr>
              <a:spLocks/>
            </p:cNvSpPr>
            <p:nvPr/>
          </p:nvSpPr>
          <p:spPr bwMode="auto">
            <a:xfrm>
              <a:off x="2716213" y="5162550"/>
              <a:ext cx="128588" cy="130175"/>
            </a:xfrm>
            <a:custGeom>
              <a:avLst/>
              <a:gdLst>
                <a:gd name="T0" fmla="*/ 3 w 19"/>
                <a:gd name="T1" fmla="*/ 19 h 19"/>
                <a:gd name="T2" fmla="*/ 19 w 19"/>
                <a:gd name="T3" fmla="*/ 17 h 19"/>
                <a:gd name="T4" fmla="*/ 19 w 19"/>
                <a:gd name="T5" fmla="*/ 0 h 19"/>
                <a:gd name="T6" fmla="*/ 0 w 19"/>
                <a:gd name="T7" fmla="*/ 0 h 19"/>
                <a:gd name="T8" fmla="*/ 3 w 19"/>
                <a:gd name="T9" fmla="*/ 19 h 19"/>
              </a:gdLst>
              <a:ahLst/>
              <a:cxnLst>
                <a:cxn ang="0">
                  <a:pos x="T0" y="T1"/>
                </a:cxn>
                <a:cxn ang="0">
                  <a:pos x="T2" y="T3"/>
                </a:cxn>
                <a:cxn ang="0">
                  <a:pos x="T4" y="T5"/>
                </a:cxn>
                <a:cxn ang="0">
                  <a:pos x="T6" y="T7"/>
                </a:cxn>
                <a:cxn ang="0">
                  <a:pos x="T8" y="T9"/>
                </a:cxn>
              </a:cxnLst>
              <a:rect l="0" t="0" r="r" b="b"/>
              <a:pathLst>
                <a:path w="19" h="19">
                  <a:moveTo>
                    <a:pt x="3" y="19"/>
                  </a:moveTo>
                  <a:cubicBezTo>
                    <a:pt x="8" y="18"/>
                    <a:pt x="14" y="17"/>
                    <a:pt x="19" y="17"/>
                  </a:cubicBezTo>
                  <a:cubicBezTo>
                    <a:pt x="19" y="0"/>
                    <a:pt x="19" y="0"/>
                    <a:pt x="19" y="0"/>
                  </a:cubicBezTo>
                  <a:cubicBezTo>
                    <a:pt x="0" y="0"/>
                    <a:pt x="0" y="0"/>
                    <a:pt x="0" y="0"/>
                  </a:cubicBezTo>
                  <a:cubicBezTo>
                    <a:pt x="0" y="7"/>
                    <a:pt x="1" y="13"/>
                    <a:pt x="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127">
              <a:extLst>
                <a:ext uri="{FF2B5EF4-FFF2-40B4-BE49-F238E27FC236}">
                  <a16:creationId xmlns:a16="http://schemas.microsoft.com/office/drawing/2014/main" id="{64C78C99-F184-DC38-60D2-2D1261753EE2}"/>
                </a:ext>
              </a:extLst>
            </p:cNvPr>
            <p:cNvSpPr>
              <a:spLocks/>
            </p:cNvSpPr>
            <p:nvPr/>
          </p:nvSpPr>
          <p:spPr bwMode="auto">
            <a:xfrm>
              <a:off x="2647950" y="5326063"/>
              <a:ext cx="149225" cy="117475"/>
            </a:xfrm>
            <a:custGeom>
              <a:avLst/>
              <a:gdLst>
                <a:gd name="T0" fmla="*/ 13 w 22"/>
                <a:gd name="T1" fmla="*/ 6 h 17"/>
                <a:gd name="T2" fmla="*/ 11 w 22"/>
                <a:gd name="T3" fmla="*/ 0 h 17"/>
                <a:gd name="T4" fmla="*/ 2 w 22"/>
                <a:gd name="T5" fmla="*/ 4 h 17"/>
                <a:gd name="T6" fmla="*/ 0 w 22"/>
                <a:gd name="T7" fmla="*/ 5 h 17"/>
                <a:gd name="T8" fmla="*/ 22 w 22"/>
                <a:gd name="T9" fmla="*/ 17 h 17"/>
                <a:gd name="T10" fmla="*/ 13 w 22"/>
                <a:gd name="T11" fmla="*/ 6 h 17"/>
              </a:gdLst>
              <a:ahLst/>
              <a:cxnLst>
                <a:cxn ang="0">
                  <a:pos x="T0" y="T1"/>
                </a:cxn>
                <a:cxn ang="0">
                  <a:pos x="T2" y="T3"/>
                </a:cxn>
                <a:cxn ang="0">
                  <a:pos x="T4" y="T5"/>
                </a:cxn>
                <a:cxn ang="0">
                  <a:pos x="T6" y="T7"/>
                </a:cxn>
                <a:cxn ang="0">
                  <a:pos x="T8" y="T9"/>
                </a:cxn>
                <a:cxn ang="0">
                  <a:pos x="T10" y="T11"/>
                </a:cxn>
              </a:cxnLst>
              <a:rect l="0" t="0" r="r" b="b"/>
              <a:pathLst>
                <a:path w="22" h="17">
                  <a:moveTo>
                    <a:pt x="13" y="6"/>
                  </a:moveTo>
                  <a:cubicBezTo>
                    <a:pt x="12" y="4"/>
                    <a:pt x="11" y="2"/>
                    <a:pt x="11" y="0"/>
                  </a:cubicBezTo>
                  <a:cubicBezTo>
                    <a:pt x="7" y="1"/>
                    <a:pt x="4" y="2"/>
                    <a:pt x="2" y="4"/>
                  </a:cubicBezTo>
                  <a:cubicBezTo>
                    <a:pt x="1" y="4"/>
                    <a:pt x="1" y="4"/>
                    <a:pt x="0" y="5"/>
                  </a:cubicBezTo>
                  <a:cubicBezTo>
                    <a:pt x="6" y="11"/>
                    <a:pt x="14" y="16"/>
                    <a:pt x="22" y="17"/>
                  </a:cubicBezTo>
                  <a:cubicBezTo>
                    <a:pt x="19" y="15"/>
                    <a:pt x="16" y="11"/>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128">
              <a:extLst>
                <a:ext uri="{FF2B5EF4-FFF2-40B4-BE49-F238E27FC236}">
                  <a16:creationId xmlns:a16="http://schemas.microsoft.com/office/drawing/2014/main" id="{2CF5DDCF-ED1B-08F1-3562-09190544CFA1}"/>
                </a:ext>
              </a:extLst>
            </p:cNvPr>
            <p:cNvSpPr>
              <a:spLocks/>
            </p:cNvSpPr>
            <p:nvPr/>
          </p:nvSpPr>
          <p:spPr bwMode="auto">
            <a:xfrm>
              <a:off x="2743200" y="5307013"/>
              <a:ext cx="101600" cy="128588"/>
            </a:xfrm>
            <a:custGeom>
              <a:avLst/>
              <a:gdLst>
                <a:gd name="T0" fmla="*/ 3 w 15"/>
                <a:gd name="T1" fmla="*/ 7 h 19"/>
                <a:gd name="T2" fmla="*/ 10 w 15"/>
                <a:gd name="T3" fmla="*/ 16 h 19"/>
                <a:gd name="T4" fmla="*/ 15 w 15"/>
                <a:gd name="T5" fmla="*/ 19 h 19"/>
                <a:gd name="T6" fmla="*/ 15 w 15"/>
                <a:gd name="T7" fmla="*/ 0 h 19"/>
                <a:gd name="T8" fmla="*/ 0 w 15"/>
                <a:gd name="T9" fmla="*/ 2 h 19"/>
                <a:gd name="T10" fmla="*/ 3 w 15"/>
                <a:gd name="T11" fmla="*/ 7 h 19"/>
              </a:gdLst>
              <a:ahLst/>
              <a:cxnLst>
                <a:cxn ang="0">
                  <a:pos x="T0" y="T1"/>
                </a:cxn>
                <a:cxn ang="0">
                  <a:pos x="T2" y="T3"/>
                </a:cxn>
                <a:cxn ang="0">
                  <a:pos x="T4" y="T5"/>
                </a:cxn>
                <a:cxn ang="0">
                  <a:pos x="T6" y="T7"/>
                </a:cxn>
                <a:cxn ang="0">
                  <a:pos x="T8" y="T9"/>
                </a:cxn>
                <a:cxn ang="0">
                  <a:pos x="T10" y="T11"/>
                </a:cxn>
              </a:cxnLst>
              <a:rect l="0" t="0" r="r" b="b"/>
              <a:pathLst>
                <a:path w="15" h="19">
                  <a:moveTo>
                    <a:pt x="3" y="7"/>
                  </a:moveTo>
                  <a:cubicBezTo>
                    <a:pt x="5" y="11"/>
                    <a:pt x="7" y="14"/>
                    <a:pt x="10" y="16"/>
                  </a:cubicBezTo>
                  <a:cubicBezTo>
                    <a:pt x="11" y="18"/>
                    <a:pt x="13" y="19"/>
                    <a:pt x="15" y="19"/>
                  </a:cubicBezTo>
                  <a:cubicBezTo>
                    <a:pt x="15" y="0"/>
                    <a:pt x="15" y="0"/>
                    <a:pt x="15" y="0"/>
                  </a:cubicBezTo>
                  <a:cubicBezTo>
                    <a:pt x="10" y="0"/>
                    <a:pt x="5" y="1"/>
                    <a:pt x="0" y="2"/>
                  </a:cubicBezTo>
                  <a:cubicBezTo>
                    <a:pt x="1" y="4"/>
                    <a:pt x="2" y="6"/>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9" name="Freeform 129">
              <a:extLst>
                <a:ext uri="{FF2B5EF4-FFF2-40B4-BE49-F238E27FC236}">
                  <a16:creationId xmlns:a16="http://schemas.microsoft.com/office/drawing/2014/main" id="{7DC1B150-4A41-BB83-F420-3FB8A201ABDD}"/>
                </a:ext>
              </a:extLst>
            </p:cNvPr>
            <p:cNvSpPr>
              <a:spLocks/>
            </p:cNvSpPr>
            <p:nvPr/>
          </p:nvSpPr>
          <p:spPr bwMode="auto">
            <a:xfrm>
              <a:off x="2565400" y="5162550"/>
              <a:ext cx="142875" cy="177800"/>
            </a:xfrm>
            <a:custGeom>
              <a:avLst/>
              <a:gdLst>
                <a:gd name="T0" fmla="*/ 18 w 21"/>
                <a:gd name="T1" fmla="*/ 0 h 26"/>
                <a:gd name="T2" fmla="*/ 0 w 21"/>
                <a:gd name="T3" fmla="*/ 0 h 26"/>
                <a:gd name="T4" fmla="*/ 9 w 21"/>
                <a:gd name="T5" fmla="*/ 26 h 26"/>
                <a:gd name="T6" fmla="*/ 12 w 21"/>
                <a:gd name="T7" fmla="*/ 24 h 26"/>
                <a:gd name="T8" fmla="*/ 21 w 21"/>
                <a:gd name="T9" fmla="*/ 20 h 26"/>
                <a:gd name="T10" fmla="*/ 18 w 21"/>
                <a:gd name="T11" fmla="*/ 0 h 26"/>
              </a:gdLst>
              <a:ahLst/>
              <a:cxnLst>
                <a:cxn ang="0">
                  <a:pos x="T0" y="T1"/>
                </a:cxn>
                <a:cxn ang="0">
                  <a:pos x="T2" y="T3"/>
                </a:cxn>
                <a:cxn ang="0">
                  <a:pos x="T4" y="T5"/>
                </a:cxn>
                <a:cxn ang="0">
                  <a:pos x="T6" y="T7"/>
                </a:cxn>
                <a:cxn ang="0">
                  <a:pos x="T8" y="T9"/>
                </a:cxn>
                <a:cxn ang="0">
                  <a:pos x="T10" y="T11"/>
                </a:cxn>
              </a:cxnLst>
              <a:rect l="0" t="0" r="r" b="b"/>
              <a:pathLst>
                <a:path w="21" h="26">
                  <a:moveTo>
                    <a:pt x="18" y="0"/>
                  </a:moveTo>
                  <a:cubicBezTo>
                    <a:pt x="0" y="0"/>
                    <a:pt x="0" y="0"/>
                    <a:pt x="0" y="0"/>
                  </a:cubicBezTo>
                  <a:cubicBezTo>
                    <a:pt x="0" y="10"/>
                    <a:pt x="4" y="18"/>
                    <a:pt x="9" y="26"/>
                  </a:cubicBezTo>
                  <a:cubicBezTo>
                    <a:pt x="10" y="25"/>
                    <a:pt x="11" y="25"/>
                    <a:pt x="12" y="24"/>
                  </a:cubicBezTo>
                  <a:cubicBezTo>
                    <a:pt x="15" y="23"/>
                    <a:pt x="18" y="21"/>
                    <a:pt x="21" y="20"/>
                  </a:cubicBezTo>
                  <a:cubicBezTo>
                    <a:pt x="20" y="14"/>
                    <a:pt x="19" y="7"/>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130">
              <a:extLst>
                <a:ext uri="{FF2B5EF4-FFF2-40B4-BE49-F238E27FC236}">
                  <a16:creationId xmlns:a16="http://schemas.microsoft.com/office/drawing/2014/main" id="{F398FA9E-5F8D-DB43-90EF-5927047C2F02}"/>
                </a:ext>
              </a:extLst>
            </p:cNvPr>
            <p:cNvSpPr>
              <a:spLocks/>
            </p:cNvSpPr>
            <p:nvPr/>
          </p:nvSpPr>
          <p:spPr bwMode="auto">
            <a:xfrm>
              <a:off x="2865438" y="5162550"/>
              <a:ext cx="130175" cy="130175"/>
            </a:xfrm>
            <a:custGeom>
              <a:avLst/>
              <a:gdLst>
                <a:gd name="T0" fmla="*/ 19 w 19"/>
                <a:gd name="T1" fmla="*/ 0 h 19"/>
                <a:gd name="T2" fmla="*/ 0 w 19"/>
                <a:gd name="T3" fmla="*/ 0 h 19"/>
                <a:gd name="T4" fmla="*/ 0 w 19"/>
                <a:gd name="T5" fmla="*/ 17 h 19"/>
                <a:gd name="T6" fmla="*/ 16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0" y="0"/>
                    <a:pt x="0" y="0"/>
                    <a:pt x="0" y="0"/>
                  </a:cubicBezTo>
                  <a:cubicBezTo>
                    <a:pt x="0" y="17"/>
                    <a:pt x="0" y="17"/>
                    <a:pt x="0" y="17"/>
                  </a:cubicBezTo>
                  <a:cubicBezTo>
                    <a:pt x="6" y="17"/>
                    <a:pt x="11" y="18"/>
                    <a:pt x="16" y="19"/>
                  </a:cubicBezTo>
                  <a:cubicBezTo>
                    <a:pt x="18" y="13"/>
                    <a:pt x="19"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131">
              <a:extLst>
                <a:ext uri="{FF2B5EF4-FFF2-40B4-BE49-F238E27FC236}">
                  <a16:creationId xmlns:a16="http://schemas.microsoft.com/office/drawing/2014/main" id="{E634CAA5-604D-21B1-F0F1-1E62E13E3A80}"/>
                </a:ext>
              </a:extLst>
            </p:cNvPr>
            <p:cNvSpPr>
              <a:spLocks/>
            </p:cNvSpPr>
            <p:nvPr/>
          </p:nvSpPr>
          <p:spPr bwMode="auto">
            <a:xfrm>
              <a:off x="2913063" y="5326063"/>
              <a:ext cx="150813" cy="117475"/>
            </a:xfrm>
            <a:custGeom>
              <a:avLst/>
              <a:gdLst>
                <a:gd name="T0" fmla="*/ 11 w 22"/>
                <a:gd name="T1" fmla="*/ 0 h 17"/>
                <a:gd name="T2" fmla="*/ 9 w 22"/>
                <a:gd name="T3" fmla="*/ 6 h 17"/>
                <a:gd name="T4" fmla="*/ 0 w 22"/>
                <a:gd name="T5" fmla="*/ 17 h 17"/>
                <a:gd name="T6" fmla="*/ 22 w 22"/>
                <a:gd name="T7" fmla="*/ 5 h 17"/>
                <a:gd name="T8" fmla="*/ 20 w 22"/>
                <a:gd name="T9" fmla="*/ 4 h 17"/>
                <a:gd name="T10" fmla="*/ 11 w 22"/>
                <a:gd name="T11" fmla="*/ 0 h 17"/>
              </a:gdLst>
              <a:ahLst/>
              <a:cxnLst>
                <a:cxn ang="0">
                  <a:pos x="T0" y="T1"/>
                </a:cxn>
                <a:cxn ang="0">
                  <a:pos x="T2" y="T3"/>
                </a:cxn>
                <a:cxn ang="0">
                  <a:pos x="T4" y="T5"/>
                </a:cxn>
                <a:cxn ang="0">
                  <a:pos x="T6" y="T7"/>
                </a:cxn>
                <a:cxn ang="0">
                  <a:pos x="T8" y="T9"/>
                </a:cxn>
                <a:cxn ang="0">
                  <a:pos x="T10" y="T11"/>
                </a:cxn>
              </a:cxnLst>
              <a:rect l="0" t="0" r="r" b="b"/>
              <a:pathLst>
                <a:path w="22" h="17">
                  <a:moveTo>
                    <a:pt x="11" y="0"/>
                  </a:moveTo>
                  <a:cubicBezTo>
                    <a:pt x="11" y="2"/>
                    <a:pt x="10" y="4"/>
                    <a:pt x="9" y="6"/>
                  </a:cubicBezTo>
                  <a:cubicBezTo>
                    <a:pt x="6" y="11"/>
                    <a:pt x="3" y="15"/>
                    <a:pt x="0" y="17"/>
                  </a:cubicBezTo>
                  <a:cubicBezTo>
                    <a:pt x="8" y="16"/>
                    <a:pt x="16" y="11"/>
                    <a:pt x="22" y="5"/>
                  </a:cubicBezTo>
                  <a:cubicBezTo>
                    <a:pt x="22" y="4"/>
                    <a:pt x="21" y="4"/>
                    <a:pt x="20" y="4"/>
                  </a:cubicBezTo>
                  <a:cubicBezTo>
                    <a:pt x="18" y="2"/>
                    <a:pt x="1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132">
              <a:extLst>
                <a:ext uri="{FF2B5EF4-FFF2-40B4-BE49-F238E27FC236}">
                  <a16:creationId xmlns:a16="http://schemas.microsoft.com/office/drawing/2014/main" id="{937A2A40-CE11-A05E-FAA5-D0890E52EBE5}"/>
                </a:ext>
              </a:extLst>
            </p:cNvPr>
            <p:cNvSpPr>
              <a:spLocks/>
            </p:cNvSpPr>
            <p:nvPr/>
          </p:nvSpPr>
          <p:spPr bwMode="auto">
            <a:xfrm>
              <a:off x="2865438" y="5307013"/>
              <a:ext cx="103188" cy="128588"/>
            </a:xfrm>
            <a:custGeom>
              <a:avLst/>
              <a:gdLst>
                <a:gd name="T0" fmla="*/ 12 w 15"/>
                <a:gd name="T1" fmla="*/ 7 h 19"/>
                <a:gd name="T2" fmla="*/ 15 w 15"/>
                <a:gd name="T3" fmla="*/ 2 h 19"/>
                <a:gd name="T4" fmla="*/ 0 w 15"/>
                <a:gd name="T5" fmla="*/ 0 h 19"/>
                <a:gd name="T6" fmla="*/ 0 w 15"/>
                <a:gd name="T7" fmla="*/ 19 h 19"/>
                <a:gd name="T8" fmla="*/ 5 w 15"/>
                <a:gd name="T9" fmla="*/ 16 h 19"/>
                <a:gd name="T10" fmla="*/ 12 w 15"/>
                <a:gd name="T11" fmla="*/ 7 h 19"/>
              </a:gdLst>
              <a:ahLst/>
              <a:cxnLst>
                <a:cxn ang="0">
                  <a:pos x="T0" y="T1"/>
                </a:cxn>
                <a:cxn ang="0">
                  <a:pos x="T2" y="T3"/>
                </a:cxn>
                <a:cxn ang="0">
                  <a:pos x="T4" y="T5"/>
                </a:cxn>
                <a:cxn ang="0">
                  <a:pos x="T6" y="T7"/>
                </a:cxn>
                <a:cxn ang="0">
                  <a:pos x="T8" y="T9"/>
                </a:cxn>
                <a:cxn ang="0">
                  <a:pos x="T10" y="T11"/>
                </a:cxn>
              </a:cxnLst>
              <a:rect l="0" t="0" r="r" b="b"/>
              <a:pathLst>
                <a:path w="15" h="19">
                  <a:moveTo>
                    <a:pt x="12" y="7"/>
                  </a:moveTo>
                  <a:cubicBezTo>
                    <a:pt x="13" y="6"/>
                    <a:pt x="14" y="4"/>
                    <a:pt x="15" y="2"/>
                  </a:cubicBezTo>
                  <a:cubicBezTo>
                    <a:pt x="10" y="1"/>
                    <a:pt x="5" y="0"/>
                    <a:pt x="0" y="0"/>
                  </a:cubicBezTo>
                  <a:cubicBezTo>
                    <a:pt x="0" y="19"/>
                    <a:pt x="0" y="19"/>
                    <a:pt x="0" y="19"/>
                  </a:cubicBezTo>
                  <a:cubicBezTo>
                    <a:pt x="2" y="19"/>
                    <a:pt x="4" y="18"/>
                    <a:pt x="5" y="16"/>
                  </a:cubicBezTo>
                  <a:cubicBezTo>
                    <a:pt x="8" y="14"/>
                    <a:pt x="10" y="11"/>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133">
              <a:extLst>
                <a:ext uri="{FF2B5EF4-FFF2-40B4-BE49-F238E27FC236}">
                  <a16:creationId xmlns:a16="http://schemas.microsoft.com/office/drawing/2014/main" id="{F4375D4E-B32D-DE58-1232-857CFE89E95A}"/>
                </a:ext>
              </a:extLst>
            </p:cNvPr>
            <p:cNvSpPr>
              <a:spLocks/>
            </p:cNvSpPr>
            <p:nvPr/>
          </p:nvSpPr>
          <p:spPr bwMode="auto">
            <a:xfrm>
              <a:off x="3001963" y="5162550"/>
              <a:ext cx="142875" cy="177800"/>
            </a:xfrm>
            <a:custGeom>
              <a:avLst/>
              <a:gdLst>
                <a:gd name="T0" fmla="*/ 0 w 21"/>
                <a:gd name="T1" fmla="*/ 20 h 26"/>
                <a:gd name="T2" fmla="*/ 9 w 21"/>
                <a:gd name="T3" fmla="*/ 24 h 26"/>
                <a:gd name="T4" fmla="*/ 12 w 21"/>
                <a:gd name="T5" fmla="*/ 26 h 26"/>
                <a:gd name="T6" fmla="*/ 21 w 21"/>
                <a:gd name="T7" fmla="*/ 0 h 26"/>
                <a:gd name="T8" fmla="*/ 3 w 21"/>
                <a:gd name="T9" fmla="*/ 0 h 26"/>
                <a:gd name="T10" fmla="*/ 0 w 21"/>
                <a:gd name="T11" fmla="*/ 20 h 26"/>
              </a:gdLst>
              <a:ahLst/>
              <a:cxnLst>
                <a:cxn ang="0">
                  <a:pos x="T0" y="T1"/>
                </a:cxn>
                <a:cxn ang="0">
                  <a:pos x="T2" y="T3"/>
                </a:cxn>
                <a:cxn ang="0">
                  <a:pos x="T4" y="T5"/>
                </a:cxn>
                <a:cxn ang="0">
                  <a:pos x="T6" y="T7"/>
                </a:cxn>
                <a:cxn ang="0">
                  <a:pos x="T8" y="T9"/>
                </a:cxn>
                <a:cxn ang="0">
                  <a:pos x="T10" y="T11"/>
                </a:cxn>
              </a:cxnLst>
              <a:rect l="0" t="0" r="r" b="b"/>
              <a:pathLst>
                <a:path w="21" h="26">
                  <a:moveTo>
                    <a:pt x="0" y="20"/>
                  </a:moveTo>
                  <a:cubicBezTo>
                    <a:pt x="3" y="21"/>
                    <a:pt x="6" y="23"/>
                    <a:pt x="9" y="24"/>
                  </a:cubicBezTo>
                  <a:cubicBezTo>
                    <a:pt x="10" y="25"/>
                    <a:pt x="11" y="25"/>
                    <a:pt x="12" y="26"/>
                  </a:cubicBezTo>
                  <a:cubicBezTo>
                    <a:pt x="17" y="18"/>
                    <a:pt x="21" y="10"/>
                    <a:pt x="21" y="0"/>
                  </a:cubicBezTo>
                  <a:cubicBezTo>
                    <a:pt x="3" y="0"/>
                    <a:pt x="3" y="0"/>
                    <a:pt x="3" y="0"/>
                  </a:cubicBezTo>
                  <a:cubicBezTo>
                    <a:pt x="2" y="7"/>
                    <a:pt x="1" y="14"/>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4" name="Freeform 785">
            <a:extLst>
              <a:ext uri="{FF2B5EF4-FFF2-40B4-BE49-F238E27FC236}">
                <a16:creationId xmlns:a16="http://schemas.microsoft.com/office/drawing/2014/main" id="{E961C58B-F2FF-7E19-5BEF-5A8F9C8C83B2}"/>
              </a:ext>
            </a:extLst>
          </p:cNvPr>
          <p:cNvSpPr>
            <a:spLocks noChangeAspect="1" noEditPoints="1"/>
          </p:cNvSpPr>
          <p:nvPr/>
        </p:nvSpPr>
        <p:spPr bwMode="auto">
          <a:xfrm>
            <a:off x="7030389" y="2328098"/>
            <a:ext cx="424414" cy="334905"/>
          </a:xfrm>
          <a:custGeom>
            <a:avLst/>
            <a:gdLst>
              <a:gd name="T0" fmla="*/ 83 w 85"/>
              <a:gd name="T1" fmla="*/ 63 h 67"/>
              <a:gd name="T2" fmla="*/ 44 w 85"/>
              <a:gd name="T3" fmla="*/ 1 h 67"/>
              <a:gd name="T4" fmla="*/ 40 w 85"/>
              <a:gd name="T5" fmla="*/ 1 h 67"/>
              <a:gd name="T6" fmla="*/ 1 w 85"/>
              <a:gd name="T7" fmla="*/ 63 h 67"/>
              <a:gd name="T8" fmla="*/ 3 w 85"/>
              <a:gd name="T9" fmla="*/ 67 h 67"/>
              <a:gd name="T10" fmla="*/ 81 w 85"/>
              <a:gd name="T11" fmla="*/ 67 h 67"/>
              <a:gd name="T12" fmla="*/ 83 w 85"/>
              <a:gd name="T13" fmla="*/ 63 h 67"/>
              <a:gd name="T14" fmla="*/ 46 w 85"/>
              <a:gd name="T15" fmla="*/ 59 h 67"/>
              <a:gd name="T16" fmla="*/ 38 w 85"/>
              <a:gd name="T17" fmla="*/ 59 h 67"/>
              <a:gd name="T18" fmla="*/ 38 w 85"/>
              <a:gd name="T19" fmla="*/ 51 h 67"/>
              <a:gd name="T20" fmla="*/ 46 w 85"/>
              <a:gd name="T21" fmla="*/ 51 h 67"/>
              <a:gd name="T22" fmla="*/ 46 w 85"/>
              <a:gd name="T23" fmla="*/ 59 h 67"/>
              <a:gd name="T24" fmla="*/ 45 w 85"/>
              <a:gd name="T25" fmla="*/ 46 h 67"/>
              <a:gd name="T26" fmla="*/ 42 w 85"/>
              <a:gd name="T27" fmla="*/ 46 h 67"/>
              <a:gd name="T28" fmla="*/ 39 w 85"/>
              <a:gd name="T29" fmla="*/ 46 h 67"/>
              <a:gd name="T30" fmla="*/ 37 w 85"/>
              <a:gd name="T31" fmla="*/ 22 h 67"/>
              <a:gd name="T32" fmla="*/ 39 w 85"/>
              <a:gd name="T33" fmla="*/ 22 h 67"/>
              <a:gd name="T34" fmla="*/ 42 w 85"/>
              <a:gd name="T35" fmla="*/ 22 h 67"/>
              <a:gd name="T36" fmla="*/ 45 w 85"/>
              <a:gd name="T37" fmla="*/ 22 h 67"/>
              <a:gd name="T38" fmla="*/ 47 w 85"/>
              <a:gd name="T39" fmla="*/ 22 h 67"/>
              <a:gd name="T40" fmla="*/ 45 w 85"/>
              <a:gd name="T41" fmla="*/ 4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67">
                <a:moveTo>
                  <a:pt x="83" y="63"/>
                </a:moveTo>
                <a:cubicBezTo>
                  <a:pt x="44" y="1"/>
                  <a:pt x="44" y="1"/>
                  <a:pt x="44" y="1"/>
                </a:cubicBezTo>
                <a:cubicBezTo>
                  <a:pt x="43" y="0"/>
                  <a:pt x="41" y="0"/>
                  <a:pt x="40" y="1"/>
                </a:cubicBezTo>
                <a:cubicBezTo>
                  <a:pt x="1" y="63"/>
                  <a:pt x="1" y="63"/>
                  <a:pt x="1" y="63"/>
                </a:cubicBezTo>
                <a:cubicBezTo>
                  <a:pt x="0" y="65"/>
                  <a:pt x="1" y="67"/>
                  <a:pt x="3" y="67"/>
                </a:cubicBezTo>
                <a:cubicBezTo>
                  <a:pt x="81" y="67"/>
                  <a:pt x="81" y="67"/>
                  <a:pt x="81" y="67"/>
                </a:cubicBezTo>
                <a:cubicBezTo>
                  <a:pt x="83" y="67"/>
                  <a:pt x="85" y="65"/>
                  <a:pt x="83" y="63"/>
                </a:cubicBezTo>
                <a:close/>
                <a:moveTo>
                  <a:pt x="46" y="59"/>
                </a:moveTo>
                <a:cubicBezTo>
                  <a:pt x="38" y="59"/>
                  <a:pt x="38" y="59"/>
                  <a:pt x="38" y="59"/>
                </a:cubicBezTo>
                <a:cubicBezTo>
                  <a:pt x="38" y="51"/>
                  <a:pt x="38" y="51"/>
                  <a:pt x="38" y="51"/>
                </a:cubicBezTo>
                <a:cubicBezTo>
                  <a:pt x="46" y="51"/>
                  <a:pt x="46" y="51"/>
                  <a:pt x="46" y="51"/>
                </a:cubicBezTo>
                <a:lnTo>
                  <a:pt x="46" y="59"/>
                </a:lnTo>
                <a:close/>
                <a:moveTo>
                  <a:pt x="45" y="46"/>
                </a:moveTo>
                <a:cubicBezTo>
                  <a:pt x="42" y="46"/>
                  <a:pt x="42" y="46"/>
                  <a:pt x="42" y="46"/>
                </a:cubicBezTo>
                <a:cubicBezTo>
                  <a:pt x="39" y="46"/>
                  <a:pt x="39" y="46"/>
                  <a:pt x="39" y="46"/>
                </a:cubicBezTo>
                <a:cubicBezTo>
                  <a:pt x="39" y="38"/>
                  <a:pt x="38" y="30"/>
                  <a:pt x="37" y="22"/>
                </a:cubicBezTo>
                <a:cubicBezTo>
                  <a:pt x="39" y="22"/>
                  <a:pt x="39" y="22"/>
                  <a:pt x="39" y="22"/>
                </a:cubicBezTo>
                <a:cubicBezTo>
                  <a:pt x="42" y="22"/>
                  <a:pt x="42" y="22"/>
                  <a:pt x="42" y="22"/>
                </a:cubicBezTo>
                <a:cubicBezTo>
                  <a:pt x="45" y="22"/>
                  <a:pt x="45" y="22"/>
                  <a:pt x="45" y="22"/>
                </a:cubicBezTo>
                <a:cubicBezTo>
                  <a:pt x="47" y="22"/>
                  <a:pt x="47" y="22"/>
                  <a:pt x="47" y="22"/>
                </a:cubicBezTo>
                <a:cubicBezTo>
                  <a:pt x="46" y="30"/>
                  <a:pt x="45" y="38"/>
                  <a:pt x="45" y="4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65" name="Group 64">
            <a:extLst>
              <a:ext uri="{FF2B5EF4-FFF2-40B4-BE49-F238E27FC236}">
                <a16:creationId xmlns:a16="http://schemas.microsoft.com/office/drawing/2014/main" id="{71EC2136-2A4A-8EE7-B090-C40A93BE5079}"/>
              </a:ext>
            </a:extLst>
          </p:cNvPr>
          <p:cNvGrpSpPr>
            <a:grpSpLocks noChangeAspect="1"/>
          </p:cNvGrpSpPr>
          <p:nvPr/>
        </p:nvGrpSpPr>
        <p:grpSpPr>
          <a:xfrm>
            <a:off x="10902827" y="2241586"/>
            <a:ext cx="394789" cy="507929"/>
            <a:chOff x="5488827" y="4859531"/>
            <a:chExt cx="450572" cy="579698"/>
          </a:xfrm>
          <a:solidFill>
            <a:schemeClr val="accent6"/>
          </a:solidFill>
        </p:grpSpPr>
        <p:sp>
          <p:nvSpPr>
            <p:cNvPr id="66" name="Freeform 867">
              <a:extLst>
                <a:ext uri="{FF2B5EF4-FFF2-40B4-BE49-F238E27FC236}">
                  <a16:creationId xmlns:a16="http://schemas.microsoft.com/office/drawing/2014/main" id="{47F75BAE-7B79-1DBD-9132-B209B592ED30}"/>
                </a:ext>
              </a:extLst>
            </p:cNvPr>
            <p:cNvSpPr>
              <a:spLocks noEditPoints="1"/>
            </p:cNvSpPr>
            <p:nvPr/>
          </p:nvSpPr>
          <p:spPr bwMode="auto">
            <a:xfrm>
              <a:off x="5488827" y="5050474"/>
              <a:ext cx="450572" cy="388755"/>
            </a:xfrm>
            <a:custGeom>
              <a:avLst/>
              <a:gdLst>
                <a:gd name="T0" fmla="*/ 47 w 66"/>
                <a:gd name="T1" fmla="*/ 0 h 57"/>
                <a:gd name="T2" fmla="*/ 34 w 66"/>
                <a:gd name="T3" fmla="*/ 0 h 57"/>
                <a:gd name="T4" fmla="*/ 32 w 66"/>
                <a:gd name="T5" fmla="*/ 0 h 57"/>
                <a:gd name="T6" fmla="*/ 19 w 66"/>
                <a:gd name="T7" fmla="*/ 0 h 57"/>
                <a:gd name="T8" fmla="*/ 0 w 66"/>
                <a:gd name="T9" fmla="*/ 37 h 57"/>
                <a:gd name="T10" fmla="*/ 6 w 66"/>
                <a:gd name="T11" fmla="*/ 43 h 57"/>
                <a:gd name="T12" fmla="*/ 11 w 66"/>
                <a:gd name="T13" fmla="*/ 43 h 57"/>
                <a:gd name="T14" fmla="*/ 9 w 66"/>
                <a:gd name="T15" fmla="*/ 57 h 57"/>
                <a:gd name="T16" fmla="*/ 32 w 66"/>
                <a:gd name="T17" fmla="*/ 57 h 57"/>
                <a:gd name="T18" fmla="*/ 34 w 66"/>
                <a:gd name="T19" fmla="*/ 57 h 57"/>
                <a:gd name="T20" fmla="*/ 57 w 66"/>
                <a:gd name="T21" fmla="*/ 57 h 57"/>
                <a:gd name="T22" fmla="*/ 55 w 66"/>
                <a:gd name="T23" fmla="*/ 43 h 57"/>
                <a:gd name="T24" fmla="*/ 60 w 66"/>
                <a:gd name="T25" fmla="*/ 43 h 57"/>
                <a:gd name="T26" fmla="*/ 66 w 66"/>
                <a:gd name="T27" fmla="*/ 37 h 57"/>
                <a:gd name="T28" fmla="*/ 47 w 66"/>
                <a:gd name="T29" fmla="*/ 0 h 57"/>
                <a:gd name="T30" fmla="*/ 47 w 66"/>
                <a:gd name="T31" fmla="*/ 16 h 57"/>
                <a:gd name="T32" fmla="*/ 49 w 66"/>
                <a:gd name="T33" fmla="*/ 24 h 57"/>
                <a:gd name="T34" fmla="*/ 36 w 66"/>
                <a:gd name="T35" fmla="*/ 24 h 57"/>
                <a:gd name="T36" fmla="*/ 35 w 66"/>
                <a:gd name="T37" fmla="*/ 16 h 57"/>
                <a:gd name="T38" fmla="*/ 47 w 66"/>
                <a:gd name="T39" fmla="*/ 16 h 57"/>
                <a:gd name="T40" fmla="*/ 19 w 66"/>
                <a:gd name="T41" fmla="*/ 16 h 57"/>
                <a:gd name="T42" fmla="*/ 31 w 66"/>
                <a:gd name="T43" fmla="*/ 16 h 57"/>
                <a:gd name="T44" fmla="*/ 30 w 66"/>
                <a:gd name="T45" fmla="*/ 24 h 57"/>
                <a:gd name="T46" fmla="*/ 17 w 66"/>
                <a:gd name="T47" fmla="*/ 24 h 57"/>
                <a:gd name="T48" fmla="*/ 19 w 66"/>
                <a:gd name="T49" fmla="*/ 16 h 57"/>
                <a:gd name="T50" fmla="*/ 50 w 66"/>
                <a:gd name="T51" fmla="*/ 30 h 57"/>
                <a:gd name="T52" fmla="*/ 48 w 66"/>
                <a:gd name="T53" fmla="*/ 35 h 57"/>
                <a:gd name="T54" fmla="*/ 48 w 66"/>
                <a:gd name="T55" fmla="*/ 37 h 57"/>
                <a:gd name="T56" fmla="*/ 50 w 66"/>
                <a:gd name="T57" fmla="*/ 42 h 57"/>
                <a:gd name="T58" fmla="*/ 50 w 66"/>
                <a:gd name="T59" fmla="*/ 49 h 57"/>
                <a:gd name="T60" fmla="*/ 34 w 66"/>
                <a:gd name="T61" fmla="*/ 49 h 57"/>
                <a:gd name="T62" fmla="*/ 32 w 66"/>
                <a:gd name="T63" fmla="*/ 49 h 57"/>
                <a:gd name="T64" fmla="*/ 16 w 66"/>
                <a:gd name="T65" fmla="*/ 49 h 57"/>
                <a:gd name="T66" fmla="*/ 16 w 66"/>
                <a:gd name="T67" fmla="*/ 42 h 57"/>
                <a:gd name="T68" fmla="*/ 18 w 66"/>
                <a:gd name="T69" fmla="*/ 37 h 57"/>
                <a:gd name="T70" fmla="*/ 18 w 66"/>
                <a:gd name="T71" fmla="*/ 35 h 57"/>
                <a:gd name="T72" fmla="*/ 16 w 66"/>
                <a:gd name="T73" fmla="*/ 30 h 57"/>
                <a:gd name="T74" fmla="*/ 16 w 66"/>
                <a:gd name="T75" fmla="*/ 27 h 57"/>
                <a:gd name="T76" fmla="*/ 32 w 66"/>
                <a:gd name="T77" fmla="*/ 27 h 57"/>
                <a:gd name="T78" fmla="*/ 34 w 66"/>
                <a:gd name="T79" fmla="*/ 27 h 57"/>
                <a:gd name="T80" fmla="*/ 50 w 66"/>
                <a:gd name="T81" fmla="*/ 27 h 57"/>
                <a:gd name="T82" fmla="*/ 50 w 66"/>
                <a:gd name="T8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 h="57">
                  <a:moveTo>
                    <a:pt x="47" y="0"/>
                  </a:moveTo>
                  <a:cubicBezTo>
                    <a:pt x="34" y="0"/>
                    <a:pt x="34" y="0"/>
                    <a:pt x="34" y="0"/>
                  </a:cubicBezTo>
                  <a:cubicBezTo>
                    <a:pt x="32" y="0"/>
                    <a:pt x="32" y="0"/>
                    <a:pt x="32" y="0"/>
                  </a:cubicBezTo>
                  <a:cubicBezTo>
                    <a:pt x="19" y="0"/>
                    <a:pt x="19" y="0"/>
                    <a:pt x="19" y="0"/>
                  </a:cubicBezTo>
                  <a:cubicBezTo>
                    <a:pt x="9" y="0"/>
                    <a:pt x="0" y="32"/>
                    <a:pt x="0" y="37"/>
                  </a:cubicBezTo>
                  <a:cubicBezTo>
                    <a:pt x="0" y="40"/>
                    <a:pt x="3" y="43"/>
                    <a:pt x="6" y="43"/>
                  </a:cubicBezTo>
                  <a:cubicBezTo>
                    <a:pt x="11" y="43"/>
                    <a:pt x="11" y="43"/>
                    <a:pt x="11" y="43"/>
                  </a:cubicBezTo>
                  <a:cubicBezTo>
                    <a:pt x="9" y="57"/>
                    <a:pt x="9" y="57"/>
                    <a:pt x="9" y="57"/>
                  </a:cubicBezTo>
                  <a:cubicBezTo>
                    <a:pt x="32" y="57"/>
                    <a:pt x="32" y="57"/>
                    <a:pt x="32" y="57"/>
                  </a:cubicBezTo>
                  <a:cubicBezTo>
                    <a:pt x="34" y="57"/>
                    <a:pt x="34" y="57"/>
                    <a:pt x="34" y="57"/>
                  </a:cubicBezTo>
                  <a:cubicBezTo>
                    <a:pt x="57" y="57"/>
                    <a:pt x="57" y="57"/>
                    <a:pt x="57" y="57"/>
                  </a:cubicBezTo>
                  <a:cubicBezTo>
                    <a:pt x="55" y="43"/>
                    <a:pt x="55" y="43"/>
                    <a:pt x="55" y="43"/>
                  </a:cubicBezTo>
                  <a:cubicBezTo>
                    <a:pt x="60" y="43"/>
                    <a:pt x="60" y="43"/>
                    <a:pt x="60" y="43"/>
                  </a:cubicBezTo>
                  <a:cubicBezTo>
                    <a:pt x="63" y="43"/>
                    <a:pt x="66" y="40"/>
                    <a:pt x="66" y="37"/>
                  </a:cubicBezTo>
                  <a:cubicBezTo>
                    <a:pt x="66" y="32"/>
                    <a:pt x="57" y="0"/>
                    <a:pt x="47" y="0"/>
                  </a:cubicBezTo>
                  <a:close/>
                  <a:moveTo>
                    <a:pt x="47" y="16"/>
                  </a:moveTo>
                  <a:cubicBezTo>
                    <a:pt x="49" y="24"/>
                    <a:pt x="49" y="24"/>
                    <a:pt x="49" y="24"/>
                  </a:cubicBezTo>
                  <a:cubicBezTo>
                    <a:pt x="36" y="24"/>
                    <a:pt x="36" y="24"/>
                    <a:pt x="36" y="24"/>
                  </a:cubicBezTo>
                  <a:cubicBezTo>
                    <a:pt x="35" y="16"/>
                    <a:pt x="35" y="16"/>
                    <a:pt x="35" y="16"/>
                  </a:cubicBezTo>
                  <a:lnTo>
                    <a:pt x="47" y="16"/>
                  </a:lnTo>
                  <a:close/>
                  <a:moveTo>
                    <a:pt x="19" y="16"/>
                  </a:moveTo>
                  <a:cubicBezTo>
                    <a:pt x="31" y="16"/>
                    <a:pt x="31" y="16"/>
                    <a:pt x="31" y="16"/>
                  </a:cubicBezTo>
                  <a:cubicBezTo>
                    <a:pt x="30" y="24"/>
                    <a:pt x="30" y="24"/>
                    <a:pt x="30" y="24"/>
                  </a:cubicBezTo>
                  <a:cubicBezTo>
                    <a:pt x="17" y="24"/>
                    <a:pt x="17" y="24"/>
                    <a:pt x="17" y="24"/>
                  </a:cubicBezTo>
                  <a:lnTo>
                    <a:pt x="19" y="16"/>
                  </a:lnTo>
                  <a:close/>
                  <a:moveTo>
                    <a:pt x="50" y="30"/>
                  </a:moveTo>
                  <a:cubicBezTo>
                    <a:pt x="49" y="31"/>
                    <a:pt x="48" y="33"/>
                    <a:pt x="48" y="35"/>
                  </a:cubicBezTo>
                  <a:cubicBezTo>
                    <a:pt x="48" y="37"/>
                    <a:pt x="48" y="37"/>
                    <a:pt x="48" y="37"/>
                  </a:cubicBezTo>
                  <a:cubicBezTo>
                    <a:pt x="48" y="40"/>
                    <a:pt x="49" y="42"/>
                    <a:pt x="50" y="42"/>
                  </a:cubicBezTo>
                  <a:cubicBezTo>
                    <a:pt x="50" y="49"/>
                    <a:pt x="50" y="49"/>
                    <a:pt x="50" y="49"/>
                  </a:cubicBezTo>
                  <a:cubicBezTo>
                    <a:pt x="34" y="49"/>
                    <a:pt x="34" y="49"/>
                    <a:pt x="34" y="49"/>
                  </a:cubicBezTo>
                  <a:cubicBezTo>
                    <a:pt x="32" y="49"/>
                    <a:pt x="32" y="49"/>
                    <a:pt x="32" y="49"/>
                  </a:cubicBezTo>
                  <a:cubicBezTo>
                    <a:pt x="16" y="49"/>
                    <a:pt x="16" y="49"/>
                    <a:pt x="16" y="49"/>
                  </a:cubicBezTo>
                  <a:cubicBezTo>
                    <a:pt x="16" y="42"/>
                    <a:pt x="16" y="42"/>
                    <a:pt x="16" y="42"/>
                  </a:cubicBezTo>
                  <a:cubicBezTo>
                    <a:pt x="17" y="42"/>
                    <a:pt x="19" y="40"/>
                    <a:pt x="18" y="37"/>
                  </a:cubicBezTo>
                  <a:cubicBezTo>
                    <a:pt x="18" y="35"/>
                    <a:pt x="18" y="35"/>
                    <a:pt x="18" y="35"/>
                  </a:cubicBezTo>
                  <a:cubicBezTo>
                    <a:pt x="19" y="33"/>
                    <a:pt x="17" y="31"/>
                    <a:pt x="16" y="30"/>
                  </a:cubicBezTo>
                  <a:cubicBezTo>
                    <a:pt x="16" y="27"/>
                    <a:pt x="16" y="27"/>
                    <a:pt x="16" y="27"/>
                  </a:cubicBezTo>
                  <a:cubicBezTo>
                    <a:pt x="32" y="27"/>
                    <a:pt x="32" y="27"/>
                    <a:pt x="32" y="27"/>
                  </a:cubicBezTo>
                  <a:cubicBezTo>
                    <a:pt x="34" y="27"/>
                    <a:pt x="34" y="27"/>
                    <a:pt x="34" y="27"/>
                  </a:cubicBezTo>
                  <a:cubicBezTo>
                    <a:pt x="50" y="27"/>
                    <a:pt x="50" y="27"/>
                    <a:pt x="50" y="27"/>
                  </a:cubicBezTo>
                  <a:lnTo>
                    <a:pt x="5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868">
              <a:extLst>
                <a:ext uri="{FF2B5EF4-FFF2-40B4-BE49-F238E27FC236}">
                  <a16:creationId xmlns:a16="http://schemas.microsoft.com/office/drawing/2014/main" id="{5517FE69-2849-B6D6-6B0F-3C2520B3C8D5}"/>
                </a:ext>
              </a:extLst>
            </p:cNvPr>
            <p:cNvSpPr>
              <a:spLocks/>
            </p:cNvSpPr>
            <p:nvPr/>
          </p:nvSpPr>
          <p:spPr bwMode="auto">
            <a:xfrm>
              <a:off x="5631691" y="4859531"/>
              <a:ext cx="163470" cy="177207"/>
            </a:xfrm>
            <a:custGeom>
              <a:avLst/>
              <a:gdLst>
                <a:gd name="T0" fmla="*/ 11 w 24"/>
                <a:gd name="T1" fmla="*/ 26 h 26"/>
                <a:gd name="T2" fmla="*/ 12 w 24"/>
                <a:gd name="T3" fmla="*/ 26 h 26"/>
                <a:gd name="T4" fmla="*/ 13 w 24"/>
                <a:gd name="T5" fmla="*/ 26 h 26"/>
                <a:gd name="T6" fmla="*/ 23 w 24"/>
                <a:gd name="T7" fmla="*/ 10 h 26"/>
                <a:gd name="T8" fmla="*/ 13 w 24"/>
                <a:gd name="T9" fmla="*/ 0 h 26"/>
                <a:gd name="T10" fmla="*/ 12 w 24"/>
                <a:gd name="T11" fmla="*/ 0 h 26"/>
                <a:gd name="T12" fmla="*/ 11 w 24"/>
                <a:gd name="T13" fmla="*/ 0 h 26"/>
                <a:gd name="T14" fmla="*/ 1 w 24"/>
                <a:gd name="T15" fmla="*/ 10 h 26"/>
                <a:gd name="T16" fmla="*/ 11 w 24"/>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6">
                  <a:moveTo>
                    <a:pt x="11" y="26"/>
                  </a:moveTo>
                  <a:cubicBezTo>
                    <a:pt x="12" y="26"/>
                    <a:pt x="12" y="26"/>
                    <a:pt x="12" y="26"/>
                  </a:cubicBezTo>
                  <a:cubicBezTo>
                    <a:pt x="12" y="26"/>
                    <a:pt x="12" y="26"/>
                    <a:pt x="13" y="26"/>
                  </a:cubicBezTo>
                  <a:cubicBezTo>
                    <a:pt x="24" y="26"/>
                    <a:pt x="23" y="10"/>
                    <a:pt x="23" y="10"/>
                  </a:cubicBezTo>
                  <a:cubicBezTo>
                    <a:pt x="22" y="0"/>
                    <a:pt x="13" y="0"/>
                    <a:pt x="13" y="0"/>
                  </a:cubicBezTo>
                  <a:cubicBezTo>
                    <a:pt x="13" y="0"/>
                    <a:pt x="12" y="0"/>
                    <a:pt x="12" y="0"/>
                  </a:cubicBezTo>
                  <a:cubicBezTo>
                    <a:pt x="12" y="0"/>
                    <a:pt x="11" y="0"/>
                    <a:pt x="11" y="0"/>
                  </a:cubicBezTo>
                  <a:cubicBezTo>
                    <a:pt x="11" y="0"/>
                    <a:pt x="2" y="0"/>
                    <a:pt x="1" y="10"/>
                  </a:cubicBezTo>
                  <a:cubicBezTo>
                    <a:pt x="1" y="10"/>
                    <a:pt x="0" y="26"/>
                    <a:pt x="1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617520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D106363-22C1-8A7F-9AF1-6F34DA27E594}"/>
              </a:ext>
            </a:extLst>
          </p:cNvPr>
          <p:cNvSpPr>
            <a:spLocks/>
          </p:cNvSpPr>
          <p:nvPr/>
        </p:nvSpPr>
        <p:spPr>
          <a:xfrm>
            <a:off x="0" y="2752626"/>
            <a:ext cx="12192000" cy="3296873"/>
          </a:xfrm>
          <a:prstGeom prst="rect">
            <a:avLst/>
          </a:prstGeom>
          <a:solidFill>
            <a:schemeClr val="accent2">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 name="Title 1"/>
          <p:cNvSpPr>
            <a:spLocks noGrp="1"/>
          </p:cNvSpPr>
          <p:nvPr>
            <p:ph type="title"/>
          </p:nvPr>
        </p:nvSpPr>
        <p:spPr/>
        <p:txBody>
          <a:bodyPr/>
          <a:lstStyle/>
          <a:p>
            <a:r>
              <a:rPr lang="en-US" dirty="0"/>
              <a:t>UPS HEALTHCARE™ LOGISTICS AND DISTRIBUTION PRIORITIES</a:t>
            </a:r>
          </a:p>
        </p:txBody>
      </p:sp>
      <p:sp>
        <p:nvSpPr>
          <p:cNvPr id="6" name="Oval 5">
            <a:extLst>
              <a:ext uri="{FF2B5EF4-FFF2-40B4-BE49-F238E27FC236}">
                <a16:creationId xmlns:a16="http://schemas.microsoft.com/office/drawing/2014/main" id="{719C1FE9-8E70-4848-B08D-FD24D97C41A7}"/>
              </a:ext>
            </a:extLst>
          </p:cNvPr>
          <p:cNvSpPr/>
          <p:nvPr/>
        </p:nvSpPr>
        <p:spPr>
          <a:xfrm>
            <a:off x="761671" y="1809464"/>
            <a:ext cx="2203704" cy="2203704"/>
          </a:xfrm>
          <a:prstGeom prst="ellipse">
            <a:avLst/>
          </a:prstGeom>
          <a:blipFill>
            <a:blip r:embed="rId3" cstate="screen">
              <a:extLst>
                <a:ext uri="{28A0092B-C50C-407E-A947-70E740481C1C}">
                  <a14:useLocalDpi xmlns:a14="http://schemas.microsoft.com/office/drawing/2010/main"/>
                </a:ext>
              </a:extLst>
            </a:blip>
            <a:stretch>
              <a:fillRect b="2155"/>
            </a:stretch>
          </a:blipFill>
          <a:ln w="9525">
            <a:solidFill>
              <a:schemeClr val="accent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8595B"/>
              </a:solidFill>
              <a:effectLst/>
              <a:uLnTx/>
              <a:uFillTx/>
              <a:latin typeface="Verdana"/>
              <a:ea typeface="+mn-ea"/>
              <a:cs typeface="+mn-cs"/>
            </a:endParaRPr>
          </a:p>
        </p:txBody>
      </p:sp>
      <p:sp>
        <p:nvSpPr>
          <p:cNvPr id="22" name="TextBox 21">
            <a:extLst>
              <a:ext uri="{FF2B5EF4-FFF2-40B4-BE49-F238E27FC236}">
                <a16:creationId xmlns:a16="http://schemas.microsoft.com/office/drawing/2014/main" id="{6DD593CE-6146-19BD-1D5D-AEEC60D7CEC6}"/>
              </a:ext>
            </a:extLst>
          </p:cNvPr>
          <p:cNvSpPr txBox="1"/>
          <p:nvPr/>
        </p:nvSpPr>
        <p:spPr>
          <a:xfrm>
            <a:off x="8452558" y="4294903"/>
            <a:ext cx="3164670" cy="299249"/>
          </a:xfrm>
          <a:prstGeom prst="rect">
            <a:avLst/>
          </a:prstGeom>
          <a:noFill/>
        </p:spPr>
        <p:txBody>
          <a:bodyPr wrap="square" rtlCol="0">
            <a:spAutoFit/>
          </a:bodyPr>
          <a:lstStyle/>
          <a:p>
            <a:pPr marL="0" marR="0" lvl="0" indent="0" algn="ctr" defTabSz="914400" rtl="0" eaLnBrk="1" fontAlgn="auto" latinLnBrk="0" hangingPunct="1">
              <a:lnSpc>
                <a:spcPct val="105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0E2554"/>
                </a:solidFill>
                <a:effectLst/>
                <a:highlight>
                  <a:srgbClr val="FF00FF"/>
                </a:highlight>
                <a:uLnTx/>
                <a:uFillTx/>
                <a:latin typeface="Verdana" panose="020B0604030504040204" pitchFamily="34" charset="0"/>
                <a:ea typeface="Calibri" panose="020F0502020204030204" pitchFamily="34" charset="0"/>
                <a:cs typeface="+mn-cs"/>
              </a:rPr>
              <a:t>Details</a:t>
            </a:r>
          </a:p>
        </p:txBody>
      </p:sp>
      <p:sp>
        <p:nvSpPr>
          <p:cNvPr id="9" name="TextBox 8">
            <a:extLst>
              <a:ext uri="{FF2B5EF4-FFF2-40B4-BE49-F238E27FC236}">
                <a16:creationId xmlns:a16="http://schemas.microsoft.com/office/drawing/2014/main" id="{DF5A5726-3A09-A1B8-B751-18542B100B51}"/>
              </a:ext>
            </a:extLst>
          </p:cNvPr>
          <p:cNvSpPr txBox="1"/>
          <p:nvPr/>
        </p:nvSpPr>
        <p:spPr>
          <a:xfrm>
            <a:off x="9106890" y="1310800"/>
            <a:ext cx="1862355" cy="328808"/>
          </a:xfrm>
          <a:prstGeom prst="rect">
            <a:avLst/>
          </a:prstGeom>
          <a:noFill/>
        </p:spPr>
        <p:txBody>
          <a:bodyPr wrap="square">
            <a:spAutoFit/>
          </a:bodyPr>
          <a:lstStyle/>
          <a:p>
            <a:pPr marL="0" marR="0" lvl="0" indent="0" algn="ctr" defTabSz="914400" rtl="0" eaLnBrk="1" fontAlgn="auto" latinLnBrk="0" hangingPunct="1">
              <a:lnSpc>
                <a:spcPct val="105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E2554"/>
                </a:solidFill>
                <a:effectLst/>
                <a:uLnTx/>
                <a:uFillTx/>
                <a:latin typeface="Verdana" panose="020B0604030504040204" pitchFamily="34" charset="0"/>
                <a:ea typeface="Calibri" panose="020F0502020204030204" pitchFamily="34" charset="0"/>
                <a:cs typeface="+mn-cs"/>
              </a:rPr>
              <a:t>Cost </a:t>
            </a:r>
          </a:p>
        </p:txBody>
      </p:sp>
      <p:sp>
        <p:nvSpPr>
          <p:cNvPr id="8" name="Oval 7">
            <a:extLst>
              <a:ext uri="{FF2B5EF4-FFF2-40B4-BE49-F238E27FC236}">
                <a16:creationId xmlns:a16="http://schemas.microsoft.com/office/drawing/2014/main" id="{BB186824-3693-4F37-844C-EF9154734367}"/>
              </a:ext>
            </a:extLst>
          </p:cNvPr>
          <p:cNvSpPr/>
          <p:nvPr/>
        </p:nvSpPr>
        <p:spPr>
          <a:xfrm>
            <a:off x="8936215" y="1809464"/>
            <a:ext cx="2203704" cy="2203704"/>
          </a:xfrm>
          <a:prstGeom prst="ellipse">
            <a:avLst/>
          </a:prstGeom>
          <a:blipFill>
            <a:blip r:embed="rId4" cstate="screen">
              <a:extLst>
                <a:ext uri="{28A0092B-C50C-407E-A947-70E740481C1C}">
                  <a14:useLocalDpi xmlns:a14="http://schemas.microsoft.com/office/drawing/2010/main"/>
                </a:ext>
              </a:extLst>
            </a:blip>
            <a:stretch>
              <a:fillRect/>
            </a:stretch>
          </a:blipFill>
          <a:ln w="9525">
            <a:solidFill>
              <a:schemeClr val="accent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E2554"/>
              </a:solidFill>
              <a:effectLst/>
              <a:uLnTx/>
              <a:uFillTx/>
              <a:latin typeface="Verdana"/>
              <a:ea typeface="+mn-ea"/>
              <a:cs typeface="+mn-cs"/>
            </a:endParaRPr>
          </a:p>
        </p:txBody>
      </p:sp>
      <p:sp>
        <p:nvSpPr>
          <p:cNvPr id="23" name="TextBox 22">
            <a:extLst>
              <a:ext uri="{FF2B5EF4-FFF2-40B4-BE49-F238E27FC236}">
                <a16:creationId xmlns:a16="http://schemas.microsoft.com/office/drawing/2014/main" id="{16DE94F3-930C-DD1B-F9AE-5E925EE11FA1}"/>
              </a:ext>
            </a:extLst>
          </p:cNvPr>
          <p:cNvSpPr txBox="1"/>
          <p:nvPr/>
        </p:nvSpPr>
        <p:spPr>
          <a:xfrm>
            <a:off x="333244" y="4294903"/>
            <a:ext cx="306133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0E2554"/>
                </a:solidFill>
                <a:effectLst/>
                <a:highlight>
                  <a:srgbClr val="FF00FF"/>
                </a:highlight>
                <a:uLnTx/>
                <a:uFillTx/>
                <a:latin typeface="Verdana"/>
                <a:ea typeface="+mn-ea"/>
                <a:cs typeface="+mn-cs"/>
              </a:rPr>
              <a:t>Details</a:t>
            </a:r>
          </a:p>
        </p:txBody>
      </p:sp>
      <p:sp>
        <p:nvSpPr>
          <p:cNvPr id="13" name="TextBox 12">
            <a:extLst>
              <a:ext uri="{FF2B5EF4-FFF2-40B4-BE49-F238E27FC236}">
                <a16:creationId xmlns:a16="http://schemas.microsoft.com/office/drawing/2014/main" id="{C1804BE4-DEFC-8078-424D-3DCA819AE4D5}"/>
              </a:ext>
            </a:extLst>
          </p:cNvPr>
          <p:cNvSpPr txBox="1"/>
          <p:nvPr/>
        </p:nvSpPr>
        <p:spPr>
          <a:xfrm>
            <a:off x="701648" y="1306536"/>
            <a:ext cx="232375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E2554"/>
                </a:solidFill>
                <a:effectLst/>
                <a:uLnTx/>
                <a:uFillTx/>
                <a:latin typeface="Verdana"/>
                <a:ea typeface="+mn-ea"/>
                <a:cs typeface="+mn-cs"/>
              </a:rPr>
              <a:t>Performance</a:t>
            </a:r>
          </a:p>
        </p:txBody>
      </p:sp>
      <p:sp>
        <p:nvSpPr>
          <p:cNvPr id="10" name="Oval 9">
            <a:extLst>
              <a:ext uri="{FF2B5EF4-FFF2-40B4-BE49-F238E27FC236}">
                <a16:creationId xmlns:a16="http://schemas.microsoft.com/office/drawing/2014/main" id="{51567CFC-0D78-4074-B6DF-37AAB8CBD3D6}"/>
              </a:ext>
            </a:extLst>
          </p:cNvPr>
          <p:cNvSpPr/>
          <p:nvPr/>
        </p:nvSpPr>
        <p:spPr>
          <a:xfrm>
            <a:off x="4855747" y="1809464"/>
            <a:ext cx="2203704" cy="2203704"/>
          </a:xfrm>
          <a:prstGeom prst="ellipse">
            <a:avLst/>
          </a:prstGeom>
          <a:blipFill>
            <a:blip r:embed="rId5" cstate="screen">
              <a:extLst>
                <a:ext uri="{28A0092B-C50C-407E-A947-70E740481C1C}">
                  <a14:useLocalDpi xmlns:a14="http://schemas.microsoft.com/office/drawing/2010/main"/>
                </a:ext>
              </a:extLst>
            </a:blip>
            <a:stretch>
              <a:fillRect b="22"/>
            </a:stretch>
          </a:blipFill>
          <a:ln w="9525">
            <a:solidFill>
              <a:schemeClr val="accent2"/>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E2554"/>
              </a:solidFill>
              <a:effectLst/>
              <a:uLnTx/>
              <a:uFillTx/>
              <a:latin typeface="Verdana"/>
              <a:ea typeface="+mn-ea"/>
              <a:cs typeface="+mn-cs"/>
            </a:endParaRPr>
          </a:p>
        </p:txBody>
      </p:sp>
      <p:sp>
        <p:nvSpPr>
          <p:cNvPr id="24" name="TextBox 23">
            <a:extLst>
              <a:ext uri="{FF2B5EF4-FFF2-40B4-BE49-F238E27FC236}">
                <a16:creationId xmlns:a16="http://schemas.microsoft.com/office/drawing/2014/main" id="{8012AEF5-8739-B251-6045-96ACD6CE5BF9}"/>
              </a:ext>
            </a:extLst>
          </p:cNvPr>
          <p:cNvSpPr txBox="1"/>
          <p:nvPr/>
        </p:nvSpPr>
        <p:spPr>
          <a:xfrm>
            <a:off x="4555247" y="4294903"/>
            <a:ext cx="2804704" cy="307777"/>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0E2554"/>
                </a:solidFill>
                <a:effectLst/>
                <a:highlight>
                  <a:srgbClr val="FF00FF"/>
                </a:highlight>
                <a:uLnTx/>
                <a:uFillTx/>
                <a:latin typeface="Verdana"/>
                <a:ea typeface="+mn-ea"/>
                <a:cs typeface="+mn-cs"/>
              </a:rPr>
              <a:t>Details</a:t>
            </a:r>
          </a:p>
        </p:txBody>
      </p:sp>
      <p:sp>
        <p:nvSpPr>
          <p:cNvPr id="16" name="TextBox 15">
            <a:extLst>
              <a:ext uri="{FF2B5EF4-FFF2-40B4-BE49-F238E27FC236}">
                <a16:creationId xmlns:a16="http://schemas.microsoft.com/office/drawing/2014/main" id="{3B5F3527-EE0F-AACA-8200-9102D9331703}"/>
              </a:ext>
            </a:extLst>
          </p:cNvPr>
          <p:cNvSpPr txBox="1"/>
          <p:nvPr/>
        </p:nvSpPr>
        <p:spPr>
          <a:xfrm>
            <a:off x="4854447" y="1306536"/>
            <a:ext cx="220630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E2554"/>
                </a:solidFill>
                <a:effectLst/>
                <a:uLnTx/>
                <a:uFillTx/>
                <a:latin typeface="Verdana"/>
                <a:ea typeface="+mn-ea"/>
                <a:cs typeface="+mn-cs"/>
              </a:rPr>
              <a:t>Partnership </a:t>
            </a:r>
          </a:p>
        </p:txBody>
      </p:sp>
      <p:sp>
        <p:nvSpPr>
          <p:cNvPr id="20" name="Slide Number Placeholder 19">
            <a:extLst>
              <a:ext uri="{FF2B5EF4-FFF2-40B4-BE49-F238E27FC236}">
                <a16:creationId xmlns:a16="http://schemas.microsoft.com/office/drawing/2014/main" id="{A36B4BF4-3C1B-5666-C93C-18B9DDE63C4D}"/>
              </a:ext>
            </a:extLst>
          </p:cNvPr>
          <p:cNvSpPr>
            <a:spLocks noGrp="1"/>
          </p:cNvSpPr>
          <p:nvPr>
            <p:ph type="sldNum" sz="quarter" idx="12"/>
          </p:nvPr>
        </p:nvSpPr>
        <p:spPr>
          <a:xfrm>
            <a:off x="11289600" y="6490800"/>
            <a:ext cx="540000" cy="2772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A92F45-BA5D-4C7A-ACC7-D44B34072B97}" type="slidenum">
              <a:rPr kumimoji="0" lang="en-IN" sz="750" b="0" i="0" u="none" strike="noStrike" kern="1200" cap="none" spc="0" normalizeH="0" baseline="0" noProof="0" smtClean="0">
                <a:ln>
                  <a:noFill/>
                </a:ln>
                <a:solidFill>
                  <a:srgbClr val="8C8585"/>
                </a:solidFill>
                <a:effectLst/>
                <a:uLnTx/>
                <a:uFillTx/>
                <a:latin typeface="Verdana" panose="020B060403050404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750" b="0" i="0" u="none" strike="noStrike" kern="1200" cap="none" spc="0" normalizeH="0" baseline="0" noProof="0" dirty="0">
              <a:ln>
                <a:noFill/>
              </a:ln>
              <a:solidFill>
                <a:srgbClr val="8C8585"/>
              </a:solidFill>
              <a:effectLst/>
              <a:uLnTx/>
              <a:uFillTx/>
              <a:latin typeface="Verdana" panose="020B0604030504040204" pitchFamily="34" charset="0"/>
              <a:ea typeface="+mn-ea"/>
              <a:cs typeface="+mn-cs"/>
            </a:endParaRPr>
          </a:p>
        </p:txBody>
      </p:sp>
      <p:sp>
        <p:nvSpPr>
          <p:cNvPr id="12" name="Rectangle 11">
            <a:extLst>
              <a:ext uri="{FF2B5EF4-FFF2-40B4-BE49-F238E27FC236}">
                <a16:creationId xmlns:a16="http://schemas.microsoft.com/office/drawing/2014/main" id="{6C65A2EE-81FF-31C2-4614-6BC4A740470D}"/>
              </a:ext>
            </a:extLst>
          </p:cNvPr>
          <p:cNvSpPr/>
          <p:nvPr/>
        </p:nvSpPr>
        <p:spPr>
          <a:xfrm>
            <a:off x="3468897" y="4474723"/>
            <a:ext cx="8582925" cy="15292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 </a:t>
            </a:r>
          </a:p>
          <a:p>
            <a:pPr algn="ctr"/>
            <a:r>
              <a:rPr lang="en-US" sz="1400" dirty="0">
                <a:solidFill>
                  <a:schemeClr val="accent1"/>
                </a:solidFill>
              </a:rPr>
              <a:t>Example Text Only</a:t>
            </a:r>
          </a:p>
          <a:p>
            <a:pPr algn="ctr"/>
            <a:r>
              <a:rPr lang="en-US" sz="1400" dirty="0">
                <a:solidFill>
                  <a:schemeClr val="accent1"/>
                </a:solidFill>
              </a:rPr>
              <a:t>May include What’s New, Investments, Organic Growth opportunities, facility or account level priorities, etc. Link to latest QBR supplemental deck in Seismic</a:t>
            </a:r>
          </a:p>
          <a:p>
            <a:pPr algn="ctr"/>
            <a:r>
              <a:rPr lang="en-US" sz="1200" dirty="0">
                <a:solidFill>
                  <a:schemeClr val="accent1"/>
                </a:solidFill>
                <a:hlinkClick r:id="rId6">
                  <a:extLst>
                    <a:ext uri="{A12FA001-AC4F-418D-AE19-62706E023703}">
                      <ahyp:hlinkClr xmlns:ahyp="http://schemas.microsoft.com/office/drawing/2018/hyperlinkcolor" val="tx"/>
                    </a:ext>
                  </a:extLst>
                </a:hlinkClick>
              </a:rPr>
              <a:t>https://eng2e.seismic.com/i/9PrPLUSSIGNbpUo___Os1XvAIPLUSSIGN934GOLGgMC___awpoLgJoERlFGleiVJ18LmYFCV6voPLUSSIGNsJHoHXKxb1vlNTWbHHCPhrgvFb8BNMeDzqHUPuAu___2ZcgwQJMEQUALSIGN</a:t>
            </a:r>
            <a:r>
              <a:rPr lang="en-US" sz="1200" dirty="0">
                <a:solidFill>
                  <a:schemeClr val="accent1"/>
                </a:solidFill>
              </a:rPr>
              <a:t> </a:t>
            </a:r>
          </a:p>
          <a:p>
            <a:pPr algn="ctr"/>
            <a:endParaRPr lang="en-US" sz="1400" dirty="0">
              <a:solidFill>
                <a:schemeClr val="accent1"/>
              </a:solidFill>
            </a:endParaRPr>
          </a:p>
        </p:txBody>
      </p:sp>
    </p:spTree>
    <p:extLst>
      <p:ext uri="{BB962C8B-B14F-4D97-AF65-F5344CB8AC3E}">
        <p14:creationId xmlns:p14="http://schemas.microsoft.com/office/powerpoint/2010/main" val="46397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79E309-DE69-16F2-D8C1-B46774539FEE}"/>
              </a:ext>
            </a:extLst>
          </p:cNvPr>
          <p:cNvSpPr>
            <a:spLocks noGrp="1"/>
          </p:cNvSpPr>
          <p:nvPr>
            <p:ph type="sldNum" sz="quarter" idx="12"/>
          </p:nvPr>
        </p:nvSpPr>
        <p:spPr/>
        <p:txBody>
          <a:bodyPr/>
          <a:lstStyle/>
          <a:p>
            <a:pPr algn="r"/>
            <a:fld id="{4FA92F45-BA5D-4C7A-ACC7-D44B34072B97}" type="slidenum">
              <a:rPr lang="en-IN" smtClean="0"/>
              <a:pPr algn="r"/>
              <a:t>9</a:t>
            </a:fld>
            <a:endParaRPr lang="en-IN" dirty="0"/>
          </a:p>
        </p:txBody>
      </p:sp>
      <p:sp>
        <p:nvSpPr>
          <p:cNvPr id="3" name="Title 2">
            <a:extLst>
              <a:ext uri="{FF2B5EF4-FFF2-40B4-BE49-F238E27FC236}">
                <a16:creationId xmlns:a16="http://schemas.microsoft.com/office/drawing/2014/main" id="{BFA1DCB2-48F7-853D-FB79-87509DFC742D}"/>
              </a:ext>
            </a:extLst>
          </p:cNvPr>
          <p:cNvSpPr>
            <a:spLocks noGrp="1"/>
          </p:cNvSpPr>
          <p:nvPr>
            <p:ph type="title"/>
          </p:nvPr>
        </p:nvSpPr>
        <p:spPr/>
        <p:txBody>
          <a:bodyPr/>
          <a:lstStyle/>
          <a:p>
            <a:endParaRPr lang="en-US" dirty="0"/>
          </a:p>
        </p:txBody>
      </p:sp>
      <p:sp>
        <p:nvSpPr>
          <p:cNvPr id="7" name="Text Placeholder 6">
            <a:extLst>
              <a:ext uri="{FF2B5EF4-FFF2-40B4-BE49-F238E27FC236}">
                <a16:creationId xmlns:a16="http://schemas.microsoft.com/office/drawing/2014/main" id="{B68F09A5-A59E-452D-74E4-9D1C151A8A9C}"/>
              </a:ext>
            </a:extLst>
          </p:cNvPr>
          <p:cNvSpPr>
            <a:spLocks noGrp="1"/>
          </p:cNvSpPr>
          <p:nvPr>
            <p:ph type="body" sz="quarter" idx="13"/>
          </p:nvPr>
        </p:nvSpPr>
        <p:spPr/>
        <p:txBody>
          <a:bodyPr/>
          <a:lstStyle/>
          <a:p>
            <a:endParaRPr lang="en-US" dirty="0"/>
          </a:p>
        </p:txBody>
      </p:sp>
      <p:pic>
        <p:nvPicPr>
          <p:cNvPr id="5" name="Picture 4">
            <a:hlinkClick r:id="rId3"/>
            <a:extLst>
              <a:ext uri="{FF2B5EF4-FFF2-40B4-BE49-F238E27FC236}">
                <a16:creationId xmlns:a16="http://schemas.microsoft.com/office/drawing/2014/main" id="{ACB9AE2A-27B1-13F0-8EE6-5ECB449E33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1112" y="1147423"/>
            <a:ext cx="3901440" cy="2194560"/>
          </a:xfrm>
          <a:prstGeom prst="rect">
            <a:avLst/>
          </a:prstGeom>
        </p:spPr>
      </p:pic>
      <p:pic>
        <p:nvPicPr>
          <p:cNvPr id="6" name="Picture 5">
            <a:hlinkClick r:id="rId3"/>
            <a:extLst>
              <a:ext uri="{FF2B5EF4-FFF2-40B4-BE49-F238E27FC236}">
                <a16:creationId xmlns:a16="http://schemas.microsoft.com/office/drawing/2014/main" id="{CD8C5BB5-2181-6DAD-1C56-C245C67D25F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67578" y="1153634"/>
            <a:ext cx="3901439" cy="2194560"/>
          </a:xfrm>
          <a:prstGeom prst="rect">
            <a:avLst/>
          </a:prstGeom>
        </p:spPr>
      </p:pic>
      <p:pic>
        <p:nvPicPr>
          <p:cNvPr id="10" name="Picture 9">
            <a:hlinkClick r:id="rId6"/>
            <a:extLst>
              <a:ext uri="{FF2B5EF4-FFF2-40B4-BE49-F238E27FC236}">
                <a16:creationId xmlns:a16="http://schemas.microsoft.com/office/drawing/2014/main" id="{8848DC89-7F41-41A2-2551-CC20E073A85B}"/>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299408" y="3519577"/>
            <a:ext cx="4031897" cy="2182119"/>
          </a:xfrm>
          <a:prstGeom prst="rect">
            <a:avLst/>
          </a:prstGeom>
        </p:spPr>
      </p:pic>
      <p:pic>
        <p:nvPicPr>
          <p:cNvPr id="12" name="Picture 11">
            <a:hlinkClick r:id="rId8"/>
            <a:extLst>
              <a:ext uri="{FF2B5EF4-FFF2-40B4-BE49-F238E27FC236}">
                <a16:creationId xmlns:a16="http://schemas.microsoft.com/office/drawing/2014/main" id="{F1A077E6-E157-702D-DE63-8FF599827124}"/>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376945" y="3554083"/>
            <a:ext cx="3608021" cy="2029512"/>
          </a:xfrm>
          <a:prstGeom prst="rect">
            <a:avLst/>
          </a:prstGeom>
        </p:spPr>
      </p:pic>
      <p:sp>
        <p:nvSpPr>
          <p:cNvPr id="13" name="Rectangle 12">
            <a:extLst>
              <a:ext uri="{FF2B5EF4-FFF2-40B4-BE49-F238E27FC236}">
                <a16:creationId xmlns:a16="http://schemas.microsoft.com/office/drawing/2014/main" id="{21330E07-A674-DF1B-DE6D-7842C73DD639}"/>
              </a:ext>
            </a:extLst>
          </p:cNvPr>
          <p:cNvSpPr/>
          <p:nvPr/>
        </p:nvSpPr>
        <p:spPr>
          <a:xfrm>
            <a:off x="7739913" y="0"/>
            <a:ext cx="4079193" cy="121962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Additional slides available to use</a:t>
            </a:r>
          </a:p>
          <a:p>
            <a:pPr algn="ctr"/>
            <a:r>
              <a:rPr lang="en-US" sz="1400" dirty="0">
                <a:solidFill>
                  <a:schemeClr val="accent1"/>
                </a:solidFill>
              </a:rPr>
              <a:t>Hyperlinks included</a:t>
            </a:r>
          </a:p>
          <a:p>
            <a:pPr algn="ctr"/>
            <a:r>
              <a:rPr lang="en-US" sz="1400" dirty="0">
                <a:solidFill>
                  <a:schemeClr val="accent1"/>
                </a:solidFill>
              </a:rPr>
              <a:t>Should be relevant to your customer</a:t>
            </a:r>
          </a:p>
        </p:txBody>
      </p:sp>
      <p:pic>
        <p:nvPicPr>
          <p:cNvPr id="4" name="Picture 3">
            <a:hlinkClick r:id="rId10"/>
            <a:extLst>
              <a:ext uri="{FF2B5EF4-FFF2-40B4-BE49-F238E27FC236}">
                <a16:creationId xmlns:a16="http://schemas.microsoft.com/office/drawing/2014/main" id="{ACFC971A-1132-7608-0A75-C84DB6DA8E92}"/>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333816" y="1136378"/>
            <a:ext cx="3746046" cy="2107151"/>
          </a:xfrm>
          <a:prstGeom prst="rect">
            <a:avLst/>
          </a:prstGeom>
        </p:spPr>
      </p:pic>
      <p:pic>
        <p:nvPicPr>
          <p:cNvPr id="9" name="Picture 8">
            <a:hlinkClick r:id="rId12"/>
            <a:extLst>
              <a:ext uri="{FF2B5EF4-FFF2-40B4-BE49-F238E27FC236}">
                <a16:creationId xmlns:a16="http://schemas.microsoft.com/office/drawing/2014/main" id="{E3389F62-D754-2B14-7432-90479548110B}"/>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56670" y="3562715"/>
            <a:ext cx="3835768" cy="2156618"/>
          </a:xfrm>
          <a:prstGeom prst="rect">
            <a:avLst/>
          </a:prstGeom>
        </p:spPr>
      </p:pic>
    </p:spTree>
    <p:extLst>
      <p:ext uri="{BB962C8B-B14F-4D97-AF65-F5344CB8AC3E}">
        <p14:creationId xmlns:p14="http://schemas.microsoft.com/office/powerpoint/2010/main" val="259053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C14F31-15A4-AA4B-4CC7-316F40F98293}"/>
              </a:ext>
            </a:extLst>
          </p:cNvPr>
          <p:cNvSpPr>
            <a:spLocks noGrp="1"/>
          </p:cNvSpPr>
          <p:nvPr>
            <p:ph type="sldNum" sz="quarter" idx="12"/>
          </p:nvPr>
        </p:nvSpPr>
        <p:spPr/>
        <p:txBody>
          <a:bodyPr/>
          <a:lstStyle/>
          <a:p>
            <a:pPr algn="r"/>
            <a:fld id="{4FA92F45-BA5D-4C7A-ACC7-D44B34072B97}" type="slidenum">
              <a:rPr lang="en-IN" smtClean="0"/>
              <a:pPr algn="r"/>
              <a:t>10</a:t>
            </a:fld>
            <a:endParaRPr lang="en-IN" dirty="0"/>
          </a:p>
        </p:txBody>
      </p:sp>
      <p:sp>
        <p:nvSpPr>
          <p:cNvPr id="3" name="Title 2">
            <a:extLst>
              <a:ext uri="{FF2B5EF4-FFF2-40B4-BE49-F238E27FC236}">
                <a16:creationId xmlns:a16="http://schemas.microsoft.com/office/drawing/2014/main" id="{CAAE2E0C-200B-9B03-A0BC-A9F451542574}"/>
              </a:ext>
            </a:extLst>
          </p:cNvPr>
          <p:cNvSpPr>
            <a:spLocks noGrp="1"/>
          </p:cNvSpPr>
          <p:nvPr>
            <p:ph type="title"/>
          </p:nvPr>
        </p:nvSpPr>
        <p:spPr/>
        <p:txBody>
          <a:bodyPr/>
          <a:lstStyle/>
          <a:p>
            <a:r>
              <a:rPr lang="en-US" dirty="0"/>
              <a:t>ACTION ITEM TRACKER</a:t>
            </a:r>
          </a:p>
        </p:txBody>
      </p:sp>
      <p:sp>
        <p:nvSpPr>
          <p:cNvPr id="4" name="Text Placeholder 3">
            <a:extLst>
              <a:ext uri="{FF2B5EF4-FFF2-40B4-BE49-F238E27FC236}">
                <a16:creationId xmlns:a16="http://schemas.microsoft.com/office/drawing/2014/main" id="{70D4FBEF-4461-C642-823B-DB22D4472D94}"/>
              </a:ext>
            </a:extLst>
          </p:cNvPr>
          <p:cNvSpPr>
            <a:spLocks noGrp="1"/>
          </p:cNvSpPr>
          <p:nvPr>
            <p:ph type="body" sz="quarter" idx="13"/>
          </p:nvPr>
        </p:nvSpPr>
        <p:spPr/>
        <p:txBody>
          <a:bodyPr/>
          <a:lstStyle/>
          <a:p>
            <a:r>
              <a:rPr lang="en-US" dirty="0"/>
              <a:t>Facility name or location</a:t>
            </a:r>
          </a:p>
        </p:txBody>
      </p:sp>
      <p:graphicFrame>
        <p:nvGraphicFramePr>
          <p:cNvPr id="5" name="Table 4">
            <a:extLst>
              <a:ext uri="{FF2B5EF4-FFF2-40B4-BE49-F238E27FC236}">
                <a16:creationId xmlns:a16="http://schemas.microsoft.com/office/drawing/2014/main" id="{2EA50EF8-BB44-35C6-5E7F-CDD66D721C8E}"/>
              </a:ext>
            </a:extLst>
          </p:cNvPr>
          <p:cNvGraphicFramePr>
            <a:graphicFrameLocks noGrp="1"/>
          </p:cNvGraphicFramePr>
          <p:nvPr>
            <p:extLst>
              <p:ext uri="{D42A27DB-BD31-4B8C-83A1-F6EECF244321}">
                <p14:modId xmlns:p14="http://schemas.microsoft.com/office/powerpoint/2010/main" val="624342620"/>
              </p:ext>
            </p:extLst>
          </p:nvPr>
        </p:nvGraphicFramePr>
        <p:xfrm>
          <a:off x="363600" y="1285985"/>
          <a:ext cx="11460480" cy="3749804"/>
        </p:xfrm>
        <a:graphic>
          <a:graphicData uri="http://schemas.openxmlformats.org/drawingml/2006/table">
            <a:tbl>
              <a:tblPr firstRow="1" bandRow="1">
                <a:tableStyleId>{5C22544A-7EE6-4342-B048-85BDC9FD1C3A}</a:tableStyleId>
              </a:tblPr>
              <a:tblGrid>
                <a:gridCol w="2025917">
                  <a:extLst>
                    <a:ext uri="{9D8B030D-6E8A-4147-A177-3AD203B41FA5}">
                      <a16:colId xmlns:a16="http://schemas.microsoft.com/office/drawing/2014/main" val="2356655432"/>
                    </a:ext>
                  </a:extLst>
                </a:gridCol>
                <a:gridCol w="1380226">
                  <a:extLst>
                    <a:ext uri="{9D8B030D-6E8A-4147-A177-3AD203B41FA5}">
                      <a16:colId xmlns:a16="http://schemas.microsoft.com/office/drawing/2014/main" val="2746576636"/>
                    </a:ext>
                  </a:extLst>
                </a:gridCol>
                <a:gridCol w="3510951">
                  <a:extLst>
                    <a:ext uri="{9D8B030D-6E8A-4147-A177-3AD203B41FA5}">
                      <a16:colId xmlns:a16="http://schemas.microsoft.com/office/drawing/2014/main" val="104173865"/>
                    </a:ext>
                  </a:extLst>
                </a:gridCol>
                <a:gridCol w="3510951">
                  <a:extLst>
                    <a:ext uri="{9D8B030D-6E8A-4147-A177-3AD203B41FA5}">
                      <a16:colId xmlns:a16="http://schemas.microsoft.com/office/drawing/2014/main" val="1443223135"/>
                    </a:ext>
                  </a:extLst>
                </a:gridCol>
                <a:gridCol w="1032435">
                  <a:extLst>
                    <a:ext uri="{9D8B030D-6E8A-4147-A177-3AD203B41FA5}">
                      <a16:colId xmlns:a16="http://schemas.microsoft.com/office/drawing/2014/main" val="911518846"/>
                    </a:ext>
                  </a:extLst>
                </a:gridCol>
              </a:tblGrid>
              <a:tr h="473804">
                <a:tc>
                  <a:txBody>
                    <a:bodyPr/>
                    <a:lstStyle/>
                    <a:p>
                      <a:pPr algn="ctr"/>
                      <a:r>
                        <a:rPr lang="en-US" sz="1400" dirty="0">
                          <a:latin typeface="+mn-lt"/>
                        </a:rPr>
                        <a:t>Project</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Owner</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Next Steps</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Comment</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Status</a:t>
                      </a:r>
                    </a:p>
                  </a:txBody>
                  <a:tcPr marL="89607" marR="89607" marT="44803" marB="4480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2122810747"/>
                  </a:ext>
                </a:extLst>
              </a:tr>
              <a:tr h="468000">
                <a:tc>
                  <a:txBody>
                    <a:bodyPr/>
                    <a:lstStyle/>
                    <a:p>
                      <a:pPr algn="l" fontAlgn="t"/>
                      <a:r>
                        <a:rPr lang="en-US" sz="1200" b="0" i="0" u="none" strike="noStrike" dirty="0">
                          <a:solidFill>
                            <a:schemeClr val="tx2"/>
                          </a:solidFill>
                          <a:effectLst/>
                          <a:latin typeface="+mn-lt"/>
                        </a:rPr>
                        <a:t>CAPA resolutions</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Amy Carney</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Meet with vendor</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b"/>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b"/>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1558814"/>
                  </a:ext>
                </a:extLst>
              </a:tr>
              <a:tr h="468000">
                <a:tc>
                  <a:txBody>
                    <a:bodyPr/>
                    <a:lstStyle/>
                    <a:p>
                      <a:pPr algn="l" fontAlgn="t"/>
                      <a:r>
                        <a:rPr lang="en-US" sz="1200" b="0" i="0" u="none" strike="noStrike" dirty="0">
                          <a:solidFill>
                            <a:schemeClr val="tx2"/>
                          </a:solidFill>
                          <a:effectLst/>
                          <a:latin typeface="+mn-lt"/>
                        </a:rPr>
                        <a:t>SLA review in support of 2-day</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Craig Chisum</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Lane analysis</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b"/>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b"/>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9535600"/>
                  </a:ext>
                </a:extLst>
              </a:tr>
              <a:tr h="468000">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31505856"/>
                  </a:ext>
                </a:extLst>
              </a:tr>
              <a:tr h="468000">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69623063"/>
                  </a:ext>
                </a:extLst>
              </a:tr>
              <a:tr h="468000">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3243404"/>
                  </a:ext>
                </a:extLst>
              </a:tr>
              <a:tr h="468000">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34317397"/>
                  </a:ext>
                </a:extLst>
              </a:tr>
              <a:tr h="468000">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267994"/>
                  </a:ext>
                </a:extLst>
              </a:tr>
            </a:tbl>
          </a:graphicData>
        </a:graphic>
      </p:graphicFrame>
      <p:sp>
        <p:nvSpPr>
          <p:cNvPr id="6" name="Rectangle 5">
            <a:extLst>
              <a:ext uri="{FF2B5EF4-FFF2-40B4-BE49-F238E27FC236}">
                <a16:creationId xmlns:a16="http://schemas.microsoft.com/office/drawing/2014/main" id="{C6E45974-1419-B627-7A14-4152EDC29E23}"/>
              </a:ext>
            </a:extLst>
          </p:cNvPr>
          <p:cNvSpPr/>
          <p:nvPr/>
        </p:nvSpPr>
        <p:spPr>
          <a:xfrm>
            <a:off x="8652295" y="232913"/>
            <a:ext cx="2708694"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dirty="0">
                <a:solidFill>
                  <a:schemeClr val="accent1"/>
                </a:solidFill>
              </a:rPr>
              <a:t>EXAMPLE</a:t>
            </a:r>
          </a:p>
        </p:txBody>
      </p:sp>
      <p:sp>
        <p:nvSpPr>
          <p:cNvPr id="7" name="Flowchart: Connector 6">
            <a:extLst>
              <a:ext uri="{FF2B5EF4-FFF2-40B4-BE49-F238E27FC236}">
                <a16:creationId xmlns:a16="http://schemas.microsoft.com/office/drawing/2014/main" id="{0C873C42-1D58-4A8A-869A-88201858C004}"/>
              </a:ext>
            </a:extLst>
          </p:cNvPr>
          <p:cNvSpPr/>
          <p:nvPr/>
        </p:nvSpPr>
        <p:spPr>
          <a:xfrm>
            <a:off x="10921044" y="1552755"/>
            <a:ext cx="182880" cy="182880"/>
          </a:xfrm>
          <a:prstGeom prst="flowChartConnector">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3973B90A-D979-8220-0946-D8BDEB256205}"/>
              </a:ext>
            </a:extLst>
          </p:cNvPr>
          <p:cNvSpPr/>
          <p:nvPr/>
        </p:nvSpPr>
        <p:spPr>
          <a:xfrm>
            <a:off x="11224260" y="1547004"/>
            <a:ext cx="182880" cy="182880"/>
          </a:xfrm>
          <a:prstGeom prst="flowChartConnector">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4A845EC0-C019-0198-3F76-8D42DBD7D9F5}"/>
              </a:ext>
            </a:extLst>
          </p:cNvPr>
          <p:cNvSpPr/>
          <p:nvPr/>
        </p:nvSpPr>
        <p:spPr>
          <a:xfrm>
            <a:off x="11504765" y="1549879"/>
            <a:ext cx="182880" cy="182880"/>
          </a:xfrm>
          <a:prstGeom prst="flowChartConnector">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Connector 9">
            <a:extLst>
              <a:ext uri="{FF2B5EF4-FFF2-40B4-BE49-F238E27FC236}">
                <a16:creationId xmlns:a16="http://schemas.microsoft.com/office/drawing/2014/main" id="{76C4EC8C-EC70-0469-CDE5-93EB82360FE2}"/>
              </a:ext>
            </a:extLst>
          </p:cNvPr>
          <p:cNvSpPr/>
          <p:nvPr/>
        </p:nvSpPr>
        <p:spPr>
          <a:xfrm>
            <a:off x="11230013" y="1906437"/>
            <a:ext cx="182880" cy="182880"/>
          </a:xfrm>
          <a:prstGeom prst="flowChartConnector">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Connector 10">
            <a:extLst>
              <a:ext uri="{FF2B5EF4-FFF2-40B4-BE49-F238E27FC236}">
                <a16:creationId xmlns:a16="http://schemas.microsoft.com/office/drawing/2014/main" id="{94409FD9-6969-F3DA-408A-324780EEE216}"/>
              </a:ext>
            </a:extLst>
          </p:cNvPr>
          <p:cNvSpPr/>
          <p:nvPr/>
        </p:nvSpPr>
        <p:spPr>
          <a:xfrm>
            <a:off x="11235765" y="2386641"/>
            <a:ext cx="182880" cy="182880"/>
          </a:xfrm>
          <a:prstGeom prst="flowChartConnector">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7646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8BE1DD-B235-1234-4B14-A2B6B87226D3}"/>
              </a:ext>
            </a:extLst>
          </p:cNvPr>
          <p:cNvSpPr>
            <a:spLocks noGrp="1"/>
          </p:cNvSpPr>
          <p:nvPr>
            <p:ph type="sldNum" sz="quarter" idx="12"/>
          </p:nvPr>
        </p:nvSpPr>
        <p:spPr/>
        <p:txBody>
          <a:bodyPr/>
          <a:lstStyle/>
          <a:p>
            <a:pPr algn="r"/>
            <a:fld id="{4FA92F45-BA5D-4C7A-ACC7-D44B34072B97}" type="slidenum">
              <a:rPr lang="en-IN" smtClean="0"/>
              <a:pPr algn="r"/>
              <a:t>11</a:t>
            </a:fld>
            <a:endParaRPr lang="en-IN" dirty="0"/>
          </a:p>
        </p:txBody>
      </p:sp>
      <p:sp>
        <p:nvSpPr>
          <p:cNvPr id="3" name="Title 2">
            <a:extLst>
              <a:ext uri="{FF2B5EF4-FFF2-40B4-BE49-F238E27FC236}">
                <a16:creationId xmlns:a16="http://schemas.microsoft.com/office/drawing/2014/main" id="{71ED58C6-B673-25CA-914D-8F6CFB412698}"/>
              </a:ext>
            </a:extLst>
          </p:cNvPr>
          <p:cNvSpPr>
            <a:spLocks noGrp="1"/>
          </p:cNvSpPr>
          <p:nvPr>
            <p:ph type="title"/>
          </p:nvPr>
        </p:nvSpPr>
        <p:spPr/>
        <p:txBody>
          <a:bodyPr/>
          <a:lstStyle/>
          <a:p>
            <a:r>
              <a:rPr lang="en-US" dirty="0"/>
              <a:t>VOICE OF THE CUSTOMER </a:t>
            </a:r>
          </a:p>
        </p:txBody>
      </p:sp>
      <p:sp>
        <p:nvSpPr>
          <p:cNvPr id="4" name="Text Placeholder 3">
            <a:extLst>
              <a:ext uri="{FF2B5EF4-FFF2-40B4-BE49-F238E27FC236}">
                <a16:creationId xmlns:a16="http://schemas.microsoft.com/office/drawing/2014/main" id="{CA2F681B-B336-70B9-6E82-21808939F126}"/>
              </a:ext>
            </a:extLst>
          </p:cNvPr>
          <p:cNvSpPr>
            <a:spLocks noGrp="1"/>
          </p:cNvSpPr>
          <p:nvPr>
            <p:ph type="body" sz="quarter" idx="13"/>
          </p:nvPr>
        </p:nvSpPr>
        <p:spPr/>
        <p:txBody>
          <a:bodyPr/>
          <a:lstStyle/>
          <a:p>
            <a:endParaRPr lang="en-US" dirty="0"/>
          </a:p>
        </p:txBody>
      </p:sp>
      <p:sp>
        <p:nvSpPr>
          <p:cNvPr id="5" name="Speech Bubble: Rectangle with Corners Rounded 4">
            <a:extLst>
              <a:ext uri="{FF2B5EF4-FFF2-40B4-BE49-F238E27FC236}">
                <a16:creationId xmlns:a16="http://schemas.microsoft.com/office/drawing/2014/main" id="{C9528E86-9643-5ED5-32F8-97489B8E62CC}"/>
              </a:ext>
            </a:extLst>
          </p:cNvPr>
          <p:cNvSpPr/>
          <p:nvPr/>
        </p:nvSpPr>
        <p:spPr>
          <a:xfrm>
            <a:off x="583661" y="1926077"/>
            <a:ext cx="4679004" cy="2383276"/>
          </a:xfrm>
          <a:prstGeom prst="wedgeRoundRect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Are there any specific quotes or callouts from the customer that we can use here? </a:t>
            </a:r>
          </a:p>
          <a:p>
            <a:pPr algn="ctr"/>
            <a:endParaRPr lang="en-US" dirty="0"/>
          </a:p>
          <a:p>
            <a:pPr algn="ctr"/>
            <a:r>
              <a:rPr lang="en-US" sz="1400" i="1" dirty="0"/>
              <a:t>~Customer Name, Title</a:t>
            </a:r>
            <a:endParaRPr lang="en-US" i="1" dirty="0"/>
          </a:p>
        </p:txBody>
      </p:sp>
      <p:sp>
        <p:nvSpPr>
          <p:cNvPr id="6" name="TextBox 5">
            <a:extLst>
              <a:ext uri="{FF2B5EF4-FFF2-40B4-BE49-F238E27FC236}">
                <a16:creationId xmlns:a16="http://schemas.microsoft.com/office/drawing/2014/main" id="{9373136B-D4AD-CB52-254E-0E1EAF9B807A}"/>
              </a:ext>
            </a:extLst>
          </p:cNvPr>
          <p:cNvSpPr txBox="1">
            <a:spLocks/>
          </p:cNvSpPr>
          <p:nvPr/>
        </p:nvSpPr>
        <p:spPr>
          <a:xfrm>
            <a:off x="6096000" y="1128409"/>
            <a:ext cx="5956570" cy="5119991"/>
          </a:xfrm>
          <a:prstGeom prst="rect">
            <a:avLst/>
          </a:prstGeom>
          <a:solidFill>
            <a:schemeClr val="bg1"/>
          </a:solidFill>
          <a:ln>
            <a:solidFill>
              <a:schemeClr val="bg2"/>
            </a:solidFill>
          </a:ln>
          <a:effectLst>
            <a:outerShdw blurRad="50800" dist="38100" dir="5400000" algn="t" rotWithShape="0">
              <a:prstClr val="black">
                <a:alpha val="40000"/>
              </a:prstClr>
            </a:outerShdw>
          </a:effectLst>
        </p:spPr>
        <p:txBody>
          <a:bodyPr wrap="square" rtlCol="0">
            <a:noAutofit/>
          </a:bodyPr>
          <a:lstStyle/>
          <a:p>
            <a:r>
              <a:rPr lang="en-US" dirty="0">
                <a:solidFill>
                  <a:schemeClr val="accent1"/>
                </a:solidFill>
              </a:rPr>
              <a:t>Supporting information, charts, or graphs can go on this side. </a:t>
            </a:r>
          </a:p>
        </p:txBody>
      </p:sp>
    </p:spTree>
    <p:extLst>
      <p:ext uri="{BB962C8B-B14F-4D97-AF65-F5344CB8AC3E}">
        <p14:creationId xmlns:p14="http://schemas.microsoft.com/office/powerpoint/2010/main" val="235949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E98120-5E52-46EE-88FA-AE7E47439A9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12192000" cy="6248400"/>
          </a:xfrm>
          <a:prstGeom prst="rect">
            <a:avLst/>
          </a:prstGeom>
        </p:spPr>
      </p:pic>
      <p:sp>
        <p:nvSpPr>
          <p:cNvPr id="8" name="Rectangle 7">
            <a:extLst>
              <a:ext uri="{FF2B5EF4-FFF2-40B4-BE49-F238E27FC236}">
                <a16:creationId xmlns:a16="http://schemas.microsoft.com/office/drawing/2014/main" id="{9871E957-0AAA-4AA8-8624-A9ED278E9785}"/>
              </a:ext>
            </a:extLst>
          </p:cNvPr>
          <p:cNvSpPr/>
          <p:nvPr/>
        </p:nvSpPr>
        <p:spPr>
          <a:xfrm>
            <a:off x="31845" y="0"/>
            <a:ext cx="12192000" cy="62484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24B152A0-76BF-43C4-B7F4-51224AA130A8}"/>
              </a:ext>
            </a:extLst>
          </p:cNvPr>
          <p:cNvSpPr>
            <a:spLocks noGrp="1"/>
          </p:cNvSpPr>
          <p:nvPr>
            <p:ph type="title"/>
          </p:nvPr>
        </p:nvSpPr>
        <p:spPr/>
        <p:txBody>
          <a:bodyPr/>
          <a:lstStyle/>
          <a:p>
            <a:r>
              <a:rPr lang="en-US" sz="2800" dirty="0">
                <a:solidFill>
                  <a:schemeClr val="bg1"/>
                </a:solidFill>
                <a:latin typeface="+mn-lt"/>
              </a:rPr>
              <a:t>PERFORMANCE MANAGEMENT UPDATES</a:t>
            </a:r>
            <a:endParaRPr lang="en-US" dirty="0">
              <a:solidFill>
                <a:schemeClr val="bg1"/>
              </a:solidFill>
              <a:latin typeface="+mn-lt"/>
            </a:endParaRPr>
          </a:p>
        </p:txBody>
      </p:sp>
      <p:sp>
        <p:nvSpPr>
          <p:cNvPr id="2" name="Slide Number Placeholder 1">
            <a:extLst>
              <a:ext uri="{FF2B5EF4-FFF2-40B4-BE49-F238E27FC236}">
                <a16:creationId xmlns:a16="http://schemas.microsoft.com/office/drawing/2014/main" id="{C4CD840C-3DC3-4FB8-88EF-24885F43ED8F}"/>
              </a:ext>
            </a:extLst>
          </p:cNvPr>
          <p:cNvSpPr>
            <a:spLocks noGrp="1"/>
          </p:cNvSpPr>
          <p:nvPr>
            <p:ph type="sldNum" sz="quarter" idx="10"/>
          </p:nvPr>
        </p:nvSpPr>
        <p:spPr/>
        <p:txBody>
          <a:bodyPr/>
          <a:lstStyle/>
          <a:p>
            <a:pPr algn="r"/>
            <a:fld id="{4FA92F45-BA5D-4C7A-ACC7-D44B34072B97}" type="slidenum">
              <a:rPr lang="en-IN" smtClean="0">
                <a:solidFill>
                  <a:srgbClr val="595555"/>
                </a:solidFill>
              </a:rPr>
              <a:pPr algn="r"/>
              <a:t>12</a:t>
            </a:fld>
            <a:endParaRPr lang="en-IN" dirty="0">
              <a:solidFill>
                <a:srgbClr val="595555"/>
              </a:solidFill>
            </a:endParaRPr>
          </a:p>
        </p:txBody>
      </p:sp>
      <p:pic>
        <p:nvPicPr>
          <p:cNvPr id="9" name="Picture 8">
            <a:extLst>
              <a:ext uri="{FF2B5EF4-FFF2-40B4-BE49-F238E27FC236}">
                <a16:creationId xmlns:a16="http://schemas.microsoft.com/office/drawing/2014/main" id="{9E51AD05-A860-48C4-A7B6-4EE9EA43A85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spTree>
    <p:extLst>
      <p:ext uri="{BB962C8B-B14F-4D97-AF65-F5344CB8AC3E}">
        <p14:creationId xmlns:p14="http://schemas.microsoft.com/office/powerpoint/2010/main" val="3418073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ED8B50-3BB4-F121-9DEA-120A2A77F12F}"/>
              </a:ext>
            </a:extLst>
          </p:cNvPr>
          <p:cNvSpPr>
            <a:spLocks noGrp="1"/>
          </p:cNvSpPr>
          <p:nvPr>
            <p:ph type="sldNum" sz="quarter" idx="12"/>
          </p:nvPr>
        </p:nvSpPr>
        <p:spPr/>
        <p:txBody>
          <a:bodyPr/>
          <a:lstStyle/>
          <a:p>
            <a:pPr algn="r"/>
            <a:fld id="{4FA92F45-BA5D-4C7A-ACC7-D44B34072B97}" type="slidenum">
              <a:rPr lang="en-IN" smtClean="0"/>
              <a:pPr algn="r"/>
              <a:t>13</a:t>
            </a:fld>
            <a:endParaRPr lang="en-IN" dirty="0"/>
          </a:p>
        </p:txBody>
      </p:sp>
      <p:sp>
        <p:nvSpPr>
          <p:cNvPr id="3" name="Title 2">
            <a:extLst>
              <a:ext uri="{FF2B5EF4-FFF2-40B4-BE49-F238E27FC236}">
                <a16:creationId xmlns:a16="http://schemas.microsoft.com/office/drawing/2014/main" id="{722BB560-DA7F-2337-5BDD-6FDC03545387}"/>
              </a:ext>
            </a:extLst>
          </p:cNvPr>
          <p:cNvSpPr>
            <a:spLocks noGrp="1"/>
          </p:cNvSpPr>
          <p:nvPr>
            <p:ph type="title"/>
          </p:nvPr>
        </p:nvSpPr>
        <p:spPr/>
        <p:txBody>
          <a:bodyPr/>
          <a:lstStyle/>
          <a:p>
            <a:r>
              <a:rPr lang="en-US" dirty="0"/>
              <a:t>KEY PERFORMANCE INDICATOR (KPI) DASHBOARD</a:t>
            </a:r>
          </a:p>
        </p:txBody>
      </p:sp>
      <p:sp>
        <p:nvSpPr>
          <p:cNvPr id="4" name="Text Placeholder 3">
            <a:extLst>
              <a:ext uri="{FF2B5EF4-FFF2-40B4-BE49-F238E27FC236}">
                <a16:creationId xmlns:a16="http://schemas.microsoft.com/office/drawing/2014/main" id="{9D7CD8F4-F8D2-FE49-78B9-87E1678EEDFE}"/>
              </a:ext>
            </a:extLst>
          </p:cNvPr>
          <p:cNvSpPr>
            <a:spLocks noGrp="1"/>
          </p:cNvSpPr>
          <p:nvPr>
            <p:ph type="body" sz="quarter" idx="13"/>
          </p:nvPr>
        </p:nvSpPr>
        <p:spPr/>
        <p:txBody>
          <a:bodyPr/>
          <a:lstStyle/>
          <a:p>
            <a:r>
              <a:rPr lang="en-US" dirty="0"/>
              <a:t>1860 KYVLE</a:t>
            </a:r>
          </a:p>
        </p:txBody>
      </p:sp>
      <p:graphicFrame>
        <p:nvGraphicFramePr>
          <p:cNvPr id="5" name="Table 4">
            <a:extLst>
              <a:ext uri="{FF2B5EF4-FFF2-40B4-BE49-F238E27FC236}">
                <a16:creationId xmlns:a16="http://schemas.microsoft.com/office/drawing/2014/main" id="{194353D3-CA0A-8824-049C-56F6B66C9217}"/>
              </a:ext>
            </a:extLst>
          </p:cNvPr>
          <p:cNvGraphicFramePr>
            <a:graphicFrameLocks noGrp="1"/>
          </p:cNvGraphicFramePr>
          <p:nvPr>
            <p:extLst>
              <p:ext uri="{D42A27DB-BD31-4B8C-83A1-F6EECF244321}">
                <p14:modId xmlns:p14="http://schemas.microsoft.com/office/powerpoint/2010/main" val="3215142387"/>
              </p:ext>
            </p:extLst>
          </p:nvPr>
        </p:nvGraphicFramePr>
        <p:xfrm>
          <a:off x="422694" y="3281219"/>
          <a:ext cx="11335111" cy="2940953"/>
        </p:xfrm>
        <a:graphic>
          <a:graphicData uri="http://schemas.openxmlformats.org/drawingml/2006/table">
            <a:tbl>
              <a:tblPr firstRow="1" bandRow="1">
                <a:tableStyleId>{5C22544A-7EE6-4342-B048-85BDC9FD1C3A}</a:tableStyleId>
              </a:tblPr>
              <a:tblGrid>
                <a:gridCol w="5613593">
                  <a:extLst>
                    <a:ext uri="{9D8B030D-6E8A-4147-A177-3AD203B41FA5}">
                      <a16:colId xmlns:a16="http://schemas.microsoft.com/office/drawing/2014/main" val="1568405761"/>
                    </a:ext>
                  </a:extLst>
                </a:gridCol>
                <a:gridCol w="2860759">
                  <a:extLst>
                    <a:ext uri="{9D8B030D-6E8A-4147-A177-3AD203B41FA5}">
                      <a16:colId xmlns:a16="http://schemas.microsoft.com/office/drawing/2014/main" val="4139509398"/>
                    </a:ext>
                  </a:extLst>
                </a:gridCol>
                <a:gridCol w="2860759">
                  <a:extLst>
                    <a:ext uri="{9D8B030D-6E8A-4147-A177-3AD203B41FA5}">
                      <a16:colId xmlns:a16="http://schemas.microsoft.com/office/drawing/2014/main" val="72644695"/>
                    </a:ext>
                  </a:extLst>
                </a:gridCol>
              </a:tblGrid>
              <a:tr h="346781">
                <a:tc>
                  <a:txBody>
                    <a:bodyPr/>
                    <a:lstStyle/>
                    <a:p>
                      <a:pPr algn="l" fontAlgn="b"/>
                      <a:r>
                        <a:rPr lang="en-US" sz="1200" u="none" strike="noStrike" dirty="0">
                          <a:effectLst/>
                        </a:rPr>
                        <a:t>Operation highlights</a:t>
                      </a:r>
                      <a:endParaRPr lang="en-US" sz="12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fontAlgn="b"/>
                      <a:r>
                        <a:rPr lang="en-US" sz="1200" u="none" strike="noStrike" dirty="0">
                          <a:effectLst/>
                        </a:rPr>
                        <a:t>1</a:t>
                      </a:r>
                      <a:r>
                        <a:rPr lang="en-US" sz="1200" u="none" strike="noStrike" baseline="30000" dirty="0">
                          <a:effectLst/>
                        </a:rPr>
                        <a:t>st</a:t>
                      </a:r>
                      <a:r>
                        <a:rPr lang="en-US" sz="1200" u="none" strike="noStrike" dirty="0">
                          <a:effectLst/>
                        </a:rPr>
                        <a:t> Quarter 2026</a:t>
                      </a:r>
                      <a:endParaRPr lang="en-US" sz="12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fontAlgn="b"/>
                      <a:r>
                        <a:rPr lang="en-US" sz="1200" u="none" strike="noStrike" dirty="0">
                          <a:effectLst/>
                        </a:rPr>
                        <a:t>2</a:t>
                      </a:r>
                      <a:r>
                        <a:rPr lang="en-US" sz="1200" u="none" strike="noStrike" baseline="30000" dirty="0">
                          <a:effectLst/>
                        </a:rPr>
                        <a:t>nd</a:t>
                      </a:r>
                      <a:r>
                        <a:rPr lang="en-US" sz="1200" u="none" strike="noStrike" dirty="0">
                          <a:effectLst/>
                        </a:rPr>
                        <a:t> Quarter 2026</a:t>
                      </a:r>
                      <a:endParaRPr lang="en-US" sz="12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2039484633"/>
                  </a:ext>
                </a:extLst>
              </a:tr>
              <a:tr h="216181">
                <a:tc gridSpan="3">
                  <a:txBody>
                    <a:bodyPr/>
                    <a:lstStyle/>
                    <a:p>
                      <a:pPr algn="l" fontAlgn="b"/>
                      <a:r>
                        <a:rPr lang="en-US" sz="1100" b="1" u="none" strike="noStrike" dirty="0">
                          <a:solidFill>
                            <a:schemeClr val="bg1"/>
                          </a:solidFill>
                          <a:effectLst/>
                          <a:latin typeface="+mn-lt"/>
                        </a:rPr>
                        <a:t>Receiving</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solidFill>
                  </a:tcPr>
                </a:tc>
                <a:tc hMerge="1">
                  <a:txBody>
                    <a:bodyPr/>
                    <a:lstStyle/>
                    <a:p>
                      <a:pPr algn="ctr" fontAlgn="b"/>
                      <a:endParaRPr lang="en-US" sz="1100" b="0" i="0" u="none" strike="noStrike">
                        <a:solidFill>
                          <a:schemeClr val="tx2"/>
                        </a:solidFill>
                        <a:effectLst/>
                        <a:latin typeface="+mn-lt"/>
                      </a:endParaRPr>
                    </a:p>
                  </a:txBody>
                  <a:tcPr marL="6350" marR="6350" marT="635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B w="9525" cap="flat" cmpd="sng" algn="ctr">
                      <a:solidFill>
                        <a:schemeClr val="bg1"/>
                      </a:solidFill>
                      <a:prstDash val="solid"/>
                      <a:round/>
                      <a:headEnd type="none" w="med" len="med"/>
                      <a:tailEnd type="none" w="med" len="med"/>
                    </a:lnB>
                    <a:solidFill>
                      <a:srgbClr val="CCCDD1"/>
                    </a:solidFill>
                  </a:tcPr>
                </a:tc>
                <a:tc hMerge="1">
                  <a:txBody>
                    <a:bodyPr/>
                    <a:lstStyle/>
                    <a:p>
                      <a:pPr algn="ctr" fontAlgn="b"/>
                      <a:endParaRPr lang="en-US" sz="1100" b="0" i="0" u="none" strike="noStrike">
                        <a:solidFill>
                          <a:schemeClr val="tx2"/>
                        </a:solidFill>
                        <a:effectLst/>
                        <a:latin typeface="+mn-lt"/>
                      </a:endParaRPr>
                    </a:p>
                  </a:txBody>
                  <a:tcPr marL="6350" marR="6350" marT="635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B w="9525" cap="flat" cmpd="sng" algn="ctr">
                      <a:solidFill>
                        <a:schemeClr val="bg1"/>
                      </a:solidFill>
                      <a:prstDash val="solid"/>
                      <a:round/>
                      <a:headEnd type="none" w="med" len="med"/>
                      <a:tailEnd type="none" w="med" len="med"/>
                    </a:lnB>
                    <a:solidFill>
                      <a:srgbClr val="CCCDD1"/>
                    </a:solidFill>
                  </a:tcPr>
                </a:tc>
                <a:extLst>
                  <a:ext uri="{0D108BD9-81ED-4DB2-BD59-A6C34878D82A}">
                    <a16:rowId xmlns:a16="http://schemas.microsoft.com/office/drawing/2014/main" val="2074667110"/>
                  </a:ext>
                </a:extLst>
              </a:tr>
              <a:tr h="216181">
                <a:tc>
                  <a:txBody>
                    <a:bodyPr/>
                    <a:lstStyle/>
                    <a:p>
                      <a:pPr algn="l" fontAlgn="b"/>
                      <a:r>
                        <a:rPr lang="en-US" sz="1100" u="none" strike="noStrike" dirty="0">
                          <a:solidFill>
                            <a:schemeClr val="tx2"/>
                          </a:solidFill>
                          <a:effectLst/>
                          <a:latin typeface="+mn-lt"/>
                        </a:rPr>
                        <a:t>ASN's Received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665</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626</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863697"/>
                  </a:ext>
                </a:extLst>
              </a:tr>
              <a:tr h="216181">
                <a:tc>
                  <a:txBody>
                    <a:bodyPr/>
                    <a:lstStyle/>
                    <a:p>
                      <a:pPr algn="l" fontAlgn="b"/>
                      <a:r>
                        <a:rPr lang="en-US" sz="1100" u="none" strike="noStrike" dirty="0">
                          <a:solidFill>
                            <a:schemeClr val="tx2"/>
                          </a:solidFill>
                          <a:effectLst/>
                          <a:latin typeface="+mn-lt"/>
                        </a:rPr>
                        <a:t>Lines Received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7,137</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7,541</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113659"/>
                  </a:ext>
                </a:extLst>
              </a:tr>
              <a:tr h="216181">
                <a:tc>
                  <a:txBody>
                    <a:bodyPr/>
                    <a:lstStyle/>
                    <a:p>
                      <a:pPr algn="l" fontAlgn="b"/>
                      <a:r>
                        <a:rPr lang="en-US" sz="1100" u="none" strike="noStrike" dirty="0">
                          <a:solidFill>
                            <a:schemeClr val="tx2"/>
                          </a:solidFill>
                          <a:effectLst/>
                          <a:latin typeface="+mn-lt"/>
                        </a:rPr>
                        <a:t>Units Received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35,082,033</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37,588,094</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2329020"/>
                  </a:ext>
                </a:extLst>
              </a:tr>
              <a:tr h="216181">
                <a:tc gridSpan="3">
                  <a:txBody>
                    <a:bodyPr/>
                    <a:lstStyle/>
                    <a:p>
                      <a:pPr algn="l" fontAlgn="b"/>
                      <a:r>
                        <a:rPr lang="en-US" sz="1100" b="1" u="none" strike="noStrike" dirty="0">
                          <a:solidFill>
                            <a:schemeClr val="bg1"/>
                          </a:solidFill>
                          <a:effectLst/>
                          <a:latin typeface="+mn-lt"/>
                        </a:rPr>
                        <a:t>Outbound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solidFill>
                  </a:tcPr>
                </a:tc>
                <a:tc hMerge="1">
                  <a:txBody>
                    <a:bodyPr/>
                    <a:lstStyle/>
                    <a:p>
                      <a:pPr algn="ctr" fontAlgn="b"/>
                      <a:endParaRPr lang="en-US" sz="1100" b="0" i="0" u="none" strike="noStrike">
                        <a:solidFill>
                          <a:schemeClr val="tx2"/>
                        </a:solidFill>
                        <a:effectLst/>
                        <a:latin typeface="+mn-lt"/>
                      </a:endParaRPr>
                    </a:p>
                  </a:txBody>
                  <a:tcPr marL="6350" marR="6350" marT="6350" marB="0" anchor="ctr">
                    <a:lnL w="952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tcPr>
                </a:tc>
                <a:tc hMerge="1">
                  <a:txBody>
                    <a:bodyPr/>
                    <a:lstStyle/>
                    <a:p>
                      <a:pPr algn="ctr" fontAlgn="b"/>
                      <a:endParaRPr lang="en-US" sz="1100" b="0" i="0" u="none" strike="noStrike">
                        <a:solidFill>
                          <a:schemeClr val="tx2"/>
                        </a:solidFill>
                        <a:effectLst/>
                        <a:latin typeface="+mn-lt"/>
                      </a:endParaRPr>
                    </a:p>
                  </a:txBody>
                  <a:tcPr marL="6350" marR="6350" marT="6350" marB="0" anchor="ctr">
                    <a:lnT w="9525" cap="flat" cmpd="sng" algn="ctr">
                      <a:solidFill>
                        <a:schemeClr val="bg2"/>
                      </a:solidFill>
                      <a:prstDash val="solid"/>
                      <a:round/>
                      <a:headEnd type="none" w="med" len="med"/>
                      <a:tailEnd type="none" w="med" len="med"/>
                    </a:lnT>
                  </a:tcPr>
                </a:tc>
                <a:extLst>
                  <a:ext uri="{0D108BD9-81ED-4DB2-BD59-A6C34878D82A}">
                    <a16:rowId xmlns:a16="http://schemas.microsoft.com/office/drawing/2014/main" val="3262866061"/>
                  </a:ext>
                </a:extLst>
              </a:tr>
              <a:tr h="216181">
                <a:tc>
                  <a:txBody>
                    <a:bodyPr/>
                    <a:lstStyle/>
                    <a:p>
                      <a:pPr algn="l" fontAlgn="b"/>
                      <a:r>
                        <a:rPr lang="en-US" sz="1100" u="none" strike="noStrike" dirty="0">
                          <a:solidFill>
                            <a:schemeClr val="tx2"/>
                          </a:solidFill>
                          <a:effectLst/>
                          <a:latin typeface="+mn-lt"/>
                        </a:rPr>
                        <a:t>Orders Shipped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39,045</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40,536</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8997335"/>
                  </a:ext>
                </a:extLst>
              </a:tr>
              <a:tr h="216181">
                <a:tc>
                  <a:txBody>
                    <a:bodyPr/>
                    <a:lstStyle/>
                    <a:p>
                      <a:pPr algn="l" fontAlgn="b"/>
                      <a:r>
                        <a:rPr lang="en-US" sz="1100" u="none" strike="noStrike" dirty="0">
                          <a:solidFill>
                            <a:schemeClr val="tx2"/>
                          </a:solidFill>
                          <a:effectLst/>
                          <a:latin typeface="+mn-lt"/>
                        </a:rPr>
                        <a:t>Lines Shipped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65,681</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67,493</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0635335"/>
                  </a:ext>
                </a:extLst>
              </a:tr>
              <a:tr h="216181">
                <a:tc>
                  <a:txBody>
                    <a:bodyPr/>
                    <a:lstStyle/>
                    <a:p>
                      <a:pPr algn="l" fontAlgn="b"/>
                      <a:r>
                        <a:rPr lang="en-US" sz="1100" u="none" strike="noStrike" dirty="0">
                          <a:solidFill>
                            <a:schemeClr val="tx2"/>
                          </a:solidFill>
                          <a:effectLst/>
                          <a:latin typeface="+mn-lt"/>
                        </a:rPr>
                        <a:t>Outbound Units</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36,128,570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34,560,686</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2009605"/>
                  </a:ext>
                </a:extLst>
              </a:tr>
              <a:tr h="216181">
                <a:tc gridSpan="3">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1100" b="1" u="none" strike="noStrike" dirty="0">
                          <a:solidFill>
                            <a:schemeClr val="bg1"/>
                          </a:solidFill>
                          <a:effectLst/>
                          <a:latin typeface="+mn-lt"/>
                        </a:rPr>
                        <a:t>Inventory</a:t>
                      </a:r>
                      <a:r>
                        <a:rPr lang="en-US" sz="1100" b="1" u="none" strike="noStrike" dirty="0">
                          <a:solidFill>
                            <a:schemeClr val="tx2"/>
                          </a:solidFill>
                          <a:effectLst/>
                          <a:latin typeface="+mn-lt"/>
                        </a:rPr>
                        <a:t> </a:t>
                      </a:r>
                      <a:endParaRPr lang="en-US" sz="1100" b="1"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2"/>
                    </a:solidFill>
                  </a:tcPr>
                </a:tc>
                <a:tc hMerge="1">
                  <a:txBody>
                    <a:bodyPr/>
                    <a:lstStyle/>
                    <a:p>
                      <a:pPr algn="ctr" fontAlgn="b"/>
                      <a:endParaRPr lang="en-US" sz="1100" b="0" i="0" u="none" strike="noStrike">
                        <a:solidFill>
                          <a:schemeClr val="tx2"/>
                        </a:solidFill>
                        <a:effectLst/>
                        <a:latin typeface="+mn-lt"/>
                      </a:endParaRPr>
                    </a:p>
                  </a:txBody>
                  <a:tcPr marL="6350" marR="6350" marT="6350" marB="0" anchor="ctr">
                    <a:lnL w="9525" cap="flat" cmpd="sng" algn="ctr">
                      <a:solidFill>
                        <a:schemeClr val="bg1"/>
                      </a:solidFill>
                      <a:prstDash val="solid"/>
                      <a:round/>
                      <a:headEnd type="none" w="med" len="med"/>
                      <a:tailEnd type="none" w="med" len="med"/>
                    </a:lnL>
                    <a:lnT w="9525" cap="flat" cmpd="sng" algn="ctr">
                      <a:solidFill>
                        <a:schemeClr val="bg1"/>
                      </a:solidFill>
                      <a:prstDash val="solid"/>
                      <a:round/>
                      <a:headEnd type="none" w="med" len="med"/>
                      <a:tailEnd type="none" w="med" len="med"/>
                    </a:lnT>
                  </a:tcPr>
                </a:tc>
                <a:tc hMerge="1">
                  <a:txBody>
                    <a:bodyPr/>
                    <a:lstStyle/>
                    <a:p>
                      <a:pPr algn="ctr" fontAlgn="b"/>
                      <a:endParaRPr lang="en-US" sz="1100" b="0" i="0" u="none" strike="noStrike">
                        <a:solidFill>
                          <a:schemeClr val="tx2"/>
                        </a:solidFill>
                        <a:effectLst/>
                        <a:latin typeface="+mn-lt"/>
                      </a:endParaRPr>
                    </a:p>
                  </a:txBody>
                  <a:tcPr marL="6350" marR="6350" marT="6350" marB="0" anchor="ctr">
                    <a:lnT w="9525" cap="flat" cmpd="sng" algn="ctr">
                      <a:solidFill>
                        <a:schemeClr val="bg2"/>
                      </a:solidFill>
                      <a:prstDash val="solid"/>
                      <a:round/>
                      <a:headEnd type="none" w="med" len="med"/>
                      <a:tailEnd type="none" w="med" len="med"/>
                    </a:lnT>
                  </a:tcPr>
                </a:tc>
                <a:extLst>
                  <a:ext uri="{0D108BD9-81ED-4DB2-BD59-A6C34878D82A}">
                    <a16:rowId xmlns:a16="http://schemas.microsoft.com/office/drawing/2014/main" val="3432140958"/>
                  </a:ext>
                </a:extLst>
              </a:tr>
              <a:tr h="216181">
                <a:tc>
                  <a:txBody>
                    <a:bodyPr/>
                    <a:lstStyle/>
                    <a:p>
                      <a:pPr algn="l" fontAlgn="b"/>
                      <a:r>
                        <a:rPr lang="en-US" sz="1100" u="none" strike="noStrike" dirty="0">
                          <a:solidFill>
                            <a:schemeClr val="tx2"/>
                          </a:solidFill>
                          <a:effectLst/>
                          <a:latin typeface="+mn-lt"/>
                        </a:rPr>
                        <a:t>Absolute Unit Accuracy CC</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91.75%</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94.90%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5953062"/>
                  </a:ext>
                </a:extLst>
              </a:tr>
              <a:tr h="216181">
                <a:tc>
                  <a:txBody>
                    <a:bodyPr/>
                    <a:lstStyle/>
                    <a:p>
                      <a:pPr algn="l" fontAlgn="b"/>
                      <a:r>
                        <a:rPr lang="en-US" sz="1100" u="none" strike="noStrike" dirty="0">
                          <a:solidFill>
                            <a:schemeClr val="tx2"/>
                          </a:solidFill>
                          <a:effectLst/>
                          <a:latin typeface="+mn-lt"/>
                        </a:rPr>
                        <a:t>Absolute Adjusted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4,561</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17,819</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6777725"/>
                  </a:ext>
                </a:extLst>
              </a:tr>
              <a:tr h="216181">
                <a:tc>
                  <a:txBody>
                    <a:bodyPr/>
                    <a:lstStyle/>
                    <a:p>
                      <a:pPr algn="l" fontAlgn="b"/>
                      <a:r>
                        <a:rPr lang="en-US" sz="1100" u="none" strike="noStrike" dirty="0">
                          <a:solidFill>
                            <a:schemeClr val="tx2"/>
                          </a:solidFill>
                          <a:effectLst/>
                          <a:latin typeface="+mn-lt"/>
                        </a:rPr>
                        <a:t>Units Counted</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11,045,198</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u="none" strike="noStrike" dirty="0">
                          <a:solidFill>
                            <a:schemeClr val="tx2"/>
                          </a:solidFill>
                          <a:effectLst/>
                          <a:latin typeface="+mn-lt"/>
                        </a:rPr>
                        <a:t>19,619,738</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6203960"/>
                  </a:ext>
                </a:extLst>
              </a:tr>
            </a:tbl>
          </a:graphicData>
        </a:graphic>
      </p:graphicFrame>
      <p:graphicFrame>
        <p:nvGraphicFramePr>
          <p:cNvPr id="6" name="Table 5">
            <a:extLst>
              <a:ext uri="{FF2B5EF4-FFF2-40B4-BE49-F238E27FC236}">
                <a16:creationId xmlns:a16="http://schemas.microsoft.com/office/drawing/2014/main" id="{52C354C1-90F6-FDFE-CBB8-C5CFD31A9B85}"/>
              </a:ext>
            </a:extLst>
          </p:cNvPr>
          <p:cNvGraphicFramePr>
            <a:graphicFrameLocks noGrp="1"/>
          </p:cNvGraphicFramePr>
          <p:nvPr>
            <p:extLst>
              <p:ext uri="{D42A27DB-BD31-4B8C-83A1-F6EECF244321}">
                <p14:modId xmlns:p14="http://schemas.microsoft.com/office/powerpoint/2010/main" val="2422741232"/>
              </p:ext>
            </p:extLst>
          </p:nvPr>
        </p:nvGraphicFramePr>
        <p:xfrm>
          <a:off x="422694" y="1171920"/>
          <a:ext cx="11335108" cy="1972016"/>
        </p:xfrm>
        <a:graphic>
          <a:graphicData uri="http://schemas.openxmlformats.org/drawingml/2006/table">
            <a:tbl>
              <a:tblPr firstRow="1" bandRow="1">
                <a:tableStyleId>{5C22544A-7EE6-4342-B048-85BDC9FD1C3A}</a:tableStyleId>
              </a:tblPr>
              <a:tblGrid>
                <a:gridCol w="2827054">
                  <a:extLst>
                    <a:ext uri="{9D8B030D-6E8A-4147-A177-3AD203B41FA5}">
                      <a16:colId xmlns:a16="http://schemas.microsoft.com/office/drawing/2014/main" val="1369347832"/>
                    </a:ext>
                  </a:extLst>
                </a:gridCol>
                <a:gridCol w="1418009">
                  <a:extLst>
                    <a:ext uri="{9D8B030D-6E8A-4147-A177-3AD203B41FA5}">
                      <a16:colId xmlns:a16="http://schemas.microsoft.com/office/drawing/2014/main" val="1469048995"/>
                    </a:ext>
                  </a:extLst>
                </a:gridCol>
                <a:gridCol w="1418009">
                  <a:extLst>
                    <a:ext uri="{9D8B030D-6E8A-4147-A177-3AD203B41FA5}">
                      <a16:colId xmlns:a16="http://schemas.microsoft.com/office/drawing/2014/main" val="487273332"/>
                    </a:ext>
                  </a:extLst>
                </a:gridCol>
                <a:gridCol w="1418009">
                  <a:extLst>
                    <a:ext uri="{9D8B030D-6E8A-4147-A177-3AD203B41FA5}">
                      <a16:colId xmlns:a16="http://schemas.microsoft.com/office/drawing/2014/main" val="4155609209"/>
                    </a:ext>
                  </a:extLst>
                </a:gridCol>
                <a:gridCol w="1418009">
                  <a:extLst>
                    <a:ext uri="{9D8B030D-6E8A-4147-A177-3AD203B41FA5}">
                      <a16:colId xmlns:a16="http://schemas.microsoft.com/office/drawing/2014/main" val="2215874707"/>
                    </a:ext>
                  </a:extLst>
                </a:gridCol>
                <a:gridCol w="1418009">
                  <a:extLst>
                    <a:ext uri="{9D8B030D-6E8A-4147-A177-3AD203B41FA5}">
                      <a16:colId xmlns:a16="http://schemas.microsoft.com/office/drawing/2014/main" val="2595869851"/>
                    </a:ext>
                  </a:extLst>
                </a:gridCol>
                <a:gridCol w="1418009">
                  <a:extLst>
                    <a:ext uri="{9D8B030D-6E8A-4147-A177-3AD203B41FA5}">
                      <a16:colId xmlns:a16="http://schemas.microsoft.com/office/drawing/2014/main" val="2731875237"/>
                    </a:ext>
                  </a:extLst>
                </a:gridCol>
              </a:tblGrid>
              <a:tr h="514731">
                <a:tc>
                  <a:txBody>
                    <a:bodyPr/>
                    <a:lstStyle/>
                    <a:p>
                      <a:pPr algn="ctr" fontAlgn="ctr"/>
                      <a:r>
                        <a:rPr lang="en-US" sz="1200" u="none" strike="noStrike" dirty="0">
                          <a:effectLst/>
                        </a:rPr>
                        <a:t>Key Performance Indicators</a:t>
                      </a:r>
                      <a:endParaRPr lang="en-US" sz="12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gridSpan="3">
                  <a:txBody>
                    <a:bodyPr/>
                    <a:lstStyle/>
                    <a:p>
                      <a:pPr algn="ctr" fontAlgn="b"/>
                      <a:r>
                        <a:rPr lang="en-US" sz="1200" u="none" strike="noStrike" dirty="0">
                          <a:effectLst/>
                        </a:rPr>
                        <a:t>1</a:t>
                      </a:r>
                      <a:r>
                        <a:rPr lang="en-US" sz="1200" u="none" strike="noStrike" baseline="30000" dirty="0">
                          <a:effectLst/>
                        </a:rPr>
                        <a:t>st</a:t>
                      </a:r>
                      <a:r>
                        <a:rPr lang="en-US" sz="1200" u="none" strike="noStrike" dirty="0">
                          <a:effectLst/>
                        </a:rPr>
                        <a:t> Quarter 2026</a:t>
                      </a:r>
                      <a:endParaRPr lang="en-US" sz="12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3">
                  <a:txBody>
                    <a:bodyPr/>
                    <a:lstStyle/>
                    <a:p>
                      <a:pPr algn="ctr" fontAlgn="b"/>
                      <a:r>
                        <a:rPr lang="en-US" sz="1200" u="none" strike="noStrike" dirty="0">
                          <a:effectLst/>
                        </a:rPr>
                        <a:t>2</a:t>
                      </a:r>
                      <a:r>
                        <a:rPr lang="en-US" sz="1200" u="none" strike="noStrike" baseline="30000" dirty="0">
                          <a:effectLst/>
                        </a:rPr>
                        <a:t>nd</a:t>
                      </a:r>
                      <a:r>
                        <a:rPr lang="en-US" sz="1200" u="none" strike="noStrike" dirty="0">
                          <a:effectLst/>
                        </a:rPr>
                        <a:t> Quarter 2026</a:t>
                      </a:r>
                      <a:endParaRPr lang="en-US" sz="1200" b="1"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64448289"/>
                  </a:ext>
                </a:extLst>
              </a:tr>
              <a:tr h="291457">
                <a:tc>
                  <a:txBody>
                    <a:body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b"/>
                      <a:r>
                        <a:rPr lang="en-US" sz="1100" b="1" u="none" strike="noStrike" dirty="0">
                          <a:solidFill>
                            <a:schemeClr val="bg1"/>
                          </a:solidFill>
                          <a:effectLst/>
                          <a:latin typeface="+mn-lt"/>
                        </a:rPr>
                        <a:t>Delivered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tc>
                  <a:txBody>
                    <a:bodyPr/>
                    <a:lstStyle/>
                    <a:p>
                      <a:pPr algn="ctr" fontAlgn="b"/>
                      <a:r>
                        <a:rPr lang="en-US" sz="1100" b="1" u="none" strike="noStrike" dirty="0">
                          <a:solidFill>
                            <a:schemeClr val="bg1"/>
                          </a:solidFill>
                          <a:effectLst/>
                          <a:latin typeface="+mn-lt"/>
                        </a:rPr>
                        <a:t>Committed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tc>
                  <a:txBody>
                    <a:bodyPr/>
                    <a:lstStyle/>
                    <a:p>
                      <a:pPr algn="ctr" fontAlgn="b"/>
                      <a:r>
                        <a:rPr lang="en-US" sz="1100" b="1" u="none" strike="noStrike" dirty="0">
                          <a:solidFill>
                            <a:schemeClr val="bg1"/>
                          </a:solidFill>
                          <a:effectLst/>
                          <a:latin typeface="+mn-lt"/>
                        </a:rPr>
                        <a:t>YTD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tc>
                  <a:txBody>
                    <a:bodyPr/>
                    <a:lstStyle/>
                    <a:p>
                      <a:pPr algn="ctr" fontAlgn="b"/>
                      <a:r>
                        <a:rPr lang="en-US" sz="1100" b="1" u="none" strike="noStrike" dirty="0">
                          <a:solidFill>
                            <a:schemeClr val="bg1"/>
                          </a:solidFill>
                          <a:effectLst/>
                          <a:latin typeface="+mn-lt"/>
                        </a:rPr>
                        <a:t>Delivered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tc>
                  <a:txBody>
                    <a:bodyPr/>
                    <a:lstStyle/>
                    <a:p>
                      <a:pPr algn="ctr" fontAlgn="b"/>
                      <a:r>
                        <a:rPr lang="en-US" sz="1100" b="1" u="none" strike="noStrike" dirty="0">
                          <a:solidFill>
                            <a:schemeClr val="bg1"/>
                          </a:solidFill>
                          <a:effectLst/>
                          <a:latin typeface="+mn-lt"/>
                        </a:rPr>
                        <a:t>Committed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tc>
                  <a:txBody>
                    <a:bodyPr/>
                    <a:lstStyle/>
                    <a:p>
                      <a:pPr algn="ctr" fontAlgn="b"/>
                      <a:r>
                        <a:rPr lang="en-US" sz="1100" b="1" u="none" strike="noStrike" dirty="0">
                          <a:solidFill>
                            <a:schemeClr val="bg1"/>
                          </a:solidFill>
                          <a:effectLst/>
                          <a:latin typeface="+mn-lt"/>
                        </a:rPr>
                        <a:t>YTD</a:t>
                      </a:r>
                      <a:endParaRPr lang="en-US" sz="1100" b="1" i="0" u="none" strike="noStrike" dirty="0">
                        <a:solidFill>
                          <a:schemeClr val="bg1"/>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192432023"/>
                  </a:ext>
                </a:extLst>
              </a:tr>
              <a:tr h="291457">
                <a:tc>
                  <a:txBody>
                    <a:bodyPr/>
                    <a:lstStyle/>
                    <a:p>
                      <a:pPr algn="l" fontAlgn="b"/>
                      <a:r>
                        <a:rPr lang="en-US" sz="1100" b="0" u="none" strike="noStrike" dirty="0">
                          <a:solidFill>
                            <a:schemeClr val="tx2"/>
                          </a:solidFill>
                          <a:effectLst/>
                          <a:latin typeface="+mn-lt"/>
                        </a:rPr>
                        <a:t>On Time Receiving </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99.50%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97%</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92%</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99.50%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061563710"/>
                  </a:ext>
                </a:extLst>
              </a:tr>
              <a:tr h="291457">
                <a:tc>
                  <a:txBody>
                    <a:bodyPr/>
                    <a:lstStyle/>
                    <a:p>
                      <a:pPr algn="l" fontAlgn="b"/>
                      <a:r>
                        <a:rPr lang="en-US" sz="1100" b="0" u="none" strike="noStrike" dirty="0">
                          <a:solidFill>
                            <a:schemeClr val="tx2"/>
                          </a:solidFill>
                          <a:effectLst/>
                          <a:latin typeface="+mn-lt"/>
                        </a:rPr>
                        <a:t>Client Order Accuracy </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100%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99.50%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100%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100%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99.50%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100%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25337795"/>
                  </a:ext>
                </a:extLst>
              </a:tr>
              <a:tr h="291457">
                <a:tc>
                  <a:txBody>
                    <a:bodyPr/>
                    <a:lstStyle/>
                    <a:p>
                      <a:pPr algn="l" fontAlgn="b"/>
                      <a:r>
                        <a:rPr lang="en-US" sz="1100" b="0" u="none" strike="noStrike" dirty="0">
                          <a:solidFill>
                            <a:schemeClr val="tx2"/>
                          </a:solidFill>
                          <a:effectLst/>
                          <a:latin typeface="+mn-lt"/>
                        </a:rPr>
                        <a:t>On Time Shipping</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95%</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99.50%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96.00%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92%</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99.50%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92%</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52090222"/>
                  </a:ext>
                </a:extLst>
              </a:tr>
              <a:tr h="291457">
                <a:tc>
                  <a:txBody>
                    <a:bodyPr/>
                    <a:lstStyle/>
                    <a:p>
                      <a:pPr algn="l" fontAlgn="b"/>
                      <a:r>
                        <a:rPr lang="en-US" sz="1100" b="0" u="none" strike="noStrike" dirty="0">
                          <a:solidFill>
                            <a:schemeClr val="tx2"/>
                          </a:solidFill>
                          <a:effectLst/>
                          <a:latin typeface="+mn-lt"/>
                        </a:rPr>
                        <a:t>Inventory Cycle Count </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91.75%</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99.80%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91.88%</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94.90%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99.80%</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pPr algn="ctr" fontAlgn="b"/>
                      <a:r>
                        <a:rPr lang="en-US" sz="1100" u="none" strike="noStrike" dirty="0">
                          <a:solidFill>
                            <a:schemeClr val="tx2"/>
                          </a:solidFill>
                          <a:effectLst/>
                          <a:latin typeface="+mn-lt"/>
                        </a:rPr>
                        <a:t>94.89%</a:t>
                      </a:r>
                      <a:endParaRPr lang="en-US" sz="1100" b="0" i="0" u="none" strike="noStrike" dirty="0">
                        <a:solidFill>
                          <a:schemeClr val="tx2"/>
                        </a:solidFill>
                        <a:effectLst/>
                        <a:latin typeface="+mn-lt"/>
                      </a:endParaRPr>
                    </a:p>
                  </a:txBody>
                  <a:tcPr marL="6350" marR="6350" marT="635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75557450"/>
                  </a:ext>
                </a:extLst>
              </a:tr>
            </a:tbl>
          </a:graphicData>
        </a:graphic>
      </p:graphicFrame>
    </p:spTree>
    <p:extLst>
      <p:ext uri="{BB962C8B-B14F-4D97-AF65-F5344CB8AC3E}">
        <p14:creationId xmlns:p14="http://schemas.microsoft.com/office/powerpoint/2010/main" val="253975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90EADB0-D11A-BE20-6C08-4B5C1C70EB0F}"/>
              </a:ext>
            </a:extLst>
          </p:cNvPr>
          <p:cNvSpPr/>
          <p:nvPr/>
        </p:nvSpPr>
        <p:spPr>
          <a:xfrm>
            <a:off x="0" y="1570008"/>
            <a:ext cx="12192000" cy="40630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white and grey background&#10;&#10;AI-generated content may be incorrect.">
            <a:extLst>
              <a:ext uri="{FF2B5EF4-FFF2-40B4-BE49-F238E27FC236}">
                <a16:creationId xmlns:a16="http://schemas.microsoft.com/office/drawing/2014/main" id="{68D00AFE-20D0-AB66-86C3-C91C266784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38B28AC6-8C54-472F-4CBD-B138B3A1EF6B}"/>
              </a:ext>
            </a:extLst>
          </p:cNvPr>
          <p:cNvSpPr>
            <a:spLocks noGrp="1"/>
          </p:cNvSpPr>
          <p:nvPr>
            <p:ph type="sldNum" sz="quarter" idx="12"/>
          </p:nvPr>
        </p:nvSpPr>
        <p:spPr/>
        <p:txBody>
          <a:bodyPr/>
          <a:lstStyle/>
          <a:p>
            <a:pPr algn="r"/>
            <a:fld id="{4FA92F45-BA5D-4C7A-ACC7-D44B34072B97}" type="slidenum">
              <a:rPr lang="en-IN" smtClean="0"/>
              <a:pPr algn="r"/>
              <a:t>14</a:t>
            </a:fld>
            <a:endParaRPr lang="en-IN" dirty="0"/>
          </a:p>
        </p:txBody>
      </p:sp>
      <p:sp>
        <p:nvSpPr>
          <p:cNvPr id="3" name="Title 2">
            <a:extLst>
              <a:ext uri="{FF2B5EF4-FFF2-40B4-BE49-F238E27FC236}">
                <a16:creationId xmlns:a16="http://schemas.microsoft.com/office/drawing/2014/main" id="{190584B7-533E-EDCF-7FCD-80C9F473BEEF}"/>
              </a:ext>
            </a:extLst>
          </p:cNvPr>
          <p:cNvSpPr>
            <a:spLocks noGrp="1"/>
          </p:cNvSpPr>
          <p:nvPr>
            <p:ph type="title"/>
          </p:nvPr>
        </p:nvSpPr>
        <p:spPr/>
        <p:txBody>
          <a:bodyPr/>
          <a:lstStyle/>
          <a:p>
            <a:r>
              <a:rPr lang="en-US" dirty="0"/>
              <a:t>INBOUND SUMMARY</a:t>
            </a:r>
          </a:p>
        </p:txBody>
      </p:sp>
      <p:sp>
        <p:nvSpPr>
          <p:cNvPr id="4" name="Text Placeholder 3">
            <a:extLst>
              <a:ext uri="{FF2B5EF4-FFF2-40B4-BE49-F238E27FC236}">
                <a16:creationId xmlns:a16="http://schemas.microsoft.com/office/drawing/2014/main" id="{DD90DAFF-8537-350B-8E9C-5D3BE4550A28}"/>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5" name="Chart 4">
            <a:extLst>
              <a:ext uri="{FF2B5EF4-FFF2-40B4-BE49-F238E27FC236}">
                <a16:creationId xmlns:a16="http://schemas.microsoft.com/office/drawing/2014/main" id="{B4EFEC12-B8A7-F3D1-336D-181E1770065D}"/>
              </a:ext>
            </a:extLst>
          </p:cNvPr>
          <p:cNvGraphicFramePr/>
          <p:nvPr>
            <p:extLst>
              <p:ext uri="{D42A27DB-BD31-4B8C-83A1-F6EECF244321}">
                <p14:modId xmlns:p14="http://schemas.microsoft.com/office/powerpoint/2010/main" val="2467621017"/>
              </p:ext>
            </p:extLst>
          </p:nvPr>
        </p:nvGraphicFramePr>
        <p:xfrm>
          <a:off x="762000" y="1667937"/>
          <a:ext cx="8636931" cy="3835716"/>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13C085D3-5E5A-E7FD-5659-B8B059331377}"/>
              </a:ext>
            </a:extLst>
          </p:cNvPr>
          <p:cNvSpPr/>
          <p:nvPr/>
        </p:nvSpPr>
        <p:spPr>
          <a:xfrm>
            <a:off x="9109495" y="77637"/>
            <a:ext cx="2656935" cy="759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KPI summary </a:t>
            </a:r>
            <a:r>
              <a:rPr lang="en-US" sz="1400" b="1" dirty="0">
                <a:solidFill>
                  <a:schemeClr val="accent1"/>
                </a:solidFill>
              </a:rPr>
              <a:t>required</a:t>
            </a:r>
          </a:p>
          <a:p>
            <a:pPr algn="ctr"/>
            <a:r>
              <a:rPr lang="en-US" sz="1400" dirty="0">
                <a:solidFill>
                  <a:schemeClr val="accent1"/>
                </a:solidFill>
              </a:rPr>
              <a:t>EXAMPLE</a:t>
            </a:r>
          </a:p>
        </p:txBody>
      </p:sp>
      <p:grpSp>
        <p:nvGrpSpPr>
          <p:cNvPr id="12" name="Group 11">
            <a:extLst>
              <a:ext uri="{FF2B5EF4-FFF2-40B4-BE49-F238E27FC236}">
                <a16:creationId xmlns:a16="http://schemas.microsoft.com/office/drawing/2014/main" id="{84C29135-E95E-5A7C-7CAB-929E41E9C1E9}"/>
              </a:ext>
            </a:extLst>
          </p:cNvPr>
          <p:cNvGrpSpPr/>
          <p:nvPr/>
        </p:nvGrpSpPr>
        <p:grpSpPr>
          <a:xfrm>
            <a:off x="9549442" y="1086928"/>
            <a:ext cx="2544792" cy="4873925"/>
            <a:chOff x="9549442" y="1086928"/>
            <a:chExt cx="2544792" cy="4537495"/>
          </a:xfrm>
        </p:grpSpPr>
        <p:sp>
          <p:nvSpPr>
            <p:cNvPr id="8" name="Rectangle: Rounded Corners 7">
              <a:extLst>
                <a:ext uri="{FF2B5EF4-FFF2-40B4-BE49-F238E27FC236}">
                  <a16:creationId xmlns:a16="http://schemas.microsoft.com/office/drawing/2014/main" id="{D9028EA7-1994-092E-068E-04F05E578C0C}"/>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1" name="Rectangle: Rounded Corners 10">
              <a:extLst>
                <a:ext uri="{FF2B5EF4-FFF2-40B4-BE49-F238E27FC236}">
                  <a16:creationId xmlns:a16="http://schemas.microsoft.com/office/drawing/2014/main" id="{F8BC744E-0B5A-C665-2FC7-19DEB1AC4720}"/>
                </a:ext>
              </a:extLst>
            </p:cNvPr>
            <p:cNvSpPr/>
            <p:nvPr/>
          </p:nvSpPr>
          <p:spPr>
            <a:xfrm>
              <a:off x="9989389" y="1086928"/>
              <a:ext cx="1656272" cy="517585"/>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Tree>
    <p:extLst>
      <p:ext uri="{BB962C8B-B14F-4D97-AF65-F5344CB8AC3E}">
        <p14:creationId xmlns:p14="http://schemas.microsoft.com/office/powerpoint/2010/main" val="94437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4CEB3-0A42-0291-E9E0-40EBF3A2A5F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26E8127-CAC7-BBD1-8A23-FABD6975F764}"/>
              </a:ext>
            </a:extLst>
          </p:cNvPr>
          <p:cNvSpPr/>
          <p:nvPr/>
        </p:nvSpPr>
        <p:spPr>
          <a:xfrm>
            <a:off x="0" y="1570007"/>
            <a:ext cx="12192000" cy="40975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white and grey background&#10;&#10;AI-generated content may be incorrect.">
            <a:extLst>
              <a:ext uri="{FF2B5EF4-FFF2-40B4-BE49-F238E27FC236}">
                <a16:creationId xmlns:a16="http://schemas.microsoft.com/office/drawing/2014/main" id="{CB40E2CC-F14F-D29D-517F-5CB544B1E00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05BFCD44-9BDD-1F7B-F2EA-D9914DD31DDD}"/>
              </a:ext>
            </a:extLst>
          </p:cNvPr>
          <p:cNvSpPr>
            <a:spLocks noGrp="1"/>
          </p:cNvSpPr>
          <p:nvPr>
            <p:ph type="sldNum" sz="quarter" idx="12"/>
          </p:nvPr>
        </p:nvSpPr>
        <p:spPr/>
        <p:txBody>
          <a:bodyPr/>
          <a:lstStyle/>
          <a:p>
            <a:pPr algn="r"/>
            <a:fld id="{4FA92F45-BA5D-4C7A-ACC7-D44B34072B97}" type="slidenum">
              <a:rPr lang="en-IN" smtClean="0"/>
              <a:pPr algn="r"/>
              <a:t>15</a:t>
            </a:fld>
            <a:endParaRPr lang="en-IN" dirty="0"/>
          </a:p>
        </p:txBody>
      </p:sp>
      <p:sp>
        <p:nvSpPr>
          <p:cNvPr id="3" name="Title 2">
            <a:extLst>
              <a:ext uri="{FF2B5EF4-FFF2-40B4-BE49-F238E27FC236}">
                <a16:creationId xmlns:a16="http://schemas.microsoft.com/office/drawing/2014/main" id="{49377BC4-E339-5EF2-4D7A-8B968BFE89A3}"/>
              </a:ext>
            </a:extLst>
          </p:cNvPr>
          <p:cNvSpPr>
            <a:spLocks noGrp="1"/>
          </p:cNvSpPr>
          <p:nvPr>
            <p:ph type="title"/>
          </p:nvPr>
        </p:nvSpPr>
        <p:spPr/>
        <p:txBody>
          <a:bodyPr/>
          <a:lstStyle/>
          <a:p>
            <a:r>
              <a:rPr lang="en-US" dirty="0"/>
              <a:t>OUTBOUND SUMMARY</a:t>
            </a:r>
          </a:p>
        </p:txBody>
      </p:sp>
      <p:sp>
        <p:nvSpPr>
          <p:cNvPr id="4" name="Text Placeholder 3">
            <a:extLst>
              <a:ext uri="{FF2B5EF4-FFF2-40B4-BE49-F238E27FC236}">
                <a16:creationId xmlns:a16="http://schemas.microsoft.com/office/drawing/2014/main" id="{0DD98B8D-56D1-6E1D-9DAA-023AAFEC9E6D}"/>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5" name="Chart 4">
            <a:extLst>
              <a:ext uri="{FF2B5EF4-FFF2-40B4-BE49-F238E27FC236}">
                <a16:creationId xmlns:a16="http://schemas.microsoft.com/office/drawing/2014/main" id="{017B726F-A27F-59D8-95EB-5B1BC5AB33B9}"/>
              </a:ext>
            </a:extLst>
          </p:cNvPr>
          <p:cNvGraphicFramePr/>
          <p:nvPr>
            <p:extLst>
              <p:ext uri="{D42A27DB-BD31-4B8C-83A1-F6EECF244321}">
                <p14:modId xmlns:p14="http://schemas.microsoft.com/office/powerpoint/2010/main" val="4010161235"/>
              </p:ext>
            </p:extLst>
          </p:nvPr>
        </p:nvGraphicFramePr>
        <p:xfrm>
          <a:off x="761999" y="1528714"/>
          <a:ext cx="8648701" cy="3995785"/>
        </p:xfrm>
        <a:graphic>
          <a:graphicData uri="http://schemas.openxmlformats.org/drawingml/2006/chart">
            <c:chart xmlns:c="http://schemas.openxmlformats.org/drawingml/2006/chart" xmlns:r="http://schemas.openxmlformats.org/officeDocument/2006/relationships" r:id="rId4"/>
          </a:graphicData>
        </a:graphic>
      </p:graphicFrame>
      <p:grpSp>
        <p:nvGrpSpPr>
          <p:cNvPr id="12" name="Group 11">
            <a:extLst>
              <a:ext uri="{FF2B5EF4-FFF2-40B4-BE49-F238E27FC236}">
                <a16:creationId xmlns:a16="http://schemas.microsoft.com/office/drawing/2014/main" id="{B4CE8C48-BD9A-ACCC-A3EF-EB307EABC12A}"/>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46209EEB-D61F-A514-7A3E-0B427306C40E}"/>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4A8F243C-B452-AF8C-BCC8-A79A3A27F60D}"/>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
        <p:nvSpPr>
          <p:cNvPr id="6" name="Rectangle: Rounded Corners 5">
            <a:extLst>
              <a:ext uri="{FF2B5EF4-FFF2-40B4-BE49-F238E27FC236}">
                <a16:creationId xmlns:a16="http://schemas.microsoft.com/office/drawing/2014/main" id="{7744C79E-7BE5-FD95-0543-3F828C860117}"/>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
        <p:nvSpPr>
          <p:cNvPr id="8" name="Rectangle 7">
            <a:extLst>
              <a:ext uri="{FF2B5EF4-FFF2-40B4-BE49-F238E27FC236}">
                <a16:creationId xmlns:a16="http://schemas.microsoft.com/office/drawing/2014/main" id="{C7A3FD12-4B87-B586-560D-2B55D5C1182A}"/>
              </a:ext>
            </a:extLst>
          </p:cNvPr>
          <p:cNvSpPr/>
          <p:nvPr/>
        </p:nvSpPr>
        <p:spPr>
          <a:xfrm>
            <a:off x="9109495" y="77637"/>
            <a:ext cx="2656935" cy="759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KPI summary </a:t>
            </a:r>
            <a:r>
              <a:rPr lang="en-US" sz="1400" b="1" dirty="0">
                <a:solidFill>
                  <a:schemeClr val="accent1"/>
                </a:solidFill>
              </a:rPr>
              <a:t>required</a:t>
            </a:r>
          </a:p>
          <a:p>
            <a:pPr algn="ctr"/>
            <a:r>
              <a:rPr lang="en-US" sz="1400" dirty="0">
                <a:solidFill>
                  <a:schemeClr val="accent1"/>
                </a:solidFill>
              </a:rPr>
              <a:t>EXAMPLE</a:t>
            </a:r>
          </a:p>
        </p:txBody>
      </p:sp>
    </p:spTree>
    <p:extLst>
      <p:ext uri="{BB962C8B-B14F-4D97-AF65-F5344CB8AC3E}">
        <p14:creationId xmlns:p14="http://schemas.microsoft.com/office/powerpoint/2010/main" val="144139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10AFD-FCAF-FC27-754A-BD04DD70B96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8A315FB-BA22-60E2-091E-D5D287BC919D}"/>
              </a:ext>
            </a:extLst>
          </p:cNvPr>
          <p:cNvSpPr/>
          <p:nvPr/>
        </p:nvSpPr>
        <p:spPr>
          <a:xfrm>
            <a:off x="0" y="1570008"/>
            <a:ext cx="12192000" cy="40544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white and grey background&#10;&#10;AI-generated content may be incorrect.">
            <a:extLst>
              <a:ext uri="{FF2B5EF4-FFF2-40B4-BE49-F238E27FC236}">
                <a16:creationId xmlns:a16="http://schemas.microsoft.com/office/drawing/2014/main" id="{52E8495A-2DE6-7DEC-9BC9-75636356B36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C81B5FB9-4CD5-B81C-C1BC-5D264B3956D2}"/>
              </a:ext>
            </a:extLst>
          </p:cNvPr>
          <p:cNvSpPr>
            <a:spLocks noGrp="1"/>
          </p:cNvSpPr>
          <p:nvPr>
            <p:ph type="sldNum" sz="quarter" idx="12"/>
          </p:nvPr>
        </p:nvSpPr>
        <p:spPr/>
        <p:txBody>
          <a:bodyPr/>
          <a:lstStyle/>
          <a:p>
            <a:pPr algn="r"/>
            <a:fld id="{4FA92F45-BA5D-4C7A-ACC7-D44B34072B97}" type="slidenum">
              <a:rPr lang="en-IN" smtClean="0"/>
              <a:pPr algn="r"/>
              <a:t>16</a:t>
            </a:fld>
            <a:endParaRPr lang="en-IN" dirty="0"/>
          </a:p>
        </p:txBody>
      </p:sp>
      <p:sp>
        <p:nvSpPr>
          <p:cNvPr id="3" name="Title 2">
            <a:extLst>
              <a:ext uri="{FF2B5EF4-FFF2-40B4-BE49-F238E27FC236}">
                <a16:creationId xmlns:a16="http://schemas.microsoft.com/office/drawing/2014/main" id="{B64FDA6F-60C3-BD78-59BA-6149DBA96FCC}"/>
              </a:ext>
            </a:extLst>
          </p:cNvPr>
          <p:cNvSpPr>
            <a:spLocks noGrp="1"/>
          </p:cNvSpPr>
          <p:nvPr>
            <p:ph type="title"/>
          </p:nvPr>
        </p:nvSpPr>
        <p:spPr/>
        <p:txBody>
          <a:bodyPr/>
          <a:lstStyle/>
          <a:p>
            <a:r>
              <a:rPr lang="en-US" dirty="0"/>
              <a:t>INVENTORY ACCURACY</a:t>
            </a:r>
          </a:p>
        </p:txBody>
      </p:sp>
      <p:sp>
        <p:nvSpPr>
          <p:cNvPr id="4" name="Text Placeholder 3">
            <a:extLst>
              <a:ext uri="{FF2B5EF4-FFF2-40B4-BE49-F238E27FC236}">
                <a16:creationId xmlns:a16="http://schemas.microsoft.com/office/drawing/2014/main" id="{D0B2B395-7939-F42A-A27C-7891A9195DA4}"/>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5" name="Chart 4">
            <a:extLst>
              <a:ext uri="{FF2B5EF4-FFF2-40B4-BE49-F238E27FC236}">
                <a16:creationId xmlns:a16="http://schemas.microsoft.com/office/drawing/2014/main" id="{39D21BB9-9F66-A659-F00A-AD977409A046}"/>
              </a:ext>
            </a:extLst>
          </p:cNvPr>
          <p:cNvGraphicFramePr/>
          <p:nvPr>
            <p:extLst>
              <p:ext uri="{D42A27DB-BD31-4B8C-83A1-F6EECF244321}">
                <p14:modId xmlns:p14="http://schemas.microsoft.com/office/powerpoint/2010/main" val="2907860003"/>
              </p:ext>
            </p:extLst>
          </p:nvPr>
        </p:nvGraphicFramePr>
        <p:xfrm>
          <a:off x="762000" y="1544129"/>
          <a:ext cx="8660179" cy="3980371"/>
        </p:xfrm>
        <a:graphic>
          <a:graphicData uri="http://schemas.openxmlformats.org/drawingml/2006/chart">
            <c:chart xmlns:c="http://schemas.openxmlformats.org/drawingml/2006/chart" xmlns:r="http://schemas.openxmlformats.org/officeDocument/2006/relationships" r:id="rId4"/>
          </a:graphicData>
        </a:graphic>
      </p:graphicFrame>
      <p:grpSp>
        <p:nvGrpSpPr>
          <p:cNvPr id="12" name="Group 11">
            <a:extLst>
              <a:ext uri="{FF2B5EF4-FFF2-40B4-BE49-F238E27FC236}">
                <a16:creationId xmlns:a16="http://schemas.microsoft.com/office/drawing/2014/main" id="{CBEE4975-FED2-3B8D-F811-7E3C0DC8E862}"/>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5773743D-A845-029E-7393-F5B19F736464}"/>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2052C264-486D-4AC5-13CD-70E15088F4D2}"/>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
        <p:nvSpPr>
          <p:cNvPr id="6" name="Rectangle 5">
            <a:extLst>
              <a:ext uri="{FF2B5EF4-FFF2-40B4-BE49-F238E27FC236}">
                <a16:creationId xmlns:a16="http://schemas.microsoft.com/office/drawing/2014/main" id="{90E55B31-7AED-6AFC-D469-4EEEB1850728}"/>
              </a:ext>
            </a:extLst>
          </p:cNvPr>
          <p:cNvSpPr/>
          <p:nvPr/>
        </p:nvSpPr>
        <p:spPr>
          <a:xfrm>
            <a:off x="9109495" y="77637"/>
            <a:ext cx="2656935" cy="759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KPI summary </a:t>
            </a:r>
            <a:r>
              <a:rPr lang="en-US" sz="1400" b="1" dirty="0">
                <a:solidFill>
                  <a:schemeClr val="accent1"/>
                </a:solidFill>
              </a:rPr>
              <a:t>required</a:t>
            </a:r>
          </a:p>
          <a:p>
            <a:pPr algn="ctr"/>
            <a:r>
              <a:rPr lang="en-US" sz="1400" dirty="0">
                <a:solidFill>
                  <a:schemeClr val="accent1"/>
                </a:solidFill>
              </a:rPr>
              <a:t>EXAMPLE</a:t>
            </a:r>
          </a:p>
        </p:txBody>
      </p:sp>
      <p:sp>
        <p:nvSpPr>
          <p:cNvPr id="11" name="Rectangle: Rounded Corners 10">
            <a:extLst>
              <a:ext uri="{FF2B5EF4-FFF2-40B4-BE49-F238E27FC236}">
                <a16:creationId xmlns:a16="http://schemas.microsoft.com/office/drawing/2014/main" id="{ABF9D747-B2A8-E847-927D-D85CC9CA4CA5}"/>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1107852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71E41CB-7668-0EF4-5D09-53078BD004BB}"/>
              </a:ext>
            </a:extLst>
          </p:cNvPr>
          <p:cNvSpPr/>
          <p:nvPr/>
        </p:nvSpPr>
        <p:spPr>
          <a:xfrm>
            <a:off x="0" y="1570008"/>
            <a:ext cx="12192000" cy="40889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white and grey background&#10;&#10;AI-generated content may be incorrect.">
            <a:extLst>
              <a:ext uri="{FF2B5EF4-FFF2-40B4-BE49-F238E27FC236}">
                <a16:creationId xmlns:a16="http://schemas.microsoft.com/office/drawing/2014/main" id="{947A97D4-9F02-348D-BE01-FF11B315E9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C1381731-1F59-70AE-E231-F32261133C68}"/>
              </a:ext>
            </a:extLst>
          </p:cNvPr>
          <p:cNvSpPr>
            <a:spLocks noGrp="1"/>
          </p:cNvSpPr>
          <p:nvPr>
            <p:ph type="sldNum" sz="quarter" idx="12"/>
          </p:nvPr>
        </p:nvSpPr>
        <p:spPr/>
        <p:txBody>
          <a:bodyPr/>
          <a:lstStyle/>
          <a:p>
            <a:pPr algn="r"/>
            <a:fld id="{4FA92F45-BA5D-4C7A-ACC7-D44B34072B97}" type="slidenum">
              <a:rPr lang="en-IN" smtClean="0"/>
              <a:pPr algn="r"/>
              <a:t>17</a:t>
            </a:fld>
            <a:endParaRPr lang="en-IN" dirty="0"/>
          </a:p>
        </p:txBody>
      </p:sp>
      <p:sp>
        <p:nvSpPr>
          <p:cNvPr id="3" name="Title 2">
            <a:extLst>
              <a:ext uri="{FF2B5EF4-FFF2-40B4-BE49-F238E27FC236}">
                <a16:creationId xmlns:a16="http://schemas.microsoft.com/office/drawing/2014/main" id="{D5E8CD45-5379-525A-0689-4337D63BCBD9}"/>
              </a:ext>
            </a:extLst>
          </p:cNvPr>
          <p:cNvSpPr>
            <a:spLocks noGrp="1"/>
          </p:cNvSpPr>
          <p:nvPr>
            <p:ph type="title"/>
          </p:nvPr>
        </p:nvSpPr>
        <p:spPr/>
        <p:txBody>
          <a:bodyPr/>
          <a:lstStyle/>
          <a:p>
            <a:r>
              <a:rPr lang="en-US" dirty="0"/>
              <a:t>CUSTOMER FORECAST ACCURACY</a:t>
            </a:r>
          </a:p>
        </p:txBody>
      </p:sp>
      <p:sp>
        <p:nvSpPr>
          <p:cNvPr id="4" name="Text Placeholder 3">
            <a:extLst>
              <a:ext uri="{FF2B5EF4-FFF2-40B4-BE49-F238E27FC236}">
                <a16:creationId xmlns:a16="http://schemas.microsoft.com/office/drawing/2014/main" id="{D87EC91C-ABE7-5C2F-93D7-091098D1F5BB}"/>
              </a:ext>
            </a:extLst>
          </p:cNvPr>
          <p:cNvSpPr>
            <a:spLocks noGrp="1"/>
          </p:cNvSpPr>
          <p:nvPr>
            <p:ph type="body" sz="quarter" idx="13"/>
          </p:nvPr>
        </p:nvSpPr>
        <p:spPr/>
        <p:txBody>
          <a:bodyPr/>
          <a:lstStyle/>
          <a:p>
            <a:r>
              <a:rPr lang="en-US" dirty="0">
                <a:highlight>
                  <a:srgbClr val="FF00FF"/>
                </a:highlight>
              </a:rPr>
              <a:t>Facility name or location</a:t>
            </a:r>
          </a:p>
        </p:txBody>
      </p:sp>
      <p:sp>
        <p:nvSpPr>
          <p:cNvPr id="5" name="Rectangle 4">
            <a:extLst>
              <a:ext uri="{FF2B5EF4-FFF2-40B4-BE49-F238E27FC236}">
                <a16:creationId xmlns:a16="http://schemas.microsoft.com/office/drawing/2014/main" id="{24545EF9-5153-6FA4-D996-C9BC9803EB97}"/>
              </a:ext>
            </a:extLst>
          </p:cNvPr>
          <p:cNvSpPr/>
          <p:nvPr/>
        </p:nvSpPr>
        <p:spPr>
          <a:xfrm>
            <a:off x="8704053" y="155275"/>
            <a:ext cx="2656935" cy="83676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dirty="0">
                <a:solidFill>
                  <a:schemeClr val="accent1"/>
                </a:solidFill>
              </a:rPr>
              <a:t>Customer provided historical or UPS plan</a:t>
            </a:r>
          </a:p>
          <a:p>
            <a:pPr algn="ctr"/>
            <a:r>
              <a:rPr lang="en-US" sz="1400" dirty="0">
                <a:solidFill>
                  <a:schemeClr val="accent1"/>
                </a:solidFill>
              </a:rPr>
              <a:t>EXAMPLE</a:t>
            </a:r>
          </a:p>
        </p:txBody>
      </p:sp>
      <p:graphicFrame>
        <p:nvGraphicFramePr>
          <p:cNvPr id="10" name="Chart 9">
            <a:extLst>
              <a:ext uri="{FF2B5EF4-FFF2-40B4-BE49-F238E27FC236}">
                <a16:creationId xmlns:a16="http://schemas.microsoft.com/office/drawing/2014/main" id="{8BA78C54-ED35-F0E3-3F01-C24F71F3A1B7}"/>
              </a:ext>
            </a:extLst>
          </p:cNvPr>
          <p:cNvGraphicFramePr/>
          <p:nvPr>
            <p:extLst>
              <p:ext uri="{D42A27DB-BD31-4B8C-83A1-F6EECF244321}">
                <p14:modId xmlns:p14="http://schemas.microsoft.com/office/powerpoint/2010/main" val="3619431976"/>
              </p:ext>
            </p:extLst>
          </p:nvPr>
        </p:nvGraphicFramePr>
        <p:xfrm>
          <a:off x="548264" y="1561380"/>
          <a:ext cx="8862436" cy="3963119"/>
        </p:xfrm>
        <a:graphic>
          <a:graphicData uri="http://schemas.openxmlformats.org/drawingml/2006/chart">
            <c:chart xmlns:c="http://schemas.openxmlformats.org/drawingml/2006/chart" xmlns:r="http://schemas.openxmlformats.org/officeDocument/2006/relationships" r:id="rId4"/>
          </a:graphicData>
        </a:graphic>
      </p:graphicFrame>
      <p:grpSp>
        <p:nvGrpSpPr>
          <p:cNvPr id="12" name="Group 11">
            <a:extLst>
              <a:ext uri="{FF2B5EF4-FFF2-40B4-BE49-F238E27FC236}">
                <a16:creationId xmlns:a16="http://schemas.microsoft.com/office/drawing/2014/main" id="{493E8F15-2E99-086F-B9AE-5417E806344C}"/>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6E636D95-43FC-AEF7-70E4-BD66B2EB951B}"/>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1D3DD079-1B8C-4022-4B70-D623B702E977}"/>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
        <p:nvSpPr>
          <p:cNvPr id="7" name="Rectangle: Rounded Corners 6">
            <a:extLst>
              <a:ext uri="{FF2B5EF4-FFF2-40B4-BE49-F238E27FC236}">
                <a16:creationId xmlns:a16="http://schemas.microsoft.com/office/drawing/2014/main" id="{32A144A9-AD9B-6475-EA0A-E45B7C80F67B}"/>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3458425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CCE7A-4B31-4E97-F69F-2F09F5E1089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FCDE8BF-8F10-B071-FE5D-18A1C7C471E9}"/>
              </a:ext>
            </a:extLst>
          </p:cNvPr>
          <p:cNvSpPr/>
          <p:nvPr/>
        </p:nvSpPr>
        <p:spPr>
          <a:xfrm>
            <a:off x="0" y="1570008"/>
            <a:ext cx="12192000" cy="404578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white and grey background&#10;&#10;AI-generated content may be incorrect.">
            <a:extLst>
              <a:ext uri="{FF2B5EF4-FFF2-40B4-BE49-F238E27FC236}">
                <a16:creationId xmlns:a16="http://schemas.microsoft.com/office/drawing/2014/main" id="{E5583711-63A6-6E62-615D-B22094B5685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508CA6E8-8F59-515A-7C13-B75B7047A8F1}"/>
              </a:ext>
            </a:extLst>
          </p:cNvPr>
          <p:cNvSpPr>
            <a:spLocks noGrp="1"/>
          </p:cNvSpPr>
          <p:nvPr>
            <p:ph type="sldNum" sz="quarter" idx="12"/>
          </p:nvPr>
        </p:nvSpPr>
        <p:spPr/>
        <p:txBody>
          <a:bodyPr/>
          <a:lstStyle/>
          <a:p>
            <a:pPr algn="r"/>
            <a:fld id="{4FA92F45-BA5D-4C7A-ACC7-D44B34072B97}" type="slidenum">
              <a:rPr lang="en-IN" smtClean="0"/>
              <a:pPr algn="r"/>
              <a:t>18</a:t>
            </a:fld>
            <a:endParaRPr lang="en-IN" dirty="0"/>
          </a:p>
        </p:txBody>
      </p:sp>
      <p:sp>
        <p:nvSpPr>
          <p:cNvPr id="3" name="Title 2">
            <a:extLst>
              <a:ext uri="{FF2B5EF4-FFF2-40B4-BE49-F238E27FC236}">
                <a16:creationId xmlns:a16="http://schemas.microsoft.com/office/drawing/2014/main" id="{7F2EDF47-1EC6-7142-F515-F1FCEEBD4BB5}"/>
              </a:ext>
            </a:extLst>
          </p:cNvPr>
          <p:cNvSpPr>
            <a:spLocks noGrp="1"/>
          </p:cNvSpPr>
          <p:nvPr>
            <p:ph type="title"/>
          </p:nvPr>
        </p:nvSpPr>
        <p:spPr/>
        <p:txBody>
          <a:bodyPr/>
          <a:lstStyle/>
          <a:p>
            <a:r>
              <a:rPr lang="en-US" dirty="0"/>
              <a:t>SPACE UTILIZATION</a:t>
            </a:r>
          </a:p>
        </p:txBody>
      </p:sp>
      <p:sp>
        <p:nvSpPr>
          <p:cNvPr id="4" name="Text Placeholder 3">
            <a:extLst>
              <a:ext uri="{FF2B5EF4-FFF2-40B4-BE49-F238E27FC236}">
                <a16:creationId xmlns:a16="http://schemas.microsoft.com/office/drawing/2014/main" id="{9B8811F9-F11B-1590-026A-492C08010AE2}"/>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7" name="Chart 6">
            <a:extLst>
              <a:ext uri="{FF2B5EF4-FFF2-40B4-BE49-F238E27FC236}">
                <a16:creationId xmlns:a16="http://schemas.microsoft.com/office/drawing/2014/main" id="{90F6E41E-DFF8-C5B7-AE76-BC6DE036CFED}"/>
              </a:ext>
            </a:extLst>
          </p:cNvPr>
          <p:cNvGraphicFramePr/>
          <p:nvPr>
            <p:extLst>
              <p:ext uri="{D42A27DB-BD31-4B8C-83A1-F6EECF244321}">
                <p14:modId xmlns:p14="http://schemas.microsoft.com/office/powerpoint/2010/main" val="2251999934"/>
              </p:ext>
            </p:extLst>
          </p:nvPr>
        </p:nvGraphicFramePr>
        <p:xfrm>
          <a:off x="548274" y="1595886"/>
          <a:ext cx="8862426" cy="3928613"/>
        </p:xfrm>
        <a:graphic>
          <a:graphicData uri="http://schemas.openxmlformats.org/drawingml/2006/chart">
            <c:chart xmlns:c="http://schemas.openxmlformats.org/drawingml/2006/chart" xmlns:r="http://schemas.openxmlformats.org/officeDocument/2006/relationships" r:id="rId4"/>
          </a:graphicData>
        </a:graphic>
      </p:graphicFrame>
      <p:sp>
        <p:nvSpPr>
          <p:cNvPr id="10" name="Rectangle 9">
            <a:extLst>
              <a:ext uri="{FF2B5EF4-FFF2-40B4-BE49-F238E27FC236}">
                <a16:creationId xmlns:a16="http://schemas.microsoft.com/office/drawing/2014/main" id="{D6A6B2E0-F34E-2B24-B76E-4D1F4DA3F67A}"/>
              </a:ext>
            </a:extLst>
          </p:cNvPr>
          <p:cNvSpPr/>
          <p:nvPr/>
        </p:nvSpPr>
        <p:spPr>
          <a:xfrm>
            <a:off x="8704053" y="232912"/>
            <a:ext cx="2656935" cy="759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Can be a total, by storage condition or facility, etc. EXAMPLE</a:t>
            </a:r>
          </a:p>
        </p:txBody>
      </p:sp>
      <p:grpSp>
        <p:nvGrpSpPr>
          <p:cNvPr id="12" name="Group 11">
            <a:extLst>
              <a:ext uri="{FF2B5EF4-FFF2-40B4-BE49-F238E27FC236}">
                <a16:creationId xmlns:a16="http://schemas.microsoft.com/office/drawing/2014/main" id="{6CE38401-E8DD-5040-0E8D-94EE76C5E04E}"/>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4487D634-CC88-7646-688F-48E80CDD397B}"/>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38BA95B4-D006-C280-1811-FD7F88BBC184}"/>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
        <p:nvSpPr>
          <p:cNvPr id="5" name="Rectangle: Rounded Corners 4">
            <a:extLst>
              <a:ext uri="{FF2B5EF4-FFF2-40B4-BE49-F238E27FC236}">
                <a16:creationId xmlns:a16="http://schemas.microsoft.com/office/drawing/2014/main" id="{8EB3F829-93F8-E4B7-0098-961CEC9A7938}"/>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364243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CDCAB-ACDA-3568-0664-949D91DD94F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F44F4BE-8D24-3FA0-6016-4F68EFA21E7F}"/>
              </a:ext>
            </a:extLst>
          </p:cNvPr>
          <p:cNvSpPr/>
          <p:nvPr/>
        </p:nvSpPr>
        <p:spPr>
          <a:xfrm>
            <a:off x="0" y="1570008"/>
            <a:ext cx="12192000" cy="40371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white and grey background&#10;&#10;AI-generated content may be incorrect.">
            <a:extLst>
              <a:ext uri="{FF2B5EF4-FFF2-40B4-BE49-F238E27FC236}">
                <a16:creationId xmlns:a16="http://schemas.microsoft.com/office/drawing/2014/main" id="{06DBB2E5-DF22-84B3-0CFC-6896F786E8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00FE7E1C-0B5A-AF74-24D4-B588A235DC27}"/>
              </a:ext>
            </a:extLst>
          </p:cNvPr>
          <p:cNvSpPr>
            <a:spLocks noGrp="1"/>
          </p:cNvSpPr>
          <p:nvPr>
            <p:ph type="sldNum" sz="quarter" idx="12"/>
          </p:nvPr>
        </p:nvSpPr>
        <p:spPr/>
        <p:txBody>
          <a:bodyPr/>
          <a:lstStyle/>
          <a:p>
            <a:pPr algn="r"/>
            <a:fld id="{4FA92F45-BA5D-4C7A-ACC7-D44B34072B97}" type="slidenum">
              <a:rPr lang="en-IN" smtClean="0"/>
              <a:pPr algn="r"/>
              <a:t>19</a:t>
            </a:fld>
            <a:endParaRPr lang="en-IN" dirty="0"/>
          </a:p>
        </p:txBody>
      </p:sp>
      <p:sp>
        <p:nvSpPr>
          <p:cNvPr id="3" name="Title 2">
            <a:extLst>
              <a:ext uri="{FF2B5EF4-FFF2-40B4-BE49-F238E27FC236}">
                <a16:creationId xmlns:a16="http://schemas.microsoft.com/office/drawing/2014/main" id="{09C55C2C-9221-5ADB-A01C-EA330E35CBB5}"/>
              </a:ext>
            </a:extLst>
          </p:cNvPr>
          <p:cNvSpPr>
            <a:spLocks noGrp="1"/>
          </p:cNvSpPr>
          <p:nvPr>
            <p:ph type="title"/>
          </p:nvPr>
        </p:nvSpPr>
        <p:spPr/>
        <p:txBody>
          <a:bodyPr/>
          <a:lstStyle/>
          <a:p>
            <a:r>
              <a:rPr lang="en-US" dirty="0"/>
              <a:t>SPEND SUMMARY</a:t>
            </a:r>
          </a:p>
        </p:txBody>
      </p:sp>
      <p:sp>
        <p:nvSpPr>
          <p:cNvPr id="4" name="Text Placeholder 3">
            <a:extLst>
              <a:ext uri="{FF2B5EF4-FFF2-40B4-BE49-F238E27FC236}">
                <a16:creationId xmlns:a16="http://schemas.microsoft.com/office/drawing/2014/main" id="{B1CFD7CD-2285-6283-D8A2-2ADE3A2CCE7B}"/>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7" name="Chart 6">
            <a:extLst>
              <a:ext uri="{FF2B5EF4-FFF2-40B4-BE49-F238E27FC236}">
                <a16:creationId xmlns:a16="http://schemas.microsoft.com/office/drawing/2014/main" id="{2E39AFE7-B379-1291-43C2-83EC0AA9AF48}"/>
              </a:ext>
            </a:extLst>
          </p:cNvPr>
          <p:cNvGraphicFramePr/>
          <p:nvPr>
            <p:extLst>
              <p:ext uri="{D42A27DB-BD31-4B8C-83A1-F6EECF244321}">
                <p14:modId xmlns:p14="http://schemas.microsoft.com/office/powerpoint/2010/main" val="1732836792"/>
              </p:ext>
            </p:extLst>
          </p:nvPr>
        </p:nvGraphicFramePr>
        <p:xfrm>
          <a:off x="762000" y="1676400"/>
          <a:ext cx="8660932" cy="3848100"/>
        </p:xfrm>
        <a:graphic>
          <a:graphicData uri="http://schemas.openxmlformats.org/drawingml/2006/chart">
            <c:chart xmlns:c="http://schemas.openxmlformats.org/drawingml/2006/chart" xmlns:r="http://schemas.openxmlformats.org/officeDocument/2006/relationships" r:id="rId4"/>
          </a:graphicData>
        </a:graphic>
      </p:graphicFrame>
      <p:sp>
        <p:nvSpPr>
          <p:cNvPr id="10" name="Rectangle 9">
            <a:extLst>
              <a:ext uri="{FF2B5EF4-FFF2-40B4-BE49-F238E27FC236}">
                <a16:creationId xmlns:a16="http://schemas.microsoft.com/office/drawing/2014/main" id="{32B1F1B6-B056-EC0A-CDE1-DFA909F1616A}"/>
              </a:ext>
            </a:extLst>
          </p:cNvPr>
          <p:cNvSpPr/>
          <p:nvPr/>
        </p:nvSpPr>
        <p:spPr>
          <a:xfrm>
            <a:off x="8704053" y="232912"/>
            <a:ext cx="2656935" cy="75912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Can be by quarter, business unit or facility, etc. EXAMPLE</a:t>
            </a:r>
          </a:p>
        </p:txBody>
      </p:sp>
      <p:grpSp>
        <p:nvGrpSpPr>
          <p:cNvPr id="12" name="Group 11">
            <a:extLst>
              <a:ext uri="{FF2B5EF4-FFF2-40B4-BE49-F238E27FC236}">
                <a16:creationId xmlns:a16="http://schemas.microsoft.com/office/drawing/2014/main" id="{16C1E5BB-94FD-A974-AC28-39202F1671DC}"/>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C909E05C-75D5-D139-637B-1F8E8E3193BD}"/>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EE90D2BA-770A-19DE-2037-C6AC3D237B36}"/>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
        <p:nvSpPr>
          <p:cNvPr id="5" name="Rectangle: Rounded Corners 4">
            <a:extLst>
              <a:ext uri="{FF2B5EF4-FFF2-40B4-BE49-F238E27FC236}">
                <a16:creationId xmlns:a16="http://schemas.microsoft.com/office/drawing/2014/main" id="{31176C0E-E411-08C0-D964-6F8D24D9FB18}"/>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3507853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E996B30-70AB-08A1-4ECE-BAE7A5E53648}"/>
              </a:ext>
            </a:extLst>
          </p:cNvPr>
          <p:cNvSpPr/>
          <p:nvPr/>
        </p:nvSpPr>
        <p:spPr>
          <a:xfrm>
            <a:off x="0" y="1570008"/>
            <a:ext cx="12192000" cy="40889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descr="A white and grey background&#10;&#10;AI-generated content may be incorrect.">
            <a:extLst>
              <a:ext uri="{FF2B5EF4-FFF2-40B4-BE49-F238E27FC236}">
                <a16:creationId xmlns:a16="http://schemas.microsoft.com/office/drawing/2014/main" id="{3443040B-12E0-3F08-A04D-FD853A0B37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552575"/>
            <a:ext cx="12192000" cy="4086226"/>
          </a:xfrm>
          <a:prstGeom prst="rect">
            <a:avLst/>
          </a:prstGeom>
        </p:spPr>
      </p:pic>
      <p:sp>
        <p:nvSpPr>
          <p:cNvPr id="2" name="Slide Number Placeholder 1">
            <a:extLst>
              <a:ext uri="{FF2B5EF4-FFF2-40B4-BE49-F238E27FC236}">
                <a16:creationId xmlns:a16="http://schemas.microsoft.com/office/drawing/2014/main" id="{1DF54953-7129-FFF2-C8ED-B2590BE1F047}"/>
              </a:ext>
            </a:extLst>
          </p:cNvPr>
          <p:cNvSpPr>
            <a:spLocks noGrp="1"/>
          </p:cNvSpPr>
          <p:nvPr>
            <p:ph type="sldNum" sz="quarter" idx="12"/>
          </p:nvPr>
        </p:nvSpPr>
        <p:spPr/>
        <p:txBody>
          <a:bodyPr/>
          <a:lstStyle/>
          <a:p>
            <a:pPr algn="r"/>
            <a:fld id="{4FA92F45-BA5D-4C7A-ACC7-D44B34072B97}" type="slidenum">
              <a:rPr lang="en-IN" smtClean="0"/>
              <a:pPr algn="r"/>
              <a:t>20</a:t>
            </a:fld>
            <a:endParaRPr lang="en-IN" dirty="0"/>
          </a:p>
        </p:txBody>
      </p:sp>
      <p:sp>
        <p:nvSpPr>
          <p:cNvPr id="3" name="Title 2">
            <a:extLst>
              <a:ext uri="{FF2B5EF4-FFF2-40B4-BE49-F238E27FC236}">
                <a16:creationId xmlns:a16="http://schemas.microsoft.com/office/drawing/2014/main" id="{7ACE45C6-A6C4-8F5C-00A3-D4F78C101A1C}"/>
              </a:ext>
            </a:extLst>
          </p:cNvPr>
          <p:cNvSpPr>
            <a:spLocks noGrp="1"/>
          </p:cNvSpPr>
          <p:nvPr>
            <p:ph type="title"/>
          </p:nvPr>
        </p:nvSpPr>
        <p:spPr/>
        <p:txBody>
          <a:bodyPr/>
          <a:lstStyle/>
          <a:p>
            <a:r>
              <a:rPr lang="en-US" dirty="0"/>
              <a:t>ACCOUNTS RECEIVABLE UPDATES</a:t>
            </a:r>
          </a:p>
        </p:txBody>
      </p:sp>
      <p:sp>
        <p:nvSpPr>
          <p:cNvPr id="4" name="Text Placeholder 3">
            <a:extLst>
              <a:ext uri="{FF2B5EF4-FFF2-40B4-BE49-F238E27FC236}">
                <a16:creationId xmlns:a16="http://schemas.microsoft.com/office/drawing/2014/main" id="{8CB94753-1C44-C4D6-CBC7-C220E7DD620A}"/>
              </a:ext>
            </a:extLst>
          </p:cNvPr>
          <p:cNvSpPr>
            <a:spLocks noGrp="1"/>
          </p:cNvSpPr>
          <p:nvPr>
            <p:ph type="body" sz="quarter" idx="13"/>
          </p:nvPr>
        </p:nvSpPr>
        <p:spPr/>
        <p:txBody>
          <a:bodyPr/>
          <a:lstStyle/>
          <a:p>
            <a:r>
              <a:rPr lang="en-US" dirty="0">
                <a:highlight>
                  <a:srgbClr val="FF00FF"/>
                </a:highlight>
              </a:rPr>
              <a:t>Facility name or location</a:t>
            </a:r>
          </a:p>
        </p:txBody>
      </p:sp>
      <p:sp>
        <p:nvSpPr>
          <p:cNvPr id="5" name="Rectangle 4">
            <a:extLst>
              <a:ext uri="{FF2B5EF4-FFF2-40B4-BE49-F238E27FC236}">
                <a16:creationId xmlns:a16="http://schemas.microsoft.com/office/drawing/2014/main" id="{6F2583FC-D234-4A26-9BF4-5E32C9B452B6}"/>
              </a:ext>
            </a:extLst>
          </p:cNvPr>
          <p:cNvSpPr/>
          <p:nvPr/>
        </p:nvSpPr>
        <p:spPr>
          <a:xfrm>
            <a:off x="9532188" y="80583"/>
            <a:ext cx="2282365" cy="59981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Optional</a:t>
            </a:r>
          </a:p>
          <a:p>
            <a:pPr algn="ctr"/>
            <a:r>
              <a:rPr lang="en-US" sz="1400" dirty="0">
                <a:solidFill>
                  <a:schemeClr val="accent1"/>
                </a:solidFill>
              </a:rPr>
              <a:t>EXAMPLE</a:t>
            </a:r>
          </a:p>
        </p:txBody>
      </p:sp>
      <p:graphicFrame>
        <p:nvGraphicFramePr>
          <p:cNvPr id="11" name="Chart 10">
            <a:extLst>
              <a:ext uri="{FF2B5EF4-FFF2-40B4-BE49-F238E27FC236}">
                <a16:creationId xmlns:a16="http://schemas.microsoft.com/office/drawing/2014/main" id="{FB89801A-1DAD-3EB0-22E1-0FD1783ECC70}"/>
              </a:ext>
            </a:extLst>
          </p:cNvPr>
          <p:cNvGraphicFramePr/>
          <p:nvPr>
            <p:extLst>
              <p:ext uri="{D42A27DB-BD31-4B8C-83A1-F6EECF244321}">
                <p14:modId xmlns:p14="http://schemas.microsoft.com/office/powerpoint/2010/main" val="117481637"/>
              </p:ext>
            </p:extLst>
          </p:nvPr>
        </p:nvGraphicFramePr>
        <p:xfrm>
          <a:off x="762000" y="1590674"/>
          <a:ext cx="8534400" cy="3981451"/>
        </p:xfrm>
        <a:graphic>
          <a:graphicData uri="http://schemas.openxmlformats.org/drawingml/2006/chart">
            <c:chart xmlns:c="http://schemas.openxmlformats.org/drawingml/2006/chart" xmlns:r="http://schemas.openxmlformats.org/officeDocument/2006/relationships" r:id="rId4"/>
          </a:graphicData>
        </a:graphic>
      </p:graphicFrame>
      <p:grpSp>
        <p:nvGrpSpPr>
          <p:cNvPr id="8" name="Group 7">
            <a:extLst>
              <a:ext uri="{FF2B5EF4-FFF2-40B4-BE49-F238E27FC236}">
                <a16:creationId xmlns:a16="http://schemas.microsoft.com/office/drawing/2014/main" id="{59EFA9A1-A29B-9D4B-491C-B39998DA1BCE}"/>
              </a:ext>
            </a:extLst>
          </p:cNvPr>
          <p:cNvGrpSpPr/>
          <p:nvPr/>
        </p:nvGrpSpPr>
        <p:grpSpPr>
          <a:xfrm>
            <a:off x="9549442" y="1086928"/>
            <a:ext cx="2544792" cy="4894772"/>
            <a:chOff x="9549442" y="1086928"/>
            <a:chExt cx="2544792" cy="4537495"/>
          </a:xfrm>
        </p:grpSpPr>
        <p:sp>
          <p:nvSpPr>
            <p:cNvPr id="9" name="Rectangle: Rounded Corners 8">
              <a:extLst>
                <a:ext uri="{FF2B5EF4-FFF2-40B4-BE49-F238E27FC236}">
                  <a16:creationId xmlns:a16="http://schemas.microsoft.com/office/drawing/2014/main" id="{DF1CACFD-29E7-FEF2-E525-EF60E28B3FD7}"/>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What changed</a:t>
              </a:r>
            </a:p>
            <a:p>
              <a:pPr marL="171450" indent="-171450">
                <a:spcAft>
                  <a:spcPts val="600"/>
                </a:spcAft>
                <a:buFont typeface="Arial" panose="020B0604020202020204" pitchFamily="34" charset="0"/>
                <a:buChar char="•"/>
              </a:pPr>
              <a:r>
                <a:rPr lang="en-US" sz="1200" dirty="0"/>
                <a:t>Why</a:t>
              </a:r>
            </a:p>
            <a:p>
              <a:pPr marL="171450" indent="-171450">
                <a:spcAft>
                  <a:spcPts val="600"/>
                </a:spcAft>
                <a:buFont typeface="Arial" panose="020B0604020202020204" pitchFamily="34" charset="0"/>
                <a:buChar char="•"/>
              </a:pPr>
              <a:r>
                <a:rPr lang="en-US" sz="1200" dirty="0"/>
                <a:t>Missed KPIs</a:t>
              </a:r>
            </a:p>
            <a:p>
              <a:pPr lvl="1" indent="-171450">
                <a:spcAft>
                  <a:spcPts val="600"/>
                </a:spcAft>
                <a:buFont typeface="Courier New" panose="02070309020205020404" pitchFamily="49" charset="0"/>
                <a:buChar char="o"/>
              </a:pPr>
              <a:r>
                <a:rPr lang="en-US" sz="1200" dirty="0"/>
                <a:t>RCA</a:t>
              </a:r>
            </a:p>
            <a:p>
              <a:pPr lvl="1" indent="-171450">
                <a:spcAft>
                  <a:spcPts val="600"/>
                </a:spcAft>
                <a:buFont typeface="Courier New" panose="02070309020205020404" pitchFamily="49" charset="0"/>
                <a:buChar char="o"/>
              </a:pPr>
              <a:r>
                <a:rPr lang="en-US" sz="1200" dirty="0"/>
                <a:t>CAPA</a:t>
              </a:r>
            </a:p>
            <a:p>
              <a:pPr marL="171450" indent="-171450">
                <a:spcAft>
                  <a:spcPts val="600"/>
                </a:spcAft>
                <a:buFont typeface="Arial" panose="020B0604020202020204" pitchFamily="34" charset="0"/>
                <a:buChar char="•"/>
              </a:pPr>
              <a:r>
                <a:rPr lang="en-US" sz="1200" dirty="0"/>
                <a:t>What’s next</a:t>
              </a:r>
            </a:p>
            <a:p>
              <a:pPr marL="171450" indent="-171450">
                <a:spcAft>
                  <a:spcPts val="600"/>
                </a:spcAft>
                <a:buFont typeface="Arial" panose="020B0604020202020204" pitchFamily="34" charset="0"/>
                <a:buChar char="•"/>
              </a:pPr>
              <a:endParaRPr lang="en-US" sz="1200" dirty="0"/>
            </a:p>
          </p:txBody>
        </p:sp>
        <p:sp>
          <p:nvSpPr>
            <p:cNvPr id="10" name="Rectangle: Rounded Corners 9">
              <a:extLst>
                <a:ext uri="{FF2B5EF4-FFF2-40B4-BE49-F238E27FC236}">
                  <a16:creationId xmlns:a16="http://schemas.microsoft.com/office/drawing/2014/main" id="{DE8D7C72-41F6-6C2B-4375-1CFD53F6D199}"/>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
        <p:nvSpPr>
          <p:cNvPr id="6" name="Rectangle: Rounded Corners 5">
            <a:extLst>
              <a:ext uri="{FF2B5EF4-FFF2-40B4-BE49-F238E27FC236}">
                <a16:creationId xmlns:a16="http://schemas.microsoft.com/office/drawing/2014/main" id="{65FFE015-87B7-18B8-17C2-BE2465E24F4A}"/>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251564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2CB5BE-391C-A90B-F962-9305EE13F258}"/>
              </a:ext>
            </a:extLst>
          </p:cNvPr>
          <p:cNvSpPr>
            <a:spLocks noGrp="1"/>
          </p:cNvSpPr>
          <p:nvPr>
            <p:ph type="sldNum" sz="quarter" idx="12"/>
          </p:nvPr>
        </p:nvSpPr>
        <p:spPr/>
        <p:txBody>
          <a:bodyPr/>
          <a:lstStyle/>
          <a:p>
            <a:pPr algn="r"/>
            <a:fld id="{4FA92F45-BA5D-4C7A-ACC7-D44B34072B97}" type="slidenum">
              <a:rPr lang="en-IN" smtClean="0"/>
              <a:pPr algn="r"/>
              <a:t>21</a:t>
            </a:fld>
            <a:endParaRPr lang="en-IN" dirty="0"/>
          </a:p>
        </p:txBody>
      </p:sp>
      <p:sp>
        <p:nvSpPr>
          <p:cNvPr id="3" name="Title 2">
            <a:extLst>
              <a:ext uri="{FF2B5EF4-FFF2-40B4-BE49-F238E27FC236}">
                <a16:creationId xmlns:a16="http://schemas.microsoft.com/office/drawing/2014/main" id="{2B9AF871-0A71-459D-5B3A-CA1AA4AB6FBA}"/>
              </a:ext>
            </a:extLst>
          </p:cNvPr>
          <p:cNvSpPr>
            <a:spLocks noGrp="1"/>
          </p:cNvSpPr>
          <p:nvPr>
            <p:ph type="title"/>
          </p:nvPr>
        </p:nvSpPr>
        <p:spPr/>
        <p:txBody>
          <a:bodyPr/>
          <a:lstStyle/>
          <a:p>
            <a:r>
              <a:rPr lang="en-US" dirty="0"/>
              <a:t>MASTER DATA MANAGEMENT KPI’S AND UPDATES</a:t>
            </a:r>
          </a:p>
        </p:txBody>
      </p:sp>
      <p:sp>
        <p:nvSpPr>
          <p:cNvPr id="4" name="Text Placeholder 3">
            <a:extLst>
              <a:ext uri="{FF2B5EF4-FFF2-40B4-BE49-F238E27FC236}">
                <a16:creationId xmlns:a16="http://schemas.microsoft.com/office/drawing/2014/main" id="{7BB19954-A7BD-BE57-2640-4ACB4B4FEC8E}"/>
              </a:ext>
            </a:extLst>
          </p:cNvPr>
          <p:cNvSpPr>
            <a:spLocks noGrp="1"/>
          </p:cNvSpPr>
          <p:nvPr>
            <p:ph type="body" sz="quarter" idx="13"/>
          </p:nvPr>
        </p:nvSpPr>
        <p:spPr/>
        <p:txBody>
          <a:bodyPr/>
          <a:lstStyle/>
          <a:p>
            <a:endParaRPr lang="en-US" dirty="0"/>
          </a:p>
        </p:txBody>
      </p:sp>
      <p:sp>
        <p:nvSpPr>
          <p:cNvPr id="5" name="Rectangle 4">
            <a:extLst>
              <a:ext uri="{FF2B5EF4-FFF2-40B4-BE49-F238E27FC236}">
                <a16:creationId xmlns:a16="http://schemas.microsoft.com/office/drawing/2014/main" id="{F5A510D2-69CA-F8B7-8BB6-C9818DED9A9F}"/>
              </a:ext>
            </a:extLst>
          </p:cNvPr>
          <p:cNvSpPr/>
          <p:nvPr/>
        </p:nvSpPr>
        <p:spPr>
          <a:xfrm>
            <a:off x="9954883" y="232913"/>
            <a:ext cx="1406105"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p:txBody>
      </p:sp>
    </p:spTree>
    <p:extLst>
      <p:ext uri="{BB962C8B-B14F-4D97-AF65-F5344CB8AC3E}">
        <p14:creationId xmlns:p14="http://schemas.microsoft.com/office/powerpoint/2010/main" val="4201336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warehouse&#10;&#10;Description automatically generated">
            <a:extLst>
              <a:ext uri="{FF2B5EF4-FFF2-40B4-BE49-F238E27FC236}">
                <a16:creationId xmlns:a16="http://schemas.microsoft.com/office/drawing/2014/main" id="{8D868227-FF7A-4B35-AB9A-34F23361673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
          <a:stretch/>
        </p:blipFill>
        <p:spPr>
          <a:xfrm>
            <a:off x="0" y="1"/>
            <a:ext cx="12191999" cy="6248399"/>
          </a:xfrm>
          <a:prstGeom prst="rect">
            <a:avLst/>
          </a:prstGeom>
        </p:spPr>
      </p:pic>
      <p:sp>
        <p:nvSpPr>
          <p:cNvPr id="8" name="Rectangle 7">
            <a:extLst>
              <a:ext uri="{FF2B5EF4-FFF2-40B4-BE49-F238E27FC236}">
                <a16:creationId xmlns:a16="http://schemas.microsoft.com/office/drawing/2014/main" id="{9871E957-0AAA-4AA8-8624-A9ED278E9785}"/>
              </a:ext>
            </a:extLst>
          </p:cNvPr>
          <p:cNvSpPr/>
          <p:nvPr/>
        </p:nvSpPr>
        <p:spPr>
          <a:xfrm>
            <a:off x="0" y="0"/>
            <a:ext cx="12192000" cy="62484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24B152A0-76BF-43C4-B7F4-51224AA130A8}"/>
              </a:ext>
            </a:extLst>
          </p:cNvPr>
          <p:cNvSpPr>
            <a:spLocks noGrp="1"/>
          </p:cNvSpPr>
          <p:nvPr>
            <p:ph type="title"/>
          </p:nvPr>
        </p:nvSpPr>
        <p:spPr/>
        <p:txBody>
          <a:bodyPr/>
          <a:lstStyle/>
          <a:p>
            <a:r>
              <a:rPr lang="en-US" sz="2800" dirty="0">
                <a:solidFill>
                  <a:schemeClr val="bg1"/>
                </a:solidFill>
                <a:latin typeface="+mn-lt"/>
              </a:rPr>
              <a:t>CONTINUOUS IMPROVEMENT PROGRAM UPDATES</a:t>
            </a:r>
            <a:br>
              <a:rPr lang="en-US" dirty="0">
                <a:solidFill>
                  <a:schemeClr val="bg1"/>
                </a:solidFill>
                <a:latin typeface="+mn-lt"/>
              </a:rPr>
            </a:br>
            <a:endParaRPr lang="en-US" dirty="0">
              <a:solidFill>
                <a:schemeClr val="bg1"/>
              </a:solidFill>
              <a:latin typeface="+mn-lt"/>
            </a:endParaRPr>
          </a:p>
        </p:txBody>
      </p:sp>
      <p:sp>
        <p:nvSpPr>
          <p:cNvPr id="2" name="Slide Number Placeholder 1">
            <a:extLst>
              <a:ext uri="{FF2B5EF4-FFF2-40B4-BE49-F238E27FC236}">
                <a16:creationId xmlns:a16="http://schemas.microsoft.com/office/drawing/2014/main" id="{42816888-4053-45F6-A0EF-0AD6D1778929}"/>
              </a:ext>
            </a:extLst>
          </p:cNvPr>
          <p:cNvSpPr>
            <a:spLocks noGrp="1"/>
          </p:cNvSpPr>
          <p:nvPr>
            <p:ph type="sldNum" sz="quarter" idx="10"/>
          </p:nvPr>
        </p:nvSpPr>
        <p:spPr/>
        <p:txBody>
          <a:bodyPr/>
          <a:lstStyle/>
          <a:p>
            <a:pPr algn="r"/>
            <a:fld id="{4FA92F45-BA5D-4C7A-ACC7-D44B34072B97}" type="slidenum">
              <a:rPr lang="en-IN" smtClean="0">
                <a:solidFill>
                  <a:srgbClr val="595555"/>
                </a:solidFill>
              </a:rPr>
              <a:pPr algn="r"/>
              <a:t>22</a:t>
            </a:fld>
            <a:endParaRPr lang="en-IN" dirty="0">
              <a:solidFill>
                <a:srgbClr val="595555"/>
              </a:solidFill>
            </a:endParaRPr>
          </a:p>
        </p:txBody>
      </p:sp>
      <p:pic>
        <p:nvPicPr>
          <p:cNvPr id="9" name="Picture 8">
            <a:extLst>
              <a:ext uri="{FF2B5EF4-FFF2-40B4-BE49-F238E27FC236}">
                <a16:creationId xmlns:a16="http://schemas.microsoft.com/office/drawing/2014/main" id="{9E51AD05-A860-48C4-A7B6-4EE9EA43A85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spTree>
    <p:extLst>
      <p:ext uri="{BB962C8B-B14F-4D97-AF65-F5344CB8AC3E}">
        <p14:creationId xmlns:p14="http://schemas.microsoft.com/office/powerpoint/2010/main" val="1697941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615941-E7F6-E9C7-76B1-70E88EE52EED}"/>
              </a:ext>
            </a:extLst>
          </p:cNvPr>
          <p:cNvSpPr>
            <a:spLocks noGrp="1"/>
          </p:cNvSpPr>
          <p:nvPr>
            <p:ph type="sldNum" sz="quarter" idx="12"/>
          </p:nvPr>
        </p:nvSpPr>
        <p:spPr/>
        <p:txBody>
          <a:bodyPr/>
          <a:lstStyle/>
          <a:p>
            <a:pPr algn="r"/>
            <a:fld id="{4FA92F45-BA5D-4C7A-ACC7-D44B34072B97}" type="slidenum">
              <a:rPr lang="en-IN" smtClean="0"/>
              <a:pPr algn="r"/>
              <a:t>23</a:t>
            </a:fld>
            <a:endParaRPr lang="en-IN" dirty="0"/>
          </a:p>
        </p:txBody>
      </p:sp>
      <p:sp>
        <p:nvSpPr>
          <p:cNvPr id="3" name="Title 2">
            <a:extLst>
              <a:ext uri="{FF2B5EF4-FFF2-40B4-BE49-F238E27FC236}">
                <a16:creationId xmlns:a16="http://schemas.microsoft.com/office/drawing/2014/main" id="{A1B4165C-6804-E83A-0E3E-F4CC7AA92082}"/>
              </a:ext>
            </a:extLst>
          </p:cNvPr>
          <p:cNvSpPr>
            <a:spLocks noGrp="1"/>
          </p:cNvSpPr>
          <p:nvPr>
            <p:ph type="title"/>
          </p:nvPr>
        </p:nvSpPr>
        <p:spPr/>
        <p:txBody>
          <a:bodyPr/>
          <a:lstStyle/>
          <a:p>
            <a:r>
              <a:rPr lang="en-US" dirty="0"/>
              <a:t>GEMBA WALK SUMMARY</a:t>
            </a:r>
          </a:p>
        </p:txBody>
      </p:sp>
      <p:sp>
        <p:nvSpPr>
          <p:cNvPr id="5" name="Rectangle 4">
            <a:extLst>
              <a:ext uri="{FF2B5EF4-FFF2-40B4-BE49-F238E27FC236}">
                <a16:creationId xmlns:a16="http://schemas.microsoft.com/office/drawing/2014/main" id="{76E8B5E3-74D7-B236-8EDD-9D249B74EEBB}"/>
              </a:ext>
            </a:extLst>
          </p:cNvPr>
          <p:cNvSpPr/>
          <p:nvPr/>
        </p:nvSpPr>
        <p:spPr>
          <a:xfrm>
            <a:off x="9247517" y="86264"/>
            <a:ext cx="2786331" cy="71599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dirty="0">
                <a:solidFill>
                  <a:schemeClr val="accent1"/>
                </a:solidFill>
              </a:rPr>
              <a:t>EXAMPLE</a:t>
            </a:r>
          </a:p>
        </p:txBody>
      </p:sp>
      <p:graphicFrame>
        <p:nvGraphicFramePr>
          <p:cNvPr id="6" name="Table 5">
            <a:extLst>
              <a:ext uri="{FF2B5EF4-FFF2-40B4-BE49-F238E27FC236}">
                <a16:creationId xmlns:a16="http://schemas.microsoft.com/office/drawing/2014/main" id="{F7D9F76D-1CF1-C22F-EBB8-0EBC0614130B}"/>
              </a:ext>
            </a:extLst>
          </p:cNvPr>
          <p:cNvGraphicFramePr>
            <a:graphicFrameLocks noGrp="1"/>
          </p:cNvGraphicFramePr>
          <p:nvPr>
            <p:extLst>
              <p:ext uri="{D42A27DB-BD31-4B8C-83A1-F6EECF244321}">
                <p14:modId xmlns:p14="http://schemas.microsoft.com/office/powerpoint/2010/main" val="2883141991"/>
              </p:ext>
            </p:extLst>
          </p:nvPr>
        </p:nvGraphicFramePr>
        <p:xfrm>
          <a:off x="422656" y="1490048"/>
          <a:ext cx="11388344" cy="4424680"/>
        </p:xfrm>
        <a:graphic>
          <a:graphicData uri="http://schemas.openxmlformats.org/drawingml/2006/table">
            <a:tbl>
              <a:tblPr firstRow="1" bandRow="1">
                <a:tableStyleId>{5C22544A-7EE6-4342-B048-85BDC9FD1C3A}</a:tableStyleId>
              </a:tblPr>
              <a:tblGrid>
                <a:gridCol w="4135392">
                  <a:extLst>
                    <a:ext uri="{9D8B030D-6E8A-4147-A177-3AD203B41FA5}">
                      <a16:colId xmlns:a16="http://schemas.microsoft.com/office/drawing/2014/main" val="1799681435"/>
                    </a:ext>
                  </a:extLst>
                </a:gridCol>
                <a:gridCol w="7252952">
                  <a:extLst>
                    <a:ext uri="{9D8B030D-6E8A-4147-A177-3AD203B41FA5}">
                      <a16:colId xmlns:a16="http://schemas.microsoft.com/office/drawing/2014/main" val="3075460065"/>
                    </a:ext>
                  </a:extLst>
                </a:gridCol>
              </a:tblGrid>
              <a:tr h="370840">
                <a:tc>
                  <a:txBody>
                    <a:bodyPr/>
                    <a:lstStyle/>
                    <a:p>
                      <a:pPr algn="ctr"/>
                      <a:r>
                        <a:rPr lang="en-US" sz="1200" dirty="0"/>
                        <a:t>Area</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200" dirty="0"/>
                        <a:t>Observation</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739636369"/>
                  </a:ext>
                </a:extLst>
              </a:tr>
              <a:tr h="370840">
                <a:tc>
                  <a:txBody>
                    <a:bodyPr/>
                    <a:lstStyle/>
                    <a:p>
                      <a:pPr algn="l"/>
                      <a:r>
                        <a:rPr lang="en-US" sz="1200" dirty="0">
                          <a:solidFill>
                            <a:schemeClr val="tx2"/>
                          </a:solidFill>
                          <a:latin typeface="+mn-lt"/>
                        </a:rPr>
                        <a:t>General</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Excess pallet repurposing – listed on the CI slide</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171450" marR="0" lvl="0" indent="-1714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72” pallet utilization – listed on the CI slide</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171450" marR="0" lvl="0" indent="-1714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Productivity dashboard</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628650" marR="0" lvl="1" indent="-171450" algn="l">
                        <a:spcAft>
                          <a:spcPts val="600"/>
                        </a:spcAft>
                        <a:buFont typeface="Courier New" panose="02070309020205020404" pitchFamily="49" charset="0"/>
                        <a:buChar char="o"/>
                      </a:pPr>
                      <a:r>
                        <a:rPr lang="en-US" sz="1200" dirty="0">
                          <a:solidFill>
                            <a:schemeClr val="tx2"/>
                          </a:solidFill>
                          <a:effectLst/>
                          <a:latin typeface="+mn-lt"/>
                          <a:ea typeface="Times New Roman" panose="02020603050405020304" pitchFamily="18" charset="0"/>
                          <a:cs typeface="Times New Roman" panose="02020603050405020304" pitchFamily="18" charset="0"/>
                        </a:rPr>
                        <a:t>IE is working on dashboards to be displayed in the operation to show employee productivity, order/line count/order status</a:t>
                      </a:r>
                      <a:endParaRPr lang="en-US" sz="1200" dirty="0">
                        <a:solidFill>
                          <a:schemeClr val="tx2"/>
                        </a:solidFill>
                        <a:latin typeface="+mn-lt"/>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1399741"/>
                  </a:ext>
                </a:extLst>
              </a:tr>
              <a:tr h="370840">
                <a:tc>
                  <a:txBody>
                    <a:bodyPr/>
                    <a:lstStyle/>
                    <a:p>
                      <a:pPr algn="l"/>
                      <a:r>
                        <a:rPr lang="en-US" sz="1200" dirty="0">
                          <a:solidFill>
                            <a:schemeClr val="tx2"/>
                          </a:solidFill>
                          <a:latin typeface="+mn-lt"/>
                        </a:rPr>
                        <a:t>Rack Location Consolidation</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5800" rtl="0" eaLnBrk="1" fontAlgn="auto" latinLnBrk="0" hangingPunct="1">
                        <a:lnSpc>
                          <a:spcPct val="100000"/>
                        </a:lnSpc>
                        <a:spcBef>
                          <a:spcPts val="0"/>
                        </a:spcBef>
                        <a:spcAft>
                          <a:spcPts val="600"/>
                        </a:spcAft>
                        <a:buClrTx/>
                        <a:buSzTx/>
                        <a:buFontTx/>
                        <a:buNone/>
                        <a:tabLst/>
                        <a:defRPr/>
                      </a:pPr>
                      <a:r>
                        <a:rPr lang="en-US" sz="1200" dirty="0">
                          <a:solidFill>
                            <a:schemeClr val="tx2"/>
                          </a:solidFill>
                          <a:effectLst/>
                          <a:latin typeface="+mn-lt"/>
                          <a:ea typeface="Times New Roman" panose="02020603050405020304" pitchFamily="18" charset="0"/>
                          <a:cs typeface="Times New Roman" panose="02020603050405020304" pitchFamily="18" charset="0"/>
                        </a:rPr>
                        <a:t>Consolidation of rack locations that contain the same SKU/Batch combination so bins are not under-utilized</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384975"/>
                  </a:ext>
                </a:extLst>
              </a:tr>
              <a:tr h="370840">
                <a:tc>
                  <a:txBody>
                    <a:bodyPr/>
                    <a:lstStyle/>
                    <a:p>
                      <a:pPr algn="l"/>
                      <a:r>
                        <a:rPr lang="en-US" sz="1200" dirty="0">
                          <a:solidFill>
                            <a:schemeClr val="tx2"/>
                          </a:solidFill>
                          <a:latin typeface="+mn-lt"/>
                        </a:rPr>
                        <a:t>Small Package Floor Layout Change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Improved workflow efficiency</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Increased throughput</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Better space utilization </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Improved safety</a:t>
                      </a:r>
                      <a:endParaRPr lang="en-US" sz="1200" dirty="0">
                        <a:solidFill>
                          <a:schemeClr val="tx2"/>
                        </a:solidFill>
                        <a:latin typeface="+mn-lt"/>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1990373"/>
                  </a:ext>
                </a:extLst>
              </a:tr>
              <a:tr h="370840">
                <a:tc>
                  <a:txBody>
                    <a:bodyPr/>
                    <a:lstStyle/>
                    <a:p>
                      <a:pPr algn="l"/>
                      <a:r>
                        <a:rPr lang="en-US" sz="1200" dirty="0">
                          <a:solidFill>
                            <a:schemeClr val="tx2"/>
                          </a:solidFill>
                          <a:latin typeface="+mn-lt"/>
                        </a:rPr>
                        <a:t>Account 5s Methodology</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Increased efficiency and productivity</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Improved organization</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Better safety</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Higher quality and fewer mistakes</a:t>
                      </a:r>
                      <a:endParaRPr lang="en-US" sz="1200" dirty="0">
                        <a:solidFill>
                          <a:schemeClr val="tx2"/>
                        </a:solidFill>
                        <a:effectLst/>
                        <a:latin typeface="+mn-lt"/>
                        <a:ea typeface="HGGothicE" panose="020B0909000000000000" pitchFamily="49" charset="-128"/>
                        <a:cs typeface="Times New Roman" panose="02020603050405020304" pitchFamily="18" charset="0"/>
                      </a:endParaRPr>
                    </a:p>
                    <a:p>
                      <a:pPr marL="0" marR="0" lvl="1" indent="-285750" algn="l">
                        <a:spcAft>
                          <a:spcPts val="600"/>
                        </a:spcAft>
                        <a:buFont typeface="Arial" panose="020B0604020202020204" pitchFamily="34" charset="0"/>
                        <a:buChar char="•"/>
                      </a:pPr>
                      <a:r>
                        <a:rPr lang="en-US" sz="1200" dirty="0">
                          <a:solidFill>
                            <a:schemeClr val="tx2"/>
                          </a:solidFill>
                          <a:effectLst/>
                          <a:latin typeface="+mn-lt"/>
                          <a:ea typeface="Times New Roman" panose="02020603050405020304" pitchFamily="18" charset="0"/>
                          <a:cs typeface="Times New Roman" panose="02020603050405020304" pitchFamily="18" charset="0"/>
                        </a:rPr>
                        <a:t>Better use of space</a:t>
                      </a:r>
                      <a:endParaRPr lang="en-US" sz="1200" dirty="0">
                        <a:solidFill>
                          <a:schemeClr val="tx2"/>
                        </a:solidFill>
                        <a:latin typeface="+mn-lt"/>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1867962"/>
                  </a:ext>
                </a:extLst>
              </a:tr>
            </a:tbl>
          </a:graphicData>
        </a:graphic>
      </p:graphicFrame>
      <p:sp>
        <p:nvSpPr>
          <p:cNvPr id="7" name="TextBox 6">
            <a:extLst>
              <a:ext uri="{FF2B5EF4-FFF2-40B4-BE49-F238E27FC236}">
                <a16:creationId xmlns:a16="http://schemas.microsoft.com/office/drawing/2014/main" id="{078A1C57-66D7-B977-7F17-588952089E07}"/>
              </a:ext>
            </a:extLst>
          </p:cNvPr>
          <p:cNvSpPr txBox="1"/>
          <p:nvPr/>
        </p:nvSpPr>
        <p:spPr>
          <a:xfrm>
            <a:off x="340614" y="856018"/>
            <a:ext cx="10623042" cy="523220"/>
          </a:xfrm>
          <a:prstGeom prst="rect">
            <a:avLst/>
          </a:prstGeom>
          <a:noFill/>
        </p:spPr>
        <p:txBody>
          <a:bodyPr wrap="square">
            <a:spAutoFit/>
          </a:bodyPr>
          <a:lstStyle/>
          <a:p>
            <a:r>
              <a:rPr lang="en-US" sz="1400" dirty="0">
                <a:solidFill>
                  <a:schemeClr val="tx2"/>
                </a:solidFill>
              </a:rPr>
              <a:t>UPS Healthcare™ Logistics and Distribution conducts Gemba Walks to identify areas of improvement in efficiency, quality, and safety. Below is an example of items identified during Gemba Walks.</a:t>
            </a:r>
          </a:p>
        </p:txBody>
      </p:sp>
    </p:spTree>
    <p:extLst>
      <p:ext uri="{BB962C8B-B14F-4D97-AF65-F5344CB8AC3E}">
        <p14:creationId xmlns:p14="http://schemas.microsoft.com/office/powerpoint/2010/main" val="1060105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25C8A8-0234-E132-ADDB-3C98660EDDED}"/>
              </a:ext>
            </a:extLst>
          </p:cNvPr>
          <p:cNvSpPr>
            <a:spLocks noGrp="1"/>
          </p:cNvSpPr>
          <p:nvPr>
            <p:ph type="sldNum" sz="quarter" idx="12"/>
          </p:nvPr>
        </p:nvSpPr>
        <p:spPr/>
        <p:txBody>
          <a:bodyPr/>
          <a:lstStyle/>
          <a:p>
            <a:pPr algn="r"/>
            <a:fld id="{4FA92F45-BA5D-4C7A-ACC7-D44B34072B97}" type="slidenum">
              <a:rPr lang="en-IN" smtClean="0"/>
              <a:pPr algn="r"/>
              <a:t>24</a:t>
            </a:fld>
            <a:endParaRPr lang="en-IN" dirty="0"/>
          </a:p>
        </p:txBody>
      </p:sp>
      <p:sp>
        <p:nvSpPr>
          <p:cNvPr id="3" name="Title 2">
            <a:extLst>
              <a:ext uri="{FF2B5EF4-FFF2-40B4-BE49-F238E27FC236}">
                <a16:creationId xmlns:a16="http://schemas.microsoft.com/office/drawing/2014/main" id="{7A9CCC48-DEC1-40E2-1B8D-F5197407CEEB}"/>
              </a:ext>
            </a:extLst>
          </p:cNvPr>
          <p:cNvSpPr>
            <a:spLocks noGrp="1"/>
          </p:cNvSpPr>
          <p:nvPr>
            <p:ph type="title"/>
          </p:nvPr>
        </p:nvSpPr>
        <p:spPr/>
        <p:txBody>
          <a:bodyPr/>
          <a:lstStyle/>
          <a:p>
            <a:r>
              <a:rPr lang="en-US" dirty="0"/>
              <a:t>CONTINUOUS IMPROVEMENT ACTIVITY TRACKER</a:t>
            </a:r>
          </a:p>
        </p:txBody>
      </p:sp>
      <p:graphicFrame>
        <p:nvGraphicFramePr>
          <p:cNvPr id="5" name="Table 4">
            <a:extLst>
              <a:ext uri="{FF2B5EF4-FFF2-40B4-BE49-F238E27FC236}">
                <a16:creationId xmlns:a16="http://schemas.microsoft.com/office/drawing/2014/main" id="{0F3FC9D6-D282-9FAA-CC84-2B6C73886309}"/>
              </a:ext>
            </a:extLst>
          </p:cNvPr>
          <p:cNvGraphicFramePr>
            <a:graphicFrameLocks noGrp="1"/>
          </p:cNvGraphicFramePr>
          <p:nvPr>
            <p:extLst>
              <p:ext uri="{D42A27DB-BD31-4B8C-83A1-F6EECF244321}">
                <p14:modId xmlns:p14="http://schemas.microsoft.com/office/powerpoint/2010/main" val="1669726778"/>
              </p:ext>
            </p:extLst>
          </p:nvPr>
        </p:nvGraphicFramePr>
        <p:xfrm>
          <a:off x="395917" y="1000126"/>
          <a:ext cx="11291257" cy="3926064"/>
        </p:xfrm>
        <a:graphic>
          <a:graphicData uri="http://schemas.openxmlformats.org/drawingml/2006/table">
            <a:tbl>
              <a:tblPr firstRow="1" bandRow="1">
                <a:tableStyleId>{5C22544A-7EE6-4342-B048-85BDC9FD1C3A}</a:tableStyleId>
              </a:tblPr>
              <a:tblGrid>
                <a:gridCol w="2134713">
                  <a:extLst>
                    <a:ext uri="{9D8B030D-6E8A-4147-A177-3AD203B41FA5}">
                      <a16:colId xmlns:a16="http://schemas.microsoft.com/office/drawing/2014/main" val="3175152571"/>
                    </a:ext>
                  </a:extLst>
                </a:gridCol>
                <a:gridCol w="2212820">
                  <a:extLst>
                    <a:ext uri="{9D8B030D-6E8A-4147-A177-3AD203B41FA5}">
                      <a16:colId xmlns:a16="http://schemas.microsoft.com/office/drawing/2014/main" val="3402968521"/>
                    </a:ext>
                  </a:extLst>
                </a:gridCol>
                <a:gridCol w="1362075">
                  <a:extLst>
                    <a:ext uri="{9D8B030D-6E8A-4147-A177-3AD203B41FA5}">
                      <a16:colId xmlns:a16="http://schemas.microsoft.com/office/drawing/2014/main" val="2780555257"/>
                    </a:ext>
                  </a:extLst>
                </a:gridCol>
                <a:gridCol w="1905000">
                  <a:extLst>
                    <a:ext uri="{9D8B030D-6E8A-4147-A177-3AD203B41FA5}">
                      <a16:colId xmlns:a16="http://schemas.microsoft.com/office/drawing/2014/main" val="1777167242"/>
                    </a:ext>
                  </a:extLst>
                </a:gridCol>
                <a:gridCol w="3676649">
                  <a:extLst>
                    <a:ext uri="{9D8B030D-6E8A-4147-A177-3AD203B41FA5}">
                      <a16:colId xmlns:a16="http://schemas.microsoft.com/office/drawing/2014/main" val="3818180948"/>
                    </a:ext>
                  </a:extLst>
                </a:gridCol>
              </a:tblGrid>
              <a:tr h="498544">
                <a:tc>
                  <a:txBody>
                    <a:bodyPr/>
                    <a:lstStyle/>
                    <a:p>
                      <a:pPr algn="ctr"/>
                      <a:r>
                        <a:rPr lang="en-US" sz="1200" dirty="0"/>
                        <a:t>CIP Activity</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200" dirty="0"/>
                        <a:t>Category</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200" dirty="0"/>
                        <a:t>Status</a:t>
                      </a:r>
                    </a:p>
                    <a:p>
                      <a:pPr algn="ctr"/>
                      <a:endParaRPr lang="en-US" sz="1200" dirty="0"/>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200" dirty="0"/>
                        <a:t>Annual Estimated Value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200" dirty="0"/>
                        <a:t>Comments</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2905392188"/>
                  </a:ext>
                </a:extLst>
              </a:tr>
              <a:tr h="697961">
                <a:tc>
                  <a:txBody>
                    <a:bodyPr/>
                    <a:lstStyle/>
                    <a:p>
                      <a:pPr algn="l"/>
                      <a:r>
                        <a:rPr lang="en-US" sz="1200" dirty="0">
                          <a:solidFill>
                            <a:schemeClr val="tx2"/>
                          </a:solidFill>
                        </a:rPr>
                        <a:t>SP Payment Processing Fee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dirty="0">
                          <a:solidFill>
                            <a:schemeClr val="tx2"/>
                          </a:solidFill>
                        </a:rPr>
                        <a:t>Optimization</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dirty="0">
                          <a:solidFill>
                            <a:schemeClr val="tx2"/>
                          </a:solidFill>
                        </a:rPr>
                        <a:t>$2,504.20</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dirty="0">
                          <a:solidFill>
                            <a:schemeClr val="tx2"/>
                          </a:solidFill>
                        </a:rPr>
                        <a:t>Effective May 2025, Vertex no longer receives 2% payment processing fee from SP</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7516820"/>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4091528"/>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718998"/>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0815191"/>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9553"/>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434709"/>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599211"/>
                  </a:ext>
                </a:extLst>
              </a:tr>
              <a:tr h="389937">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200" b="1" dirty="0">
                          <a:solidFill>
                            <a:schemeClr val="tx2"/>
                          </a:solidFill>
                        </a:rPr>
                        <a:t>$2,504.20</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200" dirty="0">
                        <a:solidFill>
                          <a:schemeClr val="tx2"/>
                        </a:solidFill>
                      </a:endParaRP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713791"/>
                  </a:ext>
                </a:extLst>
              </a:tr>
            </a:tbl>
          </a:graphicData>
        </a:graphic>
      </p:graphicFrame>
      <p:sp>
        <p:nvSpPr>
          <p:cNvPr id="6" name="Flowchart: Connector 5">
            <a:extLst>
              <a:ext uri="{FF2B5EF4-FFF2-40B4-BE49-F238E27FC236}">
                <a16:creationId xmlns:a16="http://schemas.microsoft.com/office/drawing/2014/main" id="{A149EBDF-FF2F-EDFC-3466-56A98A9AC87B}"/>
              </a:ext>
            </a:extLst>
          </p:cNvPr>
          <p:cNvSpPr/>
          <p:nvPr/>
        </p:nvSpPr>
        <p:spPr>
          <a:xfrm>
            <a:off x="5034594" y="1286055"/>
            <a:ext cx="182880" cy="182880"/>
          </a:xfrm>
          <a:prstGeom prst="flowChartConnector">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F4052270-431A-52E7-3DE7-28F71A1BF28D}"/>
              </a:ext>
            </a:extLst>
          </p:cNvPr>
          <p:cNvSpPr/>
          <p:nvPr/>
        </p:nvSpPr>
        <p:spPr>
          <a:xfrm>
            <a:off x="5337810" y="1280304"/>
            <a:ext cx="182880" cy="182880"/>
          </a:xfrm>
          <a:prstGeom prst="flowChartConnector">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7D46CC11-FCB0-A488-7688-01F9CA972A0E}"/>
              </a:ext>
            </a:extLst>
          </p:cNvPr>
          <p:cNvSpPr/>
          <p:nvPr/>
        </p:nvSpPr>
        <p:spPr>
          <a:xfrm>
            <a:off x="5618315" y="1283179"/>
            <a:ext cx="182880" cy="182880"/>
          </a:xfrm>
          <a:prstGeom prst="flowChartConnector">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530FBCC1-3C29-B9DA-FC98-C921703CB702}"/>
              </a:ext>
            </a:extLst>
          </p:cNvPr>
          <p:cNvSpPr/>
          <p:nvPr/>
        </p:nvSpPr>
        <p:spPr>
          <a:xfrm>
            <a:off x="5327172" y="1752780"/>
            <a:ext cx="182880" cy="182880"/>
          </a:xfrm>
          <a:prstGeom prst="flowChartConnector">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B685C65-F765-2510-BE76-D02102F89D86}"/>
              </a:ext>
            </a:extLst>
          </p:cNvPr>
          <p:cNvSpPr/>
          <p:nvPr/>
        </p:nvSpPr>
        <p:spPr>
          <a:xfrm>
            <a:off x="9247517" y="86264"/>
            <a:ext cx="2786331"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dirty="0">
                <a:solidFill>
                  <a:schemeClr val="accent1"/>
                </a:solidFill>
              </a:rPr>
              <a:t>EXAMPLE</a:t>
            </a:r>
          </a:p>
        </p:txBody>
      </p:sp>
    </p:spTree>
    <p:extLst>
      <p:ext uri="{BB962C8B-B14F-4D97-AF65-F5344CB8AC3E}">
        <p14:creationId xmlns:p14="http://schemas.microsoft.com/office/powerpoint/2010/main" val="33632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lose-up of person writing">
            <a:extLst>
              <a:ext uri="{FF2B5EF4-FFF2-40B4-BE49-F238E27FC236}">
                <a16:creationId xmlns:a16="http://schemas.microsoft.com/office/drawing/2014/main" id="{DDD872F2-1577-D1B5-1865-7A7417A8FF6D}"/>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0"/>
            <a:ext cx="12192000" cy="6228272"/>
          </a:xfrm>
          <a:prstGeom prst="rect">
            <a:avLst/>
          </a:prstGeom>
        </p:spPr>
      </p:pic>
      <p:sp>
        <p:nvSpPr>
          <p:cNvPr id="8" name="Rectangle 7">
            <a:extLst>
              <a:ext uri="{FF2B5EF4-FFF2-40B4-BE49-F238E27FC236}">
                <a16:creationId xmlns:a16="http://schemas.microsoft.com/office/drawing/2014/main" id="{9871E957-0AAA-4AA8-8624-A9ED278E9785}"/>
              </a:ext>
            </a:extLst>
          </p:cNvPr>
          <p:cNvSpPr/>
          <p:nvPr/>
        </p:nvSpPr>
        <p:spPr>
          <a:xfrm>
            <a:off x="6838" y="-8626"/>
            <a:ext cx="12192000" cy="62484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24B152A0-76BF-43C4-B7F4-51224AA130A8}"/>
              </a:ext>
            </a:extLst>
          </p:cNvPr>
          <p:cNvSpPr>
            <a:spLocks noGrp="1"/>
          </p:cNvSpPr>
          <p:nvPr>
            <p:ph type="title"/>
          </p:nvPr>
        </p:nvSpPr>
        <p:spPr/>
        <p:txBody>
          <a:bodyPr/>
          <a:lstStyle/>
          <a:p>
            <a:r>
              <a:rPr lang="en-US" sz="2800" dirty="0">
                <a:solidFill>
                  <a:schemeClr val="bg1"/>
                </a:solidFill>
                <a:latin typeface="+mn-lt"/>
              </a:rPr>
              <a:t>QUALITY MANAGEMENT SYSTEM UPDATES</a:t>
            </a:r>
            <a:br>
              <a:rPr lang="en-US" sz="2800" dirty="0">
                <a:solidFill>
                  <a:schemeClr val="bg1"/>
                </a:solidFill>
                <a:latin typeface="+mn-lt"/>
              </a:rPr>
            </a:br>
            <a:br>
              <a:rPr lang="en-US" dirty="0">
                <a:solidFill>
                  <a:schemeClr val="bg1"/>
                </a:solidFill>
                <a:latin typeface="+mn-lt"/>
              </a:rPr>
            </a:br>
            <a:endParaRPr lang="en-US" dirty="0">
              <a:solidFill>
                <a:schemeClr val="bg1"/>
              </a:solidFill>
              <a:latin typeface="+mn-lt"/>
            </a:endParaRPr>
          </a:p>
        </p:txBody>
      </p:sp>
      <p:sp>
        <p:nvSpPr>
          <p:cNvPr id="2" name="Slide Number Placeholder 1">
            <a:extLst>
              <a:ext uri="{FF2B5EF4-FFF2-40B4-BE49-F238E27FC236}">
                <a16:creationId xmlns:a16="http://schemas.microsoft.com/office/drawing/2014/main" id="{C4CD840C-3DC3-4FB8-88EF-24885F43ED8F}"/>
              </a:ext>
            </a:extLst>
          </p:cNvPr>
          <p:cNvSpPr>
            <a:spLocks noGrp="1"/>
          </p:cNvSpPr>
          <p:nvPr>
            <p:ph type="sldNum" sz="quarter" idx="10"/>
          </p:nvPr>
        </p:nvSpPr>
        <p:spPr/>
        <p:txBody>
          <a:bodyPr/>
          <a:lstStyle/>
          <a:p>
            <a:pPr algn="r"/>
            <a:fld id="{4FA92F45-BA5D-4C7A-ACC7-D44B34072B97}" type="slidenum">
              <a:rPr lang="en-IN" smtClean="0">
                <a:solidFill>
                  <a:srgbClr val="595555"/>
                </a:solidFill>
              </a:rPr>
              <a:pPr algn="r"/>
              <a:t>25</a:t>
            </a:fld>
            <a:endParaRPr lang="en-IN" dirty="0">
              <a:solidFill>
                <a:srgbClr val="595555"/>
              </a:solidFill>
            </a:endParaRPr>
          </a:p>
        </p:txBody>
      </p:sp>
      <p:pic>
        <p:nvPicPr>
          <p:cNvPr id="9" name="Picture 8">
            <a:extLst>
              <a:ext uri="{FF2B5EF4-FFF2-40B4-BE49-F238E27FC236}">
                <a16:creationId xmlns:a16="http://schemas.microsoft.com/office/drawing/2014/main" id="{9E51AD05-A860-48C4-A7B6-4EE9EA43A85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spTree>
    <p:extLst>
      <p:ext uri="{BB962C8B-B14F-4D97-AF65-F5344CB8AC3E}">
        <p14:creationId xmlns:p14="http://schemas.microsoft.com/office/powerpoint/2010/main" val="1181605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6888F-9E1B-DD00-D831-68135B605400}"/>
            </a:ext>
          </a:extLst>
        </p:cNvPr>
        <p:cNvGrpSpPr/>
        <p:nvPr/>
      </p:nvGrpSpPr>
      <p:grpSpPr>
        <a:xfrm>
          <a:off x="0" y="0"/>
          <a:ext cx="0" cy="0"/>
          <a:chOff x="0" y="0"/>
          <a:chExt cx="0" cy="0"/>
        </a:xfrm>
      </p:grpSpPr>
      <p:pic>
        <p:nvPicPr>
          <p:cNvPr id="91" name="Picture 90" descr="Woman in business attire">
            <a:extLst>
              <a:ext uri="{FF2B5EF4-FFF2-40B4-BE49-F238E27FC236}">
                <a16:creationId xmlns:a16="http://schemas.microsoft.com/office/drawing/2014/main" id="{C4EA8667-0C14-E946-AD7A-5681265F5928}"/>
              </a:ext>
            </a:extLst>
          </p:cNvPr>
          <p:cNvPicPr>
            <a:picLocks noChangeAspect="1"/>
          </p:cNvPicPr>
          <p:nvPr/>
        </p:nvPicPr>
        <p:blipFill>
          <a:blip r:embed="rId3" cstate="screen">
            <a:alphaModFix amt="35000"/>
            <a:extLst>
              <a:ext uri="{28A0092B-C50C-407E-A947-70E740481C1C}">
                <a14:useLocalDpi xmlns:a14="http://schemas.microsoft.com/office/drawing/2010/main"/>
              </a:ext>
            </a:extLst>
          </a:blip>
          <a:srcRect/>
          <a:stretch/>
        </p:blipFill>
        <p:spPr>
          <a:xfrm>
            <a:off x="0" y="0"/>
            <a:ext cx="12192000" cy="6248400"/>
          </a:xfrm>
          <a:prstGeom prst="rect">
            <a:avLst/>
          </a:prstGeom>
        </p:spPr>
      </p:pic>
      <p:sp>
        <p:nvSpPr>
          <p:cNvPr id="2" name="Title 1">
            <a:extLst>
              <a:ext uri="{FF2B5EF4-FFF2-40B4-BE49-F238E27FC236}">
                <a16:creationId xmlns:a16="http://schemas.microsoft.com/office/drawing/2014/main" id="{FD0BA848-9BD1-9205-A5AE-1AB406547209}"/>
              </a:ext>
            </a:extLst>
          </p:cNvPr>
          <p:cNvSpPr>
            <a:spLocks noGrp="1"/>
          </p:cNvSpPr>
          <p:nvPr>
            <p:ph type="title"/>
          </p:nvPr>
        </p:nvSpPr>
        <p:spPr/>
        <p:txBody>
          <a:bodyPr/>
          <a:lstStyle/>
          <a:p>
            <a:r>
              <a:rPr lang="en-US" dirty="0">
                <a:solidFill>
                  <a:srgbClr val="426DA9"/>
                </a:solidFill>
                <a:latin typeface="verdana" panose="020B0604030504040204" pitchFamily="34" charset="0"/>
              </a:rPr>
              <a:t>QUALITY ORGANIZATIONAL STRUCTURE FOR </a:t>
            </a:r>
            <a:r>
              <a:rPr lang="en-US" dirty="0">
                <a:solidFill>
                  <a:srgbClr val="426DA9"/>
                </a:solidFill>
                <a:highlight>
                  <a:srgbClr val="FF00FF"/>
                </a:highlight>
                <a:latin typeface="verdana" panose="020B0604030504040204" pitchFamily="34" charset="0"/>
              </a:rPr>
              <a:t>[CLIENT NAME]</a:t>
            </a:r>
            <a:endParaRPr lang="en-US" dirty="0">
              <a:highlight>
                <a:srgbClr val="FF00FF"/>
              </a:highlight>
            </a:endParaRPr>
          </a:p>
        </p:txBody>
      </p:sp>
      <p:sp>
        <p:nvSpPr>
          <p:cNvPr id="15" name="Slide Number Placeholder 14">
            <a:extLst>
              <a:ext uri="{FF2B5EF4-FFF2-40B4-BE49-F238E27FC236}">
                <a16:creationId xmlns:a16="http://schemas.microsoft.com/office/drawing/2014/main" id="{CD10EB22-7003-993C-DE24-216AC37E7F85}"/>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26</a:t>
            </a:fld>
            <a:endParaRPr lang="en-IN" dirty="0">
              <a:solidFill>
                <a:srgbClr val="8C8585"/>
              </a:solidFill>
            </a:endParaRPr>
          </a:p>
        </p:txBody>
      </p:sp>
      <p:sp>
        <p:nvSpPr>
          <p:cNvPr id="4" name="Rectangle 3">
            <a:extLst>
              <a:ext uri="{FF2B5EF4-FFF2-40B4-BE49-F238E27FC236}">
                <a16:creationId xmlns:a16="http://schemas.microsoft.com/office/drawing/2014/main" id="{C08EF7FF-462D-59A7-6EF6-CA9FDCF7C1E6}"/>
              </a:ext>
            </a:extLst>
          </p:cNvPr>
          <p:cNvSpPr/>
          <p:nvPr/>
        </p:nvSpPr>
        <p:spPr>
          <a:xfrm>
            <a:off x="10360325" y="250166"/>
            <a:ext cx="1406105"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Example </a:t>
            </a:r>
          </a:p>
        </p:txBody>
      </p:sp>
      <p:cxnSp>
        <p:nvCxnSpPr>
          <p:cNvPr id="3" name="Straight Connector 2">
            <a:extLst>
              <a:ext uri="{FF2B5EF4-FFF2-40B4-BE49-F238E27FC236}">
                <a16:creationId xmlns:a16="http://schemas.microsoft.com/office/drawing/2014/main" id="{F90664CC-9012-6C43-2123-284CBA7C2093}"/>
              </a:ext>
            </a:extLst>
          </p:cNvPr>
          <p:cNvCxnSpPr>
            <a:cxnSpLocks/>
          </p:cNvCxnSpPr>
          <p:nvPr/>
        </p:nvCxnSpPr>
        <p:spPr>
          <a:xfrm flipH="1">
            <a:off x="5104737" y="4850037"/>
            <a:ext cx="178904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D59D81C-EA0D-2833-ED7D-286B1D15E0BF}"/>
              </a:ext>
            </a:extLst>
          </p:cNvPr>
          <p:cNvCxnSpPr>
            <a:cxnSpLocks/>
            <a:stCxn id="18" idx="2"/>
          </p:cNvCxnSpPr>
          <p:nvPr/>
        </p:nvCxnSpPr>
        <p:spPr>
          <a:xfrm flipH="1">
            <a:off x="6096001" y="2428469"/>
            <a:ext cx="0" cy="2421568"/>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357D28DC-A2DC-7A5D-0A73-35ABD136B06E}"/>
              </a:ext>
            </a:extLst>
          </p:cNvPr>
          <p:cNvSpPr>
            <a:spLocks/>
          </p:cNvSpPr>
          <p:nvPr/>
        </p:nvSpPr>
        <p:spPr>
          <a:xfrm flipH="1">
            <a:off x="4500981" y="1742669"/>
            <a:ext cx="3304445" cy="685800"/>
          </a:xfrm>
          <a:prstGeom prst="roundRect">
            <a:avLst/>
          </a:prstGeom>
          <a:solidFill>
            <a:srgbClr val="002060"/>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marL="0" marR="0" lvl="0" indent="0" algn="ctr" defTabSz="444500" eaLnBrk="1" fontAlgn="auto" latinLnBrk="0" hangingPunct="1">
              <a:spcBef>
                <a:spcPct val="0"/>
              </a:spcBef>
              <a:buClrTx/>
              <a:buSzTx/>
              <a:buFontTx/>
              <a:buNone/>
              <a:tabLst/>
              <a:defRPr/>
            </a:pPr>
            <a:r>
              <a:rPr kumimoji="0" lang="en-US" sz="1200" b="1" i="0" u="none" strike="noStrike" kern="0" cap="none" spc="0" normalizeH="0" baseline="0" noProof="0" dirty="0">
                <a:ln>
                  <a:noFill/>
                </a:ln>
                <a:solidFill>
                  <a:srgbClr val="FFFFFF"/>
                </a:solidFill>
                <a:effectLst/>
                <a:uLnTx/>
                <a:uFillTx/>
                <a:latin typeface="Verdana"/>
                <a:ea typeface="+mn-ea"/>
                <a:cs typeface="+mn-cs"/>
              </a:rPr>
              <a:t>Timothy Bishop </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rgbClr val="FFFFFF"/>
                </a:solidFill>
                <a:effectLst/>
                <a:uLnTx/>
                <a:uFillTx/>
                <a:latin typeface="Verdana"/>
                <a:ea typeface="+mn-ea"/>
                <a:cs typeface="+mn-cs"/>
              </a:rPr>
              <a:t>Director</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rgbClr val="FFFFFF"/>
                </a:solidFill>
                <a:effectLst/>
                <a:uLnTx/>
                <a:uFillTx/>
                <a:latin typeface="Verdana"/>
                <a:ea typeface="+mn-ea"/>
                <a:cs typeface="+mn-cs"/>
              </a:rPr>
              <a:t>UPS Healthcare - Louisville, KY</a:t>
            </a:r>
          </a:p>
        </p:txBody>
      </p:sp>
      <p:sp>
        <p:nvSpPr>
          <p:cNvPr id="19" name="Rectangle: Rounded Corners 18">
            <a:extLst>
              <a:ext uri="{FF2B5EF4-FFF2-40B4-BE49-F238E27FC236}">
                <a16:creationId xmlns:a16="http://schemas.microsoft.com/office/drawing/2014/main" id="{7B3624F6-572B-2DEC-F4E7-6EB1B28B5EBD}"/>
              </a:ext>
            </a:extLst>
          </p:cNvPr>
          <p:cNvSpPr>
            <a:spLocks/>
          </p:cNvSpPr>
          <p:nvPr/>
        </p:nvSpPr>
        <p:spPr>
          <a:xfrm flipH="1">
            <a:off x="4500985" y="2644775"/>
            <a:ext cx="3307194" cy="685800"/>
          </a:xfrm>
          <a:prstGeom prst="roundRect">
            <a:avLst/>
          </a:prstGeom>
          <a:solidFill>
            <a:schemeClr val="accent2"/>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lvl="0" algn="ctr"/>
            <a:r>
              <a:rPr lang="en-US" sz="1200" b="1" dirty="0">
                <a:solidFill>
                  <a:schemeClr val="bg1"/>
                </a:solidFill>
              </a:rPr>
              <a:t>Karen York</a:t>
            </a:r>
          </a:p>
          <a:p>
            <a:pPr marL="0" marR="0" lvl="0" indent="0" algn="ctr" defTabSz="444500" eaLnBrk="1" fontAlgn="auto" latinLnBrk="0" hangingPunct="1">
              <a:spcBef>
                <a:spcPct val="0"/>
              </a:spcBef>
              <a:buClrTx/>
              <a:buSzTx/>
              <a:buFontTx/>
              <a:buNone/>
              <a:tabLst/>
              <a:defRPr/>
            </a:pPr>
            <a:r>
              <a:rPr lang="en-US" sz="1200" kern="0" dirty="0">
                <a:solidFill>
                  <a:schemeClr val="bg1"/>
                </a:solidFill>
                <a:latin typeface="Verdana"/>
              </a:rPr>
              <a:t>Senior Manager</a:t>
            </a:r>
            <a:endParaRPr kumimoji="0" lang="en-US" sz="1200" i="0" u="none" strike="noStrike" kern="0" cap="none" spc="0" normalizeH="0" baseline="0" noProof="0" dirty="0">
              <a:ln>
                <a:noFill/>
              </a:ln>
              <a:solidFill>
                <a:schemeClr val="bg1"/>
              </a:solidFill>
              <a:effectLst/>
              <a:uLnTx/>
              <a:uFillTx/>
              <a:latin typeface="Verdana"/>
              <a:ea typeface="+mn-ea"/>
              <a:cs typeface="+mn-cs"/>
            </a:endParaRP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chemeClr val="bg1"/>
                </a:solidFill>
                <a:effectLst/>
                <a:uLnTx/>
                <a:uFillTx/>
                <a:latin typeface="Verdana"/>
                <a:ea typeface="+mn-ea"/>
                <a:cs typeface="+mn-cs"/>
              </a:rPr>
              <a:t>UPS Healthcare - Louisville, KY</a:t>
            </a:r>
          </a:p>
        </p:txBody>
      </p:sp>
      <p:sp>
        <p:nvSpPr>
          <p:cNvPr id="20" name="Rectangle: Rounded Corners 19">
            <a:extLst>
              <a:ext uri="{FF2B5EF4-FFF2-40B4-BE49-F238E27FC236}">
                <a16:creationId xmlns:a16="http://schemas.microsoft.com/office/drawing/2014/main" id="{7304A9B6-7BEA-10FD-42C4-935E5D5878D7}"/>
              </a:ext>
            </a:extLst>
          </p:cNvPr>
          <p:cNvSpPr>
            <a:spLocks/>
          </p:cNvSpPr>
          <p:nvPr/>
        </p:nvSpPr>
        <p:spPr>
          <a:xfrm flipH="1">
            <a:off x="4500983" y="3554003"/>
            <a:ext cx="3307197" cy="685800"/>
          </a:xfrm>
          <a:prstGeom prst="roundRect">
            <a:avLst/>
          </a:prstGeom>
          <a:solidFill>
            <a:schemeClr val="accent2">
              <a:lumMod val="60000"/>
              <a:lumOff val="4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marL="0" marR="0" lvl="0" indent="0" algn="ctr" defTabSz="444500" eaLnBrk="1" fontAlgn="auto" latinLnBrk="0" hangingPunct="1">
              <a:spcBef>
                <a:spcPct val="0"/>
              </a:spcBef>
              <a:buClrTx/>
              <a:buSzTx/>
              <a:buFontTx/>
              <a:buNone/>
              <a:tabLst/>
              <a:defRPr/>
            </a:pPr>
            <a:r>
              <a:rPr kumimoji="0" lang="en-US" sz="1200" b="1" i="0" u="none" strike="noStrike" kern="0" cap="none" spc="0" normalizeH="0" baseline="0" noProof="0" dirty="0">
                <a:ln>
                  <a:noFill/>
                </a:ln>
                <a:solidFill>
                  <a:srgbClr val="FFFFFF"/>
                </a:solidFill>
                <a:effectLst/>
                <a:uLnTx/>
                <a:uFillTx/>
                <a:latin typeface="Verdana"/>
                <a:ea typeface="+mn-ea"/>
                <a:cs typeface="+mn-cs"/>
              </a:rPr>
              <a:t>Mary Barnett</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rgbClr val="FFFFFF"/>
                </a:solidFill>
                <a:effectLst/>
                <a:uLnTx/>
                <a:uFillTx/>
                <a:latin typeface="Verdana"/>
                <a:ea typeface="+mn-ea"/>
                <a:cs typeface="+mn-cs"/>
              </a:rPr>
              <a:t>Supervisor</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rgbClr val="FFFFFF"/>
                </a:solidFill>
                <a:effectLst/>
                <a:uLnTx/>
                <a:uFillTx/>
                <a:latin typeface="Verdana"/>
                <a:ea typeface="+mn-ea"/>
                <a:cs typeface="+mn-cs"/>
              </a:rPr>
              <a:t>UPS Healthcare</a:t>
            </a:r>
          </a:p>
        </p:txBody>
      </p:sp>
      <p:sp>
        <p:nvSpPr>
          <p:cNvPr id="21" name="Rectangle: Rounded Corners 20">
            <a:extLst>
              <a:ext uri="{FF2B5EF4-FFF2-40B4-BE49-F238E27FC236}">
                <a16:creationId xmlns:a16="http://schemas.microsoft.com/office/drawing/2014/main" id="{AD57FE6A-FDE3-4A85-C7DB-C0661E670DE0}"/>
              </a:ext>
            </a:extLst>
          </p:cNvPr>
          <p:cNvSpPr>
            <a:spLocks/>
          </p:cNvSpPr>
          <p:nvPr/>
        </p:nvSpPr>
        <p:spPr>
          <a:xfrm flipH="1">
            <a:off x="6486972" y="4516451"/>
            <a:ext cx="3057092" cy="685800"/>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marL="0" marR="0" lvl="0" indent="0" algn="ctr" defTabSz="444500" eaLnBrk="1" fontAlgn="auto" latinLnBrk="0" hangingPunct="1">
              <a:spcBef>
                <a:spcPct val="0"/>
              </a:spcBef>
              <a:buClrTx/>
              <a:buSzTx/>
              <a:buFontTx/>
              <a:buNone/>
              <a:tabLst/>
              <a:defRPr/>
            </a:pPr>
            <a:r>
              <a:rPr kumimoji="0" lang="en-US" sz="1200" b="1" i="0" u="none" strike="noStrike" kern="0" cap="none" spc="0" normalizeH="0" baseline="0" noProof="0" dirty="0">
                <a:ln>
                  <a:noFill/>
                </a:ln>
                <a:solidFill>
                  <a:schemeClr val="tx2"/>
                </a:solidFill>
                <a:effectLst/>
                <a:uLnTx/>
                <a:uFillTx/>
                <a:latin typeface="Verdana"/>
                <a:ea typeface="+mn-ea"/>
                <a:cs typeface="+mn-cs"/>
              </a:rPr>
              <a:t>Tamara Plaisance</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chemeClr val="tx2"/>
                </a:solidFill>
                <a:effectLst/>
                <a:uLnTx/>
                <a:uFillTx/>
                <a:latin typeface="Verdana"/>
                <a:ea typeface="+mn-ea"/>
                <a:cs typeface="+mn-cs"/>
              </a:rPr>
              <a:t>Specialist</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chemeClr val="tx2"/>
                </a:solidFill>
                <a:effectLst/>
                <a:uLnTx/>
                <a:uFillTx/>
                <a:latin typeface="Verdana"/>
                <a:ea typeface="+mn-ea"/>
                <a:cs typeface="+mn-cs"/>
              </a:rPr>
              <a:t>UPS Healthcare</a:t>
            </a:r>
          </a:p>
        </p:txBody>
      </p:sp>
      <p:sp>
        <p:nvSpPr>
          <p:cNvPr id="23" name="Rectangle: Rounded Corners 22">
            <a:extLst>
              <a:ext uri="{FF2B5EF4-FFF2-40B4-BE49-F238E27FC236}">
                <a16:creationId xmlns:a16="http://schemas.microsoft.com/office/drawing/2014/main" id="{DE4462AA-28E9-F5D3-14F0-22B355DAE521}"/>
              </a:ext>
            </a:extLst>
          </p:cNvPr>
          <p:cNvSpPr>
            <a:spLocks/>
          </p:cNvSpPr>
          <p:nvPr/>
        </p:nvSpPr>
        <p:spPr>
          <a:xfrm flipH="1">
            <a:off x="2625041" y="4526307"/>
            <a:ext cx="3057092" cy="685800"/>
          </a:xfrm>
          <a:prstGeom prst="roundRect">
            <a:avLst/>
          </a:prstGeom>
          <a:solidFill>
            <a:schemeClr val="accent2">
              <a:lumMod val="40000"/>
              <a:lumOff val="60000"/>
            </a:schemeClr>
          </a:solidFill>
          <a:ln w="12700" cap="flat" cmpd="sng" algn="ctr">
            <a:solidFill>
              <a:srgbClr val="426DA9"/>
            </a:solidFill>
            <a:prstDash val="solid"/>
            <a:miter lim="800000"/>
          </a:ln>
          <a:effectLst/>
        </p:spPr>
        <p:txBody>
          <a:bodyPr spcFirstLastPara="0" vert="horz" wrap="square" lIns="0" tIns="6350" rIns="0" bIns="6350" numCol="1" spcCol="1270" anchor="ctr" anchorCtr="0">
            <a:noAutofit/>
          </a:bodyPr>
          <a:lstStyle/>
          <a:p>
            <a:pPr marL="0" marR="0" lvl="0" indent="0" algn="ctr" defTabSz="444500" eaLnBrk="1" fontAlgn="auto" latinLnBrk="0" hangingPunct="1">
              <a:spcBef>
                <a:spcPct val="0"/>
              </a:spcBef>
              <a:buClrTx/>
              <a:buSzTx/>
              <a:buFontTx/>
              <a:buNone/>
              <a:tabLst/>
              <a:defRPr/>
            </a:pPr>
            <a:r>
              <a:rPr kumimoji="0" lang="en-US" sz="1200" b="1" i="0" u="none" strike="noStrike" kern="0" cap="none" spc="0" normalizeH="0" baseline="0" noProof="0" dirty="0">
                <a:ln>
                  <a:noFill/>
                </a:ln>
                <a:solidFill>
                  <a:schemeClr val="tx2"/>
                </a:solidFill>
                <a:effectLst/>
                <a:uLnTx/>
                <a:uFillTx/>
                <a:latin typeface="Verdana"/>
                <a:ea typeface="+mn-ea"/>
                <a:cs typeface="+mn-cs"/>
              </a:rPr>
              <a:t>Chelsie Draughon</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chemeClr val="tx2"/>
                </a:solidFill>
                <a:effectLst/>
                <a:uLnTx/>
                <a:uFillTx/>
                <a:latin typeface="Verdana"/>
                <a:ea typeface="+mn-ea"/>
                <a:cs typeface="+mn-cs"/>
              </a:rPr>
              <a:t>Specialist</a:t>
            </a:r>
          </a:p>
          <a:p>
            <a:pPr marL="0" marR="0" lvl="0" indent="0" algn="ctr" defTabSz="444500" eaLnBrk="1" fontAlgn="auto" latinLnBrk="0" hangingPunct="1">
              <a:spcBef>
                <a:spcPct val="0"/>
              </a:spcBef>
              <a:buClrTx/>
              <a:buSzTx/>
              <a:buFontTx/>
              <a:buNone/>
              <a:tabLst/>
              <a:defRPr/>
            </a:pPr>
            <a:r>
              <a:rPr kumimoji="0" lang="en-US" sz="1200" i="0" u="none" strike="noStrike" kern="0" cap="none" spc="0" normalizeH="0" baseline="0" noProof="0" dirty="0">
                <a:ln>
                  <a:noFill/>
                </a:ln>
                <a:solidFill>
                  <a:schemeClr val="tx2"/>
                </a:solidFill>
                <a:effectLst/>
                <a:uLnTx/>
                <a:uFillTx/>
                <a:latin typeface="Verdana"/>
                <a:ea typeface="+mn-ea"/>
                <a:cs typeface="+mn-cs"/>
              </a:rPr>
              <a:t>UPS Healthcare</a:t>
            </a:r>
          </a:p>
        </p:txBody>
      </p:sp>
    </p:spTree>
    <p:extLst>
      <p:ext uri="{BB962C8B-B14F-4D97-AF65-F5344CB8AC3E}">
        <p14:creationId xmlns:p14="http://schemas.microsoft.com/office/powerpoint/2010/main" val="3307203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76909F-3961-A453-D6B5-9D9AB7AC9630}"/>
              </a:ext>
            </a:extLst>
          </p:cNvPr>
          <p:cNvSpPr>
            <a:spLocks noGrp="1"/>
          </p:cNvSpPr>
          <p:nvPr>
            <p:ph type="sldNum" sz="quarter" idx="12"/>
          </p:nvPr>
        </p:nvSpPr>
        <p:spPr/>
        <p:txBody>
          <a:bodyPr/>
          <a:lstStyle/>
          <a:p>
            <a:pPr algn="r"/>
            <a:fld id="{4FA92F45-BA5D-4C7A-ACC7-D44B34072B97}" type="slidenum">
              <a:rPr lang="en-IN" smtClean="0"/>
              <a:pPr algn="r"/>
              <a:t>27</a:t>
            </a:fld>
            <a:endParaRPr lang="en-IN" dirty="0"/>
          </a:p>
        </p:txBody>
      </p:sp>
      <p:sp>
        <p:nvSpPr>
          <p:cNvPr id="3" name="Title 2">
            <a:extLst>
              <a:ext uri="{FF2B5EF4-FFF2-40B4-BE49-F238E27FC236}">
                <a16:creationId xmlns:a16="http://schemas.microsoft.com/office/drawing/2014/main" id="{D15363B8-237E-01C6-ED1A-331B3FC06C6A}"/>
              </a:ext>
            </a:extLst>
          </p:cNvPr>
          <p:cNvSpPr>
            <a:spLocks noGrp="1"/>
          </p:cNvSpPr>
          <p:nvPr>
            <p:ph type="title"/>
          </p:nvPr>
        </p:nvSpPr>
        <p:spPr/>
        <p:txBody>
          <a:bodyPr/>
          <a:lstStyle/>
          <a:p>
            <a:r>
              <a:rPr lang="en-US" dirty="0"/>
              <a:t>NON-CONFORMANCE REVIEW</a:t>
            </a:r>
          </a:p>
        </p:txBody>
      </p:sp>
      <p:sp>
        <p:nvSpPr>
          <p:cNvPr id="4" name="Text Placeholder 3">
            <a:extLst>
              <a:ext uri="{FF2B5EF4-FFF2-40B4-BE49-F238E27FC236}">
                <a16:creationId xmlns:a16="http://schemas.microsoft.com/office/drawing/2014/main" id="{E2D5F43A-0607-CB5A-F992-CC9C448F6052}"/>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6" name="Table 5">
            <a:extLst>
              <a:ext uri="{FF2B5EF4-FFF2-40B4-BE49-F238E27FC236}">
                <a16:creationId xmlns:a16="http://schemas.microsoft.com/office/drawing/2014/main" id="{A40CB85E-4C76-72FA-90A1-06B5AF7802B6}"/>
              </a:ext>
            </a:extLst>
          </p:cNvPr>
          <p:cNvGraphicFramePr>
            <a:graphicFrameLocks noGrp="1"/>
          </p:cNvGraphicFramePr>
          <p:nvPr>
            <p:extLst>
              <p:ext uri="{D42A27DB-BD31-4B8C-83A1-F6EECF244321}">
                <p14:modId xmlns:p14="http://schemas.microsoft.com/office/powerpoint/2010/main" val="944907557"/>
              </p:ext>
            </p:extLst>
          </p:nvPr>
        </p:nvGraphicFramePr>
        <p:xfrm>
          <a:off x="339244" y="1434634"/>
          <a:ext cx="11297788" cy="889000"/>
        </p:xfrm>
        <a:graphic>
          <a:graphicData uri="http://schemas.openxmlformats.org/drawingml/2006/table">
            <a:tbl>
              <a:tblPr firstRow="1" bandRow="1">
                <a:tableStyleId>{5C22544A-7EE6-4342-B048-85BDC9FD1C3A}</a:tableStyleId>
              </a:tblPr>
              <a:tblGrid>
                <a:gridCol w="2824447">
                  <a:extLst>
                    <a:ext uri="{9D8B030D-6E8A-4147-A177-3AD203B41FA5}">
                      <a16:colId xmlns:a16="http://schemas.microsoft.com/office/drawing/2014/main" val="2292273015"/>
                    </a:ext>
                  </a:extLst>
                </a:gridCol>
                <a:gridCol w="2824447">
                  <a:extLst>
                    <a:ext uri="{9D8B030D-6E8A-4147-A177-3AD203B41FA5}">
                      <a16:colId xmlns:a16="http://schemas.microsoft.com/office/drawing/2014/main" val="4250790762"/>
                    </a:ext>
                  </a:extLst>
                </a:gridCol>
                <a:gridCol w="2824447">
                  <a:extLst>
                    <a:ext uri="{9D8B030D-6E8A-4147-A177-3AD203B41FA5}">
                      <a16:colId xmlns:a16="http://schemas.microsoft.com/office/drawing/2014/main" val="732647020"/>
                    </a:ext>
                  </a:extLst>
                </a:gridCol>
                <a:gridCol w="2824447">
                  <a:extLst>
                    <a:ext uri="{9D8B030D-6E8A-4147-A177-3AD203B41FA5}">
                      <a16:colId xmlns:a16="http://schemas.microsoft.com/office/drawing/2014/main" val="1895134228"/>
                    </a:ext>
                  </a:extLst>
                </a:gridCol>
              </a:tblGrid>
              <a:tr h="370840">
                <a:tc>
                  <a:txBody>
                    <a:bodyPr/>
                    <a:lstStyle/>
                    <a:p>
                      <a:r>
                        <a:rPr lang="en-US" sz="1400" dirty="0"/>
                        <a:t>Total NC Initiated 2025</a:t>
                      </a:r>
                    </a:p>
                  </a:txBody>
                  <a:tcPr anchor="ctr">
                    <a:lnB w="12700" cap="flat" cmpd="sng" algn="ctr">
                      <a:solidFill>
                        <a:schemeClr val="tx2">
                          <a:lumMod val="20000"/>
                          <a:lumOff val="80000"/>
                        </a:schemeClr>
                      </a:solidFill>
                      <a:prstDash val="solid"/>
                      <a:round/>
                      <a:headEnd type="none" w="med" len="med"/>
                      <a:tailEnd type="none" w="med" len="med"/>
                    </a:lnB>
                  </a:tcPr>
                </a:tc>
                <a:tc>
                  <a:txBody>
                    <a:bodyPr/>
                    <a:lstStyle/>
                    <a:p>
                      <a:r>
                        <a:rPr lang="en-US" sz="1400" dirty="0"/>
                        <a:t>Total CAPA’s Assigned </a:t>
                      </a:r>
                    </a:p>
                  </a:txBody>
                  <a:tcPr anchor="ctr">
                    <a:lnB w="12700" cap="flat" cmpd="sng" algn="ctr">
                      <a:solidFill>
                        <a:schemeClr val="tx2">
                          <a:lumMod val="20000"/>
                          <a:lumOff val="80000"/>
                        </a:schemeClr>
                      </a:solidFill>
                      <a:prstDash val="solid"/>
                      <a:round/>
                      <a:headEnd type="none" w="med" len="med"/>
                      <a:tailEnd type="none" w="med" len="med"/>
                    </a:lnB>
                  </a:tcPr>
                </a:tc>
                <a:tc>
                  <a:txBody>
                    <a:bodyPr/>
                    <a:lstStyle/>
                    <a:p>
                      <a:r>
                        <a:rPr lang="en-US" sz="1400" dirty="0"/>
                        <a:t>Total CAPAS </a:t>
                      </a:r>
                    </a:p>
                    <a:p>
                      <a:r>
                        <a:rPr lang="en-US" sz="1400" dirty="0"/>
                        <a:t>Closed to Date </a:t>
                      </a:r>
                    </a:p>
                  </a:txBody>
                  <a:tcPr anchor="ctr">
                    <a:lnB w="12700" cap="flat" cmpd="sng" algn="ctr">
                      <a:solidFill>
                        <a:schemeClr val="tx2">
                          <a:lumMod val="20000"/>
                          <a:lumOff val="80000"/>
                        </a:schemeClr>
                      </a:solidFill>
                      <a:prstDash val="solid"/>
                      <a:round/>
                      <a:headEnd type="none" w="med" len="med"/>
                      <a:tailEnd type="none" w="med" len="med"/>
                    </a:lnB>
                  </a:tcPr>
                </a:tc>
                <a:tc>
                  <a:txBody>
                    <a:bodyPr/>
                    <a:lstStyle/>
                    <a:p>
                      <a:r>
                        <a:rPr lang="en-US" sz="1400" dirty="0"/>
                        <a:t>Percent Complete</a:t>
                      </a:r>
                    </a:p>
                  </a:txBody>
                  <a:tcPr anchor="ctr">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2480509163"/>
                  </a:ext>
                </a:extLst>
              </a:tr>
              <a:tr h="370840">
                <a:tc>
                  <a:txBody>
                    <a:bodyPr/>
                    <a:lstStyle/>
                    <a:p>
                      <a:r>
                        <a:rPr lang="en-US" sz="1400" dirty="0">
                          <a:solidFill>
                            <a:schemeClr val="tx2"/>
                          </a:solidFill>
                        </a:rPr>
                        <a:t>2</a:t>
                      </a:r>
                    </a:p>
                  </a:txBody>
                  <a:tcP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r>
                        <a:rPr lang="en-US" sz="1400" dirty="0">
                          <a:solidFill>
                            <a:schemeClr val="tx2"/>
                          </a:solidFill>
                        </a:rPr>
                        <a:t>In progress </a:t>
                      </a:r>
                    </a:p>
                  </a:txBody>
                  <a:tcP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r>
                        <a:rPr lang="en-US" sz="1400" dirty="0">
                          <a:solidFill>
                            <a:schemeClr val="tx2"/>
                          </a:solidFill>
                        </a:rPr>
                        <a:t>In progress </a:t>
                      </a:r>
                    </a:p>
                  </a:txBody>
                  <a:tcP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tc>
                  <a:txBody>
                    <a:bodyPr/>
                    <a:lstStyle/>
                    <a:p>
                      <a:r>
                        <a:rPr lang="en-US" sz="1400" dirty="0">
                          <a:solidFill>
                            <a:schemeClr val="tx2"/>
                          </a:solidFill>
                        </a:rPr>
                        <a:t>N/A</a:t>
                      </a:r>
                    </a:p>
                  </a:txBody>
                  <a:tcP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4051708849"/>
                  </a:ext>
                </a:extLst>
              </a:tr>
            </a:tbl>
          </a:graphicData>
        </a:graphic>
      </p:graphicFrame>
      <p:sp>
        <p:nvSpPr>
          <p:cNvPr id="8" name="TextBox 7">
            <a:extLst>
              <a:ext uri="{FF2B5EF4-FFF2-40B4-BE49-F238E27FC236}">
                <a16:creationId xmlns:a16="http://schemas.microsoft.com/office/drawing/2014/main" id="{742BBA74-4099-0F1F-EBED-F876CCF7A84F}"/>
              </a:ext>
            </a:extLst>
          </p:cNvPr>
          <p:cNvSpPr txBox="1"/>
          <p:nvPr/>
        </p:nvSpPr>
        <p:spPr>
          <a:xfrm>
            <a:off x="294959" y="2440887"/>
            <a:ext cx="11376581" cy="1600438"/>
          </a:xfrm>
          <a:prstGeom prst="rect">
            <a:avLst/>
          </a:prstGeom>
          <a:noFill/>
        </p:spPr>
        <p:txBody>
          <a:bodyPr wrap="square" rtlCol="0">
            <a:spAutoFit/>
          </a:bodyPr>
          <a:lstStyle/>
          <a:p>
            <a:r>
              <a:rPr lang="en-US" sz="1400" dirty="0">
                <a:solidFill>
                  <a:schemeClr val="tx2"/>
                </a:solidFill>
              </a:rPr>
              <a:t>NC-111-00071 (Critical): Missing 6 Units of Nonsaleable Product</a:t>
            </a:r>
          </a:p>
          <a:p>
            <a:pPr lvl="1" indent="-182880">
              <a:buFont typeface="Arial" panose="020B0604020202020204" pitchFamily="34" charset="0"/>
              <a:buChar char="•"/>
            </a:pPr>
            <a:r>
              <a:rPr lang="en-US" sz="1400" b="1" dirty="0">
                <a:solidFill>
                  <a:schemeClr val="tx2"/>
                </a:solidFill>
              </a:rPr>
              <a:t>Investigation is still in progress </a:t>
            </a:r>
          </a:p>
          <a:p>
            <a:pPr lvl="1"/>
            <a:endParaRPr lang="en-US" sz="1400" dirty="0">
              <a:solidFill>
                <a:schemeClr val="tx2"/>
              </a:solidFill>
            </a:endParaRPr>
          </a:p>
          <a:p>
            <a:r>
              <a:rPr lang="en-US" sz="1400" dirty="0">
                <a:solidFill>
                  <a:schemeClr val="tx2"/>
                </a:solidFill>
              </a:rPr>
              <a:t>NC-111-00070 (Major): Hold Order Physically Shipped, but not systematically processed</a:t>
            </a:r>
          </a:p>
          <a:p>
            <a:pPr lvl="1" indent="-182880">
              <a:buFont typeface="Arial" panose="020B0604020202020204" pitchFamily="34" charset="0"/>
              <a:buChar char="•"/>
            </a:pPr>
            <a:r>
              <a:rPr lang="en-US" sz="1400" b="1" dirty="0">
                <a:solidFill>
                  <a:schemeClr val="tx2"/>
                </a:solidFill>
              </a:rPr>
              <a:t>Investigation in still in Progress  </a:t>
            </a:r>
          </a:p>
          <a:p>
            <a:pPr marL="742950" lvl="1" indent="-285750">
              <a:buFont typeface="Arial" panose="020B0604020202020204" pitchFamily="34" charset="0"/>
              <a:buChar char="•"/>
            </a:pPr>
            <a:endParaRPr lang="en-US" sz="1400" dirty="0">
              <a:solidFill>
                <a:schemeClr val="tx2"/>
              </a:solidFill>
            </a:endParaRPr>
          </a:p>
          <a:p>
            <a:endParaRPr lang="en-US" sz="1400" dirty="0">
              <a:solidFill>
                <a:schemeClr val="tx2"/>
              </a:solidFill>
            </a:endParaRPr>
          </a:p>
        </p:txBody>
      </p:sp>
      <p:sp>
        <p:nvSpPr>
          <p:cNvPr id="9" name="Rectangle 8">
            <a:extLst>
              <a:ext uri="{FF2B5EF4-FFF2-40B4-BE49-F238E27FC236}">
                <a16:creationId xmlns:a16="http://schemas.microsoft.com/office/drawing/2014/main" id="{99D21DC9-A0C6-6942-4E40-ED2CCDE93D56}"/>
              </a:ext>
            </a:extLst>
          </p:cNvPr>
          <p:cNvSpPr/>
          <p:nvPr/>
        </p:nvSpPr>
        <p:spPr>
          <a:xfrm>
            <a:off x="8652295" y="232913"/>
            <a:ext cx="2708694"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dirty="0">
                <a:solidFill>
                  <a:schemeClr val="accent1"/>
                </a:solidFill>
              </a:rPr>
              <a:t>EXAMPLE 1</a:t>
            </a:r>
          </a:p>
        </p:txBody>
      </p:sp>
    </p:spTree>
    <p:extLst>
      <p:ext uri="{BB962C8B-B14F-4D97-AF65-F5344CB8AC3E}">
        <p14:creationId xmlns:p14="http://schemas.microsoft.com/office/powerpoint/2010/main" val="30261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1CD1-2AC9-9396-9855-ACF25C95DC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ADE59B-255E-B526-9BD5-A21365284190}"/>
              </a:ext>
            </a:extLst>
          </p:cNvPr>
          <p:cNvSpPr>
            <a:spLocks noGrp="1"/>
          </p:cNvSpPr>
          <p:nvPr>
            <p:ph type="sldNum" sz="quarter" idx="12"/>
          </p:nvPr>
        </p:nvSpPr>
        <p:spPr/>
        <p:txBody>
          <a:bodyPr/>
          <a:lstStyle/>
          <a:p>
            <a:pPr algn="r"/>
            <a:fld id="{4FA92F45-BA5D-4C7A-ACC7-D44B34072B97}" type="slidenum">
              <a:rPr lang="en-IN" smtClean="0"/>
              <a:pPr algn="r"/>
              <a:t>28</a:t>
            </a:fld>
            <a:endParaRPr lang="en-IN" dirty="0"/>
          </a:p>
        </p:txBody>
      </p:sp>
      <p:sp>
        <p:nvSpPr>
          <p:cNvPr id="3" name="Title 2">
            <a:extLst>
              <a:ext uri="{FF2B5EF4-FFF2-40B4-BE49-F238E27FC236}">
                <a16:creationId xmlns:a16="http://schemas.microsoft.com/office/drawing/2014/main" id="{A24D0EF1-AEAC-99F8-752E-D1D77F685480}"/>
              </a:ext>
            </a:extLst>
          </p:cNvPr>
          <p:cNvSpPr>
            <a:spLocks noGrp="1"/>
          </p:cNvSpPr>
          <p:nvPr>
            <p:ph type="title"/>
          </p:nvPr>
        </p:nvSpPr>
        <p:spPr/>
        <p:txBody>
          <a:bodyPr/>
          <a:lstStyle/>
          <a:p>
            <a:r>
              <a:rPr lang="en-US" dirty="0"/>
              <a:t>NON-CONFORMANCE TRACKER</a:t>
            </a:r>
          </a:p>
        </p:txBody>
      </p:sp>
      <p:sp>
        <p:nvSpPr>
          <p:cNvPr id="4" name="Text Placeholder 3">
            <a:extLst>
              <a:ext uri="{FF2B5EF4-FFF2-40B4-BE49-F238E27FC236}">
                <a16:creationId xmlns:a16="http://schemas.microsoft.com/office/drawing/2014/main" id="{95E4AECA-099F-D5D9-655F-C3868072F2E3}"/>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5" name="Table 4">
            <a:extLst>
              <a:ext uri="{FF2B5EF4-FFF2-40B4-BE49-F238E27FC236}">
                <a16:creationId xmlns:a16="http://schemas.microsoft.com/office/drawing/2014/main" id="{32CBB57F-9329-C9C3-09B4-40A1B4C1E756}"/>
              </a:ext>
            </a:extLst>
          </p:cNvPr>
          <p:cNvGraphicFramePr>
            <a:graphicFrameLocks noGrp="1"/>
          </p:cNvGraphicFramePr>
          <p:nvPr>
            <p:extLst>
              <p:ext uri="{D42A27DB-BD31-4B8C-83A1-F6EECF244321}">
                <p14:modId xmlns:p14="http://schemas.microsoft.com/office/powerpoint/2010/main" val="2073423022"/>
              </p:ext>
            </p:extLst>
          </p:nvPr>
        </p:nvGraphicFramePr>
        <p:xfrm>
          <a:off x="363600" y="1285875"/>
          <a:ext cx="11495026" cy="3826114"/>
        </p:xfrm>
        <a:graphic>
          <a:graphicData uri="http://schemas.openxmlformats.org/drawingml/2006/table">
            <a:tbl>
              <a:tblPr firstRow="1" bandRow="1">
                <a:tableStyleId>{5C22544A-7EE6-4342-B048-85BDC9FD1C3A}</a:tableStyleId>
              </a:tblPr>
              <a:tblGrid>
                <a:gridCol w="1357902">
                  <a:extLst>
                    <a:ext uri="{9D8B030D-6E8A-4147-A177-3AD203B41FA5}">
                      <a16:colId xmlns:a16="http://schemas.microsoft.com/office/drawing/2014/main" val="2356655432"/>
                    </a:ext>
                  </a:extLst>
                </a:gridCol>
                <a:gridCol w="1539283">
                  <a:extLst>
                    <a:ext uri="{9D8B030D-6E8A-4147-A177-3AD203B41FA5}">
                      <a16:colId xmlns:a16="http://schemas.microsoft.com/office/drawing/2014/main" val="2746576636"/>
                    </a:ext>
                  </a:extLst>
                </a:gridCol>
                <a:gridCol w="5831457">
                  <a:extLst>
                    <a:ext uri="{9D8B030D-6E8A-4147-A177-3AD203B41FA5}">
                      <a16:colId xmlns:a16="http://schemas.microsoft.com/office/drawing/2014/main" val="2783297203"/>
                    </a:ext>
                  </a:extLst>
                </a:gridCol>
                <a:gridCol w="1383192">
                  <a:extLst>
                    <a:ext uri="{9D8B030D-6E8A-4147-A177-3AD203B41FA5}">
                      <a16:colId xmlns:a16="http://schemas.microsoft.com/office/drawing/2014/main" val="104173865"/>
                    </a:ext>
                  </a:extLst>
                </a:gridCol>
                <a:gridCol w="1383192">
                  <a:extLst>
                    <a:ext uri="{9D8B030D-6E8A-4147-A177-3AD203B41FA5}">
                      <a16:colId xmlns:a16="http://schemas.microsoft.com/office/drawing/2014/main" val="911518846"/>
                    </a:ext>
                  </a:extLst>
                </a:gridCol>
              </a:tblGrid>
              <a:tr h="483446">
                <a:tc>
                  <a:txBody>
                    <a:bodyPr/>
                    <a:lstStyle/>
                    <a:p>
                      <a:pPr algn="ctr"/>
                      <a:r>
                        <a:rPr lang="en-US" sz="1400" dirty="0">
                          <a:latin typeface="+mn-lt"/>
                        </a:rPr>
                        <a:t>Period</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NC#</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Event</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Due Date</a:t>
                      </a:r>
                    </a:p>
                  </a:txBody>
                  <a:tcPr marL="89607" marR="89607" marT="44803" marB="44803"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tc>
                  <a:txBody>
                    <a:bodyPr/>
                    <a:lstStyle/>
                    <a:p>
                      <a:pPr algn="ctr"/>
                      <a:r>
                        <a:rPr lang="en-US" sz="1400" dirty="0">
                          <a:latin typeface="+mn-lt"/>
                        </a:rPr>
                        <a:t>Status</a:t>
                      </a:r>
                    </a:p>
                  </a:txBody>
                  <a:tcPr marL="89607" marR="89607" marT="44803" marB="44803">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tcPr>
                </a:tc>
                <a:extLst>
                  <a:ext uri="{0D108BD9-81ED-4DB2-BD59-A6C34878D82A}">
                    <a16:rowId xmlns:a16="http://schemas.microsoft.com/office/drawing/2014/main" val="2122810747"/>
                  </a:ext>
                </a:extLst>
              </a:tr>
              <a:tr h="477524">
                <a:tc>
                  <a:txBody>
                    <a:bodyPr/>
                    <a:lstStyle/>
                    <a:p>
                      <a:pPr algn="ctr" fontAlgn="t"/>
                      <a:r>
                        <a:rPr lang="en-US" sz="1200" b="0" i="0" u="none" strike="noStrike" dirty="0">
                          <a:solidFill>
                            <a:schemeClr val="tx2"/>
                          </a:solidFill>
                          <a:effectLst/>
                          <a:latin typeface="+mn-lt"/>
                        </a:rPr>
                        <a:t>Q1 2025</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111-00071</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Missing 6 Units of Nonsaleable Product</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r>
                        <a:rPr lang="en-US" sz="1200" b="0" i="0" u="none" strike="noStrike" dirty="0">
                          <a:solidFill>
                            <a:schemeClr val="tx2"/>
                          </a:solidFill>
                          <a:effectLst/>
                          <a:latin typeface="+mn-lt"/>
                        </a:rPr>
                        <a:t>4/10/2025</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b"/>
                      <a:r>
                        <a:rPr lang="en-US" sz="1200" b="0" i="0" u="none" strike="noStrike" dirty="0">
                          <a:solidFill>
                            <a:schemeClr val="tx2"/>
                          </a:solidFill>
                          <a:effectLst/>
                          <a:latin typeface="+mn-lt"/>
                        </a:rPr>
                        <a:t>Complete</a:t>
                      </a: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51558814"/>
                  </a:ext>
                </a:extLst>
              </a:tr>
              <a:tr h="477524">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b"/>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9535600"/>
                  </a:ext>
                </a:extLst>
              </a:tr>
              <a:tr h="477524">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31505856"/>
                  </a:ext>
                </a:extLst>
              </a:tr>
              <a:tr h="477524">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69623063"/>
                  </a:ext>
                </a:extLst>
              </a:tr>
              <a:tr h="477524">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3243404"/>
                  </a:ext>
                </a:extLst>
              </a:tr>
              <a:tr h="477524">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34317397"/>
                  </a:ext>
                </a:extLst>
              </a:tr>
              <a:tr h="477524">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l"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tc>
                  <a:txBody>
                    <a:bodyPr/>
                    <a:lstStyle/>
                    <a:p>
                      <a:pPr algn="ctr" fontAlgn="t"/>
                      <a:endParaRPr lang="en-US" sz="1200" b="0" i="0" u="none" strike="noStrike" dirty="0">
                        <a:solidFill>
                          <a:schemeClr val="tx2"/>
                        </a:solidFill>
                        <a:effectLst/>
                        <a:latin typeface="+mn-lt"/>
                      </a:endParaRPr>
                    </a:p>
                  </a:txBody>
                  <a:tcPr marL="0" marR="0" marT="0" marB="0"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267994"/>
                  </a:ext>
                </a:extLst>
              </a:tr>
            </a:tbl>
          </a:graphicData>
        </a:graphic>
      </p:graphicFrame>
      <p:sp>
        <p:nvSpPr>
          <p:cNvPr id="6" name="Rectangle 5">
            <a:extLst>
              <a:ext uri="{FF2B5EF4-FFF2-40B4-BE49-F238E27FC236}">
                <a16:creationId xmlns:a16="http://schemas.microsoft.com/office/drawing/2014/main" id="{6BD6A2EC-6A1E-593C-D34B-3D74DF4A133E}"/>
              </a:ext>
            </a:extLst>
          </p:cNvPr>
          <p:cNvSpPr/>
          <p:nvPr/>
        </p:nvSpPr>
        <p:spPr>
          <a:xfrm>
            <a:off x="8652295" y="232913"/>
            <a:ext cx="2708694"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rPr>
              <a:t>Required content</a:t>
            </a:r>
          </a:p>
          <a:p>
            <a:pPr algn="ctr"/>
            <a:r>
              <a:rPr lang="en-US" sz="1400" dirty="0">
                <a:solidFill>
                  <a:schemeClr val="accent1"/>
                </a:solidFill>
              </a:rPr>
              <a:t>EXAMPLE 2</a:t>
            </a:r>
          </a:p>
        </p:txBody>
      </p:sp>
      <p:sp>
        <p:nvSpPr>
          <p:cNvPr id="7" name="Flowchart: Connector 6">
            <a:extLst>
              <a:ext uri="{FF2B5EF4-FFF2-40B4-BE49-F238E27FC236}">
                <a16:creationId xmlns:a16="http://schemas.microsoft.com/office/drawing/2014/main" id="{771D072E-C2E7-02AF-0C31-CE9200C5A153}"/>
              </a:ext>
            </a:extLst>
          </p:cNvPr>
          <p:cNvSpPr/>
          <p:nvPr/>
        </p:nvSpPr>
        <p:spPr>
          <a:xfrm>
            <a:off x="10791649" y="1552755"/>
            <a:ext cx="182880" cy="182880"/>
          </a:xfrm>
          <a:prstGeom prst="flowChartConnector">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37BBACED-BCB3-C6D9-9C5F-6665B27802B6}"/>
              </a:ext>
            </a:extLst>
          </p:cNvPr>
          <p:cNvSpPr/>
          <p:nvPr/>
        </p:nvSpPr>
        <p:spPr>
          <a:xfrm>
            <a:off x="11094865" y="1547004"/>
            <a:ext cx="182880" cy="182880"/>
          </a:xfrm>
          <a:prstGeom prst="flowChartConnector">
            <a:avLst/>
          </a:prstGeom>
          <a:solidFill>
            <a:srgbClr val="FFC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B956C7A6-08CE-F0B4-CD22-B93C2A197BC9}"/>
              </a:ext>
            </a:extLst>
          </p:cNvPr>
          <p:cNvSpPr/>
          <p:nvPr/>
        </p:nvSpPr>
        <p:spPr>
          <a:xfrm>
            <a:off x="11375370" y="1549879"/>
            <a:ext cx="182880" cy="182880"/>
          </a:xfrm>
          <a:prstGeom prst="flowChartConnector">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0630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1"/>
            <a:ext cx="12191999" cy="6248401"/>
          </a:xfrm>
          <a:prstGeom prst="rect">
            <a:avLst/>
          </a:prstGeom>
        </p:spPr>
      </p:pic>
      <p:sp>
        <p:nvSpPr>
          <p:cNvPr id="7" name="Rectangle 6">
            <a:extLst>
              <a:ext uri="{FF2B5EF4-FFF2-40B4-BE49-F238E27FC236}">
                <a16:creationId xmlns:a16="http://schemas.microsoft.com/office/drawing/2014/main" id="{9871E957-0AAA-4AA8-8624-A9ED278E9785}"/>
              </a:ext>
            </a:extLst>
          </p:cNvPr>
          <p:cNvSpPr/>
          <p:nvPr/>
        </p:nvSpPr>
        <p:spPr>
          <a:xfrm>
            <a:off x="0" y="1"/>
            <a:ext cx="12192000" cy="62484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sp>
        <p:nvSpPr>
          <p:cNvPr id="5" name="Title 4">
            <a:extLst>
              <a:ext uri="{FF2B5EF4-FFF2-40B4-BE49-F238E27FC236}">
                <a16:creationId xmlns:a16="http://schemas.microsoft.com/office/drawing/2014/main" id="{C57B52E8-60F5-415E-80C9-BDF6A0DD20FB}"/>
              </a:ext>
            </a:extLst>
          </p:cNvPr>
          <p:cNvSpPr>
            <a:spLocks noGrp="1"/>
          </p:cNvSpPr>
          <p:nvPr>
            <p:ph type="title"/>
          </p:nvPr>
        </p:nvSpPr>
        <p:spPr/>
        <p:txBody>
          <a:bodyPr/>
          <a:lstStyle/>
          <a:p>
            <a:r>
              <a:rPr lang="en-US" dirty="0">
                <a:solidFill>
                  <a:schemeClr val="bg1"/>
                </a:solidFill>
              </a:rPr>
              <a:t>NEXT STEPS</a:t>
            </a:r>
          </a:p>
        </p:txBody>
      </p:sp>
      <p:sp>
        <p:nvSpPr>
          <p:cNvPr id="10" name="Slide Number Placeholder 5">
            <a:extLst>
              <a:ext uri="{FF2B5EF4-FFF2-40B4-BE49-F238E27FC236}">
                <a16:creationId xmlns:a16="http://schemas.microsoft.com/office/drawing/2014/main" id="{E6CCD586-26C0-4B19-AA77-AA798E5864B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A92F45-BA5D-4C7A-ACC7-D44B34072B97}" type="slidenum">
              <a:rPr kumimoji="0" lang="en-IN" sz="750" b="0" i="0" u="none" strike="noStrike" kern="1200" cap="none" spc="0" normalizeH="0" baseline="0" noProof="0" smtClean="0">
                <a:ln>
                  <a:noFill/>
                </a:ln>
                <a:solidFill>
                  <a:srgbClr val="595555"/>
                </a:solidFill>
                <a:effectLst/>
                <a:uLnTx/>
                <a:uFillTx/>
                <a:latin typeface="Verdana" panose="020B060403050404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750" b="0" i="0" u="none" strike="noStrike" kern="1200" cap="none" spc="0" normalizeH="0" baseline="0" noProof="0" dirty="0">
              <a:ln>
                <a:noFill/>
              </a:ln>
              <a:solidFill>
                <a:srgbClr val="595555"/>
              </a:solidFill>
              <a:effectLst/>
              <a:uLnTx/>
              <a:uFillTx/>
              <a:latin typeface="Verdana" panose="020B0604030504040204" pitchFamily="34" charset="0"/>
              <a:ea typeface="+mn-ea"/>
              <a:cs typeface="+mn-cs"/>
            </a:endParaRPr>
          </a:p>
        </p:txBody>
      </p:sp>
      <p:pic>
        <p:nvPicPr>
          <p:cNvPr id="8" name="Picture 7">
            <a:extLst>
              <a:ext uri="{FF2B5EF4-FFF2-40B4-BE49-F238E27FC236}">
                <a16:creationId xmlns:a16="http://schemas.microsoft.com/office/drawing/2014/main" id="{9E51AD05-A860-48C4-A7B6-4EE9EA43A854}"/>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40509" y="1109979"/>
            <a:ext cx="2986579" cy="3063871"/>
          </a:xfrm>
          <a:prstGeom prst="rect">
            <a:avLst/>
          </a:prstGeom>
        </p:spPr>
      </p:pic>
    </p:spTree>
    <p:extLst>
      <p:ext uri="{BB962C8B-B14F-4D97-AF65-F5344CB8AC3E}">
        <p14:creationId xmlns:p14="http://schemas.microsoft.com/office/powerpoint/2010/main" val="70331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570CA-3035-4918-8D9B-3E577C196736}"/>
              </a:ext>
            </a:extLst>
          </p:cNvPr>
          <p:cNvSpPr>
            <a:spLocks noGrp="1"/>
          </p:cNvSpPr>
          <p:nvPr>
            <p:ph type="title"/>
          </p:nvPr>
        </p:nvSpPr>
        <p:spPr/>
        <p:txBody>
          <a:bodyPr/>
          <a:lstStyle/>
          <a:p>
            <a:r>
              <a:rPr lang="en-US" dirty="0"/>
              <a:t>NEXT STEPS</a:t>
            </a:r>
          </a:p>
        </p:txBody>
      </p:sp>
      <p:graphicFrame>
        <p:nvGraphicFramePr>
          <p:cNvPr id="6" name="Table 8">
            <a:extLst>
              <a:ext uri="{FF2B5EF4-FFF2-40B4-BE49-F238E27FC236}">
                <a16:creationId xmlns:a16="http://schemas.microsoft.com/office/drawing/2014/main" id="{7418EA19-EBCD-4D35-9173-B590D2591559}"/>
              </a:ext>
            </a:extLst>
          </p:cNvPr>
          <p:cNvGraphicFramePr>
            <a:graphicFrameLocks noGrp="1"/>
          </p:cNvGraphicFramePr>
          <p:nvPr>
            <p:extLst>
              <p:ext uri="{D42A27DB-BD31-4B8C-83A1-F6EECF244321}">
                <p14:modId xmlns:p14="http://schemas.microsoft.com/office/powerpoint/2010/main" val="3045872650"/>
              </p:ext>
            </p:extLst>
          </p:nvPr>
        </p:nvGraphicFramePr>
        <p:xfrm>
          <a:off x="357188" y="1763579"/>
          <a:ext cx="6032037" cy="3499192"/>
        </p:xfrm>
        <a:graphic>
          <a:graphicData uri="http://schemas.openxmlformats.org/drawingml/2006/table">
            <a:tbl>
              <a:tblPr firstRow="1" bandRow="1">
                <a:tableStyleId>{5C22544A-7EE6-4342-B048-85BDC9FD1C3A}</a:tableStyleId>
              </a:tblPr>
              <a:tblGrid>
                <a:gridCol w="3751825">
                  <a:extLst>
                    <a:ext uri="{9D8B030D-6E8A-4147-A177-3AD203B41FA5}">
                      <a16:colId xmlns:a16="http://schemas.microsoft.com/office/drawing/2014/main" val="2147793475"/>
                    </a:ext>
                  </a:extLst>
                </a:gridCol>
                <a:gridCol w="2280212">
                  <a:extLst>
                    <a:ext uri="{9D8B030D-6E8A-4147-A177-3AD203B41FA5}">
                      <a16:colId xmlns:a16="http://schemas.microsoft.com/office/drawing/2014/main" val="1272929527"/>
                    </a:ext>
                  </a:extLst>
                </a:gridCol>
              </a:tblGrid>
              <a:tr h="874798">
                <a:tc>
                  <a:txBody>
                    <a:bodyPr/>
                    <a:lstStyle/>
                    <a:p>
                      <a:pPr marL="285750" marR="0" lvl="0" indent="-285750" algn="l" defTabSz="685800" rtl="0" eaLnBrk="1" fontAlgn="auto" latinLnBrk="0" hangingPunct="1">
                        <a:lnSpc>
                          <a:spcPct val="150000"/>
                        </a:lnSpc>
                        <a:spcBef>
                          <a:spcPts val="0"/>
                        </a:spcBef>
                        <a:spcAft>
                          <a:spcPts val="600"/>
                        </a:spcAft>
                        <a:buClr>
                          <a:schemeClr val="tx2"/>
                        </a:buClr>
                        <a:buSzPts val="1600"/>
                        <a:buFont typeface="Arial" panose="020B0604020202020204" pitchFamily="34" charset="0"/>
                        <a:buChar char=""/>
                        <a:tabLst/>
                        <a:defRPr/>
                      </a:pPr>
                      <a:r>
                        <a:rPr lang="en-US" sz="1400" b="0" kern="1200" dirty="0">
                          <a:solidFill>
                            <a:schemeClr val="tx2"/>
                          </a:solidFill>
                          <a:latin typeface="Verdana" panose="020B0604030504040204" pitchFamily="34" charset="0"/>
                          <a:ea typeface="+mn-ea"/>
                          <a:cs typeface="+mn-cs"/>
                        </a:rPr>
                        <a:t>Step 1 description here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1" dirty="0">
                          <a:solidFill>
                            <a:schemeClr val="tx2"/>
                          </a:solidFill>
                          <a:latin typeface="Verdana" panose="020B0604030504040204" pitchFamily="34" charset="0"/>
                        </a:rPr>
                        <a:t>Date (Optional)</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5332018"/>
                  </a:ext>
                </a:extLst>
              </a:tr>
              <a:tr h="874798">
                <a:tc>
                  <a:txBody>
                    <a:bodyPr/>
                    <a:lstStyle/>
                    <a:p>
                      <a:pPr marL="285750" marR="0" lvl="0" indent="-285750" algn="l" defTabSz="685800" rtl="0" eaLnBrk="1" fontAlgn="auto" latinLnBrk="0" hangingPunct="1">
                        <a:lnSpc>
                          <a:spcPct val="150000"/>
                        </a:lnSpc>
                        <a:spcBef>
                          <a:spcPts val="0"/>
                        </a:spcBef>
                        <a:spcAft>
                          <a:spcPts val="600"/>
                        </a:spcAft>
                        <a:buClr>
                          <a:schemeClr val="tx2"/>
                        </a:buClr>
                        <a:buSzPts val="1600"/>
                        <a:buFont typeface="Arial" panose="020B0604020202020204" pitchFamily="34" charset="0"/>
                        <a:buChar char=""/>
                        <a:tabLst/>
                        <a:defRPr/>
                      </a:pPr>
                      <a:r>
                        <a:rPr lang="en-US" sz="1400" b="0" kern="1200" noProof="0" dirty="0">
                          <a:solidFill>
                            <a:schemeClr val="tx2"/>
                          </a:solidFill>
                          <a:latin typeface="Verdana" panose="020B0604030504040204" pitchFamily="34" charset="0"/>
                          <a:ea typeface="+mn-ea"/>
                          <a:cs typeface="+mn-cs"/>
                        </a:rPr>
                        <a:t>Step 2 description here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chemeClr val="tx2"/>
                          </a:solidFill>
                          <a:effectLst/>
                          <a:uLnTx/>
                          <a:uFillTx/>
                          <a:latin typeface="Verdana" panose="020B0604030504040204" pitchFamily="34" charset="0"/>
                          <a:ea typeface="+mn-ea"/>
                          <a:cs typeface="+mn-cs"/>
                        </a:rPr>
                        <a:t>Date (Optional)</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809467"/>
                  </a:ext>
                </a:extLst>
              </a:tr>
              <a:tr h="874798">
                <a:tc>
                  <a:txBody>
                    <a:bodyPr/>
                    <a:lstStyle/>
                    <a:p>
                      <a:pPr marL="285750" marR="0" lvl="0" indent="-285750" algn="l" defTabSz="685800" rtl="0" eaLnBrk="1" fontAlgn="auto" latinLnBrk="0" hangingPunct="1">
                        <a:lnSpc>
                          <a:spcPct val="150000"/>
                        </a:lnSpc>
                        <a:spcBef>
                          <a:spcPts val="0"/>
                        </a:spcBef>
                        <a:spcAft>
                          <a:spcPts val="600"/>
                        </a:spcAft>
                        <a:buClr>
                          <a:schemeClr val="tx2"/>
                        </a:buClr>
                        <a:buSzPts val="1600"/>
                        <a:buFont typeface="Arial" panose="020B0604020202020204" pitchFamily="34" charset="0"/>
                        <a:buChar char=""/>
                        <a:tabLst/>
                        <a:defRPr/>
                      </a:pPr>
                      <a:r>
                        <a:rPr lang="en-US" sz="1400" b="0" kern="1200" noProof="0" dirty="0">
                          <a:solidFill>
                            <a:schemeClr val="tx2"/>
                          </a:solidFill>
                          <a:latin typeface="Verdana" panose="020B0604030504040204" pitchFamily="34" charset="0"/>
                          <a:ea typeface="+mn-ea"/>
                          <a:cs typeface="+mn-cs"/>
                        </a:rPr>
                        <a:t>Step 3 description here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chemeClr val="tx2"/>
                          </a:solidFill>
                          <a:effectLst/>
                          <a:uLnTx/>
                          <a:uFillTx/>
                          <a:latin typeface="Verdana" panose="020B0604030504040204" pitchFamily="34" charset="0"/>
                          <a:ea typeface="+mn-ea"/>
                          <a:cs typeface="+mn-cs"/>
                        </a:rPr>
                        <a:t>Date (Optional)</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0937556"/>
                  </a:ext>
                </a:extLst>
              </a:tr>
              <a:tr h="874798">
                <a:tc>
                  <a:txBody>
                    <a:bodyPr/>
                    <a:lstStyle/>
                    <a:p>
                      <a:pPr marL="285750" marR="0" lvl="0" indent="-285750" algn="l" defTabSz="685800" rtl="0" eaLnBrk="1" fontAlgn="auto" latinLnBrk="0" hangingPunct="1">
                        <a:lnSpc>
                          <a:spcPct val="150000"/>
                        </a:lnSpc>
                        <a:spcBef>
                          <a:spcPts val="0"/>
                        </a:spcBef>
                        <a:spcAft>
                          <a:spcPts val="600"/>
                        </a:spcAft>
                        <a:buClr>
                          <a:schemeClr val="tx2"/>
                        </a:buClr>
                        <a:buSzPts val="1600"/>
                        <a:buFont typeface="Arial" panose="020B0604020202020204" pitchFamily="34" charset="0"/>
                        <a:buChar char=""/>
                        <a:tabLst/>
                        <a:defRPr/>
                      </a:pPr>
                      <a:r>
                        <a:rPr lang="en-US" sz="1400" b="0" kern="1200" noProof="0" dirty="0">
                          <a:solidFill>
                            <a:schemeClr val="tx2"/>
                          </a:solidFill>
                          <a:latin typeface="Verdana" panose="020B0604030504040204" pitchFamily="34" charset="0"/>
                          <a:ea typeface="+mn-ea"/>
                          <a:cs typeface="+mn-cs"/>
                        </a:rPr>
                        <a:t>Step 4 description here</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chemeClr val="tx2"/>
                          </a:solidFill>
                          <a:effectLst/>
                          <a:uLnTx/>
                          <a:uFillTx/>
                          <a:latin typeface="Verdana" panose="020B0604030504040204" pitchFamily="34" charset="0"/>
                          <a:ea typeface="+mn-ea"/>
                          <a:cs typeface="+mn-cs"/>
                        </a:rPr>
                        <a:t>Date (Optional)</a:t>
                      </a:r>
                    </a:p>
                  </a:txBody>
                  <a:tcPr anchor="ctr">
                    <a:lnL w="12700" cap="flat" cmpd="sng" algn="ctr">
                      <a:solidFill>
                        <a:schemeClr val="tx2">
                          <a:lumMod val="20000"/>
                          <a:lumOff val="80000"/>
                        </a:schemeClr>
                      </a:solidFill>
                      <a:prstDash val="solid"/>
                      <a:round/>
                      <a:headEnd type="none" w="med" len="med"/>
                      <a:tailEnd type="none" w="med" len="med"/>
                    </a:lnL>
                    <a:lnR w="12700" cap="flat" cmpd="sng" algn="ctr">
                      <a:solidFill>
                        <a:schemeClr val="tx2">
                          <a:lumMod val="20000"/>
                          <a:lumOff val="80000"/>
                        </a:schemeClr>
                      </a:solidFill>
                      <a:prstDash val="solid"/>
                      <a:round/>
                      <a:headEnd type="none" w="med" len="med"/>
                      <a:tailEnd type="none" w="med" len="med"/>
                    </a:lnR>
                    <a:lnT w="12700" cap="flat" cmpd="sng" algn="ctr">
                      <a:solidFill>
                        <a:schemeClr val="tx2">
                          <a:lumMod val="20000"/>
                          <a:lumOff val="80000"/>
                        </a:schemeClr>
                      </a:solidFill>
                      <a:prstDash val="solid"/>
                      <a:round/>
                      <a:headEnd type="none" w="med" len="med"/>
                      <a:tailEnd type="none" w="med" len="med"/>
                    </a:lnT>
                    <a:lnB w="12700" cap="flat" cmpd="sng" algn="ctr">
                      <a:solidFill>
                        <a:schemeClr val="tx2">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5529384"/>
                  </a:ext>
                </a:extLst>
              </a:tr>
            </a:tbl>
          </a:graphicData>
        </a:graphic>
      </p:graphicFrame>
      <p:sp>
        <p:nvSpPr>
          <p:cNvPr id="10" name="Slide Number Placeholder 9">
            <a:extLst>
              <a:ext uri="{FF2B5EF4-FFF2-40B4-BE49-F238E27FC236}">
                <a16:creationId xmlns:a16="http://schemas.microsoft.com/office/drawing/2014/main" id="{069B3C2B-29CF-4FF5-8713-2FCBA0B1AD8C}"/>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30</a:t>
            </a:fld>
            <a:endParaRPr lang="en-IN" dirty="0">
              <a:solidFill>
                <a:srgbClr val="8C8585"/>
              </a:solidFill>
            </a:endParaRPr>
          </a:p>
        </p:txBody>
      </p:sp>
      <p:sp>
        <p:nvSpPr>
          <p:cNvPr id="8" name="Graphic 2">
            <a:extLst>
              <a:ext uri="{FF2B5EF4-FFF2-40B4-BE49-F238E27FC236}">
                <a16:creationId xmlns:a16="http://schemas.microsoft.com/office/drawing/2014/main" id="{0F18FD99-CCBF-4D69-B568-6116938C7611}"/>
              </a:ext>
            </a:extLst>
          </p:cNvPr>
          <p:cNvSpPr>
            <a:spLocks/>
          </p:cNvSpPr>
          <p:nvPr/>
        </p:nvSpPr>
        <p:spPr>
          <a:xfrm flipH="1">
            <a:off x="7620000" y="-28135"/>
            <a:ext cx="4571997" cy="6276535"/>
          </a:xfrm>
          <a:custGeom>
            <a:avLst/>
            <a:gdLst>
              <a:gd name="connsiteX0" fmla="*/ 4050697 w 4050696"/>
              <a:gd name="connsiteY0" fmla="*/ 3763613 h 5144071"/>
              <a:gd name="connsiteX1" fmla="*/ 4050697 w 4050696"/>
              <a:gd name="connsiteY1" fmla="*/ 3763613 h 5144071"/>
              <a:gd name="connsiteX2" fmla="*/ 3370421 w 4050696"/>
              <a:gd name="connsiteY2" fmla="*/ 0 h 5144071"/>
              <a:gd name="connsiteX3" fmla="*/ 0 w 4050696"/>
              <a:gd name="connsiteY3" fmla="*/ 0 h 5144071"/>
              <a:gd name="connsiteX4" fmla="*/ 0 w 4050696"/>
              <a:gd name="connsiteY4" fmla="*/ 5144072 h 5144071"/>
              <a:gd name="connsiteX5" fmla="*/ 3986689 w 4050696"/>
              <a:gd name="connsiteY5" fmla="*/ 5144072 h 5144071"/>
              <a:gd name="connsiteX6" fmla="*/ 4050697 w 4050696"/>
              <a:gd name="connsiteY6" fmla="*/ 3763613 h 5144071"/>
              <a:gd name="connsiteX7" fmla="*/ 4050697 w 4050696"/>
              <a:gd name="connsiteY7" fmla="*/ 3763613 h 5144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50696" h="5144071">
                <a:moveTo>
                  <a:pt x="4050697" y="3763613"/>
                </a:moveTo>
                <a:lnTo>
                  <a:pt x="4050697" y="3763613"/>
                </a:lnTo>
                <a:cubicBezTo>
                  <a:pt x="4050697" y="2523744"/>
                  <a:pt x="3885629" y="1227296"/>
                  <a:pt x="3370421" y="0"/>
                </a:cubicBezTo>
                <a:lnTo>
                  <a:pt x="0" y="0"/>
                </a:lnTo>
                <a:lnTo>
                  <a:pt x="0" y="5144072"/>
                </a:lnTo>
                <a:lnTo>
                  <a:pt x="3986689" y="5144072"/>
                </a:lnTo>
                <a:cubicBezTo>
                  <a:pt x="4009263" y="4817840"/>
                  <a:pt x="4050697" y="4157091"/>
                  <a:pt x="4050697" y="3763613"/>
                </a:cubicBezTo>
                <a:lnTo>
                  <a:pt x="4050697" y="3763613"/>
                </a:lnTo>
                <a:close/>
              </a:path>
            </a:pathLst>
          </a:custGeom>
          <a:blipFill dpi="0" rotWithShape="0">
            <a:blip r:embed="rId3" cstate="screen">
              <a:extLst>
                <a:ext uri="{28A0092B-C50C-407E-A947-70E740481C1C}">
                  <a14:useLocalDpi xmlns:a14="http://schemas.microsoft.com/office/drawing/2010/main"/>
                </a:ext>
              </a:extLst>
            </a:blip>
            <a:srcRect/>
            <a:stretch>
              <a:fillRect/>
            </a:stretch>
          </a:blip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158378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small, little, flying, kite&#10;&#10;Description automatically generated">
            <a:extLst>
              <a:ext uri="{FF2B5EF4-FFF2-40B4-BE49-F238E27FC236}">
                <a16:creationId xmlns:a16="http://schemas.microsoft.com/office/drawing/2014/main" id="{C2A5694D-7A87-43ED-A471-B47C6228D84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3" name="Rectangle 2">
            <a:extLst>
              <a:ext uri="{FF2B5EF4-FFF2-40B4-BE49-F238E27FC236}">
                <a16:creationId xmlns:a16="http://schemas.microsoft.com/office/drawing/2014/main" id="{C04B7C16-7FC1-4F70-9DD3-5A9A24753B9C}"/>
              </a:ext>
            </a:extLst>
          </p:cNvPr>
          <p:cNvSpPr/>
          <p:nvPr/>
        </p:nvSpPr>
        <p:spPr>
          <a:xfrm>
            <a:off x="0" y="0"/>
            <a:ext cx="12192000" cy="6858000"/>
          </a:xfrm>
          <a:prstGeom prst="rect">
            <a:avLst/>
          </a:prstGeom>
          <a:solidFill>
            <a:srgbClr val="0E2554">
              <a:alpha val="7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grpSp>
        <p:nvGrpSpPr>
          <p:cNvPr id="5" name="Group 4">
            <a:extLst>
              <a:ext uri="{FF2B5EF4-FFF2-40B4-BE49-F238E27FC236}">
                <a16:creationId xmlns:a16="http://schemas.microsoft.com/office/drawing/2014/main" id="{19859FE6-674F-4852-ADE9-B870E63D0D9E}"/>
              </a:ext>
            </a:extLst>
          </p:cNvPr>
          <p:cNvGrpSpPr/>
          <p:nvPr/>
        </p:nvGrpSpPr>
        <p:grpSpPr>
          <a:xfrm>
            <a:off x="-83058" y="-415704"/>
            <a:ext cx="3897332" cy="2683432"/>
            <a:chOff x="-83058" y="-415704"/>
            <a:chExt cx="3897332" cy="2683432"/>
          </a:xfrm>
        </p:grpSpPr>
        <p:sp>
          <p:nvSpPr>
            <p:cNvPr id="6" name="Hexagon 5">
              <a:extLst>
                <a:ext uri="{FF2B5EF4-FFF2-40B4-BE49-F238E27FC236}">
                  <a16:creationId xmlns:a16="http://schemas.microsoft.com/office/drawing/2014/main" id="{01E3E8BA-003B-43E9-8BE4-DD6E6444C2E4}"/>
                </a:ext>
              </a:extLst>
            </p:cNvPr>
            <p:cNvSpPr/>
            <p:nvPr/>
          </p:nvSpPr>
          <p:spPr>
            <a:xfrm rot="16200000">
              <a:off x="-128314" y="1656764"/>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7" name="Hexagon 6">
              <a:extLst>
                <a:ext uri="{FF2B5EF4-FFF2-40B4-BE49-F238E27FC236}">
                  <a16:creationId xmlns:a16="http://schemas.microsoft.com/office/drawing/2014/main" id="{69F3EDB2-3814-4874-8CC1-D631C8011FFB}"/>
                </a:ext>
              </a:extLst>
            </p:cNvPr>
            <p:cNvSpPr/>
            <p:nvPr/>
          </p:nvSpPr>
          <p:spPr>
            <a:xfrm rot="16200000">
              <a:off x="603207" y="1656765"/>
              <a:ext cx="656218" cy="565705"/>
            </a:xfrm>
            <a:prstGeom prst="hexagon">
              <a:avLst/>
            </a:prstGeom>
            <a:solidFill>
              <a:srgbClr val="0E2554">
                <a:alpha val="53000"/>
              </a:srgbClr>
            </a:solidFill>
            <a:ln w="12700" cap="flat" cmpd="sng" algn="ctr">
              <a:solidFill>
                <a:srgbClr val="426EB7">
                  <a:alpha val="47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8" name="Hexagon 7">
              <a:extLst>
                <a:ext uri="{FF2B5EF4-FFF2-40B4-BE49-F238E27FC236}">
                  <a16:creationId xmlns:a16="http://schemas.microsoft.com/office/drawing/2014/main" id="{281AF735-5EC4-4BEC-9178-C7AECD1FE1FD}"/>
                </a:ext>
              </a:extLst>
            </p:cNvPr>
            <p:cNvSpPr/>
            <p:nvPr/>
          </p:nvSpPr>
          <p:spPr>
            <a:xfrm rot="16200000">
              <a:off x="220821" y="1024999"/>
              <a:ext cx="656218" cy="565705"/>
            </a:xfrm>
            <a:prstGeom prst="hexagon">
              <a:avLst/>
            </a:prstGeom>
            <a:solidFill>
              <a:srgbClr val="FFFFFF">
                <a:alpha val="18000"/>
              </a:srgbClr>
            </a:solidFill>
            <a:ln w="12700" cap="flat" cmpd="sng" algn="ctr">
              <a:solidFill>
                <a:srgbClr val="426EB7">
                  <a:alpha val="56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9" name="Hexagon 8">
              <a:extLst>
                <a:ext uri="{FF2B5EF4-FFF2-40B4-BE49-F238E27FC236}">
                  <a16:creationId xmlns:a16="http://schemas.microsoft.com/office/drawing/2014/main" id="{683A5CA8-1642-4E20-8751-B94A71ABC224}"/>
                </a:ext>
              </a:extLst>
            </p:cNvPr>
            <p:cNvSpPr/>
            <p:nvPr/>
          </p:nvSpPr>
          <p:spPr>
            <a:xfrm rot="16200000">
              <a:off x="975502" y="1024998"/>
              <a:ext cx="656218" cy="565705"/>
            </a:xfrm>
            <a:prstGeom prst="hexagon">
              <a:avLst/>
            </a:prstGeom>
            <a:solidFill>
              <a:srgbClr val="0E2554">
                <a:alpha val="0"/>
              </a:srgbClr>
            </a:solidFill>
            <a:ln w="12700" cap="flat" cmpd="sng" algn="ctr">
              <a:solidFill>
                <a:srgbClr val="426EB7">
                  <a:alpha val="52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0" name="Hexagon 9">
              <a:extLst>
                <a:ext uri="{FF2B5EF4-FFF2-40B4-BE49-F238E27FC236}">
                  <a16:creationId xmlns:a16="http://schemas.microsoft.com/office/drawing/2014/main" id="{CA9C0687-5970-44D4-AA7B-941416999C84}"/>
                </a:ext>
              </a:extLst>
            </p:cNvPr>
            <p:cNvSpPr/>
            <p:nvPr/>
          </p:nvSpPr>
          <p:spPr>
            <a:xfrm rot="16200000">
              <a:off x="1707023" y="1024999"/>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1" name="Hexagon 10">
              <a:extLst>
                <a:ext uri="{FF2B5EF4-FFF2-40B4-BE49-F238E27FC236}">
                  <a16:creationId xmlns:a16="http://schemas.microsoft.com/office/drawing/2014/main" id="{B150E8E2-33EA-401A-A77C-8C45BC796BAA}"/>
                </a:ext>
              </a:extLst>
            </p:cNvPr>
            <p:cNvSpPr/>
            <p:nvPr/>
          </p:nvSpPr>
          <p:spPr>
            <a:xfrm rot="16200000">
              <a:off x="1324637" y="393233"/>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2" name="Hexagon 11">
              <a:extLst>
                <a:ext uri="{FF2B5EF4-FFF2-40B4-BE49-F238E27FC236}">
                  <a16:creationId xmlns:a16="http://schemas.microsoft.com/office/drawing/2014/main" id="{250BACD7-F594-4CD2-BD2C-0717A6F9DDDF}"/>
                </a:ext>
              </a:extLst>
            </p:cNvPr>
            <p:cNvSpPr/>
            <p:nvPr/>
          </p:nvSpPr>
          <p:spPr>
            <a:xfrm rot="16200000">
              <a:off x="2099497" y="1656766"/>
              <a:ext cx="656218" cy="565705"/>
            </a:xfrm>
            <a:prstGeom prst="hexagon">
              <a:avLst/>
            </a:prstGeom>
            <a:solidFill>
              <a:srgbClr val="FFFFFF">
                <a:alpha val="1200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3" name="Hexagon 12">
              <a:extLst>
                <a:ext uri="{FF2B5EF4-FFF2-40B4-BE49-F238E27FC236}">
                  <a16:creationId xmlns:a16="http://schemas.microsoft.com/office/drawing/2014/main" id="{688A62E9-C7B3-4509-A97A-F6D786C8ED48}"/>
                </a:ext>
              </a:extLst>
            </p:cNvPr>
            <p:cNvSpPr/>
            <p:nvPr/>
          </p:nvSpPr>
          <p:spPr>
            <a:xfrm rot="16200000">
              <a:off x="2471792" y="1024999"/>
              <a:ext cx="656218" cy="565705"/>
            </a:xfrm>
            <a:prstGeom prst="hexagon">
              <a:avLst/>
            </a:prstGeom>
            <a:solidFill>
              <a:srgbClr val="0E2554">
                <a:alpha val="0"/>
              </a:srgbClr>
            </a:solidFill>
            <a:ln w="12700" cap="flat" cmpd="sng" algn="ctr">
              <a:solidFill>
                <a:srgbClr val="426EB7">
                  <a:alpha val="33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4" name="Hexagon 13">
              <a:extLst>
                <a:ext uri="{FF2B5EF4-FFF2-40B4-BE49-F238E27FC236}">
                  <a16:creationId xmlns:a16="http://schemas.microsoft.com/office/drawing/2014/main" id="{1A0F4849-C8B7-473C-B489-E93D73CD2FE2}"/>
                </a:ext>
              </a:extLst>
            </p:cNvPr>
            <p:cNvSpPr/>
            <p:nvPr/>
          </p:nvSpPr>
          <p:spPr>
            <a:xfrm rot="16200000">
              <a:off x="3203313" y="1025000"/>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5" name="Hexagon 14">
              <a:extLst>
                <a:ext uri="{FF2B5EF4-FFF2-40B4-BE49-F238E27FC236}">
                  <a16:creationId xmlns:a16="http://schemas.microsoft.com/office/drawing/2014/main" id="{67F5D506-B94C-4611-9E54-3CCC77B5DF06}"/>
                </a:ext>
              </a:extLst>
            </p:cNvPr>
            <p:cNvSpPr/>
            <p:nvPr/>
          </p:nvSpPr>
          <p:spPr>
            <a:xfrm rot="16200000">
              <a:off x="2820927" y="393234"/>
              <a:ext cx="656218" cy="565705"/>
            </a:xfrm>
            <a:prstGeom prst="hexagon">
              <a:avLst/>
            </a:prstGeom>
            <a:solidFill>
              <a:srgbClr val="0E2554">
                <a:alpha val="0"/>
              </a:srgbClr>
            </a:solidFill>
            <a:ln w="12700" cap="flat" cmpd="sng" algn="ctr">
              <a:solidFill>
                <a:srgbClr val="426EB7">
                  <a:alpha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6" name="Hexagon 15">
              <a:extLst>
                <a:ext uri="{FF2B5EF4-FFF2-40B4-BE49-F238E27FC236}">
                  <a16:creationId xmlns:a16="http://schemas.microsoft.com/office/drawing/2014/main" id="{B0C4962A-7F6F-459E-B9F2-E0BD3D6825B2}"/>
                </a:ext>
              </a:extLst>
            </p:cNvPr>
            <p:cNvSpPr/>
            <p:nvPr/>
          </p:nvSpPr>
          <p:spPr>
            <a:xfrm rot="16200000">
              <a:off x="1989875" y="-370448"/>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7" name="Hexagon 16">
              <a:extLst>
                <a:ext uri="{FF2B5EF4-FFF2-40B4-BE49-F238E27FC236}">
                  <a16:creationId xmlns:a16="http://schemas.microsoft.com/office/drawing/2014/main" id="{170A7552-6B5F-4647-9AD9-389E613C3111}"/>
                </a:ext>
              </a:extLst>
            </p:cNvPr>
            <p:cNvSpPr/>
            <p:nvPr/>
          </p:nvSpPr>
          <p:spPr>
            <a:xfrm rot="16200000">
              <a:off x="-128314" y="407351"/>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grpSp>
      <p:sp>
        <p:nvSpPr>
          <p:cNvPr id="18" name="Hexagon 17">
            <a:extLst>
              <a:ext uri="{FF2B5EF4-FFF2-40B4-BE49-F238E27FC236}">
                <a16:creationId xmlns:a16="http://schemas.microsoft.com/office/drawing/2014/main" id="{A9FBDF01-3260-4C9B-BDA0-9C412AEA59A0}"/>
              </a:ext>
            </a:extLst>
          </p:cNvPr>
          <p:cNvSpPr/>
          <p:nvPr/>
        </p:nvSpPr>
        <p:spPr>
          <a:xfrm rot="16200000">
            <a:off x="603207" y="6202422"/>
            <a:ext cx="656218" cy="565705"/>
          </a:xfrm>
          <a:prstGeom prst="hexagon">
            <a:avLst/>
          </a:prstGeom>
          <a:solidFill>
            <a:srgbClr val="0E2554">
              <a:alpha val="53000"/>
            </a:srgbClr>
          </a:solidFill>
          <a:ln w="12700" cap="flat" cmpd="sng" algn="ctr">
            <a:solidFill>
              <a:srgbClr val="426EB7">
                <a:alpha val="47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19" name="Hexagon 18">
            <a:extLst>
              <a:ext uri="{FF2B5EF4-FFF2-40B4-BE49-F238E27FC236}">
                <a16:creationId xmlns:a16="http://schemas.microsoft.com/office/drawing/2014/main" id="{706F80E0-952E-4E08-8A6B-4D494E2A5B31}"/>
              </a:ext>
            </a:extLst>
          </p:cNvPr>
          <p:cNvSpPr/>
          <p:nvPr/>
        </p:nvSpPr>
        <p:spPr>
          <a:xfrm rot="16200000">
            <a:off x="975502" y="5570655"/>
            <a:ext cx="656218" cy="565705"/>
          </a:xfrm>
          <a:prstGeom prst="hexagon">
            <a:avLst/>
          </a:prstGeom>
          <a:solidFill>
            <a:srgbClr val="0E2554">
              <a:alpha val="0"/>
            </a:srgbClr>
          </a:solidFill>
          <a:ln w="12700" cap="flat" cmpd="sng" algn="ctr">
            <a:solidFill>
              <a:srgbClr val="426EB7">
                <a:alpha val="52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20" name="Hexagon 19">
            <a:extLst>
              <a:ext uri="{FF2B5EF4-FFF2-40B4-BE49-F238E27FC236}">
                <a16:creationId xmlns:a16="http://schemas.microsoft.com/office/drawing/2014/main" id="{5FAB8FAA-D1C3-4B81-8226-4E171490F604}"/>
              </a:ext>
            </a:extLst>
          </p:cNvPr>
          <p:cNvSpPr/>
          <p:nvPr/>
        </p:nvSpPr>
        <p:spPr>
          <a:xfrm rot="16200000">
            <a:off x="1707023" y="5570656"/>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21" name="Hexagon 20">
            <a:extLst>
              <a:ext uri="{FF2B5EF4-FFF2-40B4-BE49-F238E27FC236}">
                <a16:creationId xmlns:a16="http://schemas.microsoft.com/office/drawing/2014/main" id="{B61825A8-3249-4CAA-A48B-3DFEA6E3F09C}"/>
              </a:ext>
            </a:extLst>
          </p:cNvPr>
          <p:cNvSpPr/>
          <p:nvPr/>
        </p:nvSpPr>
        <p:spPr>
          <a:xfrm rot="16200000">
            <a:off x="1324637" y="4938890"/>
            <a:ext cx="656218" cy="565705"/>
          </a:xfrm>
          <a:prstGeom prst="hexagon">
            <a:avLst/>
          </a:prstGeom>
          <a:solidFill>
            <a:srgbClr val="FFFFFF">
              <a:alpha val="1800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22" name="Hexagon 21">
            <a:extLst>
              <a:ext uri="{FF2B5EF4-FFF2-40B4-BE49-F238E27FC236}">
                <a16:creationId xmlns:a16="http://schemas.microsoft.com/office/drawing/2014/main" id="{C07113BA-6902-479C-91B6-F9732EFC2560}"/>
              </a:ext>
            </a:extLst>
          </p:cNvPr>
          <p:cNvSpPr/>
          <p:nvPr/>
        </p:nvSpPr>
        <p:spPr>
          <a:xfrm rot="16200000">
            <a:off x="2099497" y="6202423"/>
            <a:ext cx="656218" cy="565705"/>
          </a:xfrm>
          <a:prstGeom prst="hexagon">
            <a:avLst/>
          </a:prstGeom>
          <a:solidFill>
            <a:srgbClr val="0E2554">
              <a:alpha val="0"/>
            </a:srgbClr>
          </a:solidFill>
          <a:ln w="12700" cap="flat" cmpd="sng" algn="ctr">
            <a:solidFill>
              <a:srgbClr val="426EB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23" name="Hexagon 22">
            <a:extLst>
              <a:ext uri="{FF2B5EF4-FFF2-40B4-BE49-F238E27FC236}">
                <a16:creationId xmlns:a16="http://schemas.microsoft.com/office/drawing/2014/main" id="{59ACB7CD-8D90-4B9D-96AC-ADB9EDAFC7B7}"/>
              </a:ext>
            </a:extLst>
          </p:cNvPr>
          <p:cNvSpPr/>
          <p:nvPr/>
        </p:nvSpPr>
        <p:spPr>
          <a:xfrm rot="16200000">
            <a:off x="2471792" y="5570656"/>
            <a:ext cx="656218" cy="565705"/>
          </a:xfrm>
          <a:prstGeom prst="hexagon">
            <a:avLst/>
          </a:prstGeom>
          <a:solidFill>
            <a:srgbClr val="0E2554">
              <a:alpha val="0"/>
            </a:srgbClr>
          </a:solidFill>
          <a:ln w="12700" cap="flat" cmpd="sng" algn="ctr">
            <a:solidFill>
              <a:srgbClr val="426EB7">
                <a:alpha val="33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sym typeface="Verdana" panose="020B0604030504040204" pitchFamily="34" charset="0"/>
            </a:endParaRPr>
          </a:p>
        </p:txBody>
      </p:sp>
      <p:sp>
        <p:nvSpPr>
          <p:cNvPr id="4" name="Rectangle 3">
            <a:extLst>
              <a:ext uri="{FF2B5EF4-FFF2-40B4-BE49-F238E27FC236}">
                <a16:creationId xmlns:a16="http://schemas.microsoft.com/office/drawing/2014/main" id="{C0BF5E1E-C020-453A-B873-33B9A82EBE54}"/>
              </a:ext>
            </a:extLst>
          </p:cNvPr>
          <p:cNvSpPr/>
          <p:nvPr/>
        </p:nvSpPr>
        <p:spPr>
          <a:xfrm>
            <a:off x="1913680" y="2194164"/>
            <a:ext cx="8364640" cy="1077218"/>
          </a:xfrm>
          <a:prstGeom prst="rect">
            <a:avLst/>
          </a:prstGeom>
          <a:noFill/>
          <a:ln>
            <a:noFill/>
          </a:ln>
          <a:effectLst>
            <a:outerShdw blurRad="800100" dist="50800" dir="5400000" algn="ctr" rotWithShape="0">
              <a:srgbClr val="000000">
                <a:alpha val="85000"/>
              </a:srgbClr>
            </a:outerShdw>
          </a:effectLst>
        </p:spPr>
        <p:txBody>
          <a:bodyPr wrap="square">
            <a:spAutoFit/>
          </a:bodyPr>
          <a:lstStyle/>
          <a:p>
            <a:pPr lvl="0" algn="ctr">
              <a:defRPr/>
            </a:pPr>
            <a:r>
              <a:rPr lang="en-IN" sz="3200" b="1" kern="0" dirty="0">
                <a:solidFill>
                  <a:srgbClr val="FFFFFF"/>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sym typeface="Verdana" panose="020B0604030504040204" pitchFamily="34" charset="0"/>
              </a:rPr>
              <a:t>MOVING OUR WORLD FORWARD BY DELIVERING WHAT MATTERS</a:t>
            </a:r>
            <a:r>
              <a:rPr lang="en-IN" sz="3200" b="1" kern="0" baseline="30000" dirty="0">
                <a:solidFill>
                  <a:srgbClr val="FFFFFF"/>
                </a:solidFill>
                <a:effectLst>
                  <a:outerShdw blurRad="38100" dist="38100" dir="2700000" algn="tl">
                    <a:srgbClr val="000000">
                      <a:alpha val="43137"/>
                    </a:srgbClr>
                  </a:outerShdw>
                </a:effectLst>
                <a:latin typeface="Verdana" panose="020B0604030504040204" pitchFamily="34" charset="0"/>
                <a:ea typeface="Verdana" panose="020B0604030504040204" pitchFamily="34" charset="0"/>
                <a:sym typeface="Verdana" panose="020B0604030504040204" pitchFamily="34" charset="0"/>
              </a:rPr>
              <a:t>™</a:t>
            </a:r>
            <a:endParaRPr kumimoji="0" lang="en-US" sz="3200" b="1"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Verdana" panose="020B0604030504040204" pitchFamily="34" charset="0"/>
              <a:ea typeface="Verdana" panose="020B0604030504040204" pitchFamily="34" charset="0"/>
              <a:sym typeface="Verdana" panose="020B0604030504040204" pitchFamily="34" charset="0"/>
            </a:endParaRPr>
          </a:p>
        </p:txBody>
      </p:sp>
      <p:pic>
        <p:nvPicPr>
          <p:cNvPr id="24" name="Picture 23" descr="A picture containing black, red, drawing, white&#10;&#10;Description automatically generated">
            <a:extLst>
              <a:ext uri="{FF2B5EF4-FFF2-40B4-BE49-F238E27FC236}">
                <a16:creationId xmlns:a16="http://schemas.microsoft.com/office/drawing/2014/main" id="{14EB1A24-7511-4F53-846C-0317930A1D3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88787" y="3710693"/>
            <a:ext cx="3414426" cy="953144"/>
          </a:xfrm>
          <a:prstGeom prst="rect">
            <a:avLst/>
          </a:prstGeom>
          <a:ln>
            <a:noFill/>
          </a:ln>
          <a:effectLst>
            <a:outerShdw blurRad="292100" dist="139700" dir="2700000" algn="tl" rotWithShape="0">
              <a:srgbClr val="333333">
                <a:alpha val="65000"/>
              </a:srgbClr>
            </a:outerShdw>
          </a:effectLst>
        </p:spPr>
      </p:pic>
      <p:cxnSp>
        <p:nvCxnSpPr>
          <p:cNvPr id="25" name="Straight Connector 24">
            <a:extLst>
              <a:ext uri="{FF2B5EF4-FFF2-40B4-BE49-F238E27FC236}">
                <a16:creationId xmlns:a16="http://schemas.microsoft.com/office/drawing/2014/main" id="{BAD423F7-05E9-4709-BC9E-385638622C9F}"/>
              </a:ext>
            </a:extLst>
          </p:cNvPr>
          <p:cNvCxnSpPr>
            <a:cxnSpLocks/>
          </p:cNvCxnSpPr>
          <p:nvPr/>
        </p:nvCxnSpPr>
        <p:spPr>
          <a:xfrm flipV="1">
            <a:off x="1889760" y="3466486"/>
            <a:ext cx="8412480" cy="23966"/>
          </a:xfrm>
          <a:prstGeom prst="line">
            <a:avLst/>
          </a:prstGeom>
          <a:noFill/>
          <a:ln w="19050" cap="flat" cmpd="sng" algn="ctr">
            <a:solidFill>
              <a:srgbClr val="FFFFFF"/>
            </a:solidFill>
            <a:prstDash val="solid"/>
            <a:miter lim="800000"/>
          </a:ln>
          <a:effectLst>
            <a:outerShdw blurRad="63500" sx="102000" sy="102000" algn="ctr" rotWithShape="0">
              <a:prstClr val="black">
                <a:alpha val="40000"/>
              </a:prstClr>
            </a:outerShdw>
          </a:effectLst>
        </p:spPr>
      </p:cxnSp>
      <p:sp>
        <p:nvSpPr>
          <p:cNvPr id="27" name="TextBox 26">
            <a:extLst>
              <a:ext uri="{FF2B5EF4-FFF2-40B4-BE49-F238E27FC236}">
                <a16:creationId xmlns:a16="http://schemas.microsoft.com/office/drawing/2014/main" id="{C06497F8-C40E-9994-F79E-5E0E4E7DE8C8}"/>
              </a:ext>
            </a:extLst>
          </p:cNvPr>
          <p:cNvSpPr txBox="1"/>
          <p:nvPr/>
        </p:nvSpPr>
        <p:spPr>
          <a:xfrm>
            <a:off x="3489960" y="6537283"/>
            <a:ext cx="5212080" cy="230832"/>
          </a:xfrm>
          <a:prstGeom prst="rect">
            <a:avLst/>
          </a:prstGeom>
          <a:noFill/>
        </p:spPr>
        <p:txBody>
          <a:bodyPr wrap="square" rtlCol="0">
            <a:spAutoFit/>
          </a:bodyPr>
          <a:lstStyle/>
          <a:p>
            <a:pPr algn="ctr"/>
            <a:r>
              <a:rPr lang="en-US" sz="450" dirty="0">
                <a:solidFill>
                  <a:schemeClr val="bg1"/>
                </a:solidFill>
              </a:rPr>
              <a:t>Proprietary and Confidential: This presentation may not be used or disclosed to other than employees or customers, unless expressly authorized by UPS.</a:t>
            </a:r>
            <a:br>
              <a:rPr lang="en-US" sz="450" dirty="0">
                <a:solidFill>
                  <a:schemeClr val="bg1"/>
                </a:solidFill>
              </a:rPr>
            </a:br>
            <a:r>
              <a:rPr lang="en-US" sz="450" dirty="0">
                <a:solidFill>
                  <a:schemeClr val="bg1"/>
                </a:solidFill>
              </a:rPr>
              <a:t>© 2026 United Parcel Service of America, Inc. UPS, the UPS brandmark and the color brown are trademarks of United Parcel Service of America, Inc. All rights reserved.</a:t>
            </a:r>
          </a:p>
        </p:txBody>
      </p:sp>
    </p:spTree>
    <p:extLst>
      <p:ext uri="{BB962C8B-B14F-4D97-AF65-F5344CB8AC3E}">
        <p14:creationId xmlns:p14="http://schemas.microsoft.com/office/powerpoint/2010/main" val="77666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7A057-EA8B-0177-FE20-DFB3FB86CDCC}"/>
              </a:ext>
            </a:extLst>
          </p:cNvPr>
          <p:cNvSpPr>
            <a:spLocks noGrp="1"/>
          </p:cNvSpPr>
          <p:nvPr>
            <p:ph type="title"/>
          </p:nvPr>
        </p:nvSpPr>
        <p:spPr/>
        <p:txBody>
          <a:bodyPr/>
          <a:lstStyle/>
          <a:p>
            <a:r>
              <a:rPr lang="en-US" dirty="0"/>
              <a:t>OPTIONAL SLIDES</a:t>
            </a:r>
          </a:p>
        </p:txBody>
      </p:sp>
      <p:sp>
        <p:nvSpPr>
          <p:cNvPr id="3" name="Slide Number Placeholder 2">
            <a:extLst>
              <a:ext uri="{FF2B5EF4-FFF2-40B4-BE49-F238E27FC236}">
                <a16:creationId xmlns:a16="http://schemas.microsoft.com/office/drawing/2014/main" id="{A41B5A5D-D1B0-A6B6-CDCE-B7A8D6811469}"/>
              </a:ext>
            </a:extLst>
          </p:cNvPr>
          <p:cNvSpPr>
            <a:spLocks noGrp="1"/>
          </p:cNvSpPr>
          <p:nvPr>
            <p:ph type="sldNum" sz="quarter" idx="12"/>
          </p:nvPr>
        </p:nvSpPr>
        <p:spPr/>
        <p:txBody>
          <a:bodyPr/>
          <a:lstStyle/>
          <a:p>
            <a:pPr algn="r"/>
            <a:fld id="{4FA92F45-BA5D-4C7A-ACC7-D44B34072B97}" type="slidenum">
              <a:rPr lang="en-IN" smtClean="0"/>
              <a:pPr algn="r"/>
              <a:t>32</a:t>
            </a:fld>
            <a:endParaRPr lang="en-IN" dirty="0"/>
          </a:p>
        </p:txBody>
      </p:sp>
    </p:spTree>
    <p:extLst>
      <p:ext uri="{BB962C8B-B14F-4D97-AF65-F5344CB8AC3E}">
        <p14:creationId xmlns:p14="http://schemas.microsoft.com/office/powerpoint/2010/main" val="3858735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D087E6-D08D-BF24-1DFD-54F01822762B}"/>
              </a:ext>
            </a:extLst>
          </p:cNvPr>
          <p:cNvSpPr>
            <a:spLocks noGrp="1"/>
          </p:cNvSpPr>
          <p:nvPr>
            <p:ph type="sldNum" sz="quarter" idx="12"/>
          </p:nvPr>
        </p:nvSpPr>
        <p:spPr/>
        <p:txBody>
          <a:bodyPr/>
          <a:lstStyle/>
          <a:p>
            <a:pPr algn="r"/>
            <a:fld id="{4FA92F45-BA5D-4C7A-ACC7-D44B34072B97}" type="slidenum">
              <a:rPr lang="en-IN" smtClean="0"/>
              <a:pPr algn="r"/>
              <a:t>33</a:t>
            </a:fld>
            <a:endParaRPr lang="en-IN" dirty="0"/>
          </a:p>
        </p:txBody>
      </p:sp>
      <p:sp>
        <p:nvSpPr>
          <p:cNvPr id="3" name="Title 2">
            <a:extLst>
              <a:ext uri="{FF2B5EF4-FFF2-40B4-BE49-F238E27FC236}">
                <a16:creationId xmlns:a16="http://schemas.microsoft.com/office/drawing/2014/main" id="{E8757C7B-FC3F-68B5-8850-F178696C5589}"/>
              </a:ext>
            </a:extLst>
          </p:cNvPr>
          <p:cNvSpPr>
            <a:spLocks noGrp="1"/>
          </p:cNvSpPr>
          <p:nvPr>
            <p:ph type="title"/>
          </p:nvPr>
        </p:nvSpPr>
        <p:spPr/>
        <p:txBody>
          <a:bodyPr/>
          <a:lstStyle/>
          <a:p>
            <a:r>
              <a:rPr lang="en-US" dirty="0"/>
              <a:t>KPI SCORECARD QUARTERLY SUMMARY</a:t>
            </a:r>
          </a:p>
        </p:txBody>
      </p:sp>
      <p:sp>
        <p:nvSpPr>
          <p:cNvPr id="4" name="Text Placeholder 3">
            <a:extLst>
              <a:ext uri="{FF2B5EF4-FFF2-40B4-BE49-F238E27FC236}">
                <a16:creationId xmlns:a16="http://schemas.microsoft.com/office/drawing/2014/main" id="{4F4252A4-EB3F-548F-6BCD-07613CE17E75}"/>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5" name="Table 4">
            <a:extLst>
              <a:ext uri="{FF2B5EF4-FFF2-40B4-BE49-F238E27FC236}">
                <a16:creationId xmlns:a16="http://schemas.microsoft.com/office/drawing/2014/main" id="{7CEE1A95-385B-978B-7227-AEC7041BD82C}"/>
              </a:ext>
            </a:extLst>
          </p:cNvPr>
          <p:cNvGraphicFramePr>
            <a:graphicFrameLocks noGrp="1"/>
          </p:cNvGraphicFramePr>
          <p:nvPr>
            <p:extLst>
              <p:ext uri="{D42A27DB-BD31-4B8C-83A1-F6EECF244321}">
                <p14:modId xmlns:p14="http://schemas.microsoft.com/office/powerpoint/2010/main" val="1705638226"/>
              </p:ext>
            </p:extLst>
          </p:nvPr>
        </p:nvGraphicFramePr>
        <p:xfrm>
          <a:off x="363601" y="1752600"/>
          <a:ext cx="11410801" cy="3164750"/>
        </p:xfrm>
        <a:graphic>
          <a:graphicData uri="http://schemas.openxmlformats.org/drawingml/2006/table">
            <a:tbl>
              <a:tblPr firstRow="1" bandRow="1">
                <a:tableStyleId>{5C22544A-7EE6-4342-B048-85BDC9FD1C3A}</a:tableStyleId>
              </a:tblPr>
              <a:tblGrid>
                <a:gridCol w="1189154">
                  <a:extLst>
                    <a:ext uri="{9D8B030D-6E8A-4147-A177-3AD203B41FA5}">
                      <a16:colId xmlns:a16="http://schemas.microsoft.com/office/drawing/2014/main" val="1558577517"/>
                    </a:ext>
                  </a:extLst>
                </a:gridCol>
                <a:gridCol w="1759789">
                  <a:extLst>
                    <a:ext uri="{9D8B030D-6E8A-4147-A177-3AD203B41FA5}">
                      <a16:colId xmlns:a16="http://schemas.microsoft.com/office/drawing/2014/main" val="1695645470"/>
                    </a:ext>
                  </a:extLst>
                </a:gridCol>
                <a:gridCol w="1759789">
                  <a:extLst>
                    <a:ext uri="{9D8B030D-6E8A-4147-A177-3AD203B41FA5}">
                      <a16:colId xmlns:a16="http://schemas.microsoft.com/office/drawing/2014/main" val="121390803"/>
                    </a:ext>
                  </a:extLst>
                </a:gridCol>
                <a:gridCol w="1759789">
                  <a:extLst>
                    <a:ext uri="{9D8B030D-6E8A-4147-A177-3AD203B41FA5}">
                      <a16:colId xmlns:a16="http://schemas.microsoft.com/office/drawing/2014/main" val="3685600035"/>
                    </a:ext>
                  </a:extLst>
                </a:gridCol>
                <a:gridCol w="1759789">
                  <a:extLst>
                    <a:ext uri="{9D8B030D-6E8A-4147-A177-3AD203B41FA5}">
                      <a16:colId xmlns:a16="http://schemas.microsoft.com/office/drawing/2014/main" val="2136414151"/>
                    </a:ext>
                  </a:extLst>
                </a:gridCol>
                <a:gridCol w="3182491">
                  <a:extLst>
                    <a:ext uri="{9D8B030D-6E8A-4147-A177-3AD203B41FA5}">
                      <a16:colId xmlns:a16="http://schemas.microsoft.com/office/drawing/2014/main" val="329848705"/>
                    </a:ext>
                  </a:extLst>
                </a:gridCol>
              </a:tblGrid>
              <a:tr h="897605">
                <a:tc>
                  <a:txBody>
                    <a:bodyPr/>
                    <a:lstStyle/>
                    <a:p>
                      <a:pPr algn="ctr" rtl="0" fontAlgn="ctr"/>
                      <a:r>
                        <a:rPr lang="en-US" sz="1200" b="1" u="none" strike="noStrike" dirty="0">
                          <a:solidFill>
                            <a:schemeClr val="bg1"/>
                          </a:solidFill>
                          <a:effectLst/>
                        </a:rPr>
                        <a:t>Quarterly </a:t>
                      </a:r>
                      <a:endParaRPr lang="en-US" sz="1200" b="1" i="0" u="none" strike="noStrike" dirty="0">
                        <a:solidFill>
                          <a:schemeClr val="bg1"/>
                        </a:solidFill>
                        <a:effectLst/>
                        <a:latin typeface="Verdana" panose="020B060403050404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On-Time </a:t>
                      </a:r>
                    </a:p>
                    <a:p>
                      <a:pPr algn="ctr" rtl="0" fontAlgn="ctr"/>
                      <a:r>
                        <a:rPr lang="en-US" sz="1200" b="1" i="0" u="none" strike="noStrike" dirty="0">
                          <a:solidFill>
                            <a:schemeClr val="bg1"/>
                          </a:solidFill>
                          <a:effectLst/>
                          <a:latin typeface="Verdana" panose="020B0604030504040204" pitchFamily="34" charset="0"/>
                        </a:rPr>
                        <a:t>Receiving</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u="none" strike="noStrike" dirty="0">
                          <a:solidFill>
                            <a:schemeClr val="bg1"/>
                          </a:solidFill>
                          <a:effectLst/>
                        </a:rPr>
                        <a:t>On-Time </a:t>
                      </a:r>
                    </a:p>
                    <a:p>
                      <a:pPr algn="ctr" rtl="0" fontAlgn="ctr"/>
                      <a:r>
                        <a:rPr lang="en-US" sz="1200" b="1" u="none" strike="noStrike" dirty="0">
                          <a:solidFill>
                            <a:schemeClr val="bg1"/>
                          </a:solidFill>
                          <a:effectLst/>
                        </a:rPr>
                        <a:t>Shipping</a:t>
                      </a:r>
                      <a:endParaRPr lang="en-US" sz="1200" b="1" i="0" u="none" strike="noStrike" dirty="0">
                        <a:solidFill>
                          <a:schemeClr val="bg1"/>
                        </a:solidFill>
                        <a:effectLst/>
                        <a:latin typeface="Verdana" panose="020B060403050404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u="none" strike="noStrike" dirty="0">
                          <a:solidFill>
                            <a:schemeClr val="bg1"/>
                          </a:solidFill>
                          <a:effectLst/>
                        </a:rPr>
                        <a:t>Inventory </a:t>
                      </a:r>
                    </a:p>
                    <a:p>
                      <a:pPr algn="ctr" rtl="0" fontAlgn="ctr"/>
                      <a:r>
                        <a:rPr lang="en-US" sz="1200" b="1" u="none" strike="noStrike" dirty="0">
                          <a:solidFill>
                            <a:schemeClr val="bg1"/>
                          </a:solidFill>
                          <a:effectLst/>
                        </a:rPr>
                        <a:t>Accuracy</a:t>
                      </a:r>
                      <a:endParaRPr lang="en-US" sz="1200" b="1" i="0" u="none" strike="noStrike" dirty="0">
                        <a:solidFill>
                          <a:schemeClr val="bg1"/>
                        </a:solidFill>
                        <a:effectLst/>
                        <a:latin typeface="Verdana" panose="020B060403050404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Shipment </a:t>
                      </a:r>
                    </a:p>
                    <a:p>
                      <a:pPr algn="ctr" rtl="0" fontAlgn="ctr"/>
                      <a:r>
                        <a:rPr lang="en-US" sz="1200" b="1" i="0" u="none" strike="noStrike" dirty="0">
                          <a:solidFill>
                            <a:schemeClr val="bg1"/>
                          </a:solidFill>
                          <a:effectLst/>
                          <a:latin typeface="Verdana" panose="020B0604030504040204" pitchFamily="34" charset="0"/>
                        </a:rPr>
                        <a:t>Accuracy</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Comments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885437805"/>
                  </a:ext>
                </a:extLst>
              </a:tr>
              <a:tr h="453429">
                <a:tc>
                  <a:txBody>
                    <a:bodyPr/>
                    <a:lstStyle/>
                    <a:p>
                      <a:pPr algn="ctr" rtl="0" fontAlgn="ctr"/>
                      <a:r>
                        <a:rPr lang="en-US" sz="1200" b="1" u="none" strike="noStrike" dirty="0">
                          <a:solidFill>
                            <a:schemeClr val="tx2"/>
                          </a:solidFill>
                          <a:effectLst/>
                          <a:latin typeface="+mn-lt"/>
                        </a:rPr>
                        <a:t>Target</a:t>
                      </a:r>
                      <a:endParaRPr lang="en-US" sz="1200" b="1" i="1" u="none" strike="noStrike" dirty="0">
                        <a:solidFill>
                          <a:schemeClr val="tx2"/>
                        </a:solidFill>
                        <a:effectLs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u="none" strike="noStrike" dirty="0">
                          <a:solidFill>
                            <a:schemeClr val="tx2"/>
                          </a:solidFill>
                          <a:effectLst/>
                          <a:highlight>
                            <a:srgbClr val="FF00FF"/>
                          </a:highlight>
                          <a:latin typeface="+mn-lt"/>
                        </a:rPr>
                        <a:t>99.00%</a:t>
                      </a:r>
                      <a:endParaRPr lang="en-US" sz="1200" b="1" i="1"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u="none" strike="noStrike" dirty="0">
                          <a:solidFill>
                            <a:schemeClr val="tx2"/>
                          </a:solidFill>
                          <a:effectLst/>
                          <a:highlight>
                            <a:srgbClr val="FF00FF"/>
                          </a:highlight>
                          <a:latin typeface="+mn-lt"/>
                        </a:rPr>
                        <a:t>98.00%</a:t>
                      </a:r>
                      <a:endParaRPr lang="en-US" sz="1200" b="1" i="1"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u="none" strike="noStrike" dirty="0">
                          <a:solidFill>
                            <a:schemeClr val="tx2"/>
                          </a:solidFill>
                          <a:effectLst/>
                          <a:highlight>
                            <a:srgbClr val="FF00FF"/>
                          </a:highlight>
                          <a:latin typeface="+mn-lt"/>
                        </a:rPr>
                        <a:t>99.50%</a:t>
                      </a:r>
                      <a:endParaRPr lang="en-US" sz="1200" b="1" i="1"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u="none" strike="noStrike" dirty="0">
                          <a:solidFill>
                            <a:schemeClr val="tx2"/>
                          </a:solidFill>
                          <a:effectLst/>
                          <a:highlight>
                            <a:srgbClr val="FF00FF"/>
                          </a:highlight>
                          <a:latin typeface="+mn-lt"/>
                        </a:rPr>
                        <a:t>99.50%</a:t>
                      </a:r>
                      <a:endParaRPr lang="en-US" sz="1200" b="1" i="1"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1"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544951178"/>
                  </a:ext>
                </a:extLst>
              </a:tr>
              <a:tr h="453429">
                <a:tc>
                  <a:txBody>
                    <a:bodyPr/>
                    <a:lstStyle/>
                    <a:p>
                      <a:pPr algn="ctr" rtl="0" fontAlgn="ctr"/>
                      <a:r>
                        <a:rPr lang="en-US" sz="1200" b="1" u="none" strike="noStrike" dirty="0">
                          <a:solidFill>
                            <a:schemeClr val="tx2"/>
                          </a:solidFill>
                          <a:effectLst/>
                          <a:highlight>
                            <a:srgbClr val="FF00FF"/>
                          </a:highlight>
                          <a:latin typeface="+mn-lt"/>
                        </a:rPr>
                        <a:t>Q1</a:t>
                      </a: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u="none" strike="noStrike" dirty="0">
                          <a:solidFill>
                            <a:schemeClr val="tx2"/>
                          </a:solidFill>
                          <a:effectLst/>
                          <a:highlight>
                            <a:srgbClr val="FF00FF"/>
                          </a:highlight>
                          <a:latin typeface="+mn-lt"/>
                        </a:rPr>
                        <a:t>100%</a:t>
                      </a: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u="none" strike="noStrike" dirty="0">
                          <a:solidFill>
                            <a:schemeClr val="tx2"/>
                          </a:solidFill>
                          <a:effectLst/>
                          <a:highlight>
                            <a:srgbClr val="FF00FF"/>
                          </a:highlight>
                          <a:latin typeface="+mn-lt"/>
                        </a:rPr>
                        <a:t>100%</a:t>
                      </a: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579425453"/>
                  </a:ext>
                </a:extLst>
              </a:tr>
              <a:tr h="453429">
                <a:tc>
                  <a:txBody>
                    <a:bodyPr/>
                    <a:lstStyle/>
                    <a:p>
                      <a:pPr algn="ctr" rtl="0" fontAlgn="ctr"/>
                      <a:r>
                        <a:rPr lang="en-US" sz="1200" b="1" i="0" u="none" strike="noStrike" dirty="0">
                          <a:solidFill>
                            <a:schemeClr val="tx2"/>
                          </a:solidFill>
                          <a:effectLst/>
                          <a:highlight>
                            <a:srgbClr val="FF00FF"/>
                          </a:highlight>
                          <a:latin typeface="+mn-lt"/>
                        </a:rPr>
                        <a:t>Q2</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688515807"/>
                  </a:ext>
                </a:extLst>
              </a:tr>
              <a:tr h="453429">
                <a:tc>
                  <a:txBody>
                    <a:bodyPr/>
                    <a:lstStyle/>
                    <a:p>
                      <a:pPr algn="ctr" rtl="0" fontAlgn="ctr"/>
                      <a:r>
                        <a:rPr lang="en-US" sz="1200" b="1" i="0" u="none" strike="noStrike" dirty="0">
                          <a:solidFill>
                            <a:schemeClr val="tx2"/>
                          </a:solidFill>
                          <a:effectLst/>
                          <a:highlight>
                            <a:srgbClr val="FF00FF"/>
                          </a:highlight>
                          <a:latin typeface="+mn-lt"/>
                        </a:rPr>
                        <a:t>Q3</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467157515"/>
                  </a:ext>
                </a:extLst>
              </a:tr>
              <a:tr h="453429">
                <a:tc>
                  <a:txBody>
                    <a:bodyPr/>
                    <a:lstStyle/>
                    <a:p>
                      <a:pPr algn="ctr" rtl="0" fontAlgn="ctr"/>
                      <a:r>
                        <a:rPr lang="en-US" sz="1200" b="1" i="0" u="none" strike="noStrike" dirty="0">
                          <a:solidFill>
                            <a:schemeClr val="tx2"/>
                          </a:solidFill>
                          <a:effectLst/>
                          <a:highlight>
                            <a:srgbClr val="FF00FF"/>
                          </a:highlight>
                          <a:latin typeface="+mn-lt"/>
                        </a:rPr>
                        <a:t>Q4</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744072494"/>
                  </a:ext>
                </a:extLst>
              </a:tr>
            </a:tbl>
          </a:graphicData>
        </a:graphic>
      </p:graphicFrame>
    </p:spTree>
    <p:extLst>
      <p:ext uri="{BB962C8B-B14F-4D97-AF65-F5344CB8AC3E}">
        <p14:creationId xmlns:p14="http://schemas.microsoft.com/office/powerpoint/2010/main" val="1110355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ED0FB2-E19A-E178-2C29-1883DD961C02}"/>
              </a:ext>
            </a:extLst>
          </p:cNvPr>
          <p:cNvSpPr>
            <a:spLocks noGrp="1"/>
          </p:cNvSpPr>
          <p:nvPr>
            <p:ph type="sldNum" sz="quarter" idx="12"/>
          </p:nvPr>
        </p:nvSpPr>
        <p:spPr/>
        <p:txBody>
          <a:bodyPr/>
          <a:lstStyle/>
          <a:p>
            <a:pPr algn="r"/>
            <a:fld id="{4FA92F45-BA5D-4C7A-ACC7-D44B34072B97}" type="slidenum">
              <a:rPr lang="en-IN" smtClean="0"/>
              <a:pPr algn="r"/>
              <a:t>34</a:t>
            </a:fld>
            <a:endParaRPr lang="en-IN" dirty="0"/>
          </a:p>
        </p:txBody>
      </p:sp>
      <p:sp>
        <p:nvSpPr>
          <p:cNvPr id="3" name="Title 2">
            <a:extLst>
              <a:ext uri="{FF2B5EF4-FFF2-40B4-BE49-F238E27FC236}">
                <a16:creationId xmlns:a16="http://schemas.microsoft.com/office/drawing/2014/main" id="{CB138649-F511-5EA0-ADA5-30AB99DAA1FF}"/>
              </a:ext>
            </a:extLst>
          </p:cNvPr>
          <p:cNvSpPr>
            <a:spLocks noGrp="1"/>
          </p:cNvSpPr>
          <p:nvPr>
            <p:ph type="title"/>
          </p:nvPr>
        </p:nvSpPr>
        <p:spPr/>
        <p:txBody>
          <a:bodyPr/>
          <a:lstStyle/>
          <a:p>
            <a:r>
              <a:rPr lang="en-US" dirty="0"/>
              <a:t>KPI SCORECARD QUARTERLY SUMMARY</a:t>
            </a:r>
          </a:p>
        </p:txBody>
      </p:sp>
      <p:sp>
        <p:nvSpPr>
          <p:cNvPr id="4" name="Text Placeholder 3">
            <a:extLst>
              <a:ext uri="{FF2B5EF4-FFF2-40B4-BE49-F238E27FC236}">
                <a16:creationId xmlns:a16="http://schemas.microsoft.com/office/drawing/2014/main" id="{F01E0B8F-BEC3-E5A4-2ED2-53BF26A450DD}"/>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5" name="Table 4">
            <a:extLst>
              <a:ext uri="{FF2B5EF4-FFF2-40B4-BE49-F238E27FC236}">
                <a16:creationId xmlns:a16="http://schemas.microsoft.com/office/drawing/2014/main" id="{DADC70B3-8CC9-1BDC-E1C6-9C196DC6F1F4}"/>
              </a:ext>
            </a:extLst>
          </p:cNvPr>
          <p:cNvGraphicFramePr>
            <a:graphicFrameLocks noGrp="1"/>
          </p:cNvGraphicFramePr>
          <p:nvPr>
            <p:extLst>
              <p:ext uri="{D42A27DB-BD31-4B8C-83A1-F6EECF244321}">
                <p14:modId xmlns:p14="http://schemas.microsoft.com/office/powerpoint/2010/main" val="870646688"/>
              </p:ext>
            </p:extLst>
          </p:nvPr>
        </p:nvGraphicFramePr>
        <p:xfrm>
          <a:off x="363601" y="1752600"/>
          <a:ext cx="11410804" cy="3518139"/>
        </p:xfrm>
        <a:graphic>
          <a:graphicData uri="http://schemas.openxmlformats.org/drawingml/2006/table">
            <a:tbl>
              <a:tblPr firstRow="1" bandRow="1">
                <a:tableStyleId>{5C22544A-7EE6-4342-B048-85BDC9FD1C3A}</a:tableStyleId>
              </a:tblPr>
              <a:tblGrid>
                <a:gridCol w="1442257">
                  <a:extLst>
                    <a:ext uri="{9D8B030D-6E8A-4147-A177-3AD203B41FA5}">
                      <a16:colId xmlns:a16="http://schemas.microsoft.com/office/drawing/2014/main" val="1558577517"/>
                    </a:ext>
                  </a:extLst>
                </a:gridCol>
                <a:gridCol w="1442257">
                  <a:extLst>
                    <a:ext uri="{9D8B030D-6E8A-4147-A177-3AD203B41FA5}">
                      <a16:colId xmlns:a16="http://schemas.microsoft.com/office/drawing/2014/main" val="397395423"/>
                    </a:ext>
                  </a:extLst>
                </a:gridCol>
                <a:gridCol w="1442257">
                  <a:extLst>
                    <a:ext uri="{9D8B030D-6E8A-4147-A177-3AD203B41FA5}">
                      <a16:colId xmlns:a16="http://schemas.microsoft.com/office/drawing/2014/main" val="1695645470"/>
                    </a:ext>
                  </a:extLst>
                </a:gridCol>
                <a:gridCol w="1442257">
                  <a:extLst>
                    <a:ext uri="{9D8B030D-6E8A-4147-A177-3AD203B41FA5}">
                      <a16:colId xmlns:a16="http://schemas.microsoft.com/office/drawing/2014/main" val="121390803"/>
                    </a:ext>
                  </a:extLst>
                </a:gridCol>
                <a:gridCol w="1442257">
                  <a:extLst>
                    <a:ext uri="{9D8B030D-6E8A-4147-A177-3AD203B41FA5}">
                      <a16:colId xmlns:a16="http://schemas.microsoft.com/office/drawing/2014/main" val="3685600035"/>
                    </a:ext>
                  </a:extLst>
                </a:gridCol>
                <a:gridCol w="1442257">
                  <a:extLst>
                    <a:ext uri="{9D8B030D-6E8A-4147-A177-3AD203B41FA5}">
                      <a16:colId xmlns:a16="http://schemas.microsoft.com/office/drawing/2014/main" val="2136414151"/>
                    </a:ext>
                  </a:extLst>
                </a:gridCol>
                <a:gridCol w="2757262">
                  <a:extLst>
                    <a:ext uri="{9D8B030D-6E8A-4147-A177-3AD203B41FA5}">
                      <a16:colId xmlns:a16="http://schemas.microsoft.com/office/drawing/2014/main" val="329848705"/>
                    </a:ext>
                  </a:extLst>
                </a:gridCol>
              </a:tblGrid>
              <a:tr h="763414">
                <a:tc>
                  <a:txBody>
                    <a:bodyPr/>
                    <a:lstStyle/>
                    <a:p>
                      <a:pPr algn="ctr" rtl="0" fontAlgn="ctr"/>
                      <a:r>
                        <a:rPr lang="en-US" sz="1200" b="1" u="none" strike="noStrike" dirty="0">
                          <a:solidFill>
                            <a:schemeClr val="bg1"/>
                          </a:solidFill>
                          <a:effectLst/>
                        </a:rPr>
                        <a:t>KPI </a:t>
                      </a:r>
                      <a:endParaRPr lang="en-US" sz="1200" b="1" i="0" u="none" strike="noStrike" dirty="0">
                        <a:solidFill>
                          <a:schemeClr val="bg1"/>
                        </a:solidFill>
                        <a:effectLst/>
                        <a:latin typeface="Verdana" panose="020B060403050404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Target</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Q1</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u="none" strike="noStrike" dirty="0">
                          <a:solidFill>
                            <a:schemeClr val="bg1"/>
                          </a:solidFill>
                          <a:effectLst/>
                        </a:rPr>
                        <a:t>Q2</a:t>
                      </a:r>
                      <a:endParaRPr lang="en-US" sz="1200" b="1" i="0" u="none" strike="noStrike" dirty="0">
                        <a:solidFill>
                          <a:schemeClr val="bg1"/>
                        </a:solidFill>
                        <a:effectLst/>
                        <a:latin typeface="Verdana" panose="020B060403050404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u="none" strike="noStrike" dirty="0">
                          <a:solidFill>
                            <a:schemeClr val="bg1"/>
                          </a:solidFill>
                          <a:effectLst/>
                        </a:rPr>
                        <a:t>Q3</a:t>
                      </a:r>
                      <a:endParaRPr lang="en-US" sz="1200" b="1" i="0" u="none" strike="noStrike" dirty="0">
                        <a:solidFill>
                          <a:schemeClr val="bg1"/>
                        </a:solidFill>
                        <a:effectLst/>
                        <a:latin typeface="Verdana" panose="020B0604030504040204" pitchFamily="34" charset="0"/>
                      </a:endParaRP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Q4</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ctr"/>
                      <a:r>
                        <a:rPr lang="en-US" sz="1200" b="1" i="0" u="none" strike="noStrike" dirty="0">
                          <a:solidFill>
                            <a:schemeClr val="bg1"/>
                          </a:solidFill>
                          <a:effectLst/>
                          <a:latin typeface="Verdana" panose="020B0604030504040204" pitchFamily="34" charset="0"/>
                        </a:rPr>
                        <a:t>Comments</a:t>
                      </a:r>
                    </a:p>
                  </a:txBody>
                  <a:tcPr marL="6350" marR="6350" marT="635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885437805"/>
                  </a:ext>
                </a:extLst>
              </a:tr>
              <a:tr h="550945">
                <a:tc>
                  <a:txBody>
                    <a:bodyPr/>
                    <a:lstStyle/>
                    <a:p>
                      <a:pPr algn="ctr" rtl="0" fontAlgn="ctr"/>
                      <a:r>
                        <a:rPr lang="en-US" sz="1200" b="1" u="none" strike="noStrike" dirty="0">
                          <a:solidFill>
                            <a:schemeClr val="tx2"/>
                          </a:solidFill>
                          <a:effectLst/>
                          <a:latin typeface="+mn-lt"/>
                        </a:rPr>
                        <a:t>On-Time </a:t>
                      </a:r>
                    </a:p>
                    <a:p>
                      <a:pPr algn="ctr" rtl="0" fontAlgn="ctr"/>
                      <a:r>
                        <a:rPr lang="en-US" sz="1200" b="1" u="none" strike="noStrike" dirty="0">
                          <a:solidFill>
                            <a:schemeClr val="tx2"/>
                          </a:solidFill>
                          <a:effectLst/>
                          <a:latin typeface="+mn-lt"/>
                        </a:rPr>
                        <a:t>Receiving</a:t>
                      </a:r>
                      <a:endParaRPr lang="en-US" sz="1200" b="1" i="1" u="none" strike="noStrike" dirty="0">
                        <a:solidFill>
                          <a:schemeClr val="tx2"/>
                        </a:solidFill>
                        <a:effectLs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99.00%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544951178"/>
                  </a:ext>
                </a:extLst>
              </a:tr>
              <a:tr h="550945">
                <a:tc>
                  <a:txBody>
                    <a:bodyPr/>
                    <a:lstStyle/>
                    <a:p>
                      <a:pPr algn="ctr" rtl="0" fontAlgn="ctr"/>
                      <a:r>
                        <a:rPr lang="en-US" sz="1200" b="1" u="none" strike="noStrike" dirty="0">
                          <a:solidFill>
                            <a:schemeClr val="tx2"/>
                          </a:solidFill>
                          <a:effectLst/>
                          <a:latin typeface="+mn-lt"/>
                        </a:rPr>
                        <a:t>On-Time Shipping</a:t>
                      </a:r>
                      <a:endParaRPr lang="en-US" sz="1200" b="1" i="0" u="none" strike="noStrike" dirty="0">
                        <a:solidFill>
                          <a:schemeClr val="tx2"/>
                        </a:solidFill>
                        <a:effectLs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99.00%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579425453"/>
                  </a:ext>
                </a:extLst>
              </a:tr>
              <a:tr h="550945">
                <a:tc>
                  <a:txBody>
                    <a:bodyPr/>
                    <a:lstStyle/>
                    <a:p>
                      <a:pPr algn="ctr" rtl="0" fontAlgn="ctr"/>
                      <a:r>
                        <a:rPr lang="en-US" sz="1200" b="1" i="0" u="none" strike="noStrike" dirty="0">
                          <a:solidFill>
                            <a:schemeClr val="tx2"/>
                          </a:solidFill>
                          <a:effectLst/>
                          <a:latin typeface="+mn-lt"/>
                        </a:rPr>
                        <a:t>Inventory Accuracy</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98.00%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688515807"/>
                  </a:ext>
                </a:extLst>
              </a:tr>
              <a:tr h="550945">
                <a:tc>
                  <a:txBody>
                    <a:bodyPr/>
                    <a:lstStyle/>
                    <a:p>
                      <a:pPr algn="ctr" rtl="0" fontAlgn="ctr"/>
                      <a:r>
                        <a:rPr lang="en-US" sz="1200" b="1" i="0" u="none" strike="noStrike" dirty="0">
                          <a:solidFill>
                            <a:schemeClr val="tx2"/>
                          </a:solidFill>
                          <a:effectLst/>
                          <a:latin typeface="+mn-lt"/>
                        </a:rPr>
                        <a:t>Shipment Accuracy</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99.50%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467157515"/>
                  </a:ext>
                </a:extLst>
              </a:tr>
              <a:tr h="550945">
                <a:tc>
                  <a:txBody>
                    <a:bodyPr/>
                    <a:lstStyle/>
                    <a:p>
                      <a:pPr algn="ctr" rtl="0" fontAlgn="ctr"/>
                      <a:r>
                        <a:rPr lang="en-US" sz="1200" b="1" i="0" u="none" strike="noStrike" dirty="0">
                          <a:solidFill>
                            <a:schemeClr val="tx2"/>
                          </a:solidFill>
                          <a:effectLst/>
                          <a:highlight>
                            <a:srgbClr val="FF00FF"/>
                          </a:highlight>
                          <a:latin typeface="+mn-lt"/>
                        </a:rPr>
                        <a:t>Client Specific</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r>
                        <a:rPr lang="en-US" sz="1200" b="1" i="0" u="none" strike="noStrike" dirty="0">
                          <a:solidFill>
                            <a:schemeClr val="tx2"/>
                          </a:solidFill>
                          <a:effectLst/>
                          <a:highlight>
                            <a:srgbClr val="FF00FF"/>
                          </a:highlight>
                          <a:latin typeface="+mn-lt"/>
                        </a:rPr>
                        <a:t>100%</a:t>
                      </a: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ctr"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a:txBody>
                    <a:bodyPr/>
                    <a:lstStyle/>
                    <a:p>
                      <a:pPr algn="l" rtl="0" fontAlgn="ctr"/>
                      <a:endParaRPr lang="en-US" sz="1200" b="1" i="0" u="none" strike="noStrike" dirty="0">
                        <a:solidFill>
                          <a:schemeClr val="tx2"/>
                        </a:solidFill>
                        <a:effectLst/>
                        <a:highlight>
                          <a:srgbClr val="FF00FF"/>
                        </a:highlight>
                        <a:latin typeface="+mn-lt"/>
                      </a:endParaRPr>
                    </a:p>
                  </a:txBody>
                  <a:tcPr marL="6350" marR="6350" marT="635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744072494"/>
                  </a:ext>
                </a:extLst>
              </a:tr>
            </a:tbl>
          </a:graphicData>
        </a:graphic>
      </p:graphicFrame>
    </p:spTree>
    <p:extLst>
      <p:ext uri="{BB962C8B-B14F-4D97-AF65-F5344CB8AC3E}">
        <p14:creationId xmlns:p14="http://schemas.microsoft.com/office/powerpoint/2010/main" val="82783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AC499E-AF9A-B3F3-768A-27E6029DBC7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964713" y="1152088"/>
            <a:ext cx="5907855" cy="5105400"/>
          </a:xfrm>
          <a:prstGeom prst="rect">
            <a:avLst/>
          </a:prstGeom>
        </p:spPr>
      </p:pic>
      <p:sp>
        <p:nvSpPr>
          <p:cNvPr id="52" name="Rectangle 51">
            <a:extLst>
              <a:ext uri="{FF2B5EF4-FFF2-40B4-BE49-F238E27FC236}">
                <a16:creationId xmlns:a16="http://schemas.microsoft.com/office/drawing/2014/main" id="{C2A470C0-352B-51E9-6B63-D6383681EE37}"/>
              </a:ext>
            </a:extLst>
          </p:cNvPr>
          <p:cNvSpPr/>
          <p:nvPr/>
        </p:nvSpPr>
        <p:spPr>
          <a:xfrm rot="10800000">
            <a:off x="0" y="1143000"/>
            <a:ext cx="5821888" cy="5114488"/>
          </a:xfrm>
          <a:prstGeom prst="rect">
            <a:avLst/>
          </a:prstGeom>
          <a:gradFill flip="none" rotWithShape="1">
            <a:gsLst>
              <a:gs pos="58000">
                <a:schemeClr val="accent1"/>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4" name="Slide Number Placeholder 26">
            <a:extLst>
              <a:ext uri="{FF2B5EF4-FFF2-40B4-BE49-F238E27FC236}">
                <a16:creationId xmlns:a16="http://schemas.microsoft.com/office/drawing/2014/main" id="{1B465370-44A8-725D-3D4B-E5D7B2A037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A92F45-BA5D-4C7A-ACC7-D44B34072B97}" type="slidenum">
              <a:rPr kumimoji="0" lang="en-IN" sz="750" b="0" i="0" u="none" strike="noStrike" kern="1200" cap="none" spc="0" normalizeH="0" baseline="0" noProof="0" smtClean="0">
                <a:ln>
                  <a:noFill/>
                </a:ln>
                <a:solidFill>
                  <a:srgbClr val="8C8585"/>
                </a:solidFill>
                <a:effectLst/>
                <a:uLnTx/>
                <a:uFillTx/>
                <a:latin typeface="Verdana" panose="020B060403050404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750" b="0" i="0" u="none" strike="noStrike" kern="1200" cap="none" spc="0" normalizeH="0" baseline="0" noProof="0" dirty="0">
              <a:ln>
                <a:noFill/>
              </a:ln>
              <a:solidFill>
                <a:srgbClr val="8C8585"/>
              </a:solidFill>
              <a:effectLst/>
              <a:uLnTx/>
              <a:uFillTx/>
              <a:latin typeface="Verdana" panose="020B0604030504040204" pitchFamily="34" charset="0"/>
              <a:ea typeface="+mn-ea"/>
              <a:cs typeface="+mn-cs"/>
            </a:endParaRPr>
          </a:p>
        </p:txBody>
      </p:sp>
      <p:sp>
        <p:nvSpPr>
          <p:cNvPr id="5" name="Rectangle 4">
            <a:extLst>
              <a:ext uri="{FF2B5EF4-FFF2-40B4-BE49-F238E27FC236}">
                <a16:creationId xmlns:a16="http://schemas.microsoft.com/office/drawing/2014/main" id="{0D3455B1-06D5-D3EB-B139-39298E7470BB}"/>
              </a:ext>
            </a:extLst>
          </p:cNvPr>
          <p:cNvSpPr/>
          <p:nvPr/>
        </p:nvSpPr>
        <p:spPr>
          <a:xfrm>
            <a:off x="5667150" y="1143000"/>
            <a:ext cx="4172976" cy="5114488"/>
          </a:xfrm>
          <a:prstGeom prst="rect">
            <a:avLst/>
          </a:prstGeom>
          <a:gradFill flip="none" rotWithShape="1">
            <a:gsLst>
              <a:gs pos="51000">
                <a:schemeClr val="bg1"/>
              </a:gs>
              <a:gs pos="100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Verdana"/>
              <a:ea typeface="+mn-ea"/>
              <a:cs typeface="+mn-cs"/>
            </a:endParaRPr>
          </a:p>
        </p:txBody>
      </p:sp>
      <p:sp>
        <p:nvSpPr>
          <p:cNvPr id="6" name="Title 2">
            <a:extLst>
              <a:ext uri="{FF2B5EF4-FFF2-40B4-BE49-F238E27FC236}">
                <a16:creationId xmlns:a16="http://schemas.microsoft.com/office/drawing/2014/main" id="{56A045EE-697E-6080-E3DE-72C3EA68DCE4}"/>
              </a:ext>
            </a:extLst>
          </p:cNvPr>
          <p:cNvSpPr txBox="1">
            <a:spLocks/>
          </p:cNvSpPr>
          <p:nvPr/>
        </p:nvSpPr>
        <p:spPr>
          <a:xfrm>
            <a:off x="363600" y="363600"/>
            <a:ext cx="11460480" cy="383773"/>
          </a:xfrm>
          <a:prstGeom prst="rect">
            <a:avLst/>
          </a:prstGeom>
        </p:spPr>
        <p:txBody>
          <a:bodyPr vert="horz" lIns="0" tIns="0" rIns="0" bIns="0" rtlCol="0" anchor="t">
            <a:noAutofit/>
          </a:bodyPr>
          <a:lstStyle>
            <a:lvl1pPr algn="l" defTabSz="685800" rtl="0" eaLnBrk="1" latinLnBrk="0" hangingPunct="1">
              <a:lnSpc>
                <a:spcPct val="100000"/>
              </a:lnSpc>
              <a:spcBef>
                <a:spcPct val="0"/>
              </a:spcBef>
              <a:buNone/>
              <a:defRPr sz="2200" b="1" i="0" kern="1200">
                <a:solidFill>
                  <a:schemeClr val="accent2"/>
                </a:solidFill>
                <a:latin typeface="Verdana" panose="020B0604030504040204" pitchFamily="34" charset="0"/>
                <a:ea typeface="Verdana" panose="020B0604030504040204" pitchFamily="34" charset="0"/>
                <a:cs typeface="Verdana" panose="020B0604030504040204" pitchFamily="34" charset="0"/>
              </a:defRPr>
            </a:lvl1pPr>
          </a:lstStyle>
          <a:p>
            <a:r>
              <a:rPr lang="fr-FR" dirty="0"/>
              <a:t>PERFORMANCE SUMMARY</a:t>
            </a:r>
            <a:endParaRPr lang="en-US" dirty="0"/>
          </a:p>
        </p:txBody>
      </p:sp>
      <p:sp>
        <p:nvSpPr>
          <p:cNvPr id="7" name="Text Placeholder 3">
            <a:extLst>
              <a:ext uri="{FF2B5EF4-FFF2-40B4-BE49-F238E27FC236}">
                <a16:creationId xmlns:a16="http://schemas.microsoft.com/office/drawing/2014/main" id="{B5E2AE7D-353C-AC99-4FA7-F3F6F39DBE1C}"/>
              </a:ext>
            </a:extLst>
          </p:cNvPr>
          <p:cNvSpPr txBox="1">
            <a:spLocks/>
          </p:cNvSpPr>
          <p:nvPr/>
        </p:nvSpPr>
        <p:spPr>
          <a:xfrm>
            <a:off x="363600" y="763200"/>
            <a:ext cx="11460480" cy="223838"/>
          </a:xfrm>
          <a:prstGeom prst="rect">
            <a:avLst/>
          </a:prstGeom>
        </p:spPr>
        <p:txBody>
          <a:bodyPr vert="horz" lIns="0" tIns="0" rIns="0" bIns="0" rtlCol="0">
            <a:noAutofit/>
          </a:bodyPr>
          <a:lstStyle>
            <a:lvl1pPr marL="0" indent="0" algn="l" defTabSz="685800" rtl="0" eaLnBrk="1" latinLnBrk="0" hangingPunct="1">
              <a:lnSpc>
                <a:spcPct val="100000"/>
              </a:lnSpc>
              <a:spcBef>
                <a:spcPts val="1000"/>
              </a:spcBef>
              <a:buFont typeface="Arial"/>
              <a:buNone/>
              <a:defRPr sz="1800" i="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dirty="0">
                <a:highlight>
                  <a:srgbClr val="FF00FF"/>
                </a:highlight>
              </a:rPr>
              <a:t>Facility name or location</a:t>
            </a:r>
          </a:p>
        </p:txBody>
      </p:sp>
      <p:pic>
        <p:nvPicPr>
          <p:cNvPr id="23" name="MyUPSLogo">
            <a:extLst>
              <a:ext uri="{FF2B5EF4-FFF2-40B4-BE49-F238E27FC236}">
                <a16:creationId xmlns:a16="http://schemas.microsoft.com/office/drawing/2014/main" id="{8E0F3E9E-7329-7E68-1AFD-94716169A5E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2000" y="6413500"/>
            <a:ext cx="2104711" cy="374650"/>
          </a:xfrm>
          <a:prstGeom prst="rect">
            <a:avLst/>
          </a:prstGeom>
        </p:spPr>
      </p:pic>
      <p:grpSp>
        <p:nvGrpSpPr>
          <p:cNvPr id="55" name="Group 54">
            <a:extLst>
              <a:ext uri="{FF2B5EF4-FFF2-40B4-BE49-F238E27FC236}">
                <a16:creationId xmlns:a16="http://schemas.microsoft.com/office/drawing/2014/main" id="{E9B76965-7FB6-D4AA-1E7E-6CDF0B148407}"/>
              </a:ext>
            </a:extLst>
          </p:cNvPr>
          <p:cNvGrpSpPr/>
          <p:nvPr/>
        </p:nvGrpSpPr>
        <p:grpSpPr>
          <a:xfrm>
            <a:off x="323378" y="2703366"/>
            <a:ext cx="4047900" cy="1121722"/>
            <a:chOff x="323378" y="2475105"/>
            <a:chExt cx="4047900" cy="1121722"/>
          </a:xfrm>
        </p:grpSpPr>
        <p:sp>
          <p:nvSpPr>
            <p:cNvPr id="3" name="Rectangle 2">
              <a:extLst>
                <a:ext uri="{FF2B5EF4-FFF2-40B4-BE49-F238E27FC236}">
                  <a16:creationId xmlns:a16="http://schemas.microsoft.com/office/drawing/2014/main" id="{B0033AB1-6C50-DDC1-A587-0AB12C665ED7}"/>
                </a:ext>
              </a:extLst>
            </p:cNvPr>
            <p:cNvSpPr/>
            <p:nvPr/>
          </p:nvSpPr>
          <p:spPr>
            <a:xfrm>
              <a:off x="323378" y="3286486"/>
              <a:ext cx="4047900" cy="310341"/>
            </a:xfrm>
            <a:prstGeom prst="rect">
              <a:avLst/>
            </a:prstGeom>
            <a:noFill/>
          </p:spPr>
          <p:txBody>
            <a:bodyPr wrap="square">
              <a:spAutoFit/>
            </a:bodyPr>
            <a:lstStyle/>
            <a:p>
              <a:pPr marL="0" marR="0" lvl="0" indent="0" defTabSz="914400" rtl="0" eaLnBrk="1" fontAlgn="auto" latinLnBrk="0" hangingPunct="1">
                <a:lnSpc>
                  <a:spcPts val="1651"/>
                </a:lnSpc>
                <a:spcBef>
                  <a:spcPts val="0"/>
                </a:spcBef>
                <a:spcAft>
                  <a:spcPts val="1500"/>
                </a:spcAft>
                <a:buClrTx/>
                <a:buSzTx/>
                <a:buFontTx/>
                <a:buNone/>
                <a:tabLst/>
                <a:defRPr/>
              </a:pPr>
              <a:r>
                <a:rPr kumimoji="0" lang="en-US" sz="1600" b="0" i="0" u="none" strike="noStrike" kern="1200" cap="none" spc="0" normalizeH="0" baseline="0" noProof="0" dirty="0">
                  <a:ln>
                    <a:noFill/>
                  </a:ln>
                  <a:solidFill>
                    <a:schemeClr val="bg1"/>
                  </a:solidFill>
                  <a:effectLst/>
                  <a:uLnTx/>
                  <a:uFillTx/>
                  <a:ea typeface="Times New Roman" panose="02020603050405020304" pitchFamily="18" charset="0"/>
                  <a:cs typeface="+mn-cs"/>
                </a:rPr>
                <a:t>Customer specific info</a:t>
              </a:r>
              <a:endParaRPr kumimoji="0" lang="en-US" sz="1600" b="1" i="1" u="none" strike="noStrike" kern="1200" cap="none" spc="0" normalizeH="0" baseline="0" noProof="0" dirty="0">
                <a:ln>
                  <a:noFill/>
                </a:ln>
                <a:solidFill>
                  <a:schemeClr val="bg1"/>
                </a:solidFill>
                <a:effectLst/>
                <a:uLnTx/>
                <a:uFillTx/>
                <a:ea typeface="Times New Roman" panose="02020603050405020304" pitchFamily="18" charset="0"/>
                <a:cs typeface="+mn-cs"/>
              </a:endParaRPr>
            </a:p>
          </p:txBody>
        </p:sp>
        <p:sp>
          <p:nvSpPr>
            <p:cNvPr id="26" name="Rectangle 25">
              <a:extLst>
                <a:ext uri="{FF2B5EF4-FFF2-40B4-BE49-F238E27FC236}">
                  <a16:creationId xmlns:a16="http://schemas.microsoft.com/office/drawing/2014/main" id="{25723E83-BE6C-19BA-87C7-638E7F93A5C2}"/>
                </a:ext>
              </a:extLst>
            </p:cNvPr>
            <p:cNvSpPr/>
            <p:nvPr/>
          </p:nvSpPr>
          <p:spPr>
            <a:xfrm>
              <a:off x="323378" y="2475105"/>
              <a:ext cx="3640125" cy="369332"/>
            </a:xfrm>
            <a:prstGeom prst="rect">
              <a:avLst/>
            </a:prstGeom>
          </p:spPr>
          <p:txBody>
            <a:bodyPr wrap="square">
              <a:spAutoFit/>
            </a:bodyPr>
            <a:lstStyle/>
            <a:p>
              <a:pPr marL="0" marR="0" lvl="0" indent="0" defTabSz="914400" rtl="0" eaLnBrk="1" fontAlgn="auto" latinLnBrk="0" hangingPunct="1">
                <a:spcBef>
                  <a:spcPts val="0"/>
                </a:spcBef>
                <a:spcAft>
                  <a:spcPts val="1500"/>
                </a:spcAft>
                <a:buClrTx/>
                <a:buSzTx/>
                <a:buFontTx/>
                <a:buNone/>
                <a:tabLst/>
                <a:defRPr/>
              </a:pPr>
              <a:r>
                <a:rPr kumimoji="0" lang="en-US" b="1"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rPr>
                <a:t>CUSTOMER NAME</a:t>
              </a:r>
            </a:p>
          </p:txBody>
        </p:sp>
      </p:grpSp>
      <p:sp>
        <p:nvSpPr>
          <p:cNvPr id="2" name="Oval 1">
            <a:extLst>
              <a:ext uri="{FF2B5EF4-FFF2-40B4-BE49-F238E27FC236}">
                <a16:creationId xmlns:a16="http://schemas.microsoft.com/office/drawing/2014/main" id="{D694F54E-6576-0A4C-8D72-4BC3EACE8362}"/>
              </a:ext>
            </a:extLst>
          </p:cNvPr>
          <p:cNvSpPr/>
          <p:nvPr/>
        </p:nvSpPr>
        <p:spPr>
          <a:xfrm>
            <a:off x="6945184" y="4352214"/>
            <a:ext cx="839544" cy="839544"/>
          </a:xfrm>
          <a:prstGeom prst="ellipse">
            <a:avLst/>
          </a:prstGeom>
          <a:solidFill>
            <a:schemeClr val="bg1"/>
          </a:solidFill>
          <a:ln w="38100">
            <a:solidFill>
              <a:schemeClr val="accent2"/>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0" name="Content Placeholder 2">
            <a:extLst>
              <a:ext uri="{FF2B5EF4-FFF2-40B4-BE49-F238E27FC236}">
                <a16:creationId xmlns:a16="http://schemas.microsoft.com/office/drawing/2014/main" id="{B733F831-E65F-EB8D-FFD3-A33C9557E280}"/>
              </a:ext>
            </a:extLst>
          </p:cNvPr>
          <p:cNvSpPr txBox="1">
            <a:spLocks/>
          </p:cNvSpPr>
          <p:nvPr/>
        </p:nvSpPr>
        <p:spPr>
          <a:xfrm>
            <a:off x="7820897" y="4503226"/>
            <a:ext cx="4007855" cy="62418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id-ID" sz="1800" b="1" i="0" u="none" strike="noStrike" kern="1200" cap="none" spc="0" normalizeH="0" baseline="0" noProof="0">
                <a:ln>
                  <a:noFill/>
                </a:ln>
                <a:solidFill>
                  <a:schemeClr val="accent2"/>
                </a:solidFill>
                <a:effectLst/>
                <a:uLnTx/>
                <a:uFillTx/>
                <a:ea typeface="+mn-ea"/>
                <a:cs typeface="+mn-cs"/>
              </a:rPr>
              <a:t>1K+ Regulatory Audits</a:t>
            </a:r>
            <a:r>
              <a:rPr kumimoji="0" lang="en-US" sz="1800" b="1" i="0" u="none" strike="noStrike" kern="1200" cap="none" spc="0" normalizeH="0" baseline="0" noProof="0" dirty="0">
                <a:ln>
                  <a:noFill/>
                </a:ln>
                <a:solidFill>
                  <a:schemeClr val="accent2"/>
                </a:solidFill>
                <a:effectLst/>
                <a:uLnTx/>
                <a:uFillTx/>
                <a:ea typeface="+mn-ea"/>
                <a:cs typeface="+mn-cs"/>
              </a:rPr>
              <a:t>/Year</a:t>
            </a:r>
            <a:endParaRPr kumimoji="0" lang="id-ID" sz="1800" b="1" i="0" u="none" strike="noStrike" kern="1200" cap="none" spc="0" normalizeH="0" baseline="0" noProof="0">
              <a:ln>
                <a:noFill/>
              </a:ln>
              <a:solidFill>
                <a:schemeClr val="accent2"/>
              </a:solidFill>
              <a:effectLst/>
              <a:uLnTx/>
              <a:uFillTx/>
              <a:ea typeface="+mn-ea"/>
              <a:cs typeface="+mn-cs"/>
            </a:endParaRP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1" u="sng" strike="noStrike" kern="1200" cap="none" spc="0" normalizeH="0" baseline="0" noProof="0" dirty="0">
                <a:ln>
                  <a:noFill/>
                </a:ln>
                <a:solidFill>
                  <a:schemeClr val="tx1">
                    <a:lumMod val="50000"/>
                    <a:lumOff val="50000"/>
                  </a:schemeClr>
                </a:solidFill>
                <a:effectLst/>
                <a:uLnTx/>
                <a:uFillTx/>
                <a:ea typeface="+mn-ea"/>
                <a:cs typeface="+mn-cs"/>
              </a:rPr>
              <a:t>ZERO</a:t>
            </a:r>
            <a:r>
              <a:rPr kumimoji="0" lang="en-US" b="0" i="0" u="none" strike="noStrike" kern="1200" cap="none" spc="0" normalizeH="0" baseline="0" noProof="0" dirty="0">
                <a:ln>
                  <a:noFill/>
                </a:ln>
                <a:solidFill>
                  <a:schemeClr val="tx1">
                    <a:lumMod val="50000"/>
                    <a:lumOff val="50000"/>
                  </a:schemeClr>
                </a:solidFill>
                <a:effectLst/>
                <a:uLnTx/>
                <a:uFillTx/>
                <a:ea typeface="+mn-ea"/>
                <a:cs typeface="+mn-cs"/>
              </a:rPr>
              <a:t> Critical Findings</a:t>
            </a:r>
            <a:r>
              <a:rPr kumimoji="0" lang="en-US" b="0" i="0" u="none" strike="noStrike" kern="1200" cap="none" spc="0" normalizeH="0" baseline="30000" noProof="0" dirty="0">
                <a:ln>
                  <a:noFill/>
                </a:ln>
                <a:solidFill>
                  <a:schemeClr val="tx1">
                    <a:lumMod val="50000"/>
                    <a:lumOff val="50000"/>
                  </a:schemeClr>
                </a:solidFill>
                <a:effectLst/>
                <a:uLnTx/>
                <a:uFillTx/>
                <a:ea typeface="+mn-ea"/>
                <a:cs typeface="+mn-cs"/>
              </a:rPr>
              <a:t>1</a:t>
            </a:r>
            <a:endParaRPr kumimoji="0" lang="en-US" b="0" i="0" u="none" strike="noStrike" kern="1200" cap="none" spc="0" normalizeH="0" baseline="0" noProof="0" dirty="0">
              <a:ln>
                <a:noFill/>
              </a:ln>
              <a:solidFill>
                <a:schemeClr val="tx1">
                  <a:lumMod val="50000"/>
                  <a:lumOff val="50000"/>
                </a:schemeClr>
              </a:solidFill>
              <a:effectLst/>
              <a:uLnTx/>
              <a:uFillTx/>
              <a:ea typeface="+mn-ea"/>
              <a:cs typeface="+mn-cs"/>
            </a:endParaRPr>
          </a:p>
        </p:txBody>
      </p:sp>
      <p:sp>
        <p:nvSpPr>
          <p:cNvPr id="32" name="Freeform 346">
            <a:extLst>
              <a:ext uri="{FF2B5EF4-FFF2-40B4-BE49-F238E27FC236}">
                <a16:creationId xmlns:a16="http://schemas.microsoft.com/office/drawing/2014/main" id="{1DA3E060-1845-472D-8A31-CF97A8E03E01}"/>
              </a:ext>
            </a:extLst>
          </p:cNvPr>
          <p:cNvSpPr>
            <a:spLocks noChangeAspect="1" noEditPoints="1"/>
          </p:cNvSpPr>
          <p:nvPr/>
        </p:nvSpPr>
        <p:spPr bwMode="auto">
          <a:xfrm>
            <a:off x="7099128" y="4507370"/>
            <a:ext cx="531656" cy="531654"/>
          </a:xfrm>
          <a:custGeom>
            <a:avLst/>
            <a:gdLst>
              <a:gd name="T0" fmla="*/ 24 w 42"/>
              <a:gd name="T1" fmla="*/ 40 h 42"/>
              <a:gd name="T2" fmla="*/ 17 w 42"/>
              <a:gd name="T3" fmla="*/ 40 h 42"/>
              <a:gd name="T4" fmla="*/ 2 w 42"/>
              <a:gd name="T5" fmla="*/ 25 h 42"/>
              <a:gd name="T6" fmla="*/ 2 w 42"/>
              <a:gd name="T7" fmla="*/ 18 h 42"/>
              <a:gd name="T8" fmla="*/ 17 w 42"/>
              <a:gd name="T9" fmla="*/ 2 h 42"/>
              <a:gd name="T10" fmla="*/ 24 w 42"/>
              <a:gd name="T11" fmla="*/ 2 h 42"/>
              <a:gd name="T12" fmla="*/ 31 w 42"/>
              <a:gd name="T13" fmla="*/ 9 h 42"/>
              <a:gd name="T14" fmla="*/ 21 w 42"/>
              <a:gd name="T15" fmla="*/ 20 h 42"/>
              <a:gd name="T16" fmla="*/ 16 w 42"/>
              <a:gd name="T17" fmla="*/ 15 h 42"/>
              <a:gd name="T18" fmla="*/ 13 w 42"/>
              <a:gd name="T19" fmla="*/ 14 h 42"/>
              <a:gd name="T20" fmla="*/ 10 w 42"/>
              <a:gd name="T21" fmla="*/ 15 h 42"/>
              <a:gd name="T22" fmla="*/ 7 w 42"/>
              <a:gd name="T23" fmla="*/ 18 h 42"/>
              <a:gd name="T24" fmla="*/ 6 w 42"/>
              <a:gd name="T25" fmla="*/ 21 h 42"/>
              <a:gd name="T26" fmla="*/ 7 w 42"/>
              <a:gd name="T27" fmla="*/ 23 h 42"/>
              <a:gd name="T28" fmla="*/ 18 w 42"/>
              <a:gd name="T29" fmla="*/ 34 h 42"/>
              <a:gd name="T30" fmla="*/ 20 w 42"/>
              <a:gd name="T31" fmla="*/ 35 h 42"/>
              <a:gd name="T32" fmla="*/ 20 w 42"/>
              <a:gd name="T33" fmla="*/ 35 h 42"/>
              <a:gd name="T34" fmla="*/ 21 w 42"/>
              <a:gd name="T35" fmla="*/ 35 h 42"/>
              <a:gd name="T36" fmla="*/ 23 w 42"/>
              <a:gd name="T37" fmla="*/ 34 h 42"/>
              <a:gd name="T38" fmla="*/ 40 w 42"/>
              <a:gd name="T39" fmla="*/ 18 h 42"/>
              <a:gd name="T40" fmla="*/ 40 w 42"/>
              <a:gd name="T41" fmla="*/ 18 h 42"/>
              <a:gd name="T42" fmla="*/ 40 w 42"/>
              <a:gd name="T43" fmla="*/ 25 h 42"/>
              <a:gd name="T44" fmla="*/ 24 w 42"/>
              <a:gd name="T45" fmla="*/ 40 h 42"/>
              <a:gd name="T46" fmla="*/ 41 w 42"/>
              <a:gd name="T47" fmla="*/ 11 h 42"/>
              <a:gd name="T48" fmla="*/ 41 w 42"/>
              <a:gd name="T49" fmla="*/ 13 h 42"/>
              <a:gd name="T50" fmla="*/ 21 w 42"/>
              <a:gd name="T51" fmla="*/ 33 h 42"/>
              <a:gd name="T52" fmla="*/ 20 w 42"/>
              <a:gd name="T53" fmla="*/ 33 h 42"/>
              <a:gd name="T54" fmla="*/ 20 w 42"/>
              <a:gd name="T55" fmla="*/ 33 h 42"/>
              <a:gd name="T56" fmla="*/ 20 w 42"/>
              <a:gd name="T57" fmla="*/ 33 h 42"/>
              <a:gd name="T58" fmla="*/ 9 w 42"/>
              <a:gd name="T59" fmla="*/ 22 h 42"/>
              <a:gd name="T60" fmla="*/ 9 w 42"/>
              <a:gd name="T61" fmla="*/ 20 h 42"/>
              <a:gd name="T62" fmla="*/ 12 w 42"/>
              <a:gd name="T63" fmla="*/ 16 h 42"/>
              <a:gd name="T64" fmla="*/ 13 w 42"/>
              <a:gd name="T65" fmla="*/ 16 h 42"/>
              <a:gd name="T66" fmla="*/ 14 w 42"/>
              <a:gd name="T67" fmla="*/ 16 h 42"/>
              <a:gd name="T68" fmla="*/ 21 w 42"/>
              <a:gd name="T69" fmla="*/ 23 h 42"/>
              <a:gd name="T70" fmla="*/ 36 w 42"/>
              <a:gd name="T71" fmla="*/ 8 h 42"/>
              <a:gd name="T72" fmla="*/ 37 w 42"/>
              <a:gd name="T73" fmla="*/ 7 h 42"/>
              <a:gd name="T74" fmla="*/ 38 w 42"/>
              <a:gd name="T75" fmla="*/ 8 h 42"/>
              <a:gd name="T76" fmla="*/ 41 w 42"/>
              <a:gd name="T77"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2" h="42">
                <a:moveTo>
                  <a:pt x="24" y="40"/>
                </a:moveTo>
                <a:cubicBezTo>
                  <a:pt x="22" y="42"/>
                  <a:pt x="19" y="42"/>
                  <a:pt x="17" y="40"/>
                </a:cubicBezTo>
                <a:cubicBezTo>
                  <a:pt x="2" y="25"/>
                  <a:pt x="2" y="25"/>
                  <a:pt x="2" y="25"/>
                </a:cubicBezTo>
                <a:cubicBezTo>
                  <a:pt x="0" y="23"/>
                  <a:pt x="0" y="20"/>
                  <a:pt x="2" y="18"/>
                </a:cubicBezTo>
                <a:cubicBezTo>
                  <a:pt x="17" y="2"/>
                  <a:pt x="17" y="2"/>
                  <a:pt x="17" y="2"/>
                </a:cubicBezTo>
                <a:cubicBezTo>
                  <a:pt x="19" y="0"/>
                  <a:pt x="22" y="0"/>
                  <a:pt x="24" y="2"/>
                </a:cubicBezTo>
                <a:cubicBezTo>
                  <a:pt x="31" y="9"/>
                  <a:pt x="31" y="9"/>
                  <a:pt x="31" y="9"/>
                </a:cubicBezTo>
                <a:cubicBezTo>
                  <a:pt x="21" y="20"/>
                  <a:pt x="21" y="20"/>
                  <a:pt x="21" y="20"/>
                </a:cubicBezTo>
                <a:cubicBezTo>
                  <a:pt x="16" y="15"/>
                  <a:pt x="16" y="15"/>
                  <a:pt x="16" y="15"/>
                </a:cubicBezTo>
                <a:cubicBezTo>
                  <a:pt x="15" y="14"/>
                  <a:pt x="14" y="14"/>
                  <a:pt x="13" y="14"/>
                </a:cubicBezTo>
                <a:cubicBezTo>
                  <a:pt x="12" y="14"/>
                  <a:pt x="11" y="14"/>
                  <a:pt x="10" y="15"/>
                </a:cubicBezTo>
                <a:cubicBezTo>
                  <a:pt x="7" y="18"/>
                  <a:pt x="7" y="18"/>
                  <a:pt x="7" y="18"/>
                </a:cubicBezTo>
                <a:cubicBezTo>
                  <a:pt x="6" y="19"/>
                  <a:pt x="6" y="20"/>
                  <a:pt x="6" y="21"/>
                </a:cubicBezTo>
                <a:cubicBezTo>
                  <a:pt x="6" y="22"/>
                  <a:pt x="6" y="23"/>
                  <a:pt x="7" y="23"/>
                </a:cubicBezTo>
                <a:cubicBezTo>
                  <a:pt x="18" y="34"/>
                  <a:pt x="18" y="34"/>
                  <a:pt x="18" y="34"/>
                </a:cubicBezTo>
                <a:cubicBezTo>
                  <a:pt x="18" y="35"/>
                  <a:pt x="19" y="35"/>
                  <a:pt x="20" y="35"/>
                </a:cubicBezTo>
                <a:cubicBezTo>
                  <a:pt x="20" y="35"/>
                  <a:pt x="20" y="35"/>
                  <a:pt x="20" y="35"/>
                </a:cubicBezTo>
                <a:cubicBezTo>
                  <a:pt x="21" y="35"/>
                  <a:pt x="21" y="35"/>
                  <a:pt x="21" y="35"/>
                </a:cubicBezTo>
                <a:cubicBezTo>
                  <a:pt x="22" y="35"/>
                  <a:pt x="23" y="35"/>
                  <a:pt x="23" y="34"/>
                </a:cubicBezTo>
                <a:cubicBezTo>
                  <a:pt x="40" y="18"/>
                  <a:pt x="40" y="18"/>
                  <a:pt x="40" y="18"/>
                </a:cubicBezTo>
                <a:cubicBezTo>
                  <a:pt x="40" y="18"/>
                  <a:pt x="40" y="18"/>
                  <a:pt x="40" y="18"/>
                </a:cubicBezTo>
                <a:cubicBezTo>
                  <a:pt x="42" y="20"/>
                  <a:pt x="42" y="23"/>
                  <a:pt x="40" y="25"/>
                </a:cubicBezTo>
                <a:lnTo>
                  <a:pt x="24" y="40"/>
                </a:lnTo>
                <a:close/>
                <a:moveTo>
                  <a:pt x="41" y="11"/>
                </a:moveTo>
                <a:cubicBezTo>
                  <a:pt x="42" y="12"/>
                  <a:pt x="42" y="12"/>
                  <a:pt x="41" y="13"/>
                </a:cubicBezTo>
                <a:cubicBezTo>
                  <a:pt x="21" y="33"/>
                  <a:pt x="21" y="33"/>
                  <a:pt x="21" y="33"/>
                </a:cubicBezTo>
                <a:cubicBezTo>
                  <a:pt x="21" y="33"/>
                  <a:pt x="21" y="33"/>
                  <a:pt x="20" y="33"/>
                </a:cubicBezTo>
                <a:cubicBezTo>
                  <a:pt x="20" y="33"/>
                  <a:pt x="20" y="33"/>
                  <a:pt x="20" y="33"/>
                </a:cubicBezTo>
                <a:cubicBezTo>
                  <a:pt x="20" y="33"/>
                  <a:pt x="20" y="33"/>
                  <a:pt x="20" y="33"/>
                </a:cubicBezTo>
                <a:cubicBezTo>
                  <a:pt x="9" y="22"/>
                  <a:pt x="9" y="22"/>
                  <a:pt x="9" y="22"/>
                </a:cubicBezTo>
                <a:cubicBezTo>
                  <a:pt x="8" y="21"/>
                  <a:pt x="8" y="20"/>
                  <a:pt x="9" y="20"/>
                </a:cubicBezTo>
                <a:cubicBezTo>
                  <a:pt x="12" y="16"/>
                  <a:pt x="12" y="16"/>
                  <a:pt x="12" y="16"/>
                </a:cubicBezTo>
                <a:cubicBezTo>
                  <a:pt x="12" y="16"/>
                  <a:pt x="12" y="16"/>
                  <a:pt x="13" y="16"/>
                </a:cubicBezTo>
                <a:cubicBezTo>
                  <a:pt x="13" y="16"/>
                  <a:pt x="14" y="16"/>
                  <a:pt x="14" y="16"/>
                </a:cubicBezTo>
                <a:cubicBezTo>
                  <a:pt x="21" y="23"/>
                  <a:pt x="21" y="23"/>
                  <a:pt x="21" y="23"/>
                </a:cubicBezTo>
                <a:cubicBezTo>
                  <a:pt x="36" y="8"/>
                  <a:pt x="36" y="8"/>
                  <a:pt x="36" y="8"/>
                </a:cubicBezTo>
                <a:cubicBezTo>
                  <a:pt x="36" y="8"/>
                  <a:pt x="36" y="7"/>
                  <a:pt x="37" y="7"/>
                </a:cubicBezTo>
                <a:cubicBezTo>
                  <a:pt x="37" y="7"/>
                  <a:pt x="38" y="8"/>
                  <a:pt x="38" y="8"/>
                </a:cubicBezTo>
                <a:lnTo>
                  <a:pt x="41" y="11"/>
                </a:lnTo>
                <a:close/>
              </a:path>
            </a:pathLst>
          </a:custGeom>
          <a:solidFill>
            <a:schemeClr val="accent2"/>
          </a:solidFill>
          <a:ln>
            <a:noFill/>
          </a:ln>
        </p:spPr>
        <p:txBody>
          <a:bodyPr vert="horz" wrap="square" lIns="91416" tIns="45708" rIns="91416" bIns="4570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000" b="0" i="0" u="none" strike="noStrike" kern="1200" cap="none" spc="0" normalizeH="0" baseline="0" noProof="0" dirty="0">
              <a:ln>
                <a:noFill/>
              </a:ln>
              <a:solidFill>
                <a:prstClr val="black"/>
              </a:solidFill>
              <a:effectLst/>
              <a:uLnTx/>
              <a:uFillTx/>
              <a:latin typeface="Montserrat" pitchFamily="2" charset="77"/>
              <a:ea typeface="+mn-ea"/>
              <a:cs typeface="+mn-cs"/>
            </a:endParaRPr>
          </a:p>
        </p:txBody>
      </p:sp>
      <p:sp>
        <p:nvSpPr>
          <p:cNvPr id="9" name="Oval 8">
            <a:extLst>
              <a:ext uri="{FF2B5EF4-FFF2-40B4-BE49-F238E27FC236}">
                <a16:creationId xmlns:a16="http://schemas.microsoft.com/office/drawing/2014/main" id="{48FCBBB9-77CD-481F-46FE-8E188C55E1D0}"/>
              </a:ext>
            </a:extLst>
          </p:cNvPr>
          <p:cNvSpPr/>
          <p:nvPr/>
        </p:nvSpPr>
        <p:spPr>
          <a:xfrm>
            <a:off x="6945184" y="1155030"/>
            <a:ext cx="839544" cy="839544"/>
          </a:xfrm>
          <a:prstGeom prst="ellipse">
            <a:avLst/>
          </a:prstGeom>
          <a:solidFill>
            <a:schemeClr val="bg1"/>
          </a:solidFill>
          <a:ln w="38100">
            <a:solidFill>
              <a:schemeClr val="accent4"/>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7" name="Content Placeholder 2">
            <a:extLst>
              <a:ext uri="{FF2B5EF4-FFF2-40B4-BE49-F238E27FC236}">
                <a16:creationId xmlns:a16="http://schemas.microsoft.com/office/drawing/2014/main" id="{AED73B66-164A-9C89-9D22-9830336D1A0F}"/>
              </a:ext>
            </a:extLst>
          </p:cNvPr>
          <p:cNvSpPr txBox="1">
            <a:spLocks/>
          </p:cNvSpPr>
          <p:nvPr/>
        </p:nvSpPr>
        <p:spPr>
          <a:xfrm>
            <a:off x="7820897" y="1359661"/>
            <a:ext cx="3051764" cy="42402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defTabSz="914127">
              <a:lnSpc>
                <a:spcPts val="1600"/>
              </a:lnSpc>
              <a:spcBef>
                <a:spcPts val="0"/>
              </a:spcBef>
              <a:spcAft>
                <a:spcPts val="1200"/>
              </a:spcAft>
              <a:buNone/>
              <a:defRPr/>
            </a:pPr>
            <a:r>
              <a:rPr kumimoji="0" lang="id-ID" sz="1800" b="1" i="0" u="none" strike="noStrike" kern="1200" cap="none" spc="0" normalizeH="0" baseline="0" noProof="0">
                <a:ln>
                  <a:noFill/>
                </a:ln>
                <a:solidFill>
                  <a:srgbClr val="FFBE00"/>
                </a:solidFill>
                <a:effectLst/>
                <a:uLnTx/>
                <a:uFillTx/>
                <a:ea typeface="+mn-ea"/>
                <a:cs typeface="+mn-cs"/>
              </a:rPr>
              <a:t>Ship to Delivery</a:t>
            </a:r>
            <a:br>
              <a:rPr kumimoji="0" lang="en-US" sz="1800" b="1" i="0" u="none" strike="noStrike" kern="1200" cap="none" spc="0" normalizeH="0" baseline="0" noProof="0" dirty="0">
                <a:ln>
                  <a:noFill/>
                </a:ln>
                <a:solidFill>
                  <a:srgbClr val="2D3847"/>
                </a:solidFill>
                <a:effectLst/>
                <a:uLnTx/>
                <a:uFillTx/>
                <a:ea typeface="+mn-ea"/>
                <a:cs typeface="+mn-cs"/>
              </a:rPr>
            </a:br>
            <a:r>
              <a:rPr lang="en-US" dirty="0">
                <a:solidFill>
                  <a:schemeClr val="tx1">
                    <a:lumMod val="50000"/>
                    <a:lumOff val="50000"/>
                  </a:schemeClr>
                </a:solidFill>
                <a:ea typeface="Verdana" panose="020B0604030504040204" pitchFamily="34" charset="0"/>
                <a:cs typeface="Open Sans" panose="020B0606030504020204" pitchFamily="34" charset="0"/>
              </a:rPr>
              <a:t>1.07 Avg Business Days</a:t>
            </a:r>
            <a:r>
              <a:rPr lang="en-US" baseline="30000" dirty="0">
                <a:solidFill>
                  <a:schemeClr val="tx1">
                    <a:lumMod val="50000"/>
                    <a:lumOff val="50000"/>
                  </a:schemeClr>
                </a:solidFill>
                <a:ea typeface="Verdana" panose="020B0604030504040204" pitchFamily="34" charset="0"/>
                <a:cs typeface="Open Sans" panose="020B0606030504020204" pitchFamily="34" charset="0"/>
              </a:rPr>
              <a:t>1</a:t>
            </a:r>
            <a:r>
              <a:rPr lang="en-US" dirty="0">
                <a:solidFill>
                  <a:schemeClr val="tx1">
                    <a:lumMod val="50000"/>
                    <a:lumOff val="50000"/>
                  </a:schemeClr>
                </a:solidFill>
                <a:ea typeface="Verdana" panose="020B0604030504040204" pitchFamily="34" charset="0"/>
                <a:cs typeface="Open Sans" panose="020B0606030504020204" pitchFamily="34" charset="0"/>
              </a:rPr>
              <a:t>*</a:t>
            </a:r>
          </a:p>
        </p:txBody>
      </p:sp>
      <p:grpSp>
        <p:nvGrpSpPr>
          <p:cNvPr id="33" name="Google Shape;736;p38">
            <a:extLst>
              <a:ext uri="{FF2B5EF4-FFF2-40B4-BE49-F238E27FC236}">
                <a16:creationId xmlns:a16="http://schemas.microsoft.com/office/drawing/2014/main" id="{3304526C-A307-045A-FA2B-61F421E0DF64}"/>
              </a:ext>
            </a:extLst>
          </p:cNvPr>
          <p:cNvGrpSpPr/>
          <p:nvPr/>
        </p:nvGrpSpPr>
        <p:grpSpPr>
          <a:xfrm>
            <a:off x="7107558" y="1410313"/>
            <a:ext cx="514796" cy="328978"/>
            <a:chOff x="3891221" y="4968053"/>
            <a:chExt cx="586567" cy="362655"/>
          </a:xfrm>
          <a:solidFill>
            <a:srgbClr val="FFBE00"/>
          </a:solidFill>
        </p:grpSpPr>
        <p:sp>
          <p:nvSpPr>
            <p:cNvPr id="34" name="Google Shape;737;p38">
              <a:extLst>
                <a:ext uri="{FF2B5EF4-FFF2-40B4-BE49-F238E27FC236}">
                  <a16:creationId xmlns:a16="http://schemas.microsoft.com/office/drawing/2014/main" id="{400B88EC-43B4-5709-9B3F-A6F8D43A6C78}"/>
                </a:ext>
              </a:extLst>
            </p:cNvPr>
            <p:cNvSpPr/>
            <p:nvPr/>
          </p:nvSpPr>
          <p:spPr>
            <a:xfrm>
              <a:off x="3891221" y="5029869"/>
              <a:ext cx="586567" cy="245891"/>
            </a:xfrm>
            <a:custGeom>
              <a:avLst/>
              <a:gdLst/>
              <a:ahLst/>
              <a:cxnLst/>
              <a:rect l="l" t="t" r="r" b="b"/>
              <a:pathLst>
                <a:path w="86" h="36" extrusionOk="0">
                  <a:moveTo>
                    <a:pt x="79" y="1"/>
                  </a:moveTo>
                  <a:cubicBezTo>
                    <a:pt x="79" y="1"/>
                    <a:pt x="78" y="0"/>
                    <a:pt x="78" y="0"/>
                  </a:cubicBezTo>
                  <a:cubicBezTo>
                    <a:pt x="67" y="0"/>
                    <a:pt x="67" y="0"/>
                    <a:pt x="67" y="0"/>
                  </a:cubicBezTo>
                  <a:cubicBezTo>
                    <a:pt x="66" y="0"/>
                    <a:pt x="66" y="0"/>
                    <a:pt x="66" y="0"/>
                  </a:cubicBezTo>
                  <a:cubicBezTo>
                    <a:pt x="62" y="0"/>
                    <a:pt x="62" y="0"/>
                    <a:pt x="62" y="0"/>
                  </a:cubicBezTo>
                  <a:cubicBezTo>
                    <a:pt x="62" y="23"/>
                    <a:pt x="62" y="23"/>
                    <a:pt x="62" y="23"/>
                  </a:cubicBezTo>
                  <a:cubicBezTo>
                    <a:pt x="62" y="26"/>
                    <a:pt x="62" y="26"/>
                    <a:pt x="62" y="26"/>
                  </a:cubicBezTo>
                  <a:cubicBezTo>
                    <a:pt x="59" y="26"/>
                    <a:pt x="59" y="26"/>
                    <a:pt x="59" y="26"/>
                  </a:cubicBezTo>
                  <a:cubicBezTo>
                    <a:pt x="0" y="26"/>
                    <a:pt x="0" y="26"/>
                    <a:pt x="0" y="26"/>
                  </a:cubicBezTo>
                  <a:cubicBezTo>
                    <a:pt x="0" y="34"/>
                    <a:pt x="0" y="34"/>
                    <a:pt x="0" y="34"/>
                  </a:cubicBezTo>
                  <a:cubicBezTo>
                    <a:pt x="0" y="35"/>
                    <a:pt x="2" y="36"/>
                    <a:pt x="3" y="36"/>
                  </a:cubicBezTo>
                  <a:cubicBezTo>
                    <a:pt x="3" y="36"/>
                    <a:pt x="3" y="36"/>
                    <a:pt x="3" y="36"/>
                  </a:cubicBezTo>
                  <a:cubicBezTo>
                    <a:pt x="4" y="32"/>
                    <a:pt x="8" y="28"/>
                    <a:pt x="12" y="28"/>
                  </a:cubicBezTo>
                  <a:cubicBezTo>
                    <a:pt x="17" y="28"/>
                    <a:pt x="21" y="32"/>
                    <a:pt x="22" y="36"/>
                  </a:cubicBezTo>
                  <a:cubicBezTo>
                    <a:pt x="65" y="36"/>
                    <a:pt x="65" y="36"/>
                    <a:pt x="65" y="36"/>
                  </a:cubicBezTo>
                  <a:cubicBezTo>
                    <a:pt x="65" y="32"/>
                    <a:pt x="69" y="28"/>
                    <a:pt x="74" y="28"/>
                  </a:cubicBezTo>
                  <a:cubicBezTo>
                    <a:pt x="78" y="28"/>
                    <a:pt x="82" y="32"/>
                    <a:pt x="83" y="36"/>
                  </a:cubicBezTo>
                  <a:cubicBezTo>
                    <a:pt x="83" y="36"/>
                    <a:pt x="83" y="36"/>
                    <a:pt x="83" y="36"/>
                  </a:cubicBezTo>
                  <a:cubicBezTo>
                    <a:pt x="85" y="36"/>
                    <a:pt x="86" y="35"/>
                    <a:pt x="86" y="34"/>
                  </a:cubicBezTo>
                  <a:cubicBezTo>
                    <a:pt x="86" y="26"/>
                    <a:pt x="86" y="26"/>
                    <a:pt x="86" y="26"/>
                  </a:cubicBezTo>
                  <a:cubicBezTo>
                    <a:pt x="86" y="19"/>
                    <a:pt x="86" y="19"/>
                    <a:pt x="86" y="19"/>
                  </a:cubicBezTo>
                  <a:cubicBezTo>
                    <a:pt x="86" y="15"/>
                    <a:pt x="86" y="15"/>
                    <a:pt x="86" y="15"/>
                  </a:cubicBezTo>
                  <a:cubicBezTo>
                    <a:pt x="86" y="15"/>
                    <a:pt x="79" y="1"/>
                    <a:pt x="79" y="1"/>
                  </a:cubicBezTo>
                  <a:close/>
                  <a:moveTo>
                    <a:pt x="67" y="4"/>
                  </a:moveTo>
                  <a:cubicBezTo>
                    <a:pt x="77" y="4"/>
                    <a:pt x="77" y="4"/>
                    <a:pt x="77" y="4"/>
                  </a:cubicBezTo>
                  <a:cubicBezTo>
                    <a:pt x="82" y="15"/>
                    <a:pt x="82" y="15"/>
                    <a:pt x="82" y="15"/>
                  </a:cubicBezTo>
                  <a:cubicBezTo>
                    <a:pt x="67" y="15"/>
                    <a:pt x="67" y="15"/>
                    <a:pt x="67" y="15"/>
                  </a:cubicBezTo>
                  <a:lnTo>
                    <a:pt x="67" y="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35" name="Google Shape;738;p38">
              <a:extLst>
                <a:ext uri="{FF2B5EF4-FFF2-40B4-BE49-F238E27FC236}">
                  <a16:creationId xmlns:a16="http://schemas.microsoft.com/office/drawing/2014/main" id="{D31FAC1A-5B6C-02E3-6B3A-C0ADB8B2C460}"/>
                </a:ext>
              </a:extLst>
            </p:cNvPr>
            <p:cNvSpPr/>
            <p:nvPr/>
          </p:nvSpPr>
          <p:spPr>
            <a:xfrm>
              <a:off x="3891221" y="4968053"/>
              <a:ext cx="402492" cy="218417"/>
            </a:xfrm>
            <a:custGeom>
              <a:avLst/>
              <a:gdLst/>
              <a:ahLst/>
              <a:cxnLst/>
              <a:rect l="l" t="t" r="r" b="b"/>
              <a:pathLst>
                <a:path w="59" h="32" extrusionOk="0">
                  <a:moveTo>
                    <a:pt x="59" y="0"/>
                  </a:moveTo>
                  <a:cubicBezTo>
                    <a:pt x="3" y="0"/>
                    <a:pt x="3" y="0"/>
                    <a:pt x="3" y="0"/>
                  </a:cubicBezTo>
                  <a:cubicBezTo>
                    <a:pt x="2" y="0"/>
                    <a:pt x="0" y="1"/>
                    <a:pt x="0" y="3"/>
                  </a:cubicBezTo>
                  <a:cubicBezTo>
                    <a:pt x="0" y="32"/>
                    <a:pt x="0" y="32"/>
                    <a:pt x="0" y="32"/>
                  </a:cubicBezTo>
                  <a:cubicBezTo>
                    <a:pt x="59" y="32"/>
                    <a:pt x="59" y="32"/>
                    <a:pt x="59" y="32"/>
                  </a:cubicBezTo>
                  <a:lnTo>
                    <a:pt x="59" y="0"/>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36" name="Google Shape;739;p38">
              <a:extLst>
                <a:ext uri="{FF2B5EF4-FFF2-40B4-BE49-F238E27FC236}">
                  <a16:creationId xmlns:a16="http://schemas.microsoft.com/office/drawing/2014/main" id="{9557F893-2BFC-9CBF-ADA7-E3C4A391A64F}"/>
                </a:ext>
              </a:extLst>
            </p:cNvPr>
            <p:cNvSpPr/>
            <p:nvPr/>
          </p:nvSpPr>
          <p:spPr>
            <a:xfrm>
              <a:off x="3932432" y="5241418"/>
              <a:ext cx="87916" cy="89290"/>
            </a:xfrm>
            <a:custGeom>
              <a:avLst/>
              <a:gdLst/>
              <a:ahLst/>
              <a:cxnLst/>
              <a:rect l="l" t="t" r="r" b="b"/>
              <a:pathLst>
                <a:path w="13" h="13" extrusionOk="0">
                  <a:moveTo>
                    <a:pt x="6" y="0"/>
                  </a:moveTo>
                  <a:cubicBezTo>
                    <a:pt x="3" y="0"/>
                    <a:pt x="1" y="2"/>
                    <a:pt x="0" y="5"/>
                  </a:cubicBezTo>
                  <a:cubicBezTo>
                    <a:pt x="0" y="6"/>
                    <a:pt x="0" y="6"/>
                    <a:pt x="0" y="7"/>
                  </a:cubicBezTo>
                  <a:cubicBezTo>
                    <a:pt x="0" y="10"/>
                    <a:pt x="3" y="13"/>
                    <a:pt x="6" y="13"/>
                  </a:cubicBezTo>
                  <a:cubicBezTo>
                    <a:pt x="10" y="13"/>
                    <a:pt x="13" y="10"/>
                    <a:pt x="13" y="7"/>
                  </a:cubicBezTo>
                  <a:cubicBezTo>
                    <a:pt x="13" y="6"/>
                    <a:pt x="13" y="6"/>
                    <a:pt x="13" y="5"/>
                  </a:cubicBezTo>
                  <a:cubicBezTo>
                    <a:pt x="12" y="2"/>
                    <a:pt x="10" y="0"/>
                    <a:pt x="6" y="0"/>
                  </a:cubicBez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37" name="Google Shape;740;p38">
              <a:extLst>
                <a:ext uri="{FF2B5EF4-FFF2-40B4-BE49-F238E27FC236}">
                  <a16:creationId xmlns:a16="http://schemas.microsoft.com/office/drawing/2014/main" id="{EB2AB6D6-642A-5F18-7D50-ABC689AD8B94}"/>
                </a:ext>
              </a:extLst>
            </p:cNvPr>
            <p:cNvSpPr/>
            <p:nvPr/>
          </p:nvSpPr>
          <p:spPr>
            <a:xfrm>
              <a:off x="4348661" y="5241418"/>
              <a:ext cx="87916" cy="89290"/>
            </a:xfrm>
            <a:custGeom>
              <a:avLst/>
              <a:gdLst/>
              <a:ahLst/>
              <a:cxnLst/>
              <a:rect l="l" t="t" r="r" b="b"/>
              <a:pathLst>
                <a:path w="13" h="13" extrusionOk="0">
                  <a:moveTo>
                    <a:pt x="7" y="0"/>
                  </a:moveTo>
                  <a:cubicBezTo>
                    <a:pt x="4" y="0"/>
                    <a:pt x="1" y="2"/>
                    <a:pt x="0" y="5"/>
                  </a:cubicBezTo>
                  <a:cubicBezTo>
                    <a:pt x="0" y="6"/>
                    <a:pt x="0" y="6"/>
                    <a:pt x="0" y="7"/>
                  </a:cubicBezTo>
                  <a:cubicBezTo>
                    <a:pt x="0" y="10"/>
                    <a:pt x="3" y="13"/>
                    <a:pt x="7" y="13"/>
                  </a:cubicBezTo>
                  <a:cubicBezTo>
                    <a:pt x="10" y="13"/>
                    <a:pt x="13" y="10"/>
                    <a:pt x="13" y="7"/>
                  </a:cubicBezTo>
                  <a:cubicBezTo>
                    <a:pt x="13" y="6"/>
                    <a:pt x="13" y="6"/>
                    <a:pt x="13" y="5"/>
                  </a:cubicBezTo>
                  <a:cubicBezTo>
                    <a:pt x="13" y="2"/>
                    <a:pt x="10" y="0"/>
                    <a:pt x="7" y="0"/>
                  </a:cubicBez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grpSp>
      <p:sp>
        <p:nvSpPr>
          <p:cNvPr id="10" name="Oval 9">
            <a:extLst>
              <a:ext uri="{FF2B5EF4-FFF2-40B4-BE49-F238E27FC236}">
                <a16:creationId xmlns:a16="http://schemas.microsoft.com/office/drawing/2014/main" id="{6C3B3C3C-5808-7734-A017-77F60AC16CDA}"/>
              </a:ext>
            </a:extLst>
          </p:cNvPr>
          <p:cNvSpPr/>
          <p:nvPr/>
        </p:nvSpPr>
        <p:spPr>
          <a:xfrm>
            <a:off x="6945184" y="2220758"/>
            <a:ext cx="839544" cy="839544"/>
          </a:xfrm>
          <a:prstGeom prst="ellipse">
            <a:avLst/>
          </a:prstGeom>
          <a:solidFill>
            <a:schemeClr val="bg1"/>
          </a:solidFill>
          <a:ln w="38100">
            <a:solidFill>
              <a:schemeClr val="accent5"/>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8" name="Content Placeholder 2">
            <a:extLst>
              <a:ext uri="{FF2B5EF4-FFF2-40B4-BE49-F238E27FC236}">
                <a16:creationId xmlns:a16="http://schemas.microsoft.com/office/drawing/2014/main" id="{B40DE29E-E74B-3EA1-54E9-3A7A82BD9E0D}"/>
              </a:ext>
            </a:extLst>
          </p:cNvPr>
          <p:cNvSpPr txBox="1">
            <a:spLocks/>
          </p:cNvSpPr>
          <p:nvPr/>
        </p:nvSpPr>
        <p:spPr>
          <a:xfrm>
            <a:off x="7820897" y="2366445"/>
            <a:ext cx="3925679" cy="54401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id-ID" sz="1800" b="1" i="0" u="none" strike="noStrike" kern="1200" cap="none" spc="0" normalizeH="0" baseline="0" noProof="0">
                <a:ln>
                  <a:noFill/>
                </a:ln>
                <a:solidFill>
                  <a:srgbClr val="00857D"/>
                </a:solidFill>
                <a:effectLst/>
                <a:uLnTx/>
                <a:uFillTx/>
                <a:ea typeface="+mn-ea"/>
                <a:cs typeface="+mn-cs"/>
              </a:rPr>
              <a:t>Annual On-Time Delivery</a:t>
            </a:r>
          </a:p>
          <a:p>
            <a:pPr marL="0" lvl="0" indent="0" defTabSz="914127">
              <a:lnSpc>
                <a:spcPts val="1600"/>
              </a:lnSpc>
              <a:spcBef>
                <a:spcPts val="0"/>
              </a:spcBef>
              <a:spcAft>
                <a:spcPts val="1200"/>
              </a:spcAft>
              <a:buNone/>
              <a:defRPr/>
            </a:pPr>
            <a:r>
              <a:rPr lang="en-US" dirty="0">
                <a:solidFill>
                  <a:schemeClr val="tx1">
                    <a:lumMod val="50000"/>
                    <a:lumOff val="50000"/>
                  </a:schemeClr>
                </a:solidFill>
                <a:ea typeface="Verdana" panose="020B0604030504040204" pitchFamily="34" charset="0"/>
                <a:cs typeface="Open Sans" panose="020B0606030504020204" pitchFamily="34" charset="0"/>
              </a:rPr>
              <a:t>98.7% Controllable</a:t>
            </a:r>
            <a:r>
              <a:rPr lang="en-US" baseline="30000" dirty="0">
                <a:solidFill>
                  <a:schemeClr val="tx1">
                    <a:lumMod val="50000"/>
                    <a:lumOff val="50000"/>
                  </a:schemeClr>
                </a:solidFill>
                <a:ea typeface="Verdana" panose="020B0604030504040204" pitchFamily="34" charset="0"/>
                <a:cs typeface="Open Sans" panose="020B0606030504020204" pitchFamily="34" charset="0"/>
              </a:rPr>
              <a:t>1</a:t>
            </a:r>
            <a:endParaRPr lang="en-US" dirty="0">
              <a:solidFill>
                <a:schemeClr val="tx1">
                  <a:lumMod val="50000"/>
                  <a:lumOff val="50000"/>
                </a:schemeClr>
              </a:solidFill>
              <a:ea typeface="Verdana" panose="020B0604030504040204" pitchFamily="34" charset="0"/>
              <a:cs typeface="Open Sans" panose="020B0606030504020204" pitchFamily="34" charset="0"/>
            </a:endParaRPr>
          </a:p>
        </p:txBody>
      </p:sp>
      <p:sp>
        <p:nvSpPr>
          <p:cNvPr id="38" name="Google Shape;749;p38">
            <a:extLst>
              <a:ext uri="{FF2B5EF4-FFF2-40B4-BE49-F238E27FC236}">
                <a16:creationId xmlns:a16="http://schemas.microsoft.com/office/drawing/2014/main" id="{F175EC12-8082-C32E-F143-44B46FD7C569}"/>
              </a:ext>
            </a:extLst>
          </p:cNvPr>
          <p:cNvSpPr/>
          <p:nvPr/>
        </p:nvSpPr>
        <p:spPr>
          <a:xfrm>
            <a:off x="7107558" y="2457748"/>
            <a:ext cx="514796" cy="365564"/>
          </a:xfrm>
          <a:custGeom>
            <a:avLst/>
            <a:gdLst/>
            <a:ahLst/>
            <a:cxnLst/>
            <a:rect l="l" t="t" r="r" b="b"/>
            <a:pathLst>
              <a:path w="422" h="383" extrusionOk="0">
                <a:moveTo>
                  <a:pt x="293" y="383"/>
                </a:moveTo>
                <a:lnTo>
                  <a:pt x="422" y="383"/>
                </a:lnTo>
                <a:lnTo>
                  <a:pt x="263" y="0"/>
                </a:lnTo>
                <a:lnTo>
                  <a:pt x="229" y="0"/>
                </a:lnTo>
                <a:lnTo>
                  <a:pt x="234" y="35"/>
                </a:lnTo>
                <a:lnTo>
                  <a:pt x="184" y="35"/>
                </a:lnTo>
                <a:lnTo>
                  <a:pt x="194" y="0"/>
                </a:lnTo>
                <a:lnTo>
                  <a:pt x="159" y="0"/>
                </a:lnTo>
                <a:lnTo>
                  <a:pt x="0" y="383"/>
                </a:lnTo>
                <a:lnTo>
                  <a:pt x="124" y="383"/>
                </a:lnTo>
                <a:lnTo>
                  <a:pt x="139" y="304"/>
                </a:lnTo>
                <a:lnTo>
                  <a:pt x="283" y="304"/>
                </a:lnTo>
                <a:lnTo>
                  <a:pt x="293" y="383"/>
                </a:lnTo>
                <a:close/>
                <a:moveTo>
                  <a:pt x="239" y="75"/>
                </a:moveTo>
                <a:lnTo>
                  <a:pt x="244" y="115"/>
                </a:lnTo>
                <a:lnTo>
                  <a:pt x="174" y="115"/>
                </a:lnTo>
                <a:lnTo>
                  <a:pt x="179" y="75"/>
                </a:lnTo>
                <a:lnTo>
                  <a:pt x="239" y="75"/>
                </a:lnTo>
                <a:close/>
                <a:moveTo>
                  <a:pt x="149" y="234"/>
                </a:moveTo>
                <a:lnTo>
                  <a:pt x="164" y="164"/>
                </a:lnTo>
                <a:lnTo>
                  <a:pt x="258" y="164"/>
                </a:lnTo>
                <a:lnTo>
                  <a:pt x="268" y="234"/>
                </a:lnTo>
                <a:lnTo>
                  <a:pt x="149" y="234"/>
                </a:lnTo>
                <a:close/>
              </a:path>
            </a:pathLst>
          </a:custGeom>
          <a:solidFill>
            <a:srgbClr val="00857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11" name="Oval 10">
            <a:extLst>
              <a:ext uri="{FF2B5EF4-FFF2-40B4-BE49-F238E27FC236}">
                <a16:creationId xmlns:a16="http://schemas.microsoft.com/office/drawing/2014/main" id="{C6F0A750-D32B-9E11-C5CD-5AE96B0EC34A}"/>
              </a:ext>
            </a:extLst>
          </p:cNvPr>
          <p:cNvSpPr/>
          <p:nvPr/>
        </p:nvSpPr>
        <p:spPr>
          <a:xfrm>
            <a:off x="6945184" y="3286486"/>
            <a:ext cx="839544" cy="839544"/>
          </a:xfrm>
          <a:prstGeom prst="ellipse">
            <a:avLst/>
          </a:prstGeom>
          <a:solidFill>
            <a:schemeClr val="bg1"/>
          </a:solidFill>
          <a:ln w="38100">
            <a:solidFill>
              <a:schemeClr val="tx2"/>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9" name="Content Placeholder 2">
            <a:extLst>
              <a:ext uri="{FF2B5EF4-FFF2-40B4-BE49-F238E27FC236}">
                <a16:creationId xmlns:a16="http://schemas.microsoft.com/office/drawing/2014/main" id="{D352B5E0-4975-9FDC-6FB1-E4E6B13825D3}"/>
              </a:ext>
            </a:extLst>
          </p:cNvPr>
          <p:cNvSpPr txBox="1">
            <a:spLocks/>
          </p:cNvSpPr>
          <p:nvPr/>
        </p:nvSpPr>
        <p:spPr>
          <a:xfrm>
            <a:off x="7820897" y="3455056"/>
            <a:ext cx="3451888" cy="62418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id-ID" sz="1800" b="1" i="0" u="none" strike="noStrike" kern="1200" cap="none" spc="0" normalizeH="0" baseline="0" noProof="0">
                <a:ln>
                  <a:noFill/>
                </a:ln>
                <a:solidFill>
                  <a:schemeClr val="tx1">
                    <a:lumMod val="50000"/>
                    <a:lumOff val="50000"/>
                  </a:schemeClr>
                </a:solidFill>
                <a:effectLst/>
                <a:uLnTx/>
                <a:uFillTx/>
                <a:ea typeface="+mn-ea"/>
                <a:cs typeface="+mn-cs"/>
              </a:rPr>
              <a:t># of Units Distributed</a:t>
            </a:r>
          </a:p>
          <a:p>
            <a:pPr marL="0" lvl="0" indent="0" defTabSz="914127">
              <a:lnSpc>
                <a:spcPts val="1600"/>
              </a:lnSpc>
              <a:spcBef>
                <a:spcPts val="0"/>
              </a:spcBef>
              <a:spcAft>
                <a:spcPts val="1200"/>
              </a:spcAft>
              <a:buNone/>
              <a:defRPr/>
            </a:pPr>
            <a:r>
              <a:rPr lang="en-US" dirty="0">
                <a:solidFill>
                  <a:schemeClr val="tx1">
                    <a:lumMod val="50000"/>
                    <a:lumOff val="50000"/>
                  </a:schemeClr>
                </a:solidFill>
                <a:ea typeface="Verdana" panose="020B0604030504040204" pitchFamily="34" charset="0"/>
                <a:cs typeface="Open Sans" panose="020B0606030504020204" pitchFamily="34" charset="0"/>
              </a:rPr>
              <a:t>3.8 Billion/Year</a:t>
            </a:r>
            <a:r>
              <a:rPr lang="en-US" baseline="30000" dirty="0">
                <a:solidFill>
                  <a:schemeClr val="tx1">
                    <a:lumMod val="50000"/>
                    <a:lumOff val="50000"/>
                  </a:schemeClr>
                </a:solidFill>
                <a:ea typeface="Verdana" panose="020B0604030504040204" pitchFamily="34" charset="0"/>
                <a:cs typeface="Open Sans" panose="020B0606030504020204" pitchFamily="34" charset="0"/>
              </a:rPr>
              <a:t>1</a:t>
            </a:r>
            <a:endParaRPr lang="en-US" dirty="0">
              <a:solidFill>
                <a:schemeClr val="tx1">
                  <a:lumMod val="50000"/>
                  <a:lumOff val="50000"/>
                </a:schemeClr>
              </a:solidFill>
              <a:ea typeface="Verdana" panose="020B0604030504040204" pitchFamily="34" charset="0"/>
              <a:cs typeface="Open Sans" panose="020B0606030504020204" pitchFamily="34" charset="0"/>
            </a:endParaRPr>
          </a:p>
        </p:txBody>
      </p:sp>
      <p:grpSp>
        <p:nvGrpSpPr>
          <p:cNvPr id="39" name="Google Shape;804;p38">
            <a:extLst>
              <a:ext uri="{FF2B5EF4-FFF2-40B4-BE49-F238E27FC236}">
                <a16:creationId xmlns:a16="http://schemas.microsoft.com/office/drawing/2014/main" id="{0DE4EC49-6E0D-A5C0-ADB1-F23F4AB229A8}"/>
              </a:ext>
            </a:extLst>
          </p:cNvPr>
          <p:cNvGrpSpPr/>
          <p:nvPr/>
        </p:nvGrpSpPr>
        <p:grpSpPr>
          <a:xfrm>
            <a:off x="7154393" y="3463799"/>
            <a:ext cx="514798" cy="410178"/>
            <a:chOff x="8477985" y="4142463"/>
            <a:chExt cx="581073" cy="491783"/>
          </a:xfrm>
          <a:solidFill>
            <a:schemeClr val="tx1">
              <a:lumMod val="50000"/>
              <a:lumOff val="50000"/>
            </a:schemeClr>
          </a:solidFill>
        </p:grpSpPr>
        <p:sp>
          <p:nvSpPr>
            <p:cNvPr id="40" name="Google Shape;805;p38">
              <a:extLst>
                <a:ext uri="{FF2B5EF4-FFF2-40B4-BE49-F238E27FC236}">
                  <a16:creationId xmlns:a16="http://schemas.microsoft.com/office/drawing/2014/main" id="{9A77269B-6876-B08A-F235-97852D60D6BF}"/>
                </a:ext>
              </a:extLst>
            </p:cNvPr>
            <p:cNvSpPr/>
            <p:nvPr/>
          </p:nvSpPr>
          <p:spPr>
            <a:xfrm>
              <a:off x="8477985" y="4142463"/>
              <a:ext cx="581073" cy="457440"/>
            </a:xfrm>
            <a:custGeom>
              <a:avLst/>
              <a:gdLst/>
              <a:ahLst/>
              <a:cxnLst/>
              <a:rect l="l" t="t" r="r" b="b"/>
              <a:pathLst>
                <a:path w="85" h="67" extrusionOk="0">
                  <a:moveTo>
                    <a:pt x="85" y="46"/>
                  </a:moveTo>
                  <a:cubicBezTo>
                    <a:pt x="83" y="43"/>
                    <a:pt x="83" y="43"/>
                    <a:pt x="83" y="43"/>
                  </a:cubicBezTo>
                  <a:cubicBezTo>
                    <a:pt x="59" y="53"/>
                    <a:pt x="59" y="53"/>
                    <a:pt x="59" y="53"/>
                  </a:cubicBezTo>
                  <a:cubicBezTo>
                    <a:pt x="36" y="2"/>
                    <a:pt x="36" y="2"/>
                    <a:pt x="36" y="2"/>
                  </a:cubicBezTo>
                  <a:cubicBezTo>
                    <a:pt x="36" y="1"/>
                    <a:pt x="34" y="0"/>
                    <a:pt x="33" y="1"/>
                  </a:cubicBezTo>
                  <a:cubicBezTo>
                    <a:pt x="32" y="1"/>
                    <a:pt x="32" y="1"/>
                    <a:pt x="32" y="1"/>
                  </a:cubicBezTo>
                  <a:cubicBezTo>
                    <a:pt x="32" y="1"/>
                    <a:pt x="32" y="1"/>
                    <a:pt x="32" y="1"/>
                  </a:cubicBezTo>
                  <a:cubicBezTo>
                    <a:pt x="31" y="2"/>
                    <a:pt x="30" y="3"/>
                    <a:pt x="31" y="5"/>
                  </a:cubicBezTo>
                  <a:cubicBezTo>
                    <a:pt x="34" y="13"/>
                    <a:pt x="34" y="13"/>
                    <a:pt x="34" y="13"/>
                  </a:cubicBezTo>
                  <a:cubicBezTo>
                    <a:pt x="34" y="13"/>
                    <a:pt x="34" y="13"/>
                    <a:pt x="34" y="13"/>
                  </a:cubicBezTo>
                  <a:cubicBezTo>
                    <a:pt x="11" y="13"/>
                    <a:pt x="11" y="13"/>
                    <a:pt x="11" y="13"/>
                  </a:cubicBezTo>
                  <a:cubicBezTo>
                    <a:pt x="6" y="13"/>
                    <a:pt x="6" y="13"/>
                    <a:pt x="6" y="13"/>
                  </a:cubicBezTo>
                  <a:cubicBezTo>
                    <a:pt x="6" y="37"/>
                    <a:pt x="6" y="37"/>
                    <a:pt x="6" y="37"/>
                  </a:cubicBezTo>
                  <a:cubicBezTo>
                    <a:pt x="3" y="37"/>
                    <a:pt x="3" y="37"/>
                    <a:pt x="3" y="37"/>
                  </a:cubicBezTo>
                  <a:cubicBezTo>
                    <a:pt x="2" y="37"/>
                    <a:pt x="0" y="38"/>
                    <a:pt x="0" y="40"/>
                  </a:cubicBezTo>
                  <a:cubicBezTo>
                    <a:pt x="0" y="57"/>
                    <a:pt x="0" y="57"/>
                    <a:pt x="0" y="57"/>
                  </a:cubicBezTo>
                  <a:cubicBezTo>
                    <a:pt x="2" y="54"/>
                    <a:pt x="5" y="53"/>
                    <a:pt x="8" y="53"/>
                  </a:cubicBezTo>
                  <a:cubicBezTo>
                    <a:pt x="14" y="53"/>
                    <a:pt x="19" y="58"/>
                    <a:pt x="19" y="64"/>
                  </a:cubicBezTo>
                  <a:cubicBezTo>
                    <a:pt x="19" y="64"/>
                    <a:pt x="19" y="64"/>
                    <a:pt x="19" y="65"/>
                  </a:cubicBezTo>
                  <a:cubicBezTo>
                    <a:pt x="33" y="65"/>
                    <a:pt x="33" y="65"/>
                    <a:pt x="33" y="65"/>
                  </a:cubicBezTo>
                  <a:cubicBezTo>
                    <a:pt x="32" y="64"/>
                    <a:pt x="32" y="64"/>
                    <a:pt x="32" y="64"/>
                  </a:cubicBezTo>
                  <a:cubicBezTo>
                    <a:pt x="32" y="58"/>
                    <a:pt x="37" y="53"/>
                    <a:pt x="43" y="53"/>
                  </a:cubicBezTo>
                  <a:cubicBezTo>
                    <a:pt x="49" y="53"/>
                    <a:pt x="53" y="57"/>
                    <a:pt x="54" y="63"/>
                  </a:cubicBezTo>
                  <a:cubicBezTo>
                    <a:pt x="57" y="62"/>
                    <a:pt x="57" y="62"/>
                    <a:pt x="57" y="62"/>
                  </a:cubicBezTo>
                  <a:cubicBezTo>
                    <a:pt x="58" y="65"/>
                    <a:pt x="58" y="65"/>
                    <a:pt x="58" y="65"/>
                  </a:cubicBezTo>
                  <a:cubicBezTo>
                    <a:pt x="59" y="67"/>
                    <a:pt x="60" y="67"/>
                    <a:pt x="62" y="67"/>
                  </a:cubicBezTo>
                  <a:cubicBezTo>
                    <a:pt x="62" y="66"/>
                    <a:pt x="62" y="66"/>
                    <a:pt x="62" y="66"/>
                  </a:cubicBezTo>
                  <a:cubicBezTo>
                    <a:pt x="64" y="66"/>
                    <a:pt x="64" y="64"/>
                    <a:pt x="64" y="63"/>
                  </a:cubicBezTo>
                  <a:cubicBezTo>
                    <a:pt x="62" y="59"/>
                    <a:pt x="62" y="59"/>
                    <a:pt x="62" y="59"/>
                  </a:cubicBezTo>
                  <a:cubicBezTo>
                    <a:pt x="83" y="49"/>
                    <a:pt x="83" y="49"/>
                    <a:pt x="83" y="49"/>
                  </a:cubicBezTo>
                  <a:cubicBezTo>
                    <a:pt x="85" y="49"/>
                    <a:pt x="85" y="47"/>
                    <a:pt x="85" y="46"/>
                  </a:cubicBezTo>
                  <a:close/>
                  <a:moveTo>
                    <a:pt x="30" y="44"/>
                  </a:moveTo>
                  <a:cubicBezTo>
                    <a:pt x="27" y="38"/>
                    <a:pt x="27" y="38"/>
                    <a:pt x="27" y="38"/>
                  </a:cubicBezTo>
                  <a:cubicBezTo>
                    <a:pt x="27" y="38"/>
                    <a:pt x="27" y="38"/>
                    <a:pt x="27" y="38"/>
                  </a:cubicBezTo>
                  <a:cubicBezTo>
                    <a:pt x="26" y="37"/>
                    <a:pt x="26" y="37"/>
                    <a:pt x="26" y="37"/>
                  </a:cubicBezTo>
                  <a:cubicBezTo>
                    <a:pt x="24" y="37"/>
                    <a:pt x="24" y="37"/>
                    <a:pt x="24" y="37"/>
                  </a:cubicBezTo>
                  <a:cubicBezTo>
                    <a:pt x="20" y="37"/>
                    <a:pt x="20" y="37"/>
                    <a:pt x="20" y="37"/>
                  </a:cubicBezTo>
                  <a:cubicBezTo>
                    <a:pt x="11" y="37"/>
                    <a:pt x="11" y="37"/>
                    <a:pt x="11" y="37"/>
                  </a:cubicBezTo>
                  <a:cubicBezTo>
                    <a:pt x="11" y="18"/>
                    <a:pt x="11" y="18"/>
                    <a:pt x="11" y="18"/>
                  </a:cubicBezTo>
                  <a:cubicBezTo>
                    <a:pt x="31" y="18"/>
                    <a:pt x="31" y="18"/>
                    <a:pt x="31" y="18"/>
                  </a:cubicBezTo>
                  <a:cubicBezTo>
                    <a:pt x="43" y="44"/>
                    <a:pt x="43" y="44"/>
                    <a:pt x="43" y="44"/>
                  </a:cubicBezTo>
                  <a:lnTo>
                    <a:pt x="30" y="4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41" name="Google Shape;806;p38">
              <a:extLst>
                <a:ext uri="{FF2B5EF4-FFF2-40B4-BE49-F238E27FC236}">
                  <a16:creationId xmlns:a16="http://schemas.microsoft.com/office/drawing/2014/main" id="{B7362C96-3185-5804-5772-DEC793517375}"/>
                </a:ext>
              </a:extLst>
            </p:cNvPr>
            <p:cNvSpPr/>
            <p:nvPr/>
          </p:nvSpPr>
          <p:spPr>
            <a:xfrm>
              <a:off x="8477985" y="4524350"/>
              <a:ext cx="109896" cy="109896"/>
            </a:xfrm>
            <a:custGeom>
              <a:avLst/>
              <a:gdLst/>
              <a:ahLst/>
              <a:cxnLst/>
              <a:rect l="l" t="t" r="r" b="b"/>
              <a:pathLst>
                <a:path w="16" h="16" extrusionOk="0">
                  <a:moveTo>
                    <a:pt x="15" y="2"/>
                  </a:moveTo>
                  <a:cubicBezTo>
                    <a:pt x="14" y="2"/>
                    <a:pt x="14" y="2"/>
                    <a:pt x="14" y="2"/>
                  </a:cubicBezTo>
                  <a:cubicBezTo>
                    <a:pt x="13" y="1"/>
                    <a:pt x="11" y="0"/>
                    <a:pt x="8" y="0"/>
                  </a:cubicBezTo>
                  <a:cubicBezTo>
                    <a:pt x="6" y="0"/>
                    <a:pt x="4" y="1"/>
                    <a:pt x="2" y="2"/>
                  </a:cubicBezTo>
                  <a:cubicBezTo>
                    <a:pt x="1" y="4"/>
                    <a:pt x="0" y="6"/>
                    <a:pt x="0" y="8"/>
                  </a:cubicBezTo>
                  <a:cubicBezTo>
                    <a:pt x="0" y="12"/>
                    <a:pt x="4" y="16"/>
                    <a:pt x="8" y="16"/>
                  </a:cubicBezTo>
                  <a:cubicBezTo>
                    <a:pt x="12" y="16"/>
                    <a:pt x="16" y="13"/>
                    <a:pt x="16" y="9"/>
                  </a:cubicBezTo>
                  <a:cubicBezTo>
                    <a:pt x="16" y="8"/>
                    <a:pt x="16" y="8"/>
                    <a:pt x="16" y="8"/>
                  </a:cubicBezTo>
                  <a:cubicBezTo>
                    <a:pt x="16" y="6"/>
                    <a:pt x="16" y="4"/>
                    <a:pt x="15" y="3"/>
                  </a:cubicBezTo>
                  <a:lnTo>
                    <a:pt x="15" y="2"/>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42" name="Google Shape;807;p38">
              <a:extLst>
                <a:ext uri="{FF2B5EF4-FFF2-40B4-BE49-F238E27FC236}">
                  <a16:creationId xmlns:a16="http://schemas.microsoft.com/office/drawing/2014/main" id="{D1A51958-9481-FCB4-D5A8-3E1D0355B0B4}"/>
                </a:ext>
              </a:extLst>
            </p:cNvPr>
            <p:cNvSpPr/>
            <p:nvPr/>
          </p:nvSpPr>
          <p:spPr>
            <a:xfrm>
              <a:off x="8717008" y="4524350"/>
              <a:ext cx="109896" cy="109896"/>
            </a:xfrm>
            <a:custGeom>
              <a:avLst/>
              <a:gdLst/>
              <a:ahLst/>
              <a:cxnLst/>
              <a:rect l="l" t="t" r="r" b="b"/>
              <a:pathLst>
                <a:path w="16" h="16" extrusionOk="0">
                  <a:moveTo>
                    <a:pt x="8" y="0"/>
                  </a:moveTo>
                  <a:cubicBezTo>
                    <a:pt x="4" y="0"/>
                    <a:pt x="0" y="3"/>
                    <a:pt x="0" y="8"/>
                  </a:cubicBezTo>
                  <a:cubicBezTo>
                    <a:pt x="0" y="8"/>
                    <a:pt x="0" y="8"/>
                    <a:pt x="0" y="9"/>
                  </a:cubicBezTo>
                  <a:cubicBezTo>
                    <a:pt x="1" y="13"/>
                    <a:pt x="4" y="16"/>
                    <a:pt x="8" y="16"/>
                  </a:cubicBezTo>
                  <a:cubicBezTo>
                    <a:pt x="12" y="16"/>
                    <a:pt x="15" y="13"/>
                    <a:pt x="16" y="9"/>
                  </a:cubicBezTo>
                  <a:cubicBezTo>
                    <a:pt x="16" y="8"/>
                    <a:pt x="16" y="8"/>
                    <a:pt x="16" y="8"/>
                  </a:cubicBezTo>
                  <a:cubicBezTo>
                    <a:pt x="16" y="3"/>
                    <a:pt x="13" y="0"/>
                    <a:pt x="8" y="0"/>
                  </a:cubicBez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43" name="Google Shape;808;p38">
              <a:extLst>
                <a:ext uri="{FF2B5EF4-FFF2-40B4-BE49-F238E27FC236}">
                  <a16:creationId xmlns:a16="http://schemas.microsoft.com/office/drawing/2014/main" id="{F045972A-2B68-ED4A-80CA-C79138E0D9A1}"/>
                </a:ext>
              </a:extLst>
            </p:cNvPr>
            <p:cNvSpPr/>
            <p:nvPr/>
          </p:nvSpPr>
          <p:spPr>
            <a:xfrm>
              <a:off x="8820035" y="4264721"/>
              <a:ext cx="197812" cy="218417"/>
            </a:xfrm>
            <a:custGeom>
              <a:avLst/>
              <a:gdLst/>
              <a:ahLst/>
              <a:cxnLst/>
              <a:rect l="l" t="t" r="r" b="b"/>
              <a:pathLst>
                <a:path w="144" h="159" extrusionOk="0">
                  <a:moveTo>
                    <a:pt x="144" y="114"/>
                  </a:moveTo>
                  <a:lnTo>
                    <a:pt x="94" y="0"/>
                  </a:lnTo>
                  <a:lnTo>
                    <a:pt x="0" y="45"/>
                  </a:lnTo>
                  <a:lnTo>
                    <a:pt x="55" y="159"/>
                  </a:lnTo>
                  <a:lnTo>
                    <a:pt x="144" y="114"/>
                  </a:ln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grpSp>
      <p:sp>
        <p:nvSpPr>
          <p:cNvPr id="12" name="Oval 11">
            <a:extLst>
              <a:ext uri="{FF2B5EF4-FFF2-40B4-BE49-F238E27FC236}">
                <a16:creationId xmlns:a16="http://schemas.microsoft.com/office/drawing/2014/main" id="{D0C0E6D9-EA83-6D0F-63EB-A74501F80A11}"/>
              </a:ext>
            </a:extLst>
          </p:cNvPr>
          <p:cNvSpPr/>
          <p:nvPr/>
        </p:nvSpPr>
        <p:spPr>
          <a:xfrm>
            <a:off x="6945184" y="5417944"/>
            <a:ext cx="839544" cy="839544"/>
          </a:xfrm>
          <a:prstGeom prst="ellipse">
            <a:avLst/>
          </a:prstGeom>
          <a:solidFill>
            <a:schemeClr val="bg1"/>
          </a:solidFill>
          <a:ln w="38100">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1" name="Content Placeholder 2">
            <a:extLst>
              <a:ext uri="{FF2B5EF4-FFF2-40B4-BE49-F238E27FC236}">
                <a16:creationId xmlns:a16="http://schemas.microsoft.com/office/drawing/2014/main" id="{41DD5895-4169-C73D-4576-25B6F774F659}"/>
              </a:ext>
            </a:extLst>
          </p:cNvPr>
          <p:cNvSpPr txBox="1">
            <a:spLocks/>
          </p:cNvSpPr>
          <p:nvPr/>
        </p:nvSpPr>
        <p:spPr>
          <a:xfrm>
            <a:off x="7820897" y="5525625"/>
            <a:ext cx="3077705" cy="624181"/>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rgbClr val="0E2554"/>
                </a:solidFill>
                <a:effectLst/>
                <a:uLnTx/>
                <a:uFillTx/>
                <a:ea typeface="+mn-ea"/>
                <a:cs typeface="+mn-cs"/>
              </a:rPr>
              <a:t>ISO Accredited</a:t>
            </a:r>
            <a:br>
              <a:rPr kumimoji="0" lang="en-US" sz="1800" b="1" i="0" u="none" strike="noStrike" kern="1200" cap="none" spc="0" normalizeH="0" baseline="0" noProof="0" dirty="0">
                <a:ln>
                  <a:noFill/>
                </a:ln>
                <a:solidFill>
                  <a:srgbClr val="2D3847"/>
                </a:solidFill>
                <a:effectLst/>
                <a:uLnTx/>
                <a:uFillTx/>
                <a:ea typeface="+mn-ea"/>
                <a:cs typeface="+mn-cs"/>
              </a:rPr>
            </a:br>
            <a:r>
              <a:rPr kumimoji="0" lang="en-US" b="0" i="0" u="none" strike="noStrike" kern="1200" cap="none" spc="0" normalizeH="0" baseline="0" noProof="0" dirty="0">
                <a:ln>
                  <a:noFill/>
                </a:ln>
                <a:solidFill>
                  <a:schemeClr val="tx1">
                    <a:lumMod val="50000"/>
                    <a:lumOff val="50000"/>
                  </a:schemeClr>
                </a:solidFill>
                <a:effectLst/>
                <a:uLnTx/>
                <a:uFillTx/>
                <a:ea typeface="+mn-ea"/>
                <a:cs typeface="+mn-cs"/>
              </a:rPr>
              <a:t>100% of distribution facilities are ISO 9001 and 13485</a:t>
            </a:r>
            <a:r>
              <a:rPr kumimoji="0" lang="en-US" b="0" i="0" u="none" strike="noStrike" kern="1200" cap="none" spc="0" normalizeH="0" baseline="30000" noProof="0" dirty="0">
                <a:ln>
                  <a:noFill/>
                </a:ln>
                <a:solidFill>
                  <a:schemeClr val="tx1">
                    <a:lumMod val="50000"/>
                    <a:lumOff val="50000"/>
                  </a:schemeClr>
                </a:solidFill>
                <a:effectLst/>
                <a:uLnTx/>
                <a:uFillTx/>
                <a:ea typeface="+mn-ea"/>
                <a:cs typeface="+mn-cs"/>
              </a:rPr>
              <a:t>1</a:t>
            </a:r>
            <a:endParaRPr kumimoji="0" lang="en-US" b="0" i="0" u="none" strike="noStrike" kern="1200" cap="none" spc="0" normalizeH="0" baseline="0" noProof="0" dirty="0">
              <a:ln>
                <a:noFill/>
              </a:ln>
              <a:solidFill>
                <a:schemeClr val="tx1">
                  <a:lumMod val="50000"/>
                  <a:lumOff val="50000"/>
                </a:schemeClr>
              </a:solidFill>
              <a:effectLst/>
              <a:uLnTx/>
              <a:uFillTx/>
              <a:ea typeface="+mn-ea"/>
              <a:cs typeface="+mn-cs"/>
            </a:endParaRPr>
          </a:p>
        </p:txBody>
      </p:sp>
      <p:grpSp>
        <p:nvGrpSpPr>
          <p:cNvPr id="44" name="Google Shape;648;p38">
            <a:extLst>
              <a:ext uri="{FF2B5EF4-FFF2-40B4-BE49-F238E27FC236}">
                <a16:creationId xmlns:a16="http://schemas.microsoft.com/office/drawing/2014/main" id="{D2C29B74-6596-985D-4454-5546934D6452}"/>
              </a:ext>
            </a:extLst>
          </p:cNvPr>
          <p:cNvGrpSpPr/>
          <p:nvPr/>
        </p:nvGrpSpPr>
        <p:grpSpPr>
          <a:xfrm>
            <a:off x="7107558" y="5613993"/>
            <a:ext cx="514796" cy="469952"/>
            <a:chOff x="9243133" y="1860757"/>
            <a:chExt cx="586567" cy="464309"/>
          </a:xfrm>
          <a:solidFill>
            <a:srgbClr val="0E2554"/>
          </a:solidFill>
        </p:grpSpPr>
        <p:sp>
          <p:nvSpPr>
            <p:cNvPr id="45" name="Google Shape;649;p38">
              <a:extLst>
                <a:ext uri="{FF2B5EF4-FFF2-40B4-BE49-F238E27FC236}">
                  <a16:creationId xmlns:a16="http://schemas.microsoft.com/office/drawing/2014/main" id="{5A8FE438-D8B1-0489-8AFB-CE97477D8363}"/>
                </a:ext>
              </a:extLst>
            </p:cNvPr>
            <p:cNvSpPr/>
            <p:nvPr/>
          </p:nvSpPr>
          <p:spPr>
            <a:xfrm>
              <a:off x="9447813" y="1860757"/>
              <a:ext cx="381887" cy="457440"/>
            </a:xfrm>
            <a:custGeom>
              <a:avLst/>
              <a:gdLst/>
              <a:ahLst/>
              <a:cxnLst/>
              <a:rect l="l" t="t" r="r" b="b"/>
              <a:pathLst>
                <a:path w="56" h="67" extrusionOk="0">
                  <a:moveTo>
                    <a:pt x="51" y="34"/>
                  </a:moveTo>
                  <a:cubicBezTo>
                    <a:pt x="54" y="33"/>
                    <a:pt x="56" y="30"/>
                    <a:pt x="55" y="26"/>
                  </a:cubicBezTo>
                  <a:cubicBezTo>
                    <a:pt x="54" y="23"/>
                    <a:pt x="52" y="22"/>
                    <a:pt x="49" y="22"/>
                  </a:cubicBezTo>
                  <a:cubicBezTo>
                    <a:pt x="26" y="22"/>
                    <a:pt x="26" y="22"/>
                    <a:pt x="26" y="22"/>
                  </a:cubicBezTo>
                  <a:cubicBezTo>
                    <a:pt x="27" y="18"/>
                    <a:pt x="28" y="15"/>
                    <a:pt x="28" y="11"/>
                  </a:cubicBezTo>
                  <a:cubicBezTo>
                    <a:pt x="28" y="3"/>
                    <a:pt x="23" y="0"/>
                    <a:pt x="19" y="0"/>
                  </a:cubicBezTo>
                  <a:cubicBezTo>
                    <a:pt x="16" y="0"/>
                    <a:pt x="14" y="2"/>
                    <a:pt x="14" y="8"/>
                  </a:cubicBezTo>
                  <a:cubicBezTo>
                    <a:pt x="14" y="15"/>
                    <a:pt x="4" y="21"/>
                    <a:pt x="0" y="23"/>
                  </a:cubicBezTo>
                  <a:cubicBezTo>
                    <a:pt x="0" y="64"/>
                    <a:pt x="0" y="64"/>
                    <a:pt x="0" y="64"/>
                  </a:cubicBezTo>
                  <a:cubicBezTo>
                    <a:pt x="1" y="65"/>
                    <a:pt x="6" y="67"/>
                    <a:pt x="11" y="67"/>
                  </a:cubicBezTo>
                  <a:cubicBezTo>
                    <a:pt x="41" y="67"/>
                    <a:pt x="41" y="67"/>
                    <a:pt x="41" y="67"/>
                  </a:cubicBezTo>
                  <a:cubicBezTo>
                    <a:pt x="44" y="67"/>
                    <a:pt x="47" y="65"/>
                    <a:pt x="47" y="62"/>
                  </a:cubicBezTo>
                  <a:cubicBezTo>
                    <a:pt x="48" y="60"/>
                    <a:pt x="47" y="58"/>
                    <a:pt x="46" y="56"/>
                  </a:cubicBezTo>
                  <a:cubicBezTo>
                    <a:pt x="49" y="56"/>
                    <a:pt x="52" y="53"/>
                    <a:pt x="52" y="50"/>
                  </a:cubicBezTo>
                  <a:cubicBezTo>
                    <a:pt x="52" y="48"/>
                    <a:pt x="51" y="46"/>
                    <a:pt x="49" y="45"/>
                  </a:cubicBezTo>
                  <a:cubicBezTo>
                    <a:pt x="52" y="44"/>
                    <a:pt x="53" y="42"/>
                    <a:pt x="53" y="39"/>
                  </a:cubicBezTo>
                  <a:cubicBezTo>
                    <a:pt x="53" y="37"/>
                    <a:pt x="53" y="35"/>
                    <a:pt x="51" y="34"/>
                  </a:cubicBez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sp>
          <p:nvSpPr>
            <p:cNvPr id="46" name="Google Shape;650;p38">
              <a:extLst>
                <a:ext uri="{FF2B5EF4-FFF2-40B4-BE49-F238E27FC236}">
                  <a16:creationId xmlns:a16="http://schemas.microsoft.com/office/drawing/2014/main" id="{32AF1EDA-B8CF-B0FB-73B6-51093A8C3348}"/>
                </a:ext>
              </a:extLst>
            </p:cNvPr>
            <p:cNvSpPr/>
            <p:nvPr/>
          </p:nvSpPr>
          <p:spPr>
            <a:xfrm>
              <a:off x="9243133" y="1991258"/>
              <a:ext cx="163470" cy="333808"/>
            </a:xfrm>
            <a:custGeom>
              <a:avLst/>
              <a:gdLst/>
              <a:ahLst/>
              <a:cxnLst/>
              <a:rect l="l" t="t" r="r" b="b"/>
              <a:pathLst>
                <a:path w="24" h="49" extrusionOk="0">
                  <a:moveTo>
                    <a:pt x="22" y="0"/>
                  </a:moveTo>
                  <a:cubicBezTo>
                    <a:pt x="3" y="0"/>
                    <a:pt x="3" y="0"/>
                    <a:pt x="3" y="0"/>
                  </a:cubicBezTo>
                  <a:cubicBezTo>
                    <a:pt x="2" y="0"/>
                    <a:pt x="0" y="1"/>
                    <a:pt x="0" y="3"/>
                  </a:cubicBezTo>
                  <a:cubicBezTo>
                    <a:pt x="0" y="44"/>
                    <a:pt x="0" y="44"/>
                    <a:pt x="0" y="44"/>
                  </a:cubicBezTo>
                  <a:cubicBezTo>
                    <a:pt x="0" y="47"/>
                    <a:pt x="3" y="49"/>
                    <a:pt x="6" y="49"/>
                  </a:cubicBezTo>
                  <a:cubicBezTo>
                    <a:pt x="22" y="49"/>
                    <a:pt x="22" y="49"/>
                    <a:pt x="22" y="49"/>
                  </a:cubicBezTo>
                  <a:cubicBezTo>
                    <a:pt x="23" y="49"/>
                    <a:pt x="24" y="48"/>
                    <a:pt x="24" y="47"/>
                  </a:cubicBezTo>
                  <a:cubicBezTo>
                    <a:pt x="24" y="3"/>
                    <a:pt x="24" y="3"/>
                    <a:pt x="24" y="3"/>
                  </a:cubicBezTo>
                  <a:cubicBezTo>
                    <a:pt x="24" y="1"/>
                    <a:pt x="23" y="0"/>
                    <a:pt x="22" y="0"/>
                  </a:cubicBezTo>
                  <a:close/>
                </a:path>
              </a:pathLst>
            </a:custGeom>
            <a:gr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dirty="0">
                <a:solidFill>
                  <a:schemeClr val="dk1"/>
                </a:solidFill>
                <a:latin typeface="Verdana"/>
                <a:ea typeface="Verdana"/>
                <a:cs typeface="Verdana"/>
                <a:sym typeface="Verdana"/>
              </a:endParaRPr>
            </a:p>
          </p:txBody>
        </p:sp>
      </p:grpSp>
      <p:sp>
        <p:nvSpPr>
          <p:cNvPr id="56" name="TextBox 55">
            <a:extLst>
              <a:ext uri="{FF2B5EF4-FFF2-40B4-BE49-F238E27FC236}">
                <a16:creationId xmlns:a16="http://schemas.microsoft.com/office/drawing/2014/main" id="{B9CE735C-2DC6-AC56-39B9-2F8D7B1472A5}"/>
              </a:ext>
            </a:extLst>
          </p:cNvPr>
          <p:cNvSpPr txBox="1"/>
          <p:nvPr/>
        </p:nvSpPr>
        <p:spPr>
          <a:xfrm>
            <a:off x="336779" y="5845493"/>
            <a:ext cx="1442968" cy="338554"/>
          </a:xfrm>
          <a:prstGeom prst="rect">
            <a:avLst/>
          </a:prstGeom>
          <a:noFill/>
        </p:spPr>
        <p:txBody>
          <a:bodyPr wrap="square" rtlCol="0">
            <a:spAutoFit/>
          </a:bodyPr>
          <a:lstStyle/>
          <a:p>
            <a:r>
              <a:rPr lang="en-US" sz="800" baseline="30000" dirty="0">
                <a:solidFill>
                  <a:schemeClr val="bg2"/>
                </a:solidFill>
                <a:ea typeface="Verdana" panose="020B0604030504040204" pitchFamily="34" charset="0"/>
                <a:cs typeface="Open Sans" panose="020B0606030504020204" pitchFamily="34" charset="0"/>
              </a:rPr>
              <a:t>1</a:t>
            </a:r>
            <a:r>
              <a:rPr lang="en-US" sz="800" dirty="0">
                <a:solidFill>
                  <a:schemeClr val="bg2"/>
                </a:solidFill>
                <a:ea typeface="Verdana" panose="020B0604030504040204" pitchFamily="34" charset="0"/>
                <a:cs typeface="Open Sans" panose="020B0606030504020204" pitchFamily="34" charset="0"/>
              </a:rPr>
              <a:t>Internal KPIs</a:t>
            </a:r>
            <a:endParaRPr lang="en-US" sz="800" baseline="30000" dirty="0">
              <a:solidFill>
                <a:schemeClr val="bg2"/>
              </a:solidFill>
              <a:ea typeface="Verdana" panose="020B0604030504040204" pitchFamily="34" charset="0"/>
              <a:cs typeface="Open Sans" panose="020B0606030504020204" pitchFamily="34" charset="0"/>
            </a:endParaRPr>
          </a:p>
          <a:p>
            <a:r>
              <a:rPr lang="en-US" sz="800" dirty="0">
                <a:solidFill>
                  <a:schemeClr val="bg2"/>
                </a:solidFill>
                <a:ea typeface="Verdana" panose="020B0604030504040204" pitchFamily="34" charset="0"/>
                <a:cs typeface="Open Sans" panose="020B0606030504020204" pitchFamily="34" charset="0"/>
              </a:rPr>
              <a:t>*TL only, excludes LTL</a:t>
            </a:r>
            <a:endParaRPr lang="en-US" sz="800" dirty="0">
              <a:solidFill>
                <a:schemeClr val="bg2"/>
              </a:solidFill>
            </a:endParaRPr>
          </a:p>
        </p:txBody>
      </p:sp>
      <p:sp>
        <p:nvSpPr>
          <p:cNvPr id="8" name="Rectangle 7">
            <a:extLst>
              <a:ext uri="{FF2B5EF4-FFF2-40B4-BE49-F238E27FC236}">
                <a16:creationId xmlns:a16="http://schemas.microsoft.com/office/drawing/2014/main" id="{E2D4FEC0-EF39-D442-0837-D989E9BCBCBC}"/>
              </a:ext>
            </a:extLst>
          </p:cNvPr>
          <p:cNvSpPr/>
          <p:nvPr/>
        </p:nvSpPr>
        <p:spPr>
          <a:xfrm>
            <a:off x="7062157" y="230038"/>
            <a:ext cx="3881887" cy="59522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Example only – </a:t>
            </a:r>
          </a:p>
          <a:p>
            <a:pPr algn="ctr"/>
            <a:r>
              <a:rPr lang="en-US" sz="1400" dirty="0">
                <a:solidFill>
                  <a:schemeClr val="accent1"/>
                </a:solidFill>
              </a:rPr>
              <a:t>How to summarize performance</a:t>
            </a:r>
          </a:p>
          <a:p>
            <a:pPr algn="ctr"/>
            <a:r>
              <a:rPr lang="en-US" sz="1400" dirty="0">
                <a:solidFill>
                  <a:schemeClr val="accent1"/>
                </a:solidFill>
              </a:rPr>
              <a:t>Must be updated</a:t>
            </a:r>
          </a:p>
        </p:txBody>
      </p:sp>
    </p:spTree>
    <p:extLst>
      <p:ext uri="{BB962C8B-B14F-4D97-AF65-F5344CB8AC3E}">
        <p14:creationId xmlns:p14="http://schemas.microsoft.com/office/powerpoint/2010/main" val="35951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48BA0-A951-6200-0896-6BD5DDF34320}"/>
              </a:ext>
            </a:extLst>
          </p:cNvPr>
          <p:cNvSpPr>
            <a:spLocks noGrp="1"/>
          </p:cNvSpPr>
          <p:nvPr>
            <p:ph type="title"/>
          </p:nvPr>
        </p:nvSpPr>
        <p:spPr/>
        <p:txBody>
          <a:bodyPr/>
          <a:lstStyle/>
          <a:p>
            <a:r>
              <a:rPr lang="en-US" dirty="0"/>
              <a:t>VALUE-CENTRIC APPROACH FOR </a:t>
            </a:r>
            <a:r>
              <a:rPr lang="en-US" dirty="0">
                <a:highlight>
                  <a:srgbClr val="FF00FF"/>
                </a:highlight>
              </a:rPr>
              <a:t>[CUSTOMER NAME]</a:t>
            </a:r>
          </a:p>
        </p:txBody>
      </p:sp>
      <p:sp>
        <p:nvSpPr>
          <p:cNvPr id="3" name="Text Placeholder 2">
            <a:extLst>
              <a:ext uri="{FF2B5EF4-FFF2-40B4-BE49-F238E27FC236}">
                <a16:creationId xmlns:a16="http://schemas.microsoft.com/office/drawing/2014/main" id="{0220FFE4-2C74-A900-0415-4133A8C3DF99}"/>
              </a:ext>
            </a:extLst>
          </p:cNvPr>
          <p:cNvSpPr>
            <a:spLocks noGrp="1"/>
          </p:cNvSpPr>
          <p:nvPr>
            <p:ph type="body" sz="quarter" idx="13"/>
          </p:nvPr>
        </p:nvSpPr>
        <p:spPr/>
        <p:txBody>
          <a:bodyPr/>
          <a:lstStyle/>
          <a:p>
            <a:r>
              <a:rPr lang="en-US" dirty="0"/>
              <a:t>KPI compliance delivers cost avoidance for </a:t>
            </a:r>
            <a:r>
              <a:rPr lang="en-US" dirty="0">
                <a:highlight>
                  <a:srgbClr val="FF00FF"/>
                </a:highlight>
              </a:rPr>
              <a:t>[Customer Name] </a:t>
            </a:r>
          </a:p>
        </p:txBody>
      </p:sp>
      <p:graphicFrame>
        <p:nvGraphicFramePr>
          <p:cNvPr id="4" name="Table 3">
            <a:extLst>
              <a:ext uri="{FF2B5EF4-FFF2-40B4-BE49-F238E27FC236}">
                <a16:creationId xmlns:a16="http://schemas.microsoft.com/office/drawing/2014/main" id="{441E178F-F672-F82B-2A59-3A81A1E8B3D9}"/>
              </a:ext>
            </a:extLst>
          </p:cNvPr>
          <p:cNvGraphicFramePr>
            <a:graphicFrameLocks noGrp="1"/>
          </p:cNvGraphicFramePr>
          <p:nvPr>
            <p:extLst>
              <p:ext uri="{D42A27DB-BD31-4B8C-83A1-F6EECF244321}">
                <p14:modId xmlns:p14="http://schemas.microsoft.com/office/powerpoint/2010/main" val="2276134665"/>
              </p:ext>
            </p:extLst>
          </p:nvPr>
        </p:nvGraphicFramePr>
        <p:xfrm>
          <a:off x="402336" y="1197864"/>
          <a:ext cx="11420856" cy="4830286"/>
        </p:xfrm>
        <a:graphic>
          <a:graphicData uri="http://schemas.openxmlformats.org/drawingml/2006/table">
            <a:tbl>
              <a:tblPr firstRow="1" bandRow="1">
                <a:tableStyleId>{5C22544A-7EE6-4342-B048-85BDC9FD1C3A}</a:tableStyleId>
              </a:tblPr>
              <a:tblGrid>
                <a:gridCol w="5308351">
                  <a:extLst>
                    <a:ext uri="{9D8B030D-6E8A-4147-A177-3AD203B41FA5}">
                      <a16:colId xmlns:a16="http://schemas.microsoft.com/office/drawing/2014/main" val="1069429096"/>
                    </a:ext>
                  </a:extLst>
                </a:gridCol>
                <a:gridCol w="1483743">
                  <a:extLst>
                    <a:ext uri="{9D8B030D-6E8A-4147-A177-3AD203B41FA5}">
                      <a16:colId xmlns:a16="http://schemas.microsoft.com/office/drawing/2014/main" val="2362945113"/>
                    </a:ext>
                  </a:extLst>
                </a:gridCol>
                <a:gridCol w="4628762">
                  <a:extLst>
                    <a:ext uri="{9D8B030D-6E8A-4147-A177-3AD203B41FA5}">
                      <a16:colId xmlns:a16="http://schemas.microsoft.com/office/drawing/2014/main" val="663721453"/>
                    </a:ext>
                  </a:extLst>
                </a:gridCol>
              </a:tblGrid>
              <a:tr h="524775">
                <a:tc>
                  <a:txBody>
                    <a:bodyPr/>
                    <a:lstStyle/>
                    <a:p>
                      <a:pPr algn="ctr"/>
                      <a:r>
                        <a:rPr lang="en-US" dirty="0"/>
                        <a:t>Operational KPI Targets</a:t>
                      </a:r>
                    </a:p>
                  </a:txBody>
                  <a:tcPr anchor="ctr">
                    <a:lnB w="12700" cap="flat" cmpd="sng" algn="ctr">
                      <a:noFill/>
                      <a:prstDash val="solid"/>
                      <a:round/>
                      <a:headEnd type="none" w="med" len="med"/>
                      <a:tailEnd type="none" w="med" len="med"/>
                    </a:lnB>
                    <a:solidFill>
                      <a:schemeClr val="accent2"/>
                    </a:solidFill>
                  </a:tcPr>
                </a:tc>
                <a:tc>
                  <a:txBody>
                    <a:bodyPr/>
                    <a:lstStyle/>
                    <a:p>
                      <a:pPr algn="ctr"/>
                      <a:r>
                        <a:rPr lang="en-US" dirty="0"/>
                        <a:t>Industry Average*</a:t>
                      </a:r>
                    </a:p>
                  </a:txBody>
                  <a:tcPr anchor="ctr">
                    <a:lnB w="12700" cap="flat" cmpd="sng" algn="ctr">
                      <a:noFill/>
                      <a:prstDash val="solid"/>
                      <a:round/>
                      <a:headEnd type="none" w="med" len="med"/>
                      <a:tailEnd type="none" w="med" len="med"/>
                    </a:lnB>
                    <a:solidFill>
                      <a:schemeClr val="accent2"/>
                    </a:solidFill>
                  </a:tcPr>
                </a:tc>
                <a:tc>
                  <a:txBody>
                    <a:bodyPr/>
                    <a:lstStyle/>
                    <a:p>
                      <a:pPr algn="ctr"/>
                      <a:r>
                        <a:rPr lang="en-US" dirty="0"/>
                        <a:t>2025 UPS Healthcare Results &amp; Impact</a:t>
                      </a:r>
                    </a:p>
                    <a:p>
                      <a:pPr algn="ctr"/>
                      <a:r>
                        <a:rPr lang="en-US" sz="1000" b="0" dirty="0"/>
                        <a:t>(based on actual </a:t>
                      </a:r>
                      <a:r>
                        <a:rPr lang="en-US" sz="1000" b="0" dirty="0">
                          <a:solidFill>
                            <a:srgbClr val="FF0000"/>
                          </a:solidFill>
                          <a:highlight>
                            <a:srgbClr val="FFFF00"/>
                          </a:highlight>
                        </a:rPr>
                        <a:t>[Customer Name]</a:t>
                      </a:r>
                      <a:r>
                        <a:rPr lang="en-US" sz="1000" b="0" dirty="0">
                          <a:solidFill>
                            <a:srgbClr val="FF0000"/>
                          </a:solidFill>
                        </a:rPr>
                        <a:t> </a:t>
                      </a:r>
                      <a:r>
                        <a:rPr lang="en-US" sz="1000" b="0" dirty="0"/>
                        <a:t>2025 volumes)</a:t>
                      </a:r>
                    </a:p>
                  </a:txBody>
                  <a:tcPr anchor="ctr">
                    <a:lnB w="1270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val="1625236560"/>
                  </a:ext>
                </a:extLst>
              </a:tr>
              <a:tr h="615073">
                <a:tc>
                  <a:txBody>
                    <a:bodyPr/>
                    <a:lstStyle/>
                    <a:p>
                      <a:pPr marL="640080"/>
                      <a:r>
                        <a:rPr lang="en-US" dirty="0">
                          <a:solidFill>
                            <a:schemeClr val="tx2"/>
                          </a:solidFill>
                        </a:rPr>
                        <a:t>On-Time Receiving Target: 99.5%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2"/>
                          </a:solidFill>
                        </a:rPr>
                        <a:t>97%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a:r>
                        <a:rPr lang="en-US" dirty="0">
                          <a:solidFill>
                            <a:schemeClr val="tx2"/>
                          </a:solidFill>
                          <a:highlight>
                            <a:srgbClr val="FFFF00"/>
                          </a:highlight>
                        </a:rPr>
                        <a:t>UPS Healthcare Result 100% </a:t>
                      </a:r>
                    </a:p>
                    <a:p>
                      <a:pPr marL="182880"/>
                      <a:r>
                        <a:rPr lang="en-US" b="1" dirty="0">
                          <a:solidFill>
                            <a:schemeClr val="tx2"/>
                          </a:solidFill>
                          <a:highlight>
                            <a:srgbClr val="FFFF00"/>
                          </a:highlight>
                        </a:rPr>
                        <a:t>Annual Impact $1.6K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4077563"/>
                  </a:ext>
                </a:extLst>
              </a:tr>
              <a:tr h="615073">
                <a:tc>
                  <a:txBody>
                    <a:bodyPr/>
                    <a:lstStyle/>
                    <a:p>
                      <a:pPr marL="640080"/>
                      <a:r>
                        <a:rPr lang="en-US" dirty="0">
                          <a:solidFill>
                            <a:schemeClr val="tx2"/>
                          </a:solidFill>
                        </a:rPr>
                        <a:t>On-Time and Complete Shipping Target: 99.5%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2"/>
                          </a:solidFill>
                        </a:rPr>
                        <a:t>95%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a:r>
                        <a:rPr lang="en-US" dirty="0">
                          <a:solidFill>
                            <a:schemeClr val="tx2"/>
                          </a:solidFill>
                          <a:highlight>
                            <a:srgbClr val="FFFF00"/>
                          </a:highlight>
                        </a:rPr>
                        <a:t>UPS Healthcare Result 99.63% </a:t>
                      </a:r>
                    </a:p>
                    <a:p>
                      <a:pPr marL="182880"/>
                      <a:r>
                        <a:rPr lang="en-US" b="1" dirty="0">
                          <a:solidFill>
                            <a:schemeClr val="tx2"/>
                          </a:solidFill>
                          <a:highlight>
                            <a:srgbClr val="FFFF00"/>
                          </a:highlight>
                        </a:rPr>
                        <a:t>Annual Impact $128K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01358"/>
                  </a:ext>
                </a:extLst>
              </a:tr>
              <a:tr h="615073">
                <a:tc>
                  <a:txBody>
                    <a:bodyPr/>
                    <a:lstStyle/>
                    <a:p>
                      <a:pPr marL="640080"/>
                      <a:r>
                        <a:rPr lang="en-US" dirty="0">
                          <a:solidFill>
                            <a:schemeClr val="tx2"/>
                          </a:solidFill>
                        </a:rPr>
                        <a:t>Returns Processed On-Time Target: 99.5%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2"/>
                          </a:solidFill>
                        </a:rPr>
                        <a:t>92%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a:r>
                        <a:rPr lang="en-US" dirty="0">
                          <a:solidFill>
                            <a:schemeClr val="tx2"/>
                          </a:solidFill>
                          <a:highlight>
                            <a:srgbClr val="FFFF00"/>
                          </a:highlight>
                        </a:rPr>
                        <a:t>UPS Healthcare Result 99.59% </a:t>
                      </a:r>
                    </a:p>
                    <a:p>
                      <a:pPr marL="182880"/>
                      <a:r>
                        <a:rPr lang="en-US" b="1" dirty="0">
                          <a:solidFill>
                            <a:schemeClr val="tx2"/>
                          </a:solidFill>
                          <a:highlight>
                            <a:srgbClr val="FFFF00"/>
                          </a:highlight>
                        </a:rPr>
                        <a:t>Annual Impact $1.5K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332986"/>
                  </a:ext>
                </a:extLst>
              </a:tr>
              <a:tr h="615073">
                <a:tc>
                  <a:txBody>
                    <a:bodyPr/>
                    <a:lstStyle/>
                    <a:p>
                      <a:pPr marL="640080"/>
                      <a:r>
                        <a:rPr lang="en-US" dirty="0">
                          <a:solidFill>
                            <a:schemeClr val="tx2"/>
                          </a:solidFill>
                        </a:rPr>
                        <a:t>Shipment Accuracy (WH) Target: 99.5%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2"/>
                          </a:solidFill>
                        </a:rPr>
                        <a:t>97%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a:r>
                        <a:rPr lang="en-US" dirty="0">
                          <a:solidFill>
                            <a:schemeClr val="tx2"/>
                          </a:solidFill>
                          <a:highlight>
                            <a:srgbClr val="FFFF00"/>
                          </a:highlight>
                        </a:rPr>
                        <a:t>UPS Healthcare Result 97.73% </a:t>
                      </a:r>
                    </a:p>
                    <a:p>
                      <a:pPr marL="182880"/>
                      <a:r>
                        <a:rPr lang="en-US" b="1" dirty="0">
                          <a:solidFill>
                            <a:schemeClr val="tx2"/>
                          </a:solidFill>
                          <a:highlight>
                            <a:srgbClr val="FFFF00"/>
                          </a:highlight>
                        </a:rPr>
                        <a:t>Annual Impact $142K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9918933"/>
                  </a:ext>
                </a:extLst>
              </a:tr>
              <a:tr h="615073">
                <a:tc>
                  <a:txBody>
                    <a:bodyPr/>
                    <a:lstStyle/>
                    <a:p>
                      <a:pPr marL="640080"/>
                      <a:r>
                        <a:rPr lang="en-US" dirty="0">
                          <a:solidFill>
                            <a:schemeClr val="tx2"/>
                          </a:solidFill>
                        </a:rPr>
                        <a:t>Inventory Accuracy Target: 99.8%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2"/>
                          </a:solidFill>
                        </a:rPr>
                        <a:t>98%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a:r>
                        <a:rPr lang="en-US" dirty="0">
                          <a:solidFill>
                            <a:schemeClr val="tx2"/>
                          </a:solidFill>
                          <a:highlight>
                            <a:srgbClr val="FFFF00"/>
                          </a:highlight>
                        </a:rPr>
                        <a:t>UPS Healthcare Result 99.2% </a:t>
                      </a:r>
                    </a:p>
                    <a:p>
                      <a:pPr marL="182880"/>
                      <a:r>
                        <a:rPr lang="en-US" b="1" dirty="0">
                          <a:solidFill>
                            <a:schemeClr val="tx2"/>
                          </a:solidFill>
                          <a:highlight>
                            <a:srgbClr val="FFFF00"/>
                          </a:highlight>
                        </a:rPr>
                        <a:t>Annual Impact $16K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0173749"/>
                  </a:ext>
                </a:extLst>
              </a:tr>
              <a:tr h="615073">
                <a:tc>
                  <a:txBody>
                    <a:bodyPr/>
                    <a:lstStyle/>
                    <a:p>
                      <a:pPr marL="640080"/>
                      <a:r>
                        <a:rPr lang="en-US" dirty="0">
                          <a:solidFill>
                            <a:schemeClr val="tx2"/>
                          </a:solidFill>
                        </a:rPr>
                        <a:t>Shipment Accuracy (Delivered Non-Damaged Shipments): 98.5%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tx2"/>
                          </a:solidFill>
                        </a:rPr>
                        <a:t>97%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880"/>
                      <a:r>
                        <a:rPr lang="en-US" dirty="0">
                          <a:solidFill>
                            <a:schemeClr val="tx2"/>
                          </a:solidFill>
                          <a:highlight>
                            <a:srgbClr val="FFFF00"/>
                          </a:highlight>
                        </a:rPr>
                        <a:t>2025 Result N/A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2608352"/>
                  </a:ext>
                </a:extLst>
              </a:tr>
              <a:tr h="615073">
                <a:tc gridSpan="3">
                  <a:txBody>
                    <a:bodyPr/>
                    <a:lstStyle/>
                    <a:p>
                      <a:pPr marL="731520" algn="ctr"/>
                      <a:r>
                        <a:rPr lang="en-US" sz="1600" b="1" dirty="0">
                          <a:solidFill>
                            <a:schemeClr val="bg1"/>
                          </a:solidFill>
                        </a:rPr>
                        <a:t>KPI Compliance Total Annual Impact = </a:t>
                      </a:r>
                      <a:r>
                        <a:rPr lang="en-US" sz="2000" b="1" dirty="0">
                          <a:solidFill>
                            <a:srgbClr val="FF0000"/>
                          </a:solidFill>
                          <a:highlight>
                            <a:srgbClr val="FFFF00"/>
                          </a:highlight>
                        </a:rPr>
                        <a:t>$289K</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accent1"/>
                    </a:solidFill>
                  </a:tcPr>
                </a:tc>
                <a:tc hMerge="1">
                  <a:txBody>
                    <a:bodyPr/>
                    <a:lstStyle/>
                    <a:p>
                      <a:pPr algn="ctr"/>
                      <a:endParaRPr lang="en-US">
                        <a:solidFill>
                          <a:schemeClr val="tx2"/>
                        </a:solidFill>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hMerge="1">
                  <a:txBody>
                    <a:bodyPr/>
                    <a:lstStyle/>
                    <a:p>
                      <a:endParaRPr lang="en-US">
                        <a:solidFill>
                          <a:schemeClr val="tx2"/>
                        </a:solidFill>
                      </a:endParaRP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670730003"/>
                  </a:ext>
                </a:extLst>
              </a:tr>
            </a:tbl>
          </a:graphicData>
        </a:graphic>
      </p:graphicFrame>
      <p:sp>
        <p:nvSpPr>
          <p:cNvPr id="5" name="Flowchart: Connector 4">
            <a:extLst>
              <a:ext uri="{FF2B5EF4-FFF2-40B4-BE49-F238E27FC236}">
                <a16:creationId xmlns:a16="http://schemas.microsoft.com/office/drawing/2014/main" id="{AF3F9580-63DD-EEBE-7D11-4A70D2C679F4}"/>
              </a:ext>
            </a:extLst>
          </p:cNvPr>
          <p:cNvSpPr/>
          <p:nvPr/>
        </p:nvSpPr>
        <p:spPr>
          <a:xfrm>
            <a:off x="494538" y="1801368"/>
            <a:ext cx="457200" cy="457200"/>
          </a:xfrm>
          <a:prstGeom prst="flowChartConnector">
            <a:avLst/>
          </a:prstGeom>
          <a:solidFill>
            <a:schemeClr val="accent2"/>
          </a:solidFill>
          <a:ln>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1</a:t>
            </a:r>
          </a:p>
        </p:txBody>
      </p:sp>
      <p:sp>
        <p:nvSpPr>
          <p:cNvPr id="6" name="Flowchart: Connector 5">
            <a:extLst>
              <a:ext uri="{FF2B5EF4-FFF2-40B4-BE49-F238E27FC236}">
                <a16:creationId xmlns:a16="http://schemas.microsoft.com/office/drawing/2014/main" id="{BB5367BD-D6CB-D8A2-0701-F9B4E9C848E0}"/>
              </a:ext>
            </a:extLst>
          </p:cNvPr>
          <p:cNvSpPr/>
          <p:nvPr/>
        </p:nvSpPr>
        <p:spPr>
          <a:xfrm>
            <a:off x="494538" y="2416454"/>
            <a:ext cx="457200" cy="457200"/>
          </a:xfrm>
          <a:prstGeom prst="flowChartConnector">
            <a:avLst/>
          </a:prstGeom>
          <a:solidFill>
            <a:schemeClr val="accent2"/>
          </a:solidFill>
          <a:ln>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2</a:t>
            </a:r>
          </a:p>
        </p:txBody>
      </p:sp>
      <p:sp>
        <p:nvSpPr>
          <p:cNvPr id="7" name="Flowchart: Connector 6">
            <a:extLst>
              <a:ext uri="{FF2B5EF4-FFF2-40B4-BE49-F238E27FC236}">
                <a16:creationId xmlns:a16="http://schemas.microsoft.com/office/drawing/2014/main" id="{2C807992-293A-ECFF-3F63-AA811E4EA8E3}"/>
              </a:ext>
            </a:extLst>
          </p:cNvPr>
          <p:cNvSpPr/>
          <p:nvPr/>
        </p:nvSpPr>
        <p:spPr>
          <a:xfrm>
            <a:off x="494538" y="3031540"/>
            <a:ext cx="457200" cy="457200"/>
          </a:xfrm>
          <a:prstGeom prst="flowChartConnector">
            <a:avLst/>
          </a:prstGeom>
          <a:solidFill>
            <a:schemeClr val="accent2"/>
          </a:solidFill>
          <a:ln>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3</a:t>
            </a:r>
          </a:p>
        </p:txBody>
      </p:sp>
      <p:sp>
        <p:nvSpPr>
          <p:cNvPr id="8" name="Flowchart: Connector 7">
            <a:extLst>
              <a:ext uri="{FF2B5EF4-FFF2-40B4-BE49-F238E27FC236}">
                <a16:creationId xmlns:a16="http://schemas.microsoft.com/office/drawing/2014/main" id="{C72C3D15-7445-DF6B-7FE8-5EBCD06C3B7E}"/>
              </a:ext>
            </a:extLst>
          </p:cNvPr>
          <p:cNvSpPr/>
          <p:nvPr/>
        </p:nvSpPr>
        <p:spPr>
          <a:xfrm>
            <a:off x="494538" y="3646626"/>
            <a:ext cx="457200" cy="457200"/>
          </a:xfrm>
          <a:prstGeom prst="flowChartConnector">
            <a:avLst/>
          </a:prstGeom>
          <a:solidFill>
            <a:schemeClr val="accent2"/>
          </a:solidFill>
          <a:ln>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4</a:t>
            </a:r>
          </a:p>
        </p:txBody>
      </p:sp>
      <p:sp>
        <p:nvSpPr>
          <p:cNvPr id="9" name="Flowchart: Connector 8">
            <a:extLst>
              <a:ext uri="{FF2B5EF4-FFF2-40B4-BE49-F238E27FC236}">
                <a16:creationId xmlns:a16="http://schemas.microsoft.com/office/drawing/2014/main" id="{37B5521D-E2D2-06EA-DE0F-96AA998164BF}"/>
              </a:ext>
            </a:extLst>
          </p:cNvPr>
          <p:cNvSpPr/>
          <p:nvPr/>
        </p:nvSpPr>
        <p:spPr>
          <a:xfrm>
            <a:off x="494538" y="4261712"/>
            <a:ext cx="457200" cy="457200"/>
          </a:xfrm>
          <a:prstGeom prst="flowChartConnector">
            <a:avLst/>
          </a:prstGeom>
          <a:solidFill>
            <a:schemeClr val="accent2"/>
          </a:solidFill>
          <a:ln>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5</a:t>
            </a:r>
          </a:p>
        </p:txBody>
      </p:sp>
      <p:sp>
        <p:nvSpPr>
          <p:cNvPr id="10" name="Flowchart: Connector 9">
            <a:extLst>
              <a:ext uri="{FF2B5EF4-FFF2-40B4-BE49-F238E27FC236}">
                <a16:creationId xmlns:a16="http://schemas.microsoft.com/office/drawing/2014/main" id="{AA9434D4-E048-2151-F482-BEEF1864AA5C}"/>
              </a:ext>
            </a:extLst>
          </p:cNvPr>
          <p:cNvSpPr/>
          <p:nvPr/>
        </p:nvSpPr>
        <p:spPr>
          <a:xfrm>
            <a:off x="494538" y="4876800"/>
            <a:ext cx="457200" cy="457200"/>
          </a:xfrm>
          <a:prstGeom prst="flowChartConnector">
            <a:avLst/>
          </a:prstGeom>
          <a:solidFill>
            <a:schemeClr val="accent2"/>
          </a:solidFill>
          <a:ln>
            <a:solidFill>
              <a:schemeClr val="accent1"/>
            </a:solidFill>
          </a:ln>
          <a:effectLst>
            <a:outerShdw blurRad="50800" dist="38100" dir="2700000" algn="tl" rotWithShape="0">
              <a:schemeClr val="tx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6</a:t>
            </a:r>
          </a:p>
        </p:txBody>
      </p:sp>
      <p:sp>
        <p:nvSpPr>
          <p:cNvPr id="13" name="Slide Number Placeholder 12">
            <a:extLst>
              <a:ext uri="{FF2B5EF4-FFF2-40B4-BE49-F238E27FC236}">
                <a16:creationId xmlns:a16="http://schemas.microsoft.com/office/drawing/2014/main" id="{75D438F1-9F3F-409F-89E0-810C69EAA6FF}"/>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36</a:t>
            </a:fld>
            <a:endParaRPr lang="en-IN" dirty="0">
              <a:solidFill>
                <a:srgbClr val="8C8585"/>
              </a:solidFill>
            </a:endParaRPr>
          </a:p>
        </p:txBody>
      </p:sp>
      <p:pic>
        <p:nvPicPr>
          <p:cNvPr id="14" name="MyUPSLogo">
            <a:extLst>
              <a:ext uri="{FF2B5EF4-FFF2-40B4-BE49-F238E27FC236}">
                <a16:creationId xmlns:a16="http://schemas.microsoft.com/office/drawing/2014/main" id="{DB8E2057-0DA5-6FEE-C590-04B871662A9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2000" y="6413500"/>
            <a:ext cx="2104711" cy="374650"/>
          </a:xfrm>
          <a:prstGeom prst="rect">
            <a:avLst/>
          </a:prstGeom>
        </p:spPr>
      </p:pic>
      <p:sp>
        <p:nvSpPr>
          <p:cNvPr id="15" name="Rectangle 14">
            <a:extLst>
              <a:ext uri="{FF2B5EF4-FFF2-40B4-BE49-F238E27FC236}">
                <a16:creationId xmlns:a16="http://schemas.microsoft.com/office/drawing/2014/main" id="{98E89840-EDAA-C65B-EFD3-CFD104A75D23}"/>
              </a:ext>
            </a:extLst>
          </p:cNvPr>
          <p:cNvSpPr/>
          <p:nvPr/>
        </p:nvSpPr>
        <p:spPr>
          <a:xfrm>
            <a:off x="8911209" y="6007608"/>
            <a:ext cx="310896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800" dirty="0">
                <a:solidFill>
                  <a:schemeClr val="tx2"/>
                </a:solidFill>
              </a:rPr>
              <a:t>*Source: Warehousing Education and Research Center</a:t>
            </a:r>
          </a:p>
        </p:txBody>
      </p:sp>
      <p:sp>
        <p:nvSpPr>
          <p:cNvPr id="11" name="Rectangle 10">
            <a:extLst>
              <a:ext uri="{FF2B5EF4-FFF2-40B4-BE49-F238E27FC236}">
                <a16:creationId xmlns:a16="http://schemas.microsoft.com/office/drawing/2014/main" id="{BDE64A37-5186-CF9C-B88B-08B971A733A8}"/>
              </a:ext>
            </a:extLst>
          </p:cNvPr>
          <p:cNvSpPr/>
          <p:nvPr/>
        </p:nvSpPr>
        <p:spPr>
          <a:xfrm>
            <a:off x="9315450" y="180975"/>
            <a:ext cx="2505075" cy="9144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EXAMPLE –</a:t>
            </a:r>
          </a:p>
          <a:p>
            <a:pPr algn="ctr"/>
            <a:r>
              <a:rPr lang="en-US" dirty="0">
                <a:solidFill>
                  <a:schemeClr val="accent1"/>
                </a:solidFill>
              </a:rPr>
              <a:t>Formulas in Notes</a:t>
            </a:r>
          </a:p>
        </p:txBody>
      </p:sp>
    </p:spTree>
    <p:extLst>
      <p:ext uri="{BB962C8B-B14F-4D97-AF65-F5344CB8AC3E}">
        <p14:creationId xmlns:p14="http://schemas.microsoft.com/office/powerpoint/2010/main" val="3950770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871FF-6A3D-A8BF-6D1A-D9BFD55FAFEE}"/>
              </a:ext>
            </a:extLst>
          </p:cNvPr>
          <p:cNvSpPr>
            <a:spLocks noGrp="1"/>
          </p:cNvSpPr>
          <p:nvPr>
            <p:ph type="sldNum" sz="quarter" idx="12"/>
          </p:nvPr>
        </p:nvSpPr>
        <p:spPr/>
        <p:txBody>
          <a:bodyPr/>
          <a:lstStyle/>
          <a:p>
            <a:pPr algn="r"/>
            <a:fld id="{4FA92F45-BA5D-4C7A-ACC7-D44B34072B97}" type="slidenum">
              <a:rPr lang="en-IN" smtClean="0"/>
              <a:pPr algn="r"/>
              <a:t>37</a:t>
            </a:fld>
            <a:endParaRPr lang="en-IN" dirty="0"/>
          </a:p>
        </p:txBody>
      </p:sp>
      <p:sp>
        <p:nvSpPr>
          <p:cNvPr id="3" name="Title 2">
            <a:extLst>
              <a:ext uri="{FF2B5EF4-FFF2-40B4-BE49-F238E27FC236}">
                <a16:creationId xmlns:a16="http://schemas.microsoft.com/office/drawing/2014/main" id="{3527AFDC-06EA-F7E0-C856-14D3214074CB}"/>
              </a:ext>
            </a:extLst>
          </p:cNvPr>
          <p:cNvSpPr>
            <a:spLocks noGrp="1"/>
          </p:cNvSpPr>
          <p:nvPr>
            <p:ph type="title"/>
          </p:nvPr>
        </p:nvSpPr>
        <p:spPr/>
        <p:txBody>
          <a:bodyPr/>
          <a:lstStyle/>
          <a:p>
            <a:r>
              <a:rPr lang="en-US" dirty="0"/>
              <a:t>FINANCIAL VALUE</a:t>
            </a:r>
          </a:p>
        </p:txBody>
      </p:sp>
      <p:sp>
        <p:nvSpPr>
          <p:cNvPr id="4" name="Text Placeholder 3">
            <a:extLst>
              <a:ext uri="{FF2B5EF4-FFF2-40B4-BE49-F238E27FC236}">
                <a16:creationId xmlns:a16="http://schemas.microsoft.com/office/drawing/2014/main" id="{2F4C445E-116F-212C-1976-0C44B5947FE8}"/>
              </a:ext>
            </a:extLst>
          </p:cNvPr>
          <p:cNvSpPr>
            <a:spLocks noGrp="1"/>
          </p:cNvSpPr>
          <p:nvPr>
            <p:ph type="body" sz="quarter" idx="13"/>
          </p:nvPr>
        </p:nvSpPr>
        <p:spPr/>
        <p:txBody>
          <a:bodyPr/>
          <a:lstStyle/>
          <a:p>
            <a:r>
              <a:rPr lang="en-US" dirty="0">
                <a:highlight>
                  <a:srgbClr val="FF00FF"/>
                </a:highlight>
              </a:rPr>
              <a:t>Facility name or location</a:t>
            </a:r>
          </a:p>
        </p:txBody>
      </p:sp>
      <p:graphicFrame>
        <p:nvGraphicFramePr>
          <p:cNvPr id="10" name="Chart 9">
            <a:extLst>
              <a:ext uri="{FF2B5EF4-FFF2-40B4-BE49-F238E27FC236}">
                <a16:creationId xmlns:a16="http://schemas.microsoft.com/office/drawing/2014/main" id="{18D45280-1E70-DB72-4F1F-7CC12E5EC9E3}"/>
              </a:ext>
            </a:extLst>
          </p:cNvPr>
          <p:cNvGraphicFramePr/>
          <p:nvPr>
            <p:extLst>
              <p:ext uri="{D42A27DB-BD31-4B8C-83A1-F6EECF244321}">
                <p14:modId xmlns:p14="http://schemas.microsoft.com/office/powerpoint/2010/main" val="4075025942"/>
              </p:ext>
            </p:extLst>
          </p:nvPr>
        </p:nvGraphicFramePr>
        <p:xfrm>
          <a:off x="323970" y="1130064"/>
          <a:ext cx="3635555" cy="30796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90F5DBC5-F6D4-1605-5AAE-3E46BDB74F92}"/>
              </a:ext>
            </a:extLst>
          </p:cNvPr>
          <p:cNvGraphicFramePr/>
          <p:nvPr>
            <p:extLst>
              <p:ext uri="{D42A27DB-BD31-4B8C-83A1-F6EECF244321}">
                <p14:modId xmlns:p14="http://schemas.microsoft.com/office/powerpoint/2010/main" val="1964117487"/>
              </p:ext>
            </p:extLst>
          </p:nvPr>
        </p:nvGraphicFramePr>
        <p:xfrm>
          <a:off x="4142597" y="1135817"/>
          <a:ext cx="3635555" cy="30796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3CE15E06-6398-FBEF-806C-6FDBF56BAA1F}"/>
              </a:ext>
            </a:extLst>
          </p:cNvPr>
          <p:cNvGraphicFramePr/>
          <p:nvPr>
            <p:extLst>
              <p:ext uri="{D42A27DB-BD31-4B8C-83A1-F6EECF244321}">
                <p14:modId xmlns:p14="http://schemas.microsoft.com/office/powerpoint/2010/main" val="3336811432"/>
              </p:ext>
            </p:extLst>
          </p:nvPr>
        </p:nvGraphicFramePr>
        <p:xfrm>
          <a:off x="8024483" y="1127189"/>
          <a:ext cx="3635555" cy="3082503"/>
        </p:xfrm>
        <a:graphic>
          <a:graphicData uri="http://schemas.openxmlformats.org/drawingml/2006/chart">
            <c:chart xmlns:c="http://schemas.openxmlformats.org/drawingml/2006/chart" xmlns:r="http://schemas.openxmlformats.org/officeDocument/2006/relationships" r:id="rId5"/>
          </a:graphicData>
        </a:graphic>
      </p:graphicFrame>
      <p:grpSp>
        <p:nvGrpSpPr>
          <p:cNvPr id="13" name="Group 12">
            <a:extLst>
              <a:ext uri="{FF2B5EF4-FFF2-40B4-BE49-F238E27FC236}">
                <a16:creationId xmlns:a16="http://schemas.microsoft.com/office/drawing/2014/main" id="{18A2A3B9-2AAC-92C1-9ADE-32F4BF009E7E}"/>
              </a:ext>
            </a:extLst>
          </p:cNvPr>
          <p:cNvGrpSpPr/>
          <p:nvPr/>
        </p:nvGrpSpPr>
        <p:grpSpPr>
          <a:xfrm>
            <a:off x="419100" y="4152899"/>
            <a:ext cx="3419655" cy="2083999"/>
            <a:chOff x="9549442" y="1086928"/>
            <a:chExt cx="2544792" cy="4537495"/>
          </a:xfrm>
        </p:grpSpPr>
        <p:sp>
          <p:nvSpPr>
            <p:cNvPr id="14" name="Rectangle: Rounded Corners 13">
              <a:extLst>
                <a:ext uri="{FF2B5EF4-FFF2-40B4-BE49-F238E27FC236}">
                  <a16:creationId xmlns:a16="http://schemas.microsoft.com/office/drawing/2014/main" id="{78AF494B-CD0E-4BB4-4B29-D51BC0C8AF73}"/>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000" b="1" dirty="0"/>
            </a:p>
            <a:p>
              <a:pPr marL="171450" indent="-171450">
                <a:spcAft>
                  <a:spcPts val="600"/>
                </a:spcAft>
                <a:buFont typeface="Arial" panose="020B0604020202020204" pitchFamily="34" charset="0"/>
                <a:buChar char="•"/>
              </a:pPr>
              <a:r>
                <a:rPr lang="en-US" sz="1000" dirty="0"/>
                <a:t>What changed</a:t>
              </a:r>
            </a:p>
            <a:p>
              <a:pPr marL="171450" indent="-171450">
                <a:spcAft>
                  <a:spcPts val="600"/>
                </a:spcAft>
                <a:buFont typeface="Arial" panose="020B0604020202020204" pitchFamily="34" charset="0"/>
                <a:buChar char="•"/>
              </a:pPr>
              <a:r>
                <a:rPr lang="en-US" sz="1000" dirty="0"/>
                <a:t>Why</a:t>
              </a:r>
            </a:p>
            <a:p>
              <a:pPr marL="171450" indent="-171450">
                <a:spcAft>
                  <a:spcPts val="600"/>
                </a:spcAft>
                <a:buFont typeface="Arial" panose="020B0604020202020204" pitchFamily="34" charset="0"/>
                <a:buChar char="•"/>
              </a:pPr>
              <a:r>
                <a:rPr lang="en-US" sz="1000" dirty="0"/>
                <a:t>Missed KPIs</a:t>
              </a:r>
            </a:p>
            <a:p>
              <a:pPr lvl="1" indent="-171450">
                <a:spcAft>
                  <a:spcPts val="600"/>
                </a:spcAft>
                <a:buFont typeface="Courier New" panose="02070309020205020404" pitchFamily="49" charset="0"/>
                <a:buChar char="o"/>
              </a:pPr>
              <a:r>
                <a:rPr lang="en-US" sz="1000" dirty="0"/>
                <a:t>RCA</a:t>
              </a:r>
            </a:p>
            <a:p>
              <a:pPr lvl="1" indent="-171450">
                <a:spcAft>
                  <a:spcPts val="600"/>
                </a:spcAft>
                <a:buFont typeface="Courier New" panose="02070309020205020404" pitchFamily="49" charset="0"/>
                <a:buChar char="o"/>
              </a:pPr>
              <a:r>
                <a:rPr lang="en-US" sz="1000" dirty="0"/>
                <a:t>CAPA</a:t>
              </a:r>
            </a:p>
            <a:p>
              <a:pPr marL="171450" indent="-171450">
                <a:spcAft>
                  <a:spcPts val="600"/>
                </a:spcAft>
                <a:buFont typeface="Arial" panose="020B0604020202020204" pitchFamily="34" charset="0"/>
                <a:buChar char="•"/>
              </a:pPr>
              <a:r>
                <a:rPr lang="en-US" sz="1000" dirty="0"/>
                <a:t>What’s next</a:t>
              </a:r>
            </a:p>
            <a:p>
              <a:pPr marL="171450" indent="-171450">
                <a:spcAft>
                  <a:spcPts val="600"/>
                </a:spcAft>
                <a:buFont typeface="Arial" panose="020B0604020202020204" pitchFamily="34" charset="0"/>
                <a:buChar char="•"/>
              </a:pPr>
              <a:endParaRPr lang="en-US" sz="1200" dirty="0"/>
            </a:p>
          </p:txBody>
        </p:sp>
        <p:sp>
          <p:nvSpPr>
            <p:cNvPr id="15" name="Rectangle: Rounded Corners 14">
              <a:extLst>
                <a:ext uri="{FF2B5EF4-FFF2-40B4-BE49-F238E27FC236}">
                  <a16:creationId xmlns:a16="http://schemas.microsoft.com/office/drawing/2014/main" id="{8CE70CAF-CF14-C1DF-608D-7B058F04D126}"/>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FFBE00"/>
                  </a:solidFill>
                  <a:effectLst/>
                  <a:uLnTx/>
                  <a:uFillTx/>
                  <a:latin typeface="Verdana"/>
                  <a:ea typeface="+mn-ea"/>
                  <a:cs typeface="+mn-cs"/>
                </a:rPr>
                <a:t>Q1 INSIGHTS</a:t>
              </a:r>
            </a:p>
          </p:txBody>
        </p:sp>
      </p:grpSp>
      <p:grpSp>
        <p:nvGrpSpPr>
          <p:cNvPr id="16" name="Group 15">
            <a:extLst>
              <a:ext uri="{FF2B5EF4-FFF2-40B4-BE49-F238E27FC236}">
                <a16:creationId xmlns:a16="http://schemas.microsoft.com/office/drawing/2014/main" id="{DBED821A-3A09-F9BA-2716-6C2A16B517AF}"/>
              </a:ext>
            </a:extLst>
          </p:cNvPr>
          <p:cNvGrpSpPr/>
          <p:nvPr/>
        </p:nvGrpSpPr>
        <p:grpSpPr>
          <a:xfrm>
            <a:off x="4229100" y="4152900"/>
            <a:ext cx="3419655" cy="2083999"/>
            <a:chOff x="9549442" y="1086928"/>
            <a:chExt cx="2544792" cy="4537495"/>
          </a:xfrm>
        </p:grpSpPr>
        <p:sp>
          <p:nvSpPr>
            <p:cNvPr id="17" name="Rectangle: Rounded Corners 16">
              <a:extLst>
                <a:ext uri="{FF2B5EF4-FFF2-40B4-BE49-F238E27FC236}">
                  <a16:creationId xmlns:a16="http://schemas.microsoft.com/office/drawing/2014/main" id="{7EC721B5-6988-D448-1526-BE4EB84FE142}"/>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000" b="1" dirty="0"/>
            </a:p>
            <a:p>
              <a:pPr marL="171450" indent="-171450">
                <a:spcAft>
                  <a:spcPts val="600"/>
                </a:spcAft>
                <a:buFont typeface="Arial" panose="020B0604020202020204" pitchFamily="34" charset="0"/>
                <a:buChar char="•"/>
              </a:pPr>
              <a:r>
                <a:rPr lang="en-US" sz="1000" dirty="0"/>
                <a:t>What changed</a:t>
              </a:r>
            </a:p>
            <a:p>
              <a:pPr marL="171450" indent="-171450">
                <a:spcAft>
                  <a:spcPts val="600"/>
                </a:spcAft>
                <a:buFont typeface="Arial" panose="020B0604020202020204" pitchFamily="34" charset="0"/>
                <a:buChar char="•"/>
              </a:pPr>
              <a:r>
                <a:rPr lang="en-US" sz="1000" dirty="0"/>
                <a:t>Why</a:t>
              </a:r>
            </a:p>
            <a:p>
              <a:pPr marL="171450" indent="-171450">
                <a:spcAft>
                  <a:spcPts val="600"/>
                </a:spcAft>
                <a:buFont typeface="Arial" panose="020B0604020202020204" pitchFamily="34" charset="0"/>
                <a:buChar char="•"/>
              </a:pPr>
              <a:r>
                <a:rPr lang="en-US" sz="1000" dirty="0"/>
                <a:t>Missed KPIs</a:t>
              </a:r>
            </a:p>
            <a:p>
              <a:pPr lvl="1" indent="-171450">
                <a:spcAft>
                  <a:spcPts val="600"/>
                </a:spcAft>
                <a:buFont typeface="Courier New" panose="02070309020205020404" pitchFamily="49" charset="0"/>
                <a:buChar char="o"/>
              </a:pPr>
              <a:r>
                <a:rPr lang="en-US" sz="1000" dirty="0"/>
                <a:t>RCA</a:t>
              </a:r>
            </a:p>
            <a:p>
              <a:pPr lvl="1" indent="-171450">
                <a:spcAft>
                  <a:spcPts val="600"/>
                </a:spcAft>
                <a:buFont typeface="Courier New" panose="02070309020205020404" pitchFamily="49" charset="0"/>
                <a:buChar char="o"/>
              </a:pPr>
              <a:r>
                <a:rPr lang="en-US" sz="1000" dirty="0"/>
                <a:t>CAPA</a:t>
              </a:r>
            </a:p>
            <a:p>
              <a:pPr marL="171450" indent="-171450">
                <a:spcAft>
                  <a:spcPts val="600"/>
                </a:spcAft>
                <a:buFont typeface="Arial" panose="020B0604020202020204" pitchFamily="34" charset="0"/>
                <a:buChar char="•"/>
              </a:pPr>
              <a:r>
                <a:rPr lang="en-US" sz="1000" dirty="0"/>
                <a:t>What’s next</a:t>
              </a:r>
            </a:p>
            <a:p>
              <a:pPr marL="171450" indent="-171450">
                <a:spcAft>
                  <a:spcPts val="600"/>
                </a:spcAft>
                <a:buFont typeface="Arial" panose="020B0604020202020204" pitchFamily="34" charset="0"/>
                <a:buChar char="•"/>
              </a:pPr>
              <a:endParaRPr lang="en-US" sz="1200" dirty="0"/>
            </a:p>
          </p:txBody>
        </p:sp>
        <p:sp>
          <p:nvSpPr>
            <p:cNvPr id="18" name="Rectangle: Rounded Corners 17">
              <a:extLst>
                <a:ext uri="{FF2B5EF4-FFF2-40B4-BE49-F238E27FC236}">
                  <a16:creationId xmlns:a16="http://schemas.microsoft.com/office/drawing/2014/main" id="{046B6094-9046-3FB5-1BF2-4210F1358B9B}"/>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FFBE00"/>
                  </a:solidFill>
                  <a:effectLst/>
                  <a:uLnTx/>
                  <a:uFillTx/>
                  <a:latin typeface="Verdana"/>
                  <a:ea typeface="+mn-ea"/>
                  <a:cs typeface="+mn-cs"/>
                </a:rPr>
                <a:t>Q1 INSIGHTS</a:t>
              </a:r>
            </a:p>
          </p:txBody>
        </p:sp>
      </p:grpSp>
      <p:grpSp>
        <p:nvGrpSpPr>
          <p:cNvPr id="19" name="Group 18">
            <a:extLst>
              <a:ext uri="{FF2B5EF4-FFF2-40B4-BE49-F238E27FC236}">
                <a16:creationId xmlns:a16="http://schemas.microsoft.com/office/drawing/2014/main" id="{A057F60B-4AC4-2959-C358-864C466FC4EE}"/>
              </a:ext>
            </a:extLst>
          </p:cNvPr>
          <p:cNvGrpSpPr/>
          <p:nvPr/>
        </p:nvGrpSpPr>
        <p:grpSpPr>
          <a:xfrm>
            <a:off x="8136871" y="4152900"/>
            <a:ext cx="3419655" cy="2083999"/>
            <a:chOff x="9549442" y="1086928"/>
            <a:chExt cx="2544792" cy="4537495"/>
          </a:xfrm>
        </p:grpSpPr>
        <p:sp>
          <p:nvSpPr>
            <p:cNvPr id="20" name="Rectangle: Rounded Corners 19">
              <a:extLst>
                <a:ext uri="{FF2B5EF4-FFF2-40B4-BE49-F238E27FC236}">
                  <a16:creationId xmlns:a16="http://schemas.microsoft.com/office/drawing/2014/main" id="{9F74A65D-00C8-86A9-689B-60633274B6FA}"/>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000" b="1" dirty="0"/>
            </a:p>
            <a:p>
              <a:pPr marL="171450" indent="-171450">
                <a:spcAft>
                  <a:spcPts val="600"/>
                </a:spcAft>
                <a:buFont typeface="Arial" panose="020B0604020202020204" pitchFamily="34" charset="0"/>
                <a:buChar char="•"/>
              </a:pPr>
              <a:r>
                <a:rPr lang="en-US" sz="1000" dirty="0"/>
                <a:t>What changed</a:t>
              </a:r>
            </a:p>
            <a:p>
              <a:pPr marL="171450" indent="-171450">
                <a:spcAft>
                  <a:spcPts val="600"/>
                </a:spcAft>
                <a:buFont typeface="Arial" panose="020B0604020202020204" pitchFamily="34" charset="0"/>
                <a:buChar char="•"/>
              </a:pPr>
              <a:r>
                <a:rPr lang="en-US" sz="1000" dirty="0"/>
                <a:t>Why</a:t>
              </a:r>
            </a:p>
            <a:p>
              <a:pPr marL="171450" indent="-171450">
                <a:spcAft>
                  <a:spcPts val="600"/>
                </a:spcAft>
                <a:buFont typeface="Arial" panose="020B0604020202020204" pitchFamily="34" charset="0"/>
                <a:buChar char="•"/>
              </a:pPr>
              <a:r>
                <a:rPr lang="en-US" sz="1000" dirty="0"/>
                <a:t>Missed KPIs</a:t>
              </a:r>
            </a:p>
            <a:p>
              <a:pPr lvl="1" indent="-171450">
                <a:spcAft>
                  <a:spcPts val="600"/>
                </a:spcAft>
                <a:buFont typeface="Courier New" panose="02070309020205020404" pitchFamily="49" charset="0"/>
                <a:buChar char="o"/>
              </a:pPr>
              <a:r>
                <a:rPr lang="en-US" sz="1000" dirty="0"/>
                <a:t>RCA</a:t>
              </a:r>
            </a:p>
            <a:p>
              <a:pPr lvl="1" indent="-171450">
                <a:spcAft>
                  <a:spcPts val="600"/>
                </a:spcAft>
                <a:buFont typeface="Courier New" panose="02070309020205020404" pitchFamily="49" charset="0"/>
                <a:buChar char="o"/>
              </a:pPr>
              <a:r>
                <a:rPr lang="en-US" sz="1000" dirty="0"/>
                <a:t>CAPA</a:t>
              </a:r>
            </a:p>
            <a:p>
              <a:pPr marL="171450" indent="-171450">
                <a:spcAft>
                  <a:spcPts val="600"/>
                </a:spcAft>
                <a:buFont typeface="Arial" panose="020B0604020202020204" pitchFamily="34" charset="0"/>
                <a:buChar char="•"/>
              </a:pPr>
              <a:r>
                <a:rPr lang="en-US" sz="1000" dirty="0"/>
                <a:t>What’s next</a:t>
              </a:r>
            </a:p>
            <a:p>
              <a:pPr marL="171450" indent="-171450">
                <a:spcAft>
                  <a:spcPts val="600"/>
                </a:spcAft>
                <a:buFont typeface="Arial" panose="020B0604020202020204" pitchFamily="34" charset="0"/>
                <a:buChar char="•"/>
              </a:pPr>
              <a:endParaRPr lang="en-US" sz="1200" dirty="0"/>
            </a:p>
          </p:txBody>
        </p:sp>
        <p:sp>
          <p:nvSpPr>
            <p:cNvPr id="21" name="Rectangle: Rounded Corners 20">
              <a:extLst>
                <a:ext uri="{FF2B5EF4-FFF2-40B4-BE49-F238E27FC236}">
                  <a16:creationId xmlns:a16="http://schemas.microsoft.com/office/drawing/2014/main" id="{0544BC7C-8B2A-48FF-5506-110F9FB64C72}"/>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rgbClr val="FFBE00"/>
                  </a:solidFill>
                  <a:effectLst/>
                  <a:uLnTx/>
                  <a:uFillTx/>
                  <a:latin typeface="Verdana"/>
                  <a:ea typeface="+mn-ea"/>
                  <a:cs typeface="+mn-cs"/>
                </a:rPr>
                <a:t>Q1 INSIGHTS</a:t>
              </a:r>
            </a:p>
          </p:txBody>
        </p:sp>
      </p:grpSp>
    </p:spTree>
    <p:extLst>
      <p:ext uri="{BB962C8B-B14F-4D97-AF65-F5344CB8AC3E}">
        <p14:creationId xmlns:p14="http://schemas.microsoft.com/office/powerpoint/2010/main" val="3541165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8018-60C8-BBE1-58A9-5A4E6EB4CC2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6350A8BD-B93F-E872-248E-F0F06F3DC01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5307" y="1162260"/>
            <a:ext cx="4310595" cy="2424710"/>
          </a:xfrm>
          <a:prstGeom prst="rect">
            <a:avLst/>
          </a:prstGeom>
        </p:spPr>
      </p:pic>
      <p:sp>
        <p:nvSpPr>
          <p:cNvPr id="2" name="Slide Number Placeholder 1">
            <a:extLst>
              <a:ext uri="{FF2B5EF4-FFF2-40B4-BE49-F238E27FC236}">
                <a16:creationId xmlns:a16="http://schemas.microsoft.com/office/drawing/2014/main" id="{8F6CF24D-7FA7-F27B-714E-88E047503157}"/>
              </a:ext>
            </a:extLst>
          </p:cNvPr>
          <p:cNvSpPr>
            <a:spLocks noGrp="1"/>
          </p:cNvSpPr>
          <p:nvPr>
            <p:ph type="sldNum" sz="quarter" idx="12"/>
          </p:nvPr>
        </p:nvSpPr>
        <p:spPr/>
        <p:txBody>
          <a:bodyPr/>
          <a:lstStyle/>
          <a:p>
            <a:pPr algn="r"/>
            <a:fld id="{4FA92F45-BA5D-4C7A-ACC7-D44B34072B97}" type="slidenum">
              <a:rPr lang="en-IN" smtClean="0"/>
              <a:pPr algn="r"/>
              <a:t>38</a:t>
            </a:fld>
            <a:endParaRPr lang="en-IN" dirty="0"/>
          </a:p>
        </p:txBody>
      </p:sp>
      <p:sp>
        <p:nvSpPr>
          <p:cNvPr id="3" name="Title 2">
            <a:extLst>
              <a:ext uri="{FF2B5EF4-FFF2-40B4-BE49-F238E27FC236}">
                <a16:creationId xmlns:a16="http://schemas.microsoft.com/office/drawing/2014/main" id="{86C73D6F-A600-3A63-415E-06D686FEDE4D}"/>
              </a:ext>
            </a:extLst>
          </p:cNvPr>
          <p:cNvSpPr>
            <a:spLocks noGrp="1"/>
          </p:cNvSpPr>
          <p:nvPr>
            <p:ph type="title"/>
          </p:nvPr>
        </p:nvSpPr>
        <p:spPr/>
        <p:txBody>
          <a:bodyPr/>
          <a:lstStyle/>
          <a:p>
            <a:r>
              <a:rPr lang="en-US" dirty="0"/>
              <a:t>COST / DATA / TREND ANALYSIS </a:t>
            </a:r>
          </a:p>
        </p:txBody>
      </p:sp>
      <p:sp>
        <p:nvSpPr>
          <p:cNvPr id="4" name="Text Placeholder 3">
            <a:extLst>
              <a:ext uri="{FF2B5EF4-FFF2-40B4-BE49-F238E27FC236}">
                <a16:creationId xmlns:a16="http://schemas.microsoft.com/office/drawing/2014/main" id="{DAA2118B-53AE-849D-2A21-2033D36525D2}"/>
              </a:ext>
            </a:extLst>
          </p:cNvPr>
          <p:cNvSpPr>
            <a:spLocks noGrp="1"/>
          </p:cNvSpPr>
          <p:nvPr>
            <p:ph type="body" sz="quarter" idx="13"/>
          </p:nvPr>
        </p:nvSpPr>
        <p:spPr/>
        <p:txBody>
          <a:bodyPr/>
          <a:lstStyle/>
          <a:p>
            <a:r>
              <a:rPr lang="en-US" dirty="0">
                <a:highlight>
                  <a:srgbClr val="FF00FF"/>
                </a:highlight>
              </a:rPr>
              <a:t>Facility name or location</a:t>
            </a:r>
          </a:p>
        </p:txBody>
      </p:sp>
      <p:sp>
        <p:nvSpPr>
          <p:cNvPr id="11" name="Rectangle 10">
            <a:extLst>
              <a:ext uri="{FF2B5EF4-FFF2-40B4-BE49-F238E27FC236}">
                <a16:creationId xmlns:a16="http://schemas.microsoft.com/office/drawing/2014/main" id="{4036553C-BD39-3E0B-2139-F68C79649563}"/>
              </a:ext>
            </a:extLst>
          </p:cNvPr>
          <p:cNvSpPr/>
          <p:nvPr/>
        </p:nvSpPr>
        <p:spPr>
          <a:xfrm rot="20873917">
            <a:off x="576140" y="2259647"/>
            <a:ext cx="5340313" cy="59522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Examples – </a:t>
            </a:r>
          </a:p>
          <a:p>
            <a:pPr algn="ctr"/>
            <a:r>
              <a:rPr lang="en-US" sz="1400" dirty="0">
                <a:solidFill>
                  <a:schemeClr val="accent1"/>
                </a:solidFill>
              </a:rPr>
              <a:t>UPS Supply Chain Symphony for UPS Healthcare</a:t>
            </a:r>
          </a:p>
        </p:txBody>
      </p:sp>
      <p:grpSp>
        <p:nvGrpSpPr>
          <p:cNvPr id="12" name="Group 11">
            <a:extLst>
              <a:ext uri="{FF2B5EF4-FFF2-40B4-BE49-F238E27FC236}">
                <a16:creationId xmlns:a16="http://schemas.microsoft.com/office/drawing/2014/main" id="{A6CFB7C5-C6A2-085C-4DA5-BEC980536DD7}"/>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3532CA75-C038-EC39-5B05-E7E75307730F}"/>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Some text</a:t>
              </a:r>
            </a:p>
            <a:p>
              <a:pPr marL="171450" indent="-171450">
                <a:spcAft>
                  <a:spcPts val="600"/>
                </a:spcAft>
                <a:buFont typeface="Arial" panose="020B0604020202020204" pitchFamily="34" charset="0"/>
                <a:buChar char="•"/>
              </a:pPr>
              <a:r>
                <a:rPr lang="en-US" sz="1200" dirty="0"/>
                <a:t>Some text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5E3C3BE6-58F9-AA25-EB06-756780B4699A}"/>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pic>
        <p:nvPicPr>
          <p:cNvPr id="17" name="Picture 16">
            <a:extLst>
              <a:ext uri="{FF2B5EF4-FFF2-40B4-BE49-F238E27FC236}">
                <a16:creationId xmlns:a16="http://schemas.microsoft.com/office/drawing/2014/main" id="{3247939E-AC61-8E2E-8606-3C71369070B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79562" y="3477703"/>
            <a:ext cx="4925683" cy="2770697"/>
          </a:xfrm>
          <a:prstGeom prst="rect">
            <a:avLst/>
          </a:prstGeom>
        </p:spPr>
      </p:pic>
      <p:sp>
        <p:nvSpPr>
          <p:cNvPr id="5" name="Rectangle: Rounded Corners 4">
            <a:extLst>
              <a:ext uri="{FF2B5EF4-FFF2-40B4-BE49-F238E27FC236}">
                <a16:creationId xmlns:a16="http://schemas.microsoft.com/office/drawing/2014/main" id="{F5D52671-1182-4E7D-2BE8-C64D5E197B7E}"/>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3332086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8B33A9-715C-FC64-A2A9-CC1EB95CFDAA}"/>
              </a:ext>
            </a:extLst>
          </p:cNvPr>
          <p:cNvSpPr>
            <a:spLocks noGrp="1"/>
          </p:cNvSpPr>
          <p:nvPr>
            <p:ph type="sldNum" sz="quarter" idx="12"/>
          </p:nvPr>
        </p:nvSpPr>
        <p:spPr/>
        <p:txBody>
          <a:bodyPr/>
          <a:lstStyle/>
          <a:p>
            <a:pPr algn="r"/>
            <a:fld id="{4FA92F45-BA5D-4C7A-ACC7-D44B34072B97}" type="slidenum">
              <a:rPr lang="en-IN" smtClean="0"/>
              <a:pPr algn="r"/>
              <a:t>39</a:t>
            </a:fld>
            <a:endParaRPr lang="en-IN" dirty="0"/>
          </a:p>
        </p:txBody>
      </p:sp>
      <p:sp>
        <p:nvSpPr>
          <p:cNvPr id="3" name="Title 2">
            <a:extLst>
              <a:ext uri="{FF2B5EF4-FFF2-40B4-BE49-F238E27FC236}">
                <a16:creationId xmlns:a16="http://schemas.microsoft.com/office/drawing/2014/main" id="{28D535E3-DECB-4913-E214-F24F7B1D00C1}"/>
              </a:ext>
            </a:extLst>
          </p:cNvPr>
          <p:cNvSpPr>
            <a:spLocks noGrp="1"/>
          </p:cNvSpPr>
          <p:nvPr>
            <p:ph type="title"/>
          </p:nvPr>
        </p:nvSpPr>
        <p:spPr/>
        <p:txBody>
          <a:bodyPr/>
          <a:lstStyle/>
          <a:p>
            <a:r>
              <a:rPr lang="en-US" dirty="0"/>
              <a:t>COST / DATA / TREND ANALYSIS </a:t>
            </a:r>
          </a:p>
        </p:txBody>
      </p:sp>
      <p:sp>
        <p:nvSpPr>
          <p:cNvPr id="4" name="Text Placeholder 3">
            <a:extLst>
              <a:ext uri="{FF2B5EF4-FFF2-40B4-BE49-F238E27FC236}">
                <a16:creationId xmlns:a16="http://schemas.microsoft.com/office/drawing/2014/main" id="{3B5213E6-E5F8-F38D-94A2-DFAFE21DFC0D}"/>
              </a:ext>
            </a:extLst>
          </p:cNvPr>
          <p:cNvSpPr>
            <a:spLocks noGrp="1"/>
          </p:cNvSpPr>
          <p:nvPr>
            <p:ph type="body" sz="quarter" idx="13"/>
          </p:nvPr>
        </p:nvSpPr>
        <p:spPr/>
        <p:txBody>
          <a:bodyPr/>
          <a:lstStyle/>
          <a:p>
            <a:r>
              <a:rPr lang="en-US" dirty="0">
                <a:highlight>
                  <a:srgbClr val="FF00FF"/>
                </a:highlight>
              </a:rPr>
              <a:t>Facility name or location</a:t>
            </a:r>
          </a:p>
        </p:txBody>
      </p:sp>
      <p:grpSp>
        <p:nvGrpSpPr>
          <p:cNvPr id="12" name="Group 11">
            <a:extLst>
              <a:ext uri="{FF2B5EF4-FFF2-40B4-BE49-F238E27FC236}">
                <a16:creationId xmlns:a16="http://schemas.microsoft.com/office/drawing/2014/main" id="{4A5C1EAF-A0C2-6D50-23C7-1FB351CA9704}"/>
              </a:ext>
            </a:extLst>
          </p:cNvPr>
          <p:cNvGrpSpPr/>
          <p:nvPr/>
        </p:nvGrpSpPr>
        <p:grpSpPr>
          <a:xfrm>
            <a:off x="9549442" y="1086928"/>
            <a:ext cx="2544792" cy="4894772"/>
            <a:chOff x="9549442" y="1086928"/>
            <a:chExt cx="2544792" cy="4537495"/>
          </a:xfrm>
        </p:grpSpPr>
        <p:sp>
          <p:nvSpPr>
            <p:cNvPr id="13" name="Rectangle: Rounded Corners 12">
              <a:extLst>
                <a:ext uri="{FF2B5EF4-FFF2-40B4-BE49-F238E27FC236}">
                  <a16:creationId xmlns:a16="http://schemas.microsoft.com/office/drawing/2014/main" id="{9839F62A-73C1-3564-086F-3551C37357B3}"/>
                </a:ext>
              </a:extLst>
            </p:cNvPr>
            <p:cNvSpPr/>
            <p:nvPr/>
          </p:nvSpPr>
          <p:spPr>
            <a:xfrm>
              <a:off x="9549442" y="1397479"/>
              <a:ext cx="2544792" cy="4226944"/>
            </a:xfrm>
            <a:prstGeom prst="roundRect">
              <a:avLst/>
            </a:prstGeom>
            <a:solidFill>
              <a:schemeClr val="accent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endParaRPr lang="en-US" sz="1200" b="1" dirty="0"/>
            </a:p>
            <a:p>
              <a:pPr marL="171450" indent="-171450">
                <a:spcAft>
                  <a:spcPts val="600"/>
                </a:spcAft>
                <a:buFont typeface="Arial" panose="020B0604020202020204" pitchFamily="34" charset="0"/>
                <a:buChar char="•"/>
              </a:pPr>
              <a:r>
                <a:rPr lang="en-US" sz="1200" dirty="0"/>
                <a:t>Some text</a:t>
              </a:r>
            </a:p>
            <a:p>
              <a:pPr marL="171450" indent="-171450">
                <a:spcAft>
                  <a:spcPts val="600"/>
                </a:spcAft>
                <a:buFont typeface="Arial" panose="020B0604020202020204" pitchFamily="34" charset="0"/>
                <a:buChar char="•"/>
              </a:pPr>
              <a:r>
                <a:rPr lang="en-US" sz="1200" dirty="0"/>
                <a:t>Some text</a:t>
              </a:r>
            </a:p>
            <a:p>
              <a:pPr marL="171450" indent="-171450">
                <a:spcAft>
                  <a:spcPts val="600"/>
                </a:spcAft>
                <a:buFont typeface="Arial" panose="020B0604020202020204" pitchFamily="34" charset="0"/>
                <a:buChar char="•"/>
              </a:pPr>
              <a:endParaRPr lang="en-US" sz="1200" dirty="0"/>
            </a:p>
          </p:txBody>
        </p:sp>
        <p:sp>
          <p:nvSpPr>
            <p:cNvPr id="14" name="Rectangle: Rounded Corners 13">
              <a:extLst>
                <a:ext uri="{FF2B5EF4-FFF2-40B4-BE49-F238E27FC236}">
                  <a16:creationId xmlns:a16="http://schemas.microsoft.com/office/drawing/2014/main" id="{F3B4BB7A-A4EE-7828-7C60-49AF49E74A49}"/>
                </a:ext>
              </a:extLst>
            </p:cNvPr>
            <p:cNvSpPr/>
            <p:nvPr/>
          </p:nvSpPr>
          <p:spPr>
            <a:xfrm>
              <a:off x="9989389" y="1086928"/>
              <a:ext cx="1656272" cy="517585"/>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grpSp>
      <p:pic>
        <p:nvPicPr>
          <p:cNvPr id="18" name="Picture 17">
            <a:extLst>
              <a:ext uri="{FF2B5EF4-FFF2-40B4-BE49-F238E27FC236}">
                <a16:creationId xmlns:a16="http://schemas.microsoft.com/office/drawing/2014/main" id="{22C1265F-66BD-8878-15B5-9E5A4B745EF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5087" y="1110502"/>
            <a:ext cx="4405488" cy="2478087"/>
          </a:xfrm>
          <a:prstGeom prst="rect">
            <a:avLst/>
          </a:prstGeom>
        </p:spPr>
      </p:pic>
      <p:pic>
        <p:nvPicPr>
          <p:cNvPr id="19" name="Picture 18">
            <a:extLst>
              <a:ext uri="{FF2B5EF4-FFF2-40B4-BE49-F238E27FC236}">
                <a16:creationId xmlns:a16="http://schemas.microsoft.com/office/drawing/2014/main" id="{0FCB23AA-4E20-5542-BDFE-29E8B475ECB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80581" y="3638042"/>
            <a:ext cx="4451493" cy="2503965"/>
          </a:xfrm>
          <a:prstGeom prst="rect">
            <a:avLst/>
          </a:prstGeom>
        </p:spPr>
      </p:pic>
      <p:sp>
        <p:nvSpPr>
          <p:cNvPr id="20" name="Rectangle 19">
            <a:extLst>
              <a:ext uri="{FF2B5EF4-FFF2-40B4-BE49-F238E27FC236}">
                <a16:creationId xmlns:a16="http://schemas.microsoft.com/office/drawing/2014/main" id="{A8101D9B-796C-512D-02B1-4E295B38F40B}"/>
              </a:ext>
            </a:extLst>
          </p:cNvPr>
          <p:cNvSpPr/>
          <p:nvPr/>
        </p:nvSpPr>
        <p:spPr>
          <a:xfrm rot="20873917">
            <a:off x="971312" y="3442384"/>
            <a:ext cx="3551517" cy="30763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Examples</a:t>
            </a:r>
          </a:p>
        </p:txBody>
      </p:sp>
      <p:sp>
        <p:nvSpPr>
          <p:cNvPr id="5" name="Rectangle: Rounded Corners 4">
            <a:extLst>
              <a:ext uri="{FF2B5EF4-FFF2-40B4-BE49-F238E27FC236}">
                <a16:creationId xmlns:a16="http://schemas.microsoft.com/office/drawing/2014/main" id="{62CDCD0C-D2AB-055E-33A4-438C2766183B}"/>
              </a:ext>
            </a:extLst>
          </p:cNvPr>
          <p:cNvSpPr/>
          <p:nvPr/>
        </p:nvSpPr>
        <p:spPr>
          <a:xfrm>
            <a:off x="9989389" y="1086928"/>
            <a:ext cx="1656272" cy="555961"/>
          </a:xfrm>
          <a:prstGeom prst="roundRect">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FFBE00"/>
                </a:solidFill>
                <a:effectLst/>
                <a:uLnTx/>
                <a:uFillTx/>
                <a:latin typeface="Verdana"/>
                <a:ea typeface="+mn-ea"/>
                <a:cs typeface="+mn-cs"/>
              </a:rPr>
              <a:t>Q1 INSIGHTS</a:t>
            </a:r>
          </a:p>
        </p:txBody>
      </p:sp>
    </p:spTree>
    <p:extLst>
      <p:ext uri="{BB962C8B-B14F-4D97-AF65-F5344CB8AC3E}">
        <p14:creationId xmlns:p14="http://schemas.microsoft.com/office/powerpoint/2010/main" val="41453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ABB91-60E9-EF09-1AB4-999EE35692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7D095A-A1C6-D115-2687-CFD70CEE0F8C}"/>
              </a:ext>
            </a:extLst>
          </p:cNvPr>
          <p:cNvSpPr>
            <a:spLocks noGrp="1"/>
          </p:cNvSpPr>
          <p:nvPr>
            <p:ph type="sldNum" sz="quarter" idx="12"/>
          </p:nvPr>
        </p:nvSpPr>
        <p:spPr/>
        <p:txBody>
          <a:bodyPr/>
          <a:lstStyle/>
          <a:p>
            <a:pPr algn="r"/>
            <a:fld id="{4FA92F45-BA5D-4C7A-ACC7-D44B34072B97}" type="slidenum">
              <a:rPr lang="en-IN" smtClean="0"/>
              <a:pPr algn="r"/>
              <a:t>40</a:t>
            </a:fld>
            <a:endParaRPr lang="en-IN" dirty="0"/>
          </a:p>
        </p:txBody>
      </p:sp>
      <p:sp>
        <p:nvSpPr>
          <p:cNvPr id="3" name="Title 2">
            <a:extLst>
              <a:ext uri="{FF2B5EF4-FFF2-40B4-BE49-F238E27FC236}">
                <a16:creationId xmlns:a16="http://schemas.microsoft.com/office/drawing/2014/main" id="{26F7CBB5-67DE-914C-7685-188A2FE3986C}"/>
              </a:ext>
            </a:extLst>
          </p:cNvPr>
          <p:cNvSpPr>
            <a:spLocks noGrp="1"/>
          </p:cNvSpPr>
          <p:nvPr>
            <p:ph type="title"/>
          </p:nvPr>
        </p:nvSpPr>
        <p:spPr/>
        <p:txBody>
          <a:bodyPr/>
          <a:lstStyle/>
          <a:p>
            <a:r>
              <a:rPr lang="en-US" dirty="0"/>
              <a:t>FORWARD LOOKING ROADMAP</a:t>
            </a:r>
          </a:p>
        </p:txBody>
      </p:sp>
      <p:sp>
        <p:nvSpPr>
          <p:cNvPr id="4" name="Text Placeholder 3">
            <a:extLst>
              <a:ext uri="{FF2B5EF4-FFF2-40B4-BE49-F238E27FC236}">
                <a16:creationId xmlns:a16="http://schemas.microsoft.com/office/drawing/2014/main" id="{2F8F5489-598B-4B1B-47BF-21275318E1D6}"/>
              </a:ext>
            </a:extLst>
          </p:cNvPr>
          <p:cNvSpPr>
            <a:spLocks noGrp="1"/>
          </p:cNvSpPr>
          <p:nvPr>
            <p:ph type="body" sz="quarter" idx="13"/>
          </p:nvPr>
        </p:nvSpPr>
        <p:spPr/>
        <p:txBody>
          <a:bodyPr/>
          <a:lstStyle/>
          <a:p>
            <a:r>
              <a:rPr lang="en-US" dirty="0">
                <a:highlight>
                  <a:srgbClr val="FF00FF"/>
                </a:highlight>
              </a:rPr>
              <a:t>Some text</a:t>
            </a:r>
          </a:p>
        </p:txBody>
      </p:sp>
      <p:sp>
        <p:nvSpPr>
          <p:cNvPr id="22" name="Freeform: Shape 21">
            <a:extLst>
              <a:ext uri="{FF2B5EF4-FFF2-40B4-BE49-F238E27FC236}">
                <a16:creationId xmlns:a16="http://schemas.microsoft.com/office/drawing/2014/main" id="{9C56901E-1922-90A3-3B47-BBD3B245B828}"/>
              </a:ext>
            </a:extLst>
          </p:cNvPr>
          <p:cNvSpPr/>
          <p:nvPr/>
        </p:nvSpPr>
        <p:spPr>
          <a:xfrm flipH="1">
            <a:off x="0" y="3157267"/>
            <a:ext cx="12192000" cy="3096883"/>
          </a:xfrm>
          <a:custGeom>
            <a:avLst/>
            <a:gdLst>
              <a:gd name="csX0" fmla="*/ 12192000 w 12192000"/>
              <a:gd name="csY0" fmla="*/ 0 h 4770342"/>
              <a:gd name="csX1" fmla="*/ 11290886 w 12192000"/>
              <a:gd name="csY1" fmla="*/ 57265 h 4770342"/>
              <a:gd name="csX2" fmla="*/ 252362 w 12192000"/>
              <a:gd name="csY2" fmla="*/ 1601816 h 4770342"/>
              <a:gd name="csX3" fmla="*/ 0 w 12192000"/>
              <a:gd name="csY3" fmla="*/ 1660130 h 4770342"/>
              <a:gd name="csX4" fmla="*/ 0 w 12192000"/>
              <a:gd name="csY4" fmla="*/ 4770342 h 4770342"/>
              <a:gd name="csX5" fmla="*/ 375433 w 12192000"/>
              <a:gd name="csY5" fmla="*/ 4554147 h 4770342"/>
              <a:gd name="csX6" fmla="*/ 11767461 w 12192000"/>
              <a:gd name="csY6" fmla="*/ 777757 h 4770342"/>
              <a:gd name="csX7" fmla="*/ 12192000 w 12192000"/>
              <a:gd name="csY7" fmla="*/ 697339 h 47703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4770342">
                <a:moveTo>
                  <a:pt x="12192000" y="0"/>
                </a:moveTo>
                <a:lnTo>
                  <a:pt x="11290886" y="57265"/>
                </a:lnTo>
                <a:cubicBezTo>
                  <a:pt x="7272215" y="337359"/>
                  <a:pt x="3538678" y="869906"/>
                  <a:pt x="252362" y="1601816"/>
                </a:cubicBezTo>
                <a:lnTo>
                  <a:pt x="0" y="1660130"/>
                </a:lnTo>
                <a:lnTo>
                  <a:pt x="0" y="4770342"/>
                </a:lnTo>
                <a:lnTo>
                  <a:pt x="375433" y="4554147"/>
                </a:lnTo>
                <a:cubicBezTo>
                  <a:pt x="3138125" y="3021956"/>
                  <a:pt x="7033559" y="1717592"/>
                  <a:pt x="11767461" y="777757"/>
                </a:cubicBezTo>
                <a:lnTo>
                  <a:pt x="12192000" y="69733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4" name="Straight Connector 13">
            <a:extLst>
              <a:ext uri="{FF2B5EF4-FFF2-40B4-BE49-F238E27FC236}">
                <a16:creationId xmlns:a16="http://schemas.microsoft.com/office/drawing/2014/main" id="{806CAC78-FF0D-7CFB-7D38-B2F4E729AC89}"/>
              </a:ext>
            </a:extLst>
          </p:cNvPr>
          <p:cNvCxnSpPr>
            <a:cxnSpLocks/>
          </p:cNvCxnSpPr>
          <p:nvPr/>
        </p:nvCxnSpPr>
        <p:spPr>
          <a:xfrm>
            <a:off x="10601864" y="3424683"/>
            <a:ext cx="0" cy="145786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F75B9A7E-C485-D42C-6E0D-7E6F1907A3A2}"/>
              </a:ext>
            </a:extLst>
          </p:cNvPr>
          <p:cNvSpPr/>
          <p:nvPr/>
        </p:nvSpPr>
        <p:spPr>
          <a:xfrm>
            <a:off x="9762225" y="2534010"/>
            <a:ext cx="1716657" cy="1008571"/>
          </a:xfrm>
          <a:prstGeom prst="rect">
            <a:avLst/>
          </a:prstGeom>
          <a:solidFill>
            <a:schemeClr val="bg1"/>
          </a:solidFill>
          <a:ln w="381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0" b="1" dirty="0">
                <a:solidFill>
                  <a:schemeClr val="accent1"/>
                </a:solidFill>
              </a:rPr>
              <a:t>GEMBA updates</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p:txBody>
      </p:sp>
      <p:cxnSp>
        <p:nvCxnSpPr>
          <p:cNvPr id="16" name="Straight Connector 15">
            <a:extLst>
              <a:ext uri="{FF2B5EF4-FFF2-40B4-BE49-F238E27FC236}">
                <a16:creationId xmlns:a16="http://schemas.microsoft.com/office/drawing/2014/main" id="{84E17D62-65A0-6427-D72E-235A56FD47E4}"/>
              </a:ext>
            </a:extLst>
          </p:cNvPr>
          <p:cNvCxnSpPr>
            <a:cxnSpLocks/>
          </p:cNvCxnSpPr>
          <p:nvPr/>
        </p:nvCxnSpPr>
        <p:spPr>
          <a:xfrm>
            <a:off x="7096667" y="2731699"/>
            <a:ext cx="0" cy="142623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38FEFFD-1BC4-B644-23E8-631BBD84B8BE}"/>
              </a:ext>
            </a:extLst>
          </p:cNvPr>
          <p:cNvSpPr/>
          <p:nvPr/>
        </p:nvSpPr>
        <p:spPr>
          <a:xfrm>
            <a:off x="6234022" y="1947414"/>
            <a:ext cx="1716657" cy="1008571"/>
          </a:xfrm>
          <a:prstGeom prst="rect">
            <a:avLst/>
          </a:prstGeom>
          <a:solidFill>
            <a:schemeClr val="bg1"/>
          </a:solidFill>
          <a:ln w="381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0" b="1" dirty="0">
                <a:solidFill>
                  <a:schemeClr val="accent1"/>
                </a:solidFill>
              </a:rPr>
              <a:t>Continuous improvement</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p:txBody>
      </p:sp>
      <p:cxnSp>
        <p:nvCxnSpPr>
          <p:cNvPr id="19" name="Straight Connector 18">
            <a:extLst>
              <a:ext uri="{FF2B5EF4-FFF2-40B4-BE49-F238E27FC236}">
                <a16:creationId xmlns:a16="http://schemas.microsoft.com/office/drawing/2014/main" id="{95E1C789-F200-C773-82F9-99FCC075941F}"/>
              </a:ext>
            </a:extLst>
          </p:cNvPr>
          <p:cNvCxnSpPr>
            <a:cxnSpLocks/>
          </p:cNvCxnSpPr>
          <p:nvPr/>
        </p:nvCxnSpPr>
        <p:spPr>
          <a:xfrm>
            <a:off x="4132054" y="2355008"/>
            <a:ext cx="0" cy="135434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6097A71-0F6D-AB06-67E0-F29673C9FE28}"/>
              </a:ext>
            </a:extLst>
          </p:cNvPr>
          <p:cNvSpPr/>
          <p:nvPr/>
        </p:nvSpPr>
        <p:spPr>
          <a:xfrm>
            <a:off x="3223403" y="1550598"/>
            <a:ext cx="1716657" cy="1008571"/>
          </a:xfrm>
          <a:prstGeom prst="rect">
            <a:avLst/>
          </a:prstGeom>
          <a:solidFill>
            <a:schemeClr val="bg1"/>
          </a:solidFill>
          <a:ln w="381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0" b="1" dirty="0">
                <a:solidFill>
                  <a:schemeClr val="accent1"/>
                </a:solidFill>
              </a:rPr>
              <a:t>Project roadmap</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p:txBody>
      </p:sp>
      <p:cxnSp>
        <p:nvCxnSpPr>
          <p:cNvPr id="20" name="Straight Connector 19">
            <a:extLst>
              <a:ext uri="{FF2B5EF4-FFF2-40B4-BE49-F238E27FC236}">
                <a16:creationId xmlns:a16="http://schemas.microsoft.com/office/drawing/2014/main" id="{4B5DB1E6-E73C-501F-6545-5A398F19AF56}"/>
              </a:ext>
            </a:extLst>
          </p:cNvPr>
          <p:cNvCxnSpPr>
            <a:cxnSpLocks/>
          </p:cNvCxnSpPr>
          <p:nvPr/>
        </p:nvCxnSpPr>
        <p:spPr>
          <a:xfrm>
            <a:off x="1190444" y="2104844"/>
            <a:ext cx="0" cy="135434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E6AC9F3-9D9C-E826-7557-2A548A48EC57}"/>
              </a:ext>
            </a:extLst>
          </p:cNvPr>
          <p:cNvSpPr/>
          <p:nvPr/>
        </p:nvSpPr>
        <p:spPr>
          <a:xfrm>
            <a:off x="336429" y="1286055"/>
            <a:ext cx="1716657" cy="1008571"/>
          </a:xfrm>
          <a:prstGeom prst="rect">
            <a:avLst/>
          </a:prstGeom>
          <a:solidFill>
            <a:schemeClr val="bg1"/>
          </a:solidFill>
          <a:ln w="38100">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0" b="1" dirty="0">
                <a:solidFill>
                  <a:schemeClr val="accent1"/>
                </a:solidFill>
              </a:rPr>
              <a:t>Future priorities</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a:p>
            <a:pPr marL="171450" indent="-171450">
              <a:buFont typeface="Arial" panose="020B0604020202020204" pitchFamily="34" charset="0"/>
              <a:buChar char="•"/>
            </a:pPr>
            <a:r>
              <a:rPr lang="en-US" sz="1000" dirty="0">
                <a:solidFill>
                  <a:schemeClr val="accent1"/>
                </a:solidFill>
              </a:rPr>
              <a:t>Some text</a:t>
            </a:r>
          </a:p>
        </p:txBody>
      </p:sp>
      <p:sp>
        <p:nvSpPr>
          <p:cNvPr id="24" name="Freeform: Shape 23">
            <a:extLst>
              <a:ext uri="{FF2B5EF4-FFF2-40B4-BE49-F238E27FC236}">
                <a16:creationId xmlns:a16="http://schemas.microsoft.com/office/drawing/2014/main" id="{2BCF922A-25E3-5D01-3819-A041BC62267D}"/>
              </a:ext>
            </a:extLst>
          </p:cNvPr>
          <p:cNvSpPr/>
          <p:nvPr/>
        </p:nvSpPr>
        <p:spPr>
          <a:xfrm>
            <a:off x="0" y="3364302"/>
            <a:ext cx="12163245" cy="1880558"/>
          </a:xfrm>
          <a:custGeom>
            <a:avLst/>
            <a:gdLst>
              <a:gd name="csX0" fmla="*/ 0 w 12577313"/>
              <a:gd name="csY0" fmla="*/ 0 h 1880558"/>
              <a:gd name="csX1" fmla="*/ 5149970 w 12577313"/>
              <a:gd name="csY1" fmla="*/ 439947 h 1880558"/>
              <a:gd name="csX2" fmla="*/ 9057736 w 12577313"/>
              <a:gd name="csY2" fmla="*/ 1104181 h 1880558"/>
              <a:gd name="csX3" fmla="*/ 12577313 w 12577313"/>
              <a:gd name="csY3" fmla="*/ 1880558 h 1880558"/>
              <a:gd name="csX4" fmla="*/ 12577313 w 12577313"/>
              <a:gd name="csY4" fmla="*/ 1880558 h 1880558"/>
            </a:gdLst>
            <a:ahLst/>
            <a:cxnLst>
              <a:cxn ang="0">
                <a:pos x="csX0" y="csY0"/>
              </a:cxn>
              <a:cxn ang="0">
                <a:pos x="csX1" y="csY1"/>
              </a:cxn>
              <a:cxn ang="0">
                <a:pos x="csX2" y="csY2"/>
              </a:cxn>
              <a:cxn ang="0">
                <a:pos x="csX3" y="csY3"/>
              </a:cxn>
              <a:cxn ang="0">
                <a:pos x="csX4" y="csY4"/>
              </a:cxn>
            </a:cxnLst>
            <a:rect l="l" t="t" r="r" b="b"/>
            <a:pathLst>
              <a:path w="12577313" h="1880558">
                <a:moveTo>
                  <a:pt x="0" y="0"/>
                </a:moveTo>
                <a:cubicBezTo>
                  <a:pt x="1820173" y="127958"/>
                  <a:pt x="3640347" y="255917"/>
                  <a:pt x="5149970" y="439947"/>
                </a:cubicBezTo>
                <a:cubicBezTo>
                  <a:pt x="6659593" y="623977"/>
                  <a:pt x="7819846" y="864079"/>
                  <a:pt x="9057736" y="1104181"/>
                </a:cubicBezTo>
                <a:cubicBezTo>
                  <a:pt x="10295626" y="1344283"/>
                  <a:pt x="12577313" y="1880558"/>
                  <a:pt x="12577313" y="1880558"/>
                </a:cubicBezTo>
                <a:lnTo>
                  <a:pt x="12577313" y="1880558"/>
                </a:lnTo>
              </a:path>
            </a:pathLst>
          </a:custGeom>
          <a:noFill/>
          <a:ln>
            <a:solidFill>
              <a:schemeClr val="bg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C493AF45-6268-A9BA-AFC8-1D70662A4905}"/>
              </a:ext>
            </a:extLst>
          </p:cNvPr>
          <p:cNvSpPr/>
          <p:nvPr/>
        </p:nvSpPr>
        <p:spPr>
          <a:xfrm>
            <a:off x="310550" y="4459856"/>
            <a:ext cx="3114137" cy="1578635"/>
          </a:xfrm>
          <a:prstGeom prst="roundRect">
            <a:avLst/>
          </a:prstGeom>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dirty="0">
                <a:solidFill>
                  <a:schemeClr val="bg1"/>
                </a:solidFill>
              </a:rPr>
              <a:t>Optional</a:t>
            </a:r>
          </a:p>
          <a:p>
            <a:pPr marL="171450" indent="-171450">
              <a:spcAft>
                <a:spcPts val="600"/>
              </a:spcAft>
              <a:buFont typeface="Arial" panose="020B0604020202020204" pitchFamily="34" charset="0"/>
              <a:buChar char="•"/>
            </a:pPr>
            <a:r>
              <a:rPr lang="en-US" sz="1200" dirty="0">
                <a:solidFill>
                  <a:schemeClr val="bg1"/>
                </a:solidFill>
              </a:rPr>
              <a:t>Some text</a:t>
            </a:r>
          </a:p>
          <a:p>
            <a:pPr marL="171450" indent="-171450">
              <a:spcAft>
                <a:spcPts val="600"/>
              </a:spcAft>
              <a:buFont typeface="Arial" panose="020B0604020202020204" pitchFamily="34" charset="0"/>
              <a:buChar char="•"/>
            </a:pPr>
            <a:r>
              <a:rPr lang="en-US" sz="1200" dirty="0">
                <a:solidFill>
                  <a:schemeClr val="bg1"/>
                </a:solidFill>
              </a:rPr>
              <a:t>Some text</a:t>
            </a:r>
          </a:p>
          <a:p>
            <a:pPr marL="171450" indent="-171450">
              <a:spcAft>
                <a:spcPts val="600"/>
              </a:spcAft>
              <a:buFont typeface="Arial" panose="020B0604020202020204" pitchFamily="34" charset="0"/>
              <a:buChar char="•"/>
            </a:pPr>
            <a:r>
              <a:rPr lang="en-US" sz="1200" dirty="0">
                <a:solidFill>
                  <a:schemeClr val="bg1"/>
                </a:solidFill>
              </a:rPr>
              <a:t>Some test</a:t>
            </a:r>
          </a:p>
        </p:txBody>
      </p:sp>
      <p:sp>
        <p:nvSpPr>
          <p:cNvPr id="5" name="Rectangle 4">
            <a:extLst>
              <a:ext uri="{FF2B5EF4-FFF2-40B4-BE49-F238E27FC236}">
                <a16:creationId xmlns:a16="http://schemas.microsoft.com/office/drawing/2014/main" id="{418EB93A-AEEE-5F7C-FB2B-65B58FF2BA03}"/>
              </a:ext>
            </a:extLst>
          </p:cNvPr>
          <p:cNvSpPr/>
          <p:nvPr/>
        </p:nvSpPr>
        <p:spPr>
          <a:xfrm>
            <a:off x="6837870" y="368060"/>
            <a:ext cx="3881887" cy="59522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solidFill>
              </a:rPr>
              <a:t>Example items for discussion</a:t>
            </a:r>
          </a:p>
        </p:txBody>
      </p:sp>
    </p:spTree>
    <p:extLst>
      <p:ext uri="{BB962C8B-B14F-4D97-AF65-F5344CB8AC3E}">
        <p14:creationId xmlns:p14="http://schemas.microsoft.com/office/powerpoint/2010/main" val="25292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9C8859-6E02-8DC3-B329-F122DAC71E65}"/>
              </a:ext>
            </a:extLst>
          </p:cNvPr>
          <p:cNvSpPr>
            <a:spLocks noGrp="1"/>
          </p:cNvSpPr>
          <p:nvPr>
            <p:ph type="sldNum" sz="quarter" idx="12"/>
          </p:nvPr>
        </p:nvSpPr>
        <p:spPr/>
        <p:txBody>
          <a:bodyPr/>
          <a:lstStyle/>
          <a:p>
            <a:pPr algn="r"/>
            <a:fld id="{4FA92F45-BA5D-4C7A-ACC7-D44B34072B97}" type="slidenum">
              <a:rPr lang="en-IN" smtClean="0"/>
              <a:pPr algn="r"/>
              <a:t>41</a:t>
            </a:fld>
            <a:endParaRPr lang="en-IN" dirty="0"/>
          </a:p>
        </p:txBody>
      </p:sp>
      <p:sp>
        <p:nvSpPr>
          <p:cNvPr id="3" name="Title 2">
            <a:extLst>
              <a:ext uri="{FF2B5EF4-FFF2-40B4-BE49-F238E27FC236}">
                <a16:creationId xmlns:a16="http://schemas.microsoft.com/office/drawing/2014/main" id="{D01C4AE7-F26E-B08A-3903-07A61DD9AE76}"/>
              </a:ext>
            </a:extLst>
          </p:cNvPr>
          <p:cNvSpPr>
            <a:spLocks noGrp="1"/>
          </p:cNvSpPr>
          <p:nvPr>
            <p:ph type="title"/>
          </p:nvPr>
        </p:nvSpPr>
        <p:spPr/>
        <p:txBody>
          <a:bodyPr/>
          <a:lstStyle/>
          <a:p>
            <a:r>
              <a:rPr lang="en-US" dirty="0"/>
              <a:t>TECHNOLOGY AND DIGITAL ENABLEMENT</a:t>
            </a:r>
          </a:p>
        </p:txBody>
      </p:sp>
      <p:sp>
        <p:nvSpPr>
          <p:cNvPr id="4" name="Text Placeholder 3">
            <a:extLst>
              <a:ext uri="{FF2B5EF4-FFF2-40B4-BE49-F238E27FC236}">
                <a16:creationId xmlns:a16="http://schemas.microsoft.com/office/drawing/2014/main" id="{D05C7B8B-3A9E-BA90-B118-561D6C25EC22}"/>
              </a:ext>
            </a:extLst>
          </p:cNvPr>
          <p:cNvSpPr>
            <a:spLocks noGrp="1"/>
          </p:cNvSpPr>
          <p:nvPr>
            <p:ph type="body" sz="quarter" idx="13"/>
          </p:nvPr>
        </p:nvSpPr>
        <p:spPr/>
        <p:txBody>
          <a:bodyPr/>
          <a:lstStyle/>
          <a:p>
            <a:r>
              <a:rPr lang="en-US" dirty="0">
                <a:highlight>
                  <a:srgbClr val="FF00FF"/>
                </a:highlight>
              </a:rPr>
              <a:t>Some text</a:t>
            </a:r>
          </a:p>
        </p:txBody>
      </p:sp>
      <p:sp>
        <p:nvSpPr>
          <p:cNvPr id="5" name="Rectangle 4">
            <a:extLst>
              <a:ext uri="{FF2B5EF4-FFF2-40B4-BE49-F238E27FC236}">
                <a16:creationId xmlns:a16="http://schemas.microsoft.com/office/drawing/2014/main" id="{E858976B-2FD4-1CE2-BE1F-E96897D42B71}"/>
              </a:ext>
            </a:extLst>
          </p:cNvPr>
          <p:cNvSpPr/>
          <p:nvPr/>
        </p:nvSpPr>
        <p:spPr>
          <a:xfrm>
            <a:off x="793630" y="1647645"/>
            <a:ext cx="4787661" cy="272594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tx2"/>
                </a:solidFill>
              </a:rPr>
              <a:t>Ideas:</a:t>
            </a:r>
          </a:p>
          <a:p>
            <a:r>
              <a:rPr lang="en-US" sz="1400" dirty="0">
                <a:solidFill>
                  <a:schemeClr val="tx2"/>
                </a:solidFill>
              </a:rPr>
              <a:t>Serialization</a:t>
            </a:r>
          </a:p>
          <a:p>
            <a:r>
              <a:rPr lang="en-US" sz="1400" dirty="0">
                <a:solidFill>
                  <a:schemeClr val="tx2"/>
                </a:solidFill>
              </a:rPr>
              <a:t>RFID</a:t>
            </a:r>
          </a:p>
          <a:p>
            <a:r>
              <a:rPr lang="en-US" sz="1400" dirty="0">
                <a:solidFill>
                  <a:schemeClr val="tx2"/>
                </a:solidFill>
              </a:rPr>
              <a:t>Warehouse automation</a:t>
            </a:r>
          </a:p>
          <a:p>
            <a:endParaRPr lang="en-US" sz="1400" dirty="0">
              <a:solidFill>
                <a:schemeClr val="tx2"/>
              </a:solidFill>
            </a:endParaRPr>
          </a:p>
        </p:txBody>
      </p:sp>
    </p:spTree>
    <p:extLst>
      <p:ext uri="{BB962C8B-B14F-4D97-AF65-F5344CB8AC3E}">
        <p14:creationId xmlns:p14="http://schemas.microsoft.com/office/powerpoint/2010/main" val="136826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859C0-A105-D3D6-A80D-3AFF770B623B}"/>
              </a:ext>
            </a:extLst>
          </p:cNvPr>
          <p:cNvSpPr>
            <a:spLocks noGrp="1"/>
          </p:cNvSpPr>
          <p:nvPr>
            <p:ph type="title"/>
          </p:nvPr>
        </p:nvSpPr>
        <p:spPr/>
        <p:txBody>
          <a:bodyPr/>
          <a:lstStyle/>
          <a:p>
            <a:r>
              <a:rPr lang="en-US" dirty="0"/>
              <a:t>FORMATTING HELP</a:t>
            </a:r>
          </a:p>
        </p:txBody>
      </p:sp>
      <p:sp>
        <p:nvSpPr>
          <p:cNvPr id="3" name="Slide Number Placeholder 2">
            <a:extLst>
              <a:ext uri="{FF2B5EF4-FFF2-40B4-BE49-F238E27FC236}">
                <a16:creationId xmlns:a16="http://schemas.microsoft.com/office/drawing/2014/main" id="{29D5EA1C-651B-5009-2326-33D5E5BF3ADC}"/>
              </a:ext>
            </a:extLst>
          </p:cNvPr>
          <p:cNvSpPr>
            <a:spLocks noGrp="1"/>
          </p:cNvSpPr>
          <p:nvPr>
            <p:ph type="sldNum" sz="quarter" idx="12"/>
          </p:nvPr>
        </p:nvSpPr>
        <p:spPr/>
        <p:txBody>
          <a:bodyPr/>
          <a:lstStyle/>
          <a:p>
            <a:pPr algn="r"/>
            <a:fld id="{4FA92F45-BA5D-4C7A-ACC7-D44B34072B97}" type="slidenum">
              <a:rPr lang="en-IN" smtClean="0"/>
              <a:pPr algn="r"/>
              <a:t>42</a:t>
            </a:fld>
            <a:endParaRPr lang="en-IN" dirty="0"/>
          </a:p>
        </p:txBody>
      </p:sp>
    </p:spTree>
    <p:extLst>
      <p:ext uri="{BB962C8B-B14F-4D97-AF65-F5344CB8AC3E}">
        <p14:creationId xmlns:p14="http://schemas.microsoft.com/office/powerpoint/2010/main" val="320285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24630-51AC-D021-9351-24CA2B7BB881}"/>
              </a:ext>
            </a:extLst>
          </p:cNvPr>
          <p:cNvSpPr>
            <a:spLocks noGrp="1"/>
          </p:cNvSpPr>
          <p:nvPr>
            <p:ph type="title"/>
          </p:nvPr>
        </p:nvSpPr>
        <p:spPr/>
        <p:txBody>
          <a:bodyPr/>
          <a:lstStyle/>
          <a:p>
            <a:r>
              <a:rPr lang="en-US" dirty="0"/>
              <a:t>GUARDRAILS</a:t>
            </a:r>
          </a:p>
        </p:txBody>
      </p:sp>
      <p:sp>
        <p:nvSpPr>
          <p:cNvPr id="5" name="Slide Number Placeholder 2">
            <a:extLst>
              <a:ext uri="{FF2B5EF4-FFF2-40B4-BE49-F238E27FC236}">
                <a16:creationId xmlns:a16="http://schemas.microsoft.com/office/drawing/2014/main" id="{A866B13D-8D4C-4D15-BACB-EA850DB86D95}"/>
              </a:ext>
            </a:extLst>
          </p:cNvPr>
          <p:cNvSpPr txBox="1">
            <a:spLocks/>
          </p:cNvSpPr>
          <p:nvPr/>
        </p:nvSpPr>
        <p:spPr>
          <a:xfrm>
            <a:off x="11289600" y="6490800"/>
            <a:ext cx="540000" cy="277200"/>
          </a:xfrm>
          <a:prstGeom prst="rect">
            <a:avLst/>
          </a:prstGeom>
        </p:spPr>
        <p:txBody>
          <a:bodyPr vert="horz" lIns="0" tIns="0" rIns="0" bIns="0" rtlCol="0" anchor="ctr">
            <a:noAutofit/>
          </a:bodyPr>
          <a:lstStyle>
            <a:defPPr>
              <a:defRPr lang="en-US"/>
            </a:defPPr>
            <a:lvl1pPr marL="0" algn="r" defTabSz="914400" rtl="0" eaLnBrk="1" latinLnBrk="0" hangingPunct="1">
              <a:defRPr sz="750" kern="1200">
                <a:solidFill>
                  <a:srgbClr val="8C858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4FA92F45-BA5D-4C7A-ACC7-D44B34072B97}" type="slidenum">
              <a:rPr kumimoji="0" lang="en-US" sz="750" b="0" i="0" u="none" strike="noStrike" kern="1200" cap="none" spc="0" normalizeH="0" baseline="0" noProof="0" smtClean="0">
                <a:ln>
                  <a:noFill/>
                </a:ln>
                <a:solidFill>
                  <a:srgbClr val="8C8585"/>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750" b="0" i="0" u="none" strike="noStrike" kern="1200" cap="none" spc="0" normalizeH="0" baseline="0" noProof="0" dirty="0">
              <a:ln>
                <a:noFill/>
              </a:ln>
              <a:solidFill>
                <a:srgbClr val="8C8585"/>
              </a:solidFill>
              <a:effectLst/>
              <a:uLnTx/>
              <a:uFillTx/>
              <a:latin typeface="Verdana"/>
              <a:ea typeface="+mn-ea"/>
              <a:cs typeface="+mn-cs"/>
            </a:endParaRPr>
          </a:p>
        </p:txBody>
      </p:sp>
      <p:sp>
        <p:nvSpPr>
          <p:cNvPr id="6" name="TextBox 5">
            <a:extLst>
              <a:ext uri="{FF2B5EF4-FFF2-40B4-BE49-F238E27FC236}">
                <a16:creationId xmlns:a16="http://schemas.microsoft.com/office/drawing/2014/main" id="{56ED694A-F1D6-31E4-4178-58ED56AA334E}"/>
              </a:ext>
            </a:extLst>
          </p:cNvPr>
          <p:cNvSpPr txBox="1"/>
          <p:nvPr/>
        </p:nvSpPr>
        <p:spPr>
          <a:xfrm>
            <a:off x="363600" y="1118224"/>
            <a:ext cx="11828400" cy="4924425"/>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solidFill>
                  <a:schemeClr val="tx2"/>
                </a:solidFill>
              </a:rPr>
              <a:t>Do </a:t>
            </a:r>
            <a:r>
              <a:rPr lang="en-US" b="1" dirty="0">
                <a:solidFill>
                  <a:schemeClr val="tx2"/>
                </a:solidFill>
              </a:rPr>
              <a:t>not import any slides </a:t>
            </a:r>
            <a:r>
              <a:rPr lang="en-US" dirty="0">
                <a:solidFill>
                  <a:schemeClr val="tx2"/>
                </a:solidFill>
              </a:rPr>
              <a:t>that are not in the current HC brand guidelines. Please insert a new slide within the existing presentation and copy only the content over</a:t>
            </a:r>
          </a:p>
          <a:p>
            <a:pPr marL="285750" indent="-285750">
              <a:spcBef>
                <a:spcPts val="1200"/>
              </a:spcBef>
              <a:buFont typeface="Arial" panose="020B0604020202020204" pitchFamily="34" charset="0"/>
              <a:buChar char="•"/>
            </a:pPr>
            <a:r>
              <a:rPr lang="en-US" dirty="0">
                <a:solidFill>
                  <a:schemeClr val="tx2"/>
                </a:solidFill>
              </a:rPr>
              <a:t>Product slide verbiage </a:t>
            </a:r>
            <a:r>
              <a:rPr lang="en-US" b="1" dirty="0">
                <a:solidFill>
                  <a:schemeClr val="tx2"/>
                </a:solidFill>
              </a:rPr>
              <a:t>cannot be changed</a:t>
            </a:r>
            <a:r>
              <a:rPr lang="en-US" dirty="0">
                <a:solidFill>
                  <a:schemeClr val="tx2"/>
                </a:solidFill>
              </a:rPr>
              <a:t>, header can be customized but must remain one line</a:t>
            </a:r>
          </a:p>
          <a:p>
            <a:pPr marL="285750" indent="-285750">
              <a:spcBef>
                <a:spcPts val="1200"/>
              </a:spcBef>
              <a:buFont typeface="Arial" panose="020B0604020202020204" pitchFamily="34" charset="0"/>
              <a:buChar char="•"/>
            </a:pPr>
            <a:r>
              <a:rPr lang="en-US" dirty="0">
                <a:solidFill>
                  <a:schemeClr val="tx2"/>
                </a:solidFill>
              </a:rPr>
              <a:t>Newly created product slides need to be </a:t>
            </a:r>
            <a:r>
              <a:rPr lang="en-US" b="1" dirty="0">
                <a:solidFill>
                  <a:schemeClr val="tx2"/>
                </a:solidFill>
              </a:rPr>
              <a:t>approved</a:t>
            </a:r>
            <a:r>
              <a:rPr lang="en-US" dirty="0">
                <a:solidFill>
                  <a:schemeClr val="tx2"/>
                </a:solidFill>
              </a:rPr>
              <a:t> by SME, product owners, or Seismic</a:t>
            </a:r>
          </a:p>
          <a:p>
            <a:pPr marL="285750" indent="-285750">
              <a:spcBef>
                <a:spcPts val="1200"/>
              </a:spcBef>
              <a:buFont typeface="Arial" panose="020B0604020202020204" pitchFamily="34" charset="0"/>
              <a:buChar char="•"/>
            </a:pPr>
            <a:r>
              <a:rPr lang="en-US" dirty="0">
                <a:solidFill>
                  <a:schemeClr val="tx2"/>
                </a:solidFill>
              </a:rPr>
              <a:t>All claims must be </a:t>
            </a:r>
            <a:r>
              <a:rPr lang="en-US" b="1" dirty="0">
                <a:solidFill>
                  <a:schemeClr val="tx2"/>
                </a:solidFill>
              </a:rPr>
              <a:t>sourced</a:t>
            </a:r>
          </a:p>
          <a:p>
            <a:pPr marL="285750" indent="-285750">
              <a:spcBef>
                <a:spcPts val="1200"/>
              </a:spcBef>
              <a:buFont typeface="Arial" panose="020B0604020202020204" pitchFamily="34" charset="0"/>
              <a:buChar char="•"/>
            </a:pPr>
            <a:r>
              <a:rPr lang="en-US" dirty="0">
                <a:solidFill>
                  <a:schemeClr val="tx2"/>
                </a:solidFill>
              </a:rPr>
              <a:t>Per legal, we </a:t>
            </a:r>
            <a:r>
              <a:rPr lang="en-US" b="1" dirty="0">
                <a:solidFill>
                  <a:schemeClr val="tx2"/>
                </a:solidFill>
              </a:rPr>
              <a:t>cannot use customer logos or personal data without written consent</a:t>
            </a:r>
          </a:p>
          <a:p>
            <a:pPr marL="285750" indent="-285750">
              <a:spcBef>
                <a:spcPts val="1200"/>
              </a:spcBef>
              <a:buFont typeface="Arial" panose="020B0604020202020204" pitchFamily="34" charset="0"/>
              <a:buChar char="•"/>
            </a:pPr>
            <a:r>
              <a:rPr lang="en-US" b="1" dirty="0">
                <a:solidFill>
                  <a:schemeClr val="tx2"/>
                </a:solidFill>
              </a:rPr>
              <a:t>Translation services </a:t>
            </a:r>
            <a:r>
              <a:rPr lang="en-US" dirty="0">
                <a:solidFill>
                  <a:schemeClr val="tx2"/>
                </a:solidFill>
              </a:rPr>
              <a:t>are not available, content other than English cannot be included.</a:t>
            </a:r>
          </a:p>
          <a:p>
            <a:pPr marL="285750" indent="-285750">
              <a:spcBef>
                <a:spcPts val="1200"/>
              </a:spcBef>
              <a:buFont typeface="Arial" panose="020B0604020202020204" pitchFamily="34" charset="0"/>
              <a:buChar char="•"/>
            </a:pPr>
            <a:r>
              <a:rPr lang="en-US" dirty="0">
                <a:solidFill>
                  <a:schemeClr val="tx2"/>
                </a:solidFill>
              </a:rPr>
              <a:t>Updates need to be provided </a:t>
            </a:r>
            <a:r>
              <a:rPr lang="en-US" b="1" dirty="0">
                <a:solidFill>
                  <a:schemeClr val="tx2"/>
                </a:solidFill>
              </a:rPr>
              <a:t>latest 48H before deadline</a:t>
            </a:r>
            <a:r>
              <a:rPr lang="en-US" dirty="0">
                <a:solidFill>
                  <a:schemeClr val="tx2"/>
                </a:solidFill>
              </a:rPr>
              <a:t>, if the meeting/call is </a:t>
            </a:r>
            <a:r>
              <a:rPr lang="en-US" b="1" dirty="0">
                <a:solidFill>
                  <a:schemeClr val="tx2"/>
                </a:solidFill>
              </a:rPr>
              <a:t>postponed</a:t>
            </a:r>
            <a:r>
              <a:rPr lang="en-US" dirty="0">
                <a:solidFill>
                  <a:schemeClr val="tx2"/>
                </a:solidFill>
              </a:rPr>
              <a:t> sales needs to </a:t>
            </a:r>
            <a:r>
              <a:rPr lang="en-US" b="1" dirty="0">
                <a:solidFill>
                  <a:schemeClr val="tx2"/>
                </a:solidFill>
              </a:rPr>
              <a:t>inform PF asap with new date </a:t>
            </a:r>
            <a:r>
              <a:rPr lang="en-US" dirty="0">
                <a:solidFill>
                  <a:schemeClr val="tx2"/>
                </a:solidFill>
              </a:rPr>
              <a:t>(so PF can reschedule priorities)</a:t>
            </a:r>
          </a:p>
          <a:p>
            <a:pPr marL="285750" indent="-285750">
              <a:spcBef>
                <a:spcPts val="1200"/>
              </a:spcBef>
              <a:buFont typeface="Arial" panose="020B0604020202020204" pitchFamily="34" charset="0"/>
              <a:buChar char="•"/>
            </a:pPr>
            <a:r>
              <a:rPr lang="en-US" dirty="0">
                <a:solidFill>
                  <a:schemeClr val="tx2"/>
                </a:solidFill>
              </a:rPr>
              <a:t>Sales to provide PF with the final deck and indicate their changes </a:t>
            </a:r>
            <a:r>
              <a:rPr lang="en-US" b="1" dirty="0">
                <a:solidFill>
                  <a:schemeClr val="tx2"/>
                </a:solidFill>
              </a:rPr>
              <a:t>within two business days </a:t>
            </a:r>
            <a:r>
              <a:rPr lang="en-US" dirty="0">
                <a:solidFill>
                  <a:schemeClr val="tx2"/>
                </a:solidFill>
              </a:rPr>
              <a:t>after the meeting</a:t>
            </a:r>
          </a:p>
          <a:p>
            <a:pPr marL="285750" indent="-285750">
              <a:spcBef>
                <a:spcPts val="1200"/>
              </a:spcBef>
              <a:buFont typeface="Arial" panose="020B0604020202020204" pitchFamily="34" charset="0"/>
              <a:buChar char="•"/>
            </a:pPr>
            <a:endParaRPr lang="en-US" dirty="0">
              <a:solidFill>
                <a:schemeClr val="tx2"/>
              </a:solidFill>
            </a:endParaRPr>
          </a:p>
          <a:p>
            <a:pPr marL="285750" indent="-285750">
              <a:buFont typeface="Arial" panose="020B0604020202020204" pitchFamily="34" charset="0"/>
              <a:buChar char="•"/>
            </a:pPr>
            <a:endParaRPr lang="en-US" dirty="0">
              <a:solidFill>
                <a:schemeClr val="tx2"/>
              </a:solidFill>
            </a:endParaRPr>
          </a:p>
        </p:txBody>
      </p:sp>
    </p:spTree>
    <p:extLst>
      <p:ext uri="{BB962C8B-B14F-4D97-AF65-F5344CB8AC3E}">
        <p14:creationId xmlns:p14="http://schemas.microsoft.com/office/powerpoint/2010/main" val="138709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E406A30-8A7C-4F5D-8F7B-6FEC5D28BC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8E406A30-8A7C-4F5D-8F7B-6FEC5D28BC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259B0ECE-7E60-4A56-8F01-218FB26723B0}"/>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44</a:t>
            </a:fld>
            <a:endParaRPr lang="en-IN" dirty="0">
              <a:solidFill>
                <a:srgbClr val="8C8585"/>
              </a:solidFill>
            </a:endParaRPr>
          </a:p>
        </p:txBody>
      </p:sp>
      <p:sp>
        <p:nvSpPr>
          <p:cNvPr id="2" name="Title 1">
            <a:extLst>
              <a:ext uri="{FF2B5EF4-FFF2-40B4-BE49-F238E27FC236}">
                <a16:creationId xmlns:a16="http://schemas.microsoft.com/office/drawing/2014/main" id="{7A00C96F-FD21-435C-88FC-4F0035324CA9}"/>
              </a:ext>
            </a:extLst>
          </p:cNvPr>
          <p:cNvSpPr>
            <a:spLocks noGrp="1"/>
          </p:cNvSpPr>
          <p:nvPr>
            <p:ph type="title"/>
          </p:nvPr>
        </p:nvSpPr>
        <p:spPr/>
        <p:txBody>
          <a:bodyPr vert="horz"/>
          <a:lstStyle/>
          <a:p>
            <a:r>
              <a:rPr lang="en-US" dirty="0"/>
              <a:t>BRAND APPROVED COLORS</a:t>
            </a:r>
          </a:p>
        </p:txBody>
      </p:sp>
      <p:sp>
        <p:nvSpPr>
          <p:cNvPr id="3" name="Text Placeholder 2">
            <a:extLst>
              <a:ext uri="{FF2B5EF4-FFF2-40B4-BE49-F238E27FC236}">
                <a16:creationId xmlns:a16="http://schemas.microsoft.com/office/drawing/2014/main" id="{B65D1118-1136-42D7-8837-3079FA6ECFAA}"/>
              </a:ext>
            </a:extLst>
          </p:cNvPr>
          <p:cNvSpPr>
            <a:spLocks noGrp="1"/>
          </p:cNvSpPr>
          <p:nvPr>
            <p:ph type="body" sz="quarter" idx="13"/>
          </p:nvPr>
        </p:nvSpPr>
        <p:spPr/>
        <p:txBody>
          <a:bodyPr/>
          <a:lstStyle/>
          <a:p>
            <a:r>
              <a:rPr lang="en-US" dirty="0"/>
              <a:t>Sub-headline</a:t>
            </a:r>
          </a:p>
        </p:txBody>
      </p:sp>
      <p:sp>
        <p:nvSpPr>
          <p:cNvPr id="9" name="Content Placeholder 4">
            <a:extLst>
              <a:ext uri="{FF2B5EF4-FFF2-40B4-BE49-F238E27FC236}">
                <a16:creationId xmlns:a16="http://schemas.microsoft.com/office/drawing/2014/main" id="{B095668B-AC99-452B-83C7-2802A4ED8544}"/>
              </a:ext>
            </a:extLst>
          </p:cNvPr>
          <p:cNvSpPr txBox="1">
            <a:spLocks/>
          </p:cNvSpPr>
          <p:nvPr/>
        </p:nvSpPr>
        <p:spPr>
          <a:xfrm>
            <a:off x="365760" y="1455951"/>
            <a:ext cx="4130935" cy="4487651"/>
          </a:xfrm>
          <a:prstGeom prst="rect">
            <a:avLst/>
          </a:prstGeom>
        </p:spPr>
        <p:txBody>
          <a:bodyPr/>
          <a:lst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Wingdings" charset="2"/>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Wingdings" charset="2"/>
              <a:buChar char="§"/>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288000" lvl="1" indent="-288000">
              <a:spcBef>
                <a:spcPts val="600"/>
              </a:spcBef>
              <a:buBlip>
                <a:blip r:embed="rId6"/>
              </a:buBlip>
            </a:pPr>
            <a:r>
              <a:rPr lang="en-US" altLang="en-US" dirty="0"/>
              <a:t>The default slide background is white</a:t>
            </a:r>
          </a:p>
          <a:p>
            <a:pPr marL="288000" lvl="1" indent="-288000">
              <a:spcBef>
                <a:spcPts val="600"/>
              </a:spcBef>
              <a:buBlip>
                <a:blip r:embed="rId6"/>
              </a:buBlip>
            </a:pPr>
            <a:r>
              <a:rPr lang="en-US" altLang="en-US" dirty="0"/>
              <a:t>Normal text is dark brown tone; </a:t>
            </a:r>
            <a:r>
              <a:rPr lang="en-US" altLang="en-US" b="1" dirty="0">
                <a:solidFill>
                  <a:schemeClr val="accent2"/>
                </a:solidFill>
              </a:rPr>
              <a:t>UPS Blue is the default color,</a:t>
            </a:r>
            <a:r>
              <a:rPr lang="en-US" altLang="en-US" b="1" dirty="0">
                <a:solidFill>
                  <a:schemeClr val="accent4"/>
                </a:solidFill>
              </a:rPr>
              <a:t> </a:t>
            </a:r>
            <a:r>
              <a:rPr lang="en-US" altLang="en-US" dirty="0"/>
              <a:t>for emphasis and bullets but other theme colors can be used as needed</a:t>
            </a:r>
          </a:p>
          <a:p>
            <a:pPr marL="288000" lvl="1" indent="-288000">
              <a:spcBef>
                <a:spcPts val="600"/>
              </a:spcBef>
              <a:buBlip>
                <a:blip r:embed="rId6"/>
              </a:buBlip>
            </a:pPr>
            <a:r>
              <a:rPr lang="en-US" altLang="en-US" dirty="0"/>
              <a:t>Title and subtitle text is </a:t>
            </a:r>
            <a:r>
              <a:rPr lang="en-US" dirty="0"/>
              <a:t>UPS dark brown tone</a:t>
            </a:r>
            <a:endParaRPr lang="en-US" altLang="en-US" dirty="0"/>
          </a:p>
          <a:p>
            <a:pPr marL="288000" lvl="1" indent="-288000">
              <a:spcBef>
                <a:spcPts val="600"/>
              </a:spcBef>
              <a:buBlip>
                <a:blip r:embed="rId6"/>
              </a:buBlip>
            </a:pPr>
            <a:r>
              <a:rPr lang="en-US" altLang="en-US" dirty="0"/>
              <a:t>Only use the colors set within this template</a:t>
            </a:r>
          </a:p>
        </p:txBody>
      </p:sp>
      <p:pic>
        <p:nvPicPr>
          <p:cNvPr id="11" name="Picture 10">
            <a:extLst>
              <a:ext uri="{FF2B5EF4-FFF2-40B4-BE49-F238E27FC236}">
                <a16:creationId xmlns:a16="http://schemas.microsoft.com/office/drawing/2014/main" id="{EE12B36C-AAA7-4A1D-9908-AB428C41155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02212" y="249380"/>
            <a:ext cx="6024028" cy="6074229"/>
          </a:xfrm>
          <a:prstGeom prst="rect">
            <a:avLst/>
          </a:prstGeom>
        </p:spPr>
      </p:pic>
      <p:sp>
        <p:nvSpPr>
          <p:cNvPr id="12" name="TextBox 11">
            <a:extLst>
              <a:ext uri="{FF2B5EF4-FFF2-40B4-BE49-F238E27FC236}">
                <a16:creationId xmlns:a16="http://schemas.microsoft.com/office/drawing/2014/main" id="{79658D1D-C71E-476D-B9CB-DE50B081B584}"/>
              </a:ext>
            </a:extLst>
          </p:cNvPr>
          <p:cNvSpPr txBox="1"/>
          <p:nvPr/>
        </p:nvSpPr>
        <p:spPr>
          <a:xfrm rot="16200000">
            <a:off x="4789898" y="1235635"/>
            <a:ext cx="1212191" cy="369332"/>
          </a:xfrm>
          <a:prstGeom prst="rect">
            <a:avLst/>
          </a:prstGeom>
          <a:noFill/>
        </p:spPr>
        <p:txBody>
          <a:bodyPr wrap="none" rtlCol="0">
            <a:spAutoFit/>
          </a:bodyPr>
          <a:lstStyle/>
          <a:p>
            <a:r>
              <a:rPr lang="en-US" b="1" dirty="0">
                <a:solidFill>
                  <a:schemeClr val="tx2"/>
                </a:solidFill>
              </a:rPr>
              <a:t>Primary</a:t>
            </a:r>
          </a:p>
        </p:txBody>
      </p:sp>
      <p:sp>
        <p:nvSpPr>
          <p:cNvPr id="13" name="TextBox 12">
            <a:extLst>
              <a:ext uri="{FF2B5EF4-FFF2-40B4-BE49-F238E27FC236}">
                <a16:creationId xmlns:a16="http://schemas.microsoft.com/office/drawing/2014/main" id="{5075E7E6-20B5-4D04-8B5F-74794397213C}"/>
              </a:ext>
            </a:extLst>
          </p:cNvPr>
          <p:cNvSpPr txBox="1"/>
          <p:nvPr/>
        </p:nvSpPr>
        <p:spPr>
          <a:xfrm rot="16200000">
            <a:off x="4623988" y="4315782"/>
            <a:ext cx="1544012" cy="369332"/>
          </a:xfrm>
          <a:prstGeom prst="rect">
            <a:avLst/>
          </a:prstGeom>
          <a:noFill/>
        </p:spPr>
        <p:txBody>
          <a:bodyPr wrap="none" rtlCol="0">
            <a:spAutoFit/>
          </a:bodyPr>
          <a:lstStyle/>
          <a:p>
            <a:r>
              <a:rPr lang="en-US" b="1" dirty="0">
                <a:solidFill>
                  <a:schemeClr val="tx2"/>
                </a:solidFill>
              </a:rPr>
              <a:t>Secondary</a:t>
            </a:r>
          </a:p>
        </p:txBody>
      </p:sp>
      <p:cxnSp>
        <p:nvCxnSpPr>
          <p:cNvPr id="14" name="Straight Connector 13">
            <a:extLst>
              <a:ext uri="{FF2B5EF4-FFF2-40B4-BE49-F238E27FC236}">
                <a16:creationId xmlns:a16="http://schemas.microsoft.com/office/drawing/2014/main" id="{3E39729F-1D81-4612-B805-15C67C076196}"/>
              </a:ext>
            </a:extLst>
          </p:cNvPr>
          <p:cNvCxnSpPr>
            <a:cxnSpLocks/>
          </p:cNvCxnSpPr>
          <p:nvPr/>
        </p:nvCxnSpPr>
        <p:spPr>
          <a:xfrm>
            <a:off x="5699745" y="309359"/>
            <a:ext cx="0" cy="230582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586FF-79AB-43EE-B4FB-107F067DB37D}"/>
              </a:ext>
            </a:extLst>
          </p:cNvPr>
          <p:cNvCxnSpPr>
            <a:cxnSpLocks/>
          </p:cNvCxnSpPr>
          <p:nvPr/>
        </p:nvCxnSpPr>
        <p:spPr>
          <a:xfrm>
            <a:off x="5699745" y="2743200"/>
            <a:ext cx="0" cy="3514495"/>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C14F79AF-173D-4177-A896-845908B5214C}"/>
              </a:ext>
            </a:extLst>
          </p:cNvPr>
          <p:cNvGrpSpPr/>
          <p:nvPr/>
        </p:nvGrpSpPr>
        <p:grpSpPr>
          <a:xfrm>
            <a:off x="2526191" y="4424200"/>
            <a:ext cx="1946750" cy="1898124"/>
            <a:chOff x="2620171" y="4515832"/>
            <a:chExt cx="1758789" cy="1714859"/>
          </a:xfrm>
        </p:grpSpPr>
        <p:pic>
          <p:nvPicPr>
            <p:cNvPr id="4" name="Picture 3">
              <a:extLst>
                <a:ext uri="{FF2B5EF4-FFF2-40B4-BE49-F238E27FC236}">
                  <a16:creationId xmlns:a16="http://schemas.microsoft.com/office/drawing/2014/main" id="{638A997E-D00F-4A60-913C-75E91C11DA88}"/>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3255242" y="4573407"/>
              <a:ext cx="1065846" cy="1657284"/>
            </a:xfrm>
            <a:prstGeom prst="rect">
              <a:avLst/>
            </a:prstGeom>
          </p:spPr>
        </p:pic>
        <p:sp>
          <p:nvSpPr>
            <p:cNvPr id="5" name="Rectangle 4">
              <a:extLst>
                <a:ext uri="{FF2B5EF4-FFF2-40B4-BE49-F238E27FC236}">
                  <a16:creationId xmlns:a16="http://schemas.microsoft.com/office/drawing/2014/main" id="{294B62CE-8F92-46FE-8A0B-C06254D12568}"/>
                </a:ext>
              </a:extLst>
            </p:cNvPr>
            <p:cNvSpPr/>
            <p:nvPr/>
          </p:nvSpPr>
          <p:spPr>
            <a:xfrm>
              <a:off x="3139440" y="4729480"/>
              <a:ext cx="1239520" cy="15748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E9ABD1EA-0542-4B23-A6F5-E079A8887E7A}"/>
                </a:ext>
              </a:extLst>
            </p:cNvPr>
            <p:cNvSpPr/>
            <p:nvPr/>
          </p:nvSpPr>
          <p:spPr>
            <a:xfrm>
              <a:off x="3139440" y="4922520"/>
              <a:ext cx="1239520" cy="883920"/>
            </a:xfrm>
            <a:prstGeom prst="rect">
              <a:avLst/>
            </a:prstGeom>
            <a:noFill/>
            <a:ln>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66B8774-2D28-462B-9B7C-2E45B5C57ACC}"/>
                </a:ext>
              </a:extLst>
            </p:cNvPr>
            <p:cNvSpPr txBox="1"/>
            <p:nvPr/>
          </p:nvSpPr>
          <p:spPr>
            <a:xfrm>
              <a:off x="2620171" y="5072092"/>
              <a:ext cx="205393" cy="584775"/>
            </a:xfrm>
            <a:prstGeom prst="rect">
              <a:avLst/>
            </a:prstGeom>
            <a:noFill/>
          </p:spPr>
          <p:txBody>
            <a:bodyPr wrap="square" rtlCol="0">
              <a:spAutoFit/>
            </a:bodyPr>
            <a:lstStyle/>
            <a:p>
              <a:pPr algn="ctr"/>
              <a:r>
                <a:rPr lang="en-US" sz="3200" dirty="0">
                  <a:solidFill>
                    <a:schemeClr val="accent3">
                      <a:lumMod val="50000"/>
                      <a:lumOff val="50000"/>
                    </a:schemeClr>
                  </a:solidFill>
                  <a:sym typeface="Wingdings" panose="05000000000000000000" pitchFamily="2" charset="2"/>
                </a:rPr>
                <a:t></a:t>
              </a:r>
              <a:endParaRPr lang="en-US" sz="3200" dirty="0">
                <a:solidFill>
                  <a:schemeClr val="accent3">
                    <a:lumMod val="50000"/>
                    <a:lumOff val="50000"/>
                  </a:schemeClr>
                </a:solidFill>
              </a:endParaRPr>
            </a:p>
          </p:txBody>
        </p:sp>
        <p:sp>
          <p:nvSpPr>
            <p:cNvPr id="17" name="TextBox 16">
              <a:extLst>
                <a:ext uri="{FF2B5EF4-FFF2-40B4-BE49-F238E27FC236}">
                  <a16:creationId xmlns:a16="http://schemas.microsoft.com/office/drawing/2014/main" id="{13A364D5-3A30-48CE-AA6D-2483C5B6A72F}"/>
                </a:ext>
              </a:extLst>
            </p:cNvPr>
            <p:cNvSpPr txBox="1"/>
            <p:nvPr/>
          </p:nvSpPr>
          <p:spPr>
            <a:xfrm>
              <a:off x="2620171" y="4515832"/>
              <a:ext cx="205393" cy="584775"/>
            </a:xfrm>
            <a:prstGeom prst="rect">
              <a:avLst/>
            </a:prstGeom>
            <a:noFill/>
          </p:spPr>
          <p:txBody>
            <a:bodyPr wrap="square" rtlCol="0">
              <a:spAutoFit/>
            </a:bodyPr>
            <a:lstStyle/>
            <a:p>
              <a:pPr algn="ctr"/>
              <a:r>
                <a:rPr lang="en-US" sz="3200" dirty="0">
                  <a:solidFill>
                    <a:schemeClr val="accent5"/>
                  </a:solidFill>
                  <a:sym typeface="Wingdings" panose="05000000000000000000" pitchFamily="2" charset="2"/>
                </a:rPr>
                <a:t></a:t>
              </a:r>
              <a:endParaRPr lang="en-US" sz="3200" dirty="0">
                <a:solidFill>
                  <a:schemeClr val="accent5"/>
                </a:solidFill>
              </a:endParaRPr>
            </a:p>
          </p:txBody>
        </p:sp>
        <p:cxnSp>
          <p:nvCxnSpPr>
            <p:cNvPr id="18" name="Straight Connector 17">
              <a:extLst>
                <a:ext uri="{FF2B5EF4-FFF2-40B4-BE49-F238E27FC236}">
                  <a16:creationId xmlns:a16="http://schemas.microsoft.com/office/drawing/2014/main" id="{FAC70F87-DD34-4B6A-986F-78BB2CA405BA}"/>
                </a:ext>
              </a:extLst>
            </p:cNvPr>
            <p:cNvCxnSpPr>
              <a:cxnSpLocks/>
              <a:endCxn id="5" idx="1"/>
            </p:cNvCxnSpPr>
            <p:nvPr/>
          </p:nvCxnSpPr>
          <p:spPr>
            <a:xfrm>
              <a:off x="2914650" y="4808220"/>
              <a:ext cx="22479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AD919DB-0628-4D42-8D1F-77846EAF3D9A}"/>
                </a:ext>
              </a:extLst>
            </p:cNvPr>
            <p:cNvCxnSpPr>
              <a:cxnSpLocks/>
            </p:cNvCxnSpPr>
            <p:nvPr/>
          </p:nvCxnSpPr>
          <p:spPr>
            <a:xfrm>
              <a:off x="2914650" y="5364480"/>
              <a:ext cx="224790" cy="0"/>
            </a:xfrm>
            <a:prstGeom prst="line">
              <a:avLst/>
            </a:prstGeom>
            <a:ln>
              <a:solidFill>
                <a:schemeClr val="accent3">
                  <a:lumMod val="50000"/>
                  <a:lumOff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65664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E406A30-8A7C-4F5D-8F7B-6FEC5D28BC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0" name="Object 9" hidden="1">
                        <a:extLst>
                          <a:ext uri="{FF2B5EF4-FFF2-40B4-BE49-F238E27FC236}">
                            <a16:creationId xmlns:a16="http://schemas.microsoft.com/office/drawing/2014/main" id="{8E406A30-8A7C-4F5D-8F7B-6FEC5D28BC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259B0ECE-7E60-4A56-8F01-218FB26723B0}"/>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45</a:t>
            </a:fld>
            <a:endParaRPr lang="en-IN" dirty="0">
              <a:solidFill>
                <a:srgbClr val="8C8585"/>
              </a:solidFill>
            </a:endParaRPr>
          </a:p>
        </p:txBody>
      </p:sp>
      <p:sp>
        <p:nvSpPr>
          <p:cNvPr id="2" name="Title 1">
            <a:extLst>
              <a:ext uri="{FF2B5EF4-FFF2-40B4-BE49-F238E27FC236}">
                <a16:creationId xmlns:a16="http://schemas.microsoft.com/office/drawing/2014/main" id="{7A00C96F-FD21-435C-88FC-4F0035324CA9}"/>
              </a:ext>
            </a:extLst>
          </p:cNvPr>
          <p:cNvSpPr>
            <a:spLocks noGrp="1"/>
          </p:cNvSpPr>
          <p:nvPr>
            <p:ph type="title"/>
          </p:nvPr>
        </p:nvSpPr>
        <p:spPr/>
        <p:txBody>
          <a:bodyPr vert="horz"/>
          <a:lstStyle/>
          <a:p>
            <a:r>
              <a:rPr lang="en-IN" dirty="0"/>
              <a:t>TITLE IS 22 PT VERDANA BOLD UPPERCASE</a:t>
            </a:r>
            <a:endParaRPr lang="en-US" dirty="0"/>
          </a:p>
        </p:txBody>
      </p:sp>
      <p:sp>
        <p:nvSpPr>
          <p:cNvPr id="3" name="Text Placeholder 2">
            <a:extLst>
              <a:ext uri="{FF2B5EF4-FFF2-40B4-BE49-F238E27FC236}">
                <a16:creationId xmlns:a16="http://schemas.microsoft.com/office/drawing/2014/main" id="{B65D1118-1136-42D7-8837-3079FA6ECFAA}"/>
              </a:ext>
            </a:extLst>
          </p:cNvPr>
          <p:cNvSpPr>
            <a:spLocks noGrp="1"/>
          </p:cNvSpPr>
          <p:nvPr>
            <p:ph type="body" sz="quarter" idx="13"/>
          </p:nvPr>
        </p:nvSpPr>
        <p:spPr/>
        <p:txBody>
          <a:bodyPr/>
          <a:lstStyle/>
          <a:p>
            <a:r>
              <a:rPr lang="en-IN" dirty="0"/>
              <a:t>Sub-headline text is 18 pt Verdana</a:t>
            </a:r>
          </a:p>
        </p:txBody>
      </p:sp>
      <p:sp>
        <p:nvSpPr>
          <p:cNvPr id="8" name="Content Placeholder 2">
            <a:extLst>
              <a:ext uri="{FF2B5EF4-FFF2-40B4-BE49-F238E27FC236}">
                <a16:creationId xmlns:a16="http://schemas.microsoft.com/office/drawing/2014/main" id="{383002AB-5C9E-48B3-A614-18498CAA8787}"/>
              </a:ext>
            </a:extLst>
          </p:cNvPr>
          <p:cNvSpPr txBox="1">
            <a:spLocks/>
          </p:cNvSpPr>
          <p:nvPr/>
        </p:nvSpPr>
        <p:spPr>
          <a:xfrm>
            <a:off x="365760" y="1455951"/>
            <a:ext cx="11460480" cy="4487651"/>
          </a:xfrm>
          <a:prstGeom prst="rect">
            <a:avLst/>
          </a:prstGeom>
        </p:spPr>
        <p:txBody>
          <a:bodyPr/>
          <a:lst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altLang="en-US" b="1" dirty="0"/>
              <a:t>Title</a:t>
            </a:r>
            <a:r>
              <a:rPr lang="en-US" altLang="en-US" dirty="0"/>
              <a:t> </a:t>
            </a:r>
          </a:p>
          <a:p>
            <a:r>
              <a:rPr lang="en-US" altLang="en-US" dirty="0"/>
              <a:t>Choose the </a:t>
            </a:r>
            <a:r>
              <a:rPr lang="en-US" altLang="en-US" b="1" i="1" dirty="0"/>
              <a:t>Title and Content</a:t>
            </a:r>
            <a:r>
              <a:rPr lang="en-US" altLang="en-US" i="1" dirty="0"/>
              <a:t> </a:t>
            </a:r>
            <a:r>
              <a:rPr lang="en-US" altLang="en-US" dirty="0"/>
              <a:t>layout page from the New Slide menu</a:t>
            </a:r>
          </a:p>
          <a:p>
            <a:r>
              <a:rPr lang="en-US" altLang="en-US" dirty="0"/>
              <a:t>First level of text is 18 pt Verdana, gray 1, but may be set to </a:t>
            </a:r>
            <a:r>
              <a:rPr lang="en-US" altLang="en-US" b="1" dirty="0">
                <a:solidFill>
                  <a:schemeClr val="accent2"/>
                </a:solidFill>
              </a:rPr>
              <a:t>other theme color </a:t>
            </a:r>
            <a:r>
              <a:rPr lang="en-US" altLang="en-US" dirty="0"/>
              <a:t>if it functions as a title</a:t>
            </a:r>
          </a:p>
          <a:p>
            <a:pPr lvl="1"/>
            <a:r>
              <a:rPr lang="en-US" altLang="en-US" dirty="0"/>
              <a:t>Use the “promote and demote” buttons to adjust bullet level</a:t>
            </a:r>
          </a:p>
          <a:p>
            <a:pPr lvl="1"/>
            <a:r>
              <a:rPr lang="en-US" altLang="en-US" dirty="0"/>
              <a:t> Do not use the bullet button to turn bullets on or off</a:t>
            </a:r>
          </a:p>
          <a:p>
            <a:pPr lvl="2"/>
            <a:r>
              <a:rPr lang="en-US" altLang="en-US" dirty="0"/>
              <a:t>Spacing and alignment are preset within the template </a:t>
            </a:r>
          </a:p>
          <a:p>
            <a:pPr lvl="1"/>
            <a:r>
              <a:rPr lang="en-US" altLang="en-US" dirty="0"/>
              <a:t>If text does not fit, reduce line and paragraph spacing</a:t>
            </a:r>
          </a:p>
          <a:p>
            <a:pPr lvl="2"/>
            <a:r>
              <a:rPr lang="en-US" altLang="en-US" dirty="0"/>
              <a:t>If necessary, reduce font size down to 12 pt for normal text slides or 12 pt for 2-column slides</a:t>
            </a:r>
            <a:endParaRPr lang="en-US" dirty="0"/>
          </a:p>
          <a:p>
            <a:endParaRPr lang="en-US" dirty="0"/>
          </a:p>
        </p:txBody>
      </p:sp>
    </p:spTree>
    <p:extLst>
      <p:ext uri="{BB962C8B-B14F-4D97-AF65-F5344CB8AC3E}">
        <p14:creationId xmlns:p14="http://schemas.microsoft.com/office/powerpoint/2010/main" val="2484572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46</a:t>
            </a:fld>
            <a:endParaRPr lang="en-IN" dirty="0">
              <a:solidFill>
                <a:srgbClr val="8C8585"/>
              </a:solidFill>
            </a:endParaRPr>
          </a:p>
        </p:txBody>
      </p:sp>
      <p:sp>
        <p:nvSpPr>
          <p:cNvPr id="2" name="Title 1">
            <a:extLst>
              <a:ext uri="{FF2B5EF4-FFF2-40B4-BE49-F238E27FC236}">
                <a16:creationId xmlns:a16="http://schemas.microsoft.com/office/drawing/2014/main" id="{ABA1896E-3BCE-40B0-B97E-B478AAD30A3E}"/>
              </a:ext>
            </a:extLst>
          </p:cNvPr>
          <p:cNvSpPr>
            <a:spLocks noGrp="1"/>
          </p:cNvSpPr>
          <p:nvPr>
            <p:ph type="title"/>
          </p:nvPr>
        </p:nvSpPr>
        <p:spPr/>
        <p:txBody>
          <a:bodyPr/>
          <a:lstStyle/>
          <a:p>
            <a:r>
              <a:rPr lang="en-IN" dirty="0"/>
              <a:t>VISUALIZE YOUR DATA IN AN EASY TO READ MANNER</a:t>
            </a:r>
            <a:endParaRPr lang="en-US" dirty="0"/>
          </a:p>
        </p:txBody>
      </p:sp>
      <p:sp>
        <p:nvSpPr>
          <p:cNvPr id="3" name="Text Placeholder 2">
            <a:extLst>
              <a:ext uri="{FF2B5EF4-FFF2-40B4-BE49-F238E27FC236}">
                <a16:creationId xmlns:a16="http://schemas.microsoft.com/office/drawing/2014/main" id="{164C0D42-3C76-4AAC-B396-03BEBDCDF4D9}"/>
              </a:ext>
            </a:extLst>
          </p:cNvPr>
          <p:cNvSpPr>
            <a:spLocks noGrp="1"/>
          </p:cNvSpPr>
          <p:nvPr>
            <p:ph type="body" sz="quarter" idx="13"/>
          </p:nvPr>
        </p:nvSpPr>
        <p:spPr/>
        <p:txBody>
          <a:bodyPr/>
          <a:lstStyle/>
          <a:p>
            <a:endParaRPr lang="en-US" dirty="0"/>
          </a:p>
        </p:txBody>
      </p:sp>
      <p:sp>
        <p:nvSpPr>
          <p:cNvPr id="6" name="TextBox 5">
            <a:extLst>
              <a:ext uri="{FF2B5EF4-FFF2-40B4-BE49-F238E27FC236}">
                <a16:creationId xmlns:a16="http://schemas.microsoft.com/office/drawing/2014/main" id="{C8640C38-5899-43C0-9C70-1464645B1D60}"/>
              </a:ext>
            </a:extLst>
          </p:cNvPr>
          <p:cNvSpPr txBox="1"/>
          <p:nvPr/>
        </p:nvSpPr>
        <p:spPr>
          <a:xfrm>
            <a:off x="1871569" y="3547885"/>
            <a:ext cx="1780675" cy="523220"/>
          </a:xfrm>
          <a:prstGeom prst="rect">
            <a:avLst/>
          </a:prstGeom>
          <a:noFill/>
        </p:spPr>
        <p:txBody>
          <a:bodyPr wrap="square" rtlCol="0">
            <a:spAutoFit/>
          </a:bodyPr>
          <a:lstStyle/>
          <a:p>
            <a:pPr algn="ctr"/>
            <a:r>
              <a:rPr lang="en-US" sz="1400" b="1" dirty="0">
                <a:solidFill>
                  <a:schemeClr val="tx2"/>
                </a:solidFill>
              </a:rPr>
              <a:t>60%  </a:t>
            </a:r>
            <a:br>
              <a:rPr lang="en-US" sz="1400" dirty="0">
                <a:solidFill>
                  <a:schemeClr val="tx2"/>
                </a:solidFill>
              </a:rPr>
            </a:br>
            <a:r>
              <a:rPr lang="en-US" sz="1400" dirty="0">
                <a:solidFill>
                  <a:schemeClr val="tx2"/>
                </a:solidFill>
              </a:rPr>
              <a:t>supporting copy</a:t>
            </a:r>
          </a:p>
        </p:txBody>
      </p:sp>
      <p:sp>
        <p:nvSpPr>
          <p:cNvPr id="7" name="TextBox 6">
            <a:extLst>
              <a:ext uri="{FF2B5EF4-FFF2-40B4-BE49-F238E27FC236}">
                <a16:creationId xmlns:a16="http://schemas.microsoft.com/office/drawing/2014/main" id="{247FBF7B-DDA7-4D47-981C-59A5B4981451}"/>
              </a:ext>
            </a:extLst>
          </p:cNvPr>
          <p:cNvSpPr txBox="1"/>
          <p:nvPr/>
        </p:nvSpPr>
        <p:spPr>
          <a:xfrm>
            <a:off x="4026541" y="3547885"/>
            <a:ext cx="1819175" cy="523220"/>
          </a:xfrm>
          <a:prstGeom prst="rect">
            <a:avLst/>
          </a:prstGeom>
          <a:noFill/>
        </p:spPr>
        <p:txBody>
          <a:bodyPr wrap="square" rtlCol="0">
            <a:spAutoFit/>
          </a:bodyPr>
          <a:lstStyle/>
          <a:p>
            <a:pPr marL="6350" algn="ctr"/>
            <a:r>
              <a:rPr lang="en-US" sz="1400" b="1" dirty="0">
                <a:solidFill>
                  <a:schemeClr val="tx2"/>
                </a:solidFill>
              </a:rPr>
              <a:t>51%  </a:t>
            </a:r>
            <a:br>
              <a:rPr lang="en-US" sz="1400" dirty="0">
                <a:solidFill>
                  <a:schemeClr val="tx2"/>
                </a:solidFill>
              </a:rPr>
            </a:br>
            <a:r>
              <a:rPr lang="en-US" sz="1400" dirty="0">
                <a:solidFill>
                  <a:schemeClr val="tx2"/>
                </a:solidFill>
              </a:rPr>
              <a:t>supporting copy</a:t>
            </a:r>
          </a:p>
        </p:txBody>
      </p:sp>
      <p:sp>
        <p:nvSpPr>
          <p:cNvPr id="8" name="TextBox 7">
            <a:extLst>
              <a:ext uri="{FF2B5EF4-FFF2-40B4-BE49-F238E27FC236}">
                <a16:creationId xmlns:a16="http://schemas.microsoft.com/office/drawing/2014/main" id="{0B224FB0-DCE6-42E6-9FED-30DC8F392212}"/>
              </a:ext>
            </a:extLst>
          </p:cNvPr>
          <p:cNvSpPr txBox="1"/>
          <p:nvPr/>
        </p:nvSpPr>
        <p:spPr>
          <a:xfrm>
            <a:off x="6296466" y="3557510"/>
            <a:ext cx="1819175" cy="523220"/>
          </a:xfrm>
          <a:prstGeom prst="rect">
            <a:avLst/>
          </a:prstGeom>
          <a:noFill/>
        </p:spPr>
        <p:txBody>
          <a:bodyPr wrap="square" rtlCol="0">
            <a:spAutoFit/>
          </a:bodyPr>
          <a:lstStyle/>
          <a:p>
            <a:pPr marL="6350" algn="ctr"/>
            <a:r>
              <a:rPr lang="en-US" sz="1400" b="1" dirty="0">
                <a:solidFill>
                  <a:schemeClr val="tx2"/>
                </a:solidFill>
              </a:rPr>
              <a:t>44% </a:t>
            </a:r>
          </a:p>
          <a:p>
            <a:pPr marL="6350" algn="ctr"/>
            <a:r>
              <a:rPr lang="en-US" sz="1400" dirty="0">
                <a:solidFill>
                  <a:schemeClr val="tx2"/>
                </a:solidFill>
              </a:rPr>
              <a:t>supporting copy</a:t>
            </a:r>
          </a:p>
        </p:txBody>
      </p:sp>
      <p:sp>
        <p:nvSpPr>
          <p:cNvPr id="9" name="TextBox 8">
            <a:extLst>
              <a:ext uri="{FF2B5EF4-FFF2-40B4-BE49-F238E27FC236}">
                <a16:creationId xmlns:a16="http://schemas.microsoft.com/office/drawing/2014/main" id="{DCC379C4-ABC1-4152-9E60-7B2337E901F5}"/>
              </a:ext>
            </a:extLst>
          </p:cNvPr>
          <p:cNvSpPr txBox="1"/>
          <p:nvPr/>
        </p:nvSpPr>
        <p:spPr>
          <a:xfrm>
            <a:off x="8477649" y="3544093"/>
            <a:ext cx="1819175" cy="523220"/>
          </a:xfrm>
          <a:prstGeom prst="rect">
            <a:avLst/>
          </a:prstGeom>
          <a:noFill/>
        </p:spPr>
        <p:txBody>
          <a:bodyPr wrap="square" rtlCol="0">
            <a:spAutoFit/>
          </a:bodyPr>
          <a:lstStyle/>
          <a:p>
            <a:pPr marL="6350" algn="ctr"/>
            <a:r>
              <a:rPr lang="en-US" sz="1400" b="1" dirty="0">
                <a:solidFill>
                  <a:schemeClr val="tx2"/>
                </a:solidFill>
              </a:rPr>
              <a:t>40%</a:t>
            </a:r>
          </a:p>
          <a:p>
            <a:pPr marL="6350" algn="ctr"/>
            <a:r>
              <a:rPr lang="en-US" sz="1400" dirty="0">
                <a:solidFill>
                  <a:schemeClr val="tx2"/>
                </a:solidFill>
              </a:rPr>
              <a:t>supporting copy</a:t>
            </a:r>
          </a:p>
        </p:txBody>
      </p:sp>
      <p:graphicFrame>
        <p:nvGraphicFramePr>
          <p:cNvPr id="10" name="Chart 9">
            <a:extLst>
              <a:ext uri="{FF2B5EF4-FFF2-40B4-BE49-F238E27FC236}">
                <a16:creationId xmlns:a16="http://schemas.microsoft.com/office/drawing/2014/main" id="{32A7AE3D-BDC1-4CEF-8D67-0FEF30770527}"/>
              </a:ext>
            </a:extLst>
          </p:cNvPr>
          <p:cNvGraphicFramePr/>
          <p:nvPr/>
        </p:nvGraphicFramePr>
        <p:xfrm>
          <a:off x="1644009" y="1606012"/>
          <a:ext cx="2141931" cy="18666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293AF4C3-3F52-471F-A0F3-CFE1E6F21425}"/>
              </a:ext>
            </a:extLst>
          </p:cNvPr>
          <p:cNvGraphicFramePr/>
          <p:nvPr/>
        </p:nvGraphicFramePr>
        <p:xfrm>
          <a:off x="3868097" y="1606012"/>
          <a:ext cx="2141931" cy="186664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Chart 11">
            <a:extLst>
              <a:ext uri="{FF2B5EF4-FFF2-40B4-BE49-F238E27FC236}">
                <a16:creationId xmlns:a16="http://schemas.microsoft.com/office/drawing/2014/main" id="{8D34147D-8258-401E-AC5D-3E6CFCC8F921}"/>
              </a:ext>
            </a:extLst>
          </p:cNvPr>
          <p:cNvGraphicFramePr/>
          <p:nvPr/>
        </p:nvGraphicFramePr>
        <p:xfrm>
          <a:off x="6092185" y="1606012"/>
          <a:ext cx="2141931" cy="186664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Chart 12">
            <a:extLst>
              <a:ext uri="{FF2B5EF4-FFF2-40B4-BE49-F238E27FC236}">
                <a16:creationId xmlns:a16="http://schemas.microsoft.com/office/drawing/2014/main" id="{8829B7C9-BA32-4FDA-8049-9FF5B52D1806}"/>
              </a:ext>
            </a:extLst>
          </p:cNvPr>
          <p:cNvGraphicFramePr/>
          <p:nvPr/>
        </p:nvGraphicFramePr>
        <p:xfrm>
          <a:off x="8316272" y="1606012"/>
          <a:ext cx="2141931" cy="1866641"/>
        </p:xfrm>
        <a:graphic>
          <a:graphicData uri="http://schemas.openxmlformats.org/drawingml/2006/chart">
            <c:chart xmlns:c="http://schemas.openxmlformats.org/drawingml/2006/chart" xmlns:r="http://schemas.openxmlformats.org/officeDocument/2006/relationships" r:id="rId6"/>
          </a:graphicData>
        </a:graphic>
      </p:graphicFrame>
      <p:grpSp>
        <p:nvGrpSpPr>
          <p:cNvPr id="14" name="Group 13">
            <a:extLst>
              <a:ext uri="{FF2B5EF4-FFF2-40B4-BE49-F238E27FC236}">
                <a16:creationId xmlns:a16="http://schemas.microsoft.com/office/drawing/2014/main" id="{9A0B93C2-C7D6-49D2-B383-DB9318F7D509}"/>
              </a:ext>
            </a:extLst>
          </p:cNvPr>
          <p:cNvGrpSpPr/>
          <p:nvPr/>
        </p:nvGrpSpPr>
        <p:grpSpPr>
          <a:xfrm>
            <a:off x="2415319" y="2395265"/>
            <a:ext cx="599310" cy="321411"/>
            <a:chOff x="2362300" y="5002395"/>
            <a:chExt cx="586567" cy="314577"/>
          </a:xfrm>
          <a:solidFill>
            <a:srgbClr val="595555"/>
          </a:solidFill>
        </p:grpSpPr>
        <p:sp>
          <p:nvSpPr>
            <p:cNvPr id="15" name="Freeform 894">
              <a:extLst>
                <a:ext uri="{FF2B5EF4-FFF2-40B4-BE49-F238E27FC236}">
                  <a16:creationId xmlns:a16="http://schemas.microsoft.com/office/drawing/2014/main" id="{AEB2A691-CB90-429B-ADE6-F5155AA7BE62}"/>
                </a:ext>
              </a:extLst>
            </p:cNvPr>
            <p:cNvSpPr>
              <a:spLocks noEditPoints="1"/>
            </p:cNvSpPr>
            <p:nvPr/>
          </p:nvSpPr>
          <p:spPr bwMode="auto">
            <a:xfrm>
              <a:off x="2362300" y="5002395"/>
              <a:ext cx="586567" cy="259628"/>
            </a:xfrm>
            <a:custGeom>
              <a:avLst/>
              <a:gdLst>
                <a:gd name="T0" fmla="*/ 80 w 86"/>
                <a:gd name="T1" fmla="*/ 22 h 38"/>
                <a:gd name="T2" fmla="*/ 79 w 86"/>
                <a:gd name="T3" fmla="*/ 22 h 38"/>
                <a:gd name="T4" fmla="*/ 77 w 86"/>
                <a:gd name="T5" fmla="*/ 20 h 38"/>
                <a:gd name="T6" fmla="*/ 76 w 86"/>
                <a:gd name="T7" fmla="*/ 19 h 38"/>
                <a:gd name="T8" fmla="*/ 75 w 86"/>
                <a:gd name="T9" fmla="*/ 10 h 38"/>
                <a:gd name="T10" fmla="*/ 76 w 86"/>
                <a:gd name="T11" fmla="*/ 10 h 38"/>
                <a:gd name="T12" fmla="*/ 76 w 86"/>
                <a:gd name="T13" fmla="*/ 10 h 38"/>
                <a:gd name="T14" fmla="*/ 76 w 86"/>
                <a:gd name="T15" fmla="*/ 7 h 38"/>
                <a:gd name="T16" fmla="*/ 70 w 86"/>
                <a:gd name="T17" fmla="*/ 0 h 38"/>
                <a:gd name="T18" fmla="*/ 3 w 86"/>
                <a:gd name="T19" fmla="*/ 0 h 38"/>
                <a:gd name="T20" fmla="*/ 0 w 86"/>
                <a:gd name="T21" fmla="*/ 3 h 38"/>
                <a:gd name="T22" fmla="*/ 0 w 86"/>
                <a:gd name="T23" fmla="*/ 35 h 38"/>
                <a:gd name="T24" fmla="*/ 3 w 86"/>
                <a:gd name="T25" fmla="*/ 38 h 38"/>
                <a:gd name="T26" fmla="*/ 6 w 86"/>
                <a:gd name="T27" fmla="*/ 38 h 38"/>
                <a:gd name="T28" fmla="*/ 15 w 86"/>
                <a:gd name="T29" fmla="*/ 30 h 38"/>
                <a:gd name="T30" fmla="*/ 24 w 86"/>
                <a:gd name="T31" fmla="*/ 38 h 38"/>
                <a:gd name="T32" fmla="*/ 59 w 86"/>
                <a:gd name="T33" fmla="*/ 38 h 38"/>
                <a:gd name="T34" fmla="*/ 63 w 86"/>
                <a:gd name="T35" fmla="*/ 38 h 38"/>
                <a:gd name="T36" fmla="*/ 72 w 86"/>
                <a:gd name="T37" fmla="*/ 30 h 38"/>
                <a:gd name="T38" fmla="*/ 82 w 86"/>
                <a:gd name="T39" fmla="*/ 38 h 38"/>
                <a:gd name="T40" fmla="*/ 86 w 86"/>
                <a:gd name="T41" fmla="*/ 38 h 38"/>
                <a:gd name="T42" fmla="*/ 86 w 86"/>
                <a:gd name="T43" fmla="*/ 27 h 38"/>
                <a:gd name="T44" fmla="*/ 80 w 86"/>
                <a:gd name="T45" fmla="*/ 22 h 38"/>
                <a:gd name="T46" fmla="*/ 71 w 86"/>
                <a:gd name="T47" fmla="*/ 22 h 38"/>
                <a:gd name="T48" fmla="*/ 70 w 86"/>
                <a:gd name="T49" fmla="*/ 22 h 38"/>
                <a:gd name="T50" fmla="*/ 63 w 86"/>
                <a:gd name="T51" fmla="*/ 22 h 38"/>
                <a:gd name="T52" fmla="*/ 63 w 86"/>
                <a:gd name="T53" fmla="*/ 10 h 38"/>
                <a:gd name="T54" fmla="*/ 70 w 86"/>
                <a:gd name="T55" fmla="*/ 10 h 38"/>
                <a:gd name="T56" fmla="*/ 71 w 86"/>
                <a:gd name="T57" fmla="*/ 10 h 38"/>
                <a:gd name="T58" fmla="*/ 72 w 86"/>
                <a:gd name="T59" fmla="*/ 10 h 38"/>
                <a:gd name="T60" fmla="*/ 74 w 86"/>
                <a:gd name="T61" fmla="*/ 22 h 38"/>
                <a:gd name="T62" fmla="*/ 71 w 86"/>
                <a:gd name="T63" fmla="*/ 2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6" h="38">
                  <a:moveTo>
                    <a:pt x="80" y="22"/>
                  </a:moveTo>
                  <a:cubicBezTo>
                    <a:pt x="79" y="22"/>
                    <a:pt x="79" y="22"/>
                    <a:pt x="79" y="22"/>
                  </a:cubicBezTo>
                  <a:cubicBezTo>
                    <a:pt x="78" y="22"/>
                    <a:pt x="77" y="21"/>
                    <a:pt x="77" y="20"/>
                  </a:cubicBezTo>
                  <a:cubicBezTo>
                    <a:pt x="76" y="20"/>
                    <a:pt x="76" y="20"/>
                    <a:pt x="76" y="19"/>
                  </a:cubicBezTo>
                  <a:cubicBezTo>
                    <a:pt x="75" y="10"/>
                    <a:pt x="75" y="10"/>
                    <a:pt x="75" y="10"/>
                  </a:cubicBezTo>
                  <a:cubicBezTo>
                    <a:pt x="76" y="10"/>
                    <a:pt x="76" y="10"/>
                    <a:pt x="76" y="10"/>
                  </a:cubicBezTo>
                  <a:cubicBezTo>
                    <a:pt x="76" y="10"/>
                    <a:pt x="76" y="10"/>
                    <a:pt x="76" y="10"/>
                  </a:cubicBezTo>
                  <a:cubicBezTo>
                    <a:pt x="76" y="7"/>
                    <a:pt x="76" y="7"/>
                    <a:pt x="76" y="7"/>
                  </a:cubicBezTo>
                  <a:cubicBezTo>
                    <a:pt x="76" y="3"/>
                    <a:pt x="73" y="0"/>
                    <a:pt x="70" y="0"/>
                  </a:cubicBezTo>
                  <a:cubicBezTo>
                    <a:pt x="3" y="0"/>
                    <a:pt x="3" y="0"/>
                    <a:pt x="3" y="0"/>
                  </a:cubicBezTo>
                  <a:cubicBezTo>
                    <a:pt x="2" y="0"/>
                    <a:pt x="0" y="1"/>
                    <a:pt x="0" y="3"/>
                  </a:cubicBezTo>
                  <a:cubicBezTo>
                    <a:pt x="0" y="35"/>
                    <a:pt x="0" y="35"/>
                    <a:pt x="0" y="35"/>
                  </a:cubicBezTo>
                  <a:cubicBezTo>
                    <a:pt x="0" y="36"/>
                    <a:pt x="2" y="38"/>
                    <a:pt x="3" y="38"/>
                  </a:cubicBezTo>
                  <a:cubicBezTo>
                    <a:pt x="6" y="38"/>
                    <a:pt x="6" y="38"/>
                    <a:pt x="6" y="38"/>
                  </a:cubicBezTo>
                  <a:cubicBezTo>
                    <a:pt x="7" y="33"/>
                    <a:pt x="10" y="30"/>
                    <a:pt x="15" y="30"/>
                  </a:cubicBezTo>
                  <a:cubicBezTo>
                    <a:pt x="20" y="30"/>
                    <a:pt x="24" y="33"/>
                    <a:pt x="24" y="38"/>
                  </a:cubicBezTo>
                  <a:cubicBezTo>
                    <a:pt x="59" y="38"/>
                    <a:pt x="59" y="38"/>
                    <a:pt x="59" y="38"/>
                  </a:cubicBezTo>
                  <a:cubicBezTo>
                    <a:pt x="63" y="38"/>
                    <a:pt x="63" y="38"/>
                    <a:pt x="63" y="38"/>
                  </a:cubicBezTo>
                  <a:cubicBezTo>
                    <a:pt x="64" y="33"/>
                    <a:pt x="68" y="30"/>
                    <a:pt x="72" y="30"/>
                  </a:cubicBezTo>
                  <a:cubicBezTo>
                    <a:pt x="77" y="30"/>
                    <a:pt x="81" y="33"/>
                    <a:pt x="82" y="38"/>
                  </a:cubicBezTo>
                  <a:cubicBezTo>
                    <a:pt x="86" y="38"/>
                    <a:pt x="86" y="38"/>
                    <a:pt x="86" y="38"/>
                  </a:cubicBezTo>
                  <a:cubicBezTo>
                    <a:pt x="86" y="27"/>
                    <a:pt x="86" y="27"/>
                    <a:pt x="86" y="27"/>
                  </a:cubicBezTo>
                  <a:cubicBezTo>
                    <a:pt x="86" y="24"/>
                    <a:pt x="83" y="22"/>
                    <a:pt x="80" y="22"/>
                  </a:cubicBezTo>
                  <a:close/>
                  <a:moveTo>
                    <a:pt x="71" y="22"/>
                  </a:moveTo>
                  <a:cubicBezTo>
                    <a:pt x="70" y="22"/>
                    <a:pt x="70" y="22"/>
                    <a:pt x="70" y="22"/>
                  </a:cubicBezTo>
                  <a:cubicBezTo>
                    <a:pt x="63" y="22"/>
                    <a:pt x="63" y="22"/>
                    <a:pt x="63" y="22"/>
                  </a:cubicBezTo>
                  <a:cubicBezTo>
                    <a:pt x="63" y="10"/>
                    <a:pt x="63" y="10"/>
                    <a:pt x="63" y="10"/>
                  </a:cubicBezTo>
                  <a:cubicBezTo>
                    <a:pt x="70" y="10"/>
                    <a:pt x="70" y="10"/>
                    <a:pt x="70" y="10"/>
                  </a:cubicBezTo>
                  <a:cubicBezTo>
                    <a:pt x="71" y="10"/>
                    <a:pt x="71" y="10"/>
                    <a:pt x="71" y="10"/>
                  </a:cubicBezTo>
                  <a:cubicBezTo>
                    <a:pt x="72" y="10"/>
                    <a:pt x="72" y="10"/>
                    <a:pt x="72" y="10"/>
                  </a:cubicBezTo>
                  <a:cubicBezTo>
                    <a:pt x="74" y="22"/>
                    <a:pt x="74" y="22"/>
                    <a:pt x="74" y="22"/>
                  </a:cubicBezTo>
                  <a:lnTo>
                    <a:pt x="71"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895">
              <a:extLst>
                <a:ext uri="{FF2B5EF4-FFF2-40B4-BE49-F238E27FC236}">
                  <a16:creationId xmlns:a16="http://schemas.microsoft.com/office/drawing/2014/main" id="{B8EA5D6C-52F3-43F5-BFA8-4BC7D5E9ECF7}"/>
                </a:ext>
              </a:extLst>
            </p:cNvPr>
            <p:cNvSpPr>
              <a:spLocks/>
            </p:cNvSpPr>
            <p:nvPr/>
          </p:nvSpPr>
          <p:spPr bwMode="auto">
            <a:xfrm>
              <a:off x="2415874" y="5220813"/>
              <a:ext cx="96159" cy="96159"/>
            </a:xfrm>
            <a:custGeom>
              <a:avLst/>
              <a:gdLst>
                <a:gd name="T0" fmla="*/ 7 w 14"/>
                <a:gd name="T1" fmla="*/ 0 h 14"/>
                <a:gd name="T2" fmla="*/ 1 w 14"/>
                <a:gd name="T3" fmla="*/ 6 h 14"/>
                <a:gd name="T4" fmla="*/ 1 w 14"/>
                <a:gd name="T5" fmla="*/ 8 h 14"/>
                <a:gd name="T6" fmla="*/ 6 w 14"/>
                <a:gd name="T7" fmla="*/ 13 h 14"/>
                <a:gd name="T8" fmla="*/ 14 w 14"/>
                <a:gd name="T9" fmla="*/ 7 h 14"/>
                <a:gd name="T10" fmla="*/ 14 w 14"/>
                <a:gd name="T11" fmla="*/ 6 h 14"/>
                <a:gd name="T12" fmla="*/ 7 w 1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7" y="0"/>
                  </a:moveTo>
                  <a:cubicBezTo>
                    <a:pt x="4" y="0"/>
                    <a:pt x="1" y="3"/>
                    <a:pt x="1" y="6"/>
                  </a:cubicBezTo>
                  <a:cubicBezTo>
                    <a:pt x="0" y="6"/>
                    <a:pt x="0" y="7"/>
                    <a:pt x="1" y="8"/>
                  </a:cubicBezTo>
                  <a:cubicBezTo>
                    <a:pt x="1" y="11"/>
                    <a:pt x="3" y="13"/>
                    <a:pt x="6" y="13"/>
                  </a:cubicBezTo>
                  <a:cubicBezTo>
                    <a:pt x="10" y="14"/>
                    <a:pt x="14" y="11"/>
                    <a:pt x="14" y="7"/>
                  </a:cubicBezTo>
                  <a:cubicBezTo>
                    <a:pt x="14" y="6"/>
                    <a:pt x="14" y="6"/>
                    <a:pt x="14" y="6"/>
                  </a:cubicBezTo>
                  <a:cubicBezTo>
                    <a:pt x="13" y="3"/>
                    <a:pt x="10"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896">
              <a:extLst>
                <a:ext uri="{FF2B5EF4-FFF2-40B4-BE49-F238E27FC236}">
                  <a16:creationId xmlns:a16="http://schemas.microsoft.com/office/drawing/2014/main" id="{9BB2EC2B-2B03-4F11-9A91-6BD7C00DEAAF}"/>
                </a:ext>
              </a:extLst>
            </p:cNvPr>
            <p:cNvSpPr>
              <a:spLocks/>
            </p:cNvSpPr>
            <p:nvPr/>
          </p:nvSpPr>
          <p:spPr bwMode="auto">
            <a:xfrm>
              <a:off x="2812871" y="5220813"/>
              <a:ext cx="87916" cy="96159"/>
            </a:xfrm>
            <a:custGeom>
              <a:avLst/>
              <a:gdLst>
                <a:gd name="T0" fmla="*/ 6 w 13"/>
                <a:gd name="T1" fmla="*/ 0 h 14"/>
                <a:gd name="T2" fmla="*/ 0 w 13"/>
                <a:gd name="T3" fmla="*/ 6 h 14"/>
                <a:gd name="T4" fmla="*/ 0 w 13"/>
                <a:gd name="T5" fmla="*/ 8 h 14"/>
                <a:gd name="T6" fmla="*/ 5 w 13"/>
                <a:gd name="T7" fmla="*/ 13 h 14"/>
                <a:gd name="T8" fmla="*/ 13 w 13"/>
                <a:gd name="T9" fmla="*/ 7 h 14"/>
                <a:gd name="T10" fmla="*/ 13 w 13"/>
                <a:gd name="T11" fmla="*/ 6 h 14"/>
                <a:gd name="T12" fmla="*/ 6 w 13"/>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3" h="14">
                  <a:moveTo>
                    <a:pt x="6" y="0"/>
                  </a:moveTo>
                  <a:cubicBezTo>
                    <a:pt x="3" y="0"/>
                    <a:pt x="1" y="3"/>
                    <a:pt x="0" y="6"/>
                  </a:cubicBezTo>
                  <a:cubicBezTo>
                    <a:pt x="0" y="6"/>
                    <a:pt x="0" y="7"/>
                    <a:pt x="0" y="8"/>
                  </a:cubicBezTo>
                  <a:cubicBezTo>
                    <a:pt x="0" y="11"/>
                    <a:pt x="3" y="13"/>
                    <a:pt x="5" y="13"/>
                  </a:cubicBezTo>
                  <a:cubicBezTo>
                    <a:pt x="9" y="14"/>
                    <a:pt x="13" y="11"/>
                    <a:pt x="13" y="7"/>
                  </a:cubicBezTo>
                  <a:cubicBezTo>
                    <a:pt x="13" y="6"/>
                    <a:pt x="13" y="6"/>
                    <a:pt x="13" y="6"/>
                  </a:cubicBezTo>
                  <a:cubicBezTo>
                    <a:pt x="12" y="3"/>
                    <a:pt x="10"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8" name="Group 17">
            <a:extLst>
              <a:ext uri="{FF2B5EF4-FFF2-40B4-BE49-F238E27FC236}">
                <a16:creationId xmlns:a16="http://schemas.microsoft.com/office/drawing/2014/main" id="{A93BA1D4-9727-427D-9606-CD76C9433B37}"/>
              </a:ext>
            </a:extLst>
          </p:cNvPr>
          <p:cNvGrpSpPr/>
          <p:nvPr/>
        </p:nvGrpSpPr>
        <p:grpSpPr>
          <a:xfrm>
            <a:off x="4724148" y="2336398"/>
            <a:ext cx="453816" cy="359227"/>
            <a:chOff x="9243133" y="1860757"/>
            <a:chExt cx="586567" cy="464309"/>
          </a:xfrm>
          <a:solidFill>
            <a:srgbClr val="595555"/>
          </a:solidFill>
        </p:grpSpPr>
        <p:sp>
          <p:nvSpPr>
            <p:cNvPr id="19" name="Freeform 825">
              <a:extLst>
                <a:ext uri="{FF2B5EF4-FFF2-40B4-BE49-F238E27FC236}">
                  <a16:creationId xmlns:a16="http://schemas.microsoft.com/office/drawing/2014/main" id="{839C293E-B684-4E6E-A3C1-55600286C62E}"/>
                </a:ext>
              </a:extLst>
            </p:cNvPr>
            <p:cNvSpPr>
              <a:spLocks/>
            </p:cNvSpPr>
            <p:nvPr/>
          </p:nvSpPr>
          <p:spPr bwMode="auto">
            <a:xfrm>
              <a:off x="9447813" y="1860757"/>
              <a:ext cx="381887" cy="457440"/>
            </a:xfrm>
            <a:custGeom>
              <a:avLst/>
              <a:gdLst>
                <a:gd name="T0" fmla="*/ 51 w 56"/>
                <a:gd name="T1" fmla="*/ 34 h 67"/>
                <a:gd name="T2" fmla="*/ 55 w 56"/>
                <a:gd name="T3" fmla="*/ 26 h 67"/>
                <a:gd name="T4" fmla="*/ 49 w 56"/>
                <a:gd name="T5" fmla="*/ 22 h 67"/>
                <a:gd name="T6" fmla="*/ 26 w 56"/>
                <a:gd name="T7" fmla="*/ 22 h 67"/>
                <a:gd name="T8" fmla="*/ 28 w 56"/>
                <a:gd name="T9" fmla="*/ 11 h 67"/>
                <a:gd name="T10" fmla="*/ 19 w 56"/>
                <a:gd name="T11" fmla="*/ 0 h 67"/>
                <a:gd name="T12" fmla="*/ 14 w 56"/>
                <a:gd name="T13" fmla="*/ 8 h 67"/>
                <a:gd name="T14" fmla="*/ 0 w 56"/>
                <a:gd name="T15" fmla="*/ 23 h 67"/>
                <a:gd name="T16" fmla="*/ 0 w 56"/>
                <a:gd name="T17" fmla="*/ 64 h 67"/>
                <a:gd name="T18" fmla="*/ 11 w 56"/>
                <a:gd name="T19" fmla="*/ 67 h 67"/>
                <a:gd name="T20" fmla="*/ 41 w 56"/>
                <a:gd name="T21" fmla="*/ 67 h 67"/>
                <a:gd name="T22" fmla="*/ 47 w 56"/>
                <a:gd name="T23" fmla="*/ 62 h 67"/>
                <a:gd name="T24" fmla="*/ 46 w 56"/>
                <a:gd name="T25" fmla="*/ 56 h 67"/>
                <a:gd name="T26" fmla="*/ 52 w 56"/>
                <a:gd name="T27" fmla="*/ 50 h 67"/>
                <a:gd name="T28" fmla="*/ 49 w 56"/>
                <a:gd name="T29" fmla="*/ 45 h 67"/>
                <a:gd name="T30" fmla="*/ 53 w 56"/>
                <a:gd name="T31" fmla="*/ 39 h 67"/>
                <a:gd name="T32" fmla="*/ 51 w 56"/>
                <a:gd name="T33" fmla="*/ 34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67">
                  <a:moveTo>
                    <a:pt x="51" y="34"/>
                  </a:moveTo>
                  <a:cubicBezTo>
                    <a:pt x="54" y="33"/>
                    <a:pt x="56" y="30"/>
                    <a:pt x="55" y="26"/>
                  </a:cubicBezTo>
                  <a:cubicBezTo>
                    <a:pt x="54" y="23"/>
                    <a:pt x="52" y="22"/>
                    <a:pt x="49" y="22"/>
                  </a:cubicBezTo>
                  <a:cubicBezTo>
                    <a:pt x="26" y="22"/>
                    <a:pt x="26" y="22"/>
                    <a:pt x="26" y="22"/>
                  </a:cubicBezTo>
                  <a:cubicBezTo>
                    <a:pt x="27" y="18"/>
                    <a:pt x="28" y="15"/>
                    <a:pt x="28" y="11"/>
                  </a:cubicBezTo>
                  <a:cubicBezTo>
                    <a:pt x="28" y="3"/>
                    <a:pt x="23" y="0"/>
                    <a:pt x="19" y="0"/>
                  </a:cubicBezTo>
                  <a:cubicBezTo>
                    <a:pt x="16" y="0"/>
                    <a:pt x="14" y="2"/>
                    <a:pt x="14" y="8"/>
                  </a:cubicBezTo>
                  <a:cubicBezTo>
                    <a:pt x="14" y="15"/>
                    <a:pt x="4" y="21"/>
                    <a:pt x="0" y="23"/>
                  </a:cubicBezTo>
                  <a:cubicBezTo>
                    <a:pt x="0" y="64"/>
                    <a:pt x="0" y="64"/>
                    <a:pt x="0" y="64"/>
                  </a:cubicBezTo>
                  <a:cubicBezTo>
                    <a:pt x="1" y="65"/>
                    <a:pt x="6" y="67"/>
                    <a:pt x="11" y="67"/>
                  </a:cubicBezTo>
                  <a:cubicBezTo>
                    <a:pt x="41" y="67"/>
                    <a:pt x="41" y="67"/>
                    <a:pt x="41" y="67"/>
                  </a:cubicBezTo>
                  <a:cubicBezTo>
                    <a:pt x="44" y="67"/>
                    <a:pt x="47" y="65"/>
                    <a:pt x="47" y="62"/>
                  </a:cubicBezTo>
                  <a:cubicBezTo>
                    <a:pt x="48" y="60"/>
                    <a:pt x="47" y="58"/>
                    <a:pt x="46" y="56"/>
                  </a:cubicBezTo>
                  <a:cubicBezTo>
                    <a:pt x="49" y="56"/>
                    <a:pt x="52" y="53"/>
                    <a:pt x="52" y="50"/>
                  </a:cubicBezTo>
                  <a:cubicBezTo>
                    <a:pt x="52" y="48"/>
                    <a:pt x="51" y="46"/>
                    <a:pt x="49" y="45"/>
                  </a:cubicBezTo>
                  <a:cubicBezTo>
                    <a:pt x="52" y="44"/>
                    <a:pt x="53" y="42"/>
                    <a:pt x="53" y="39"/>
                  </a:cubicBezTo>
                  <a:cubicBezTo>
                    <a:pt x="53" y="37"/>
                    <a:pt x="53" y="35"/>
                    <a:pt x="51"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826">
              <a:extLst>
                <a:ext uri="{FF2B5EF4-FFF2-40B4-BE49-F238E27FC236}">
                  <a16:creationId xmlns:a16="http://schemas.microsoft.com/office/drawing/2014/main" id="{3C6D4D8F-C5F1-401F-94A4-3CCA273A091E}"/>
                </a:ext>
              </a:extLst>
            </p:cNvPr>
            <p:cNvSpPr>
              <a:spLocks/>
            </p:cNvSpPr>
            <p:nvPr/>
          </p:nvSpPr>
          <p:spPr bwMode="auto">
            <a:xfrm>
              <a:off x="9243133" y="1991258"/>
              <a:ext cx="163470" cy="333808"/>
            </a:xfrm>
            <a:custGeom>
              <a:avLst/>
              <a:gdLst>
                <a:gd name="T0" fmla="*/ 22 w 24"/>
                <a:gd name="T1" fmla="*/ 0 h 49"/>
                <a:gd name="T2" fmla="*/ 3 w 24"/>
                <a:gd name="T3" fmla="*/ 0 h 49"/>
                <a:gd name="T4" fmla="*/ 0 w 24"/>
                <a:gd name="T5" fmla="*/ 3 h 49"/>
                <a:gd name="T6" fmla="*/ 0 w 24"/>
                <a:gd name="T7" fmla="*/ 44 h 49"/>
                <a:gd name="T8" fmla="*/ 6 w 24"/>
                <a:gd name="T9" fmla="*/ 49 h 49"/>
                <a:gd name="T10" fmla="*/ 22 w 24"/>
                <a:gd name="T11" fmla="*/ 49 h 49"/>
                <a:gd name="T12" fmla="*/ 24 w 24"/>
                <a:gd name="T13" fmla="*/ 47 h 49"/>
                <a:gd name="T14" fmla="*/ 24 w 24"/>
                <a:gd name="T15" fmla="*/ 3 h 49"/>
                <a:gd name="T16" fmla="*/ 22 w 24"/>
                <a:gd name="T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49">
                  <a:moveTo>
                    <a:pt x="22" y="0"/>
                  </a:moveTo>
                  <a:cubicBezTo>
                    <a:pt x="3" y="0"/>
                    <a:pt x="3" y="0"/>
                    <a:pt x="3" y="0"/>
                  </a:cubicBezTo>
                  <a:cubicBezTo>
                    <a:pt x="2" y="0"/>
                    <a:pt x="0" y="1"/>
                    <a:pt x="0" y="3"/>
                  </a:cubicBezTo>
                  <a:cubicBezTo>
                    <a:pt x="0" y="44"/>
                    <a:pt x="0" y="44"/>
                    <a:pt x="0" y="44"/>
                  </a:cubicBezTo>
                  <a:cubicBezTo>
                    <a:pt x="0" y="47"/>
                    <a:pt x="3" y="49"/>
                    <a:pt x="6" y="49"/>
                  </a:cubicBezTo>
                  <a:cubicBezTo>
                    <a:pt x="22" y="49"/>
                    <a:pt x="22" y="49"/>
                    <a:pt x="22" y="49"/>
                  </a:cubicBezTo>
                  <a:cubicBezTo>
                    <a:pt x="23" y="49"/>
                    <a:pt x="24" y="48"/>
                    <a:pt x="24" y="47"/>
                  </a:cubicBezTo>
                  <a:cubicBezTo>
                    <a:pt x="24" y="3"/>
                    <a:pt x="24" y="3"/>
                    <a:pt x="24" y="3"/>
                  </a:cubicBezTo>
                  <a:cubicBezTo>
                    <a:pt x="24" y="1"/>
                    <a:pt x="23"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1" name="Group 20">
            <a:extLst>
              <a:ext uri="{FF2B5EF4-FFF2-40B4-BE49-F238E27FC236}">
                <a16:creationId xmlns:a16="http://schemas.microsoft.com/office/drawing/2014/main" id="{FD1CC976-F252-4A2C-BD65-4F2EE1A63F22}"/>
              </a:ext>
            </a:extLst>
          </p:cNvPr>
          <p:cNvGrpSpPr/>
          <p:nvPr/>
        </p:nvGrpSpPr>
        <p:grpSpPr>
          <a:xfrm>
            <a:off x="9160626" y="2360268"/>
            <a:ext cx="454879" cy="449565"/>
            <a:chOff x="3126073" y="2564088"/>
            <a:chExt cx="587941" cy="581072"/>
          </a:xfrm>
          <a:solidFill>
            <a:srgbClr val="595555"/>
          </a:solidFill>
        </p:grpSpPr>
        <p:sp>
          <p:nvSpPr>
            <p:cNvPr id="22" name="Rectangle 818">
              <a:extLst>
                <a:ext uri="{FF2B5EF4-FFF2-40B4-BE49-F238E27FC236}">
                  <a16:creationId xmlns:a16="http://schemas.microsoft.com/office/drawing/2014/main" id="{A4F7EB66-EC7A-4999-8450-DA0F8995C484}"/>
                </a:ext>
              </a:extLst>
            </p:cNvPr>
            <p:cNvSpPr>
              <a:spLocks noChangeArrowheads="1"/>
            </p:cNvSpPr>
            <p:nvPr/>
          </p:nvSpPr>
          <p:spPr bwMode="auto">
            <a:xfrm>
              <a:off x="3126073" y="2756405"/>
              <a:ext cx="587941" cy="3887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819">
              <a:extLst>
                <a:ext uri="{FF2B5EF4-FFF2-40B4-BE49-F238E27FC236}">
                  <a16:creationId xmlns:a16="http://schemas.microsoft.com/office/drawing/2014/main" id="{0B9551BE-AFD1-4F30-88B4-7B48F73D211F}"/>
                </a:ext>
              </a:extLst>
            </p:cNvPr>
            <p:cNvSpPr>
              <a:spLocks/>
            </p:cNvSpPr>
            <p:nvPr/>
          </p:nvSpPr>
          <p:spPr bwMode="auto">
            <a:xfrm>
              <a:off x="3126073" y="2564088"/>
              <a:ext cx="273365" cy="157975"/>
            </a:xfrm>
            <a:custGeom>
              <a:avLst/>
              <a:gdLst>
                <a:gd name="T0" fmla="*/ 199 w 199"/>
                <a:gd name="T1" fmla="*/ 0 h 115"/>
                <a:gd name="T2" fmla="*/ 70 w 199"/>
                <a:gd name="T3" fmla="*/ 0 h 115"/>
                <a:gd name="T4" fmla="*/ 0 w 199"/>
                <a:gd name="T5" fmla="*/ 115 h 115"/>
                <a:gd name="T6" fmla="*/ 189 w 199"/>
                <a:gd name="T7" fmla="*/ 115 h 115"/>
                <a:gd name="T8" fmla="*/ 199 w 199"/>
                <a:gd name="T9" fmla="*/ 0 h 115"/>
              </a:gdLst>
              <a:ahLst/>
              <a:cxnLst>
                <a:cxn ang="0">
                  <a:pos x="T0" y="T1"/>
                </a:cxn>
                <a:cxn ang="0">
                  <a:pos x="T2" y="T3"/>
                </a:cxn>
                <a:cxn ang="0">
                  <a:pos x="T4" y="T5"/>
                </a:cxn>
                <a:cxn ang="0">
                  <a:pos x="T6" y="T7"/>
                </a:cxn>
                <a:cxn ang="0">
                  <a:pos x="T8" y="T9"/>
                </a:cxn>
              </a:cxnLst>
              <a:rect l="0" t="0" r="r" b="b"/>
              <a:pathLst>
                <a:path w="199" h="115">
                  <a:moveTo>
                    <a:pt x="199" y="0"/>
                  </a:moveTo>
                  <a:lnTo>
                    <a:pt x="70" y="0"/>
                  </a:lnTo>
                  <a:lnTo>
                    <a:pt x="0" y="115"/>
                  </a:lnTo>
                  <a:lnTo>
                    <a:pt x="189" y="115"/>
                  </a:lnTo>
                  <a:lnTo>
                    <a:pt x="19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820">
              <a:extLst>
                <a:ext uri="{FF2B5EF4-FFF2-40B4-BE49-F238E27FC236}">
                  <a16:creationId xmlns:a16="http://schemas.microsoft.com/office/drawing/2014/main" id="{1BD8C3F2-6C72-4960-BB43-A72FB13FB170}"/>
                </a:ext>
              </a:extLst>
            </p:cNvPr>
            <p:cNvSpPr>
              <a:spLocks/>
            </p:cNvSpPr>
            <p:nvPr/>
          </p:nvSpPr>
          <p:spPr bwMode="auto">
            <a:xfrm>
              <a:off x="3440649" y="2564088"/>
              <a:ext cx="273365" cy="157975"/>
            </a:xfrm>
            <a:custGeom>
              <a:avLst/>
              <a:gdLst>
                <a:gd name="T0" fmla="*/ 199 w 199"/>
                <a:gd name="T1" fmla="*/ 115 h 115"/>
                <a:gd name="T2" fmla="*/ 129 w 199"/>
                <a:gd name="T3" fmla="*/ 0 h 115"/>
                <a:gd name="T4" fmla="*/ 0 w 199"/>
                <a:gd name="T5" fmla="*/ 0 h 115"/>
                <a:gd name="T6" fmla="*/ 10 w 199"/>
                <a:gd name="T7" fmla="*/ 115 h 115"/>
                <a:gd name="T8" fmla="*/ 199 w 199"/>
                <a:gd name="T9" fmla="*/ 115 h 115"/>
              </a:gdLst>
              <a:ahLst/>
              <a:cxnLst>
                <a:cxn ang="0">
                  <a:pos x="T0" y="T1"/>
                </a:cxn>
                <a:cxn ang="0">
                  <a:pos x="T2" y="T3"/>
                </a:cxn>
                <a:cxn ang="0">
                  <a:pos x="T4" y="T5"/>
                </a:cxn>
                <a:cxn ang="0">
                  <a:pos x="T6" y="T7"/>
                </a:cxn>
                <a:cxn ang="0">
                  <a:pos x="T8" y="T9"/>
                </a:cxn>
              </a:cxnLst>
              <a:rect l="0" t="0" r="r" b="b"/>
              <a:pathLst>
                <a:path w="199" h="115">
                  <a:moveTo>
                    <a:pt x="199" y="115"/>
                  </a:moveTo>
                  <a:lnTo>
                    <a:pt x="129" y="0"/>
                  </a:lnTo>
                  <a:lnTo>
                    <a:pt x="0" y="0"/>
                  </a:lnTo>
                  <a:lnTo>
                    <a:pt x="10" y="115"/>
                  </a:lnTo>
                  <a:lnTo>
                    <a:pt x="199"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5" name="Group 24">
            <a:extLst>
              <a:ext uri="{FF2B5EF4-FFF2-40B4-BE49-F238E27FC236}">
                <a16:creationId xmlns:a16="http://schemas.microsoft.com/office/drawing/2014/main" id="{7D82838B-8162-4E16-A8C2-E32C2C5603FE}"/>
              </a:ext>
            </a:extLst>
          </p:cNvPr>
          <p:cNvGrpSpPr/>
          <p:nvPr/>
        </p:nvGrpSpPr>
        <p:grpSpPr>
          <a:xfrm>
            <a:off x="6861752" y="2323462"/>
            <a:ext cx="448842" cy="450072"/>
            <a:chOff x="7912100" y="4862513"/>
            <a:chExt cx="579438" cy="581025"/>
          </a:xfrm>
          <a:solidFill>
            <a:srgbClr val="595555"/>
          </a:solidFill>
        </p:grpSpPr>
        <p:sp>
          <p:nvSpPr>
            <p:cNvPr id="26" name="Freeform 154">
              <a:extLst>
                <a:ext uri="{FF2B5EF4-FFF2-40B4-BE49-F238E27FC236}">
                  <a16:creationId xmlns:a16="http://schemas.microsoft.com/office/drawing/2014/main" id="{125355F2-5729-476B-8974-1CB3BD9D3E70}"/>
                </a:ext>
              </a:extLst>
            </p:cNvPr>
            <p:cNvSpPr>
              <a:spLocks noEditPoints="1"/>
            </p:cNvSpPr>
            <p:nvPr/>
          </p:nvSpPr>
          <p:spPr bwMode="auto">
            <a:xfrm>
              <a:off x="7912100" y="4862513"/>
              <a:ext cx="579438" cy="415925"/>
            </a:xfrm>
            <a:custGeom>
              <a:avLst/>
              <a:gdLst>
                <a:gd name="T0" fmla="*/ 80 w 85"/>
                <a:gd name="T1" fmla="*/ 24 h 61"/>
                <a:gd name="T2" fmla="*/ 69 w 85"/>
                <a:gd name="T3" fmla="*/ 24 h 61"/>
                <a:gd name="T4" fmla="*/ 69 w 85"/>
                <a:gd name="T5" fmla="*/ 5 h 61"/>
                <a:gd name="T6" fmla="*/ 69 w 85"/>
                <a:gd name="T7" fmla="*/ 0 h 61"/>
                <a:gd name="T8" fmla="*/ 64 w 85"/>
                <a:gd name="T9" fmla="*/ 0 h 61"/>
                <a:gd name="T10" fmla="*/ 21 w 85"/>
                <a:gd name="T11" fmla="*/ 0 h 61"/>
                <a:gd name="T12" fmla="*/ 16 w 85"/>
                <a:gd name="T13" fmla="*/ 0 h 61"/>
                <a:gd name="T14" fmla="*/ 16 w 85"/>
                <a:gd name="T15" fmla="*/ 5 h 61"/>
                <a:gd name="T16" fmla="*/ 16 w 85"/>
                <a:gd name="T17" fmla="*/ 24 h 61"/>
                <a:gd name="T18" fmla="*/ 5 w 85"/>
                <a:gd name="T19" fmla="*/ 24 h 61"/>
                <a:gd name="T20" fmla="*/ 0 w 85"/>
                <a:gd name="T21" fmla="*/ 29 h 61"/>
                <a:gd name="T22" fmla="*/ 0 w 85"/>
                <a:gd name="T23" fmla="*/ 56 h 61"/>
                <a:gd name="T24" fmla="*/ 5 w 85"/>
                <a:gd name="T25" fmla="*/ 61 h 61"/>
                <a:gd name="T26" fmla="*/ 11 w 85"/>
                <a:gd name="T27" fmla="*/ 61 h 61"/>
                <a:gd name="T28" fmla="*/ 11 w 85"/>
                <a:gd name="T29" fmla="*/ 53 h 61"/>
                <a:gd name="T30" fmla="*/ 11 w 85"/>
                <a:gd name="T31" fmla="*/ 48 h 61"/>
                <a:gd name="T32" fmla="*/ 16 w 85"/>
                <a:gd name="T33" fmla="*/ 48 h 61"/>
                <a:gd name="T34" fmla="*/ 19 w 85"/>
                <a:gd name="T35" fmla="*/ 48 h 61"/>
                <a:gd name="T36" fmla="*/ 67 w 85"/>
                <a:gd name="T37" fmla="*/ 48 h 61"/>
                <a:gd name="T38" fmla="*/ 69 w 85"/>
                <a:gd name="T39" fmla="*/ 48 h 61"/>
                <a:gd name="T40" fmla="*/ 75 w 85"/>
                <a:gd name="T41" fmla="*/ 48 h 61"/>
                <a:gd name="T42" fmla="*/ 75 w 85"/>
                <a:gd name="T43" fmla="*/ 52 h 61"/>
                <a:gd name="T44" fmla="*/ 75 w 85"/>
                <a:gd name="T45" fmla="*/ 61 h 61"/>
                <a:gd name="T46" fmla="*/ 80 w 85"/>
                <a:gd name="T47" fmla="*/ 61 h 61"/>
                <a:gd name="T48" fmla="*/ 85 w 85"/>
                <a:gd name="T49" fmla="*/ 56 h 61"/>
                <a:gd name="T50" fmla="*/ 85 w 85"/>
                <a:gd name="T51" fmla="*/ 29 h 61"/>
                <a:gd name="T52" fmla="*/ 80 w 85"/>
                <a:gd name="T53" fmla="*/ 24 h 61"/>
                <a:gd name="T54" fmla="*/ 65 w 85"/>
                <a:gd name="T55" fmla="*/ 24 h 61"/>
                <a:gd name="T56" fmla="*/ 20 w 85"/>
                <a:gd name="T57" fmla="*/ 24 h 61"/>
                <a:gd name="T58" fmla="*/ 20 w 85"/>
                <a:gd name="T59" fmla="*/ 4 h 61"/>
                <a:gd name="T60" fmla="*/ 65 w 85"/>
                <a:gd name="T61" fmla="*/ 4 h 61"/>
                <a:gd name="T62" fmla="*/ 65 w 85"/>
                <a:gd name="T63" fmla="*/ 24 h 61"/>
                <a:gd name="T64" fmla="*/ 77 w 85"/>
                <a:gd name="T65" fmla="*/ 35 h 61"/>
                <a:gd name="T66" fmla="*/ 75 w 85"/>
                <a:gd name="T67" fmla="*/ 32 h 61"/>
                <a:gd name="T68" fmla="*/ 77 w 85"/>
                <a:gd name="T69" fmla="*/ 30 h 61"/>
                <a:gd name="T70" fmla="*/ 80 w 85"/>
                <a:gd name="T71" fmla="*/ 32 h 61"/>
                <a:gd name="T72" fmla="*/ 77 w 85"/>
                <a:gd name="T73" fmla="*/ 3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 h="61">
                  <a:moveTo>
                    <a:pt x="80" y="24"/>
                  </a:moveTo>
                  <a:cubicBezTo>
                    <a:pt x="69" y="24"/>
                    <a:pt x="69" y="24"/>
                    <a:pt x="69" y="24"/>
                  </a:cubicBezTo>
                  <a:cubicBezTo>
                    <a:pt x="69" y="5"/>
                    <a:pt x="69" y="5"/>
                    <a:pt x="69" y="5"/>
                  </a:cubicBezTo>
                  <a:cubicBezTo>
                    <a:pt x="69" y="0"/>
                    <a:pt x="69" y="0"/>
                    <a:pt x="69" y="0"/>
                  </a:cubicBezTo>
                  <a:cubicBezTo>
                    <a:pt x="64" y="0"/>
                    <a:pt x="64" y="0"/>
                    <a:pt x="64" y="0"/>
                  </a:cubicBezTo>
                  <a:cubicBezTo>
                    <a:pt x="21" y="0"/>
                    <a:pt x="21" y="0"/>
                    <a:pt x="21" y="0"/>
                  </a:cubicBezTo>
                  <a:cubicBezTo>
                    <a:pt x="16" y="0"/>
                    <a:pt x="16" y="0"/>
                    <a:pt x="16" y="0"/>
                  </a:cubicBezTo>
                  <a:cubicBezTo>
                    <a:pt x="16" y="5"/>
                    <a:pt x="16" y="5"/>
                    <a:pt x="16" y="5"/>
                  </a:cubicBezTo>
                  <a:cubicBezTo>
                    <a:pt x="16" y="24"/>
                    <a:pt x="16" y="24"/>
                    <a:pt x="16" y="24"/>
                  </a:cubicBezTo>
                  <a:cubicBezTo>
                    <a:pt x="5" y="24"/>
                    <a:pt x="5" y="24"/>
                    <a:pt x="5" y="24"/>
                  </a:cubicBezTo>
                  <a:cubicBezTo>
                    <a:pt x="2" y="24"/>
                    <a:pt x="0" y="26"/>
                    <a:pt x="0" y="29"/>
                  </a:cubicBezTo>
                  <a:cubicBezTo>
                    <a:pt x="0" y="56"/>
                    <a:pt x="0" y="56"/>
                    <a:pt x="0" y="56"/>
                  </a:cubicBezTo>
                  <a:cubicBezTo>
                    <a:pt x="0" y="59"/>
                    <a:pt x="2" y="61"/>
                    <a:pt x="5" y="61"/>
                  </a:cubicBezTo>
                  <a:cubicBezTo>
                    <a:pt x="11" y="61"/>
                    <a:pt x="11" y="61"/>
                    <a:pt x="11" y="61"/>
                  </a:cubicBezTo>
                  <a:cubicBezTo>
                    <a:pt x="11" y="53"/>
                    <a:pt x="11" y="53"/>
                    <a:pt x="11" y="53"/>
                  </a:cubicBezTo>
                  <a:cubicBezTo>
                    <a:pt x="11" y="48"/>
                    <a:pt x="11" y="48"/>
                    <a:pt x="11" y="48"/>
                  </a:cubicBezTo>
                  <a:cubicBezTo>
                    <a:pt x="16" y="48"/>
                    <a:pt x="16" y="48"/>
                    <a:pt x="16" y="48"/>
                  </a:cubicBezTo>
                  <a:cubicBezTo>
                    <a:pt x="19" y="48"/>
                    <a:pt x="19" y="48"/>
                    <a:pt x="19" y="48"/>
                  </a:cubicBezTo>
                  <a:cubicBezTo>
                    <a:pt x="67" y="48"/>
                    <a:pt x="67" y="48"/>
                    <a:pt x="67" y="48"/>
                  </a:cubicBezTo>
                  <a:cubicBezTo>
                    <a:pt x="69" y="48"/>
                    <a:pt x="69" y="48"/>
                    <a:pt x="69" y="48"/>
                  </a:cubicBezTo>
                  <a:cubicBezTo>
                    <a:pt x="75" y="48"/>
                    <a:pt x="75" y="48"/>
                    <a:pt x="75" y="48"/>
                  </a:cubicBezTo>
                  <a:cubicBezTo>
                    <a:pt x="75" y="52"/>
                    <a:pt x="75" y="52"/>
                    <a:pt x="75" y="52"/>
                  </a:cubicBezTo>
                  <a:cubicBezTo>
                    <a:pt x="75" y="61"/>
                    <a:pt x="75" y="61"/>
                    <a:pt x="75" y="61"/>
                  </a:cubicBezTo>
                  <a:cubicBezTo>
                    <a:pt x="80" y="61"/>
                    <a:pt x="80" y="61"/>
                    <a:pt x="80" y="61"/>
                  </a:cubicBezTo>
                  <a:cubicBezTo>
                    <a:pt x="83" y="61"/>
                    <a:pt x="85" y="59"/>
                    <a:pt x="85" y="56"/>
                  </a:cubicBezTo>
                  <a:cubicBezTo>
                    <a:pt x="85" y="29"/>
                    <a:pt x="85" y="29"/>
                    <a:pt x="85" y="29"/>
                  </a:cubicBezTo>
                  <a:cubicBezTo>
                    <a:pt x="85" y="26"/>
                    <a:pt x="83" y="24"/>
                    <a:pt x="80" y="24"/>
                  </a:cubicBezTo>
                  <a:close/>
                  <a:moveTo>
                    <a:pt x="65" y="24"/>
                  </a:moveTo>
                  <a:cubicBezTo>
                    <a:pt x="20" y="24"/>
                    <a:pt x="20" y="24"/>
                    <a:pt x="20" y="24"/>
                  </a:cubicBezTo>
                  <a:cubicBezTo>
                    <a:pt x="20" y="4"/>
                    <a:pt x="20" y="4"/>
                    <a:pt x="20" y="4"/>
                  </a:cubicBezTo>
                  <a:cubicBezTo>
                    <a:pt x="65" y="4"/>
                    <a:pt x="65" y="4"/>
                    <a:pt x="65" y="4"/>
                  </a:cubicBezTo>
                  <a:lnTo>
                    <a:pt x="65" y="24"/>
                  </a:lnTo>
                  <a:close/>
                  <a:moveTo>
                    <a:pt x="77" y="35"/>
                  </a:moveTo>
                  <a:cubicBezTo>
                    <a:pt x="76" y="35"/>
                    <a:pt x="75" y="34"/>
                    <a:pt x="75" y="32"/>
                  </a:cubicBezTo>
                  <a:cubicBezTo>
                    <a:pt x="75" y="31"/>
                    <a:pt x="76" y="30"/>
                    <a:pt x="77" y="30"/>
                  </a:cubicBezTo>
                  <a:cubicBezTo>
                    <a:pt x="79" y="30"/>
                    <a:pt x="80" y="31"/>
                    <a:pt x="80" y="32"/>
                  </a:cubicBezTo>
                  <a:cubicBezTo>
                    <a:pt x="80" y="34"/>
                    <a:pt x="79" y="35"/>
                    <a:pt x="7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55">
              <a:extLst>
                <a:ext uri="{FF2B5EF4-FFF2-40B4-BE49-F238E27FC236}">
                  <a16:creationId xmlns:a16="http://schemas.microsoft.com/office/drawing/2014/main" id="{66E41768-0FC9-4E1D-B315-1E6BDD4AE68C}"/>
                </a:ext>
              </a:extLst>
            </p:cNvPr>
            <p:cNvSpPr>
              <a:spLocks noEditPoints="1"/>
            </p:cNvSpPr>
            <p:nvPr/>
          </p:nvSpPr>
          <p:spPr bwMode="auto">
            <a:xfrm>
              <a:off x="8020050" y="5224463"/>
              <a:ext cx="361950" cy="219075"/>
            </a:xfrm>
            <a:custGeom>
              <a:avLst/>
              <a:gdLst>
                <a:gd name="T0" fmla="*/ 13 w 228"/>
                <a:gd name="T1" fmla="*/ 0 h 138"/>
                <a:gd name="T2" fmla="*/ 0 w 228"/>
                <a:gd name="T3" fmla="*/ 0 h 138"/>
                <a:gd name="T4" fmla="*/ 0 w 228"/>
                <a:gd name="T5" fmla="*/ 43 h 138"/>
                <a:gd name="T6" fmla="*/ 0 w 228"/>
                <a:gd name="T7" fmla="*/ 138 h 138"/>
                <a:gd name="T8" fmla="*/ 228 w 228"/>
                <a:gd name="T9" fmla="*/ 138 h 138"/>
                <a:gd name="T10" fmla="*/ 228 w 228"/>
                <a:gd name="T11" fmla="*/ 43 h 138"/>
                <a:gd name="T12" fmla="*/ 228 w 228"/>
                <a:gd name="T13" fmla="*/ 4 h 138"/>
                <a:gd name="T14" fmla="*/ 228 w 228"/>
                <a:gd name="T15" fmla="*/ 0 h 138"/>
                <a:gd name="T16" fmla="*/ 219 w 228"/>
                <a:gd name="T17" fmla="*/ 0 h 138"/>
                <a:gd name="T18" fmla="*/ 13 w 228"/>
                <a:gd name="T19" fmla="*/ 0 h 138"/>
                <a:gd name="T20" fmla="*/ 194 w 228"/>
                <a:gd name="T21" fmla="*/ 112 h 138"/>
                <a:gd name="T22" fmla="*/ 30 w 228"/>
                <a:gd name="T23" fmla="*/ 112 h 138"/>
                <a:gd name="T24" fmla="*/ 30 w 228"/>
                <a:gd name="T25" fmla="*/ 99 h 138"/>
                <a:gd name="T26" fmla="*/ 194 w 228"/>
                <a:gd name="T27" fmla="*/ 99 h 138"/>
                <a:gd name="T28" fmla="*/ 194 w 228"/>
                <a:gd name="T29" fmla="*/ 112 h 138"/>
                <a:gd name="T30" fmla="*/ 194 w 228"/>
                <a:gd name="T31" fmla="*/ 77 h 138"/>
                <a:gd name="T32" fmla="*/ 30 w 228"/>
                <a:gd name="T33" fmla="*/ 77 h 138"/>
                <a:gd name="T34" fmla="*/ 30 w 228"/>
                <a:gd name="T35" fmla="*/ 64 h 138"/>
                <a:gd name="T36" fmla="*/ 194 w 228"/>
                <a:gd name="T37" fmla="*/ 64 h 138"/>
                <a:gd name="T38" fmla="*/ 194 w 228"/>
                <a:gd name="T39" fmla="*/ 77 h 138"/>
                <a:gd name="T40" fmla="*/ 194 w 228"/>
                <a:gd name="T41" fmla="*/ 43 h 138"/>
                <a:gd name="T42" fmla="*/ 30 w 228"/>
                <a:gd name="T43" fmla="*/ 43 h 138"/>
                <a:gd name="T44" fmla="*/ 30 w 228"/>
                <a:gd name="T45" fmla="*/ 30 h 138"/>
                <a:gd name="T46" fmla="*/ 194 w 228"/>
                <a:gd name="T47" fmla="*/ 30 h 138"/>
                <a:gd name="T48" fmla="*/ 194 w 228"/>
                <a:gd name="T49" fmla="*/ 4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8" h="138">
                  <a:moveTo>
                    <a:pt x="13" y="0"/>
                  </a:moveTo>
                  <a:lnTo>
                    <a:pt x="0" y="0"/>
                  </a:lnTo>
                  <a:lnTo>
                    <a:pt x="0" y="43"/>
                  </a:lnTo>
                  <a:lnTo>
                    <a:pt x="0" y="138"/>
                  </a:lnTo>
                  <a:lnTo>
                    <a:pt x="228" y="138"/>
                  </a:lnTo>
                  <a:lnTo>
                    <a:pt x="228" y="43"/>
                  </a:lnTo>
                  <a:lnTo>
                    <a:pt x="228" y="4"/>
                  </a:lnTo>
                  <a:lnTo>
                    <a:pt x="228" y="0"/>
                  </a:lnTo>
                  <a:lnTo>
                    <a:pt x="219" y="0"/>
                  </a:lnTo>
                  <a:lnTo>
                    <a:pt x="13" y="0"/>
                  </a:lnTo>
                  <a:close/>
                  <a:moveTo>
                    <a:pt x="194" y="112"/>
                  </a:moveTo>
                  <a:lnTo>
                    <a:pt x="30" y="112"/>
                  </a:lnTo>
                  <a:lnTo>
                    <a:pt x="30" y="99"/>
                  </a:lnTo>
                  <a:lnTo>
                    <a:pt x="194" y="99"/>
                  </a:lnTo>
                  <a:lnTo>
                    <a:pt x="194" y="112"/>
                  </a:lnTo>
                  <a:close/>
                  <a:moveTo>
                    <a:pt x="194" y="77"/>
                  </a:moveTo>
                  <a:lnTo>
                    <a:pt x="30" y="77"/>
                  </a:lnTo>
                  <a:lnTo>
                    <a:pt x="30" y="64"/>
                  </a:lnTo>
                  <a:lnTo>
                    <a:pt x="194" y="64"/>
                  </a:lnTo>
                  <a:lnTo>
                    <a:pt x="194" y="77"/>
                  </a:lnTo>
                  <a:close/>
                  <a:moveTo>
                    <a:pt x="194" y="43"/>
                  </a:moveTo>
                  <a:lnTo>
                    <a:pt x="30" y="43"/>
                  </a:lnTo>
                  <a:lnTo>
                    <a:pt x="30" y="30"/>
                  </a:lnTo>
                  <a:lnTo>
                    <a:pt x="194" y="30"/>
                  </a:lnTo>
                  <a:lnTo>
                    <a:pt x="19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85419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47</a:t>
            </a:fld>
            <a:endParaRPr lang="en-IN" dirty="0">
              <a:solidFill>
                <a:srgbClr val="8C8585"/>
              </a:solidFill>
            </a:endParaRPr>
          </a:p>
        </p:txBody>
      </p:sp>
      <p:sp>
        <p:nvSpPr>
          <p:cNvPr id="24" name="Title 1">
            <a:extLst>
              <a:ext uri="{FF2B5EF4-FFF2-40B4-BE49-F238E27FC236}">
                <a16:creationId xmlns:a16="http://schemas.microsoft.com/office/drawing/2014/main" id="{65589517-EBAC-4D18-8CFC-A8D5F17E8A5A}"/>
              </a:ext>
            </a:extLst>
          </p:cNvPr>
          <p:cNvSpPr>
            <a:spLocks noGrp="1"/>
          </p:cNvSpPr>
          <p:nvPr>
            <p:ph type="title"/>
          </p:nvPr>
        </p:nvSpPr>
        <p:spPr>
          <a:xfrm>
            <a:off x="363600" y="363600"/>
            <a:ext cx="5259434" cy="383773"/>
          </a:xfrm>
        </p:spPr>
        <p:txBody>
          <a:bodyPr vert="horz"/>
          <a:lstStyle/>
          <a:p>
            <a:r>
              <a:rPr lang="en-IN" dirty="0"/>
              <a:t>VISUALIZE YOUR DATA IN AN EASY TO READ MANNER</a:t>
            </a:r>
            <a:endParaRPr lang="en-US" dirty="0"/>
          </a:p>
        </p:txBody>
      </p:sp>
      <p:sp>
        <p:nvSpPr>
          <p:cNvPr id="25" name="Text Placeholder 2">
            <a:extLst>
              <a:ext uri="{FF2B5EF4-FFF2-40B4-BE49-F238E27FC236}">
                <a16:creationId xmlns:a16="http://schemas.microsoft.com/office/drawing/2014/main" id="{0BEDB3FE-4896-4BE3-98D9-39A41B11F243}"/>
              </a:ext>
            </a:extLst>
          </p:cNvPr>
          <p:cNvSpPr>
            <a:spLocks noGrp="1"/>
          </p:cNvSpPr>
          <p:nvPr>
            <p:ph type="body" sz="quarter" idx="13"/>
          </p:nvPr>
        </p:nvSpPr>
        <p:spPr>
          <a:xfrm>
            <a:off x="363600" y="1173600"/>
            <a:ext cx="11462400" cy="223200"/>
          </a:xfrm>
        </p:spPr>
        <p:txBody>
          <a:bodyPr lIns="0" tIns="0" rIns="0" bIns="0"/>
          <a:lstStyle/>
          <a:p>
            <a:r>
              <a:rPr lang="en-US" dirty="0">
                <a:solidFill>
                  <a:srgbClr val="595555"/>
                </a:solidFill>
                <a:latin typeface="verdana" panose="020B0604030504040204" pitchFamily="34" charset="0"/>
              </a:rPr>
              <a:t>Sub-headline</a:t>
            </a:r>
          </a:p>
        </p:txBody>
      </p:sp>
      <p:sp>
        <p:nvSpPr>
          <p:cNvPr id="26" name="Rectangle 25">
            <a:extLst>
              <a:ext uri="{FF2B5EF4-FFF2-40B4-BE49-F238E27FC236}">
                <a16:creationId xmlns:a16="http://schemas.microsoft.com/office/drawing/2014/main" id="{8C663D11-52E4-4172-A8A7-7EEC23F90C59}"/>
              </a:ext>
            </a:extLst>
          </p:cNvPr>
          <p:cNvSpPr/>
          <p:nvPr/>
        </p:nvSpPr>
        <p:spPr>
          <a:xfrm>
            <a:off x="6180463" y="0"/>
            <a:ext cx="6011537" cy="63897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E882A9C1-8A8F-4E9F-A7A5-D3DE0B593A77}"/>
              </a:ext>
            </a:extLst>
          </p:cNvPr>
          <p:cNvSpPr txBox="1"/>
          <p:nvPr/>
        </p:nvSpPr>
        <p:spPr>
          <a:xfrm>
            <a:off x="6938286" y="1369629"/>
            <a:ext cx="1819175" cy="677108"/>
          </a:xfrm>
          <a:prstGeom prst="rect">
            <a:avLst/>
          </a:prstGeom>
          <a:noFill/>
        </p:spPr>
        <p:txBody>
          <a:bodyPr wrap="square" rtlCol="0">
            <a:spAutoFit/>
          </a:bodyPr>
          <a:lstStyle/>
          <a:p>
            <a:pPr marL="6350"/>
            <a:r>
              <a:rPr lang="en-US" sz="2400" b="1" dirty="0">
                <a:solidFill>
                  <a:schemeClr val="accent4"/>
                </a:solidFill>
              </a:rPr>
              <a:t>44% </a:t>
            </a:r>
          </a:p>
          <a:p>
            <a:pPr marL="6350"/>
            <a:r>
              <a:rPr lang="en-US" sz="1400" dirty="0">
                <a:solidFill>
                  <a:schemeClr val="bg1"/>
                </a:solidFill>
              </a:rPr>
              <a:t>supporting copy</a:t>
            </a:r>
          </a:p>
        </p:txBody>
      </p:sp>
      <p:grpSp>
        <p:nvGrpSpPr>
          <p:cNvPr id="28" name="Group 27">
            <a:extLst>
              <a:ext uri="{FF2B5EF4-FFF2-40B4-BE49-F238E27FC236}">
                <a16:creationId xmlns:a16="http://schemas.microsoft.com/office/drawing/2014/main" id="{D259F452-E5D6-489A-843F-1D6753B92315}"/>
              </a:ext>
            </a:extLst>
          </p:cNvPr>
          <p:cNvGrpSpPr/>
          <p:nvPr/>
        </p:nvGrpSpPr>
        <p:grpSpPr>
          <a:xfrm>
            <a:off x="9179212" y="774863"/>
            <a:ext cx="2141931" cy="1866641"/>
            <a:chOff x="8316272" y="1606012"/>
            <a:chExt cx="2141931" cy="1866641"/>
          </a:xfrm>
        </p:grpSpPr>
        <p:graphicFrame>
          <p:nvGraphicFramePr>
            <p:cNvPr id="29" name="Chart 28">
              <a:extLst>
                <a:ext uri="{FF2B5EF4-FFF2-40B4-BE49-F238E27FC236}">
                  <a16:creationId xmlns:a16="http://schemas.microsoft.com/office/drawing/2014/main" id="{17FF7894-1A91-47CD-958E-2BE1D801F8A3}"/>
                </a:ext>
              </a:extLst>
            </p:cNvPr>
            <p:cNvGraphicFramePr/>
            <p:nvPr/>
          </p:nvGraphicFramePr>
          <p:xfrm>
            <a:off x="8316272" y="1606012"/>
            <a:ext cx="2141931" cy="1866641"/>
          </p:xfrm>
          <a:graphic>
            <a:graphicData uri="http://schemas.openxmlformats.org/drawingml/2006/chart">
              <c:chart xmlns:c="http://schemas.openxmlformats.org/drawingml/2006/chart" xmlns:r="http://schemas.openxmlformats.org/officeDocument/2006/relationships" r:id="rId3"/>
            </a:graphicData>
          </a:graphic>
        </p:graphicFrame>
        <p:grpSp>
          <p:nvGrpSpPr>
            <p:cNvPr id="30" name="Group 29">
              <a:extLst>
                <a:ext uri="{FF2B5EF4-FFF2-40B4-BE49-F238E27FC236}">
                  <a16:creationId xmlns:a16="http://schemas.microsoft.com/office/drawing/2014/main" id="{731B425A-1CC8-4A5C-B60F-8E73F7D258CC}"/>
                </a:ext>
              </a:extLst>
            </p:cNvPr>
            <p:cNvGrpSpPr/>
            <p:nvPr/>
          </p:nvGrpSpPr>
          <p:grpSpPr>
            <a:xfrm>
              <a:off x="9160626" y="2360268"/>
              <a:ext cx="454879" cy="449565"/>
              <a:chOff x="3126073" y="2564088"/>
              <a:chExt cx="587941" cy="581072"/>
            </a:xfrm>
            <a:solidFill>
              <a:schemeClr val="accent4"/>
            </a:solidFill>
          </p:grpSpPr>
          <p:sp>
            <p:nvSpPr>
              <p:cNvPr id="31" name="Rectangle 818">
                <a:extLst>
                  <a:ext uri="{FF2B5EF4-FFF2-40B4-BE49-F238E27FC236}">
                    <a16:creationId xmlns:a16="http://schemas.microsoft.com/office/drawing/2014/main" id="{F1DAEEA3-3814-456F-BFFC-D10DF919DE9C}"/>
                  </a:ext>
                </a:extLst>
              </p:cNvPr>
              <p:cNvSpPr>
                <a:spLocks noChangeArrowheads="1"/>
              </p:cNvSpPr>
              <p:nvPr/>
            </p:nvSpPr>
            <p:spPr bwMode="auto">
              <a:xfrm>
                <a:off x="3126073" y="2756405"/>
                <a:ext cx="587941" cy="3887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819">
                <a:extLst>
                  <a:ext uri="{FF2B5EF4-FFF2-40B4-BE49-F238E27FC236}">
                    <a16:creationId xmlns:a16="http://schemas.microsoft.com/office/drawing/2014/main" id="{CFFA0783-8295-4259-A7AC-C0518443E721}"/>
                  </a:ext>
                </a:extLst>
              </p:cNvPr>
              <p:cNvSpPr>
                <a:spLocks/>
              </p:cNvSpPr>
              <p:nvPr/>
            </p:nvSpPr>
            <p:spPr bwMode="auto">
              <a:xfrm>
                <a:off x="3126073" y="2564088"/>
                <a:ext cx="273365" cy="157975"/>
              </a:xfrm>
              <a:custGeom>
                <a:avLst/>
                <a:gdLst>
                  <a:gd name="T0" fmla="*/ 199 w 199"/>
                  <a:gd name="T1" fmla="*/ 0 h 115"/>
                  <a:gd name="T2" fmla="*/ 70 w 199"/>
                  <a:gd name="T3" fmla="*/ 0 h 115"/>
                  <a:gd name="T4" fmla="*/ 0 w 199"/>
                  <a:gd name="T5" fmla="*/ 115 h 115"/>
                  <a:gd name="T6" fmla="*/ 189 w 199"/>
                  <a:gd name="T7" fmla="*/ 115 h 115"/>
                  <a:gd name="T8" fmla="*/ 199 w 199"/>
                  <a:gd name="T9" fmla="*/ 0 h 115"/>
                </a:gdLst>
                <a:ahLst/>
                <a:cxnLst>
                  <a:cxn ang="0">
                    <a:pos x="T0" y="T1"/>
                  </a:cxn>
                  <a:cxn ang="0">
                    <a:pos x="T2" y="T3"/>
                  </a:cxn>
                  <a:cxn ang="0">
                    <a:pos x="T4" y="T5"/>
                  </a:cxn>
                  <a:cxn ang="0">
                    <a:pos x="T6" y="T7"/>
                  </a:cxn>
                  <a:cxn ang="0">
                    <a:pos x="T8" y="T9"/>
                  </a:cxn>
                </a:cxnLst>
                <a:rect l="0" t="0" r="r" b="b"/>
                <a:pathLst>
                  <a:path w="199" h="115">
                    <a:moveTo>
                      <a:pt x="199" y="0"/>
                    </a:moveTo>
                    <a:lnTo>
                      <a:pt x="70" y="0"/>
                    </a:lnTo>
                    <a:lnTo>
                      <a:pt x="0" y="115"/>
                    </a:lnTo>
                    <a:lnTo>
                      <a:pt x="189" y="115"/>
                    </a:lnTo>
                    <a:lnTo>
                      <a:pt x="19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820">
                <a:extLst>
                  <a:ext uri="{FF2B5EF4-FFF2-40B4-BE49-F238E27FC236}">
                    <a16:creationId xmlns:a16="http://schemas.microsoft.com/office/drawing/2014/main" id="{2B43AC6B-AA14-4642-92DE-87C1459C00B5}"/>
                  </a:ext>
                </a:extLst>
              </p:cNvPr>
              <p:cNvSpPr>
                <a:spLocks/>
              </p:cNvSpPr>
              <p:nvPr/>
            </p:nvSpPr>
            <p:spPr bwMode="auto">
              <a:xfrm>
                <a:off x="3440649" y="2564088"/>
                <a:ext cx="273365" cy="157975"/>
              </a:xfrm>
              <a:custGeom>
                <a:avLst/>
                <a:gdLst>
                  <a:gd name="T0" fmla="*/ 199 w 199"/>
                  <a:gd name="T1" fmla="*/ 115 h 115"/>
                  <a:gd name="T2" fmla="*/ 129 w 199"/>
                  <a:gd name="T3" fmla="*/ 0 h 115"/>
                  <a:gd name="T4" fmla="*/ 0 w 199"/>
                  <a:gd name="T5" fmla="*/ 0 h 115"/>
                  <a:gd name="T6" fmla="*/ 10 w 199"/>
                  <a:gd name="T7" fmla="*/ 115 h 115"/>
                  <a:gd name="T8" fmla="*/ 199 w 199"/>
                  <a:gd name="T9" fmla="*/ 115 h 115"/>
                </a:gdLst>
                <a:ahLst/>
                <a:cxnLst>
                  <a:cxn ang="0">
                    <a:pos x="T0" y="T1"/>
                  </a:cxn>
                  <a:cxn ang="0">
                    <a:pos x="T2" y="T3"/>
                  </a:cxn>
                  <a:cxn ang="0">
                    <a:pos x="T4" y="T5"/>
                  </a:cxn>
                  <a:cxn ang="0">
                    <a:pos x="T6" y="T7"/>
                  </a:cxn>
                  <a:cxn ang="0">
                    <a:pos x="T8" y="T9"/>
                  </a:cxn>
                </a:cxnLst>
                <a:rect l="0" t="0" r="r" b="b"/>
                <a:pathLst>
                  <a:path w="199" h="115">
                    <a:moveTo>
                      <a:pt x="199" y="115"/>
                    </a:moveTo>
                    <a:lnTo>
                      <a:pt x="129" y="0"/>
                    </a:lnTo>
                    <a:lnTo>
                      <a:pt x="0" y="0"/>
                    </a:lnTo>
                    <a:lnTo>
                      <a:pt x="10" y="115"/>
                    </a:lnTo>
                    <a:lnTo>
                      <a:pt x="199" y="1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34" name="Group 33">
            <a:extLst>
              <a:ext uri="{FF2B5EF4-FFF2-40B4-BE49-F238E27FC236}">
                <a16:creationId xmlns:a16="http://schemas.microsoft.com/office/drawing/2014/main" id="{136C775C-E7E9-4233-89FE-0DC9C19D6DDB}"/>
              </a:ext>
            </a:extLst>
          </p:cNvPr>
          <p:cNvGrpSpPr/>
          <p:nvPr/>
        </p:nvGrpSpPr>
        <p:grpSpPr>
          <a:xfrm>
            <a:off x="9186231" y="3194891"/>
            <a:ext cx="2141931" cy="1866641"/>
            <a:chOff x="6092185" y="1606012"/>
            <a:chExt cx="2141931" cy="1866641"/>
          </a:xfrm>
        </p:grpSpPr>
        <p:graphicFrame>
          <p:nvGraphicFramePr>
            <p:cNvPr id="35" name="Chart 34">
              <a:extLst>
                <a:ext uri="{FF2B5EF4-FFF2-40B4-BE49-F238E27FC236}">
                  <a16:creationId xmlns:a16="http://schemas.microsoft.com/office/drawing/2014/main" id="{9C707467-E1AF-4466-9A26-E8468B2D9359}"/>
                </a:ext>
              </a:extLst>
            </p:cNvPr>
            <p:cNvGraphicFramePr/>
            <p:nvPr/>
          </p:nvGraphicFramePr>
          <p:xfrm>
            <a:off x="6092185" y="1606012"/>
            <a:ext cx="2141931" cy="1866641"/>
          </p:xfrm>
          <a:graphic>
            <a:graphicData uri="http://schemas.openxmlformats.org/drawingml/2006/chart">
              <c:chart xmlns:c="http://schemas.openxmlformats.org/drawingml/2006/chart" xmlns:r="http://schemas.openxmlformats.org/officeDocument/2006/relationships" r:id="rId4"/>
            </a:graphicData>
          </a:graphic>
        </p:graphicFrame>
        <p:grpSp>
          <p:nvGrpSpPr>
            <p:cNvPr id="36" name="Group 35">
              <a:extLst>
                <a:ext uri="{FF2B5EF4-FFF2-40B4-BE49-F238E27FC236}">
                  <a16:creationId xmlns:a16="http://schemas.microsoft.com/office/drawing/2014/main" id="{97C9C6D9-EF70-49B7-A32F-6827829EF4FD}"/>
                </a:ext>
              </a:extLst>
            </p:cNvPr>
            <p:cNvGrpSpPr/>
            <p:nvPr/>
          </p:nvGrpSpPr>
          <p:grpSpPr>
            <a:xfrm>
              <a:off x="6924813" y="2323462"/>
              <a:ext cx="448842" cy="450072"/>
              <a:chOff x="7912100" y="4862513"/>
              <a:chExt cx="579438" cy="581025"/>
            </a:xfrm>
            <a:solidFill>
              <a:schemeClr val="accent4"/>
            </a:solidFill>
          </p:grpSpPr>
          <p:sp>
            <p:nvSpPr>
              <p:cNvPr id="37" name="Freeform 154">
                <a:extLst>
                  <a:ext uri="{FF2B5EF4-FFF2-40B4-BE49-F238E27FC236}">
                    <a16:creationId xmlns:a16="http://schemas.microsoft.com/office/drawing/2014/main" id="{BF20D8E3-DF6B-41EE-A6E0-2160C1A94E19}"/>
                  </a:ext>
                </a:extLst>
              </p:cNvPr>
              <p:cNvSpPr>
                <a:spLocks noEditPoints="1"/>
              </p:cNvSpPr>
              <p:nvPr/>
            </p:nvSpPr>
            <p:spPr bwMode="auto">
              <a:xfrm>
                <a:off x="7912100" y="4862513"/>
                <a:ext cx="579438" cy="415925"/>
              </a:xfrm>
              <a:custGeom>
                <a:avLst/>
                <a:gdLst>
                  <a:gd name="T0" fmla="*/ 80 w 85"/>
                  <a:gd name="T1" fmla="*/ 24 h 61"/>
                  <a:gd name="T2" fmla="*/ 69 w 85"/>
                  <a:gd name="T3" fmla="*/ 24 h 61"/>
                  <a:gd name="T4" fmla="*/ 69 w 85"/>
                  <a:gd name="T5" fmla="*/ 5 h 61"/>
                  <a:gd name="T6" fmla="*/ 69 w 85"/>
                  <a:gd name="T7" fmla="*/ 0 h 61"/>
                  <a:gd name="T8" fmla="*/ 64 w 85"/>
                  <a:gd name="T9" fmla="*/ 0 h 61"/>
                  <a:gd name="T10" fmla="*/ 21 w 85"/>
                  <a:gd name="T11" fmla="*/ 0 h 61"/>
                  <a:gd name="T12" fmla="*/ 16 w 85"/>
                  <a:gd name="T13" fmla="*/ 0 h 61"/>
                  <a:gd name="T14" fmla="*/ 16 w 85"/>
                  <a:gd name="T15" fmla="*/ 5 h 61"/>
                  <a:gd name="T16" fmla="*/ 16 w 85"/>
                  <a:gd name="T17" fmla="*/ 24 h 61"/>
                  <a:gd name="T18" fmla="*/ 5 w 85"/>
                  <a:gd name="T19" fmla="*/ 24 h 61"/>
                  <a:gd name="T20" fmla="*/ 0 w 85"/>
                  <a:gd name="T21" fmla="*/ 29 h 61"/>
                  <a:gd name="T22" fmla="*/ 0 w 85"/>
                  <a:gd name="T23" fmla="*/ 56 h 61"/>
                  <a:gd name="T24" fmla="*/ 5 w 85"/>
                  <a:gd name="T25" fmla="*/ 61 h 61"/>
                  <a:gd name="T26" fmla="*/ 11 w 85"/>
                  <a:gd name="T27" fmla="*/ 61 h 61"/>
                  <a:gd name="T28" fmla="*/ 11 w 85"/>
                  <a:gd name="T29" fmla="*/ 53 h 61"/>
                  <a:gd name="T30" fmla="*/ 11 w 85"/>
                  <a:gd name="T31" fmla="*/ 48 h 61"/>
                  <a:gd name="T32" fmla="*/ 16 w 85"/>
                  <a:gd name="T33" fmla="*/ 48 h 61"/>
                  <a:gd name="T34" fmla="*/ 19 w 85"/>
                  <a:gd name="T35" fmla="*/ 48 h 61"/>
                  <a:gd name="T36" fmla="*/ 67 w 85"/>
                  <a:gd name="T37" fmla="*/ 48 h 61"/>
                  <a:gd name="T38" fmla="*/ 69 w 85"/>
                  <a:gd name="T39" fmla="*/ 48 h 61"/>
                  <a:gd name="T40" fmla="*/ 75 w 85"/>
                  <a:gd name="T41" fmla="*/ 48 h 61"/>
                  <a:gd name="T42" fmla="*/ 75 w 85"/>
                  <a:gd name="T43" fmla="*/ 52 h 61"/>
                  <a:gd name="T44" fmla="*/ 75 w 85"/>
                  <a:gd name="T45" fmla="*/ 61 h 61"/>
                  <a:gd name="T46" fmla="*/ 80 w 85"/>
                  <a:gd name="T47" fmla="*/ 61 h 61"/>
                  <a:gd name="T48" fmla="*/ 85 w 85"/>
                  <a:gd name="T49" fmla="*/ 56 h 61"/>
                  <a:gd name="T50" fmla="*/ 85 w 85"/>
                  <a:gd name="T51" fmla="*/ 29 h 61"/>
                  <a:gd name="T52" fmla="*/ 80 w 85"/>
                  <a:gd name="T53" fmla="*/ 24 h 61"/>
                  <a:gd name="T54" fmla="*/ 65 w 85"/>
                  <a:gd name="T55" fmla="*/ 24 h 61"/>
                  <a:gd name="T56" fmla="*/ 20 w 85"/>
                  <a:gd name="T57" fmla="*/ 24 h 61"/>
                  <a:gd name="T58" fmla="*/ 20 w 85"/>
                  <a:gd name="T59" fmla="*/ 4 h 61"/>
                  <a:gd name="T60" fmla="*/ 65 w 85"/>
                  <a:gd name="T61" fmla="*/ 4 h 61"/>
                  <a:gd name="T62" fmla="*/ 65 w 85"/>
                  <a:gd name="T63" fmla="*/ 24 h 61"/>
                  <a:gd name="T64" fmla="*/ 77 w 85"/>
                  <a:gd name="T65" fmla="*/ 35 h 61"/>
                  <a:gd name="T66" fmla="*/ 75 w 85"/>
                  <a:gd name="T67" fmla="*/ 32 h 61"/>
                  <a:gd name="T68" fmla="*/ 77 w 85"/>
                  <a:gd name="T69" fmla="*/ 30 h 61"/>
                  <a:gd name="T70" fmla="*/ 80 w 85"/>
                  <a:gd name="T71" fmla="*/ 32 h 61"/>
                  <a:gd name="T72" fmla="*/ 77 w 85"/>
                  <a:gd name="T73" fmla="*/ 3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 h="61">
                    <a:moveTo>
                      <a:pt x="80" y="24"/>
                    </a:moveTo>
                    <a:cubicBezTo>
                      <a:pt x="69" y="24"/>
                      <a:pt x="69" y="24"/>
                      <a:pt x="69" y="24"/>
                    </a:cubicBezTo>
                    <a:cubicBezTo>
                      <a:pt x="69" y="5"/>
                      <a:pt x="69" y="5"/>
                      <a:pt x="69" y="5"/>
                    </a:cubicBezTo>
                    <a:cubicBezTo>
                      <a:pt x="69" y="0"/>
                      <a:pt x="69" y="0"/>
                      <a:pt x="69" y="0"/>
                    </a:cubicBezTo>
                    <a:cubicBezTo>
                      <a:pt x="64" y="0"/>
                      <a:pt x="64" y="0"/>
                      <a:pt x="64" y="0"/>
                    </a:cubicBezTo>
                    <a:cubicBezTo>
                      <a:pt x="21" y="0"/>
                      <a:pt x="21" y="0"/>
                      <a:pt x="21" y="0"/>
                    </a:cubicBezTo>
                    <a:cubicBezTo>
                      <a:pt x="16" y="0"/>
                      <a:pt x="16" y="0"/>
                      <a:pt x="16" y="0"/>
                    </a:cubicBezTo>
                    <a:cubicBezTo>
                      <a:pt x="16" y="5"/>
                      <a:pt x="16" y="5"/>
                      <a:pt x="16" y="5"/>
                    </a:cubicBezTo>
                    <a:cubicBezTo>
                      <a:pt x="16" y="24"/>
                      <a:pt x="16" y="24"/>
                      <a:pt x="16" y="24"/>
                    </a:cubicBezTo>
                    <a:cubicBezTo>
                      <a:pt x="5" y="24"/>
                      <a:pt x="5" y="24"/>
                      <a:pt x="5" y="24"/>
                    </a:cubicBezTo>
                    <a:cubicBezTo>
                      <a:pt x="2" y="24"/>
                      <a:pt x="0" y="26"/>
                      <a:pt x="0" y="29"/>
                    </a:cubicBezTo>
                    <a:cubicBezTo>
                      <a:pt x="0" y="56"/>
                      <a:pt x="0" y="56"/>
                      <a:pt x="0" y="56"/>
                    </a:cubicBezTo>
                    <a:cubicBezTo>
                      <a:pt x="0" y="59"/>
                      <a:pt x="2" y="61"/>
                      <a:pt x="5" y="61"/>
                    </a:cubicBezTo>
                    <a:cubicBezTo>
                      <a:pt x="11" y="61"/>
                      <a:pt x="11" y="61"/>
                      <a:pt x="11" y="61"/>
                    </a:cubicBezTo>
                    <a:cubicBezTo>
                      <a:pt x="11" y="53"/>
                      <a:pt x="11" y="53"/>
                      <a:pt x="11" y="53"/>
                    </a:cubicBezTo>
                    <a:cubicBezTo>
                      <a:pt x="11" y="48"/>
                      <a:pt x="11" y="48"/>
                      <a:pt x="11" y="48"/>
                    </a:cubicBezTo>
                    <a:cubicBezTo>
                      <a:pt x="16" y="48"/>
                      <a:pt x="16" y="48"/>
                      <a:pt x="16" y="48"/>
                    </a:cubicBezTo>
                    <a:cubicBezTo>
                      <a:pt x="19" y="48"/>
                      <a:pt x="19" y="48"/>
                      <a:pt x="19" y="48"/>
                    </a:cubicBezTo>
                    <a:cubicBezTo>
                      <a:pt x="67" y="48"/>
                      <a:pt x="67" y="48"/>
                      <a:pt x="67" y="48"/>
                    </a:cubicBezTo>
                    <a:cubicBezTo>
                      <a:pt x="69" y="48"/>
                      <a:pt x="69" y="48"/>
                      <a:pt x="69" y="48"/>
                    </a:cubicBezTo>
                    <a:cubicBezTo>
                      <a:pt x="75" y="48"/>
                      <a:pt x="75" y="48"/>
                      <a:pt x="75" y="48"/>
                    </a:cubicBezTo>
                    <a:cubicBezTo>
                      <a:pt x="75" y="52"/>
                      <a:pt x="75" y="52"/>
                      <a:pt x="75" y="52"/>
                    </a:cubicBezTo>
                    <a:cubicBezTo>
                      <a:pt x="75" y="61"/>
                      <a:pt x="75" y="61"/>
                      <a:pt x="75" y="61"/>
                    </a:cubicBezTo>
                    <a:cubicBezTo>
                      <a:pt x="80" y="61"/>
                      <a:pt x="80" y="61"/>
                      <a:pt x="80" y="61"/>
                    </a:cubicBezTo>
                    <a:cubicBezTo>
                      <a:pt x="83" y="61"/>
                      <a:pt x="85" y="59"/>
                      <a:pt x="85" y="56"/>
                    </a:cubicBezTo>
                    <a:cubicBezTo>
                      <a:pt x="85" y="29"/>
                      <a:pt x="85" y="29"/>
                      <a:pt x="85" y="29"/>
                    </a:cubicBezTo>
                    <a:cubicBezTo>
                      <a:pt x="85" y="26"/>
                      <a:pt x="83" y="24"/>
                      <a:pt x="80" y="24"/>
                    </a:cubicBezTo>
                    <a:close/>
                    <a:moveTo>
                      <a:pt x="65" y="24"/>
                    </a:moveTo>
                    <a:cubicBezTo>
                      <a:pt x="20" y="24"/>
                      <a:pt x="20" y="24"/>
                      <a:pt x="20" y="24"/>
                    </a:cubicBezTo>
                    <a:cubicBezTo>
                      <a:pt x="20" y="4"/>
                      <a:pt x="20" y="4"/>
                      <a:pt x="20" y="4"/>
                    </a:cubicBezTo>
                    <a:cubicBezTo>
                      <a:pt x="65" y="4"/>
                      <a:pt x="65" y="4"/>
                      <a:pt x="65" y="4"/>
                    </a:cubicBezTo>
                    <a:lnTo>
                      <a:pt x="65" y="24"/>
                    </a:lnTo>
                    <a:close/>
                    <a:moveTo>
                      <a:pt x="77" y="35"/>
                    </a:moveTo>
                    <a:cubicBezTo>
                      <a:pt x="76" y="35"/>
                      <a:pt x="75" y="34"/>
                      <a:pt x="75" y="32"/>
                    </a:cubicBezTo>
                    <a:cubicBezTo>
                      <a:pt x="75" y="31"/>
                      <a:pt x="76" y="30"/>
                      <a:pt x="77" y="30"/>
                    </a:cubicBezTo>
                    <a:cubicBezTo>
                      <a:pt x="79" y="30"/>
                      <a:pt x="80" y="31"/>
                      <a:pt x="80" y="32"/>
                    </a:cubicBezTo>
                    <a:cubicBezTo>
                      <a:pt x="80" y="34"/>
                      <a:pt x="79" y="35"/>
                      <a:pt x="77" y="3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155">
                <a:extLst>
                  <a:ext uri="{FF2B5EF4-FFF2-40B4-BE49-F238E27FC236}">
                    <a16:creationId xmlns:a16="http://schemas.microsoft.com/office/drawing/2014/main" id="{08EED6D9-F6AE-490E-AD95-C303D074EA6E}"/>
                  </a:ext>
                </a:extLst>
              </p:cNvPr>
              <p:cNvSpPr>
                <a:spLocks noEditPoints="1"/>
              </p:cNvSpPr>
              <p:nvPr/>
            </p:nvSpPr>
            <p:spPr bwMode="auto">
              <a:xfrm>
                <a:off x="8020050" y="5224463"/>
                <a:ext cx="361950" cy="219075"/>
              </a:xfrm>
              <a:custGeom>
                <a:avLst/>
                <a:gdLst>
                  <a:gd name="T0" fmla="*/ 13 w 228"/>
                  <a:gd name="T1" fmla="*/ 0 h 138"/>
                  <a:gd name="T2" fmla="*/ 0 w 228"/>
                  <a:gd name="T3" fmla="*/ 0 h 138"/>
                  <a:gd name="T4" fmla="*/ 0 w 228"/>
                  <a:gd name="T5" fmla="*/ 43 h 138"/>
                  <a:gd name="T6" fmla="*/ 0 w 228"/>
                  <a:gd name="T7" fmla="*/ 138 h 138"/>
                  <a:gd name="T8" fmla="*/ 228 w 228"/>
                  <a:gd name="T9" fmla="*/ 138 h 138"/>
                  <a:gd name="T10" fmla="*/ 228 w 228"/>
                  <a:gd name="T11" fmla="*/ 43 h 138"/>
                  <a:gd name="T12" fmla="*/ 228 w 228"/>
                  <a:gd name="T13" fmla="*/ 4 h 138"/>
                  <a:gd name="T14" fmla="*/ 228 w 228"/>
                  <a:gd name="T15" fmla="*/ 0 h 138"/>
                  <a:gd name="T16" fmla="*/ 219 w 228"/>
                  <a:gd name="T17" fmla="*/ 0 h 138"/>
                  <a:gd name="T18" fmla="*/ 13 w 228"/>
                  <a:gd name="T19" fmla="*/ 0 h 138"/>
                  <a:gd name="T20" fmla="*/ 194 w 228"/>
                  <a:gd name="T21" fmla="*/ 112 h 138"/>
                  <a:gd name="T22" fmla="*/ 30 w 228"/>
                  <a:gd name="T23" fmla="*/ 112 h 138"/>
                  <a:gd name="T24" fmla="*/ 30 w 228"/>
                  <a:gd name="T25" fmla="*/ 99 h 138"/>
                  <a:gd name="T26" fmla="*/ 194 w 228"/>
                  <a:gd name="T27" fmla="*/ 99 h 138"/>
                  <a:gd name="T28" fmla="*/ 194 w 228"/>
                  <a:gd name="T29" fmla="*/ 112 h 138"/>
                  <a:gd name="T30" fmla="*/ 194 w 228"/>
                  <a:gd name="T31" fmla="*/ 77 h 138"/>
                  <a:gd name="T32" fmla="*/ 30 w 228"/>
                  <a:gd name="T33" fmla="*/ 77 h 138"/>
                  <a:gd name="T34" fmla="*/ 30 w 228"/>
                  <a:gd name="T35" fmla="*/ 64 h 138"/>
                  <a:gd name="T36" fmla="*/ 194 w 228"/>
                  <a:gd name="T37" fmla="*/ 64 h 138"/>
                  <a:gd name="T38" fmla="*/ 194 w 228"/>
                  <a:gd name="T39" fmla="*/ 77 h 138"/>
                  <a:gd name="T40" fmla="*/ 194 w 228"/>
                  <a:gd name="T41" fmla="*/ 43 h 138"/>
                  <a:gd name="T42" fmla="*/ 30 w 228"/>
                  <a:gd name="T43" fmla="*/ 43 h 138"/>
                  <a:gd name="T44" fmla="*/ 30 w 228"/>
                  <a:gd name="T45" fmla="*/ 30 h 138"/>
                  <a:gd name="T46" fmla="*/ 194 w 228"/>
                  <a:gd name="T47" fmla="*/ 30 h 138"/>
                  <a:gd name="T48" fmla="*/ 194 w 228"/>
                  <a:gd name="T49" fmla="*/ 4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8" h="138">
                    <a:moveTo>
                      <a:pt x="13" y="0"/>
                    </a:moveTo>
                    <a:lnTo>
                      <a:pt x="0" y="0"/>
                    </a:lnTo>
                    <a:lnTo>
                      <a:pt x="0" y="43"/>
                    </a:lnTo>
                    <a:lnTo>
                      <a:pt x="0" y="138"/>
                    </a:lnTo>
                    <a:lnTo>
                      <a:pt x="228" y="138"/>
                    </a:lnTo>
                    <a:lnTo>
                      <a:pt x="228" y="43"/>
                    </a:lnTo>
                    <a:lnTo>
                      <a:pt x="228" y="4"/>
                    </a:lnTo>
                    <a:lnTo>
                      <a:pt x="228" y="0"/>
                    </a:lnTo>
                    <a:lnTo>
                      <a:pt x="219" y="0"/>
                    </a:lnTo>
                    <a:lnTo>
                      <a:pt x="13" y="0"/>
                    </a:lnTo>
                    <a:close/>
                    <a:moveTo>
                      <a:pt x="194" y="112"/>
                    </a:moveTo>
                    <a:lnTo>
                      <a:pt x="30" y="112"/>
                    </a:lnTo>
                    <a:lnTo>
                      <a:pt x="30" y="99"/>
                    </a:lnTo>
                    <a:lnTo>
                      <a:pt x="194" y="99"/>
                    </a:lnTo>
                    <a:lnTo>
                      <a:pt x="194" y="112"/>
                    </a:lnTo>
                    <a:close/>
                    <a:moveTo>
                      <a:pt x="194" y="77"/>
                    </a:moveTo>
                    <a:lnTo>
                      <a:pt x="30" y="77"/>
                    </a:lnTo>
                    <a:lnTo>
                      <a:pt x="30" y="64"/>
                    </a:lnTo>
                    <a:lnTo>
                      <a:pt x="194" y="64"/>
                    </a:lnTo>
                    <a:lnTo>
                      <a:pt x="194" y="77"/>
                    </a:lnTo>
                    <a:close/>
                    <a:moveTo>
                      <a:pt x="194" y="43"/>
                    </a:moveTo>
                    <a:lnTo>
                      <a:pt x="30" y="43"/>
                    </a:lnTo>
                    <a:lnTo>
                      <a:pt x="30" y="30"/>
                    </a:lnTo>
                    <a:lnTo>
                      <a:pt x="194" y="30"/>
                    </a:lnTo>
                    <a:lnTo>
                      <a:pt x="194" y="4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sp>
        <p:nvSpPr>
          <p:cNvPr id="39" name="TextBox 38">
            <a:extLst>
              <a:ext uri="{FF2B5EF4-FFF2-40B4-BE49-F238E27FC236}">
                <a16:creationId xmlns:a16="http://schemas.microsoft.com/office/drawing/2014/main" id="{1C7A84C2-3CDC-4388-8349-DF5945270581}"/>
              </a:ext>
            </a:extLst>
          </p:cNvPr>
          <p:cNvSpPr txBox="1"/>
          <p:nvPr/>
        </p:nvSpPr>
        <p:spPr>
          <a:xfrm>
            <a:off x="6938286" y="3789657"/>
            <a:ext cx="1819175" cy="677108"/>
          </a:xfrm>
          <a:prstGeom prst="rect">
            <a:avLst/>
          </a:prstGeom>
          <a:noFill/>
        </p:spPr>
        <p:txBody>
          <a:bodyPr wrap="square" rtlCol="0">
            <a:spAutoFit/>
          </a:bodyPr>
          <a:lstStyle/>
          <a:p>
            <a:pPr marL="6350"/>
            <a:r>
              <a:rPr lang="en-US" sz="2400" b="1" dirty="0">
                <a:solidFill>
                  <a:schemeClr val="accent4"/>
                </a:solidFill>
              </a:rPr>
              <a:t>44% </a:t>
            </a:r>
          </a:p>
          <a:p>
            <a:pPr marL="6350"/>
            <a:r>
              <a:rPr lang="en-US" sz="1400" dirty="0">
                <a:solidFill>
                  <a:schemeClr val="bg1"/>
                </a:solidFill>
              </a:rPr>
              <a:t>supporting copy</a:t>
            </a:r>
          </a:p>
        </p:txBody>
      </p:sp>
      <p:sp>
        <p:nvSpPr>
          <p:cNvPr id="40" name="Content Placeholder 14">
            <a:extLst>
              <a:ext uri="{FF2B5EF4-FFF2-40B4-BE49-F238E27FC236}">
                <a16:creationId xmlns:a16="http://schemas.microsoft.com/office/drawing/2014/main" id="{6FA4058B-B47A-4CC4-B812-7ED16CF7542B}"/>
              </a:ext>
            </a:extLst>
          </p:cNvPr>
          <p:cNvSpPr txBox="1">
            <a:spLocks/>
          </p:cNvSpPr>
          <p:nvPr/>
        </p:nvSpPr>
        <p:spPr>
          <a:xfrm>
            <a:off x="301752" y="5221995"/>
            <a:ext cx="5382952" cy="1062049"/>
          </a:xfrm>
          <a:prstGeom prst="rect">
            <a:avLst/>
          </a:prstGeom>
        </p:spPr>
        <p:txBody>
          <a:bodyPr/>
          <a:lst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rgbClr val="C67D30"/>
              </a:buClr>
              <a:buFont typeface="Wingdings" charset="2"/>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rgbClr val="C67D30"/>
              </a:buClr>
              <a:buFont typeface="Wingdings" charset="2"/>
              <a:buChar char="§"/>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rgbClr val="C67D30"/>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rgbClr val="C67D30"/>
              </a:buClr>
              <a:buFont typeface="Wingdings" charset="2"/>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000" i="1" dirty="0"/>
              <a:t>Source: UPS Pulse of the Online Shopper™ 2016 survey.</a:t>
            </a:r>
          </a:p>
          <a:p>
            <a:r>
              <a:rPr lang="en-US" sz="1000" i="1" dirty="0"/>
              <a:t>For the fifth year, UPS developed this study with comScore, Inc. Input was collected from 5,330 qualified comScore panelists in January and February, 2016. Shoppers had to have made at least two online purchases in a typical three-month period. To get the full white paper, go to </a:t>
            </a:r>
            <a:r>
              <a:rPr lang="en-US" sz="1000" i="1" dirty="0">
                <a:hlinkClick r:id="rId5">
                  <a:extLst>
                    <a:ext uri="{A12FA001-AC4F-418D-AE19-62706E023703}">
                      <ahyp:hlinkClr xmlns:ahyp="http://schemas.microsoft.com/office/drawing/2018/hyperlinkcolor" val="tx"/>
                    </a:ext>
                  </a:extLst>
                </a:hlinkClick>
              </a:rPr>
              <a:t>ups.com/insideretail</a:t>
            </a:r>
            <a:r>
              <a:rPr lang="en-US" sz="1000" i="1" dirty="0"/>
              <a:t>.</a:t>
            </a:r>
          </a:p>
        </p:txBody>
      </p:sp>
      <p:sp>
        <p:nvSpPr>
          <p:cNvPr id="41" name="Text Placeholder 3">
            <a:extLst>
              <a:ext uri="{FF2B5EF4-FFF2-40B4-BE49-F238E27FC236}">
                <a16:creationId xmlns:a16="http://schemas.microsoft.com/office/drawing/2014/main" id="{69BDDE69-BC8C-4688-A919-24504D48030E}"/>
              </a:ext>
            </a:extLst>
          </p:cNvPr>
          <p:cNvSpPr txBox="1">
            <a:spLocks/>
          </p:cNvSpPr>
          <p:nvPr/>
        </p:nvSpPr>
        <p:spPr>
          <a:xfrm>
            <a:off x="412813" y="2957070"/>
            <a:ext cx="4642304" cy="1452589"/>
          </a:xfrm>
          <a:prstGeom prst="rect">
            <a:avLst/>
          </a:prstGeom>
        </p:spPr>
        <p:txBody>
          <a:bodyPr vert="horz" lIns="0" tIns="0" rIns="0" bIns="0" rtlCol="0">
            <a:noAutofit/>
          </a:bodyPr>
          <a:lst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r>
              <a:rPr lang="en-US" sz="1400" dirty="0"/>
              <a:t>You can use monochromatic secondary colors for graphs, charts and tables for a more impactful look</a:t>
            </a:r>
          </a:p>
        </p:txBody>
      </p:sp>
    </p:spTree>
    <p:extLst>
      <p:ext uri="{BB962C8B-B14F-4D97-AF65-F5344CB8AC3E}">
        <p14:creationId xmlns:p14="http://schemas.microsoft.com/office/powerpoint/2010/main" val="1698173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48</a:t>
            </a:fld>
            <a:endParaRPr lang="en-IN" dirty="0">
              <a:solidFill>
                <a:srgbClr val="8C8585"/>
              </a:solidFill>
            </a:endParaRPr>
          </a:p>
        </p:txBody>
      </p:sp>
      <p:sp>
        <p:nvSpPr>
          <p:cNvPr id="6" name="Title 1">
            <a:extLst>
              <a:ext uri="{FF2B5EF4-FFF2-40B4-BE49-F238E27FC236}">
                <a16:creationId xmlns:a16="http://schemas.microsoft.com/office/drawing/2014/main" id="{5C10FB04-7995-47D9-8D25-3D117E00FC35}"/>
              </a:ext>
            </a:extLst>
          </p:cNvPr>
          <p:cNvSpPr>
            <a:spLocks noGrp="1"/>
          </p:cNvSpPr>
          <p:nvPr>
            <p:ph type="title"/>
          </p:nvPr>
        </p:nvSpPr>
        <p:spPr/>
        <p:txBody>
          <a:bodyPr vert="horz"/>
          <a:lstStyle/>
          <a:p>
            <a:r>
              <a:rPr lang="en-IN" dirty="0"/>
              <a:t>SAMPLE TABLES CREATED USING THE TABLE FUNCTION</a:t>
            </a:r>
            <a:endParaRPr lang="en-US" dirty="0"/>
          </a:p>
        </p:txBody>
      </p:sp>
      <p:sp>
        <p:nvSpPr>
          <p:cNvPr id="13" name="Text Placeholder 12">
            <a:extLst>
              <a:ext uri="{FF2B5EF4-FFF2-40B4-BE49-F238E27FC236}">
                <a16:creationId xmlns:a16="http://schemas.microsoft.com/office/drawing/2014/main" id="{DC9A70B3-075E-47B2-87EA-FD8EA2AA8A82}"/>
              </a:ext>
            </a:extLst>
          </p:cNvPr>
          <p:cNvSpPr>
            <a:spLocks noGrp="1"/>
          </p:cNvSpPr>
          <p:nvPr>
            <p:ph type="body" sz="quarter" idx="13"/>
          </p:nvPr>
        </p:nvSpPr>
        <p:spPr/>
        <p:txBody>
          <a:bodyPr/>
          <a:lstStyle/>
          <a:p>
            <a:endParaRPr lang="en-US" dirty="0"/>
          </a:p>
        </p:txBody>
      </p:sp>
      <p:graphicFrame>
        <p:nvGraphicFramePr>
          <p:cNvPr id="8" name="Table 7">
            <a:extLst>
              <a:ext uri="{FF2B5EF4-FFF2-40B4-BE49-F238E27FC236}">
                <a16:creationId xmlns:a16="http://schemas.microsoft.com/office/drawing/2014/main" id="{DD5FDBC2-E0B4-4974-9CF5-40E1CF63AA8B}"/>
              </a:ext>
            </a:extLst>
          </p:cNvPr>
          <p:cNvGraphicFramePr>
            <a:graphicFrameLocks noGrp="1"/>
          </p:cNvGraphicFramePr>
          <p:nvPr/>
        </p:nvGraphicFramePr>
        <p:xfrm>
          <a:off x="1954054" y="1447800"/>
          <a:ext cx="3613449" cy="1424889"/>
        </p:xfrm>
        <a:graphic>
          <a:graphicData uri="http://schemas.openxmlformats.org/drawingml/2006/table">
            <a:tbl>
              <a:tblPr firstRow="1" bandRow="1"/>
              <a:tblGrid>
                <a:gridCol w="1943587">
                  <a:extLst>
                    <a:ext uri="{9D8B030D-6E8A-4147-A177-3AD203B41FA5}">
                      <a16:colId xmlns:a16="http://schemas.microsoft.com/office/drawing/2014/main" val="20000"/>
                    </a:ext>
                  </a:extLst>
                </a:gridCol>
                <a:gridCol w="874207">
                  <a:extLst>
                    <a:ext uri="{9D8B030D-6E8A-4147-A177-3AD203B41FA5}">
                      <a16:colId xmlns:a16="http://schemas.microsoft.com/office/drawing/2014/main" val="20001"/>
                    </a:ext>
                  </a:extLst>
                </a:gridCol>
                <a:gridCol w="795655">
                  <a:extLst>
                    <a:ext uri="{9D8B030D-6E8A-4147-A177-3AD203B41FA5}">
                      <a16:colId xmlns:a16="http://schemas.microsoft.com/office/drawing/2014/main" val="20002"/>
                    </a:ext>
                  </a:extLst>
                </a:gridCol>
              </a:tblGrid>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Consolidated</a:t>
                      </a:r>
                    </a:p>
                  </a:txBody>
                  <a:tcPr anchor="ctr">
                    <a:lnL w="12700" cmpd="sng">
                      <a:noFill/>
                      <a:prstDash val="soli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1"/>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Amount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1"/>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spcBef>
                          <a:spcPct val="0"/>
                        </a:spcBef>
                        <a:spcAft>
                          <a:spcPct val="50000"/>
                        </a:spcAft>
                        <a:defRPr/>
                      </a:pPr>
                      <a:r>
                        <a:rPr lang="en-US" altLang="en-US" sz="1000" b="0" dirty="0">
                          <a:solidFill>
                            <a:schemeClr val="tx2"/>
                          </a:solidFill>
                        </a:rPr>
                        <a:t>12,520</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39.8%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10,325</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37.8%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Unspecified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1,262</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r">
                        <a:spcBef>
                          <a:spcPct val="0"/>
                        </a:spcBef>
                        <a:spcAft>
                          <a:spcPct val="50000"/>
                        </a:spcAft>
                        <a:defRPr/>
                      </a:pPr>
                      <a:r>
                        <a:rPr lang="en-US" altLang="en-US" sz="1000" b="0" dirty="0">
                          <a:solidFill>
                            <a:schemeClr val="tx2"/>
                          </a:solidFill>
                        </a:rPr>
                        <a:t>5.4%</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Total Revenue</a:t>
                      </a:r>
                    </a:p>
                  </a:txBody>
                  <a:tcPr anchor="ctr">
                    <a:lnL w="12700" cmpd="sng">
                      <a:noFill/>
                      <a:prstDash val="soli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23,366</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000" b="1" dirty="0">
                          <a:solidFill>
                            <a:schemeClr val="tx2"/>
                          </a:solidFill>
                        </a:rPr>
                        <a:t>100.0%</a:t>
                      </a:r>
                    </a:p>
                  </a:txBody>
                  <a:tcPr anchor="ctr">
                    <a:lnL w="6350" cap="flat" cmpd="sng" algn="ctr">
                      <a:solidFill>
                        <a:schemeClr val="tx2"/>
                      </a:solidFill>
                      <a:prstDash val="solid"/>
                      <a:round/>
                      <a:headEnd type="none" w="med" len="med"/>
                      <a:tailEnd type="none" w="med" len="med"/>
                    </a:lnL>
                    <a:lnR w="12700" cmpd="sng">
                      <a:noFill/>
                      <a:prstDash val="soli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752D685D-0269-410B-868D-BC82F2B45EEB}"/>
              </a:ext>
            </a:extLst>
          </p:cNvPr>
          <p:cNvGraphicFramePr>
            <a:graphicFrameLocks noGrp="1"/>
          </p:cNvGraphicFramePr>
          <p:nvPr/>
        </p:nvGraphicFramePr>
        <p:xfrm>
          <a:off x="1954054" y="3336890"/>
          <a:ext cx="3614736" cy="1424889"/>
        </p:xfrm>
        <a:graphic>
          <a:graphicData uri="http://schemas.openxmlformats.org/drawingml/2006/table">
            <a:tbl>
              <a:tblPr firstRow="1" bandRow="1"/>
              <a:tblGrid>
                <a:gridCol w="1943587">
                  <a:extLst>
                    <a:ext uri="{9D8B030D-6E8A-4147-A177-3AD203B41FA5}">
                      <a16:colId xmlns:a16="http://schemas.microsoft.com/office/drawing/2014/main" val="20000"/>
                    </a:ext>
                  </a:extLst>
                </a:gridCol>
                <a:gridCol w="874207">
                  <a:extLst>
                    <a:ext uri="{9D8B030D-6E8A-4147-A177-3AD203B41FA5}">
                      <a16:colId xmlns:a16="http://schemas.microsoft.com/office/drawing/2014/main" val="20001"/>
                    </a:ext>
                  </a:extLst>
                </a:gridCol>
                <a:gridCol w="796942">
                  <a:extLst>
                    <a:ext uri="{9D8B030D-6E8A-4147-A177-3AD203B41FA5}">
                      <a16:colId xmlns:a16="http://schemas.microsoft.com/office/drawing/2014/main" val="20002"/>
                    </a:ext>
                  </a:extLst>
                </a:gridCol>
              </a:tblGrid>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London</a:t>
                      </a:r>
                    </a:p>
                  </a:txBody>
                  <a:tcPr anchor="ctr">
                    <a:lnL w="12700" cmpd="sng">
                      <a:noFill/>
                      <a:prstDash val="soli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1"/>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Amount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1"/>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spcBef>
                          <a:spcPct val="0"/>
                        </a:spcBef>
                        <a:spcAft>
                          <a:spcPct val="50000"/>
                        </a:spcAft>
                        <a:defRPr/>
                      </a:pPr>
                      <a:r>
                        <a:rPr lang="en-US" altLang="en-US" sz="1000" b="0" dirty="0">
                          <a:solidFill>
                            <a:schemeClr val="tx2"/>
                          </a:solidFill>
                        </a:rPr>
                        <a:t>12,520</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39.8%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10,325</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37.8%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Unspecified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1,262</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r">
                        <a:spcBef>
                          <a:spcPct val="0"/>
                        </a:spcBef>
                        <a:spcAft>
                          <a:spcPct val="50000"/>
                        </a:spcAft>
                        <a:defRPr/>
                      </a:pPr>
                      <a:r>
                        <a:rPr lang="en-US" altLang="en-US" sz="1000" b="0" dirty="0">
                          <a:solidFill>
                            <a:schemeClr val="tx2"/>
                          </a:solidFill>
                        </a:rPr>
                        <a:t>5.4%</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Total Revenue</a:t>
                      </a:r>
                    </a:p>
                  </a:txBody>
                  <a:tcPr anchor="ctr">
                    <a:lnL w="12700" cmpd="sng">
                      <a:noFill/>
                      <a:prstDash val="soli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23,366</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000" b="1" dirty="0">
                          <a:solidFill>
                            <a:schemeClr val="tx2"/>
                          </a:solidFill>
                        </a:rPr>
                        <a:t>100.0%</a:t>
                      </a:r>
                    </a:p>
                  </a:txBody>
                  <a:tcPr anchor="ctr">
                    <a:lnL w="6350" cap="flat" cmpd="sng" algn="ctr">
                      <a:solidFill>
                        <a:schemeClr val="tx2"/>
                      </a:solidFill>
                      <a:prstDash val="solid"/>
                      <a:round/>
                      <a:headEnd type="none" w="med" len="med"/>
                      <a:tailEnd type="none" w="med" len="med"/>
                    </a:lnL>
                    <a:lnR w="12700" cmpd="sng">
                      <a:noFill/>
                      <a:prstDash val="soli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AFBDD4CF-628E-4DCF-9863-EF047505462E}"/>
              </a:ext>
            </a:extLst>
          </p:cNvPr>
          <p:cNvGraphicFramePr>
            <a:graphicFrameLocks noGrp="1"/>
          </p:cNvGraphicFramePr>
          <p:nvPr/>
        </p:nvGraphicFramePr>
        <p:xfrm>
          <a:off x="6623211" y="1447800"/>
          <a:ext cx="3614736" cy="1424889"/>
        </p:xfrm>
        <a:graphic>
          <a:graphicData uri="http://schemas.openxmlformats.org/drawingml/2006/table">
            <a:tbl>
              <a:tblPr firstRow="1" bandRow="1"/>
              <a:tblGrid>
                <a:gridCol w="1943587">
                  <a:extLst>
                    <a:ext uri="{9D8B030D-6E8A-4147-A177-3AD203B41FA5}">
                      <a16:colId xmlns:a16="http://schemas.microsoft.com/office/drawing/2014/main" val="20000"/>
                    </a:ext>
                  </a:extLst>
                </a:gridCol>
                <a:gridCol w="874207">
                  <a:extLst>
                    <a:ext uri="{9D8B030D-6E8A-4147-A177-3AD203B41FA5}">
                      <a16:colId xmlns:a16="http://schemas.microsoft.com/office/drawing/2014/main" val="20001"/>
                    </a:ext>
                  </a:extLst>
                </a:gridCol>
                <a:gridCol w="796942">
                  <a:extLst>
                    <a:ext uri="{9D8B030D-6E8A-4147-A177-3AD203B41FA5}">
                      <a16:colId xmlns:a16="http://schemas.microsoft.com/office/drawing/2014/main" val="20002"/>
                    </a:ext>
                  </a:extLst>
                </a:gridCol>
              </a:tblGrid>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New York</a:t>
                      </a:r>
                    </a:p>
                  </a:txBody>
                  <a:tcPr anchor="ctr">
                    <a:lnL w="12700" cmpd="sng">
                      <a:noFill/>
                      <a:prstDash val="soli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4"/>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Amount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4"/>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spcBef>
                          <a:spcPct val="0"/>
                        </a:spcBef>
                        <a:spcAft>
                          <a:spcPct val="50000"/>
                        </a:spcAft>
                        <a:defRPr/>
                      </a:pPr>
                      <a:r>
                        <a:rPr lang="en-US" altLang="en-US" sz="1000" b="0" dirty="0">
                          <a:solidFill>
                            <a:schemeClr val="tx2"/>
                          </a:solidFill>
                        </a:rPr>
                        <a:t>12,520</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39.8%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10,325</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37.8%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Unspecified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1,262</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r">
                        <a:spcBef>
                          <a:spcPct val="0"/>
                        </a:spcBef>
                        <a:spcAft>
                          <a:spcPct val="50000"/>
                        </a:spcAft>
                        <a:defRPr/>
                      </a:pPr>
                      <a:r>
                        <a:rPr lang="en-US" altLang="en-US" sz="1000" b="0" dirty="0">
                          <a:solidFill>
                            <a:schemeClr val="tx2"/>
                          </a:solidFill>
                        </a:rPr>
                        <a:t>5.4%</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Total Revenue</a:t>
                      </a:r>
                    </a:p>
                  </a:txBody>
                  <a:tcPr anchor="ctr">
                    <a:lnL w="12700" cmpd="sng">
                      <a:noFill/>
                      <a:prstDash val="soli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23,366</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000" b="1" dirty="0">
                          <a:solidFill>
                            <a:schemeClr val="tx2"/>
                          </a:solidFill>
                        </a:rPr>
                        <a:t>100.0%</a:t>
                      </a:r>
                    </a:p>
                  </a:txBody>
                  <a:tcPr anchor="ctr">
                    <a:lnL w="6350" cap="flat" cmpd="sng" algn="ctr">
                      <a:solidFill>
                        <a:schemeClr val="tx2"/>
                      </a:solidFill>
                      <a:prstDash val="solid"/>
                      <a:round/>
                      <a:headEnd type="none" w="med" len="med"/>
                      <a:tailEnd type="none" w="med" len="med"/>
                    </a:lnL>
                    <a:lnR w="12700" cmpd="sng">
                      <a:noFill/>
                      <a:prstDash val="soli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A74FC943-DA98-4320-804D-1D84184B9A1D}"/>
              </a:ext>
            </a:extLst>
          </p:cNvPr>
          <p:cNvGraphicFramePr>
            <a:graphicFrameLocks noGrp="1"/>
          </p:cNvGraphicFramePr>
          <p:nvPr/>
        </p:nvGraphicFramePr>
        <p:xfrm>
          <a:off x="6623211" y="3336890"/>
          <a:ext cx="3614736" cy="1424889"/>
        </p:xfrm>
        <a:graphic>
          <a:graphicData uri="http://schemas.openxmlformats.org/drawingml/2006/table">
            <a:tbl>
              <a:tblPr firstRow="1" bandRow="1"/>
              <a:tblGrid>
                <a:gridCol w="1943587">
                  <a:extLst>
                    <a:ext uri="{9D8B030D-6E8A-4147-A177-3AD203B41FA5}">
                      <a16:colId xmlns:a16="http://schemas.microsoft.com/office/drawing/2014/main" val="20000"/>
                    </a:ext>
                  </a:extLst>
                </a:gridCol>
                <a:gridCol w="874207">
                  <a:extLst>
                    <a:ext uri="{9D8B030D-6E8A-4147-A177-3AD203B41FA5}">
                      <a16:colId xmlns:a16="http://schemas.microsoft.com/office/drawing/2014/main" val="20001"/>
                    </a:ext>
                  </a:extLst>
                </a:gridCol>
                <a:gridCol w="796942">
                  <a:extLst>
                    <a:ext uri="{9D8B030D-6E8A-4147-A177-3AD203B41FA5}">
                      <a16:colId xmlns:a16="http://schemas.microsoft.com/office/drawing/2014/main" val="20002"/>
                    </a:ext>
                  </a:extLst>
                </a:gridCol>
              </a:tblGrid>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Mexico</a:t>
                      </a:r>
                    </a:p>
                  </a:txBody>
                  <a:tcPr anchor="ctr">
                    <a:lnL w="12700" cmpd="sng">
                      <a:noFill/>
                      <a:prstDash val="soli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4"/>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Amount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solidFill>
                      <a:schemeClr val="accent4"/>
                    </a:solidFill>
                  </a:tcPr>
                </a:tc>
                <a:tc>
                  <a:txBody>
                    <a:bodyPr/>
                    <a:lstStyle/>
                    <a:p>
                      <a:pPr algn="ctr"/>
                      <a:r>
                        <a:rPr lang="en-US" alt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rPr>
                        <a:t>%</a:t>
                      </a:r>
                      <a:endParaRPr lang="en-US" sz="1050" b="1" dirty="0">
                        <a:solidFill>
                          <a:schemeClr val="bg1"/>
                        </a:solidFill>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algn="ctr">
                        <a:spcBef>
                          <a:spcPct val="0"/>
                        </a:spcBef>
                        <a:spcAft>
                          <a:spcPct val="50000"/>
                        </a:spcAft>
                        <a:defRPr/>
                      </a:pPr>
                      <a:r>
                        <a:rPr lang="en-US" altLang="en-US" sz="1000" b="0" dirty="0">
                          <a:solidFill>
                            <a:schemeClr val="tx2"/>
                          </a:solidFill>
                        </a:rPr>
                        <a:t>12,520</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39.8%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10,325</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marL="0" marR="0" indent="0" algn="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37.8%</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9863">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dirty="0">
                          <a:solidFill>
                            <a:schemeClr val="tx2"/>
                          </a:solidFill>
                        </a:rPr>
                        <a:t>Unspecified Uncommitted</a:t>
                      </a:r>
                      <a:endParaRPr lang="en-US" sz="1000" dirty="0">
                        <a:solidFill>
                          <a:schemeClr val="tx2"/>
                        </a:solidFill>
                      </a:endParaRPr>
                    </a:p>
                  </a:txBody>
                  <a:tcPr anchor="ctr">
                    <a:lnL w="12700" cmpd="sng">
                      <a:noFill/>
                      <a:prstDash val="soli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0" dirty="0">
                          <a:solidFill>
                            <a:schemeClr val="tx2"/>
                          </a:solidFill>
                        </a:rPr>
                        <a:t>1,262</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r">
                        <a:spcBef>
                          <a:spcPct val="0"/>
                        </a:spcBef>
                        <a:spcAft>
                          <a:spcPct val="50000"/>
                        </a:spcAft>
                        <a:defRPr/>
                      </a:pPr>
                      <a:r>
                        <a:rPr lang="en-US" altLang="en-US" sz="1000" b="0" dirty="0">
                          <a:solidFill>
                            <a:schemeClr val="tx2"/>
                          </a:solidFill>
                        </a:rPr>
                        <a:t>5.4%</a:t>
                      </a:r>
                    </a:p>
                  </a:txBody>
                  <a:tcPr anchor="ctr">
                    <a:lnL w="6350" cap="flat" cmpd="sng" algn="ctr">
                      <a:solidFill>
                        <a:schemeClr val="tx2"/>
                      </a:solidFill>
                      <a:prstDash val="solid"/>
                      <a:round/>
                      <a:headEnd type="none" w="med" len="med"/>
                      <a:tailEnd type="none" w="med" len="med"/>
                    </a:lnL>
                    <a:lnR w="12700" cmpd="sng">
                      <a:noFill/>
                      <a:prstDash val="solid"/>
                    </a:lnR>
                    <a:lnT w="12700" cmpd="sng">
                      <a:noFill/>
                      <a:prstDash val="solid"/>
                    </a:lnT>
                    <a:lnB w="19050" cap="flat" cmpd="sng" algn="ctr">
                      <a:solidFill>
                        <a:schemeClr val="bg2">
                          <a:lumMod val="7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90685">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Total Revenue</a:t>
                      </a:r>
                    </a:p>
                  </a:txBody>
                  <a:tcPr anchor="ctr">
                    <a:lnL w="12700" cmpd="sng">
                      <a:noFill/>
                      <a:prstDash val="soli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altLang="en-US" sz="1000" b="1" dirty="0">
                          <a:solidFill>
                            <a:schemeClr val="tx2"/>
                          </a:solidFill>
                        </a:rPr>
                        <a:t>23,366</a:t>
                      </a:r>
                    </a:p>
                  </a:txBody>
                  <a:tcPr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000" b="1" dirty="0">
                          <a:solidFill>
                            <a:schemeClr val="tx2"/>
                          </a:solidFill>
                        </a:rPr>
                        <a:t>100.0%</a:t>
                      </a:r>
                    </a:p>
                  </a:txBody>
                  <a:tcPr anchor="ctr">
                    <a:lnL w="6350" cap="flat" cmpd="sng" algn="ctr">
                      <a:solidFill>
                        <a:schemeClr val="tx2"/>
                      </a:solidFill>
                      <a:prstDash val="solid"/>
                      <a:round/>
                      <a:headEnd type="none" w="med" len="med"/>
                      <a:tailEnd type="none" w="med" len="med"/>
                    </a:lnL>
                    <a:lnR w="12700" cmpd="sng">
                      <a:noFill/>
                      <a:prstDash val="soli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85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49</a:t>
            </a:fld>
            <a:endParaRPr lang="en-IN" dirty="0">
              <a:solidFill>
                <a:srgbClr val="8C8585"/>
              </a:solidFill>
            </a:endParaRPr>
          </a:p>
        </p:txBody>
      </p:sp>
      <p:sp>
        <p:nvSpPr>
          <p:cNvPr id="3" name="Title 2">
            <a:extLst>
              <a:ext uri="{FF2B5EF4-FFF2-40B4-BE49-F238E27FC236}">
                <a16:creationId xmlns:a16="http://schemas.microsoft.com/office/drawing/2014/main" id="{86E98CA4-67FA-446E-B77E-30AEDEDC7C3F}"/>
              </a:ext>
            </a:extLst>
          </p:cNvPr>
          <p:cNvSpPr>
            <a:spLocks noGrp="1"/>
          </p:cNvSpPr>
          <p:nvPr>
            <p:ph type="title"/>
          </p:nvPr>
        </p:nvSpPr>
        <p:spPr/>
        <p:txBody>
          <a:bodyPr/>
          <a:lstStyle/>
          <a:p>
            <a:r>
              <a:rPr lang="en-IN" dirty="0"/>
              <a:t>SAMPLE TABLES CREATED USING THE TABLE FUNCTION</a:t>
            </a:r>
            <a:endParaRPr lang="en-US" dirty="0"/>
          </a:p>
        </p:txBody>
      </p:sp>
      <p:sp>
        <p:nvSpPr>
          <p:cNvPr id="7" name="Text Placeholder 6">
            <a:extLst>
              <a:ext uri="{FF2B5EF4-FFF2-40B4-BE49-F238E27FC236}">
                <a16:creationId xmlns:a16="http://schemas.microsoft.com/office/drawing/2014/main" id="{2C93B64C-446D-4FCF-961E-3D7E170C66A2}"/>
              </a:ext>
            </a:extLst>
          </p:cNvPr>
          <p:cNvSpPr>
            <a:spLocks noGrp="1"/>
          </p:cNvSpPr>
          <p:nvPr>
            <p:ph type="body" sz="quarter" idx="13"/>
          </p:nvPr>
        </p:nvSpPr>
        <p:spPr/>
        <p:txBody>
          <a:bodyPr/>
          <a:lstStyle/>
          <a:p>
            <a:endParaRPr lang="en-US" dirty="0"/>
          </a:p>
        </p:txBody>
      </p:sp>
      <p:graphicFrame>
        <p:nvGraphicFramePr>
          <p:cNvPr id="6" name="Group 2">
            <a:extLst>
              <a:ext uri="{FF2B5EF4-FFF2-40B4-BE49-F238E27FC236}">
                <a16:creationId xmlns:a16="http://schemas.microsoft.com/office/drawing/2014/main" id="{7E356B24-5090-448C-95F7-2C5740960745}"/>
              </a:ext>
            </a:extLst>
          </p:cNvPr>
          <p:cNvGraphicFramePr>
            <a:graphicFrameLocks/>
          </p:cNvGraphicFramePr>
          <p:nvPr/>
        </p:nvGraphicFramePr>
        <p:xfrm>
          <a:off x="1798638" y="1447800"/>
          <a:ext cx="8594928" cy="3684589"/>
        </p:xfrm>
        <a:graphic>
          <a:graphicData uri="http://schemas.openxmlformats.org/drawingml/2006/table">
            <a:tbl>
              <a:tblPr/>
              <a:tblGrid>
                <a:gridCol w="1075016">
                  <a:extLst>
                    <a:ext uri="{9D8B030D-6E8A-4147-A177-3AD203B41FA5}">
                      <a16:colId xmlns:a16="http://schemas.microsoft.com/office/drawing/2014/main" val="20000"/>
                    </a:ext>
                  </a:extLst>
                </a:gridCol>
                <a:gridCol w="1073283">
                  <a:extLst>
                    <a:ext uri="{9D8B030D-6E8A-4147-A177-3AD203B41FA5}">
                      <a16:colId xmlns:a16="http://schemas.microsoft.com/office/drawing/2014/main" val="20001"/>
                    </a:ext>
                  </a:extLst>
                </a:gridCol>
                <a:gridCol w="1073282">
                  <a:extLst>
                    <a:ext uri="{9D8B030D-6E8A-4147-A177-3AD203B41FA5}">
                      <a16:colId xmlns:a16="http://schemas.microsoft.com/office/drawing/2014/main" val="20002"/>
                    </a:ext>
                  </a:extLst>
                </a:gridCol>
                <a:gridCol w="1073283">
                  <a:extLst>
                    <a:ext uri="{9D8B030D-6E8A-4147-A177-3AD203B41FA5}">
                      <a16:colId xmlns:a16="http://schemas.microsoft.com/office/drawing/2014/main" val="20003"/>
                    </a:ext>
                  </a:extLst>
                </a:gridCol>
                <a:gridCol w="1075016">
                  <a:extLst>
                    <a:ext uri="{9D8B030D-6E8A-4147-A177-3AD203B41FA5}">
                      <a16:colId xmlns:a16="http://schemas.microsoft.com/office/drawing/2014/main" val="20004"/>
                    </a:ext>
                  </a:extLst>
                </a:gridCol>
                <a:gridCol w="1075016">
                  <a:extLst>
                    <a:ext uri="{9D8B030D-6E8A-4147-A177-3AD203B41FA5}">
                      <a16:colId xmlns:a16="http://schemas.microsoft.com/office/drawing/2014/main" val="20005"/>
                    </a:ext>
                  </a:extLst>
                </a:gridCol>
                <a:gridCol w="1075016">
                  <a:extLst>
                    <a:ext uri="{9D8B030D-6E8A-4147-A177-3AD203B41FA5}">
                      <a16:colId xmlns:a16="http://schemas.microsoft.com/office/drawing/2014/main" val="20006"/>
                    </a:ext>
                  </a:extLst>
                </a:gridCol>
                <a:gridCol w="1075016">
                  <a:extLst>
                    <a:ext uri="{9D8B030D-6E8A-4147-A177-3AD203B41FA5}">
                      <a16:colId xmlns:a16="http://schemas.microsoft.com/office/drawing/2014/main" val="20007"/>
                    </a:ext>
                  </a:extLst>
                </a:gridCol>
              </a:tblGrid>
              <a:tr h="647700">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Row titles</a:t>
                      </a:r>
                    </a:p>
                  </a:txBody>
                  <a:tcPr marL="92258" marR="92258" anchor="b" horzOverflow="overflow">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1</a:t>
                      </a:r>
                    </a:p>
                  </a:txBody>
                  <a:tcPr marL="92258" marR="92258"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2</a:t>
                      </a:r>
                    </a:p>
                  </a:txBody>
                  <a:tcPr marL="92258" marR="92258"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3</a:t>
                      </a:r>
                    </a:p>
                  </a:txBody>
                  <a:tcPr marL="92258" marR="92258"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4</a:t>
                      </a:r>
                    </a:p>
                  </a:txBody>
                  <a:tcPr marL="92258" marR="92258"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5</a:t>
                      </a:r>
                    </a:p>
                  </a:txBody>
                  <a:tcPr marL="92258" marR="92258"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6</a:t>
                      </a:r>
                    </a:p>
                  </a:txBody>
                  <a:tcPr marL="92258" marR="92258"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7</a:t>
                      </a:r>
                    </a:p>
                  </a:txBody>
                  <a:tcPr marL="92258" marR="92258" anchor="b" horzOverflow="overflow">
                    <a:lnL w="1905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4"/>
                    </a:solidFill>
                  </a:tcPr>
                </a:tc>
                <a:extLst>
                  <a:ext uri="{0D108BD9-81ED-4DB2-BD59-A6C34878D82A}">
                    <a16:rowId xmlns:a16="http://schemas.microsoft.com/office/drawing/2014/main" val="10000"/>
                  </a:ext>
                </a:extLst>
              </a:tr>
              <a:tr h="373063">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1</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2</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defRPr/>
                      </a:pPr>
                      <a:r>
                        <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kern="1200"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3</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9413">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4</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5</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6</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kern="1200" cap="none" spc="0" normalizeH="0" baseline="0" noProof="0" dirty="0">
                          <a:ln>
                            <a:noFill/>
                          </a:ln>
                          <a:solidFill>
                            <a:srgbClr val="00857D"/>
                          </a:solidFill>
                          <a:effectLst/>
                          <a:uLnTx/>
                          <a:uFillTx/>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9413">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7</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8</a:t>
                      </a:r>
                    </a:p>
                  </a:txBody>
                  <a:tcPr marL="92258" marR="92258" anchor="ctr" horzOverflow="overflow">
                    <a:lnL w="19050" cap="flat" cmpd="sng" algn="ctr">
                      <a:no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solidFill>
                      <a:schemeClr val="bg1"/>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r>
                        <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sym typeface="Wingdings" panose="05000000000000000000" pitchFamily="2" charset="2"/>
                        </a:rPr>
                        <a:t></a:t>
                      </a: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ctr" defTabSz="914400" rtl="0" eaLnBrk="0" fontAlgn="base" latinLnBrk="0" hangingPunct="0">
                        <a:lnSpc>
                          <a:spcPct val="100000"/>
                        </a:lnSpc>
                        <a:spcBef>
                          <a:spcPct val="50000"/>
                        </a:spcBef>
                        <a:spcAft>
                          <a:spcPct val="0"/>
                        </a:spcAft>
                        <a:buClrTx/>
                        <a:buSzTx/>
                        <a:buFontTx/>
                        <a:buNone/>
                        <a:tabLst/>
                      </a:pPr>
                      <a:endParaRPr kumimoji="0" lang="en-US" altLang="en-US" sz="2000" b="0" i="0" u="none" strike="noStrike" cap="none" normalizeH="0" baseline="0" dirty="0">
                        <a:ln>
                          <a:noFill/>
                        </a:ln>
                        <a:solidFill>
                          <a:schemeClr val="accent5"/>
                        </a:solidFill>
                        <a:effectLst/>
                        <a:latin typeface="+mn-lt"/>
                        <a:ea typeface="Verdana" panose="020B0604030504040204" pitchFamily="34" charset="0"/>
                        <a:cs typeface="Verdana" panose="020B0604030504040204" pitchFamily="34" charset="0"/>
                      </a:endParaRPr>
                    </a:p>
                  </a:txBody>
                  <a:tcPr marL="92258" marR="92258" marT="0" marB="0" anchor="ctr" horzOverflow="overflow">
                    <a:lnL w="12700" cap="flat" cmpd="sng" algn="ctr">
                      <a:solidFill>
                        <a:schemeClr val="bg2">
                          <a:lumMod val="7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08789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50</a:t>
            </a:fld>
            <a:endParaRPr lang="en-IN" dirty="0">
              <a:solidFill>
                <a:srgbClr val="8C8585"/>
              </a:solidFill>
            </a:endParaRPr>
          </a:p>
        </p:txBody>
      </p:sp>
      <p:sp>
        <p:nvSpPr>
          <p:cNvPr id="3" name="Title 2">
            <a:extLst>
              <a:ext uri="{FF2B5EF4-FFF2-40B4-BE49-F238E27FC236}">
                <a16:creationId xmlns:a16="http://schemas.microsoft.com/office/drawing/2014/main" id="{B3C18630-3937-489C-96AF-5DA4F31A43B4}"/>
              </a:ext>
            </a:extLst>
          </p:cNvPr>
          <p:cNvSpPr>
            <a:spLocks noGrp="1"/>
          </p:cNvSpPr>
          <p:nvPr>
            <p:ph type="title"/>
          </p:nvPr>
        </p:nvSpPr>
        <p:spPr/>
        <p:txBody>
          <a:bodyPr/>
          <a:lstStyle/>
          <a:p>
            <a:r>
              <a:rPr lang="en-IN" dirty="0"/>
              <a:t>SAMPLE TABLES CREATED USING THE TABLE FUNCTION</a:t>
            </a:r>
            <a:endParaRPr lang="en-US" dirty="0"/>
          </a:p>
        </p:txBody>
      </p:sp>
      <p:sp>
        <p:nvSpPr>
          <p:cNvPr id="7" name="Text Placeholder 6">
            <a:extLst>
              <a:ext uri="{FF2B5EF4-FFF2-40B4-BE49-F238E27FC236}">
                <a16:creationId xmlns:a16="http://schemas.microsoft.com/office/drawing/2014/main" id="{753B8EB6-197D-49DF-BC95-FFF10ACF2DC2}"/>
              </a:ext>
            </a:extLst>
          </p:cNvPr>
          <p:cNvSpPr>
            <a:spLocks noGrp="1"/>
          </p:cNvSpPr>
          <p:nvPr>
            <p:ph type="body" sz="quarter" idx="13"/>
          </p:nvPr>
        </p:nvSpPr>
        <p:spPr/>
        <p:txBody>
          <a:bodyPr/>
          <a:lstStyle/>
          <a:p>
            <a:endParaRPr lang="en-US" dirty="0"/>
          </a:p>
        </p:txBody>
      </p:sp>
      <p:graphicFrame>
        <p:nvGraphicFramePr>
          <p:cNvPr id="6" name="Group 3">
            <a:extLst>
              <a:ext uri="{FF2B5EF4-FFF2-40B4-BE49-F238E27FC236}">
                <a16:creationId xmlns:a16="http://schemas.microsoft.com/office/drawing/2014/main" id="{5A30712C-F9C5-4617-B8D0-F718941FC403}"/>
              </a:ext>
            </a:extLst>
          </p:cNvPr>
          <p:cNvGraphicFramePr>
            <a:graphicFrameLocks/>
          </p:cNvGraphicFramePr>
          <p:nvPr/>
        </p:nvGraphicFramePr>
        <p:xfrm>
          <a:off x="1798638" y="1447800"/>
          <a:ext cx="8594726" cy="3073401"/>
        </p:xfrm>
        <a:graphic>
          <a:graphicData uri="http://schemas.openxmlformats.org/drawingml/2006/table">
            <a:tbl>
              <a:tblPr/>
              <a:tblGrid>
                <a:gridCol w="1190111">
                  <a:extLst>
                    <a:ext uri="{9D8B030D-6E8A-4147-A177-3AD203B41FA5}">
                      <a16:colId xmlns:a16="http://schemas.microsoft.com/office/drawing/2014/main" val="20000"/>
                    </a:ext>
                  </a:extLst>
                </a:gridCol>
                <a:gridCol w="2060048">
                  <a:extLst>
                    <a:ext uri="{9D8B030D-6E8A-4147-A177-3AD203B41FA5}">
                      <a16:colId xmlns:a16="http://schemas.microsoft.com/office/drawing/2014/main" val="20001"/>
                    </a:ext>
                  </a:extLst>
                </a:gridCol>
                <a:gridCol w="1852325">
                  <a:extLst>
                    <a:ext uri="{9D8B030D-6E8A-4147-A177-3AD203B41FA5}">
                      <a16:colId xmlns:a16="http://schemas.microsoft.com/office/drawing/2014/main" val="20002"/>
                    </a:ext>
                  </a:extLst>
                </a:gridCol>
                <a:gridCol w="1894494">
                  <a:extLst>
                    <a:ext uri="{9D8B030D-6E8A-4147-A177-3AD203B41FA5}">
                      <a16:colId xmlns:a16="http://schemas.microsoft.com/office/drawing/2014/main" val="20003"/>
                    </a:ext>
                  </a:extLst>
                </a:gridCol>
                <a:gridCol w="1597748">
                  <a:extLst>
                    <a:ext uri="{9D8B030D-6E8A-4147-A177-3AD203B41FA5}">
                      <a16:colId xmlns:a16="http://schemas.microsoft.com/office/drawing/2014/main" val="20004"/>
                    </a:ext>
                  </a:extLst>
                </a:gridCol>
              </a:tblGrid>
              <a:tr h="604838">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89961" marR="89961" anchor="b" horzOverflow="overflow">
                    <a:lnL>
                      <a:noFill/>
                    </a:lnL>
                    <a:lnR w="19050" cap="flat" cmpd="sng" algn="ctr">
                      <a:noFill/>
                      <a:prstDash val="solid"/>
                      <a:round/>
                      <a:headEnd type="none" w="med" len="med"/>
                      <a:tailEnd type="none" w="med" len="med"/>
                    </a:lnR>
                    <a:lnT>
                      <a:noFill/>
                    </a:lnT>
                    <a:lnB w="19050" cap="flat" cmpd="sng" algn="ctr">
                      <a:no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Headers are</a:t>
                      </a:r>
                      <a:br>
                        <a:rPr kumimoji="0" lang="en-US" altLang="en-US" sz="12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br>
                      <a:r>
                        <a:rPr kumimoji="0" lang="en-US" altLang="en-US" sz="12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bottom aligned</a:t>
                      </a:r>
                    </a:p>
                  </a:txBody>
                  <a:tcPr marL="89961" marR="89961" anchor="b" horzOverflow="overflow">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bg2"/>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Header 2</a:t>
                      </a:r>
                    </a:p>
                  </a:txBody>
                  <a:tcPr marL="89961" marR="89961"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bg2"/>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Header 3</a:t>
                      </a:r>
                    </a:p>
                  </a:txBody>
                  <a:tcPr marL="89961" marR="89961" anchor="b"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accent2"/>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2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Header 4</a:t>
                      </a:r>
                    </a:p>
                  </a:txBody>
                  <a:tcPr marL="89961" marR="89961" anchor="b" horzOverflow="overflow">
                    <a:lnL w="19050" cap="flat" cmpd="sng" algn="ctr">
                      <a:solidFill>
                        <a:schemeClr val="bg1"/>
                      </a:solidFill>
                      <a:prstDash val="solid"/>
                      <a:round/>
                      <a:headEnd type="none" w="med" len="med"/>
                      <a:tailEnd type="none" w="med" len="med"/>
                    </a:lnL>
                    <a:lnR w="19050" cap="flat" cmpd="sng" algn="ctr">
                      <a:noFill/>
                      <a:prstDash val="sysDot"/>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0"/>
                  </a:ext>
                </a:extLst>
              </a:tr>
              <a:tr h="823913">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4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title</a:t>
                      </a:r>
                    </a:p>
                  </a:txBody>
                  <a:tcPr marL="89961" marR="89961"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bg2"/>
                    </a:solidFill>
                  </a:tcPr>
                </a:tc>
                <a:tc>
                  <a:txBody>
                    <a:bodyPr/>
                    <a:lstStyle>
                      <a:lvl1pPr marL="66675" indent="-66675">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66675" marR="0" lvl="0" indent="-66675" algn="l" defTabSz="914400" rtl="0" eaLnBrk="0" fontAlgn="base" latinLnBrk="0" hangingPunct="0">
                        <a:lnSpc>
                          <a:spcPct val="100000"/>
                        </a:lnSpc>
                        <a:spcBef>
                          <a:spcPct val="50000"/>
                        </a:spcBef>
                        <a:spcAft>
                          <a:spcPct val="0"/>
                        </a:spcAft>
                        <a:buClrTx/>
                        <a:buSzTx/>
                        <a:buFontTx/>
                        <a:buNone/>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txBody>
                  <a:tcPr marL="89961" marR="89961" horzOverflow="overflow">
                    <a:lnL w="19050" cap="flat" cmpd="sng" algn="ctr">
                      <a:no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tc>
                  <a:txBody>
                    <a:bodyPr/>
                    <a:lstStyle>
                      <a:lvl1pPr marL="342900" indent="-342900">
                        <a:spcBef>
                          <a:spcPct val="50000"/>
                        </a:spcBef>
                        <a:defRPr sz="1600">
                          <a:solidFill>
                            <a:schemeClr val="tx1"/>
                          </a:solidFill>
                          <a:latin typeface="Arial" charset="0"/>
                        </a:defRPr>
                      </a:lvl1pPr>
                      <a:lvl2pPr marL="114300" indent="-112713">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txBody>
                  <a:tcPr marL="89961" marR="89961" horzOverflow="overflow">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tc>
                  <a:txBody>
                    <a:bodyPr/>
                    <a:lstStyle>
                      <a:lvl1pPr marL="342900" indent="-342900">
                        <a:spcBef>
                          <a:spcPct val="50000"/>
                        </a:spcBef>
                        <a:defRPr sz="1600">
                          <a:solidFill>
                            <a:schemeClr val="tx1"/>
                          </a:solidFill>
                          <a:latin typeface="Arial" charset="0"/>
                        </a:defRPr>
                      </a:lvl1pPr>
                      <a:lvl2pPr marL="114300" indent="-112713">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txBody>
                  <a:tcPr marL="89961" marR="89961" horzOverflow="overflow">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89961" marR="89961" horzOverflow="overflow">
                    <a:lnL w="6350" cap="flat" cmpd="sng" algn="ctr">
                      <a:solidFill>
                        <a:schemeClr val="tx2"/>
                      </a:solidFill>
                      <a:prstDash val="solid"/>
                      <a:round/>
                      <a:headEnd type="none" w="med" len="med"/>
                      <a:tailEnd type="none" w="med" len="med"/>
                    </a:lnL>
                    <a:lnR w="19050" cap="flat" cmpd="sng" algn="ctr">
                      <a:noFill/>
                      <a:prstDash val="sysDot"/>
                      <a:round/>
                      <a:headEnd type="none" w="med" len="med"/>
                      <a:tailEnd type="none" w="med" len="med"/>
                    </a:lnR>
                    <a:lnT w="19050" cap="flat" cmpd="sng" algn="ctr">
                      <a:noFill/>
                      <a:prstDash val="solid"/>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325">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400" b="1" i="0" u="none" strike="noStrike" cap="none" normalizeH="0" baseline="0" dirty="0">
                          <a:ln>
                            <a:noFill/>
                          </a:ln>
                          <a:solidFill>
                            <a:schemeClr val="bg1"/>
                          </a:solidFill>
                          <a:effectLst/>
                          <a:latin typeface="Verdana" panose="020B0604030504040204" pitchFamily="34" charset="0"/>
                          <a:ea typeface="Verdana" panose="020B0604030504040204" pitchFamily="34" charset="0"/>
                          <a:cs typeface="Verdana" panose="020B0604030504040204" pitchFamily="34" charset="0"/>
                        </a:rPr>
                        <a:t>Row title</a:t>
                      </a:r>
                    </a:p>
                  </a:txBody>
                  <a:tcPr marL="89961" marR="89961"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a:noFill/>
                    </a:lnTlToBr>
                    <a:lnBlToTr>
                      <a:noFill/>
                    </a:lnBlToTr>
                    <a:solidFill>
                      <a:schemeClr val="accent2"/>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Some text</a:t>
                      </a:r>
                    </a:p>
                  </a:txBody>
                  <a:tcPr marL="89961" marR="89961" horzOverflow="overflow">
                    <a:lnL w="19050" cap="flat" cmpd="sng" algn="ctr">
                      <a:no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tc>
                  <a:txBody>
                    <a:bodyPr/>
                    <a:lstStyle>
                      <a:lvl1pPr marL="342900" indent="-342900">
                        <a:spcBef>
                          <a:spcPct val="50000"/>
                        </a:spcBef>
                        <a:defRPr sz="1600">
                          <a:solidFill>
                            <a:schemeClr val="tx1"/>
                          </a:solidFill>
                          <a:latin typeface="Arial" charset="0"/>
                        </a:defRPr>
                      </a:lvl1pPr>
                      <a:lvl2pPr marL="114300" indent="-112713">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txBody>
                  <a:tcPr marL="89961" marR="89961" horzOverflow="overflow">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tc>
                  <a:txBody>
                    <a:bodyPr/>
                    <a:lstStyle>
                      <a:lvl1pPr marL="342900" indent="-342900">
                        <a:spcBef>
                          <a:spcPct val="50000"/>
                        </a:spcBef>
                        <a:defRPr sz="1600">
                          <a:solidFill>
                            <a:schemeClr val="tx1"/>
                          </a:solidFill>
                          <a:latin typeface="Arial" charset="0"/>
                        </a:defRPr>
                      </a:lvl1pPr>
                      <a:lvl2pPr marL="114300" indent="-112713">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Highlight specific cells by filling with lt. green</a:t>
                      </a:r>
                    </a:p>
                  </a:txBody>
                  <a:tcPr marL="89961" marR="89961" horzOverflow="overflow">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solidFill>
                      <a:schemeClr val="accent4"/>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89961" marR="89961" horzOverflow="overflow">
                    <a:lnL w="6350" cap="flat" cmpd="sng" algn="ctr">
                      <a:solidFill>
                        <a:schemeClr val="tx2"/>
                      </a:solidFill>
                      <a:prstDash val="solid"/>
                      <a:round/>
                      <a:headEnd type="none" w="med" len="med"/>
                      <a:tailEnd type="none" w="med" len="med"/>
                    </a:lnL>
                    <a:lnR w="19050" cap="flat" cmpd="sng" algn="ctr">
                      <a:noFill/>
                      <a:prstDash val="sysDot"/>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325">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400" b="1"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Row title</a:t>
                      </a:r>
                    </a:p>
                  </a:txBody>
                  <a:tcPr marL="89961" marR="89961"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solidFill>
                      <a:schemeClr val="bg2"/>
                    </a:solid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More text which can wrap onto two or</a:t>
                      </a:r>
                      <a:b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b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more lines</a:t>
                      </a:r>
                    </a:p>
                  </a:txBody>
                  <a:tcPr marL="89961" marR="89961" horzOverflow="overflow">
                    <a:lnL w="19050" cap="flat" cmpd="sng" algn="ctr">
                      <a:no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marL="342900" indent="-342900">
                        <a:spcBef>
                          <a:spcPct val="50000"/>
                        </a:spcBef>
                        <a:defRPr sz="1600">
                          <a:solidFill>
                            <a:schemeClr val="tx1"/>
                          </a:solidFill>
                          <a:latin typeface="Arial" charset="0"/>
                        </a:defRPr>
                      </a:lvl1pPr>
                      <a:lvl2pPr marL="114300" indent="-112713">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txBody>
                  <a:tcPr marL="89961" marR="89961" horzOverflow="overflow">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marL="342900" indent="-342900">
                        <a:spcBef>
                          <a:spcPct val="50000"/>
                        </a:spcBef>
                        <a:defRPr sz="1600">
                          <a:solidFill>
                            <a:schemeClr val="tx1"/>
                          </a:solidFill>
                          <a:latin typeface="Arial" charset="0"/>
                        </a:defRPr>
                      </a:lvl1pPr>
                      <a:lvl2pPr marL="114300" indent="-112713">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180000" marR="0" lvl="1" indent="-180000" algn="l" defTabSz="914400" rtl="0" eaLnBrk="0" fontAlgn="base" latinLnBrk="0" hangingPunct="0">
                        <a:lnSpc>
                          <a:spcPct val="100000"/>
                        </a:lnSpc>
                        <a:spcBef>
                          <a:spcPct val="20000"/>
                        </a:spcBef>
                        <a:spcAft>
                          <a:spcPct val="0"/>
                        </a:spcAft>
                        <a:buClr>
                          <a:schemeClr val="tx2"/>
                        </a:buClr>
                        <a:buSzTx/>
                        <a:buFontTx/>
                        <a:buChar char="•"/>
                        <a:tabLst/>
                      </a:pPr>
                      <a:r>
                        <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rPr>
                        <a:t>Text</a:t>
                      </a:r>
                    </a:p>
                  </a:txBody>
                  <a:tcPr marL="89961" marR="89961" horzOverflow="overflow">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tc>
                  <a:txBody>
                    <a:bodyPr/>
                    <a:lstStyle>
                      <a:lvl1pPr>
                        <a:spcBef>
                          <a:spcPct val="50000"/>
                        </a:spcBef>
                        <a:defRPr sz="1600">
                          <a:solidFill>
                            <a:schemeClr val="tx1"/>
                          </a:solidFill>
                          <a:latin typeface="Arial" charset="0"/>
                        </a:defRPr>
                      </a:lvl1pPr>
                      <a:lvl2pPr marL="742950" indent="-285750">
                        <a:spcBef>
                          <a:spcPct val="50000"/>
                        </a:spcBef>
                        <a:buClr>
                          <a:schemeClr val="tx1"/>
                        </a:buClr>
                        <a:defRPr sz="1600">
                          <a:solidFill>
                            <a:schemeClr val="tx1"/>
                          </a:solidFill>
                          <a:latin typeface="Arial" charset="0"/>
                        </a:defRPr>
                      </a:lvl2pPr>
                      <a:lvl3pPr marL="1143000" indent="-228600">
                        <a:spcBef>
                          <a:spcPct val="25000"/>
                        </a:spcBef>
                        <a:buClr>
                          <a:schemeClr val="tx1"/>
                        </a:buClr>
                        <a:defRPr sz="1600">
                          <a:solidFill>
                            <a:schemeClr val="tx1"/>
                          </a:solidFill>
                          <a:latin typeface="Arial" charset="0"/>
                        </a:defRPr>
                      </a:lvl3pPr>
                      <a:lvl4pPr marL="1600200" indent="-228600">
                        <a:spcBef>
                          <a:spcPct val="25000"/>
                        </a:spcBef>
                        <a:buClr>
                          <a:schemeClr val="tx1"/>
                        </a:buClr>
                        <a:defRPr sz="1600">
                          <a:solidFill>
                            <a:schemeClr val="tx1"/>
                          </a:solidFill>
                          <a:latin typeface="Arial" charset="0"/>
                        </a:defRPr>
                      </a:lvl4pPr>
                      <a:lvl5pPr marL="2057400" indent="-228600">
                        <a:spcBef>
                          <a:spcPct val="25000"/>
                        </a:spcBef>
                        <a:buClr>
                          <a:schemeClr val="tx1"/>
                        </a:buClr>
                        <a:defRPr sz="1600">
                          <a:solidFill>
                            <a:schemeClr val="tx1"/>
                          </a:solidFill>
                          <a:latin typeface="Arial" charset="0"/>
                        </a:defRPr>
                      </a:lvl5pPr>
                      <a:lvl6pPr marL="2514600" indent="-228600" eaLnBrk="0" fontAlgn="base" hangingPunct="0">
                        <a:spcBef>
                          <a:spcPct val="25000"/>
                        </a:spcBef>
                        <a:spcAft>
                          <a:spcPct val="0"/>
                        </a:spcAft>
                        <a:buClr>
                          <a:schemeClr val="tx1"/>
                        </a:buClr>
                        <a:defRPr sz="1600">
                          <a:solidFill>
                            <a:schemeClr val="tx1"/>
                          </a:solidFill>
                          <a:latin typeface="Arial" charset="0"/>
                        </a:defRPr>
                      </a:lvl6pPr>
                      <a:lvl7pPr marL="2971800" indent="-228600" eaLnBrk="0" fontAlgn="base" hangingPunct="0">
                        <a:spcBef>
                          <a:spcPct val="25000"/>
                        </a:spcBef>
                        <a:spcAft>
                          <a:spcPct val="0"/>
                        </a:spcAft>
                        <a:buClr>
                          <a:schemeClr val="tx1"/>
                        </a:buClr>
                        <a:defRPr sz="1600">
                          <a:solidFill>
                            <a:schemeClr val="tx1"/>
                          </a:solidFill>
                          <a:latin typeface="Arial" charset="0"/>
                        </a:defRPr>
                      </a:lvl7pPr>
                      <a:lvl8pPr marL="3429000" indent="-228600" eaLnBrk="0" fontAlgn="base" hangingPunct="0">
                        <a:spcBef>
                          <a:spcPct val="25000"/>
                        </a:spcBef>
                        <a:spcAft>
                          <a:spcPct val="0"/>
                        </a:spcAft>
                        <a:buClr>
                          <a:schemeClr val="tx1"/>
                        </a:buClr>
                        <a:defRPr sz="1600">
                          <a:solidFill>
                            <a:schemeClr val="tx1"/>
                          </a:solidFill>
                          <a:latin typeface="Arial" charset="0"/>
                        </a:defRPr>
                      </a:lvl8pPr>
                      <a:lvl9pPr marL="3886200" indent="-228600" eaLnBrk="0" fontAlgn="base" hangingPunct="0">
                        <a:spcBef>
                          <a:spcPct val="25000"/>
                        </a:spcBef>
                        <a:spcAft>
                          <a:spcPct val="0"/>
                        </a:spcAft>
                        <a:buClr>
                          <a:schemeClr val="tx1"/>
                        </a:buClr>
                        <a:defRPr sz="1600">
                          <a:solidFill>
                            <a:schemeClr val="tx1"/>
                          </a:solidFill>
                          <a:latin typeface="Arial"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pPr>
                      <a:endParaRPr kumimoji="0" lang="en-US" altLang="en-US" sz="1000" b="0" i="0" u="none" strike="noStrike" cap="none" normalizeH="0" baseline="0" dirty="0">
                        <a:ln>
                          <a:noFill/>
                        </a:ln>
                        <a:solidFill>
                          <a:schemeClr val="tx2"/>
                        </a:solidFill>
                        <a:effectLst/>
                        <a:latin typeface="Verdana" panose="020B0604030504040204" pitchFamily="34" charset="0"/>
                        <a:ea typeface="Verdana" panose="020B0604030504040204" pitchFamily="34" charset="0"/>
                        <a:cs typeface="Verdana" panose="020B0604030504040204" pitchFamily="34" charset="0"/>
                      </a:endParaRPr>
                    </a:p>
                  </a:txBody>
                  <a:tcPr marL="89961" marR="89961" horzOverflow="overflow">
                    <a:lnL w="6350" cap="flat" cmpd="sng" algn="ctr">
                      <a:solidFill>
                        <a:schemeClr val="tx2"/>
                      </a:solidFill>
                      <a:prstDash val="solid"/>
                      <a:round/>
                      <a:headEnd type="none" w="med" len="med"/>
                      <a:tailEnd type="none" w="med" len="med"/>
                    </a:lnL>
                    <a:lnR w="19050" cap="flat" cmpd="sng" algn="ctr">
                      <a:noFill/>
                      <a:prstDash val="sysDot"/>
                      <a:round/>
                      <a:headEnd type="none" w="med" len="med"/>
                      <a:tailEnd type="none" w="med" len="med"/>
                    </a:lnR>
                    <a:lnT w="19050" cap="flat" cmpd="sng" algn="ctr">
                      <a:solidFill>
                        <a:schemeClr val="bg2">
                          <a:lumMod val="75000"/>
                        </a:schemeClr>
                      </a:solidFill>
                      <a:prstDash val="sysDot"/>
                      <a:round/>
                      <a:headEnd type="none" w="med" len="med"/>
                      <a:tailEnd type="none" w="med" len="med"/>
                    </a:lnT>
                    <a:lnB w="19050" cap="flat" cmpd="sng" algn="ctr">
                      <a:solidFill>
                        <a:schemeClr val="bg2">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9968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51</a:t>
            </a:fld>
            <a:endParaRPr lang="en-IN" dirty="0">
              <a:solidFill>
                <a:srgbClr val="8C8585"/>
              </a:solidFill>
            </a:endParaRPr>
          </a:p>
        </p:txBody>
      </p:sp>
      <p:sp>
        <p:nvSpPr>
          <p:cNvPr id="2" name="Title 1">
            <a:extLst>
              <a:ext uri="{FF2B5EF4-FFF2-40B4-BE49-F238E27FC236}">
                <a16:creationId xmlns:a16="http://schemas.microsoft.com/office/drawing/2014/main" id="{ABA1896E-3BCE-40B0-B97E-B478AAD30A3E}"/>
              </a:ext>
            </a:extLst>
          </p:cNvPr>
          <p:cNvSpPr>
            <a:spLocks noGrp="1"/>
          </p:cNvSpPr>
          <p:nvPr>
            <p:ph type="title"/>
          </p:nvPr>
        </p:nvSpPr>
        <p:spPr/>
        <p:txBody>
          <a:bodyPr/>
          <a:lstStyle/>
          <a:p>
            <a:r>
              <a:rPr lang="en-IN" dirty="0"/>
              <a:t>PROCESS FLOW COMPARISON WITH COLOR SCHEMES</a:t>
            </a:r>
            <a:endParaRPr lang="en-US" dirty="0"/>
          </a:p>
        </p:txBody>
      </p:sp>
      <p:sp>
        <p:nvSpPr>
          <p:cNvPr id="3" name="Text Placeholder 2">
            <a:extLst>
              <a:ext uri="{FF2B5EF4-FFF2-40B4-BE49-F238E27FC236}">
                <a16:creationId xmlns:a16="http://schemas.microsoft.com/office/drawing/2014/main" id="{34668ABD-8F99-4EEC-8C60-98901DDFE2D7}"/>
              </a:ext>
            </a:extLst>
          </p:cNvPr>
          <p:cNvSpPr>
            <a:spLocks noGrp="1"/>
          </p:cNvSpPr>
          <p:nvPr>
            <p:ph type="body" sz="quarter" idx="13"/>
          </p:nvPr>
        </p:nvSpPr>
        <p:spPr/>
        <p:txBody>
          <a:bodyPr/>
          <a:lstStyle/>
          <a:p>
            <a:endParaRPr lang="en-US" dirty="0"/>
          </a:p>
        </p:txBody>
      </p:sp>
      <p:sp>
        <p:nvSpPr>
          <p:cNvPr id="6" name="Content Placeholder 23">
            <a:extLst>
              <a:ext uri="{FF2B5EF4-FFF2-40B4-BE49-F238E27FC236}">
                <a16:creationId xmlns:a16="http://schemas.microsoft.com/office/drawing/2014/main" id="{3C6245A7-88BC-44DF-8242-54AA1922204E}"/>
              </a:ext>
            </a:extLst>
          </p:cNvPr>
          <p:cNvSpPr txBox="1">
            <a:spLocks/>
          </p:cNvSpPr>
          <p:nvPr/>
        </p:nvSpPr>
        <p:spPr>
          <a:xfrm>
            <a:off x="365760" y="1455951"/>
            <a:ext cx="11460480" cy="4487651"/>
          </a:xfrm>
          <a:prstGeom prst="rect">
            <a:avLst/>
          </a:prstGeom>
        </p:spPr>
        <p:txBody>
          <a:bodyPr/>
          <a:lstStyle>
            <a:lvl1pPr marL="0" indent="0" algn="l" defTabSz="685800" rtl="0" eaLnBrk="1" latinLnBrk="0" hangingPunct="1">
              <a:lnSpc>
                <a:spcPct val="100000"/>
              </a:lnSpc>
              <a:spcBef>
                <a:spcPts val="1000"/>
              </a:spcBef>
              <a:buFont typeface="Arial"/>
              <a:buNone/>
              <a:defRPr sz="1800" kern="1200" cap="none" baseline="0">
                <a:solidFill>
                  <a:schemeClr val="tx2"/>
                </a:solidFill>
                <a:latin typeface="+mn-lt"/>
                <a:ea typeface="+mn-ea"/>
                <a:cs typeface="+mn-cs"/>
              </a:defRPr>
            </a:lvl1pPr>
            <a:lvl2pPr marL="203597" indent="-203597" algn="l" defTabSz="685800" rtl="0" eaLnBrk="1" latinLnBrk="0" hangingPunct="1">
              <a:lnSpc>
                <a:spcPct val="100000"/>
              </a:lnSpc>
              <a:spcBef>
                <a:spcPts val="1000"/>
              </a:spcBef>
              <a:buClr>
                <a:schemeClr val="tx2"/>
              </a:buClr>
              <a:buFont typeface="Arial" panose="020B0604020202020204" pitchFamily="34" charset="0"/>
              <a:buChar char="•"/>
              <a:tabLst/>
              <a:defRPr sz="1600" kern="1200">
                <a:solidFill>
                  <a:schemeClr val="tx2"/>
                </a:solidFill>
                <a:latin typeface="+mn-lt"/>
                <a:ea typeface="+mn-ea"/>
                <a:cs typeface="+mn-cs"/>
              </a:defRPr>
            </a:lvl2pPr>
            <a:lvl3pPr marL="429816" indent="-215504" algn="l" defTabSz="685800" rtl="0" eaLnBrk="1" latinLnBrk="0" hangingPunct="1">
              <a:lnSpc>
                <a:spcPct val="100000"/>
              </a:lnSpc>
              <a:spcBef>
                <a:spcPts val="1000"/>
              </a:spcBef>
              <a:buClr>
                <a:schemeClr val="tx2"/>
              </a:buClr>
              <a:buFont typeface="Courier New" panose="02070309020205020404" pitchFamily="49" charset="0"/>
              <a:buChar char="o"/>
              <a:tabLst/>
              <a:defRPr sz="1400" kern="1200">
                <a:solidFill>
                  <a:schemeClr val="tx2"/>
                </a:solidFill>
                <a:latin typeface="+mn-lt"/>
                <a:ea typeface="+mn-ea"/>
                <a:cs typeface="+mn-cs"/>
              </a:defRPr>
            </a:lvl3pPr>
            <a:lvl4pPr marL="645319" indent="-215504" algn="l" defTabSz="685800" rtl="0" eaLnBrk="1" latinLnBrk="0" hangingPunct="1">
              <a:lnSpc>
                <a:spcPct val="100000"/>
              </a:lnSpc>
              <a:spcBef>
                <a:spcPts val="1000"/>
              </a:spcBef>
              <a:buClr>
                <a:schemeClr val="tx2"/>
              </a:buClr>
              <a:buFont typeface="Wingdings" charset="2"/>
              <a:buChar char="§"/>
              <a:tabLst/>
              <a:defRPr sz="1200" kern="1200">
                <a:solidFill>
                  <a:schemeClr val="tx2"/>
                </a:solidFill>
                <a:latin typeface="+mn-lt"/>
                <a:ea typeface="+mn-ea"/>
                <a:cs typeface="+mn-cs"/>
              </a:defRPr>
            </a:lvl4pPr>
            <a:lvl5pPr marL="860822" indent="-220266" algn="l" defTabSz="685800" rtl="0" eaLnBrk="1" latinLnBrk="0" hangingPunct="1">
              <a:lnSpc>
                <a:spcPct val="100000"/>
              </a:lnSpc>
              <a:spcBef>
                <a:spcPts val="1000"/>
              </a:spcBef>
              <a:buClr>
                <a:schemeClr val="tx2"/>
              </a:buClr>
              <a:buFont typeface="Arial" panose="020B0604020202020204" pitchFamily="34" charset="0"/>
              <a:buChar char="•"/>
              <a:tabLst/>
              <a:defRPr sz="1200" kern="1200">
                <a:solidFill>
                  <a:schemeClr val="tx2"/>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lvl="2"/>
            <a:r>
              <a:rPr lang="en-US" altLang="en-US" dirty="0"/>
              <a:t>The preferred color for a process flow is UPS Gray 4, which allows you to highlight a segment with a secondary color.</a:t>
            </a:r>
          </a:p>
          <a:p>
            <a:pPr lvl="2"/>
            <a:endParaRPr lang="en-US" dirty="0"/>
          </a:p>
          <a:p>
            <a:pPr lvl="2"/>
            <a:endParaRPr lang="en-US" dirty="0"/>
          </a:p>
          <a:p>
            <a:pPr lvl="2"/>
            <a:endParaRPr lang="en-US" dirty="0"/>
          </a:p>
          <a:p>
            <a:pPr lvl="2"/>
            <a:r>
              <a:rPr lang="en-US" altLang="en-US" dirty="0"/>
              <a:t>If it is necessary to use more color in the flow, follow this particular segment  </a:t>
            </a:r>
          </a:p>
          <a:p>
            <a:endParaRPr lang="en-US" dirty="0"/>
          </a:p>
          <a:p>
            <a:endParaRPr lang="en-US" dirty="0"/>
          </a:p>
        </p:txBody>
      </p:sp>
      <p:sp>
        <p:nvSpPr>
          <p:cNvPr id="7" name="AutoShape 2">
            <a:extLst>
              <a:ext uri="{FF2B5EF4-FFF2-40B4-BE49-F238E27FC236}">
                <a16:creationId xmlns:a16="http://schemas.microsoft.com/office/drawing/2014/main" id="{E256B9FC-E995-4F34-84D6-4C2E1A56ED99}"/>
              </a:ext>
            </a:extLst>
          </p:cNvPr>
          <p:cNvSpPr>
            <a:spLocks noChangeArrowheads="1"/>
          </p:cNvSpPr>
          <p:nvPr/>
        </p:nvSpPr>
        <p:spPr bwMode="blackWhite">
          <a:xfrm>
            <a:off x="7586618" y="2003227"/>
            <a:ext cx="2146435" cy="711200"/>
          </a:xfrm>
          <a:prstGeom prst="homePlate">
            <a:avLst>
              <a:gd name="adj" fmla="val 28351"/>
            </a:avLst>
          </a:prstGeom>
          <a:solidFill>
            <a:schemeClr val="accent4"/>
          </a:solidFill>
          <a:ln w="28575">
            <a:solidFill>
              <a:schemeClr val="bg1"/>
            </a:solidFill>
            <a:miter lim="800000"/>
            <a:headEnd/>
            <a:tailEnd/>
          </a:ln>
          <a:effectLst/>
        </p:spPr>
        <p:txBody>
          <a:bodyPr wrap="none" anchor="ctr"/>
          <a:lstStyle>
            <a:lvl1pPr marL="190500">
              <a:spcBef>
                <a:spcPct val="50000"/>
              </a:spcBef>
              <a:defRPr>
                <a:solidFill>
                  <a:schemeClr val="tx1"/>
                </a:solidFill>
                <a:latin typeface="Arial" charset="0"/>
              </a:defRPr>
            </a:lvl1pPr>
            <a:lvl2pPr marL="282575" indent="-168275">
              <a:spcBef>
                <a:spcPct val="50000"/>
              </a:spcBef>
              <a:buClr>
                <a:schemeClr val="tx1"/>
              </a:buClr>
              <a:buChar char="•"/>
              <a:defRPr>
                <a:solidFill>
                  <a:schemeClr val="tx1"/>
                </a:solidFill>
                <a:latin typeface="Arial" charset="0"/>
              </a:defRPr>
            </a:lvl2pPr>
            <a:lvl3pPr marL="625475" indent="-228600">
              <a:spcBef>
                <a:spcPct val="25000"/>
              </a:spcBef>
              <a:buClr>
                <a:schemeClr val="tx1"/>
              </a:buClr>
              <a:buChar char="–"/>
              <a:defRPr>
                <a:solidFill>
                  <a:schemeClr val="tx1"/>
                </a:solidFill>
                <a:latin typeface="Arial" charset="0"/>
              </a:defRPr>
            </a:lvl3pPr>
            <a:lvl4pPr marL="968375" indent="-228600">
              <a:spcBef>
                <a:spcPct val="25000"/>
              </a:spcBef>
              <a:buClr>
                <a:schemeClr val="tx1"/>
              </a:buClr>
              <a:buChar char="–"/>
              <a:defRPr>
                <a:solidFill>
                  <a:schemeClr val="tx1"/>
                </a:solidFill>
                <a:latin typeface="Arial" charset="0"/>
              </a:defRPr>
            </a:lvl4pPr>
            <a:lvl5pPr marL="1311275" indent="-228600">
              <a:spcBef>
                <a:spcPct val="25000"/>
              </a:spcBef>
              <a:buClr>
                <a:schemeClr val="tx1"/>
              </a:buClr>
              <a:buChar char="–"/>
              <a:defRPr>
                <a:solidFill>
                  <a:schemeClr val="tx1"/>
                </a:solidFill>
                <a:latin typeface="Arial" charset="0"/>
              </a:defRPr>
            </a:lvl5pPr>
            <a:lvl6pPr marL="1768475" indent="-228600" eaLnBrk="0" fontAlgn="base" hangingPunct="0">
              <a:spcBef>
                <a:spcPct val="25000"/>
              </a:spcBef>
              <a:spcAft>
                <a:spcPct val="0"/>
              </a:spcAft>
              <a:buClr>
                <a:schemeClr val="tx1"/>
              </a:buClr>
              <a:buChar char="–"/>
              <a:defRPr>
                <a:solidFill>
                  <a:schemeClr val="tx1"/>
                </a:solidFill>
                <a:latin typeface="Arial" charset="0"/>
              </a:defRPr>
            </a:lvl6pPr>
            <a:lvl7pPr marL="2225675" indent="-228600" eaLnBrk="0" fontAlgn="base" hangingPunct="0">
              <a:spcBef>
                <a:spcPct val="25000"/>
              </a:spcBef>
              <a:spcAft>
                <a:spcPct val="0"/>
              </a:spcAft>
              <a:buClr>
                <a:schemeClr val="tx1"/>
              </a:buClr>
              <a:buChar char="–"/>
              <a:defRPr>
                <a:solidFill>
                  <a:schemeClr val="tx1"/>
                </a:solidFill>
                <a:latin typeface="Arial" charset="0"/>
              </a:defRPr>
            </a:lvl7pPr>
            <a:lvl8pPr marL="2682875" indent="-228600" eaLnBrk="0" fontAlgn="base" hangingPunct="0">
              <a:spcBef>
                <a:spcPct val="25000"/>
              </a:spcBef>
              <a:spcAft>
                <a:spcPct val="0"/>
              </a:spcAft>
              <a:buClr>
                <a:schemeClr val="tx1"/>
              </a:buClr>
              <a:buChar char="–"/>
              <a:defRPr>
                <a:solidFill>
                  <a:schemeClr val="tx1"/>
                </a:solidFill>
                <a:latin typeface="Arial" charset="0"/>
              </a:defRPr>
            </a:lvl8pPr>
            <a:lvl9pPr marL="3140075" indent="-228600" eaLnBrk="0" fontAlgn="base" hangingPunct="0">
              <a:spcBef>
                <a:spcPct val="25000"/>
              </a:spcBef>
              <a:spcAft>
                <a:spcPct val="0"/>
              </a:spcAft>
              <a:buClr>
                <a:schemeClr val="tx1"/>
              </a:buClr>
              <a:buChar char="–"/>
              <a:defRPr>
                <a:solidFill>
                  <a:schemeClr val="tx1"/>
                </a:solidFill>
                <a:latin typeface="Arial" charset="0"/>
              </a:defRPr>
            </a:lvl9pPr>
          </a:lstStyle>
          <a:p>
            <a:pPr marL="287338">
              <a:defRPr/>
            </a:pPr>
            <a:r>
              <a:rPr lang="en-US" altLang="en-US" sz="1200" dirty="0">
                <a:solidFill>
                  <a:schemeClr val="bg1"/>
                </a:solidFill>
                <a:latin typeface="+mn-lt"/>
              </a:rPr>
              <a:t>Header</a:t>
            </a:r>
            <a:endParaRPr lang="en-US" altLang="en-US" sz="1600" dirty="0">
              <a:solidFill>
                <a:schemeClr val="bg1"/>
              </a:solidFill>
              <a:latin typeface="+mn-lt"/>
            </a:endParaRPr>
          </a:p>
        </p:txBody>
      </p:sp>
      <p:sp>
        <p:nvSpPr>
          <p:cNvPr id="8" name="AutoShape 3">
            <a:extLst>
              <a:ext uri="{FF2B5EF4-FFF2-40B4-BE49-F238E27FC236}">
                <a16:creationId xmlns:a16="http://schemas.microsoft.com/office/drawing/2014/main" id="{8D7B560A-D6D7-402D-B79C-67E515DEB93A}"/>
              </a:ext>
            </a:extLst>
          </p:cNvPr>
          <p:cNvSpPr>
            <a:spLocks noChangeArrowheads="1"/>
          </p:cNvSpPr>
          <p:nvPr/>
        </p:nvSpPr>
        <p:spPr bwMode="blackWhite">
          <a:xfrm>
            <a:off x="5737955" y="2003227"/>
            <a:ext cx="2146435" cy="711200"/>
          </a:xfrm>
          <a:prstGeom prst="homePlate">
            <a:avLst>
              <a:gd name="adj" fmla="val 28351"/>
            </a:avLst>
          </a:prstGeom>
          <a:solidFill>
            <a:srgbClr val="D8D4D7"/>
          </a:solidFill>
          <a:ln w="2857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marL="228600">
              <a:spcBef>
                <a:spcPct val="50000"/>
              </a:spcBef>
              <a:defRPr>
                <a:solidFill>
                  <a:schemeClr val="tx1"/>
                </a:solidFill>
                <a:latin typeface="Arial" charset="0"/>
              </a:defRPr>
            </a:lvl1pPr>
            <a:lvl2pPr marL="282575" indent="-168275">
              <a:spcBef>
                <a:spcPct val="50000"/>
              </a:spcBef>
              <a:buClr>
                <a:schemeClr val="tx1"/>
              </a:buClr>
              <a:buChar char="•"/>
              <a:defRPr>
                <a:solidFill>
                  <a:schemeClr val="tx1"/>
                </a:solidFill>
                <a:latin typeface="Arial" charset="0"/>
              </a:defRPr>
            </a:lvl2pPr>
            <a:lvl3pPr marL="625475" indent="-228600">
              <a:spcBef>
                <a:spcPct val="25000"/>
              </a:spcBef>
              <a:buClr>
                <a:schemeClr val="tx1"/>
              </a:buClr>
              <a:buChar char="–"/>
              <a:defRPr>
                <a:solidFill>
                  <a:schemeClr val="tx1"/>
                </a:solidFill>
                <a:latin typeface="Arial" charset="0"/>
              </a:defRPr>
            </a:lvl3pPr>
            <a:lvl4pPr marL="968375" indent="-228600">
              <a:spcBef>
                <a:spcPct val="25000"/>
              </a:spcBef>
              <a:buClr>
                <a:schemeClr val="tx1"/>
              </a:buClr>
              <a:buChar char="–"/>
              <a:defRPr>
                <a:solidFill>
                  <a:schemeClr val="tx1"/>
                </a:solidFill>
                <a:latin typeface="Arial" charset="0"/>
              </a:defRPr>
            </a:lvl4pPr>
            <a:lvl5pPr marL="1311275" indent="-228600">
              <a:spcBef>
                <a:spcPct val="25000"/>
              </a:spcBef>
              <a:buClr>
                <a:schemeClr val="tx1"/>
              </a:buClr>
              <a:buChar char="–"/>
              <a:defRPr>
                <a:solidFill>
                  <a:schemeClr val="tx1"/>
                </a:solidFill>
                <a:latin typeface="Arial" charset="0"/>
              </a:defRPr>
            </a:lvl5pPr>
            <a:lvl6pPr marL="1768475" indent="-228600" eaLnBrk="0" fontAlgn="base" hangingPunct="0">
              <a:spcBef>
                <a:spcPct val="25000"/>
              </a:spcBef>
              <a:spcAft>
                <a:spcPct val="0"/>
              </a:spcAft>
              <a:buClr>
                <a:schemeClr val="tx1"/>
              </a:buClr>
              <a:buChar char="–"/>
              <a:defRPr>
                <a:solidFill>
                  <a:schemeClr val="tx1"/>
                </a:solidFill>
                <a:latin typeface="Arial" charset="0"/>
              </a:defRPr>
            </a:lvl6pPr>
            <a:lvl7pPr marL="2225675" indent="-228600" eaLnBrk="0" fontAlgn="base" hangingPunct="0">
              <a:spcBef>
                <a:spcPct val="25000"/>
              </a:spcBef>
              <a:spcAft>
                <a:spcPct val="0"/>
              </a:spcAft>
              <a:buClr>
                <a:schemeClr val="tx1"/>
              </a:buClr>
              <a:buChar char="–"/>
              <a:defRPr>
                <a:solidFill>
                  <a:schemeClr val="tx1"/>
                </a:solidFill>
                <a:latin typeface="Arial" charset="0"/>
              </a:defRPr>
            </a:lvl7pPr>
            <a:lvl8pPr marL="2682875" indent="-228600" eaLnBrk="0" fontAlgn="base" hangingPunct="0">
              <a:spcBef>
                <a:spcPct val="25000"/>
              </a:spcBef>
              <a:spcAft>
                <a:spcPct val="0"/>
              </a:spcAft>
              <a:buClr>
                <a:schemeClr val="tx1"/>
              </a:buClr>
              <a:buChar char="–"/>
              <a:defRPr>
                <a:solidFill>
                  <a:schemeClr val="tx1"/>
                </a:solidFill>
                <a:latin typeface="Arial" charset="0"/>
              </a:defRPr>
            </a:lvl8pPr>
            <a:lvl9pPr marL="3140075" indent="-228600" eaLnBrk="0" fontAlgn="base" hangingPunct="0">
              <a:spcBef>
                <a:spcPct val="25000"/>
              </a:spcBef>
              <a:spcAft>
                <a:spcPct val="0"/>
              </a:spcAft>
              <a:buClr>
                <a:schemeClr val="tx1"/>
              </a:buClr>
              <a:buChar char="–"/>
              <a:defRPr>
                <a:solidFill>
                  <a:schemeClr val="tx1"/>
                </a:solidFill>
                <a:latin typeface="Arial" charset="0"/>
              </a:defRPr>
            </a:lvl9pPr>
          </a:lstStyle>
          <a:p>
            <a:pPr marL="339725">
              <a:defRPr/>
            </a:pPr>
            <a:r>
              <a:rPr lang="en-US" altLang="en-US" sz="1200" dirty="0">
                <a:solidFill>
                  <a:schemeClr val="tx2"/>
                </a:solidFill>
                <a:latin typeface="+mn-lt"/>
              </a:rPr>
              <a:t>Header</a:t>
            </a:r>
            <a:endParaRPr lang="en-US" altLang="en-US" sz="1600" dirty="0">
              <a:solidFill>
                <a:schemeClr val="tx2"/>
              </a:solidFill>
              <a:latin typeface="+mn-lt"/>
            </a:endParaRPr>
          </a:p>
        </p:txBody>
      </p:sp>
      <p:sp>
        <p:nvSpPr>
          <p:cNvPr id="9" name="AutoShape 4">
            <a:extLst>
              <a:ext uri="{FF2B5EF4-FFF2-40B4-BE49-F238E27FC236}">
                <a16:creationId xmlns:a16="http://schemas.microsoft.com/office/drawing/2014/main" id="{6E8080A7-4119-4236-B7A1-5484F3B09DD7}"/>
              </a:ext>
            </a:extLst>
          </p:cNvPr>
          <p:cNvSpPr>
            <a:spLocks noChangeArrowheads="1"/>
          </p:cNvSpPr>
          <p:nvPr/>
        </p:nvSpPr>
        <p:spPr bwMode="blackWhite">
          <a:xfrm>
            <a:off x="3951326" y="2003227"/>
            <a:ext cx="2146435" cy="711200"/>
          </a:xfrm>
          <a:prstGeom prst="homePlate">
            <a:avLst>
              <a:gd name="adj" fmla="val 28351"/>
            </a:avLst>
          </a:prstGeom>
          <a:solidFill>
            <a:srgbClr val="D8D4D7"/>
          </a:solidFill>
          <a:ln w="2857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marL="228600">
              <a:spcBef>
                <a:spcPct val="50000"/>
              </a:spcBef>
              <a:defRPr>
                <a:solidFill>
                  <a:schemeClr val="tx1"/>
                </a:solidFill>
                <a:latin typeface="Arial" charset="0"/>
              </a:defRPr>
            </a:lvl1pPr>
            <a:lvl2pPr marL="282575" indent="-168275">
              <a:spcBef>
                <a:spcPct val="50000"/>
              </a:spcBef>
              <a:buClr>
                <a:schemeClr val="tx1"/>
              </a:buClr>
              <a:buChar char="•"/>
              <a:defRPr>
                <a:solidFill>
                  <a:schemeClr val="tx1"/>
                </a:solidFill>
                <a:latin typeface="Arial" charset="0"/>
              </a:defRPr>
            </a:lvl2pPr>
            <a:lvl3pPr marL="625475" indent="-228600">
              <a:spcBef>
                <a:spcPct val="25000"/>
              </a:spcBef>
              <a:buClr>
                <a:schemeClr val="tx1"/>
              </a:buClr>
              <a:buChar char="–"/>
              <a:defRPr>
                <a:solidFill>
                  <a:schemeClr val="tx1"/>
                </a:solidFill>
                <a:latin typeface="Arial" charset="0"/>
              </a:defRPr>
            </a:lvl3pPr>
            <a:lvl4pPr marL="968375" indent="-228600">
              <a:spcBef>
                <a:spcPct val="25000"/>
              </a:spcBef>
              <a:buClr>
                <a:schemeClr val="tx1"/>
              </a:buClr>
              <a:buChar char="–"/>
              <a:defRPr>
                <a:solidFill>
                  <a:schemeClr val="tx1"/>
                </a:solidFill>
                <a:latin typeface="Arial" charset="0"/>
              </a:defRPr>
            </a:lvl4pPr>
            <a:lvl5pPr marL="1311275" indent="-228600">
              <a:spcBef>
                <a:spcPct val="25000"/>
              </a:spcBef>
              <a:buClr>
                <a:schemeClr val="tx1"/>
              </a:buClr>
              <a:buChar char="–"/>
              <a:defRPr>
                <a:solidFill>
                  <a:schemeClr val="tx1"/>
                </a:solidFill>
                <a:latin typeface="Arial" charset="0"/>
              </a:defRPr>
            </a:lvl5pPr>
            <a:lvl6pPr marL="1768475" indent="-228600" eaLnBrk="0" fontAlgn="base" hangingPunct="0">
              <a:spcBef>
                <a:spcPct val="25000"/>
              </a:spcBef>
              <a:spcAft>
                <a:spcPct val="0"/>
              </a:spcAft>
              <a:buClr>
                <a:schemeClr val="tx1"/>
              </a:buClr>
              <a:buChar char="–"/>
              <a:defRPr>
                <a:solidFill>
                  <a:schemeClr val="tx1"/>
                </a:solidFill>
                <a:latin typeface="Arial" charset="0"/>
              </a:defRPr>
            </a:lvl6pPr>
            <a:lvl7pPr marL="2225675" indent="-228600" eaLnBrk="0" fontAlgn="base" hangingPunct="0">
              <a:spcBef>
                <a:spcPct val="25000"/>
              </a:spcBef>
              <a:spcAft>
                <a:spcPct val="0"/>
              </a:spcAft>
              <a:buClr>
                <a:schemeClr val="tx1"/>
              </a:buClr>
              <a:buChar char="–"/>
              <a:defRPr>
                <a:solidFill>
                  <a:schemeClr val="tx1"/>
                </a:solidFill>
                <a:latin typeface="Arial" charset="0"/>
              </a:defRPr>
            </a:lvl7pPr>
            <a:lvl8pPr marL="2682875" indent="-228600" eaLnBrk="0" fontAlgn="base" hangingPunct="0">
              <a:spcBef>
                <a:spcPct val="25000"/>
              </a:spcBef>
              <a:spcAft>
                <a:spcPct val="0"/>
              </a:spcAft>
              <a:buClr>
                <a:schemeClr val="tx1"/>
              </a:buClr>
              <a:buChar char="–"/>
              <a:defRPr>
                <a:solidFill>
                  <a:schemeClr val="tx1"/>
                </a:solidFill>
                <a:latin typeface="Arial" charset="0"/>
              </a:defRPr>
            </a:lvl8pPr>
            <a:lvl9pPr marL="3140075" indent="-228600" eaLnBrk="0" fontAlgn="base" hangingPunct="0">
              <a:spcBef>
                <a:spcPct val="25000"/>
              </a:spcBef>
              <a:spcAft>
                <a:spcPct val="0"/>
              </a:spcAft>
              <a:buClr>
                <a:schemeClr val="tx1"/>
              </a:buClr>
              <a:buChar char="–"/>
              <a:defRPr>
                <a:solidFill>
                  <a:schemeClr val="tx1"/>
                </a:solidFill>
                <a:latin typeface="Arial" charset="0"/>
              </a:defRPr>
            </a:lvl9pPr>
          </a:lstStyle>
          <a:p>
            <a:pPr marL="287338">
              <a:defRPr/>
            </a:pPr>
            <a:r>
              <a:rPr lang="en-US" altLang="en-US" sz="1200" dirty="0">
                <a:solidFill>
                  <a:schemeClr val="tx2"/>
                </a:solidFill>
                <a:latin typeface="+mn-lt"/>
              </a:rPr>
              <a:t>Header</a:t>
            </a:r>
            <a:endParaRPr lang="en-US" altLang="en-US" sz="1600" dirty="0">
              <a:solidFill>
                <a:schemeClr val="tx2"/>
              </a:solidFill>
              <a:latin typeface="+mn-lt"/>
            </a:endParaRPr>
          </a:p>
        </p:txBody>
      </p:sp>
      <p:sp>
        <p:nvSpPr>
          <p:cNvPr id="10" name="AutoShape 7">
            <a:extLst>
              <a:ext uri="{FF2B5EF4-FFF2-40B4-BE49-F238E27FC236}">
                <a16:creationId xmlns:a16="http://schemas.microsoft.com/office/drawing/2014/main" id="{3E980E95-1215-486C-A33B-1B4596B63693}"/>
              </a:ext>
            </a:extLst>
          </p:cNvPr>
          <p:cNvSpPr>
            <a:spLocks noChangeArrowheads="1"/>
          </p:cNvSpPr>
          <p:nvPr/>
        </p:nvSpPr>
        <p:spPr bwMode="blackWhite">
          <a:xfrm>
            <a:off x="2226733" y="2003227"/>
            <a:ext cx="2071992" cy="711200"/>
          </a:xfrm>
          <a:prstGeom prst="homePlate">
            <a:avLst>
              <a:gd name="adj" fmla="val 27367"/>
            </a:avLst>
          </a:prstGeom>
          <a:solidFill>
            <a:srgbClr val="D8D4D7"/>
          </a:solidFill>
          <a:ln w="2857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lgn="ctr">
              <a:spcBef>
                <a:spcPct val="50000"/>
              </a:spcBef>
              <a:defRPr sz="2000" b="1">
                <a:solidFill>
                  <a:schemeClr val="tx1"/>
                </a:solidFill>
                <a:latin typeface="Arial" charset="0"/>
              </a:defRPr>
            </a:lvl1pPr>
            <a:lvl2pPr marL="742950" indent="-285750" algn="ctr">
              <a:spcBef>
                <a:spcPct val="50000"/>
              </a:spcBef>
              <a:defRPr sz="2000" b="1">
                <a:solidFill>
                  <a:schemeClr val="tx1"/>
                </a:solidFill>
                <a:latin typeface="Arial" charset="0"/>
              </a:defRPr>
            </a:lvl2pPr>
            <a:lvl3pPr marL="1143000" indent="-228600" algn="ctr">
              <a:spcBef>
                <a:spcPct val="50000"/>
              </a:spcBef>
              <a:defRPr sz="2000" b="1">
                <a:solidFill>
                  <a:schemeClr val="tx1"/>
                </a:solidFill>
                <a:latin typeface="Arial" charset="0"/>
              </a:defRPr>
            </a:lvl3pPr>
            <a:lvl4pPr marL="1600200" indent="-228600" algn="ctr">
              <a:spcBef>
                <a:spcPct val="50000"/>
              </a:spcBef>
              <a:defRPr sz="2000" b="1">
                <a:solidFill>
                  <a:schemeClr val="tx1"/>
                </a:solidFill>
                <a:latin typeface="Arial" charset="0"/>
              </a:defRPr>
            </a:lvl4pPr>
            <a:lvl5pPr marL="2057400" indent="-228600" algn="ctr">
              <a:spcBef>
                <a:spcPct val="50000"/>
              </a:spcBef>
              <a:defRPr sz="2000" b="1">
                <a:solidFill>
                  <a:schemeClr val="tx1"/>
                </a:solidFill>
                <a:latin typeface="Arial" charset="0"/>
              </a:defRPr>
            </a:lvl5pPr>
            <a:lvl6pPr marL="2514600" indent="-228600" algn="ctr" eaLnBrk="0" fontAlgn="base" hangingPunct="0">
              <a:spcBef>
                <a:spcPct val="50000"/>
              </a:spcBef>
              <a:spcAft>
                <a:spcPct val="0"/>
              </a:spcAft>
              <a:defRPr sz="2000" b="1">
                <a:solidFill>
                  <a:schemeClr val="tx1"/>
                </a:solidFill>
                <a:latin typeface="Arial" charset="0"/>
              </a:defRPr>
            </a:lvl6pPr>
            <a:lvl7pPr marL="2971800" indent="-228600" algn="ctr" eaLnBrk="0" fontAlgn="base" hangingPunct="0">
              <a:spcBef>
                <a:spcPct val="50000"/>
              </a:spcBef>
              <a:spcAft>
                <a:spcPct val="0"/>
              </a:spcAft>
              <a:defRPr sz="2000" b="1">
                <a:solidFill>
                  <a:schemeClr val="tx1"/>
                </a:solidFill>
                <a:latin typeface="Arial" charset="0"/>
              </a:defRPr>
            </a:lvl7pPr>
            <a:lvl8pPr marL="3429000" indent="-228600" algn="ctr" eaLnBrk="0" fontAlgn="base" hangingPunct="0">
              <a:spcBef>
                <a:spcPct val="50000"/>
              </a:spcBef>
              <a:spcAft>
                <a:spcPct val="0"/>
              </a:spcAft>
              <a:defRPr sz="2000" b="1">
                <a:solidFill>
                  <a:schemeClr val="tx1"/>
                </a:solidFill>
                <a:latin typeface="Arial" charset="0"/>
              </a:defRPr>
            </a:lvl8pPr>
            <a:lvl9pPr marL="3886200" indent="-228600" algn="ctr" eaLnBrk="0" fontAlgn="base" hangingPunct="0">
              <a:spcBef>
                <a:spcPct val="50000"/>
              </a:spcBef>
              <a:spcAft>
                <a:spcPct val="0"/>
              </a:spcAft>
              <a:defRPr sz="2000" b="1">
                <a:solidFill>
                  <a:schemeClr val="tx1"/>
                </a:solidFill>
                <a:latin typeface="Arial" charset="0"/>
              </a:defRPr>
            </a:lvl9pPr>
          </a:lstStyle>
          <a:p>
            <a:pPr marL="61913" algn="l">
              <a:defRPr/>
            </a:pPr>
            <a:r>
              <a:rPr lang="en-US" altLang="en-US" sz="1200" dirty="0">
                <a:solidFill>
                  <a:schemeClr val="tx2"/>
                </a:solidFill>
                <a:latin typeface="+mn-lt"/>
              </a:rPr>
              <a:t>Titles in segments </a:t>
            </a:r>
            <a:br>
              <a:rPr lang="en-US" altLang="en-US" sz="1200" dirty="0">
                <a:solidFill>
                  <a:schemeClr val="tx2"/>
                </a:solidFill>
                <a:latin typeface="+mn-lt"/>
              </a:rPr>
            </a:br>
            <a:r>
              <a:rPr lang="en-US" altLang="en-US" sz="1200" dirty="0">
                <a:solidFill>
                  <a:schemeClr val="tx2"/>
                </a:solidFill>
                <a:latin typeface="+mn-lt"/>
              </a:rPr>
              <a:t>are initial cap</a:t>
            </a:r>
            <a:br>
              <a:rPr lang="en-US" altLang="en-US" sz="1200" dirty="0">
                <a:solidFill>
                  <a:schemeClr val="tx2"/>
                </a:solidFill>
                <a:latin typeface="+mn-lt"/>
              </a:rPr>
            </a:br>
            <a:r>
              <a:rPr lang="en-US" altLang="en-US" sz="1200" dirty="0">
                <a:solidFill>
                  <a:schemeClr val="tx2"/>
                </a:solidFill>
                <a:latin typeface="+mn-lt"/>
              </a:rPr>
              <a:t>and left aligned</a:t>
            </a:r>
          </a:p>
        </p:txBody>
      </p:sp>
      <p:sp>
        <p:nvSpPr>
          <p:cNvPr id="11" name="AutoShape 2">
            <a:extLst>
              <a:ext uri="{FF2B5EF4-FFF2-40B4-BE49-F238E27FC236}">
                <a16:creationId xmlns:a16="http://schemas.microsoft.com/office/drawing/2014/main" id="{E9957265-244F-4554-B440-F69BBCA4848E}"/>
              </a:ext>
            </a:extLst>
          </p:cNvPr>
          <p:cNvSpPr>
            <a:spLocks noChangeArrowheads="1"/>
          </p:cNvSpPr>
          <p:nvPr/>
        </p:nvSpPr>
        <p:spPr bwMode="blackWhite">
          <a:xfrm>
            <a:off x="7586618" y="3390244"/>
            <a:ext cx="2146435" cy="711200"/>
          </a:xfrm>
          <a:prstGeom prst="homePlate">
            <a:avLst>
              <a:gd name="adj" fmla="val 28351"/>
            </a:avLst>
          </a:prstGeom>
          <a:solidFill>
            <a:srgbClr val="58595B"/>
          </a:solidFill>
          <a:ln w="28575">
            <a:solidFill>
              <a:schemeClr val="bg1"/>
            </a:solidFill>
            <a:miter lim="800000"/>
            <a:headEnd/>
            <a:tailEnd/>
          </a:ln>
          <a:effectLst/>
        </p:spPr>
        <p:txBody>
          <a:bodyPr wrap="none" anchor="ctr"/>
          <a:lstStyle>
            <a:lvl1pPr marL="190500">
              <a:spcBef>
                <a:spcPct val="50000"/>
              </a:spcBef>
              <a:defRPr>
                <a:solidFill>
                  <a:schemeClr val="tx1"/>
                </a:solidFill>
                <a:latin typeface="Arial" charset="0"/>
              </a:defRPr>
            </a:lvl1pPr>
            <a:lvl2pPr marL="282575" indent="-168275">
              <a:spcBef>
                <a:spcPct val="50000"/>
              </a:spcBef>
              <a:buClr>
                <a:schemeClr val="tx1"/>
              </a:buClr>
              <a:buChar char="•"/>
              <a:defRPr>
                <a:solidFill>
                  <a:schemeClr val="tx1"/>
                </a:solidFill>
                <a:latin typeface="Arial" charset="0"/>
              </a:defRPr>
            </a:lvl2pPr>
            <a:lvl3pPr marL="625475" indent="-228600">
              <a:spcBef>
                <a:spcPct val="25000"/>
              </a:spcBef>
              <a:buClr>
                <a:schemeClr val="tx1"/>
              </a:buClr>
              <a:buChar char="–"/>
              <a:defRPr>
                <a:solidFill>
                  <a:schemeClr val="tx1"/>
                </a:solidFill>
                <a:latin typeface="Arial" charset="0"/>
              </a:defRPr>
            </a:lvl3pPr>
            <a:lvl4pPr marL="968375" indent="-228600">
              <a:spcBef>
                <a:spcPct val="25000"/>
              </a:spcBef>
              <a:buClr>
                <a:schemeClr val="tx1"/>
              </a:buClr>
              <a:buChar char="–"/>
              <a:defRPr>
                <a:solidFill>
                  <a:schemeClr val="tx1"/>
                </a:solidFill>
                <a:latin typeface="Arial" charset="0"/>
              </a:defRPr>
            </a:lvl4pPr>
            <a:lvl5pPr marL="1311275" indent="-228600">
              <a:spcBef>
                <a:spcPct val="25000"/>
              </a:spcBef>
              <a:buClr>
                <a:schemeClr val="tx1"/>
              </a:buClr>
              <a:buChar char="–"/>
              <a:defRPr>
                <a:solidFill>
                  <a:schemeClr val="tx1"/>
                </a:solidFill>
                <a:latin typeface="Arial" charset="0"/>
              </a:defRPr>
            </a:lvl5pPr>
            <a:lvl6pPr marL="1768475" indent="-228600" eaLnBrk="0" fontAlgn="base" hangingPunct="0">
              <a:spcBef>
                <a:spcPct val="25000"/>
              </a:spcBef>
              <a:spcAft>
                <a:spcPct val="0"/>
              </a:spcAft>
              <a:buClr>
                <a:schemeClr val="tx1"/>
              </a:buClr>
              <a:buChar char="–"/>
              <a:defRPr>
                <a:solidFill>
                  <a:schemeClr val="tx1"/>
                </a:solidFill>
                <a:latin typeface="Arial" charset="0"/>
              </a:defRPr>
            </a:lvl6pPr>
            <a:lvl7pPr marL="2225675" indent="-228600" eaLnBrk="0" fontAlgn="base" hangingPunct="0">
              <a:spcBef>
                <a:spcPct val="25000"/>
              </a:spcBef>
              <a:spcAft>
                <a:spcPct val="0"/>
              </a:spcAft>
              <a:buClr>
                <a:schemeClr val="tx1"/>
              </a:buClr>
              <a:buChar char="–"/>
              <a:defRPr>
                <a:solidFill>
                  <a:schemeClr val="tx1"/>
                </a:solidFill>
                <a:latin typeface="Arial" charset="0"/>
              </a:defRPr>
            </a:lvl7pPr>
            <a:lvl8pPr marL="2682875" indent="-228600" eaLnBrk="0" fontAlgn="base" hangingPunct="0">
              <a:spcBef>
                <a:spcPct val="25000"/>
              </a:spcBef>
              <a:spcAft>
                <a:spcPct val="0"/>
              </a:spcAft>
              <a:buClr>
                <a:schemeClr val="tx1"/>
              </a:buClr>
              <a:buChar char="–"/>
              <a:defRPr>
                <a:solidFill>
                  <a:schemeClr val="tx1"/>
                </a:solidFill>
                <a:latin typeface="Arial" charset="0"/>
              </a:defRPr>
            </a:lvl8pPr>
            <a:lvl9pPr marL="3140075" indent="-228600" eaLnBrk="0" fontAlgn="base" hangingPunct="0">
              <a:spcBef>
                <a:spcPct val="25000"/>
              </a:spcBef>
              <a:spcAft>
                <a:spcPct val="0"/>
              </a:spcAft>
              <a:buClr>
                <a:schemeClr val="tx1"/>
              </a:buClr>
              <a:buChar char="–"/>
              <a:defRPr>
                <a:solidFill>
                  <a:schemeClr val="tx1"/>
                </a:solidFill>
                <a:latin typeface="Arial" charset="0"/>
              </a:defRPr>
            </a:lvl9pPr>
          </a:lstStyle>
          <a:p>
            <a:pPr marL="287338">
              <a:defRPr/>
            </a:pPr>
            <a:r>
              <a:rPr lang="en-US" altLang="en-US" sz="1200" dirty="0">
                <a:solidFill>
                  <a:schemeClr val="bg1"/>
                </a:solidFill>
                <a:latin typeface="+mn-lt"/>
              </a:rPr>
              <a:t>Header</a:t>
            </a:r>
            <a:endParaRPr lang="en-US" altLang="en-US" sz="1600" dirty="0">
              <a:solidFill>
                <a:schemeClr val="bg1"/>
              </a:solidFill>
              <a:latin typeface="+mn-lt"/>
            </a:endParaRPr>
          </a:p>
        </p:txBody>
      </p:sp>
      <p:sp>
        <p:nvSpPr>
          <p:cNvPr id="12" name="AutoShape 3">
            <a:extLst>
              <a:ext uri="{FF2B5EF4-FFF2-40B4-BE49-F238E27FC236}">
                <a16:creationId xmlns:a16="http://schemas.microsoft.com/office/drawing/2014/main" id="{DE4F9CFF-09BC-4714-AAFC-62753AA75EA6}"/>
              </a:ext>
            </a:extLst>
          </p:cNvPr>
          <p:cNvSpPr>
            <a:spLocks noChangeArrowheads="1"/>
          </p:cNvSpPr>
          <p:nvPr/>
        </p:nvSpPr>
        <p:spPr bwMode="blackWhite">
          <a:xfrm>
            <a:off x="5737955" y="3390244"/>
            <a:ext cx="2146435" cy="711200"/>
          </a:xfrm>
          <a:prstGeom prst="homePlate">
            <a:avLst>
              <a:gd name="adj" fmla="val 28351"/>
            </a:avLst>
          </a:prstGeom>
          <a:solidFill>
            <a:srgbClr val="8C8585"/>
          </a:solidFill>
          <a:ln w="28575">
            <a:solidFill>
              <a:schemeClr val="bg1"/>
            </a:solidFill>
            <a:miter lim="800000"/>
            <a:headEnd/>
            <a:tailEnd/>
          </a:ln>
          <a:effectLst/>
        </p:spPr>
        <p:txBody>
          <a:bodyPr wrap="none" anchor="ctr"/>
          <a:lstStyle/>
          <a:p>
            <a:pPr marL="339725">
              <a:spcBef>
                <a:spcPct val="50000"/>
              </a:spcBef>
            </a:pPr>
            <a:r>
              <a:rPr lang="en-US" altLang="en-US" sz="1200" dirty="0">
                <a:solidFill>
                  <a:schemeClr val="bg1"/>
                </a:solidFill>
              </a:rPr>
              <a:t>Header</a:t>
            </a:r>
          </a:p>
        </p:txBody>
      </p:sp>
      <p:sp>
        <p:nvSpPr>
          <p:cNvPr id="13" name="AutoShape 4">
            <a:extLst>
              <a:ext uri="{FF2B5EF4-FFF2-40B4-BE49-F238E27FC236}">
                <a16:creationId xmlns:a16="http://schemas.microsoft.com/office/drawing/2014/main" id="{1190BBC7-FFDF-469C-BC1F-F94C62F8849D}"/>
              </a:ext>
            </a:extLst>
          </p:cNvPr>
          <p:cNvSpPr>
            <a:spLocks noChangeArrowheads="1"/>
          </p:cNvSpPr>
          <p:nvPr/>
        </p:nvSpPr>
        <p:spPr bwMode="blackWhite">
          <a:xfrm>
            <a:off x="3951326" y="3390244"/>
            <a:ext cx="2146435" cy="711200"/>
          </a:xfrm>
          <a:prstGeom prst="homePlate">
            <a:avLst>
              <a:gd name="adj" fmla="val 28351"/>
            </a:avLst>
          </a:prstGeom>
          <a:solidFill>
            <a:srgbClr val="D8D4D7"/>
          </a:solidFill>
          <a:ln w="28575">
            <a:solidFill>
              <a:schemeClr val="bg1"/>
            </a:solidFill>
            <a:miter lim="800000"/>
            <a:headEnd/>
            <a:tailEnd/>
          </a:ln>
          <a:effectLst/>
        </p:spPr>
        <p:txBody>
          <a:bodyPr wrap="none" anchor="ctr"/>
          <a:lstStyle>
            <a:lvl1pPr marL="228600">
              <a:spcBef>
                <a:spcPct val="50000"/>
              </a:spcBef>
              <a:defRPr>
                <a:solidFill>
                  <a:schemeClr val="tx1"/>
                </a:solidFill>
                <a:latin typeface="Arial" charset="0"/>
              </a:defRPr>
            </a:lvl1pPr>
            <a:lvl2pPr marL="282575" indent="-168275">
              <a:spcBef>
                <a:spcPct val="50000"/>
              </a:spcBef>
              <a:buClr>
                <a:schemeClr val="tx1"/>
              </a:buClr>
              <a:buChar char="•"/>
              <a:defRPr>
                <a:solidFill>
                  <a:schemeClr val="tx1"/>
                </a:solidFill>
                <a:latin typeface="Arial" charset="0"/>
              </a:defRPr>
            </a:lvl2pPr>
            <a:lvl3pPr marL="625475" indent="-228600">
              <a:spcBef>
                <a:spcPct val="25000"/>
              </a:spcBef>
              <a:buClr>
                <a:schemeClr val="tx1"/>
              </a:buClr>
              <a:buChar char="–"/>
              <a:defRPr>
                <a:solidFill>
                  <a:schemeClr val="tx1"/>
                </a:solidFill>
                <a:latin typeface="Arial" charset="0"/>
              </a:defRPr>
            </a:lvl3pPr>
            <a:lvl4pPr marL="968375" indent="-228600">
              <a:spcBef>
                <a:spcPct val="25000"/>
              </a:spcBef>
              <a:buClr>
                <a:schemeClr val="tx1"/>
              </a:buClr>
              <a:buChar char="–"/>
              <a:defRPr>
                <a:solidFill>
                  <a:schemeClr val="tx1"/>
                </a:solidFill>
                <a:latin typeface="Arial" charset="0"/>
              </a:defRPr>
            </a:lvl4pPr>
            <a:lvl5pPr marL="1311275" indent="-228600">
              <a:spcBef>
                <a:spcPct val="25000"/>
              </a:spcBef>
              <a:buClr>
                <a:schemeClr val="tx1"/>
              </a:buClr>
              <a:buChar char="–"/>
              <a:defRPr>
                <a:solidFill>
                  <a:schemeClr val="tx1"/>
                </a:solidFill>
                <a:latin typeface="Arial" charset="0"/>
              </a:defRPr>
            </a:lvl5pPr>
            <a:lvl6pPr marL="1768475" indent="-228600" eaLnBrk="0" fontAlgn="base" hangingPunct="0">
              <a:spcBef>
                <a:spcPct val="25000"/>
              </a:spcBef>
              <a:spcAft>
                <a:spcPct val="0"/>
              </a:spcAft>
              <a:buClr>
                <a:schemeClr val="tx1"/>
              </a:buClr>
              <a:buChar char="–"/>
              <a:defRPr>
                <a:solidFill>
                  <a:schemeClr val="tx1"/>
                </a:solidFill>
                <a:latin typeface="Arial" charset="0"/>
              </a:defRPr>
            </a:lvl6pPr>
            <a:lvl7pPr marL="2225675" indent="-228600" eaLnBrk="0" fontAlgn="base" hangingPunct="0">
              <a:spcBef>
                <a:spcPct val="25000"/>
              </a:spcBef>
              <a:spcAft>
                <a:spcPct val="0"/>
              </a:spcAft>
              <a:buClr>
                <a:schemeClr val="tx1"/>
              </a:buClr>
              <a:buChar char="–"/>
              <a:defRPr>
                <a:solidFill>
                  <a:schemeClr val="tx1"/>
                </a:solidFill>
                <a:latin typeface="Arial" charset="0"/>
              </a:defRPr>
            </a:lvl7pPr>
            <a:lvl8pPr marL="2682875" indent="-228600" eaLnBrk="0" fontAlgn="base" hangingPunct="0">
              <a:spcBef>
                <a:spcPct val="25000"/>
              </a:spcBef>
              <a:spcAft>
                <a:spcPct val="0"/>
              </a:spcAft>
              <a:buClr>
                <a:schemeClr val="tx1"/>
              </a:buClr>
              <a:buChar char="–"/>
              <a:defRPr>
                <a:solidFill>
                  <a:schemeClr val="tx1"/>
                </a:solidFill>
                <a:latin typeface="Arial" charset="0"/>
              </a:defRPr>
            </a:lvl8pPr>
            <a:lvl9pPr marL="3140075" indent="-228600" eaLnBrk="0" fontAlgn="base" hangingPunct="0">
              <a:spcBef>
                <a:spcPct val="25000"/>
              </a:spcBef>
              <a:spcAft>
                <a:spcPct val="0"/>
              </a:spcAft>
              <a:buClr>
                <a:schemeClr val="tx1"/>
              </a:buClr>
              <a:buChar char="–"/>
              <a:defRPr>
                <a:solidFill>
                  <a:schemeClr val="tx1"/>
                </a:solidFill>
                <a:latin typeface="Arial" charset="0"/>
              </a:defRPr>
            </a:lvl9pPr>
          </a:lstStyle>
          <a:p>
            <a:pPr marL="287338">
              <a:defRPr/>
            </a:pPr>
            <a:r>
              <a:rPr lang="en-US" altLang="en-US" sz="1200" dirty="0">
                <a:solidFill>
                  <a:schemeClr val="tx2"/>
                </a:solidFill>
                <a:latin typeface="+mn-lt"/>
              </a:rPr>
              <a:t>Header</a:t>
            </a:r>
            <a:endParaRPr lang="en-US" altLang="en-US" sz="1600" dirty="0">
              <a:solidFill>
                <a:schemeClr val="tx2"/>
              </a:solidFill>
              <a:latin typeface="+mn-lt"/>
            </a:endParaRPr>
          </a:p>
        </p:txBody>
      </p:sp>
      <p:sp>
        <p:nvSpPr>
          <p:cNvPr id="14" name="AutoShape 7">
            <a:extLst>
              <a:ext uri="{FF2B5EF4-FFF2-40B4-BE49-F238E27FC236}">
                <a16:creationId xmlns:a16="http://schemas.microsoft.com/office/drawing/2014/main" id="{2A853E5A-8225-4A22-9F13-5AF0BCD5E6AD}"/>
              </a:ext>
            </a:extLst>
          </p:cNvPr>
          <p:cNvSpPr>
            <a:spLocks noChangeArrowheads="1"/>
          </p:cNvSpPr>
          <p:nvPr/>
        </p:nvSpPr>
        <p:spPr bwMode="blackWhite">
          <a:xfrm>
            <a:off x="2226733" y="3390244"/>
            <a:ext cx="2071992" cy="711200"/>
          </a:xfrm>
          <a:prstGeom prst="homePlate">
            <a:avLst>
              <a:gd name="adj" fmla="val 27367"/>
            </a:avLst>
          </a:prstGeom>
          <a:solidFill>
            <a:schemeClr val="bg2"/>
          </a:solidFill>
          <a:ln w="28575">
            <a:solidFill>
              <a:schemeClr val="bg1"/>
            </a:solidFill>
            <a:miter lim="800000"/>
            <a:headEnd/>
            <a:tailEnd/>
          </a:ln>
          <a:effectLst/>
        </p:spPr>
        <p:txBody>
          <a:bodyPr wrap="none" anchor="ctr"/>
          <a:lstStyle>
            <a:lvl1pPr algn="ctr">
              <a:spcBef>
                <a:spcPct val="50000"/>
              </a:spcBef>
              <a:defRPr sz="2000" b="1">
                <a:solidFill>
                  <a:schemeClr val="tx1"/>
                </a:solidFill>
                <a:latin typeface="Arial" charset="0"/>
              </a:defRPr>
            </a:lvl1pPr>
            <a:lvl2pPr marL="742950" indent="-285750" algn="ctr">
              <a:spcBef>
                <a:spcPct val="50000"/>
              </a:spcBef>
              <a:defRPr sz="2000" b="1">
                <a:solidFill>
                  <a:schemeClr val="tx1"/>
                </a:solidFill>
                <a:latin typeface="Arial" charset="0"/>
              </a:defRPr>
            </a:lvl2pPr>
            <a:lvl3pPr marL="1143000" indent="-228600" algn="ctr">
              <a:spcBef>
                <a:spcPct val="50000"/>
              </a:spcBef>
              <a:defRPr sz="2000" b="1">
                <a:solidFill>
                  <a:schemeClr val="tx1"/>
                </a:solidFill>
                <a:latin typeface="Arial" charset="0"/>
              </a:defRPr>
            </a:lvl3pPr>
            <a:lvl4pPr marL="1600200" indent="-228600" algn="ctr">
              <a:spcBef>
                <a:spcPct val="50000"/>
              </a:spcBef>
              <a:defRPr sz="2000" b="1">
                <a:solidFill>
                  <a:schemeClr val="tx1"/>
                </a:solidFill>
                <a:latin typeface="Arial" charset="0"/>
              </a:defRPr>
            </a:lvl4pPr>
            <a:lvl5pPr marL="2057400" indent="-228600" algn="ctr">
              <a:spcBef>
                <a:spcPct val="50000"/>
              </a:spcBef>
              <a:defRPr sz="2000" b="1">
                <a:solidFill>
                  <a:schemeClr val="tx1"/>
                </a:solidFill>
                <a:latin typeface="Arial" charset="0"/>
              </a:defRPr>
            </a:lvl5pPr>
            <a:lvl6pPr marL="2514600" indent="-228600" algn="ctr" eaLnBrk="0" fontAlgn="base" hangingPunct="0">
              <a:spcBef>
                <a:spcPct val="50000"/>
              </a:spcBef>
              <a:spcAft>
                <a:spcPct val="0"/>
              </a:spcAft>
              <a:defRPr sz="2000" b="1">
                <a:solidFill>
                  <a:schemeClr val="tx1"/>
                </a:solidFill>
                <a:latin typeface="Arial" charset="0"/>
              </a:defRPr>
            </a:lvl6pPr>
            <a:lvl7pPr marL="2971800" indent="-228600" algn="ctr" eaLnBrk="0" fontAlgn="base" hangingPunct="0">
              <a:spcBef>
                <a:spcPct val="50000"/>
              </a:spcBef>
              <a:spcAft>
                <a:spcPct val="0"/>
              </a:spcAft>
              <a:defRPr sz="2000" b="1">
                <a:solidFill>
                  <a:schemeClr val="tx1"/>
                </a:solidFill>
                <a:latin typeface="Arial" charset="0"/>
              </a:defRPr>
            </a:lvl7pPr>
            <a:lvl8pPr marL="3429000" indent="-228600" algn="ctr" eaLnBrk="0" fontAlgn="base" hangingPunct="0">
              <a:spcBef>
                <a:spcPct val="50000"/>
              </a:spcBef>
              <a:spcAft>
                <a:spcPct val="0"/>
              </a:spcAft>
              <a:defRPr sz="2000" b="1">
                <a:solidFill>
                  <a:schemeClr val="tx1"/>
                </a:solidFill>
                <a:latin typeface="Arial" charset="0"/>
              </a:defRPr>
            </a:lvl8pPr>
            <a:lvl9pPr marL="3886200" indent="-228600" algn="ctr" eaLnBrk="0" fontAlgn="base" hangingPunct="0">
              <a:spcBef>
                <a:spcPct val="50000"/>
              </a:spcBef>
              <a:spcAft>
                <a:spcPct val="0"/>
              </a:spcAft>
              <a:defRPr sz="2000" b="1">
                <a:solidFill>
                  <a:schemeClr val="tx1"/>
                </a:solidFill>
                <a:latin typeface="Arial" charset="0"/>
              </a:defRPr>
            </a:lvl9pPr>
          </a:lstStyle>
          <a:p>
            <a:pPr marL="61913" algn="l">
              <a:defRPr/>
            </a:pPr>
            <a:r>
              <a:rPr lang="en-US" altLang="en-US" sz="1200" dirty="0">
                <a:solidFill>
                  <a:schemeClr val="tx2"/>
                </a:solidFill>
                <a:latin typeface="+mn-lt"/>
              </a:rPr>
              <a:t>Titles in segments </a:t>
            </a:r>
            <a:br>
              <a:rPr lang="en-US" altLang="en-US" sz="1200" dirty="0">
                <a:solidFill>
                  <a:schemeClr val="tx2"/>
                </a:solidFill>
                <a:latin typeface="+mn-lt"/>
              </a:rPr>
            </a:br>
            <a:r>
              <a:rPr lang="en-US" altLang="en-US" sz="1200" dirty="0">
                <a:solidFill>
                  <a:schemeClr val="tx2"/>
                </a:solidFill>
                <a:latin typeface="+mn-lt"/>
              </a:rPr>
              <a:t>are initial cap</a:t>
            </a:r>
            <a:br>
              <a:rPr lang="en-US" altLang="en-US" sz="1200" dirty="0">
                <a:solidFill>
                  <a:schemeClr val="tx2"/>
                </a:solidFill>
                <a:latin typeface="+mn-lt"/>
              </a:rPr>
            </a:br>
            <a:r>
              <a:rPr lang="en-US" altLang="en-US" sz="1200" dirty="0">
                <a:solidFill>
                  <a:schemeClr val="tx2"/>
                </a:solidFill>
                <a:latin typeface="+mn-lt"/>
              </a:rPr>
              <a:t>and left aligned</a:t>
            </a:r>
          </a:p>
        </p:txBody>
      </p:sp>
    </p:spTree>
    <p:extLst>
      <p:ext uri="{BB962C8B-B14F-4D97-AF65-F5344CB8AC3E}">
        <p14:creationId xmlns:p14="http://schemas.microsoft.com/office/powerpoint/2010/main" val="2540232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52</a:t>
            </a:fld>
            <a:endParaRPr lang="en-IN" dirty="0">
              <a:solidFill>
                <a:srgbClr val="8C8585"/>
              </a:solidFill>
            </a:endParaRPr>
          </a:p>
        </p:txBody>
      </p:sp>
      <p:sp>
        <p:nvSpPr>
          <p:cNvPr id="2" name="Title 1">
            <a:extLst>
              <a:ext uri="{FF2B5EF4-FFF2-40B4-BE49-F238E27FC236}">
                <a16:creationId xmlns:a16="http://schemas.microsoft.com/office/drawing/2014/main" id="{ABA1896E-3BCE-40B0-B97E-B478AAD30A3E}"/>
              </a:ext>
            </a:extLst>
          </p:cNvPr>
          <p:cNvSpPr>
            <a:spLocks noGrp="1"/>
          </p:cNvSpPr>
          <p:nvPr>
            <p:ph type="title"/>
          </p:nvPr>
        </p:nvSpPr>
        <p:spPr/>
        <p:txBody>
          <a:bodyPr/>
          <a:lstStyle/>
          <a:p>
            <a:r>
              <a:rPr lang="en-US" dirty="0"/>
              <a:t>CHART SAMPLES</a:t>
            </a:r>
          </a:p>
        </p:txBody>
      </p:sp>
      <p:sp>
        <p:nvSpPr>
          <p:cNvPr id="3" name="Text Placeholder 2">
            <a:extLst>
              <a:ext uri="{FF2B5EF4-FFF2-40B4-BE49-F238E27FC236}">
                <a16:creationId xmlns:a16="http://schemas.microsoft.com/office/drawing/2014/main" id="{91BF911F-AEB9-47F1-B2F8-0136A9AF1BDA}"/>
              </a:ext>
            </a:extLst>
          </p:cNvPr>
          <p:cNvSpPr>
            <a:spLocks noGrp="1"/>
          </p:cNvSpPr>
          <p:nvPr>
            <p:ph type="body" sz="quarter" idx="13"/>
          </p:nvPr>
        </p:nvSpPr>
        <p:spPr/>
        <p:txBody>
          <a:bodyPr/>
          <a:lstStyle/>
          <a:p>
            <a:endParaRPr lang="en-US" dirty="0"/>
          </a:p>
        </p:txBody>
      </p:sp>
      <p:graphicFrame>
        <p:nvGraphicFramePr>
          <p:cNvPr id="6" name="Content Placeholder 7">
            <a:extLst>
              <a:ext uri="{FF2B5EF4-FFF2-40B4-BE49-F238E27FC236}">
                <a16:creationId xmlns:a16="http://schemas.microsoft.com/office/drawing/2014/main" id="{40F0E995-F493-4736-ABC2-A70B47FD875E}"/>
              </a:ext>
            </a:extLst>
          </p:cNvPr>
          <p:cNvGraphicFramePr>
            <a:graphicFrameLocks/>
          </p:cNvGraphicFramePr>
          <p:nvPr/>
        </p:nvGraphicFramePr>
        <p:xfrm>
          <a:off x="365125" y="1455738"/>
          <a:ext cx="11461750" cy="44878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1134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5FEDA6-F130-46B9-8A15-34FDA4D1A8F2}"/>
              </a:ext>
            </a:extLst>
          </p:cNvPr>
          <p:cNvSpPr>
            <a:spLocks noGrp="1"/>
          </p:cNvSpPr>
          <p:nvPr>
            <p:ph type="sldNum" sz="quarter" idx="12"/>
          </p:nvPr>
        </p:nvSpPr>
        <p:spPr/>
        <p:txBody>
          <a:bodyPr/>
          <a:lstStyle/>
          <a:p>
            <a:pPr algn="r"/>
            <a:fld id="{4FA92F45-BA5D-4C7A-ACC7-D44B34072B97}" type="slidenum">
              <a:rPr lang="en-IN" smtClean="0">
                <a:solidFill>
                  <a:srgbClr val="8C8585"/>
                </a:solidFill>
              </a:rPr>
              <a:pPr algn="r"/>
              <a:t>53</a:t>
            </a:fld>
            <a:endParaRPr lang="en-IN" dirty="0">
              <a:solidFill>
                <a:srgbClr val="8C8585"/>
              </a:solidFill>
            </a:endParaRPr>
          </a:p>
        </p:txBody>
      </p:sp>
      <p:sp>
        <p:nvSpPr>
          <p:cNvPr id="2" name="Title 1">
            <a:extLst>
              <a:ext uri="{FF2B5EF4-FFF2-40B4-BE49-F238E27FC236}">
                <a16:creationId xmlns:a16="http://schemas.microsoft.com/office/drawing/2014/main" id="{ABA1896E-3BCE-40B0-B97E-B478AAD30A3E}"/>
              </a:ext>
            </a:extLst>
          </p:cNvPr>
          <p:cNvSpPr>
            <a:spLocks noGrp="1"/>
          </p:cNvSpPr>
          <p:nvPr>
            <p:ph type="title"/>
          </p:nvPr>
        </p:nvSpPr>
        <p:spPr/>
        <p:txBody>
          <a:bodyPr/>
          <a:lstStyle/>
          <a:p>
            <a:r>
              <a:rPr lang="en-US" dirty="0"/>
              <a:t>SAMPLE GRAPHS</a:t>
            </a:r>
          </a:p>
        </p:txBody>
      </p:sp>
      <p:sp>
        <p:nvSpPr>
          <p:cNvPr id="3" name="Text Placeholder 2">
            <a:extLst>
              <a:ext uri="{FF2B5EF4-FFF2-40B4-BE49-F238E27FC236}">
                <a16:creationId xmlns:a16="http://schemas.microsoft.com/office/drawing/2014/main" id="{FDCC8E53-2DB7-46A0-86C7-7A208D843585}"/>
              </a:ext>
            </a:extLst>
          </p:cNvPr>
          <p:cNvSpPr>
            <a:spLocks noGrp="1"/>
          </p:cNvSpPr>
          <p:nvPr>
            <p:ph type="body" sz="quarter" idx="13"/>
          </p:nvPr>
        </p:nvSpPr>
        <p:spPr/>
        <p:txBody>
          <a:bodyPr/>
          <a:lstStyle/>
          <a:p>
            <a:endParaRPr lang="en-US" dirty="0"/>
          </a:p>
        </p:txBody>
      </p:sp>
      <p:graphicFrame>
        <p:nvGraphicFramePr>
          <p:cNvPr id="6" name="Content Placeholder 5">
            <a:extLst>
              <a:ext uri="{FF2B5EF4-FFF2-40B4-BE49-F238E27FC236}">
                <a16:creationId xmlns:a16="http://schemas.microsoft.com/office/drawing/2014/main" id="{BBD0144D-9575-4BE6-9423-85942B0C1C34}"/>
              </a:ext>
            </a:extLst>
          </p:cNvPr>
          <p:cNvGraphicFramePr>
            <a:graphicFrameLocks/>
          </p:cNvGraphicFramePr>
          <p:nvPr/>
        </p:nvGraphicFramePr>
        <p:xfrm>
          <a:off x="365125" y="1458913"/>
          <a:ext cx="5654675" cy="44878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ontent Placeholder 6">
            <a:extLst>
              <a:ext uri="{FF2B5EF4-FFF2-40B4-BE49-F238E27FC236}">
                <a16:creationId xmlns:a16="http://schemas.microsoft.com/office/drawing/2014/main" id="{A5F31B12-9AC1-43FD-918E-62C1ACBDCAC9}"/>
              </a:ext>
            </a:extLst>
          </p:cNvPr>
          <p:cNvGraphicFramePr>
            <a:graphicFrameLocks/>
          </p:cNvGraphicFramePr>
          <p:nvPr/>
        </p:nvGraphicFramePr>
        <p:xfrm>
          <a:off x="6172200" y="1458913"/>
          <a:ext cx="5654675" cy="448786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7761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E01F2A-5714-4D71-9584-5F201509BAB5}"/>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54</a:t>
            </a:fld>
            <a:endParaRPr lang="en-IN" dirty="0">
              <a:solidFill>
                <a:srgbClr val="8C8585"/>
              </a:solidFill>
            </a:endParaRPr>
          </a:p>
        </p:txBody>
      </p:sp>
      <p:grpSp>
        <p:nvGrpSpPr>
          <p:cNvPr id="6" name="Group 5">
            <a:extLst>
              <a:ext uri="{FF2B5EF4-FFF2-40B4-BE49-F238E27FC236}">
                <a16:creationId xmlns:a16="http://schemas.microsoft.com/office/drawing/2014/main" id="{BC9E3B23-6F24-4E38-83AE-CE1B95973865}"/>
              </a:ext>
            </a:extLst>
          </p:cNvPr>
          <p:cNvGrpSpPr/>
          <p:nvPr/>
        </p:nvGrpSpPr>
        <p:grpSpPr>
          <a:xfrm>
            <a:off x="2225854" y="692098"/>
            <a:ext cx="399067" cy="409050"/>
            <a:chOff x="455613" y="339725"/>
            <a:chExt cx="126999" cy="130176"/>
          </a:xfrm>
          <a:solidFill>
            <a:schemeClr val="accent1"/>
          </a:solidFill>
        </p:grpSpPr>
        <p:sp>
          <p:nvSpPr>
            <p:cNvPr id="7" name="Freeform 5">
              <a:extLst>
                <a:ext uri="{FF2B5EF4-FFF2-40B4-BE49-F238E27FC236}">
                  <a16:creationId xmlns:a16="http://schemas.microsoft.com/office/drawing/2014/main" id="{F39106AA-98E2-4C52-81EE-06F3A35CF18A}"/>
                </a:ext>
              </a:extLst>
            </p:cNvPr>
            <p:cNvSpPr>
              <a:spLocks noEditPoints="1"/>
            </p:cNvSpPr>
            <p:nvPr/>
          </p:nvSpPr>
          <p:spPr bwMode="auto">
            <a:xfrm>
              <a:off x="517525" y="376238"/>
              <a:ext cx="65087" cy="55563"/>
            </a:xfrm>
            <a:custGeom>
              <a:avLst/>
              <a:gdLst>
                <a:gd name="T0" fmla="*/ 9 w 36"/>
                <a:gd name="T1" fmla="*/ 0 h 31"/>
                <a:gd name="T2" fmla="*/ 0 w 36"/>
                <a:gd name="T3" fmla="*/ 16 h 31"/>
                <a:gd name="T4" fmla="*/ 9 w 36"/>
                <a:gd name="T5" fmla="*/ 31 h 31"/>
                <a:gd name="T6" fmla="*/ 27 w 36"/>
                <a:gd name="T7" fmla="*/ 31 h 31"/>
                <a:gd name="T8" fmla="*/ 36 w 36"/>
                <a:gd name="T9" fmla="*/ 16 h 31"/>
                <a:gd name="T10" fmla="*/ 27 w 36"/>
                <a:gd name="T11" fmla="*/ 0 h 31"/>
                <a:gd name="T12" fmla="*/ 9 w 36"/>
                <a:gd name="T13" fmla="*/ 0 h 31"/>
                <a:gd name="T14" fmla="*/ 13 w 36"/>
                <a:gd name="T15" fmla="*/ 6 h 31"/>
                <a:gd name="T16" fmla="*/ 7 w 36"/>
                <a:gd name="T17" fmla="*/ 18 h 31"/>
                <a:gd name="T18" fmla="*/ 5 w 36"/>
                <a:gd name="T19" fmla="*/ 18 h 31"/>
                <a:gd name="T20" fmla="*/ 4 w 36"/>
                <a:gd name="T21" fmla="*/ 16 h 31"/>
                <a:gd name="T22" fmla="*/ 4 w 36"/>
                <a:gd name="T23" fmla="*/ 16 h 31"/>
                <a:gd name="T24" fmla="*/ 11 w 36"/>
                <a:gd name="T25" fmla="*/ 4 h 31"/>
                <a:gd name="T26" fmla="*/ 13 w 36"/>
                <a:gd name="T27" fmla="*/ 4 h 31"/>
                <a:gd name="T28" fmla="*/ 13 w 36"/>
                <a:gd name="T29" fmla="*/ 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31">
                  <a:moveTo>
                    <a:pt x="9" y="0"/>
                  </a:moveTo>
                  <a:cubicBezTo>
                    <a:pt x="0" y="16"/>
                    <a:pt x="0" y="16"/>
                    <a:pt x="0" y="16"/>
                  </a:cubicBezTo>
                  <a:cubicBezTo>
                    <a:pt x="9" y="31"/>
                    <a:pt x="9" y="31"/>
                    <a:pt x="9" y="31"/>
                  </a:cubicBezTo>
                  <a:cubicBezTo>
                    <a:pt x="27" y="31"/>
                    <a:pt x="27" y="31"/>
                    <a:pt x="27" y="31"/>
                  </a:cubicBezTo>
                  <a:cubicBezTo>
                    <a:pt x="36" y="16"/>
                    <a:pt x="36" y="16"/>
                    <a:pt x="36" y="16"/>
                  </a:cubicBezTo>
                  <a:cubicBezTo>
                    <a:pt x="27" y="0"/>
                    <a:pt x="27" y="0"/>
                    <a:pt x="27" y="0"/>
                  </a:cubicBezTo>
                  <a:lnTo>
                    <a:pt x="9" y="0"/>
                  </a:lnTo>
                  <a:close/>
                  <a:moveTo>
                    <a:pt x="13" y="6"/>
                  </a:moveTo>
                  <a:cubicBezTo>
                    <a:pt x="7" y="18"/>
                    <a:pt x="7" y="18"/>
                    <a:pt x="7" y="18"/>
                  </a:cubicBezTo>
                  <a:cubicBezTo>
                    <a:pt x="6" y="18"/>
                    <a:pt x="5" y="18"/>
                    <a:pt x="5" y="18"/>
                  </a:cubicBezTo>
                  <a:cubicBezTo>
                    <a:pt x="4" y="18"/>
                    <a:pt x="4" y="17"/>
                    <a:pt x="4" y="16"/>
                  </a:cubicBezTo>
                  <a:cubicBezTo>
                    <a:pt x="4" y="16"/>
                    <a:pt x="4" y="16"/>
                    <a:pt x="4" y="16"/>
                  </a:cubicBezTo>
                  <a:cubicBezTo>
                    <a:pt x="11" y="4"/>
                    <a:pt x="11" y="4"/>
                    <a:pt x="11" y="4"/>
                  </a:cubicBezTo>
                  <a:cubicBezTo>
                    <a:pt x="12" y="4"/>
                    <a:pt x="12" y="4"/>
                    <a:pt x="13" y="4"/>
                  </a:cubicBezTo>
                  <a:cubicBezTo>
                    <a:pt x="14" y="4"/>
                    <a:pt x="14" y="5"/>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a:extLst>
                <a:ext uri="{FF2B5EF4-FFF2-40B4-BE49-F238E27FC236}">
                  <a16:creationId xmlns:a16="http://schemas.microsoft.com/office/drawing/2014/main" id="{1C967E51-AD38-44CC-A982-F55B247B3D32}"/>
                </a:ext>
              </a:extLst>
            </p:cNvPr>
            <p:cNvSpPr>
              <a:spLocks noEditPoints="1"/>
            </p:cNvSpPr>
            <p:nvPr/>
          </p:nvSpPr>
          <p:spPr bwMode="auto">
            <a:xfrm>
              <a:off x="455613" y="339725"/>
              <a:ext cx="63500" cy="55563"/>
            </a:xfrm>
            <a:custGeom>
              <a:avLst/>
              <a:gdLst>
                <a:gd name="T0" fmla="*/ 26 w 35"/>
                <a:gd name="T1" fmla="*/ 31 h 31"/>
                <a:gd name="T2" fmla="*/ 35 w 35"/>
                <a:gd name="T3" fmla="*/ 15 h 31"/>
                <a:gd name="T4" fmla="*/ 26 w 35"/>
                <a:gd name="T5" fmla="*/ 0 h 31"/>
                <a:gd name="T6" fmla="*/ 9 w 35"/>
                <a:gd name="T7" fmla="*/ 0 h 31"/>
                <a:gd name="T8" fmla="*/ 0 w 35"/>
                <a:gd name="T9" fmla="*/ 15 h 31"/>
                <a:gd name="T10" fmla="*/ 9 w 35"/>
                <a:gd name="T11" fmla="*/ 31 h 31"/>
                <a:gd name="T12" fmla="*/ 26 w 35"/>
                <a:gd name="T13" fmla="*/ 31 h 31"/>
                <a:gd name="T14" fmla="*/ 5 w 35"/>
                <a:gd name="T15" fmla="*/ 18 h 31"/>
                <a:gd name="T16" fmla="*/ 4 w 35"/>
                <a:gd name="T17" fmla="*/ 16 h 31"/>
                <a:gd name="T18" fmla="*/ 4 w 35"/>
                <a:gd name="T19" fmla="*/ 16 h 31"/>
                <a:gd name="T20" fmla="*/ 11 w 35"/>
                <a:gd name="T21" fmla="*/ 4 h 31"/>
                <a:gd name="T22" fmla="*/ 12 w 35"/>
                <a:gd name="T23" fmla="*/ 3 h 31"/>
                <a:gd name="T24" fmla="*/ 13 w 35"/>
                <a:gd name="T25" fmla="*/ 5 h 31"/>
                <a:gd name="T26" fmla="*/ 6 w 35"/>
                <a:gd name="T27" fmla="*/ 17 h 31"/>
                <a:gd name="T28" fmla="*/ 5 w 35"/>
                <a:gd name="T29" fmla="*/ 1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1">
                  <a:moveTo>
                    <a:pt x="26" y="31"/>
                  </a:moveTo>
                  <a:cubicBezTo>
                    <a:pt x="35" y="15"/>
                    <a:pt x="35" y="15"/>
                    <a:pt x="35" y="15"/>
                  </a:cubicBezTo>
                  <a:cubicBezTo>
                    <a:pt x="26" y="0"/>
                    <a:pt x="26" y="0"/>
                    <a:pt x="26" y="0"/>
                  </a:cubicBezTo>
                  <a:cubicBezTo>
                    <a:pt x="9" y="0"/>
                    <a:pt x="9" y="0"/>
                    <a:pt x="9" y="0"/>
                  </a:cubicBezTo>
                  <a:cubicBezTo>
                    <a:pt x="0" y="15"/>
                    <a:pt x="0" y="15"/>
                    <a:pt x="0" y="15"/>
                  </a:cubicBezTo>
                  <a:cubicBezTo>
                    <a:pt x="9" y="31"/>
                    <a:pt x="9" y="31"/>
                    <a:pt x="9" y="31"/>
                  </a:cubicBezTo>
                  <a:lnTo>
                    <a:pt x="26" y="31"/>
                  </a:lnTo>
                  <a:close/>
                  <a:moveTo>
                    <a:pt x="5" y="18"/>
                  </a:moveTo>
                  <a:cubicBezTo>
                    <a:pt x="4" y="18"/>
                    <a:pt x="4" y="17"/>
                    <a:pt x="4" y="16"/>
                  </a:cubicBezTo>
                  <a:cubicBezTo>
                    <a:pt x="4" y="16"/>
                    <a:pt x="4" y="16"/>
                    <a:pt x="4" y="16"/>
                  </a:cubicBezTo>
                  <a:cubicBezTo>
                    <a:pt x="11" y="4"/>
                    <a:pt x="11" y="4"/>
                    <a:pt x="11" y="4"/>
                  </a:cubicBezTo>
                  <a:cubicBezTo>
                    <a:pt x="11" y="3"/>
                    <a:pt x="12" y="3"/>
                    <a:pt x="12" y="3"/>
                  </a:cubicBezTo>
                  <a:cubicBezTo>
                    <a:pt x="13" y="4"/>
                    <a:pt x="13" y="4"/>
                    <a:pt x="13" y="5"/>
                  </a:cubicBezTo>
                  <a:cubicBezTo>
                    <a:pt x="6" y="17"/>
                    <a:pt x="6" y="17"/>
                    <a:pt x="6" y="17"/>
                  </a:cubicBezTo>
                  <a:cubicBezTo>
                    <a:pt x="6" y="17"/>
                    <a:pt x="5" y="18"/>
                    <a:pt x="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a:extLst>
                <a:ext uri="{FF2B5EF4-FFF2-40B4-BE49-F238E27FC236}">
                  <a16:creationId xmlns:a16="http://schemas.microsoft.com/office/drawing/2014/main" id="{617CE848-CF07-4184-9942-B960E23F7AE7}"/>
                </a:ext>
              </a:extLst>
            </p:cNvPr>
            <p:cNvSpPr>
              <a:spLocks noEditPoints="1"/>
            </p:cNvSpPr>
            <p:nvPr/>
          </p:nvSpPr>
          <p:spPr bwMode="auto">
            <a:xfrm>
              <a:off x="455613" y="412751"/>
              <a:ext cx="63500" cy="57150"/>
            </a:xfrm>
            <a:custGeom>
              <a:avLst/>
              <a:gdLst>
                <a:gd name="T0" fmla="*/ 26 w 35"/>
                <a:gd name="T1" fmla="*/ 31 h 31"/>
                <a:gd name="T2" fmla="*/ 35 w 35"/>
                <a:gd name="T3" fmla="*/ 15 h 31"/>
                <a:gd name="T4" fmla="*/ 26 w 35"/>
                <a:gd name="T5" fmla="*/ 0 h 31"/>
                <a:gd name="T6" fmla="*/ 9 w 35"/>
                <a:gd name="T7" fmla="*/ 0 h 31"/>
                <a:gd name="T8" fmla="*/ 0 w 35"/>
                <a:gd name="T9" fmla="*/ 15 h 31"/>
                <a:gd name="T10" fmla="*/ 9 w 35"/>
                <a:gd name="T11" fmla="*/ 31 h 31"/>
                <a:gd name="T12" fmla="*/ 26 w 35"/>
                <a:gd name="T13" fmla="*/ 31 h 31"/>
                <a:gd name="T14" fmla="*/ 5 w 35"/>
                <a:gd name="T15" fmla="*/ 18 h 31"/>
                <a:gd name="T16" fmla="*/ 4 w 35"/>
                <a:gd name="T17" fmla="*/ 17 h 31"/>
                <a:gd name="T18" fmla="*/ 4 w 35"/>
                <a:gd name="T19" fmla="*/ 16 h 31"/>
                <a:gd name="T20" fmla="*/ 11 w 35"/>
                <a:gd name="T21" fmla="*/ 4 h 31"/>
                <a:gd name="T22" fmla="*/ 12 w 35"/>
                <a:gd name="T23" fmla="*/ 4 h 31"/>
                <a:gd name="T24" fmla="*/ 13 w 35"/>
                <a:gd name="T25" fmla="*/ 5 h 31"/>
                <a:gd name="T26" fmla="*/ 6 w 35"/>
                <a:gd name="T27" fmla="*/ 17 h 31"/>
                <a:gd name="T28" fmla="*/ 5 w 35"/>
                <a:gd name="T29" fmla="*/ 18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1">
                  <a:moveTo>
                    <a:pt x="26" y="31"/>
                  </a:moveTo>
                  <a:cubicBezTo>
                    <a:pt x="35" y="15"/>
                    <a:pt x="35" y="15"/>
                    <a:pt x="35" y="15"/>
                  </a:cubicBezTo>
                  <a:cubicBezTo>
                    <a:pt x="26" y="0"/>
                    <a:pt x="26" y="0"/>
                    <a:pt x="26" y="0"/>
                  </a:cubicBezTo>
                  <a:cubicBezTo>
                    <a:pt x="9" y="0"/>
                    <a:pt x="9" y="0"/>
                    <a:pt x="9" y="0"/>
                  </a:cubicBezTo>
                  <a:cubicBezTo>
                    <a:pt x="0" y="15"/>
                    <a:pt x="0" y="15"/>
                    <a:pt x="0" y="15"/>
                  </a:cubicBezTo>
                  <a:cubicBezTo>
                    <a:pt x="9" y="31"/>
                    <a:pt x="9" y="31"/>
                    <a:pt x="9" y="31"/>
                  </a:cubicBezTo>
                  <a:lnTo>
                    <a:pt x="26" y="31"/>
                  </a:lnTo>
                  <a:close/>
                  <a:moveTo>
                    <a:pt x="5" y="18"/>
                  </a:moveTo>
                  <a:cubicBezTo>
                    <a:pt x="4" y="18"/>
                    <a:pt x="4" y="17"/>
                    <a:pt x="4" y="17"/>
                  </a:cubicBezTo>
                  <a:cubicBezTo>
                    <a:pt x="4" y="16"/>
                    <a:pt x="4" y="16"/>
                    <a:pt x="4" y="16"/>
                  </a:cubicBezTo>
                  <a:cubicBezTo>
                    <a:pt x="11" y="4"/>
                    <a:pt x="11" y="4"/>
                    <a:pt x="11" y="4"/>
                  </a:cubicBezTo>
                  <a:cubicBezTo>
                    <a:pt x="11" y="3"/>
                    <a:pt x="12" y="3"/>
                    <a:pt x="12" y="4"/>
                  </a:cubicBezTo>
                  <a:cubicBezTo>
                    <a:pt x="13" y="4"/>
                    <a:pt x="13" y="5"/>
                    <a:pt x="13" y="5"/>
                  </a:cubicBezTo>
                  <a:cubicBezTo>
                    <a:pt x="6" y="17"/>
                    <a:pt x="6" y="17"/>
                    <a:pt x="6" y="17"/>
                  </a:cubicBezTo>
                  <a:cubicBezTo>
                    <a:pt x="6" y="17"/>
                    <a:pt x="5" y="18"/>
                    <a:pt x="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 name="Group 9">
            <a:extLst>
              <a:ext uri="{FF2B5EF4-FFF2-40B4-BE49-F238E27FC236}">
                <a16:creationId xmlns:a16="http://schemas.microsoft.com/office/drawing/2014/main" id="{DD7F67DF-B5A1-4436-9B23-741632F92E33}"/>
              </a:ext>
            </a:extLst>
          </p:cNvPr>
          <p:cNvGrpSpPr/>
          <p:nvPr/>
        </p:nvGrpSpPr>
        <p:grpSpPr>
          <a:xfrm>
            <a:off x="9417776" y="657559"/>
            <a:ext cx="272143" cy="365837"/>
            <a:chOff x="1157283" y="339725"/>
            <a:chExt cx="96837" cy="130176"/>
          </a:xfrm>
          <a:solidFill>
            <a:schemeClr val="accent1"/>
          </a:solidFill>
        </p:grpSpPr>
        <p:sp>
          <p:nvSpPr>
            <p:cNvPr id="11" name="Freeform 8">
              <a:extLst>
                <a:ext uri="{FF2B5EF4-FFF2-40B4-BE49-F238E27FC236}">
                  <a16:creationId xmlns:a16="http://schemas.microsoft.com/office/drawing/2014/main" id="{57E20FDE-A26C-4017-B2EF-B77BE383B2B0}"/>
                </a:ext>
              </a:extLst>
            </p:cNvPr>
            <p:cNvSpPr>
              <a:spLocks/>
            </p:cNvSpPr>
            <p:nvPr/>
          </p:nvSpPr>
          <p:spPr bwMode="auto">
            <a:xfrm>
              <a:off x="1187445" y="339725"/>
              <a:ext cx="63500" cy="68263"/>
            </a:xfrm>
            <a:custGeom>
              <a:avLst/>
              <a:gdLst>
                <a:gd name="T0" fmla="*/ 9 w 35"/>
                <a:gd name="T1" fmla="*/ 34 h 38"/>
                <a:gd name="T2" fmla="*/ 12 w 35"/>
                <a:gd name="T3" fmla="*/ 28 h 38"/>
                <a:gd name="T4" fmla="*/ 14 w 35"/>
                <a:gd name="T5" fmla="*/ 29 h 38"/>
                <a:gd name="T6" fmla="*/ 16 w 35"/>
                <a:gd name="T7" fmla="*/ 24 h 38"/>
                <a:gd name="T8" fmla="*/ 23 w 35"/>
                <a:gd name="T9" fmla="*/ 36 h 38"/>
                <a:gd name="T10" fmla="*/ 24 w 35"/>
                <a:gd name="T11" fmla="*/ 35 h 38"/>
                <a:gd name="T12" fmla="*/ 32 w 35"/>
                <a:gd name="T13" fmla="*/ 35 h 38"/>
                <a:gd name="T14" fmla="*/ 35 w 35"/>
                <a:gd name="T15" fmla="*/ 38 h 38"/>
                <a:gd name="T16" fmla="*/ 32 w 35"/>
                <a:gd name="T17" fmla="*/ 24 h 38"/>
                <a:gd name="T18" fmla="*/ 20 w 35"/>
                <a:gd name="T19" fmla="*/ 13 h 38"/>
                <a:gd name="T20" fmla="*/ 21 w 35"/>
                <a:gd name="T21" fmla="*/ 10 h 38"/>
                <a:gd name="T22" fmla="*/ 23 w 35"/>
                <a:gd name="T23" fmla="*/ 11 h 38"/>
                <a:gd name="T24" fmla="*/ 25 w 35"/>
                <a:gd name="T25" fmla="*/ 7 h 38"/>
                <a:gd name="T26" fmla="*/ 8 w 35"/>
                <a:gd name="T27" fmla="*/ 0 h 38"/>
                <a:gd name="T28" fmla="*/ 6 w 35"/>
                <a:gd name="T29" fmla="*/ 4 h 38"/>
                <a:gd name="T30" fmla="*/ 8 w 35"/>
                <a:gd name="T31" fmla="*/ 5 h 38"/>
                <a:gd name="T32" fmla="*/ 0 w 35"/>
                <a:gd name="T33" fmla="*/ 23 h 38"/>
                <a:gd name="T34" fmla="*/ 2 w 35"/>
                <a:gd name="T35" fmla="*/ 24 h 38"/>
                <a:gd name="T36" fmla="*/ 0 w 35"/>
                <a:gd name="T37" fmla="*/ 30 h 38"/>
                <a:gd name="T38" fmla="*/ 9 w 35"/>
                <a:gd name="T39" fmla="*/ 3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38">
                  <a:moveTo>
                    <a:pt x="9" y="34"/>
                  </a:moveTo>
                  <a:cubicBezTo>
                    <a:pt x="12" y="28"/>
                    <a:pt x="12" y="28"/>
                    <a:pt x="12" y="28"/>
                  </a:cubicBezTo>
                  <a:cubicBezTo>
                    <a:pt x="14" y="29"/>
                    <a:pt x="14" y="29"/>
                    <a:pt x="14" y="29"/>
                  </a:cubicBezTo>
                  <a:cubicBezTo>
                    <a:pt x="16" y="24"/>
                    <a:pt x="16" y="24"/>
                    <a:pt x="16" y="24"/>
                  </a:cubicBezTo>
                  <a:cubicBezTo>
                    <a:pt x="20" y="26"/>
                    <a:pt x="23" y="31"/>
                    <a:pt x="23" y="36"/>
                  </a:cubicBezTo>
                  <a:cubicBezTo>
                    <a:pt x="23" y="35"/>
                    <a:pt x="24" y="35"/>
                    <a:pt x="24" y="35"/>
                  </a:cubicBezTo>
                  <a:cubicBezTo>
                    <a:pt x="26" y="34"/>
                    <a:pt x="29" y="34"/>
                    <a:pt x="32" y="35"/>
                  </a:cubicBezTo>
                  <a:cubicBezTo>
                    <a:pt x="33" y="36"/>
                    <a:pt x="34" y="37"/>
                    <a:pt x="35" y="38"/>
                  </a:cubicBezTo>
                  <a:cubicBezTo>
                    <a:pt x="35" y="33"/>
                    <a:pt x="34" y="28"/>
                    <a:pt x="32" y="24"/>
                  </a:cubicBezTo>
                  <a:cubicBezTo>
                    <a:pt x="29" y="19"/>
                    <a:pt x="25" y="15"/>
                    <a:pt x="20" y="13"/>
                  </a:cubicBezTo>
                  <a:cubicBezTo>
                    <a:pt x="21" y="10"/>
                    <a:pt x="21" y="10"/>
                    <a:pt x="21" y="10"/>
                  </a:cubicBezTo>
                  <a:cubicBezTo>
                    <a:pt x="23" y="11"/>
                    <a:pt x="23" y="11"/>
                    <a:pt x="23" y="11"/>
                  </a:cubicBezTo>
                  <a:cubicBezTo>
                    <a:pt x="25" y="7"/>
                    <a:pt x="25" y="7"/>
                    <a:pt x="25" y="7"/>
                  </a:cubicBezTo>
                  <a:cubicBezTo>
                    <a:pt x="8" y="0"/>
                    <a:pt x="8" y="0"/>
                    <a:pt x="8" y="0"/>
                  </a:cubicBezTo>
                  <a:cubicBezTo>
                    <a:pt x="6" y="4"/>
                    <a:pt x="6" y="4"/>
                    <a:pt x="6" y="4"/>
                  </a:cubicBezTo>
                  <a:cubicBezTo>
                    <a:pt x="8" y="5"/>
                    <a:pt x="8" y="5"/>
                    <a:pt x="8" y="5"/>
                  </a:cubicBezTo>
                  <a:cubicBezTo>
                    <a:pt x="0" y="23"/>
                    <a:pt x="0" y="23"/>
                    <a:pt x="0" y="23"/>
                  </a:cubicBezTo>
                  <a:cubicBezTo>
                    <a:pt x="2" y="24"/>
                    <a:pt x="2" y="24"/>
                    <a:pt x="2" y="24"/>
                  </a:cubicBezTo>
                  <a:cubicBezTo>
                    <a:pt x="0" y="30"/>
                    <a:pt x="0" y="30"/>
                    <a:pt x="0" y="30"/>
                  </a:cubicBezTo>
                  <a:lnTo>
                    <a:pt x="9"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9">
              <a:extLst>
                <a:ext uri="{FF2B5EF4-FFF2-40B4-BE49-F238E27FC236}">
                  <a16:creationId xmlns:a16="http://schemas.microsoft.com/office/drawing/2014/main" id="{D4904006-693B-42F0-8C05-566B46E93907}"/>
                </a:ext>
              </a:extLst>
            </p:cNvPr>
            <p:cNvSpPr>
              <a:spLocks/>
            </p:cNvSpPr>
            <p:nvPr/>
          </p:nvSpPr>
          <p:spPr bwMode="auto">
            <a:xfrm>
              <a:off x="1157283" y="404813"/>
              <a:ext cx="96837" cy="65088"/>
            </a:xfrm>
            <a:custGeom>
              <a:avLst/>
              <a:gdLst>
                <a:gd name="T0" fmla="*/ 45 w 54"/>
                <a:gd name="T1" fmla="*/ 25 h 36"/>
                <a:gd name="T2" fmla="*/ 39 w 54"/>
                <a:gd name="T3" fmla="*/ 25 h 36"/>
                <a:gd name="T4" fmla="*/ 45 w 54"/>
                <a:gd name="T5" fmla="*/ 20 h 36"/>
                <a:gd name="T6" fmla="*/ 45 w 54"/>
                <a:gd name="T7" fmla="*/ 20 h 36"/>
                <a:gd name="T8" fmla="*/ 41 w 54"/>
                <a:gd name="T9" fmla="*/ 19 h 36"/>
                <a:gd name="T10" fmla="*/ 35 w 54"/>
                <a:gd name="T11" fmla="*/ 14 h 36"/>
                <a:gd name="T12" fmla="*/ 19 w 54"/>
                <a:gd name="T13" fmla="*/ 16 h 36"/>
                <a:gd name="T14" fmla="*/ 8 w 54"/>
                <a:gd name="T15" fmla="*/ 12 h 36"/>
                <a:gd name="T16" fmla="*/ 10 w 54"/>
                <a:gd name="T17" fmla="*/ 7 h 36"/>
                <a:gd name="T18" fmla="*/ 25 w 54"/>
                <a:gd name="T19" fmla="*/ 13 h 36"/>
                <a:gd name="T20" fmla="*/ 26 w 54"/>
                <a:gd name="T21" fmla="*/ 9 h 36"/>
                <a:gd name="T22" fmla="*/ 4 w 54"/>
                <a:gd name="T23" fmla="*/ 0 h 36"/>
                <a:gd name="T24" fmla="*/ 3 w 54"/>
                <a:gd name="T25" fmla="*/ 4 h 36"/>
                <a:gd name="T26" fmla="*/ 6 w 54"/>
                <a:gd name="T27" fmla="*/ 6 h 36"/>
                <a:gd name="T28" fmla="*/ 4 w 54"/>
                <a:gd name="T29" fmla="*/ 10 h 36"/>
                <a:gd name="T30" fmla="*/ 0 w 54"/>
                <a:gd name="T31" fmla="*/ 21 h 36"/>
                <a:gd name="T32" fmla="*/ 9 w 54"/>
                <a:gd name="T33" fmla="*/ 25 h 36"/>
                <a:gd name="T34" fmla="*/ 0 w 54"/>
                <a:gd name="T35" fmla="*/ 34 h 36"/>
                <a:gd name="T36" fmla="*/ 0 w 54"/>
                <a:gd name="T37" fmla="*/ 36 h 36"/>
                <a:gd name="T38" fmla="*/ 54 w 54"/>
                <a:gd name="T39" fmla="*/ 36 h 36"/>
                <a:gd name="T40" fmla="*/ 54 w 54"/>
                <a:gd name="T41" fmla="*/ 34 h 36"/>
                <a:gd name="T42" fmla="*/ 45 w 54"/>
                <a:gd name="T43" fmla="*/ 25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36">
                  <a:moveTo>
                    <a:pt x="45" y="25"/>
                  </a:moveTo>
                  <a:cubicBezTo>
                    <a:pt x="39" y="25"/>
                    <a:pt x="39" y="25"/>
                    <a:pt x="39" y="25"/>
                  </a:cubicBezTo>
                  <a:cubicBezTo>
                    <a:pt x="41" y="23"/>
                    <a:pt x="43" y="22"/>
                    <a:pt x="45" y="20"/>
                  </a:cubicBezTo>
                  <a:cubicBezTo>
                    <a:pt x="45" y="20"/>
                    <a:pt x="45" y="20"/>
                    <a:pt x="45" y="20"/>
                  </a:cubicBezTo>
                  <a:cubicBezTo>
                    <a:pt x="43" y="20"/>
                    <a:pt x="42" y="20"/>
                    <a:pt x="41" y="19"/>
                  </a:cubicBezTo>
                  <a:cubicBezTo>
                    <a:pt x="38" y="18"/>
                    <a:pt x="36" y="16"/>
                    <a:pt x="35" y="14"/>
                  </a:cubicBezTo>
                  <a:cubicBezTo>
                    <a:pt x="30" y="17"/>
                    <a:pt x="24" y="18"/>
                    <a:pt x="19" y="16"/>
                  </a:cubicBezTo>
                  <a:cubicBezTo>
                    <a:pt x="8" y="12"/>
                    <a:pt x="8" y="12"/>
                    <a:pt x="8" y="12"/>
                  </a:cubicBezTo>
                  <a:cubicBezTo>
                    <a:pt x="10" y="7"/>
                    <a:pt x="10" y="7"/>
                    <a:pt x="10" y="7"/>
                  </a:cubicBezTo>
                  <a:cubicBezTo>
                    <a:pt x="25" y="13"/>
                    <a:pt x="25" y="13"/>
                    <a:pt x="25" y="13"/>
                  </a:cubicBezTo>
                  <a:cubicBezTo>
                    <a:pt x="26" y="9"/>
                    <a:pt x="26" y="9"/>
                    <a:pt x="26" y="9"/>
                  </a:cubicBezTo>
                  <a:cubicBezTo>
                    <a:pt x="4" y="0"/>
                    <a:pt x="4" y="0"/>
                    <a:pt x="4" y="0"/>
                  </a:cubicBezTo>
                  <a:cubicBezTo>
                    <a:pt x="3" y="4"/>
                    <a:pt x="3" y="4"/>
                    <a:pt x="3" y="4"/>
                  </a:cubicBezTo>
                  <a:cubicBezTo>
                    <a:pt x="6" y="6"/>
                    <a:pt x="6" y="6"/>
                    <a:pt x="6" y="6"/>
                  </a:cubicBezTo>
                  <a:cubicBezTo>
                    <a:pt x="4" y="10"/>
                    <a:pt x="4" y="10"/>
                    <a:pt x="4" y="10"/>
                  </a:cubicBezTo>
                  <a:cubicBezTo>
                    <a:pt x="0" y="21"/>
                    <a:pt x="0" y="21"/>
                    <a:pt x="0" y="21"/>
                  </a:cubicBezTo>
                  <a:cubicBezTo>
                    <a:pt x="9" y="25"/>
                    <a:pt x="9" y="25"/>
                    <a:pt x="9" y="25"/>
                  </a:cubicBezTo>
                  <a:cubicBezTo>
                    <a:pt x="4" y="25"/>
                    <a:pt x="0" y="29"/>
                    <a:pt x="0" y="34"/>
                  </a:cubicBezTo>
                  <a:cubicBezTo>
                    <a:pt x="0" y="36"/>
                    <a:pt x="0" y="36"/>
                    <a:pt x="0" y="36"/>
                  </a:cubicBezTo>
                  <a:cubicBezTo>
                    <a:pt x="54" y="36"/>
                    <a:pt x="54" y="36"/>
                    <a:pt x="54" y="36"/>
                  </a:cubicBezTo>
                  <a:cubicBezTo>
                    <a:pt x="54" y="34"/>
                    <a:pt x="54" y="34"/>
                    <a:pt x="54" y="34"/>
                  </a:cubicBezTo>
                  <a:cubicBezTo>
                    <a:pt x="54" y="29"/>
                    <a:pt x="50" y="25"/>
                    <a:pt x="4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0">
              <a:extLst>
                <a:ext uri="{FF2B5EF4-FFF2-40B4-BE49-F238E27FC236}">
                  <a16:creationId xmlns:a16="http://schemas.microsoft.com/office/drawing/2014/main" id="{0D94F9A1-8D8B-4098-8CF9-EB1A94E47F7D}"/>
                </a:ext>
              </a:extLst>
            </p:cNvPr>
            <p:cNvSpPr>
              <a:spLocks/>
            </p:cNvSpPr>
            <p:nvPr/>
          </p:nvSpPr>
          <p:spPr bwMode="auto">
            <a:xfrm>
              <a:off x="1223957" y="409576"/>
              <a:ext cx="25400" cy="23813"/>
            </a:xfrm>
            <a:custGeom>
              <a:avLst/>
              <a:gdLst>
                <a:gd name="T0" fmla="*/ 10 w 14"/>
                <a:gd name="T1" fmla="*/ 0 h 13"/>
                <a:gd name="T2" fmla="*/ 8 w 14"/>
                <a:gd name="T3" fmla="*/ 0 h 13"/>
                <a:gd name="T4" fmla="*/ 5 w 14"/>
                <a:gd name="T5" fmla="*/ 0 h 13"/>
                <a:gd name="T6" fmla="*/ 2 w 14"/>
                <a:gd name="T7" fmla="*/ 4 h 13"/>
                <a:gd name="T8" fmla="*/ 5 w 14"/>
                <a:gd name="T9" fmla="*/ 12 h 13"/>
                <a:gd name="T10" fmla="*/ 10 w 14"/>
                <a:gd name="T11" fmla="*/ 12 h 13"/>
                <a:gd name="T12" fmla="*/ 14 w 14"/>
                <a:gd name="T13" fmla="*/ 9 h 13"/>
                <a:gd name="T14" fmla="*/ 14 w 14"/>
                <a:gd name="T15" fmla="*/ 4 h 13"/>
                <a:gd name="T16" fmla="*/ 10 w 14"/>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3">
                  <a:moveTo>
                    <a:pt x="10" y="0"/>
                  </a:moveTo>
                  <a:cubicBezTo>
                    <a:pt x="9" y="0"/>
                    <a:pt x="9" y="0"/>
                    <a:pt x="8" y="0"/>
                  </a:cubicBezTo>
                  <a:cubicBezTo>
                    <a:pt x="7" y="0"/>
                    <a:pt x="6" y="0"/>
                    <a:pt x="5" y="0"/>
                  </a:cubicBezTo>
                  <a:cubicBezTo>
                    <a:pt x="4" y="1"/>
                    <a:pt x="2" y="2"/>
                    <a:pt x="2" y="4"/>
                  </a:cubicBezTo>
                  <a:cubicBezTo>
                    <a:pt x="0" y="7"/>
                    <a:pt x="2" y="11"/>
                    <a:pt x="5" y="12"/>
                  </a:cubicBezTo>
                  <a:cubicBezTo>
                    <a:pt x="7" y="13"/>
                    <a:pt x="9" y="13"/>
                    <a:pt x="10" y="12"/>
                  </a:cubicBezTo>
                  <a:cubicBezTo>
                    <a:pt x="12" y="12"/>
                    <a:pt x="13" y="10"/>
                    <a:pt x="14" y="9"/>
                  </a:cubicBezTo>
                  <a:cubicBezTo>
                    <a:pt x="14" y="7"/>
                    <a:pt x="14" y="5"/>
                    <a:pt x="14" y="4"/>
                  </a:cubicBezTo>
                  <a:cubicBezTo>
                    <a:pt x="13" y="2"/>
                    <a:pt x="12" y="1"/>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Freeform 11">
            <a:extLst>
              <a:ext uri="{FF2B5EF4-FFF2-40B4-BE49-F238E27FC236}">
                <a16:creationId xmlns:a16="http://schemas.microsoft.com/office/drawing/2014/main" id="{18F7AD97-92F1-4873-A6B0-14E9B852261E}"/>
              </a:ext>
            </a:extLst>
          </p:cNvPr>
          <p:cNvSpPr>
            <a:spLocks noEditPoints="1"/>
          </p:cNvSpPr>
          <p:nvPr/>
        </p:nvSpPr>
        <p:spPr bwMode="auto">
          <a:xfrm>
            <a:off x="3160185" y="684853"/>
            <a:ext cx="260093" cy="394964"/>
          </a:xfrm>
          <a:custGeom>
            <a:avLst/>
            <a:gdLst>
              <a:gd name="T0" fmla="*/ 47 w 47"/>
              <a:gd name="T1" fmla="*/ 6 h 72"/>
              <a:gd name="T2" fmla="*/ 47 w 47"/>
              <a:gd name="T3" fmla="*/ 0 h 72"/>
              <a:gd name="T4" fmla="*/ 42 w 47"/>
              <a:gd name="T5" fmla="*/ 0 h 72"/>
              <a:gd name="T6" fmla="*/ 42 w 47"/>
              <a:gd name="T7" fmla="*/ 5 h 72"/>
              <a:gd name="T8" fmla="*/ 24 w 47"/>
              <a:gd name="T9" fmla="*/ 5 h 72"/>
              <a:gd name="T10" fmla="*/ 6 w 47"/>
              <a:gd name="T11" fmla="*/ 5 h 72"/>
              <a:gd name="T12" fmla="*/ 6 w 47"/>
              <a:gd name="T13" fmla="*/ 0 h 72"/>
              <a:gd name="T14" fmla="*/ 0 w 47"/>
              <a:gd name="T15" fmla="*/ 0 h 72"/>
              <a:gd name="T16" fmla="*/ 0 w 47"/>
              <a:gd name="T17" fmla="*/ 6 h 72"/>
              <a:gd name="T18" fmla="*/ 7 w 47"/>
              <a:gd name="T19" fmla="*/ 24 h 72"/>
              <a:gd name="T20" fmla="*/ 18 w 47"/>
              <a:gd name="T21" fmla="*/ 36 h 72"/>
              <a:gd name="T22" fmla="*/ 7 w 47"/>
              <a:gd name="T23" fmla="*/ 48 h 72"/>
              <a:gd name="T24" fmla="*/ 0 w 47"/>
              <a:gd name="T25" fmla="*/ 66 h 72"/>
              <a:gd name="T26" fmla="*/ 0 w 47"/>
              <a:gd name="T27" fmla="*/ 72 h 72"/>
              <a:gd name="T28" fmla="*/ 6 w 47"/>
              <a:gd name="T29" fmla="*/ 72 h 72"/>
              <a:gd name="T30" fmla="*/ 6 w 47"/>
              <a:gd name="T31" fmla="*/ 66 h 72"/>
              <a:gd name="T32" fmla="*/ 24 w 47"/>
              <a:gd name="T33" fmla="*/ 66 h 72"/>
              <a:gd name="T34" fmla="*/ 42 w 47"/>
              <a:gd name="T35" fmla="*/ 66 h 72"/>
              <a:gd name="T36" fmla="*/ 42 w 47"/>
              <a:gd name="T37" fmla="*/ 72 h 72"/>
              <a:gd name="T38" fmla="*/ 47 w 47"/>
              <a:gd name="T39" fmla="*/ 72 h 72"/>
              <a:gd name="T40" fmla="*/ 47 w 47"/>
              <a:gd name="T41" fmla="*/ 66 h 72"/>
              <a:gd name="T42" fmla="*/ 40 w 47"/>
              <a:gd name="T43" fmla="*/ 48 h 72"/>
              <a:gd name="T44" fmla="*/ 29 w 47"/>
              <a:gd name="T45" fmla="*/ 36 h 72"/>
              <a:gd name="T46" fmla="*/ 40 w 47"/>
              <a:gd name="T47" fmla="*/ 24 h 72"/>
              <a:gd name="T48" fmla="*/ 47 w 47"/>
              <a:gd name="T49" fmla="*/ 6 h 72"/>
              <a:gd name="T50" fmla="*/ 41 w 47"/>
              <a:gd name="T51" fmla="*/ 61 h 72"/>
              <a:gd name="T52" fmla="*/ 24 w 47"/>
              <a:gd name="T53" fmla="*/ 61 h 72"/>
              <a:gd name="T54" fmla="*/ 6 w 47"/>
              <a:gd name="T55" fmla="*/ 61 h 72"/>
              <a:gd name="T56" fmla="*/ 9 w 47"/>
              <a:gd name="T57" fmla="*/ 54 h 72"/>
              <a:gd name="T58" fmla="*/ 24 w 47"/>
              <a:gd name="T59" fmla="*/ 54 h 72"/>
              <a:gd name="T60" fmla="*/ 38 w 47"/>
              <a:gd name="T61" fmla="*/ 54 h 72"/>
              <a:gd name="T62" fmla="*/ 41 w 47"/>
              <a:gd name="T63" fmla="*/ 61 h 72"/>
              <a:gd name="T64" fmla="*/ 31 w 47"/>
              <a:gd name="T65" fmla="*/ 47 h 72"/>
              <a:gd name="T66" fmla="*/ 24 w 47"/>
              <a:gd name="T67" fmla="*/ 47 h 72"/>
              <a:gd name="T68" fmla="*/ 16 w 47"/>
              <a:gd name="T69" fmla="*/ 47 h 72"/>
              <a:gd name="T70" fmla="*/ 24 w 47"/>
              <a:gd name="T71" fmla="*/ 40 h 72"/>
              <a:gd name="T72" fmla="*/ 31 w 47"/>
              <a:gd name="T73" fmla="*/ 47 h 72"/>
              <a:gd name="T74" fmla="*/ 24 w 47"/>
              <a:gd name="T75" fmla="*/ 32 h 72"/>
              <a:gd name="T76" fmla="*/ 16 w 47"/>
              <a:gd name="T77" fmla="*/ 25 h 72"/>
              <a:gd name="T78" fmla="*/ 24 w 47"/>
              <a:gd name="T79" fmla="*/ 25 h 72"/>
              <a:gd name="T80" fmla="*/ 31 w 47"/>
              <a:gd name="T81" fmla="*/ 25 h 72"/>
              <a:gd name="T82" fmla="*/ 24 w 47"/>
              <a:gd name="T83" fmla="*/ 32 h 72"/>
              <a:gd name="T84" fmla="*/ 24 w 47"/>
              <a:gd name="T85" fmla="*/ 18 h 72"/>
              <a:gd name="T86" fmla="*/ 9 w 47"/>
              <a:gd name="T87" fmla="*/ 18 h 72"/>
              <a:gd name="T88" fmla="*/ 6 w 47"/>
              <a:gd name="T89" fmla="*/ 11 h 72"/>
              <a:gd name="T90" fmla="*/ 24 w 47"/>
              <a:gd name="T91" fmla="*/ 11 h 72"/>
              <a:gd name="T92" fmla="*/ 41 w 47"/>
              <a:gd name="T93" fmla="*/ 11 h 72"/>
              <a:gd name="T94" fmla="*/ 38 w 47"/>
              <a:gd name="T95" fmla="*/ 18 h 72"/>
              <a:gd name="T96" fmla="*/ 24 w 47"/>
              <a:gd name="T97" fmla="*/ 18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 h="72">
                <a:moveTo>
                  <a:pt x="47" y="6"/>
                </a:moveTo>
                <a:cubicBezTo>
                  <a:pt x="47" y="0"/>
                  <a:pt x="47" y="0"/>
                  <a:pt x="47" y="0"/>
                </a:cubicBezTo>
                <a:cubicBezTo>
                  <a:pt x="42" y="0"/>
                  <a:pt x="42" y="0"/>
                  <a:pt x="42" y="0"/>
                </a:cubicBezTo>
                <a:cubicBezTo>
                  <a:pt x="42" y="5"/>
                  <a:pt x="42" y="5"/>
                  <a:pt x="42" y="5"/>
                </a:cubicBezTo>
                <a:cubicBezTo>
                  <a:pt x="24" y="5"/>
                  <a:pt x="24" y="5"/>
                  <a:pt x="24" y="5"/>
                </a:cubicBezTo>
                <a:cubicBezTo>
                  <a:pt x="6" y="5"/>
                  <a:pt x="6" y="5"/>
                  <a:pt x="6" y="5"/>
                </a:cubicBezTo>
                <a:cubicBezTo>
                  <a:pt x="6" y="0"/>
                  <a:pt x="6" y="0"/>
                  <a:pt x="6" y="0"/>
                </a:cubicBezTo>
                <a:cubicBezTo>
                  <a:pt x="0" y="0"/>
                  <a:pt x="0" y="0"/>
                  <a:pt x="0" y="0"/>
                </a:cubicBezTo>
                <a:cubicBezTo>
                  <a:pt x="0" y="6"/>
                  <a:pt x="0" y="6"/>
                  <a:pt x="0" y="6"/>
                </a:cubicBezTo>
                <a:cubicBezTo>
                  <a:pt x="0" y="13"/>
                  <a:pt x="3" y="19"/>
                  <a:pt x="7" y="24"/>
                </a:cubicBezTo>
                <a:cubicBezTo>
                  <a:pt x="18" y="36"/>
                  <a:pt x="18" y="36"/>
                  <a:pt x="18" y="36"/>
                </a:cubicBezTo>
                <a:cubicBezTo>
                  <a:pt x="7" y="48"/>
                  <a:pt x="7" y="48"/>
                  <a:pt x="7" y="48"/>
                </a:cubicBezTo>
                <a:cubicBezTo>
                  <a:pt x="3" y="53"/>
                  <a:pt x="0" y="59"/>
                  <a:pt x="0" y="66"/>
                </a:cubicBezTo>
                <a:cubicBezTo>
                  <a:pt x="0" y="72"/>
                  <a:pt x="0" y="72"/>
                  <a:pt x="0" y="72"/>
                </a:cubicBezTo>
                <a:cubicBezTo>
                  <a:pt x="6" y="72"/>
                  <a:pt x="6" y="72"/>
                  <a:pt x="6" y="72"/>
                </a:cubicBezTo>
                <a:cubicBezTo>
                  <a:pt x="6" y="66"/>
                  <a:pt x="6" y="66"/>
                  <a:pt x="6" y="66"/>
                </a:cubicBezTo>
                <a:cubicBezTo>
                  <a:pt x="24" y="66"/>
                  <a:pt x="24" y="66"/>
                  <a:pt x="24" y="66"/>
                </a:cubicBezTo>
                <a:cubicBezTo>
                  <a:pt x="42" y="66"/>
                  <a:pt x="42" y="66"/>
                  <a:pt x="42" y="66"/>
                </a:cubicBezTo>
                <a:cubicBezTo>
                  <a:pt x="42" y="72"/>
                  <a:pt x="42" y="72"/>
                  <a:pt x="42" y="72"/>
                </a:cubicBezTo>
                <a:cubicBezTo>
                  <a:pt x="47" y="72"/>
                  <a:pt x="47" y="72"/>
                  <a:pt x="47" y="72"/>
                </a:cubicBezTo>
                <a:cubicBezTo>
                  <a:pt x="47" y="66"/>
                  <a:pt x="47" y="66"/>
                  <a:pt x="47" y="66"/>
                </a:cubicBezTo>
                <a:cubicBezTo>
                  <a:pt x="47" y="59"/>
                  <a:pt x="45" y="53"/>
                  <a:pt x="40" y="48"/>
                </a:cubicBezTo>
                <a:cubicBezTo>
                  <a:pt x="29" y="36"/>
                  <a:pt x="29" y="36"/>
                  <a:pt x="29" y="36"/>
                </a:cubicBezTo>
                <a:cubicBezTo>
                  <a:pt x="40" y="24"/>
                  <a:pt x="40" y="24"/>
                  <a:pt x="40" y="24"/>
                </a:cubicBezTo>
                <a:cubicBezTo>
                  <a:pt x="45" y="19"/>
                  <a:pt x="47" y="13"/>
                  <a:pt x="47" y="6"/>
                </a:cubicBezTo>
                <a:close/>
                <a:moveTo>
                  <a:pt x="41" y="61"/>
                </a:moveTo>
                <a:cubicBezTo>
                  <a:pt x="24" y="61"/>
                  <a:pt x="24" y="61"/>
                  <a:pt x="24" y="61"/>
                </a:cubicBezTo>
                <a:cubicBezTo>
                  <a:pt x="6" y="61"/>
                  <a:pt x="6" y="61"/>
                  <a:pt x="6" y="61"/>
                </a:cubicBezTo>
                <a:cubicBezTo>
                  <a:pt x="7" y="58"/>
                  <a:pt x="8" y="56"/>
                  <a:pt x="9" y="54"/>
                </a:cubicBezTo>
                <a:cubicBezTo>
                  <a:pt x="24" y="54"/>
                  <a:pt x="24" y="54"/>
                  <a:pt x="24" y="54"/>
                </a:cubicBezTo>
                <a:cubicBezTo>
                  <a:pt x="38" y="54"/>
                  <a:pt x="38" y="54"/>
                  <a:pt x="38" y="54"/>
                </a:cubicBezTo>
                <a:cubicBezTo>
                  <a:pt x="39" y="56"/>
                  <a:pt x="41" y="58"/>
                  <a:pt x="41" y="61"/>
                </a:cubicBezTo>
                <a:close/>
                <a:moveTo>
                  <a:pt x="31" y="47"/>
                </a:moveTo>
                <a:cubicBezTo>
                  <a:pt x="24" y="47"/>
                  <a:pt x="24" y="47"/>
                  <a:pt x="24" y="47"/>
                </a:cubicBezTo>
                <a:cubicBezTo>
                  <a:pt x="16" y="47"/>
                  <a:pt x="16" y="47"/>
                  <a:pt x="16" y="47"/>
                </a:cubicBezTo>
                <a:cubicBezTo>
                  <a:pt x="24" y="40"/>
                  <a:pt x="24" y="40"/>
                  <a:pt x="24" y="40"/>
                </a:cubicBezTo>
                <a:lnTo>
                  <a:pt x="31" y="47"/>
                </a:lnTo>
                <a:close/>
                <a:moveTo>
                  <a:pt x="24" y="32"/>
                </a:moveTo>
                <a:cubicBezTo>
                  <a:pt x="16" y="25"/>
                  <a:pt x="16" y="25"/>
                  <a:pt x="16" y="25"/>
                </a:cubicBezTo>
                <a:cubicBezTo>
                  <a:pt x="24" y="25"/>
                  <a:pt x="24" y="25"/>
                  <a:pt x="24" y="25"/>
                </a:cubicBezTo>
                <a:cubicBezTo>
                  <a:pt x="31" y="25"/>
                  <a:pt x="31" y="25"/>
                  <a:pt x="31" y="25"/>
                </a:cubicBezTo>
                <a:lnTo>
                  <a:pt x="24" y="32"/>
                </a:lnTo>
                <a:close/>
                <a:moveTo>
                  <a:pt x="24" y="18"/>
                </a:moveTo>
                <a:cubicBezTo>
                  <a:pt x="9" y="18"/>
                  <a:pt x="9" y="18"/>
                  <a:pt x="9" y="18"/>
                </a:cubicBezTo>
                <a:cubicBezTo>
                  <a:pt x="8" y="16"/>
                  <a:pt x="7" y="14"/>
                  <a:pt x="6" y="11"/>
                </a:cubicBezTo>
                <a:cubicBezTo>
                  <a:pt x="24" y="11"/>
                  <a:pt x="24" y="11"/>
                  <a:pt x="24" y="11"/>
                </a:cubicBezTo>
                <a:cubicBezTo>
                  <a:pt x="41" y="11"/>
                  <a:pt x="41" y="11"/>
                  <a:pt x="41" y="11"/>
                </a:cubicBezTo>
                <a:cubicBezTo>
                  <a:pt x="41" y="14"/>
                  <a:pt x="39" y="16"/>
                  <a:pt x="38" y="18"/>
                </a:cubicBezTo>
                <a:lnTo>
                  <a:pt x="24" y="1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5" name="Group 14">
            <a:extLst>
              <a:ext uri="{FF2B5EF4-FFF2-40B4-BE49-F238E27FC236}">
                <a16:creationId xmlns:a16="http://schemas.microsoft.com/office/drawing/2014/main" id="{91A512A9-73BD-4C1A-810A-656EF47B2F53}"/>
              </a:ext>
            </a:extLst>
          </p:cNvPr>
          <p:cNvGrpSpPr/>
          <p:nvPr/>
        </p:nvGrpSpPr>
        <p:grpSpPr>
          <a:xfrm>
            <a:off x="8563694" y="715990"/>
            <a:ext cx="244482" cy="328652"/>
            <a:chOff x="1508118" y="339725"/>
            <a:chExt cx="96837" cy="130176"/>
          </a:xfrm>
          <a:solidFill>
            <a:schemeClr val="accent1"/>
          </a:solidFill>
        </p:grpSpPr>
        <p:sp>
          <p:nvSpPr>
            <p:cNvPr id="16" name="Freeform 12">
              <a:extLst>
                <a:ext uri="{FF2B5EF4-FFF2-40B4-BE49-F238E27FC236}">
                  <a16:creationId xmlns:a16="http://schemas.microsoft.com/office/drawing/2014/main" id="{766DBE99-8E15-4D73-A40D-DFA87745E504}"/>
                </a:ext>
              </a:extLst>
            </p:cNvPr>
            <p:cNvSpPr>
              <a:spLocks noEditPoints="1"/>
            </p:cNvSpPr>
            <p:nvPr/>
          </p:nvSpPr>
          <p:spPr bwMode="auto">
            <a:xfrm>
              <a:off x="1508118" y="357188"/>
              <a:ext cx="96837" cy="112713"/>
            </a:xfrm>
            <a:custGeom>
              <a:avLst/>
              <a:gdLst>
                <a:gd name="T0" fmla="*/ 51 w 54"/>
                <a:gd name="T1" fmla="*/ 0 h 62"/>
                <a:gd name="T2" fmla="*/ 45 w 54"/>
                <a:gd name="T3" fmla="*/ 0 h 62"/>
                <a:gd name="T4" fmla="*/ 45 w 54"/>
                <a:gd name="T5" fmla="*/ 6 h 62"/>
                <a:gd name="T6" fmla="*/ 45 w 54"/>
                <a:gd name="T7" fmla="*/ 8 h 62"/>
                <a:gd name="T8" fmla="*/ 42 w 54"/>
                <a:gd name="T9" fmla="*/ 8 h 62"/>
                <a:gd name="T10" fmla="*/ 11 w 54"/>
                <a:gd name="T11" fmla="*/ 8 h 62"/>
                <a:gd name="T12" fmla="*/ 9 w 54"/>
                <a:gd name="T13" fmla="*/ 8 h 62"/>
                <a:gd name="T14" fmla="*/ 9 w 54"/>
                <a:gd name="T15" fmla="*/ 6 h 62"/>
                <a:gd name="T16" fmla="*/ 9 w 54"/>
                <a:gd name="T17" fmla="*/ 0 h 62"/>
                <a:gd name="T18" fmla="*/ 2 w 54"/>
                <a:gd name="T19" fmla="*/ 0 h 62"/>
                <a:gd name="T20" fmla="*/ 0 w 54"/>
                <a:gd name="T21" fmla="*/ 2 h 62"/>
                <a:gd name="T22" fmla="*/ 0 w 54"/>
                <a:gd name="T23" fmla="*/ 60 h 62"/>
                <a:gd name="T24" fmla="*/ 2 w 54"/>
                <a:gd name="T25" fmla="*/ 62 h 62"/>
                <a:gd name="T26" fmla="*/ 51 w 54"/>
                <a:gd name="T27" fmla="*/ 62 h 62"/>
                <a:gd name="T28" fmla="*/ 54 w 54"/>
                <a:gd name="T29" fmla="*/ 60 h 62"/>
                <a:gd name="T30" fmla="*/ 54 w 54"/>
                <a:gd name="T31" fmla="*/ 2 h 62"/>
                <a:gd name="T32" fmla="*/ 51 w 54"/>
                <a:gd name="T33" fmla="*/ 0 h 62"/>
                <a:gd name="T34" fmla="*/ 20 w 54"/>
                <a:gd name="T35" fmla="*/ 15 h 62"/>
                <a:gd name="T36" fmla="*/ 25 w 54"/>
                <a:gd name="T37" fmla="*/ 15 h 62"/>
                <a:gd name="T38" fmla="*/ 25 w 54"/>
                <a:gd name="T39" fmla="*/ 11 h 62"/>
                <a:gd name="T40" fmla="*/ 29 w 54"/>
                <a:gd name="T41" fmla="*/ 11 h 62"/>
                <a:gd name="T42" fmla="*/ 29 w 54"/>
                <a:gd name="T43" fmla="*/ 15 h 62"/>
                <a:gd name="T44" fmla="*/ 33 w 54"/>
                <a:gd name="T45" fmla="*/ 15 h 62"/>
                <a:gd name="T46" fmla="*/ 33 w 54"/>
                <a:gd name="T47" fmla="*/ 19 h 62"/>
                <a:gd name="T48" fmla="*/ 29 w 54"/>
                <a:gd name="T49" fmla="*/ 19 h 62"/>
                <a:gd name="T50" fmla="*/ 29 w 54"/>
                <a:gd name="T51" fmla="*/ 23 h 62"/>
                <a:gd name="T52" fmla="*/ 25 w 54"/>
                <a:gd name="T53" fmla="*/ 23 h 62"/>
                <a:gd name="T54" fmla="*/ 25 w 54"/>
                <a:gd name="T55" fmla="*/ 19 h 62"/>
                <a:gd name="T56" fmla="*/ 20 w 54"/>
                <a:gd name="T57" fmla="*/ 19 h 62"/>
                <a:gd name="T58" fmla="*/ 20 w 54"/>
                <a:gd name="T59" fmla="*/ 15 h 62"/>
                <a:gd name="T60" fmla="*/ 45 w 54"/>
                <a:gd name="T61" fmla="*/ 55 h 62"/>
                <a:gd name="T62" fmla="*/ 8 w 54"/>
                <a:gd name="T63" fmla="*/ 55 h 62"/>
                <a:gd name="T64" fmla="*/ 8 w 54"/>
                <a:gd name="T65" fmla="*/ 50 h 62"/>
                <a:gd name="T66" fmla="*/ 45 w 54"/>
                <a:gd name="T67" fmla="*/ 50 h 62"/>
                <a:gd name="T68" fmla="*/ 45 w 54"/>
                <a:gd name="T69" fmla="*/ 55 h 62"/>
                <a:gd name="T70" fmla="*/ 45 w 54"/>
                <a:gd name="T71" fmla="*/ 44 h 62"/>
                <a:gd name="T72" fmla="*/ 8 w 54"/>
                <a:gd name="T73" fmla="*/ 44 h 62"/>
                <a:gd name="T74" fmla="*/ 8 w 54"/>
                <a:gd name="T75" fmla="*/ 39 h 62"/>
                <a:gd name="T76" fmla="*/ 45 w 54"/>
                <a:gd name="T77" fmla="*/ 39 h 62"/>
                <a:gd name="T78" fmla="*/ 45 w 54"/>
                <a:gd name="T79" fmla="*/ 44 h 62"/>
                <a:gd name="T80" fmla="*/ 45 w 54"/>
                <a:gd name="T81" fmla="*/ 32 h 62"/>
                <a:gd name="T82" fmla="*/ 8 w 54"/>
                <a:gd name="T83" fmla="*/ 32 h 62"/>
                <a:gd name="T84" fmla="*/ 8 w 54"/>
                <a:gd name="T85" fmla="*/ 28 h 62"/>
                <a:gd name="T86" fmla="*/ 45 w 54"/>
                <a:gd name="T87" fmla="*/ 28 h 62"/>
                <a:gd name="T88" fmla="*/ 45 w 54"/>
                <a:gd name="T89" fmla="*/ 3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4" h="62">
                  <a:moveTo>
                    <a:pt x="51" y="0"/>
                  </a:moveTo>
                  <a:cubicBezTo>
                    <a:pt x="45" y="0"/>
                    <a:pt x="45" y="0"/>
                    <a:pt x="45" y="0"/>
                  </a:cubicBezTo>
                  <a:cubicBezTo>
                    <a:pt x="45" y="6"/>
                    <a:pt x="45" y="6"/>
                    <a:pt x="45" y="6"/>
                  </a:cubicBezTo>
                  <a:cubicBezTo>
                    <a:pt x="45" y="8"/>
                    <a:pt x="45" y="8"/>
                    <a:pt x="45" y="8"/>
                  </a:cubicBezTo>
                  <a:cubicBezTo>
                    <a:pt x="42" y="8"/>
                    <a:pt x="42" y="8"/>
                    <a:pt x="42" y="8"/>
                  </a:cubicBezTo>
                  <a:cubicBezTo>
                    <a:pt x="11" y="8"/>
                    <a:pt x="11" y="8"/>
                    <a:pt x="11" y="8"/>
                  </a:cubicBezTo>
                  <a:cubicBezTo>
                    <a:pt x="9" y="8"/>
                    <a:pt x="9" y="8"/>
                    <a:pt x="9" y="8"/>
                  </a:cubicBezTo>
                  <a:cubicBezTo>
                    <a:pt x="9" y="6"/>
                    <a:pt x="9" y="6"/>
                    <a:pt x="9" y="6"/>
                  </a:cubicBezTo>
                  <a:cubicBezTo>
                    <a:pt x="9" y="0"/>
                    <a:pt x="9" y="0"/>
                    <a:pt x="9" y="0"/>
                  </a:cubicBezTo>
                  <a:cubicBezTo>
                    <a:pt x="2" y="0"/>
                    <a:pt x="2" y="0"/>
                    <a:pt x="2" y="0"/>
                  </a:cubicBezTo>
                  <a:cubicBezTo>
                    <a:pt x="1" y="0"/>
                    <a:pt x="0" y="1"/>
                    <a:pt x="0" y="2"/>
                  </a:cubicBezTo>
                  <a:cubicBezTo>
                    <a:pt x="0" y="60"/>
                    <a:pt x="0" y="60"/>
                    <a:pt x="0" y="60"/>
                  </a:cubicBezTo>
                  <a:cubicBezTo>
                    <a:pt x="0" y="61"/>
                    <a:pt x="1" y="62"/>
                    <a:pt x="2" y="62"/>
                  </a:cubicBezTo>
                  <a:cubicBezTo>
                    <a:pt x="51" y="62"/>
                    <a:pt x="51" y="62"/>
                    <a:pt x="51" y="62"/>
                  </a:cubicBezTo>
                  <a:cubicBezTo>
                    <a:pt x="53" y="62"/>
                    <a:pt x="54" y="61"/>
                    <a:pt x="54" y="60"/>
                  </a:cubicBezTo>
                  <a:cubicBezTo>
                    <a:pt x="54" y="2"/>
                    <a:pt x="54" y="2"/>
                    <a:pt x="54" y="2"/>
                  </a:cubicBezTo>
                  <a:cubicBezTo>
                    <a:pt x="54" y="1"/>
                    <a:pt x="53" y="0"/>
                    <a:pt x="51" y="0"/>
                  </a:cubicBezTo>
                  <a:close/>
                  <a:moveTo>
                    <a:pt x="20" y="15"/>
                  </a:moveTo>
                  <a:cubicBezTo>
                    <a:pt x="25" y="15"/>
                    <a:pt x="25" y="15"/>
                    <a:pt x="25" y="15"/>
                  </a:cubicBezTo>
                  <a:cubicBezTo>
                    <a:pt x="25" y="11"/>
                    <a:pt x="25" y="11"/>
                    <a:pt x="25" y="11"/>
                  </a:cubicBezTo>
                  <a:cubicBezTo>
                    <a:pt x="29" y="11"/>
                    <a:pt x="29" y="11"/>
                    <a:pt x="29" y="11"/>
                  </a:cubicBezTo>
                  <a:cubicBezTo>
                    <a:pt x="29" y="15"/>
                    <a:pt x="29" y="15"/>
                    <a:pt x="29" y="15"/>
                  </a:cubicBezTo>
                  <a:cubicBezTo>
                    <a:pt x="33" y="15"/>
                    <a:pt x="33" y="15"/>
                    <a:pt x="33" y="15"/>
                  </a:cubicBezTo>
                  <a:cubicBezTo>
                    <a:pt x="33" y="19"/>
                    <a:pt x="33" y="19"/>
                    <a:pt x="33" y="19"/>
                  </a:cubicBezTo>
                  <a:cubicBezTo>
                    <a:pt x="29" y="19"/>
                    <a:pt x="29" y="19"/>
                    <a:pt x="29" y="19"/>
                  </a:cubicBezTo>
                  <a:cubicBezTo>
                    <a:pt x="29" y="23"/>
                    <a:pt x="29" y="23"/>
                    <a:pt x="29" y="23"/>
                  </a:cubicBezTo>
                  <a:cubicBezTo>
                    <a:pt x="25" y="23"/>
                    <a:pt x="25" y="23"/>
                    <a:pt x="25" y="23"/>
                  </a:cubicBezTo>
                  <a:cubicBezTo>
                    <a:pt x="25" y="19"/>
                    <a:pt x="25" y="19"/>
                    <a:pt x="25" y="19"/>
                  </a:cubicBezTo>
                  <a:cubicBezTo>
                    <a:pt x="20" y="19"/>
                    <a:pt x="20" y="19"/>
                    <a:pt x="20" y="19"/>
                  </a:cubicBezTo>
                  <a:lnTo>
                    <a:pt x="20" y="15"/>
                  </a:lnTo>
                  <a:close/>
                  <a:moveTo>
                    <a:pt x="45" y="55"/>
                  </a:moveTo>
                  <a:cubicBezTo>
                    <a:pt x="8" y="55"/>
                    <a:pt x="8" y="55"/>
                    <a:pt x="8" y="55"/>
                  </a:cubicBezTo>
                  <a:cubicBezTo>
                    <a:pt x="8" y="50"/>
                    <a:pt x="8" y="50"/>
                    <a:pt x="8" y="50"/>
                  </a:cubicBezTo>
                  <a:cubicBezTo>
                    <a:pt x="45" y="50"/>
                    <a:pt x="45" y="50"/>
                    <a:pt x="45" y="50"/>
                  </a:cubicBezTo>
                  <a:lnTo>
                    <a:pt x="45" y="55"/>
                  </a:lnTo>
                  <a:close/>
                  <a:moveTo>
                    <a:pt x="45" y="44"/>
                  </a:moveTo>
                  <a:cubicBezTo>
                    <a:pt x="8" y="44"/>
                    <a:pt x="8" y="44"/>
                    <a:pt x="8" y="44"/>
                  </a:cubicBezTo>
                  <a:cubicBezTo>
                    <a:pt x="8" y="39"/>
                    <a:pt x="8" y="39"/>
                    <a:pt x="8" y="39"/>
                  </a:cubicBezTo>
                  <a:cubicBezTo>
                    <a:pt x="45" y="39"/>
                    <a:pt x="45" y="39"/>
                    <a:pt x="45" y="39"/>
                  </a:cubicBezTo>
                  <a:lnTo>
                    <a:pt x="45" y="44"/>
                  </a:lnTo>
                  <a:close/>
                  <a:moveTo>
                    <a:pt x="45" y="32"/>
                  </a:moveTo>
                  <a:cubicBezTo>
                    <a:pt x="8" y="32"/>
                    <a:pt x="8" y="32"/>
                    <a:pt x="8" y="32"/>
                  </a:cubicBezTo>
                  <a:cubicBezTo>
                    <a:pt x="8" y="28"/>
                    <a:pt x="8" y="28"/>
                    <a:pt x="8" y="28"/>
                  </a:cubicBezTo>
                  <a:cubicBezTo>
                    <a:pt x="45" y="28"/>
                    <a:pt x="45" y="28"/>
                    <a:pt x="45" y="28"/>
                  </a:cubicBezTo>
                  <a:lnTo>
                    <a:pt x="45"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a:extLst>
                <a:ext uri="{FF2B5EF4-FFF2-40B4-BE49-F238E27FC236}">
                  <a16:creationId xmlns:a16="http://schemas.microsoft.com/office/drawing/2014/main" id="{89E2F26E-9BD2-44B9-B338-670F45E5626D}"/>
                </a:ext>
              </a:extLst>
            </p:cNvPr>
            <p:cNvSpPr>
              <a:spLocks/>
            </p:cNvSpPr>
            <p:nvPr/>
          </p:nvSpPr>
          <p:spPr bwMode="auto">
            <a:xfrm>
              <a:off x="1527167" y="339725"/>
              <a:ext cx="55562" cy="28575"/>
            </a:xfrm>
            <a:custGeom>
              <a:avLst/>
              <a:gdLst>
                <a:gd name="T0" fmla="*/ 31 w 31"/>
                <a:gd name="T1" fmla="*/ 16 h 16"/>
                <a:gd name="T2" fmla="*/ 31 w 31"/>
                <a:gd name="T3" fmla="*/ 10 h 16"/>
                <a:gd name="T4" fmla="*/ 31 w 31"/>
                <a:gd name="T5" fmla="*/ 9 h 16"/>
                <a:gd name="T6" fmla="*/ 29 w 31"/>
                <a:gd name="T7" fmla="*/ 7 h 16"/>
                <a:gd name="T8" fmla="*/ 23 w 31"/>
                <a:gd name="T9" fmla="*/ 7 h 16"/>
                <a:gd name="T10" fmla="*/ 16 w 31"/>
                <a:gd name="T11" fmla="*/ 0 h 16"/>
                <a:gd name="T12" fmla="*/ 8 w 31"/>
                <a:gd name="T13" fmla="*/ 7 h 16"/>
                <a:gd name="T14" fmla="*/ 2 w 31"/>
                <a:gd name="T15" fmla="*/ 7 h 16"/>
                <a:gd name="T16" fmla="*/ 0 w 31"/>
                <a:gd name="T17" fmla="*/ 9 h 16"/>
                <a:gd name="T18" fmla="*/ 0 w 31"/>
                <a:gd name="T19" fmla="*/ 10 h 16"/>
                <a:gd name="T20" fmla="*/ 0 w 31"/>
                <a:gd name="T21" fmla="*/ 16 h 16"/>
                <a:gd name="T22" fmla="*/ 16 w 31"/>
                <a:gd name="T23" fmla="*/ 16 h 16"/>
                <a:gd name="T24" fmla="*/ 31 w 31"/>
                <a:gd name="T25"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16">
                  <a:moveTo>
                    <a:pt x="31" y="16"/>
                  </a:moveTo>
                  <a:cubicBezTo>
                    <a:pt x="31" y="10"/>
                    <a:pt x="31" y="10"/>
                    <a:pt x="31" y="10"/>
                  </a:cubicBezTo>
                  <a:cubicBezTo>
                    <a:pt x="31" y="9"/>
                    <a:pt x="31" y="9"/>
                    <a:pt x="31" y="9"/>
                  </a:cubicBezTo>
                  <a:cubicBezTo>
                    <a:pt x="31" y="8"/>
                    <a:pt x="30" y="7"/>
                    <a:pt x="29" y="7"/>
                  </a:cubicBezTo>
                  <a:cubicBezTo>
                    <a:pt x="23" y="7"/>
                    <a:pt x="23" y="7"/>
                    <a:pt x="23" y="7"/>
                  </a:cubicBezTo>
                  <a:cubicBezTo>
                    <a:pt x="23" y="3"/>
                    <a:pt x="20" y="0"/>
                    <a:pt x="16" y="0"/>
                  </a:cubicBezTo>
                  <a:cubicBezTo>
                    <a:pt x="12" y="0"/>
                    <a:pt x="8" y="3"/>
                    <a:pt x="8" y="7"/>
                  </a:cubicBezTo>
                  <a:cubicBezTo>
                    <a:pt x="2" y="7"/>
                    <a:pt x="2" y="7"/>
                    <a:pt x="2" y="7"/>
                  </a:cubicBezTo>
                  <a:cubicBezTo>
                    <a:pt x="1" y="7"/>
                    <a:pt x="0" y="8"/>
                    <a:pt x="0" y="9"/>
                  </a:cubicBezTo>
                  <a:cubicBezTo>
                    <a:pt x="0" y="10"/>
                    <a:pt x="0" y="10"/>
                    <a:pt x="0" y="10"/>
                  </a:cubicBezTo>
                  <a:cubicBezTo>
                    <a:pt x="0" y="16"/>
                    <a:pt x="0" y="16"/>
                    <a:pt x="0" y="16"/>
                  </a:cubicBezTo>
                  <a:cubicBezTo>
                    <a:pt x="16" y="16"/>
                    <a:pt x="16" y="16"/>
                    <a:pt x="16" y="16"/>
                  </a:cubicBezTo>
                  <a:lnTo>
                    <a:pt x="31"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8" name="Freeform 14">
            <a:extLst>
              <a:ext uri="{FF2B5EF4-FFF2-40B4-BE49-F238E27FC236}">
                <a16:creationId xmlns:a16="http://schemas.microsoft.com/office/drawing/2014/main" id="{14151C68-4740-4D9D-B4BC-5F4F66F577D6}"/>
              </a:ext>
            </a:extLst>
          </p:cNvPr>
          <p:cNvSpPr>
            <a:spLocks noEditPoints="1"/>
          </p:cNvSpPr>
          <p:nvPr/>
        </p:nvSpPr>
        <p:spPr bwMode="auto">
          <a:xfrm>
            <a:off x="4127167" y="649826"/>
            <a:ext cx="215494" cy="465017"/>
          </a:xfrm>
          <a:custGeom>
            <a:avLst/>
            <a:gdLst>
              <a:gd name="T0" fmla="*/ 30 w 34"/>
              <a:gd name="T1" fmla="*/ 19 h 72"/>
              <a:gd name="T2" fmla="*/ 0 w 34"/>
              <a:gd name="T3" fmla="*/ 19 h 72"/>
              <a:gd name="T4" fmla="*/ 4 w 34"/>
              <a:gd name="T5" fmla="*/ 19 h 72"/>
              <a:gd name="T6" fmla="*/ 0 w 34"/>
              <a:gd name="T7" fmla="*/ 32 h 72"/>
              <a:gd name="T8" fmla="*/ 0 w 34"/>
              <a:gd name="T9" fmla="*/ 35 h 72"/>
              <a:gd name="T10" fmla="*/ 4 w 34"/>
              <a:gd name="T11" fmla="*/ 48 h 72"/>
              <a:gd name="T12" fmla="*/ 0 w 34"/>
              <a:gd name="T13" fmla="*/ 66 h 72"/>
              <a:gd name="T14" fmla="*/ 4 w 34"/>
              <a:gd name="T15" fmla="*/ 66 h 72"/>
              <a:gd name="T16" fmla="*/ 34 w 34"/>
              <a:gd name="T17" fmla="*/ 66 h 72"/>
              <a:gd name="T18" fmla="*/ 34 w 34"/>
              <a:gd name="T19" fmla="*/ 64 h 72"/>
              <a:gd name="T20" fmla="*/ 30 w 34"/>
              <a:gd name="T21" fmla="*/ 50 h 72"/>
              <a:gd name="T22" fmla="*/ 34 w 34"/>
              <a:gd name="T23" fmla="*/ 32 h 72"/>
              <a:gd name="T24" fmla="*/ 30 w 34"/>
              <a:gd name="T25" fmla="*/ 32 h 72"/>
              <a:gd name="T26" fmla="*/ 6 w 34"/>
              <a:gd name="T27" fmla="*/ 0 h 72"/>
              <a:gd name="T28" fmla="*/ 26 w 34"/>
              <a:gd name="T29" fmla="*/ 5 h 72"/>
              <a:gd name="T30" fmla="*/ 17 w 34"/>
              <a:gd name="T31" fmla="*/ 9 h 72"/>
              <a:gd name="T32" fmla="*/ 9 w 34"/>
              <a:gd name="T33" fmla="*/ 5 h 72"/>
              <a:gd name="T34" fmla="*/ 23 w 34"/>
              <a:gd name="T35" fmla="*/ 10 h 72"/>
              <a:gd name="T36" fmla="*/ 10 w 34"/>
              <a:gd name="T37" fmla="*/ 11 h 72"/>
              <a:gd name="T38" fmla="*/ 6 w 34"/>
              <a:gd name="T39" fmla="*/ 21 h 72"/>
              <a:gd name="T40" fmla="*/ 17 w 34"/>
              <a:gd name="T41" fmla="*/ 16 h 72"/>
              <a:gd name="T42" fmla="*/ 28 w 34"/>
              <a:gd name="T43" fmla="*/ 21 h 72"/>
              <a:gd name="T44" fmla="*/ 24 w 34"/>
              <a:gd name="T45" fmla="*/ 22 h 72"/>
              <a:gd name="T46" fmla="*/ 9 w 34"/>
              <a:gd name="T47" fmla="*/ 21 h 72"/>
              <a:gd name="T48" fmla="*/ 28 w 34"/>
              <a:gd name="T49" fmla="*/ 61 h 72"/>
              <a:gd name="T50" fmla="*/ 25 w 34"/>
              <a:gd name="T51" fmla="*/ 69 h 72"/>
              <a:gd name="T52" fmla="*/ 10 w 34"/>
              <a:gd name="T53" fmla="*/ 69 h 72"/>
              <a:gd name="T54" fmla="*/ 6 w 34"/>
              <a:gd name="T55" fmla="*/ 69 h 72"/>
              <a:gd name="T56" fmla="*/ 17 w 34"/>
              <a:gd name="T57" fmla="*/ 64 h 72"/>
              <a:gd name="T58" fmla="*/ 24 w 34"/>
              <a:gd name="T59" fmla="*/ 58 h 72"/>
              <a:gd name="T60" fmla="*/ 11 w 34"/>
              <a:gd name="T61" fmla="*/ 57 h 72"/>
              <a:gd name="T62" fmla="*/ 24 w 34"/>
              <a:gd name="T63" fmla="*/ 58 h 72"/>
              <a:gd name="T64" fmla="*/ 26 w 34"/>
              <a:gd name="T65" fmla="*/ 53 h 72"/>
              <a:gd name="T66" fmla="*/ 17 w 34"/>
              <a:gd name="T67" fmla="*/ 56 h 72"/>
              <a:gd name="T68" fmla="*/ 9 w 34"/>
              <a:gd name="T69" fmla="*/ 53 h 72"/>
              <a:gd name="T70" fmla="*/ 8 w 34"/>
              <a:gd name="T71" fmla="*/ 44 h 72"/>
              <a:gd name="T72" fmla="*/ 28 w 34"/>
              <a:gd name="T73" fmla="*/ 45 h 72"/>
              <a:gd name="T74" fmla="*/ 10 w 34"/>
              <a:gd name="T75" fmla="*/ 43 h 72"/>
              <a:gd name="T76" fmla="*/ 23 w 34"/>
              <a:gd name="T77" fmla="*/ 41 h 72"/>
              <a:gd name="T78" fmla="*/ 28 w 34"/>
              <a:gd name="T79" fmla="*/ 37 h 72"/>
              <a:gd name="T80" fmla="*/ 24 w 34"/>
              <a:gd name="T81" fmla="*/ 38 h 72"/>
              <a:gd name="T82" fmla="*/ 9 w 34"/>
              <a:gd name="T83" fmla="*/ 37 h 72"/>
              <a:gd name="T84" fmla="*/ 6 w 34"/>
              <a:gd name="T85" fmla="*/ 30 h 72"/>
              <a:gd name="T86" fmla="*/ 26 w 34"/>
              <a:gd name="T87" fmla="*/ 29 h 72"/>
              <a:gd name="T88" fmla="*/ 17 w 34"/>
              <a:gd name="T89" fmla="*/ 30 h 72"/>
              <a:gd name="T90" fmla="*/ 17 w 34"/>
              <a:gd name="T91" fmla="*/ 2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 h="72">
                <a:moveTo>
                  <a:pt x="34" y="16"/>
                </a:moveTo>
                <a:cubicBezTo>
                  <a:pt x="34" y="19"/>
                  <a:pt x="34" y="19"/>
                  <a:pt x="34" y="19"/>
                </a:cubicBezTo>
                <a:cubicBezTo>
                  <a:pt x="30" y="19"/>
                  <a:pt x="30" y="19"/>
                  <a:pt x="30" y="19"/>
                </a:cubicBezTo>
                <a:cubicBezTo>
                  <a:pt x="30" y="16"/>
                  <a:pt x="30" y="16"/>
                  <a:pt x="30" y="16"/>
                </a:cubicBezTo>
                <a:lnTo>
                  <a:pt x="34" y="16"/>
                </a:lnTo>
                <a:close/>
                <a:moveTo>
                  <a:pt x="0" y="19"/>
                </a:moveTo>
                <a:cubicBezTo>
                  <a:pt x="0" y="16"/>
                  <a:pt x="0" y="16"/>
                  <a:pt x="0" y="16"/>
                </a:cubicBezTo>
                <a:cubicBezTo>
                  <a:pt x="4" y="16"/>
                  <a:pt x="4" y="16"/>
                  <a:pt x="4" y="16"/>
                </a:cubicBezTo>
                <a:cubicBezTo>
                  <a:pt x="4" y="19"/>
                  <a:pt x="4" y="19"/>
                  <a:pt x="4" y="19"/>
                </a:cubicBezTo>
                <a:lnTo>
                  <a:pt x="0" y="19"/>
                </a:lnTo>
                <a:close/>
                <a:moveTo>
                  <a:pt x="0" y="35"/>
                </a:moveTo>
                <a:cubicBezTo>
                  <a:pt x="0" y="32"/>
                  <a:pt x="0" y="32"/>
                  <a:pt x="0" y="32"/>
                </a:cubicBezTo>
                <a:cubicBezTo>
                  <a:pt x="4" y="32"/>
                  <a:pt x="4" y="32"/>
                  <a:pt x="4" y="32"/>
                </a:cubicBezTo>
                <a:cubicBezTo>
                  <a:pt x="4" y="35"/>
                  <a:pt x="4" y="35"/>
                  <a:pt x="4" y="35"/>
                </a:cubicBezTo>
                <a:lnTo>
                  <a:pt x="0" y="35"/>
                </a:lnTo>
                <a:close/>
                <a:moveTo>
                  <a:pt x="0" y="50"/>
                </a:moveTo>
                <a:cubicBezTo>
                  <a:pt x="0" y="48"/>
                  <a:pt x="0" y="48"/>
                  <a:pt x="0" y="48"/>
                </a:cubicBezTo>
                <a:cubicBezTo>
                  <a:pt x="4" y="48"/>
                  <a:pt x="4" y="48"/>
                  <a:pt x="4" y="48"/>
                </a:cubicBezTo>
                <a:cubicBezTo>
                  <a:pt x="4" y="50"/>
                  <a:pt x="4" y="50"/>
                  <a:pt x="4" y="50"/>
                </a:cubicBezTo>
                <a:lnTo>
                  <a:pt x="0" y="50"/>
                </a:lnTo>
                <a:close/>
                <a:moveTo>
                  <a:pt x="0" y="66"/>
                </a:moveTo>
                <a:cubicBezTo>
                  <a:pt x="0" y="64"/>
                  <a:pt x="0" y="64"/>
                  <a:pt x="0" y="64"/>
                </a:cubicBezTo>
                <a:cubicBezTo>
                  <a:pt x="4" y="64"/>
                  <a:pt x="4" y="64"/>
                  <a:pt x="4" y="64"/>
                </a:cubicBezTo>
                <a:cubicBezTo>
                  <a:pt x="4" y="66"/>
                  <a:pt x="4" y="66"/>
                  <a:pt x="4" y="66"/>
                </a:cubicBezTo>
                <a:lnTo>
                  <a:pt x="0" y="66"/>
                </a:lnTo>
                <a:close/>
                <a:moveTo>
                  <a:pt x="34" y="64"/>
                </a:moveTo>
                <a:cubicBezTo>
                  <a:pt x="34" y="66"/>
                  <a:pt x="34" y="66"/>
                  <a:pt x="34" y="66"/>
                </a:cubicBezTo>
                <a:cubicBezTo>
                  <a:pt x="30" y="66"/>
                  <a:pt x="30" y="66"/>
                  <a:pt x="30" y="66"/>
                </a:cubicBezTo>
                <a:cubicBezTo>
                  <a:pt x="30" y="64"/>
                  <a:pt x="30" y="64"/>
                  <a:pt x="30" y="64"/>
                </a:cubicBezTo>
                <a:lnTo>
                  <a:pt x="34" y="64"/>
                </a:lnTo>
                <a:close/>
                <a:moveTo>
                  <a:pt x="34" y="48"/>
                </a:moveTo>
                <a:cubicBezTo>
                  <a:pt x="34" y="50"/>
                  <a:pt x="34" y="50"/>
                  <a:pt x="34" y="50"/>
                </a:cubicBezTo>
                <a:cubicBezTo>
                  <a:pt x="30" y="50"/>
                  <a:pt x="30" y="50"/>
                  <a:pt x="30" y="50"/>
                </a:cubicBezTo>
                <a:cubicBezTo>
                  <a:pt x="30" y="48"/>
                  <a:pt x="30" y="48"/>
                  <a:pt x="30" y="48"/>
                </a:cubicBezTo>
                <a:lnTo>
                  <a:pt x="34" y="48"/>
                </a:lnTo>
                <a:close/>
                <a:moveTo>
                  <a:pt x="34" y="32"/>
                </a:moveTo>
                <a:cubicBezTo>
                  <a:pt x="34" y="35"/>
                  <a:pt x="34" y="35"/>
                  <a:pt x="34" y="35"/>
                </a:cubicBezTo>
                <a:cubicBezTo>
                  <a:pt x="30" y="35"/>
                  <a:pt x="30" y="35"/>
                  <a:pt x="30" y="35"/>
                </a:cubicBezTo>
                <a:cubicBezTo>
                  <a:pt x="30" y="32"/>
                  <a:pt x="30" y="32"/>
                  <a:pt x="30" y="32"/>
                </a:cubicBezTo>
                <a:lnTo>
                  <a:pt x="34" y="32"/>
                </a:lnTo>
                <a:close/>
                <a:moveTo>
                  <a:pt x="6" y="5"/>
                </a:moveTo>
                <a:cubicBezTo>
                  <a:pt x="6" y="0"/>
                  <a:pt x="6" y="0"/>
                  <a:pt x="6" y="0"/>
                </a:cubicBezTo>
                <a:cubicBezTo>
                  <a:pt x="28" y="0"/>
                  <a:pt x="28" y="0"/>
                  <a:pt x="28" y="0"/>
                </a:cubicBezTo>
                <a:cubicBezTo>
                  <a:pt x="28" y="5"/>
                  <a:pt x="28" y="5"/>
                  <a:pt x="28" y="5"/>
                </a:cubicBezTo>
                <a:cubicBezTo>
                  <a:pt x="26" y="5"/>
                  <a:pt x="26" y="5"/>
                  <a:pt x="26" y="5"/>
                </a:cubicBezTo>
                <a:cubicBezTo>
                  <a:pt x="25" y="5"/>
                  <a:pt x="25" y="5"/>
                  <a:pt x="25" y="6"/>
                </a:cubicBezTo>
                <a:cubicBezTo>
                  <a:pt x="24" y="6"/>
                  <a:pt x="24" y="6"/>
                  <a:pt x="24" y="6"/>
                </a:cubicBezTo>
                <a:cubicBezTo>
                  <a:pt x="22" y="8"/>
                  <a:pt x="20" y="9"/>
                  <a:pt x="17" y="9"/>
                </a:cubicBezTo>
                <a:cubicBezTo>
                  <a:pt x="14" y="9"/>
                  <a:pt x="12" y="8"/>
                  <a:pt x="10" y="6"/>
                </a:cubicBezTo>
                <a:cubicBezTo>
                  <a:pt x="9" y="6"/>
                  <a:pt x="9" y="6"/>
                  <a:pt x="9" y="6"/>
                </a:cubicBezTo>
                <a:cubicBezTo>
                  <a:pt x="9" y="5"/>
                  <a:pt x="9" y="5"/>
                  <a:pt x="9" y="5"/>
                </a:cubicBezTo>
                <a:lnTo>
                  <a:pt x="6" y="5"/>
                </a:lnTo>
                <a:close/>
                <a:moveTo>
                  <a:pt x="17" y="11"/>
                </a:moveTo>
                <a:cubicBezTo>
                  <a:pt x="19" y="11"/>
                  <a:pt x="21" y="11"/>
                  <a:pt x="23" y="10"/>
                </a:cubicBezTo>
                <a:cubicBezTo>
                  <a:pt x="24" y="10"/>
                  <a:pt x="24" y="11"/>
                  <a:pt x="24" y="11"/>
                </a:cubicBezTo>
                <a:cubicBezTo>
                  <a:pt x="22" y="13"/>
                  <a:pt x="20" y="14"/>
                  <a:pt x="17" y="14"/>
                </a:cubicBezTo>
                <a:cubicBezTo>
                  <a:pt x="14" y="14"/>
                  <a:pt x="12" y="13"/>
                  <a:pt x="10" y="11"/>
                </a:cubicBezTo>
                <a:cubicBezTo>
                  <a:pt x="10" y="11"/>
                  <a:pt x="10" y="10"/>
                  <a:pt x="11" y="10"/>
                </a:cubicBezTo>
                <a:cubicBezTo>
                  <a:pt x="13" y="11"/>
                  <a:pt x="15" y="11"/>
                  <a:pt x="17" y="11"/>
                </a:cubicBezTo>
                <a:close/>
                <a:moveTo>
                  <a:pt x="6" y="21"/>
                </a:moveTo>
                <a:cubicBezTo>
                  <a:pt x="6" y="14"/>
                  <a:pt x="6" y="14"/>
                  <a:pt x="6" y="14"/>
                </a:cubicBezTo>
                <a:cubicBezTo>
                  <a:pt x="7" y="14"/>
                  <a:pt x="8" y="13"/>
                  <a:pt x="8" y="13"/>
                </a:cubicBezTo>
                <a:cubicBezTo>
                  <a:pt x="11" y="15"/>
                  <a:pt x="14" y="16"/>
                  <a:pt x="17" y="16"/>
                </a:cubicBezTo>
                <a:cubicBezTo>
                  <a:pt x="20" y="16"/>
                  <a:pt x="23" y="15"/>
                  <a:pt x="26" y="13"/>
                </a:cubicBezTo>
                <a:cubicBezTo>
                  <a:pt x="26" y="13"/>
                  <a:pt x="27" y="14"/>
                  <a:pt x="28" y="14"/>
                </a:cubicBezTo>
                <a:cubicBezTo>
                  <a:pt x="28" y="21"/>
                  <a:pt x="28" y="21"/>
                  <a:pt x="28" y="21"/>
                </a:cubicBezTo>
                <a:cubicBezTo>
                  <a:pt x="26" y="21"/>
                  <a:pt x="26" y="21"/>
                  <a:pt x="26" y="21"/>
                </a:cubicBezTo>
                <a:cubicBezTo>
                  <a:pt x="25" y="21"/>
                  <a:pt x="25" y="21"/>
                  <a:pt x="25" y="21"/>
                </a:cubicBezTo>
                <a:cubicBezTo>
                  <a:pt x="24" y="22"/>
                  <a:pt x="24" y="22"/>
                  <a:pt x="24" y="22"/>
                </a:cubicBezTo>
                <a:cubicBezTo>
                  <a:pt x="22" y="24"/>
                  <a:pt x="20" y="25"/>
                  <a:pt x="17" y="25"/>
                </a:cubicBezTo>
                <a:cubicBezTo>
                  <a:pt x="14" y="25"/>
                  <a:pt x="12" y="24"/>
                  <a:pt x="10" y="22"/>
                </a:cubicBezTo>
                <a:cubicBezTo>
                  <a:pt x="9" y="21"/>
                  <a:pt x="9" y="21"/>
                  <a:pt x="9" y="21"/>
                </a:cubicBezTo>
                <a:cubicBezTo>
                  <a:pt x="9" y="21"/>
                  <a:pt x="9" y="21"/>
                  <a:pt x="9" y="21"/>
                </a:cubicBezTo>
                <a:lnTo>
                  <a:pt x="6" y="21"/>
                </a:lnTo>
                <a:close/>
                <a:moveTo>
                  <a:pt x="28" y="61"/>
                </a:moveTo>
                <a:cubicBezTo>
                  <a:pt x="28" y="69"/>
                  <a:pt x="28" y="69"/>
                  <a:pt x="28" y="69"/>
                </a:cubicBezTo>
                <a:cubicBezTo>
                  <a:pt x="26" y="69"/>
                  <a:pt x="26" y="69"/>
                  <a:pt x="26" y="69"/>
                </a:cubicBezTo>
                <a:cubicBezTo>
                  <a:pt x="25" y="69"/>
                  <a:pt x="25" y="69"/>
                  <a:pt x="25" y="69"/>
                </a:cubicBezTo>
                <a:cubicBezTo>
                  <a:pt x="24" y="69"/>
                  <a:pt x="24" y="69"/>
                  <a:pt x="24" y="69"/>
                </a:cubicBezTo>
                <a:cubicBezTo>
                  <a:pt x="22" y="71"/>
                  <a:pt x="20" y="72"/>
                  <a:pt x="17" y="72"/>
                </a:cubicBezTo>
                <a:cubicBezTo>
                  <a:pt x="14" y="72"/>
                  <a:pt x="12" y="71"/>
                  <a:pt x="10" y="69"/>
                </a:cubicBezTo>
                <a:cubicBezTo>
                  <a:pt x="9" y="69"/>
                  <a:pt x="9" y="69"/>
                  <a:pt x="9" y="69"/>
                </a:cubicBezTo>
                <a:cubicBezTo>
                  <a:pt x="9" y="69"/>
                  <a:pt x="9" y="69"/>
                  <a:pt x="9" y="69"/>
                </a:cubicBezTo>
                <a:cubicBezTo>
                  <a:pt x="6" y="69"/>
                  <a:pt x="6" y="69"/>
                  <a:pt x="6" y="69"/>
                </a:cubicBezTo>
                <a:cubicBezTo>
                  <a:pt x="6" y="61"/>
                  <a:pt x="6" y="61"/>
                  <a:pt x="6" y="61"/>
                </a:cubicBezTo>
                <a:cubicBezTo>
                  <a:pt x="7" y="61"/>
                  <a:pt x="8" y="61"/>
                  <a:pt x="8" y="60"/>
                </a:cubicBezTo>
                <a:cubicBezTo>
                  <a:pt x="11" y="62"/>
                  <a:pt x="14" y="64"/>
                  <a:pt x="17" y="64"/>
                </a:cubicBezTo>
                <a:cubicBezTo>
                  <a:pt x="20" y="64"/>
                  <a:pt x="23" y="62"/>
                  <a:pt x="26" y="60"/>
                </a:cubicBezTo>
                <a:cubicBezTo>
                  <a:pt x="26" y="61"/>
                  <a:pt x="27" y="61"/>
                  <a:pt x="28" y="61"/>
                </a:cubicBezTo>
                <a:close/>
                <a:moveTo>
                  <a:pt x="24" y="58"/>
                </a:moveTo>
                <a:cubicBezTo>
                  <a:pt x="22" y="60"/>
                  <a:pt x="20" y="61"/>
                  <a:pt x="17" y="61"/>
                </a:cubicBezTo>
                <a:cubicBezTo>
                  <a:pt x="14" y="61"/>
                  <a:pt x="12" y="60"/>
                  <a:pt x="10" y="58"/>
                </a:cubicBezTo>
                <a:cubicBezTo>
                  <a:pt x="10" y="58"/>
                  <a:pt x="10" y="58"/>
                  <a:pt x="11" y="57"/>
                </a:cubicBezTo>
                <a:cubicBezTo>
                  <a:pt x="13" y="58"/>
                  <a:pt x="15" y="59"/>
                  <a:pt x="17" y="59"/>
                </a:cubicBezTo>
                <a:cubicBezTo>
                  <a:pt x="19" y="59"/>
                  <a:pt x="21" y="58"/>
                  <a:pt x="23" y="57"/>
                </a:cubicBezTo>
                <a:cubicBezTo>
                  <a:pt x="24" y="58"/>
                  <a:pt x="24" y="58"/>
                  <a:pt x="24" y="58"/>
                </a:cubicBezTo>
                <a:close/>
                <a:moveTo>
                  <a:pt x="28" y="45"/>
                </a:moveTo>
                <a:cubicBezTo>
                  <a:pt x="28" y="53"/>
                  <a:pt x="28" y="53"/>
                  <a:pt x="28" y="53"/>
                </a:cubicBezTo>
                <a:cubicBezTo>
                  <a:pt x="26" y="53"/>
                  <a:pt x="26" y="53"/>
                  <a:pt x="26" y="53"/>
                </a:cubicBezTo>
                <a:cubicBezTo>
                  <a:pt x="25" y="53"/>
                  <a:pt x="25" y="53"/>
                  <a:pt x="25" y="53"/>
                </a:cubicBezTo>
                <a:cubicBezTo>
                  <a:pt x="24" y="53"/>
                  <a:pt x="24" y="53"/>
                  <a:pt x="24" y="53"/>
                </a:cubicBezTo>
                <a:cubicBezTo>
                  <a:pt x="22" y="55"/>
                  <a:pt x="20" y="56"/>
                  <a:pt x="17" y="56"/>
                </a:cubicBezTo>
                <a:cubicBezTo>
                  <a:pt x="14" y="56"/>
                  <a:pt x="12" y="55"/>
                  <a:pt x="10" y="53"/>
                </a:cubicBezTo>
                <a:cubicBezTo>
                  <a:pt x="9" y="53"/>
                  <a:pt x="9" y="53"/>
                  <a:pt x="9" y="53"/>
                </a:cubicBezTo>
                <a:cubicBezTo>
                  <a:pt x="9" y="53"/>
                  <a:pt x="9" y="53"/>
                  <a:pt x="9" y="53"/>
                </a:cubicBezTo>
                <a:cubicBezTo>
                  <a:pt x="6" y="53"/>
                  <a:pt x="6" y="53"/>
                  <a:pt x="6" y="53"/>
                </a:cubicBezTo>
                <a:cubicBezTo>
                  <a:pt x="6" y="45"/>
                  <a:pt x="6" y="45"/>
                  <a:pt x="6" y="45"/>
                </a:cubicBezTo>
                <a:cubicBezTo>
                  <a:pt x="7" y="45"/>
                  <a:pt x="8" y="45"/>
                  <a:pt x="8" y="44"/>
                </a:cubicBezTo>
                <a:cubicBezTo>
                  <a:pt x="11" y="47"/>
                  <a:pt x="14" y="48"/>
                  <a:pt x="17" y="48"/>
                </a:cubicBezTo>
                <a:cubicBezTo>
                  <a:pt x="20" y="48"/>
                  <a:pt x="23" y="47"/>
                  <a:pt x="26" y="44"/>
                </a:cubicBezTo>
                <a:cubicBezTo>
                  <a:pt x="26" y="45"/>
                  <a:pt x="27" y="45"/>
                  <a:pt x="28" y="45"/>
                </a:cubicBezTo>
                <a:close/>
                <a:moveTo>
                  <a:pt x="24" y="43"/>
                </a:moveTo>
                <a:cubicBezTo>
                  <a:pt x="22" y="44"/>
                  <a:pt x="20" y="45"/>
                  <a:pt x="17" y="45"/>
                </a:cubicBezTo>
                <a:cubicBezTo>
                  <a:pt x="14" y="45"/>
                  <a:pt x="12" y="44"/>
                  <a:pt x="10" y="43"/>
                </a:cubicBezTo>
                <a:cubicBezTo>
                  <a:pt x="10" y="42"/>
                  <a:pt x="10" y="42"/>
                  <a:pt x="11" y="41"/>
                </a:cubicBezTo>
                <a:cubicBezTo>
                  <a:pt x="13" y="42"/>
                  <a:pt x="15" y="43"/>
                  <a:pt x="17" y="43"/>
                </a:cubicBezTo>
                <a:cubicBezTo>
                  <a:pt x="19" y="43"/>
                  <a:pt x="21" y="42"/>
                  <a:pt x="23" y="41"/>
                </a:cubicBezTo>
                <a:cubicBezTo>
                  <a:pt x="24" y="42"/>
                  <a:pt x="24" y="42"/>
                  <a:pt x="24" y="43"/>
                </a:cubicBezTo>
                <a:close/>
                <a:moveTo>
                  <a:pt x="28" y="30"/>
                </a:moveTo>
                <a:cubicBezTo>
                  <a:pt x="28" y="37"/>
                  <a:pt x="28" y="37"/>
                  <a:pt x="28" y="37"/>
                </a:cubicBezTo>
                <a:cubicBezTo>
                  <a:pt x="26" y="37"/>
                  <a:pt x="26" y="37"/>
                  <a:pt x="26" y="37"/>
                </a:cubicBezTo>
                <a:cubicBezTo>
                  <a:pt x="25" y="37"/>
                  <a:pt x="25" y="37"/>
                  <a:pt x="25" y="37"/>
                </a:cubicBezTo>
                <a:cubicBezTo>
                  <a:pt x="24" y="38"/>
                  <a:pt x="24" y="38"/>
                  <a:pt x="24" y="38"/>
                </a:cubicBezTo>
                <a:cubicBezTo>
                  <a:pt x="22" y="39"/>
                  <a:pt x="20" y="41"/>
                  <a:pt x="17" y="41"/>
                </a:cubicBezTo>
                <a:cubicBezTo>
                  <a:pt x="14" y="41"/>
                  <a:pt x="12" y="39"/>
                  <a:pt x="10" y="38"/>
                </a:cubicBezTo>
                <a:cubicBezTo>
                  <a:pt x="9" y="37"/>
                  <a:pt x="9" y="37"/>
                  <a:pt x="9" y="37"/>
                </a:cubicBezTo>
                <a:cubicBezTo>
                  <a:pt x="9" y="37"/>
                  <a:pt x="9" y="37"/>
                  <a:pt x="9" y="37"/>
                </a:cubicBezTo>
                <a:cubicBezTo>
                  <a:pt x="6" y="37"/>
                  <a:pt x="6" y="37"/>
                  <a:pt x="6" y="37"/>
                </a:cubicBezTo>
                <a:cubicBezTo>
                  <a:pt x="6" y="30"/>
                  <a:pt x="6" y="30"/>
                  <a:pt x="6" y="30"/>
                </a:cubicBezTo>
                <a:cubicBezTo>
                  <a:pt x="7" y="29"/>
                  <a:pt x="8" y="29"/>
                  <a:pt x="8" y="29"/>
                </a:cubicBezTo>
                <a:cubicBezTo>
                  <a:pt x="11" y="31"/>
                  <a:pt x="14" y="32"/>
                  <a:pt x="17" y="32"/>
                </a:cubicBezTo>
                <a:cubicBezTo>
                  <a:pt x="20" y="32"/>
                  <a:pt x="23" y="31"/>
                  <a:pt x="26" y="29"/>
                </a:cubicBezTo>
                <a:cubicBezTo>
                  <a:pt x="26" y="29"/>
                  <a:pt x="27" y="29"/>
                  <a:pt x="28" y="30"/>
                </a:cubicBezTo>
                <a:close/>
                <a:moveTo>
                  <a:pt x="24" y="27"/>
                </a:moveTo>
                <a:cubicBezTo>
                  <a:pt x="22" y="29"/>
                  <a:pt x="20" y="30"/>
                  <a:pt x="17" y="30"/>
                </a:cubicBezTo>
                <a:cubicBezTo>
                  <a:pt x="14" y="30"/>
                  <a:pt x="12" y="29"/>
                  <a:pt x="10" y="27"/>
                </a:cubicBezTo>
                <a:cubicBezTo>
                  <a:pt x="10" y="26"/>
                  <a:pt x="10" y="26"/>
                  <a:pt x="11" y="26"/>
                </a:cubicBezTo>
                <a:cubicBezTo>
                  <a:pt x="13" y="27"/>
                  <a:pt x="15" y="27"/>
                  <a:pt x="17" y="27"/>
                </a:cubicBezTo>
                <a:cubicBezTo>
                  <a:pt x="19" y="27"/>
                  <a:pt x="21" y="27"/>
                  <a:pt x="23" y="26"/>
                </a:cubicBezTo>
                <a:cubicBezTo>
                  <a:pt x="24" y="26"/>
                  <a:pt x="24" y="26"/>
                  <a:pt x="24" y="2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 name="Group 18">
            <a:extLst>
              <a:ext uri="{FF2B5EF4-FFF2-40B4-BE49-F238E27FC236}">
                <a16:creationId xmlns:a16="http://schemas.microsoft.com/office/drawing/2014/main" id="{E8728798-0188-4134-960A-B15C35DF36BD}"/>
              </a:ext>
            </a:extLst>
          </p:cNvPr>
          <p:cNvGrpSpPr/>
          <p:nvPr/>
        </p:nvGrpSpPr>
        <p:grpSpPr>
          <a:xfrm>
            <a:off x="4991015" y="693183"/>
            <a:ext cx="218249" cy="378304"/>
            <a:chOff x="828673" y="688978"/>
            <a:chExt cx="71437" cy="123826"/>
          </a:xfrm>
          <a:solidFill>
            <a:schemeClr val="accent1"/>
          </a:solidFill>
        </p:grpSpPr>
        <p:sp>
          <p:nvSpPr>
            <p:cNvPr id="20" name="Freeform 15">
              <a:extLst>
                <a:ext uri="{FF2B5EF4-FFF2-40B4-BE49-F238E27FC236}">
                  <a16:creationId xmlns:a16="http://schemas.microsoft.com/office/drawing/2014/main" id="{D2497DB9-0F56-466F-8A80-5B46ED510C25}"/>
                </a:ext>
              </a:extLst>
            </p:cNvPr>
            <p:cNvSpPr>
              <a:spLocks noEditPoints="1"/>
            </p:cNvSpPr>
            <p:nvPr/>
          </p:nvSpPr>
          <p:spPr bwMode="auto">
            <a:xfrm>
              <a:off x="828673" y="741366"/>
              <a:ext cx="71437" cy="71438"/>
            </a:xfrm>
            <a:custGeom>
              <a:avLst/>
              <a:gdLst>
                <a:gd name="T0" fmla="*/ 27 w 40"/>
                <a:gd name="T1" fmla="*/ 0 h 39"/>
                <a:gd name="T2" fmla="*/ 12 w 40"/>
                <a:gd name="T3" fmla="*/ 0 h 39"/>
                <a:gd name="T4" fmla="*/ 0 w 40"/>
                <a:gd name="T5" fmla="*/ 12 h 39"/>
                <a:gd name="T6" fmla="*/ 0 w 40"/>
                <a:gd name="T7" fmla="*/ 37 h 39"/>
                <a:gd name="T8" fmla="*/ 3 w 40"/>
                <a:gd name="T9" fmla="*/ 39 h 39"/>
                <a:gd name="T10" fmla="*/ 37 w 40"/>
                <a:gd name="T11" fmla="*/ 39 h 39"/>
                <a:gd name="T12" fmla="*/ 40 w 40"/>
                <a:gd name="T13" fmla="*/ 37 h 39"/>
                <a:gd name="T14" fmla="*/ 40 w 40"/>
                <a:gd name="T15" fmla="*/ 12 h 39"/>
                <a:gd name="T16" fmla="*/ 27 w 40"/>
                <a:gd name="T17" fmla="*/ 0 h 39"/>
                <a:gd name="T18" fmla="*/ 12 w 40"/>
                <a:gd name="T19" fmla="*/ 28 h 39"/>
                <a:gd name="T20" fmla="*/ 11 w 40"/>
                <a:gd name="T21" fmla="*/ 28 h 39"/>
                <a:gd name="T22" fmla="*/ 10 w 40"/>
                <a:gd name="T23" fmla="*/ 28 h 39"/>
                <a:gd name="T24" fmla="*/ 10 w 40"/>
                <a:gd name="T25" fmla="*/ 9 h 39"/>
                <a:gd name="T26" fmla="*/ 12 w 40"/>
                <a:gd name="T27" fmla="*/ 9 h 39"/>
                <a:gd name="T28" fmla="*/ 12 w 40"/>
                <a:gd name="T29" fmla="*/ 10 h 39"/>
                <a:gd name="T30" fmla="*/ 12 w 40"/>
                <a:gd name="T31" fmla="*/ 26 h 39"/>
                <a:gd name="T32" fmla="*/ 12 w 40"/>
                <a:gd name="T33" fmla="*/ 28 h 39"/>
                <a:gd name="T34" fmla="*/ 15 w 40"/>
                <a:gd name="T35" fmla="*/ 23 h 39"/>
                <a:gd name="T36" fmla="*/ 15 w 40"/>
                <a:gd name="T37" fmla="*/ 25 h 39"/>
                <a:gd name="T38" fmla="*/ 14 w 40"/>
                <a:gd name="T39" fmla="*/ 25 h 39"/>
                <a:gd name="T40" fmla="*/ 14 w 40"/>
                <a:gd name="T41" fmla="*/ 25 h 39"/>
                <a:gd name="T42" fmla="*/ 14 w 40"/>
                <a:gd name="T43" fmla="*/ 12 h 39"/>
                <a:gd name="T44" fmla="*/ 15 w 40"/>
                <a:gd name="T45" fmla="*/ 12 h 39"/>
                <a:gd name="T46" fmla="*/ 15 w 40"/>
                <a:gd name="T47" fmla="*/ 13 h 39"/>
                <a:gd name="T48" fmla="*/ 15 w 40"/>
                <a:gd name="T49" fmla="*/ 23 h 39"/>
                <a:gd name="T50" fmla="*/ 22 w 40"/>
                <a:gd name="T51" fmla="*/ 20 h 39"/>
                <a:gd name="T52" fmla="*/ 18 w 40"/>
                <a:gd name="T53" fmla="*/ 20 h 39"/>
                <a:gd name="T54" fmla="*/ 18 w 40"/>
                <a:gd name="T55" fmla="*/ 16 h 39"/>
                <a:gd name="T56" fmla="*/ 22 w 40"/>
                <a:gd name="T57" fmla="*/ 16 h 39"/>
                <a:gd name="T58" fmla="*/ 22 w 40"/>
                <a:gd name="T59" fmla="*/ 20 h 39"/>
                <a:gd name="T60" fmla="*/ 26 w 40"/>
                <a:gd name="T61" fmla="*/ 25 h 39"/>
                <a:gd name="T62" fmla="*/ 25 w 40"/>
                <a:gd name="T63" fmla="*/ 25 h 39"/>
                <a:gd name="T64" fmla="*/ 25 w 40"/>
                <a:gd name="T65" fmla="*/ 23 h 39"/>
                <a:gd name="T66" fmla="*/ 25 w 40"/>
                <a:gd name="T67" fmla="*/ 13 h 39"/>
                <a:gd name="T68" fmla="*/ 25 w 40"/>
                <a:gd name="T69" fmla="*/ 12 h 39"/>
                <a:gd name="T70" fmla="*/ 26 w 40"/>
                <a:gd name="T71" fmla="*/ 12 h 39"/>
                <a:gd name="T72" fmla="*/ 26 w 40"/>
                <a:gd name="T73" fmla="*/ 25 h 39"/>
                <a:gd name="T74" fmla="*/ 26 w 40"/>
                <a:gd name="T75" fmla="*/ 25 h 39"/>
                <a:gd name="T76" fmla="*/ 29 w 40"/>
                <a:gd name="T77" fmla="*/ 28 h 39"/>
                <a:gd name="T78" fmla="*/ 29 w 40"/>
                <a:gd name="T79" fmla="*/ 28 h 39"/>
                <a:gd name="T80" fmla="*/ 28 w 40"/>
                <a:gd name="T81" fmla="*/ 28 h 39"/>
                <a:gd name="T82" fmla="*/ 28 w 40"/>
                <a:gd name="T83" fmla="*/ 26 h 39"/>
                <a:gd name="T84" fmla="*/ 28 w 40"/>
                <a:gd name="T85" fmla="*/ 10 h 39"/>
                <a:gd name="T86" fmla="*/ 28 w 40"/>
                <a:gd name="T87" fmla="*/ 9 h 39"/>
                <a:gd name="T88" fmla="*/ 29 w 40"/>
                <a:gd name="T89" fmla="*/ 9 h 39"/>
                <a:gd name="T90" fmla="*/ 29 w 40"/>
                <a:gd name="T91"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 h="39">
                  <a:moveTo>
                    <a:pt x="27" y="0"/>
                  </a:moveTo>
                  <a:cubicBezTo>
                    <a:pt x="12" y="0"/>
                    <a:pt x="12" y="0"/>
                    <a:pt x="12" y="0"/>
                  </a:cubicBezTo>
                  <a:cubicBezTo>
                    <a:pt x="6" y="0"/>
                    <a:pt x="0" y="5"/>
                    <a:pt x="0" y="12"/>
                  </a:cubicBezTo>
                  <a:cubicBezTo>
                    <a:pt x="0" y="37"/>
                    <a:pt x="0" y="37"/>
                    <a:pt x="0" y="37"/>
                  </a:cubicBezTo>
                  <a:cubicBezTo>
                    <a:pt x="0" y="38"/>
                    <a:pt x="1" y="39"/>
                    <a:pt x="3" y="39"/>
                  </a:cubicBezTo>
                  <a:cubicBezTo>
                    <a:pt x="37" y="39"/>
                    <a:pt x="37" y="39"/>
                    <a:pt x="37" y="39"/>
                  </a:cubicBezTo>
                  <a:cubicBezTo>
                    <a:pt x="39" y="39"/>
                    <a:pt x="40" y="38"/>
                    <a:pt x="40" y="37"/>
                  </a:cubicBezTo>
                  <a:cubicBezTo>
                    <a:pt x="40" y="12"/>
                    <a:pt x="40" y="12"/>
                    <a:pt x="40" y="12"/>
                  </a:cubicBezTo>
                  <a:cubicBezTo>
                    <a:pt x="40" y="5"/>
                    <a:pt x="34" y="0"/>
                    <a:pt x="27" y="0"/>
                  </a:cubicBezTo>
                  <a:close/>
                  <a:moveTo>
                    <a:pt x="12" y="28"/>
                  </a:moveTo>
                  <a:cubicBezTo>
                    <a:pt x="12" y="28"/>
                    <a:pt x="11" y="28"/>
                    <a:pt x="11" y="28"/>
                  </a:cubicBezTo>
                  <a:cubicBezTo>
                    <a:pt x="11" y="28"/>
                    <a:pt x="11" y="28"/>
                    <a:pt x="10" y="28"/>
                  </a:cubicBezTo>
                  <a:cubicBezTo>
                    <a:pt x="5" y="23"/>
                    <a:pt x="5" y="14"/>
                    <a:pt x="10" y="9"/>
                  </a:cubicBezTo>
                  <a:cubicBezTo>
                    <a:pt x="11" y="9"/>
                    <a:pt x="12" y="9"/>
                    <a:pt x="12" y="9"/>
                  </a:cubicBezTo>
                  <a:cubicBezTo>
                    <a:pt x="12" y="9"/>
                    <a:pt x="12" y="10"/>
                    <a:pt x="12" y="10"/>
                  </a:cubicBezTo>
                  <a:cubicBezTo>
                    <a:pt x="7" y="15"/>
                    <a:pt x="7" y="22"/>
                    <a:pt x="12" y="26"/>
                  </a:cubicBezTo>
                  <a:cubicBezTo>
                    <a:pt x="12" y="27"/>
                    <a:pt x="12" y="27"/>
                    <a:pt x="12" y="28"/>
                  </a:cubicBezTo>
                  <a:close/>
                  <a:moveTo>
                    <a:pt x="15" y="23"/>
                  </a:moveTo>
                  <a:cubicBezTo>
                    <a:pt x="15" y="24"/>
                    <a:pt x="15" y="24"/>
                    <a:pt x="15" y="25"/>
                  </a:cubicBezTo>
                  <a:cubicBezTo>
                    <a:pt x="15" y="25"/>
                    <a:pt x="15" y="25"/>
                    <a:pt x="14" y="25"/>
                  </a:cubicBezTo>
                  <a:cubicBezTo>
                    <a:pt x="14" y="25"/>
                    <a:pt x="14" y="25"/>
                    <a:pt x="14" y="25"/>
                  </a:cubicBezTo>
                  <a:cubicBezTo>
                    <a:pt x="10" y="21"/>
                    <a:pt x="10" y="15"/>
                    <a:pt x="14" y="12"/>
                  </a:cubicBezTo>
                  <a:cubicBezTo>
                    <a:pt x="14" y="12"/>
                    <a:pt x="15" y="12"/>
                    <a:pt x="15" y="12"/>
                  </a:cubicBezTo>
                  <a:cubicBezTo>
                    <a:pt x="15" y="12"/>
                    <a:pt x="15" y="13"/>
                    <a:pt x="15" y="13"/>
                  </a:cubicBezTo>
                  <a:cubicBezTo>
                    <a:pt x="12" y="16"/>
                    <a:pt x="12" y="21"/>
                    <a:pt x="15" y="23"/>
                  </a:cubicBezTo>
                  <a:close/>
                  <a:moveTo>
                    <a:pt x="22" y="20"/>
                  </a:moveTo>
                  <a:cubicBezTo>
                    <a:pt x="21" y="21"/>
                    <a:pt x="19" y="21"/>
                    <a:pt x="18" y="20"/>
                  </a:cubicBezTo>
                  <a:cubicBezTo>
                    <a:pt x="17" y="19"/>
                    <a:pt x="17" y="17"/>
                    <a:pt x="18" y="16"/>
                  </a:cubicBezTo>
                  <a:cubicBezTo>
                    <a:pt x="19" y="15"/>
                    <a:pt x="21" y="15"/>
                    <a:pt x="22" y="16"/>
                  </a:cubicBezTo>
                  <a:cubicBezTo>
                    <a:pt x="23" y="17"/>
                    <a:pt x="23" y="19"/>
                    <a:pt x="22" y="20"/>
                  </a:cubicBezTo>
                  <a:close/>
                  <a:moveTo>
                    <a:pt x="26" y="25"/>
                  </a:moveTo>
                  <a:cubicBezTo>
                    <a:pt x="25" y="25"/>
                    <a:pt x="25" y="25"/>
                    <a:pt x="25" y="25"/>
                  </a:cubicBezTo>
                  <a:cubicBezTo>
                    <a:pt x="24" y="24"/>
                    <a:pt x="24" y="24"/>
                    <a:pt x="25" y="23"/>
                  </a:cubicBezTo>
                  <a:cubicBezTo>
                    <a:pt x="28" y="21"/>
                    <a:pt x="28" y="16"/>
                    <a:pt x="25" y="13"/>
                  </a:cubicBezTo>
                  <a:cubicBezTo>
                    <a:pt x="24" y="13"/>
                    <a:pt x="24" y="12"/>
                    <a:pt x="25" y="12"/>
                  </a:cubicBezTo>
                  <a:cubicBezTo>
                    <a:pt x="25" y="12"/>
                    <a:pt x="26" y="12"/>
                    <a:pt x="26" y="12"/>
                  </a:cubicBezTo>
                  <a:cubicBezTo>
                    <a:pt x="30" y="15"/>
                    <a:pt x="30" y="21"/>
                    <a:pt x="26" y="25"/>
                  </a:cubicBezTo>
                  <a:cubicBezTo>
                    <a:pt x="26" y="25"/>
                    <a:pt x="26" y="25"/>
                    <a:pt x="26" y="25"/>
                  </a:cubicBezTo>
                  <a:close/>
                  <a:moveTo>
                    <a:pt x="29" y="28"/>
                  </a:moveTo>
                  <a:cubicBezTo>
                    <a:pt x="29" y="28"/>
                    <a:pt x="29" y="28"/>
                    <a:pt x="29" y="28"/>
                  </a:cubicBezTo>
                  <a:cubicBezTo>
                    <a:pt x="28" y="28"/>
                    <a:pt x="28" y="28"/>
                    <a:pt x="28" y="28"/>
                  </a:cubicBezTo>
                  <a:cubicBezTo>
                    <a:pt x="28" y="27"/>
                    <a:pt x="28" y="27"/>
                    <a:pt x="28" y="26"/>
                  </a:cubicBezTo>
                  <a:cubicBezTo>
                    <a:pt x="32" y="22"/>
                    <a:pt x="32" y="15"/>
                    <a:pt x="28" y="10"/>
                  </a:cubicBezTo>
                  <a:cubicBezTo>
                    <a:pt x="28" y="10"/>
                    <a:pt x="28" y="9"/>
                    <a:pt x="28" y="9"/>
                  </a:cubicBezTo>
                  <a:cubicBezTo>
                    <a:pt x="28" y="9"/>
                    <a:pt x="29" y="9"/>
                    <a:pt x="29" y="9"/>
                  </a:cubicBezTo>
                  <a:cubicBezTo>
                    <a:pt x="35" y="14"/>
                    <a:pt x="35" y="23"/>
                    <a:pt x="29"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6">
              <a:extLst>
                <a:ext uri="{FF2B5EF4-FFF2-40B4-BE49-F238E27FC236}">
                  <a16:creationId xmlns:a16="http://schemas.microsoft.com/office/drawing/2014/main" id="{C3E3D86F-C313-46D2-BACF-7CAB6E5C5B09}"/>
                </a:ext>
              </a:extLst>
            </p:cNvPr>
            <p:cNvSpPr>
              <a:spLocks/>
            </p:cNvSpPr>
            <p:nvPr/>
          </p:nvSpPr>
          <p:spPr bwMode="auto">
            <a:xfrm>
              <a:off x="836610" y="688978"/>
              <a:ext cx="53975" cy="47625"/>
            </a:xfrm>
            <a:custGeom>
              <a:avLst/>
              <a:gdLst>
                <a:gd name="T0" fmla="*/ 8 w 30"/>
                <a:gd name="T1" fmla="*/ 25 h 27"/>
                <a:gd name="T2" fmla="*/ 15 w 30"/>
                <a:gd name="T3" fmla="*/ 27 h 27"/>
                <a:gd name="T4" fmla="*/ 22 w 30"/>
                <a:gd name="T5" fmla="*/ 25 h 27"/>
                <a:gd name="T6" fmla="*/ 30 w 30"/>
                <a:gd name="T7" fmla="*/ 13 h 27"/>
                <a:gd name="T8" fmla="*/ 15 w 30"/>
                <a:gd name="T9" fmla="*/ 0 h 27"/>
                <a:gd name="T10" fmla="*/ 0 w 30"/>
                <a:gd name="T11" fmla="*/ 13 h 27"/>
                <a:gd name="T12" fmla="*/ 8 w 30"/>
                <a:gd name="T13" fmla="*/ 25 h 27"/>
              </a:gdLst>
              <a:ahLst/>
              <a:cxnLst>
                <a:cxn ang="0">
                  <a:pos x="T0" y="T1"/>
                </a:cxn>
                <a:cxn ang="0">
                  <a:pos x="T2" y="T3"/>
                </a:cxn>
                <a:cxn ang="0">
                  <a:pos x="T4" y="T5"/>
                </a:cxn>
                <a:cxn ang="0">
                  <a:pos x="T6" y="T7"/>
                </a:cxn>
                <a:cxn ang="0">
                  <a:pos x="T8" y="T9"/>
                </a:cxn>
                <a:cxn ang="0">
                  <a:pos x="T10" y="T11"/>
                </a:cxn>
                <a:cxn ang="0">
                  <a:pos x="T12" y="T13"/>
                </a:cxn>
              </a:cxnLst>
              <a:rect l="0" t="0" r="r" b="b"/>
              <a:pathLst>
                <a:path w="30" h="27">
                  <a:moveTo>
                    <a:pt x="8" y="25"/>
                  </a:moveTo>
                  <a:cubicBezTo>
                    <a:pt x="10" y="26"/>
                    <a:pt x="12" y="27"/>
                    <a:pt x="15" y="27"/>
                  </a:cubicBezTo>
                  <a:cubicBezTo>
                    <a:pt x="18" y="27"/>
                    <a:pt x="20" y="26"/>
                    <a:pt x="22" y="25"/>
                  </a:cubicBezTo>
                  <a:cubicBezTo>
                    <a:pt x="27" y="23"/>
                    <a:pt x="30" y="18"/>
                    <a:pt x="30" y="13"/>
                  </a:cubicBezTo>
                  <a:cubicBezTo>
                    <a:pt x="30" y="6"/>
                    <a:pt x="23" y="0"/>
                    <a:pt x="15" y="0"/>
                  </a:cubicBezTo>
                  <a:cubicBezTo>
                    <a:pt x="7" y="0"/>
                    <a:pt x="0" y="6"/>
                    <a:pt x="0" y="13"/>
                  </a:cubicBezTo>
                  <a:cubicBezTo>
                    <a:pt x="0" y="18"/>
                    <a:pt x="3" y="23"/>
                    <a:pt x="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2" name="Freeform 17">
            <a:extLst>
              <a:ext uri="{FF2B5EF4-FFF2-40B4-BE49-F238E27FC236}">
                <a16:creationId xmlns:a16="http://schemas.microsoft.com/office/drawing/2014/main" id="{B2084956-7D5A-437E-BB0E-21CF7EBF2A05}"/>
              </a:ext>
            </a:extLst>
          </p:cNvPr>
          <p:cNvSpPr>
            <a:spLocks noEditPoints="1"/>
          </p:cNvSpPr>
          <p:nvPr/>
        </p:nvSpPr>
        <p:spPr bwMode="auto">
          <a:xfrm>
            <a:off x="4912673" y="1668385"/>
            <a:ext cx="387925" cy="266702"/>
          </a:xfrm>
          <a:custGeom>
            <a:avLst/>
            <a:gdLst>
              <a:gd name="T0" fmla="*/ 67 w 71"/>
              <a:gd name="T1" fmla="*/ 43 h 49"/>
              <a:gd name="T2" fmla="*/ 65 w 71"/>
              <a:gd name="T3" fmla="*/ 11 h 49"/>
              <a:gd name="T4" fmla="*/ 51 w 71"/>
              <a:gd name="T5" fmla="*/ 42 h 49"/>
              <a:gd name="T6" fmla="*/ 49 w 71"/>
              <a:gd name="T7" fmla="*/ 44 h 49"/>
              <a:gd name="T8" fmla="*/ 49 w 71"/>
              <a:gd name="T9" fmla="*/ 2 h 49"/>
              <a:gd name="T10" fmla="*/ 24 w 71"/>
              <a:gd name="T11" fmla="*/ 0 h 49"/>
              <a:gd name="T12" fmla="*/ 22 w 71"/>
              <a:gd name="T13" fmla="*/ 43 h 49"/>
              <a:gd name="T14" fmla="*/ 20 w 71"/>
              <a:gd name="T15" fmla="*/ 44 h 49"/>
              <a:gd name="T16" fmla="*/ 20 w 71"/>
              <a:gd name="T17" fmla="*/ 11 h 49"/>
              <a:gd name="T18" fmla="*/ 4 w 71"/>
              <a:gd name="T19" fmla="*/ 13 h 49"/>
              <a:gd name="T20" fmla="*/ 4 w 71"/>
              <a:gd name="T21" fmla="*/ 44 h 49"/>
              <a:gd name="T22" fmla="*/ 0 w 71"/>
              <a:gd name="T23" fmla="*/ 49 h 49"/>
              <a:gd name="T24" fmla="*/ 71 w 71"/>
              <a:gd name="T25" fmla="*/ 44 h 49"/>
              <a:gd name="T26" fmla="*/ 11 w 71"/>
              <a:gd name="T27" fmla="*/ 33 h 49"/>
              <a:gd name="T28" fmla="*/ 8 w 71"/>
              <a:gd name="T29" fmla="*/ 30 h 49"/>
              <a:gd name="T30" fmla="*/ 11 w 71"/>
              <a:gd name="T31" fmla="*/ 33 h 49"/>
              <a:gd name="T32" fmla="*/ 8 w 71"/>
              <a:gd name="T33" fmla="*/ 27 h 49"/>
              <a:gd name="T34" fmla="*/ 11 w 71"/>
              <a:gd name="T35" fmla="*/ 23 h 49"/>
              <a:gd name="T36" fmla="*/ 11 w 71"/>
              <a:gd name="T37" fmla="*/ 21 h 49"/>
              <a:gd name="T38" fmla="*/ 8 w 71"/>
              <a:gd name="T39" fmla="*/ 17 h 49"/>
              <a:gd name="T40" fmla="*/ 11 w 71"/>
              <a:gd name="T41" fmla="*/ 21 h 49"/>
              <a:gd name="T42" fmla="*/ 13 w 71"/>
              <a:gd name="T43" fmla="*/ 33 h 49"/>
              <a:gd name="T44" fmla="*/ 17 w 71"/>
              <a:gd name="T45" fmla="*/ 30 h 49"/>
              <a:gd name="T46" fmla="*/ 17 w 71"/>
              <a:gd name="T47" fmla="*/ 27 h 49"/>
              <a:gd name="T48" fmla="*/ 13 w 71"/>
              <a:gd name="T49" fmla="*/ 23 h 49"/>
              <a:gd name="T50" fmla="*/ 17 w 71"/>
              <a:gd name="T51" fmla="*/ 27 h 49"/>
              <a:gd name="T52" fmla="*/ 13 w 71"/>
              <a:gd name="T53" fmla="*/ 21 h 49"/>
              <a:gd name="T54" fmla="*/ 17 w 71"/>
              <a:gd name="T55" fmla="*/ 17 h 49"/>
              <a:gd name="T56" fmla="*/ 41 w 71"/>
              <a:gd name="T57" fmla="*/ 43 h 49"/>
              <a:gd name="T58" fmla="*/ 30 w 71"/>
              <a:gd name="T59" fmla="*/ 30 h 49"/>
              <a:gd name="T60" fmla="*/ 41 w 71"/>
              <a:gd name="T61" fmla="*/ 43 h 49"/>
              <a:gd name="T62" fmla="*/ 27 w 71"/>
              <a:gd name="T63" fmla="*/ 10 h 49"/>
              <a:gd name="T64" fmla="*/ 44 w 71"/>
              <a:gd name="T65" fmla="*/ 10 h 49"/>
              <a:gd name="T66" fmla="*/ 58 w 71"/>
              <a:gd name="T67" fmla="*/ 33 h 49"/>
              <a:gd name="T68" fmla="*/ 55 w 71"/>
              <a:gd name="T69" fmla="*/ 30 h 49"/>
              <a:gd name="T70" fmla="*/ 58 w 71"/>
              <a:gd name="T71" fmla="*/ 33 h 49"/>
              <a:gd name="T72" fmla="*/ 55 w 71"/>
              <a:gd name="T73" fmla="*/ 27 h 49"/>
              <a:gd name="T74" fmla="*/ 58 w 71"/>
              <a:gd name="T75" fmla="*/ 23 h 49"/>
              <a:gd name="T76" fmla="*/ 58 w 71"/>
              <a:gd name="T77" fmla="*/ 21 h 49"/>
              <a:gd name="T78" fmla="*/ 55 w 71"/>
              <a:gd name="T79" fmla="*/ 17 h 49"/>
              <a:gd name="T80" fmla="*/ 58 w 71"/>
              <a:gd name="T81" fmla="*/ 21 h 49"/>
              <a:gd name="T82" fmla="*/ 60 w 71"/>
              <a:gd name="T83" fmla="*/ 33 h 49"/>
              <a:gd name="T84" fmla="*/ 64 w 71"/>
              <a:gd name="T85" fmla="*/ 30 h 49"/>
              <a:gd name="T86" fmla="*/ 64 w 71"/>
              <a:gd name="T87" fmla="*/ 27 h 49"/>
              <a:gd name="T88" fmla="*/ 60 w 71"/>
              <a:gd name="T89" fmla="*/ 23 h 49"/>
              <a:gd name="T90" fmla="*/ 64 w 71"/>
              <a:gd name="T91" fmla="*/ 27 h 49"/>
              <a:gd name="T92" fmla="*/ 60 w 71"/>
              <a:gd name="T93" fmla="*/ 21 h 49"/>
              <a:gd name="T94" fmla="*/ 64 w 71"/>
              <a:gd name="T95" fmla="*/ 17 h 49"/>
              <a:gd name="T96" fmla="*/ 38 w 71"/>
              <a:gd name="T97" fmla="*/ 8 h 49"/>
              <a:gd name="T98" fmla="*/ 41 w 71"/>
              <a:gd name="T99" fmla="*/ 12 h 49"/>
              <a:gd name="T100" fmla="*/ 38 w 71"/>
              <a:gd name="T101" fmla="*/ 15 h 49"/>
              <a:gd name="T102" fmla="*/ 33 w 71"/>
              <a:gd name="T103" fmla="*/ 12 h 49"/>
              <a:gd name="T104" fmla="*/ 30 w 71"/>
              <a:gd name="T105" fmla="*/ 8 h 49"/>
              <a:gd name="T106" fmla="*/ 33 w 71"/>
              <a:gd name="T107" fmla="*/ 4 h 49"/>
              <a:gd name="T108" fmla="*/ 38 w 71"/>
              <a:gd name="T109"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 h="49">
                <a:moveTo>
                  <a:pt x="67" y="44"/>
                </a:moveTo>
                <a:cubicBezTo>
                  <a:pt x="67" y="43"/>
                  <a:pt x="67" y="43"/>
                  <a:pt x="67" y="43"/>
                </a:cubicBezTo>
                <a:cubicBezTo>
                  <a:pt x="67" y="13"/>
                  <a:pt x="67" y="13"/>
                  <a:pt x="67" y="13"/>
                </a:cubicBezTo>
                <a:cubicBezTo>
                  <a:pt x="67" y="12"/>
                  <a:pt x="66" y="11"/>
                  <a:pt x="65" y="11"/>
                </a:cubicBezTo>
                <a:cubicBezTo>
                  <a:pt x="51" y="11"/>
                  <a:pt x="51" y="11"/>
                  <a:pt x="51" y="11"/>
                </a:cubicBezTo>
                <a:cubicBezTo>
                  <a:pt x="51" y="42"/>
                  <a:pt x="51" y="42"/>
                  <a:pt x="51" y="42"/>
                </a:cubicBezTo>
                <a:cubicBezTo>
                  <a:pt x="51" y="43"/>
                  <a:pt x="51" y="43"/>
                  <a:pt x="50" y="44"/>
                </a:cubicBezTo>
                <a:cubicBezTo>
                  <a:pt x="49" y="44"/>
                  <a:pt x="49" y="44"/>
                  <a:pt x="49" y="44"/>
                </a:cubicBezTo>
                <a:cubicBezTo>
                  <a:pt x="49" y="43"/>
                  <a:pt x="49" y="43"/>
                  <a:pt x="49" y="43"/>
                </a:cubicBezTo>
                <a:cubicBezTo>
                  <a:pt x="49" y="2"/>
                  <a:pt x="49" y="2"/>
                  <a:pt x="49" y="2"/>
                </a:cubicBezTo>
                <a:cubicBezTo>
                  <a:pt x="49" y="1"/>
                  <a:pt x="48" y="0"/>
                  <a:pt x="46" y="0"/>
                </a:cubicBezTo>
                <a:cubicBezTo>
                  <a:pt x="24" y="0"/>
                  <a:pt x="24" y="0"/>
                  <a:pt x="24" y="0"/>
                </a:cubicBezTo>
                <a:cubicBezTo>
                  <a:pt x="23" y="0"/>
                  <a:pt x="22" y="1"/>
                  <a:pt x="22" y="2"/>
                </a:cubicBezTo>
                <a:cubicBezTo>
                  <a:pt x="22" y="43"/>
                  <a:pt x="22" y="43"/>
                  <a:pt x="22" y="43"/>
                </a:cubicBezTo>
                <a:cubicBezTo>
                  <a:pt x="22" y="43"/>
                  <a:pt x="22" y="43"/>
                  <a:pt x="22" y="44"/>
                </a:cubicBezTo>
                <a:cubicBezTo>
                  <a:pt x="20" y="44"/>
                  <a:pt x="20" y="44"/>
                  <a:pt x="20" y="44"/>
                </a:cubicBezTo>
                <a:cubicBezTo>
                  <a:pt x="20" y="43"/>
                  <a:pt x="20" y="43"/>
                  <a:pt x="20" y="42"/>
                </a:cubicBezTo>
                <a:cubicBezTo>
                  <a:pt x="20" y="11"/>
                  <a:pt x="20" y="11"/>
                  <a:pt x="20" y="11"/>
                </a:cubicBezTo>
                <a:cubicBezTo>
                  <a:pt x="6" y="11"/>
                  <a:pt x="6" y="11"/>
                  <a:pt x="6" y="11"/>
                </a:cubicBezTo>
                <a:cubicBezTo>
                  <a:pt x="5" y="11"/>
                  <a:pt x="4" y="12"/>
                  <a:pt x="4" y="13"/>
                </a:cubicBezTo>
                <a:cubicBezTo>
                  <a:pt x="4" y="43"/>
                  <a:pt x="4" y="43"/>
                  <a:pt x="4" y="43"/>
                </a:cubicBezTo>
                <a:cubicBezTo>
                  <a:pt x="4" y="43"/>
                  <a:pt x="4" y="43"/>
                  <a:pt x="4" y="44"/>
                </a:cubicBezTo>
                <a:cubicBezTo>
                  <a:pt x="0" y="44"/>
                  <a:pt x="0" y="44"/>
                  <a:pt x="0" y="44"/>
                </a:cubicBezTo>
                <a:cubicBezTo>
                  <a:pt x="0" y="49"/>
                  <a:pt x="0" y="49"/>
                  <a:pt x="0" y="49"/>
                </a:cubicBezTo>
                <a:cubicBezTo>
                  <a:pt x="71" y="49"/>
                  <a:pt x="71" y="49"/>
                  <a:pt x="71" y="49"/>
                </a:cubicBezTo>
                <a:cubicBezTo>
                  <a:pt x="71" y="44"/>
                  <a:pt x="71" y="44"/>
                  <a:pt x="71" y="44"/>
                </a:cubicBezTo>
                <a:cubicBezTo>
                  <a:pt x="67" y="44"/>
                  <a:pt x="67" y="44"/>
                  <a:pt x="67" y="44"/>
                </a:cubicBezTo>
                <a:close/>
                <a:moveTo>
                  <a:pt x="11" y="33"/>
                </a:moveTo>
                <a:cubicBezTo>
                  <a:pt x="8" y="33"/>
                  <a:pt x="8" y="33"/>
                  <a:pt x="8" y="33"/>
                </a:cubicBezTo>
                <a:cubicBezTo>
                  <a:pt x="8" y="30"/>
                  <a:pt x="8" y="30"/>
                  <a:pt x="8" y="30"/>
                </a:cubicBezTo>
                <a:cubicBezTo>
                  <a:pt x="11" y="30"/>
                  <a:pt x="11" y="30"/>
                  <a:pt x="11" y="30"/>
                </a:cubicBezTo>
                <a:lnTo>
                  <a:pt x="11" y="33"/>
                </a:lnTo>
                <a:close/>
                <a:moveTo>
                  <a:pt x="11" y="27"/>
                </a:moveTo>
                <a:cubicBezTo>
                  <a:pt x="8" y="27"/>
                  <a:pt x="8" y="27"/>
                  <a:pt x="8" y="27"/>
                </a:cubicBezTo>
                <a:cubicBezTo>
                  <a:pt x="8" y="23"/>
                  <a:pt x="8" y="23"/>
                  <a:pt x="8" y="23"/>
                </a:cubicBezTo>
                <a:cubicBezTo>
                  <a:pt x="11" y="23"/>
                  <a:pt x="11" y="23"/>
                  <a:pt x="11" y="23"/>
                </a:cubicBezTo>
                <a:lnTo>
                  <a:pt x="11" y="27"/>
                </a:lnTo>
                <a:close/>
                <a:moveTo>
                  <a:pt x="11" y="21"/>
                </a:moveTo>
                <a:cubicBezTo>
                  <a:pt x="8" y="21"/>
                  <a:pt x="8" y="21"/>
                  <a:pt x="8" y="21"/>
                </a:cubicBezTo>
                <a:cubicBezTo>
                  <a:pt x="8" y="17"/>
                  <a:pt x="8" y="17"/>
                  <a:pt x="8" y="17"/>
                </a:cubicBezTo>
                <a:cubicBezTo>
                  <a:pt x="11" y="17"/>
                  <a:pt x="11" y="17"/>
                  <a:pt x="11" y="17"/>
                </a:cubicBezTo>
                <a:lnTo>
                  <a:pt x="11" y="21"/>
                </a:lnTo>
                <a:close/>
                <a:moveTo>
                  <a:pt x="17" y="33"/>
                </a:moveTo>
                <a:cubicBezTo>
                  <a:pt x="13" y="33"/>
                  <a:pt x="13" y="33"/>
                  <a:pt x="13" y="33"/>
                </a:cubicBezTo>
                <a:cubicBezTo>
                  <a:pt x="13" y="30"/>
                  <a:pt x="13" y="30"/>
                  <a:pt x="13" y="30"/>
                </a:cubicBezTo>
                <a:cubicBezTo>
                  <a:pt x="17" y="30"/>
                  <a:pt x="17" y="30"/>
                  <a:pt x="17" y="30"/>
                </a:cubicBezTo>
                <a:lnTo>
                  <a:pt x="17" y="33"/>
                </a:lnTo>
                <a:close/>
                <a:moveTo>
                  <a:pt x="17" y="27"/>
                </a:moveTo>
                <a:cubicBezTo>
                  <a:pt x="13" y="27"/>
                  <a:pt x="13" y="27"/>
                  <a:pt x="13" y="27"/>
                </a:cubicBezTo>
                <a:cubicBezTo>
                  <a:pt x="13" y="23"/>
                  <a:pt x="13" y="23"/>
                  <a:pt x="13" y="23"/>
                </a:cubicBezTo>
                <a:cubicBezTo>
                  <a:pt x="17" y="23"/>
                  <a:pt x="17" y="23"/>
                  <a:pt x="17" y="23"/>
                </a:cubicBezTo>
                <a:lnTo>
                  <a:pt x="17" y="27"/>
                </a:lnTo>
                <a:close/>
                <a:moveTo>
                  <a:pt x="17" y="21"/>
                </a:moveTo>
                <a:cubicBezTo>
                  <a:pt x="13" y="21"/>
                  <a:pt x="13" y="21"/>
                  <a:pt x="13" y="21"/>
                </a:cubicBezTo>
                <a:cubicBezTo>
                  <a:pt x="13" y="17"/>
                  <a:pt x="13" y="17"/>
                  <a:pt x="13" y="17"/>
                </a:cubicBezTo>
                <a:cubicBezTo>
                  <a:pt x="17" y="17"/>
                  <a:pt x="17" y="17"/>
                  <a:pt x="17" y="17"/>
                </a:cubicBezTo>
                <a:lnTo>
                  <a:pt x="17" y="21"/>
                </a:lnTo>
                <a:close/>
                <a:moveTo>
                  <a:pt x="41" y="43"/>
                </a:moveTo>
                <a:cubicBezTo>
                  <a:pt x="30" y="43"/>
                  <a:pt x="30" y="43"/>
                  <a:pt x="30" y="43"/>
                </a:cubicBezTo>
                <a:cubicBezTo>
                  <a:pt x="30" y="30"/>
                  <a:pt x="30" y="30"/>
                  <a:pt x="30" y="30"/>
                </a:cubicBezTo>
                <a:cubicBezTo>
                  <a:pt x="41" y="30"/>
                  <a:pt x="41" y="30"/>
                  <a:pt x="41" y="30"/>
                </a:cubicBezTo>
                <a:lnTo>
                  <a:pt x="41" y="43"/>
                </a:lnTo>
                <a:close/>
                <a:moveTo>
                  <a:pt x="35" y="19"/>
                </a:moveTo>
                <a:cubicBezTo>
                  <a:pt x="31" y="19"/>
                  <a:pt x="27" y="15"/>
                  <a:pt x="27" y="10"/>
                </a:cubicBezTo>
                <a:cubicBezTo>
                  <a:pt x="27" y="5"/>
                  <a:pt x="31" y="1"/>
                  <a:pt x="35" y="1"/>
                </a:cubicBezTo>
                <a:cubicBezTo>
                  <a:pt x="40" y="1"/>
                  <a:pt x="44" y="5"/>
                  <a:pt x="44" y="10"/>
                </a:cubicBezTo>
                <a:cubicBezTo>
                  <a:pt x="44" y="15"/>
                  <a:pt x="40" y="19"/>
                  <a:pt x="35" y="19"/>
                </a:cubicBezTo>
                <a:close/>
                <a:moveTo>
                  <a:pt x="58" y="33"/>
                </a:moveTo>
                <a:cubicBezTo>
                  <a:pt x="55" y="33"/>
                  <a:pt x="55" y="33"/>
                  <a:pt x="55" y="33"/>
                </a:cubicBezTo>
                <a:cubicBezTo>
                  <a:pt x="55" y="30"/>
                  <a:pt x="55" y="30"/>
                  <a:pt x="55" y="30"/>
                </a:cubicBezTo>
                <a:cubicBezTo>
                  <a:pt x="58" y="30"/>
                  <a:pt x="58" y="30"/>
                  <a:pt x="58" y="30"/>
                </a:cubicBezTo>
                <a:lnTo>
                  <a:pt x="58" y="33"/>
                </a:lnTo>
                <a:close/>
                <a:moveTo>
                  <a:pt x="58" y="27"/>
                </a:moveTo>
                <a:cubicBezTo>
                  <a:pt x="55" y="27"/>
                  <a:pt x="55" y="27"/>
                  <a:pt x="55" y="27"/>
                </a:cubicBezTo>
                <a:cubicBezTo>
                  <a:pt x="55" y="23"/>
                  <a:pt x="55" y="23"/>
                  <a:pt x="55" y="23"/>
                </a:cubicBezTo>
                <a:cubicBezTo>
                  <a:pt x="58" y="23"/>
                  <a:pt x="58" y="23"/>
                  <a:pt x="58" y="23"/>
                </a:cubicBezTo>
                <a:lnTo>
                  <a:pt x="58" y="27"/>
                </a:lnTo>
                <a:close/>
                <a:moveTo>
                  <a:pt x="58" y="21"/>
                </a:moveTo>
                <a:cubicBezTo>
                  <a:pt x="55" y="21"/>
                  <a:pt x="55" y="21"/>
                  <a:pt x="55" y="21"/>
                </a:cubicBezTo>
                <a:cubicBezTo>
                  <a:pt x="55" y="17"/>
                  <a:pt x="55" y="17"/>
                  <a:pt x="55" y="17"/>
                </a:cubicBezTo>
                <a:cubicBezTo>
                  <a:pt x="58" y="17"/>
                  <a:pt x="58" y="17"/>
                  <a:pt x="58" y="17"/>
                </a:cubicBezTo>
                <a:lnTo>
                  <a:pt x="58" y="21"/>
                </a:lnTo>
                <a:close/>
                <a:moveTo>
                  <a:pt x="64" y="33"/>
                </a:moveTo>
                <a:cubicBezTo>
                  <a:pt x="60" y="33"/>
                  <a:pt x="60" y="33"/>
                  <a:pt x="60" y="33"/>
                </a:cubicBezTo>
                <a:cubicBezTo>
                  <a:pt x="60" y="30"/>
                  <a:pt x="60" y="30"/>
                  <a:pt x="60" y="30"/>
                </a:cubicBezTo>
                <a:cubicBezTo>
                  <a:pt x="64" y="30"/>
                  <a:pt x="64" y="30"/>
                  <a:pt x="64" y="30"/>
                </a:cubicBezTo>
                <a:lnTo>
                  <a:pt x="64" y="33"/>
                </a:lnTo>
                <a:close/>
                <a:moveTo>
                  <a:pt x="64" y="27"/>
                </a:moveTo>
                <a:cubicBezTo>
                  <a:pt x="60" y="27"/>
                  <a:pt x="60" y="27"/>
                  <a:pt x="60" y="27"/>
                </a:cubicBezTo>
                <a:cubicBezTo>
                  <a:pt x="60" y="23"/>
                  <a:pt x="60" y="23"/>
                  <a:pt x="60" y="23"/>
                </a:cubicBezTo>
                <a:cubicBezTo>
                  <a:pt x="64" y="23"/>
                  <a:pt x="64" y="23"/>
                  <a:pt x="64" y="23"/>
                </a:cubicBezTo>
                <a:lnTo>
                  <a:pt x="64" y="27"/>
                </a:lnTo>
                <a:close/>
                <a:moveTo>
                  <a:pt x="64" y="21"/>
                </a:moveTo>
                <a:cubicBezTo>
                  <a:pt x="60" y="21"/>
                  <a:pt x="60" y="21"/>
                  <a:pt x="60" y="21"/>
                </a:cubicBezTo>
                <a:cubicBezTo>
                  <a:pt x="60" y="17"/>
                  <a:pt x="60" y="17"/>
                  <a:pt x="60" y="17"/>
                </a:cubicBezTo>
                <a:cubicBezTo>
                  <a:pt x="64" y="17"/>
                  <a:pt x="64" y="17"/>
                  <a:pt x="64" y="17"/>
                </a:cubicBezTo>
                <a:lnTo>
                  <a:pt x="64" y="21"/>
                </a:lnTo>
                <a:close/>
                <a:moveTo>
                  <a:pt x="38" y="8"/>
                </a:moveTo>
                <a:cubicBezTo>
                  <a:pt x="41" y="8"/>
                  <a:pt x="41" y="8"/>
                  <a:pt x="41" y="8"/>
                </a:cubicBezTo>
                <a:cubicBezTo>
                  <a:pt x="41" y="12"/>
                  <a:pt x="41" y="12"/>
                  <a:pt x="41" y="12"/>
                </a:cubicBezTo>
                <a:cubicBezTo>
                  <a:pt x="38" y="12"/>
                  <a:pt x="38" y="12"/>
                  <a:pt x="38" y="12"/>
                </a:cubicBezTo>
                <a:cubicBezTo>
                  <a:pt x="38" y="15"/>
                  <a:pt x="38" y="15"/>
                  <a:pt x="38" y="15"/>
                </a:cubicBezTo>
                <a:cubicBezTo>
                  <a:pt x="33" y="15"/>
                  <a:pt x="33" y="15"/>
                  <a:pt x="33" y="15"/>
                </a:cubicBezTo>
                <a:cubicBezTo>
                  <a:pt x="33" y="12"/>
                  <a:pt x="33" y="12"/>
                  <a:pt x="33" y="12"/>
                </a:cubicBezTo>
                <a:cubicBezTo>
                  <a:pt x="30" y="12"/>
                  <a:pt x="30" y="12"/>
                  <a:pt x="30" y="12"/>
                </a:cubicBezTo>
                <a:cubicBezTo>
                  <a:pt x="30" y="8"/>
                  <a:pt x="30" y="8"/>
                  <a:pt x="30" y="8"/>
                </a:cubicBezTo>
                <a:cubicBezTo>
                  <a:pt x="33" y="8"/>
                  <a:pt x="33" y="8"/>
                  <a:pt x="33" y="8"/>
                </a:cubicBezTo>
                <a:cubicBezTo>
                  <a:pt x="33" y="4"/>
                  <a:pt x="33" y="4"/>
                  <a:pt x="33" y="4"/>
                </a:cubicBezTo>
                <a:cubicBezTo>
                  <a:pt x="38" y="4"/>
                  <a:pt x="38" y="4"/>
                  <a:pt x="38" y="4"/>
                </a:cubicBezTo>
                <a:lnTo>
                  <a:pt x="38" y="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3" name="Group 22">
            <a:extLst>
              <a:ext uri="{FF2B5EF4-FFF2-40B4-BE49-F238E27FC236}">
                <a16:creationId xmlns:a16="http://schemas.microsoft.com/office/drawing/2014/main" id="{CA634648-AB31-4D22-8C1F-982EF844806D}"/>
              </a:ext>
            </a:extLst>
          </p:cNvPr>
          <p:cNvGrpSpPr/>
          <p:nvPr/>
        </p:nvGrpSpPr>
        <p:grpSpPr>
          <a:xfrm>
            <a:off x="484198" y="751703"/>
            <a:ext cx="349704" cy="349710"/>
            <a:chOff x="806448" y="1028706"/>
            <a:chExt cx="122236" cy="122238"/>
          </a:xfrm>
          <a:solidFill>
            <a:schemeClr val="accent1"/>
          </a:solidFill>
        </p:grpSpPr>
        <p:sp>
          <p:nvSpPr>
            <p:cNvPr id="24" name="Freeform 18">
              <a:extLst>
                <a:ext uri="{FF2B5EF4-FFF2-40B4-BE49-F238E27FC236}">
                  <a16:creationId xmlns:a16="http://schemas.microsoft.com/office/drawing/2014/main" id="{2BE9CFA8-12FC-41B4-9568-9092099A7AF3}"/>
                </a:ext>
              </a:extLst>
            </p:cNvPr>
            <p:cNvSpPr>
              <a:spLocks/>
            </p:cNvSpPr>
            <p:nvPr/>
          </p:nvSpPr>
          <p:spPr bwMode="auto">
            <a:xfrm>
              <a:off x="847722" y="1028706"/>
              <a:ext cx="80962" cy="66676"/>
            </a:xfrm>
            <a:custGeom>
              <a:avLst/>
              <a:gdLst>
                <a:gd name="T0" fmla="*/ 38 w 45"/>
                <a:gd name="T1" fmla="*/ 7 h 37"/>
                <a:gd name="T2" fmla="*/ 14 w 45"/>
                <a:gd name="T3" fmla="*/ 7 h 37"/>
                <a:gd name="T4" fmla="*/ 0 w 45"/>
                <a:gd name="T5" fmla="*/ 21 h 37"/>
                <a:gd name="T6" fmla="*/ 16 w 45"/>
                <a:gd name="T7" fmla="*/ 37 h 37"/>
                <a:gd name="T8" fmla="*/ 28 w 45"/>
                <a:gd name="T9" fmla="*/ 32 h 37"/>
                <a:gd name="T10" fmla="*/ 36 w 45"/>
                <a:gd name="T11" fmla="*/ 34 h 37"/>
                <a:gd name="T12" fmla="*/ 38 w 45"/>
                <a:gd name="T13" fmla="*/ 31 h 37"/>
                <a:gd name="T14" fmla="*/ 38 w 45"/>
                <a:gd name="T15" fmla="*/ 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7">
                  <a:moveTo>
                    <a:pt x="38" y="7"/>
                  </a:moveTo>
                  <a:cubicBezTo>
                    <a:pt x="32" y="0"/>
                    <a:pt x="21" y="0"/>
                    <a:pt x="14" y="7"/>
                  </a:cubicBezTo>
                  <a:cubicBezTo>
                    <a:pt x="0" y="21"/>
                    <a:pt x="0" y="21"/>
                    <a:pt x="0" y="21"/>
                  </a:cubicBezTo>
                  <a:cubicBezTo>
                    <a:pt x="16" y="37"/>
                    <a:pt x="16" y="37"/>
                    <a:pt x="16" y="37"/>
                  </a:cubicBezTo>
                  <a:cubicBezTo>
                    <a:pt x="19" y="34"/>
                    <a:pt x="24" y="32"/>
                    <a:pt x="28" y="32"/>
                  </a:cubicBezTo>
                  <a:cubicBezTo>
                    <a:pt x="31" y="32"/>
                    <a:pt x="33" y="33"/>
                    <a:pt x="36" y="34"/>
                  </a:cubicBezTo>
                  <a:cubicBezTo>
                    <a:pt x="38" y="31"/>
                    <a:pt x="38" y="31"/>
                    <a:pt x="38" y="31"/>
                  </a:cubicBezTo>
                  <a:cubicBezTo>
                    <a:pt x="45" y="24"/>
                    <a:pt x="45" y="13"/>
                    <a:pt x="3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9">
              <a:extLst>
                <a:ext uri="{FF2B5EF4-FFF2-40B4-BE49-F238E27FC236}">
                  <a16:creationId xmlns:a16="http://schemas.microsoft.com/office/drawing/2014/main" id="{21BD13C3-07CD-40EC-A38E-0DEBBDCEB960}"/>
                </a:ext>
              </a:extLst>
            </p:cNvPr>
            <p:cNvSpPr>
              <a:spLocks/>
            </p:cNvSpPr>
            <p:nvPr/>
          </p:nvSpPr>
          <p:spPr bwMode="auto">
            <a:xfrm>
              <a:off x="806448" y="1073156"/>
              <a:ext cx="65087" cy="77788"/>
            </a:xfrm>
            <a:custGeom>
              <a:avLst/>
              <a:gdLst>
                <a:gd name="T0" fmla="*/ 36 w 36"/>
                <a:gd name="T1" fmla="*/ 16 h 44"/>
                <a:gd name="T2" fmla="*/ 21 w 36"/>
                <a:gd name="T3" fmla="*/ 0 h 44"/>
                <a:gd name="T4" fmla="*/ 7 w 36"/>
                <a:gd name="T5" fmla="*/ 13 h 44"/>
                <a:gd name="T6" fmla="*/ 7 w 36"/>
                <a:gd name="T7" fmla="*/ 37 h 44"/>
                <a:gd name="T8" fmla="*/ 31 w 36"/>
                <a:gd name="T9" fmla="*/ 38 h 44"/>
                <a:gd name="T10" fmla="*/ 34 w 36"/>
                <a:gd name="T11" fmla="*/ 35 h 44"/>
                <a:gd name="T12" fmla="*/ 32 w 36"/>
                <a:gd name="T13" fmla="*/ 27 h 44"/>
                <a:gd name="T14" fmla="*/ 36 w 36"/>
                <a:gd name="T15" fmla="*/ 16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44">
                  <a:moveTo>
                    <a:pt x="36" y="16"/>
                  </a:moveTo>
                  <a:cubicBezTo>
                    <a:pt x="21" y="0"/>
                    <a:pt x="21" y="0"/>
                    <a:pt x="21" y="0"/>
                  </a:cubicBezTo>
                  <a:cubicBezTo>
                    <a:pt x="7" y="13"/>
                    <a:pt x="7" y="13"/>
                    <a:pt x="7" y="13"/>
                  </a:cubicBezTo>
                  <a:cubicBezTo>
                    <a:pt x="0" y="20"/>
                    <a:pt x="0" y="31"/>
                    <a:pt x="7" y="37"/>
                  </a:cubicBezTo>
                  <a:cubicBezTo>
                    <a:pt x="13" y="44"/>
                    <a:pt x="24" y="44"/>
                    <a:pt x="31" y="38"/>
                  </a:cubicBezTo>
                  <a:cubicBezTo>
                    <a:pt x="34" y="35"/>
                    <a:pt x="34" y="35"/>
                    <a:pt x="34" y="35"/>
                  </a:cubicBezTo>
                  <a:cubicBezTo>
                    <a:pt x="33" y="32"/>
                    <a:pt x="32" y="30"/>
                    <a:pt x="32" y="27"/>
                  </a:cubicBezTo>
                  <a:cubicBezTo>
                    <a:pt x="32" y="23"/>
                    <a:pt x="34" y="19"/>
                    <a:pt x="36"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20">
              <a:extLst>
                <a:ext uri="{FF2B5EF4-FFF2-40B4-BE49-F238E27FC236}">
                  <a16:creationId xmlns:a16="http://schemas.microsoft.com/office/drawing/2014/main" id="{70AC8AD4-FA12-4116-A7D4-3D8AC4C74916}"/>
                </a:ext>
              </a:extLst>
            </p:cNvPr>
            <p:cNvSpPr>
              <a:spLocks/>
            </p:cNvSpPr>
            <p:nvPr/>
          </p:nvSpPr>
          <p:spPr bwMode="auto">
            <a:xfrm>
              <a:off x="871535" y="1093794"/>
              <a:ext cx="23812" cy="53975"/>
            </a:xfrm>
            <a:custGeom>
              <a:avLst/>
              <a:gdLst>
                <a:gd name="T0" fmla="*/ 0 w 13"/>
                <a:gd name="T1" fmla="*/ 15 h 30"/>
                <a:gd name="T2" fmla="*/ 13 w 13"/>
                <a:gd name="T3" fmla="*/ 30 h 30"/>
                <a:gd name="T4" fmla="*/ 13 w 13"/>
                <a:gd name="T5" fmla="*/ 0 h 30"/>
                <a:gd name="T6" fmla="*/ 0 w 13"/>
                <a:gd name="T7" fmla="*/ 15 h 30"/>
              </a:gdLst>
              <a:ahLst/>
              <a:cxnLst>
                <a:cxn ang="0">
                  <a:pos x="T0" y="T1"/>
                </a:cxn>
                <a:cxn ang="0">
                  <a:pos x="T2" y="T3"/>
                </a:cxn>
                <a:cxn ang="0">
                  <a:pos x="T4" y="T5"/>
                </a:cxn>
                <a:cxn ang="0">
                  <a:pos x="T6" y="T7"/>
                </a:cxn>
              </a:cxnLst>
              <a:rect l="0" t="0" r="r" b="b"/>
              <a:pathLst>
                <a:path w="13" h="30">
                  <a:moveTo>
                    <a:pt x="0" y="15"/>
                  </a:moveTo>
                  <a:cubicBezTo>
                    <a:pt x="0" y="23"/>
                    <a:pt x="6" y="29"/>
                    <a:pt x="13" y="30"/>
                  </a:cubicBezTo>
                  <a:cubicBezTo>
                    <a:pt x="13" y="0"/>
                    <a:pt x="13" y="0"/>
                    <a:pt x="13" y="0"/>
                  </a:cubicBezTo>
                  <a:cubicBezTo>
                    <a:pt x="6" y="1"/>
                    <a:pt x="0" y="8"/>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21">
              <a:extLst>
                <a:ext uri="{FF2B5EF4-FFF2-40B4-BE49-F238E27FC236}">
                  <a16:creationId xmlns:a16="http://schemas.microsoft.com/office/drawing/2014/main" id="{F6F0A7C3-CE81-455E-8BB9-EECAD00BD8EB}"/>
                </a:ext>
              </a:extLst>
            </p:cNvPr>
            <p:cNvSpPr>
              <a:spLocks/>
            </p:cNvSpPr>
            <p:nvPr/>
          </p:nvSpPr>
          <p:spPr bwMode="auto">
            <a:xfrm>
              <a:off x="901697" y="1093794"/>
              <a:ext cx="23812" cy="53975"/>
            </a:xfrm>
            <a:custGeom>
              <a:avLst/>
              <a:gdLst>
                <a:gd name="T0" fmla="*/ 0 w 13"/>
                <a:gd name="T1" fmla="*/ 0 h 30"/>
                <a:gd name="T2" fmla="*/ 0 w 13"/>
                <a:gd name="T3" fmla="*/ 30 h 30"/>
                <a:gd name="T4" fmla="*/ 13 w 13"/>
                <a:gd name="T5" fmla="*/ 15 h 30"/>
                <a:gd name="T6" fmla="*/ 0 w 13"/>
                <a:gd name="T7" fmla="*/ 0 h 30"/>
              </a:gdLst>
              <a:ahLst/>
              <a:cxnLst>
                <a:cxn ang="0">
                  <a:pos x="T0" y="T1"/>
                </a:cxn>
                <a:cxn ang="0">
                  <a:pos x="T2" y="T3"/>
                </a:cxn>
                <a:cxn ang="0">
                  <a:pos x="T4" y="T5"/>
                </a:cxn>
                <a:cxn ang="0">
                  <a:pos x="T6" y="T7"/>
                </a:cxn>
              </a:cxnLst>
              <a:rect l="0" t="0" r="r" b="b"/>
              <a:pathLst>
                <a:path w="13" h="30">
                  <a:moveTo>
                    <a:pt x="0" y="0"/>
                  </a:moveTo>
                  <a:cubicBezTo>
                    <a:pt x="0" y="30"/>
                    <a:pt x="0" y="30"/>
                    <a:pt x="0" y="30"/>
                  </a:cubicBezTo>
                  <a:cubicBezTo>
                    <a:pt x="8" y="29"/>
                    <a:pt x="13" y="23"/>
                    <a:pt x="13" y="15"/>
                  </a:cubicBezTo>
                  <a:cubicBezTo>
                    <a:pt x="13" y="8"/>
                    <a:pt x="8"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8" name="Group 27">
            <a:extLst>
              <a:ext uri="{FF2B5EF4-FFF2-40B4-BE49-F238E27FC236}">
                <a16:creationId xmlns:a16="http://schemas.microsoft.com/office/drawing/2014/main" id="{BCED27AE-E136-41D2-A187-371D1A99C4CA}"/>
              </a:ext>
            </a:extLst>
          </p:cNvPr>
          <p:cNvGrpSpPr/>
          <p:nvPr/>
        </p:nvGrpSpPr>
        <p:grpSpPr>
          <a:xfrm>
            <a:off x="5818895" y="702871"/>
            <a:ext cx="348729" cy="348731"/>
            <a:chOff x="461963" y="1038231"/>
            <a:chExt cx="120649" cy="120650"/>
          </a:xfrm>
          <a:solidFill>
            <a:schemeClr val="accent1"/>
          </a:solidFill>
        </p:grpSpPr>
        <p:sp>
          <p:nvSpPr>
            <p:cNvPr id="29" name="Freeform 22">
              <a:extLst>
                <a:ext uri="{FF2B5EF4-FFF2-40B4-BE49-F238E27FC236}">
                  <a16:creationId xmlns:a16="http://schemas.microsoft.com/office/drawing/2014/main" id="{A845731C-8736-448C-8691-96B850849604}"/>
                </a:ext>
              </a:extLst>
            </p:cNvPr>
            <p:cNvSpPr>
              <a:spLocks/>
            </p:cNvSpPr>
            <p:nvPr/>
          </p:nvSpPr>
          <p:spPr bwMode="auto">
            <a:xfrm>
              <a:off x="461963" y="1062043"/>
              <a:ext cx="120649" cy="96838"/>
            </a:xfrm>
            <a:custGeom>
              <a:avLst/>
              <a:gdLst>
                <a:gd name="T0" fmla="*/ 65 w 67"/>
                <a:gd name="T1" fmla="*/ 33 h 54"/>
                <a:gd name="T2" fmla="*/ 42 w 67"/>
                <a:gd name="T3" fmla="*/ 42 h 54"/>
                <a:gd name="T4" fmla="*/ 37 w 67"/>
                <a:gd name="T5" fmla="*/ 40 h 54"/>
                <a:gd name="T6" fmla="*/ 21 w 67"/>
                <a:gd name="T7" fmla="*/ 0 h 54"/>
                <a:gd name="T8" fmla="*/ 14 w 67"/>
                <a:gd name="T9" fmla="*/ 2 h 54"/>
                <a:gd name="T10" fmla="*/ 13 w 67"/>
                <a:gd name="T11" fmla="*/ 0 h 54"/>
                <a:gd name="T12" fmla="*/ 0 w 67"/>
                <a:gd name="T13" fmla="*/ 5 h 54"/>
                <a:gd name="T14" fmla="*/ 4 w 67"/>
                <a:gd name="T15" fmla="*/ 13 h 54"/>
                <a:gd name="T16" fmla="*/ 16 w 67"/>
                <a:gd name="T17" fmla="*/ 8 h 54"/>
                <a:gd name="T18" fmla="*/ 15 w 67"/>
                <a:gd name="T19" fmla="*/ 6 h 54"/>
                <a:gd name="T20" fmla="*/ 19 w 67"/>
                <a:gd name="T21" fmla="*/ 5 h 54"/>
                <a:gd name="T22" fmla="*/ 33 w 67"/>
                <a:gd name="T23" fmla="*/ 41 h 54"/>
                <a:gd name="T24" fmla="*/ 31 w 67"/>
                <a:gd name="T25" fmla="*/ 49 h 54"/>
                <a:gd name="T26" fmla="*/ 39 w 67"/>
                <a:gd name="T27" fmla="*/ 52 h 54"/>
                <a:gd name="T28" fmla="*/ 43 w 67"/>
                <a:gd name="T29" fmla="*/ 46 h 54"/>
                <a:gd name="T30" fmla="*/ 67 w 67"/>
                <a:gd name="T31" fmla="*/ 37 h 54"/>
                <a:gd name="T32" fmla="*/ 65 w 67"/>
                <a:gd name="T33" fmla="*/ 3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54">
                  <a:moveTo>
                    <a:pt x="65" y="33"/>
                  </a:moveTo>
                  <a:cubicBezTo>
                    <a:pt x="42" y="42"/>
                    <a:pt x="42" y="42"/>
                    <a:pt x="42" y="42"/>
                  </a:cubicBezTo>
                  <a:cubicBezTo>
                    <a:pt x="41" y="41"/>
                    <a:pt x="39" y="40"/>
                    <a:pt x="37" y="40"/>
                  </a:cubicBezTo>
                  <a:cubicBezTo>
                    <a:pt x="21" y="0"/>
                    <a:pt x="21" y="0"/>
                    <a:pt x="21" y="0"/>
                  </a:cubicBezTo>
                  <a:cubicBezTo>
                    <a:pt x="14" y="2"/>
                    <a:pt x="14" y="2"/>
                    <a:pt x="14" y="2"/>
                  </a:cubicBezTo>
                  <a:cubicBezTo>
                    <a:pt x="13" y="0"/>
                    <a:pt x="13" y="0"/>
                    <a:pt x="13" y="0"/>
                  </a:cubicBezTo>
                  <a:cubicBezTo>
                    <a:pt x="0" y="5"/>
                    <a:pt x="0" y="5"/>
                    <a:pt x="0" y="5"/>
                  </a:cubicBezTo>
                  <a:cubicBezTo>
                    <a:pt x="4" y="13"/>
                    <a:pt x="4" y="13"/>
                    <a:pt x="4" y="13"/>
                  </a:cubicBezTo>
                  <a:cubicBezTo>
                    <a:pt x="16" y="8"/>
                    <a:pt x="16" y="8"/>
                    <a:pt x="16" y="8"/>
                  </a:cubicBezTo>
                  <a:cubicBezTo>
                    <a:pt x="15" y="6"/>
                    <a:pt x="15" y="6"/>
                    <a:pt x="15" y="6"/>
                  </a:cubicBezTo>
                  <a:cubicBezTo>
                    <a:pt x="19" y="5"/>
                    <a:pt x="19" y="5"/>
                    <a:pt x="19" y="5"/>
                  </a:cubicBezTo>
                  <a:cubicBezTo>
                    <a:pt x="33" y="41"/>
                    <a:pt x="33" y="41"/>
                    <a:pt x="33" y="41"/>
                  </a:cubicBezTo>
                  <a:cubicBezTo>
                    <a:pt x="31" y="43"/>
                    <a:pt x="30" y="46"/>
                    <a:pt x="31" y="49"/>
                  </a:cubicBezTo>
                  <a:cubicBezTo>
                    <a:pt x="32" y="52"/>
                    <a:pt x="36" y="54"/>
                    <a:pt x="39" y="52"/>
                  </a:cubicBezTo>
                  <a:cubicBezTo>
                    <a:pt x="42" y="51"/>
                    <a:pt x="44" y="49"/>
                    <a:pt x="43" y="46"/>
                  </a:cubicBezTo>
                  <a:cubicBezTo>
                    <a:pt x="67" y="37"/>
                    <a:pt x="67" y="37"/>
                    <a:pt x="67" y="37"/>
                  </a:cubicBezTo>
                  <a:lnTo>
                    <a:pt x="65"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23">
              <a:extLst>
                <a:ext uri="{FF2B5EF4-FFF2-40B4-BE49-F238E27FC236}">
                  <a16:creationId xmlns:a16="http://schemas.microsoft.com/office/drawing/2014/main" id="{11AECF3B-1E80-4C87-8B61-08660AAA6EA6}"/>
                </a:ext>
              </a:extLst>
            </p:cNvPr>
            <p:cNvSpPr>
              <a:spLocks noEditPoints="1"/>
            </p:cNvSpPr>
            <p:nvPr/>
          </p:nvSpPr>
          <p:spPr bwMode="auto">
            <a:xfrm>
              <a:off x="504825" y="1038231"/>
              <a:ext cx="53975" cy="49213"/>
            </a:xfrm>
            <a:custGeom>
              <a:avLst/>
              <a:gdLst>
                <a:gd name="T0" fmla="*/ 34 w 34"/>
                <a:gd name="T1" fmla="*/ 20 h 31"/>
                <a:gd name="T2" fmla="*/ 26 w 34"/>
                <a:gd name="T3" fmla="*/ 0 h 31"/>
                <a:gd name="T4" fmla="*/ 17 w 34"/>
                <a:gd name="T5" fmla="*/ 3 h 31"/>
                <a:gd name="T6" fmla="*/ 9 w 34"/>
                <a:gd name="T7" fmla="*/ 7 h 31"/>
                <a:gd name="T8" fmla="*/ 0 w 34"/>
                <a:gd name="T9" fmla="*/ 10 h 31"/>
                <a:gd name="T10" fmla="*/ 8 w 34"/>
                <a:gd name="T11" fmla="*/ 31 h 31"/>
                <a:gd name="T12" fmla="*/ 34 w 34"/>
                <a:gd name="T13" fmla="*/ 20 h 31"/>
                <a:gd name="T14" fmla="*/ 12 w 34"/>
                <a:gd name="T15" fmla="*/ 10 h 31"/>
                <a:gd name="T16" fmla="*/ 17 w 34"/>
                <a:gd name="T17" fmla="*/ 8 h 31"/>
                <a:gd name="T18" fmla="*/ 18 w 34"/>
                <a:gd name="T19" fmla="*/ 12 h 31"/>
                <a:gd name="T20" fmla="*/ 23 w 34"/>
                <a:gd name="T21" fmla="*/ 10 h 31"/>
                <a:gd name="T22" fmla="*/ 25 w 34"/>
                <a:gd name="T23" fmla="*/ 15 h 31"/>
                <a:gd name="T24" fmla="*/ 20 w 34"/>
                <a:gd name="T25" fmla="*/ 17 h 31"/>
                <a:gd name="T26" fmla="*/ 21 w 34"/>
                <a:gd name="T27" fmla="*/ 20 h 31"/>
                <a:gd name="T28" fmla="*/ 18 w 34"/>
                <a:gd name="T29" fmla="*/ 23 h 31"/>
                <a:gd name="T30" fmla="*/ 16 w 34"/>
                <a:gd name="T31" fmla="*/ 18 h 31"/>
                <a:gd name="T32" fmla="*/ 11 w 34"/>
                <a:gd name="T33" fmla="*/ 20 h 31"/>
                <a:gd name="T34" fmla="*/ 10 w 34"/>
                <a:gd name="T35" fmla="*/ 16 h 31"/>
                <a:gd name="T36" fmla="*/ 15 w 34"/>
                <a:gd name="T37" fmla="*/ 14 h 31"/>
                <a:gd name="T38" fmla="*/ 12 w 34"/>
                <a:gd name="T39" fmla="*/ 1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 h="31">
                  <a:moveTo>
                    <a:pt x="34" y="20"/>
                  </a:moveTo>
                  <a:lnTo>
                    <a:pt x="26" y="0"/>
                  </a:lnTo>
                  <a:lnTo>
                    <a:pt x="17" y="3"/>
                  </a:lnTo>
                  <a:lnTo>
                    <a:pt x="9" y="7"/>
                  </a:lnTo>
                  <a:lnTo>
                    <a:pt x="0" y="10"/>
                  </a:lnTo>
                  <a:lnTo>
                    <a:pt x="8" y="31"/>
                  </a:lnTo>
                  <a:lnTo>
                    <a:pt x="34" y="20"/>
                  </a:lnTo>
                  <a:close/>
                  <a:moveTo>
                    <a:pt x="12" y="10"/>
                  </a:moveTo>
                  <a:lnTo>
                    <a:pt x="17" y="8"/>
                  </a:lnTo>
                  <a:lnTo>
                    <a:pt x="18" y="12"/>
                  </a:lnTo>
                  <a:lnTo>
                    <a:pt x="23" y="10"/>
                  </a:lnTo>
                  <a:lnTo>
                    <a:pt x="25" y="15"/>
                  </a:lnTo>
                  <a:lnTo>
                    <a:pt x="20" y="17"/>
                  </a:lnTo>
                  <a:lnTo>
                    <a:pt x="21" y="20"/>
                  </a:lnTo>
                  <a:lnTo>
                    <a:pt x="18" y="23"/>
                  </a:lnTo>
                  <a:lnTo>
                    <a:pt x="16" y="18"/>
                  </a:lnTo>
                  <a:lnTo>
                    <a:pt x="11" y="20"/>
                  </a:lnTo>
                  <a:lnTo>
                    <a:pt x="10" y="16"/>
                  </a:lnTo>
                  <a:lnTo>
                    <a:pt x="15" y="14"/>
                  </a:lnTo>
                  <a:lnTo>
                    <a:pt x="12"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24">
              <a:extLst>
                <a:ext uri="{FF2B5EF4-FFF2-40B4-BE49-F238E27FC236}">
                  <a16:creationId xmlns:a16="http://schemas.microsoft.com/office/drawing/2014/main" id="{20453808-96D7-49E3-9760-5ED48DBA85E9}"/>
                </a:ext>
              </a:extLst>
            </p:cNvPr>
            <p:cNvSpPr>
              <a:spLocks noEditPoints="1"/>
            </p:cNvSpPr>
            <p:nvPr/>
          </p:nvSpPr>
          <p:spPr bwMode="auto">
            <a:xfrm>
              <a:off x="519112" y="1077918"/>
              <a:ext cx="55562" cy="52388"/>
            </a:xfrm>
            <a:custGeom>
              <a:avLst/>
              <a:gdLst>
                <a:gd name="T0" fmla="*/ 10 w 35"/>
                <a:gd name="T1" fmla="*/ 7 h 33"/>
                <a:gd name="T2" fmla="*/ 0 w 35"/>
                <a:gd name="T3" fmla="*/ 10 h 33"/>
                <a:gd name="T4" fmla="*/ 9 w 35"/>
                <a:gd name="T5" fmla="*/ 33 h 33"/>
                <a:gd name="T6" fmla="*/ 35 w 35"/>
                <a:gd name="T7" fmla="*/ 23 h 33"/>
                <a:gd name="T8" fmla="*/ 27 w 35"/>
                <a:gd name="T9" fmla="*/ 0 h 33"/>
                <a:gd name="T10" fmla="*/ 18 w 35"/>
                <a:gd name="T11" fmla="*/ 3 h 33"/>
                <a:gd name="T12" fmla="*/ 10 w 35"/>
                <a:gd name="T13" fmla="*/ 7 h 33"/>
                <a:gd name="T14" fmla="*/ 24 w 35"/>
                <a:gd name="T15" fmla="*/ 11 h 33"/>
                <a:gd name="T16" fmla="*/ 25 w 35"/>
                <a:gd name="T17" fmla="*/ 16 h 33"/>
                <a:gd name="T18" fmla="*/ 20 w 35"/>
                <a:gd name="T19" fmla="*/ 17 h 33"/>
                <a:gd name="T20" fmla="*/ 23 w 35"/>
                <a:gd name="T21" fmla="*/ 21 h 33"/>
                <a:gd name="T22" fmla="*/ 18 w 35"/>
                <a:gd name="T23" fmla="*/ 24 h 33"/>
                <a:gd name="T24" fmla="*/ 17 w 35"/>
                <a:gd name="T25" fmla="*/ 19 h 33"/>
                <a:gd name="T26" fmla="*/ 12 w 35"/>
                <a:gd name="T27" fmla="*/ 20 h 33"/>
                <a:gd name="T28" fmla="*/ 10 w 35"/>
                <a:gd name="T29" fmla="*/ 17 h 33"/>
                <a:gd name="T30" fmla="*/ 15 w 35"/>
                <a:gd name="T31" fmla="*/ 15 h 33"/>
                <a:gd name="T32" fmla="*/ 14 w 35"/>
                <a:gd name="T33" fmla="*/ 10 h 33"/>
                <a:gd name="T34" fmla="*/ 17 w 35"/>
                <a:gd name="T35" fmla="*/ 9 h 33"/>
                <a:gd name="T36" fmla="*/ 19 w 35"/>
                <a:gd name="T37" fmla="*/ 13 h 33"/>
                <a:gd name="T38" fmla="*/ 24 w 35"/>
                <a:gd name="T39" fmla="*/ 1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33">
                  <a:moveTo>
                    <a:pt x="10" y="7"/>
                  </a:moveTo>
                  <a:lnTo>
                    <a:pt x="0" y="10"/>
                  </a:lnTo>
                  <a:lnTo>
                    <a:pt x="9" y="33"/>
                  </a:lnTo>
                  <a:lnTo>
                    <a:pt x="35" y="23"/>
                  </a:lnTo>
                  <a:lnTo>
                    <a:pt x="27" y="0"/>
                  </a:lnTo>
                  <a:lnTo>
                    <a:pt x="18" y="3"/>
                  </a:lnTo>
                  <a:lnTo>
                    <a:pt x="10" y="7"/>
                  </a:lnTo>
                  <a:close/>
                  <a:moveTo>
                    <a:pt x="24" y="11"/>
                  </a:moveTo>
                  <a:lnTo>
                    <a:pt x="25" y="16"/>
                  </a:lnTo>
                  <a:lnTo>
                    <a:pt x="20" y="17"/>
                  </a:lnTo>
                  <a:lnTo>
                    <a:pt x="23" y="21"/>
                  </a:lnTo>
                  <a:lnTo>
                    <a:pt x="18" y="24"/>
                  </a:lnTo>
                  <a:lnTo>
                    <a:pt x="17" y="19"/>
                  </a:lnTo>
                  <a:lnTo>
                    <a:pt x="12" y="20"/>
                  </a:lnTo>
                  <a:lnTo>
                    <a:pt x="10" y="17"/>
                  </a:lnTo>
                  <a:lnTo>
                    <a:pt x="15" y="15"/>
                  </a:lnTo>
                  <a:lnTo>
                    <a:pt x="14" y="10"/>
                  </a:lnTo>
                  <a:lnTo>
                    <a:pt x="17" y="9"/>
                  </a:lnTo>
                  <a:lnTo>
                    <a:pt x="19" y="13"/>
                  </a:lnTo>
                  <a:lnTo>
                    <a:pt x="24"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2" name="Group 31">
            <a:extLst>
              <a:ext uri="{FF2B5EF4-FFF2-40B4-BE49-F238E27FC236}">
                <a16:creationId xmlns:a16="http://schemas.microsoft.com/office/drawing/2014/main" id="{2F10EE86-E32A-410E-B598-9A2371BC9F0C}"/>
              </a:ext>
            </a:extLst>
          </p:cNvPr>
          <p:cNvGrpSpPr/>
          <p:nvPr/>
        </p:nvGrpSpPr>
        <p:grpSpPr>
          <a:xfrm>
            <a:off x="11153124" y="684853"/>
            <a:ext cx="390080" cy="394964"/>
            <a:chOff x="1838315" y="684215"/>
            <a:chExt cx="126999" cy="128589"/>
          </a:xfrm>
          <a:solidFill>
            <a:schemeClr val="accent1"/>
          </a:solidFill>
        </p:grpSpPr>
        <p:sp>
          <p:nvSpPr>
            <p:cNvPr id="33" name="Rectangle 25">
              <a:extLst>
                <a:ext uri="{FF2B5EF4-FFF2-40B4-BE49-F238E27FC236}">
                  <a16:creationId xmlns:a16="http://schemas.microsoft.com/office/drawing/2014/main" id="{36766402-E127-45C8-81B1-14ED4EE42564}"/>
                </a:ext>
              </a:extLst>
            </p:cNvPr>
            <p:cNvSpPr>
              <a:spLocks noChangeArrowheads="1"/>
            </p:cNvSpPr>
            <p:nvPr/>
          </p:nvSpPr>
          <p:spPr bwMode="auto">
            <a:xfrm>
              <a:off x="1838315" y="774704"/>
              <a:ext cx="126999"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26">
              <a:extLst>
                <a:ext uri="{FF2B5EF4-FFF2-40B4-BE49-F238E27FC236}">
                  <a16:creationId xmlns:a16="http://schemas.microsoft.com/office/drawing/2014/main" id="{C5E768EE-A975-4FE7-A28C-67F134F2B0AD}"/>
                </a:ext>
              </a:extLst>
            </p:cNvPr>
            <p:cNvSpPr>
              <a:spLocks/>
            </p:cNvSpPr>
            <p:nvPr/>
          </p:nvSpPr>
          <p:spPr bwMode="auto">
            <a:xfrm>
              <a:off x="1838315" y="796929"/>
              <a:ext cx="126999" cy="15875"/>
            </a:xfrm>
            <a:custGeom>
              <a:avLst/>
              <a:gdLst>
                <a:gd name="T0" fmla="*/ 72 w 80"/>
                <a:gd name="T1" fmla="*/ 0 h 10"/>
                <a:gd name="T2" fmla="*/ 63 w 80"/>
                <a:gd name="T3" fmla="*/ 0 h 10"/>
                <a:gd name="T4" fmla="*/ 63 w 80"/>
                <a:gd name="T5" fmla="*/ 5 h 10"/>
                <a:gd name="T6" fmla="*/ 44 w 80"/>
                <a:gd name="T7" fmla="*/ 5 h 10"/>
                <a:gd name="T8" fmla="*/ 44 w 80"/>
                <a:gd name="T9" fmla="*/ 0 h 10"/>
                <a:gd name="T10" fmla="*/ 35 w 80"/>
                <a:gd name="T11" fmla="*/ 0 h 10"/>
                <a:gd name="T12" fmla="*/ 35 w 80"/>
                <a:gd name="T13" fmla="*/ 5 h 10"/>
                <a:gd name="T14" fmla="*/ 16 w 80"/>
                <a:gd name="T15" fmla="*/ 5 h 10"/>
                <a:gd name="T16" fmla="*/ 16 w 80"/>
                <a:gd name="T17" fmla="*/ 0 h 10"/>
                <a:gd name="T18" fmla="*/ 7 w 80"/>
                <a:gd name="T19" fmla="*/ 0 h 10"/>
                <a:gd name="T20" fmla="*/ 7 w 80"/>
                <a:gd name="T21" fmla="*/ 5 h 10"/>
                <a:gd name="T22" fmla="*/ 0 w 80"/>
                <a:gd name="T23" fmla="*/ 5 h 10"/>
                <a:gd name="T24" fmla="*/ 0 w 80"/>
                <a:gd name="T25" fmla="*/ 10 h 10"/>
                <a:gd name="T26" fmla="*/ 80 w 80"/>
                <a:gd name="T27" fmla="*/ 10 h 10"/>
                <a:gd name="T28" fmla="*/ 80 w 80"/>
                <a:gd name="T29" fmla="*/ 5 h 10"/>
                <a:gd name="T30" fmla="*/ 72 w 80"/>
                <a:gd name="T31" fmla="*/ 5 h 10"/>
                <a:gd name="T32" fmla="*/ 72 w 80"/>
                <a:gd name="T33" fmla="*/ 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10">
                  <a:moveTo>
                    <a:pt x="72" y="0"/>
                  </a:moveTo>
                  <a:lnTo>
                    <a:pt x="63" y="0"/>
                  </a:lnTo>
                  <a:lnTo>
                    <a:pt x="63" y="5"/>
                  </a:lnTo>
                  <a:lnTo>
                    <a:pt x="44" y="5"/>
                  </a:lnTo>
                  <a:lnTo>
                    <a:pt x="44" y="0"/>
                  </a:lnTo>
                  <a:lnTo>
                    <a:pt x="35" y="0"/>
                  </a:lnTo>
                  <a:lnTo>
                    <a:pt x="35" y="5"/>
                  </a:lnTo>
                  <a:lnTo>
                    <a:pt x="16" y="5"/>
                  </a:lnTo>
                  <a:lnTo>
                    <a:pt x="16" y="0"/>
                  </a:lnTo>
                  <a:lnTo>
                    <a:pt x="7" y="0"/>
                  </a:lnTo>
                  <a:lnTo>
                    <a:pt x="7" y="5"/>
                  </a:lnTo>
                  <a:lnTo>
                    <a:pt x="0" y="5"/>
                  </a:lnTo>
                  <a:lnTo>
                    <a:pt x="0" y="10"/>
                  </a:lnTo>
                  <a:lnTo>
                    <a:pt x="80" y="10"/>
                  </a:lnTo>
                  <a:lnTo>
                    <a:pt x="80" y="5"/>
                  </a:lnTo>
                  <a:lnTo>
                    <a:pt x="72" y="5"/>
                  </a:lnTo>
                  <a:lnTo>
                    <a:pt x="7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27">
              <a:extLst>
                <a:ext uri="{FF2B5EF4-FFF2-40B4-BE49-F238E27FC236}">
                  <a16:creationId xmlns:a16="http://schemas.microsoft.com/office/drawing/2014/main" id="{E5056021-18A8-4D18-BD5C-636BB6303924}"/>
                </a:ext>
              </a:extLst>
            </p:cNvPr>
            <p:cNvSpPr>
              <a:spLocks noEditPoints="1"/>
            </p:cNvSpPr>
            <p:nvPr/>
          </p:nvSpPr>
          <p:spPr bwMode="auto">
            <a:xfrm>
              <a:off x="1852602" y="730253"/>
              <a:ext cx="44450" cy="36513"/>
            </a:xfrm>
            <a:custGeom>
              <a:avLst/>
              <a:gdLst>
                <a:gd name="T0" fmla="*/ 28 w 28"/>
                <a:gd name="T1" fmla="*/ 0 h 23"/>
                <a:gd name="T2" fmla="*/ 17 w 28"/>
                <a:gd name="T3" fmla="*/ 0 h 23"/>
                <a:gd name="T4" fmla="*/ 13 w 28"/>
                <a:gd name="T5" fmla="*/ 0 h 23"/>
                <a:gd name="T6" fmla="*/ 0 w 28"/>
                <a:gd name="T7" fmla="*/ 0 h 23"/>
                <a:gd name="T8" fmla="*/ 0 w 28"/>
                <a:gd name="T9" fmla="*/ 23 h 23"/>
                <a:gd name="T10" fmla="*/ 28 w 28"/>
                <a:gd name="T11" fmla="*/ 23 h 23"/>
                <a:gd name="T12" fmla="*/ 28 w 28"/>
                <a:gd name="T13" fmla="*/ 0 h 23"/>
                <a:gd name="T14" fmla="*/ 22 w 28"/>
                <a:gd name="T15" fmla="*/ 14 h 23"/>
                <a:gd name="T16" fmla="*/ 17 w 28"/>
                <a:gd name="T17" fmla="*/ 14 h 23"/>
                <a:gd name="T18" fmla="*/ 17 w 28"/>
                <a:gd name="T19" fmla="*/ 19 h 23"/>
                <a:gd name="T20" fmla="*/ 13 w 28"/>
                <a:gd name="T21" fmla="*/ 19 h 23"/>
                <a:gd name="T22" fmla="*/ 13 w 28"/>
                <a:gd name="T23" fmla="*/ 14 h 23"/>
                <a:gd name="T24" fmla="*/ 8 w 28"/>
                <a:gd name="T25" fmla="*/ 14 h 23"/>
                <a:gd name="T26" fmla="*/ 8 w 28"/>
                <a:gd name="T27" fmla="*/ 10 h 23"/>
                <a:gd name="T28" fmla="*/ 13 w 28"/>
                <a:gd name="T29" fmla="*/ 10 h 23"/>
                <a:gd name="T30" fmla="*/ 13 w 28"/>
                <a:gd name="T31" fmla="*/ 5 h 23"/>
                <a:gd name="T32" fmla="*/ 17 w 28"/>
                <a:gd name="T33" fmla="*/ 5 h 23"/>
                <a:gd name="T34" fmla="*/ 17 w 28"/>
                <a:gd name="T35" fmla="*/ 10 h 23"/>
                <a:gd name="T36" fmla="*/ 22 w 28"/>
                <a:gd name="T37" fmla="*/ 10 h 23"/>
                <a:gd name="T38" fmla="*/ 22 w 28"/>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3">
                  <a:moveTo>
                    <a:pt x="28" y="0"/>
                  </a:moveTo>
                  <a:lnTo>
                    <a:pt x="17" y="0"/>
                  </a:lnTo>
                  <a:lnTo>
                    <a:pt x="13" y="0"/>
                  </a:lnTo>
                  <a:lnTo>
                    <a:pt x="0" y="0"/>
                  </a:lnTo>
                  <a:lnTo>
                    <a:pt x="0" y="23"/>
                  </a:lnTo>
                  <a:lnTo>
                    <a:pt x="28" y="23"/>
                  </a:lnTo>
                  <a:lnTo>
                    <a:pt x="28" y="0"/>
                  </a:lnTo>
                  <a:close/>
                  <a:moveTo>
                    <a:pt x="22" y="14"/>
                  </a:moveTo>
                  <a:lnTo>
                    <a:pt x="17" y="14"/>
                  </a:lnTo>
                  <a:lnTo>
                    <a:pt x="17" y="19"/>
                  </a:lnTo>
                  <a:lnTo>
                    <a:pt x="13" y="19"/>
                  </a:lnTo>
                  <a:lnTo>
                    <a:pt x="13" y="14"/>
                  </a:lnTo>
                  <a:lnTo>
                    <a:pt x="8" y="14"/>
                  </a:lnTo>
                  <a:lnTo>
                    <a:pt x="8" y="10"/>
                  </a:lnTo>
                  <a:lnTo>
                    <a:pt x="13" y="10"/>
                  </a:lnTo>
                  <a:lnTo>
                    <a:pt x="13" y="5"/>
                  </a:lnTo>
                  <a:lnTo>
                    <a:pt x="17" y="5"/>
                  </a:lnTo>
                  <a:lnTo>
                    <a:pt x="17" y="10"/>
                  </a:lnTo>
                  <a:lnTo>
                    <a:pt x="22" y="10"/>
                  </a:lnTo>
                  <a:lnTo>
                    <a:pt x="2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28">
              <a:extLst>
                <a:ext uri="{FF2B5EF4-FFF2-40B4-BE49-F238E27FC236}">
                  <a16:creationId xmlns:a16="http://schemas.microsoft.com/office/drawing/2014/main" id="{D362A73E-BB20-463E-9682-42D45AD1B6FE}"/>
                </a:ext>
              </a:extLst>
            </p:cNvPr>
            <p:cNvSpPr>
              <a:spLocks noEditPoints="1"/>
            </p:cNvSpPr>
            <p:nvPr/>
          </p:nvSpPr>
          <p:spPr bwMode="auto">
            <a:xfrm>
              <a:off x="1904990" y="730253"/>
              <a:ext cx="44450" cy="36513"/>
            </a:xfrm>
            <a:custGeom>
              <a:avLst/>
              <a:gdLst>
                <a:gd name="T0" fmla="*/ 0 w 28"/>
                <a:gd name="T1" fmla="*/ 0 h 23"/>
                <a:gd name="T2" fmla="*/ 0 w 28"/>
                <a:gd name="T3" fmla="*/ 23 h 23"/>
                <a:gd name="T4" fmla="*/ 28 w 28"/>
                <a:gd name="T5" fmla="*/ 23 h 23"/>
                <a:gd name="T6" fmla="*/ 28 w 28"/>
                <a:gd name="T7" fmla="*/ 0 h 23"/>
                <a:gd name="T8" fmla="*/ 17 w 28"/>
                <a:gd name="T9" fmla="*/ 0 h 23"/>
                <a:gd name="T10" fmla="*/ 12 w 28"/>
                <a:gd name="T11" fmla="*/ 0 h 23"/>
                <a:gd name="T12" fmla="*/ 0 w 28"/>
                <a:gd name="T13" fmla="*/ 0 h 23"/>
                <a:gd name="T14" fmla="*/ 12 w 28"/>
                <a:gd name="T15" fmla="*/ 5 h 23"/>
                <a:gd name="T16" fmla="*/ 17 w 28"/>
                <a:gd name="T17" fmla="*/ 5 h 23"/>
                <a:gd name="T18" fmla="*/ 17 w 28"/>
                <a:gd name="T19" fmla="*/ 10 h 23"/>
                <a:gd name="T20" fmla="*/ 21 w 28"/>
                <a:gd name="T21" fmla="*/ 10 h 23"/>
                <a:gd name="T22" fmla="*/ 21 w 28"/>
                <a:gd name="T23" fmla="*/ 14 h 23"/>
                <a:gd name="T24" fmla="*/ 17 w 28"/>
                <a:gd name="T25" fmla="*/ 14 h 23"/>
                <a:gd name="T26" fmla="*/ 17 w 28"/>
                <a:gd name="T27" fmla="*/ 19 h 23"/>
                <a:gd name="T28" fmla="*/ 12 w 28"/>
                <a:gd name="T29" fmla="*/ 19 h 23"/>
                <a:gd name="T30" fmla="*/ 12 w 28"/>
                <a:gd name="T31" fmla="*/ 14 h 23"/>
                <a:gd name="T32" fmla="*/ 8 w 28"/>
                <a:gd name="T33" fmla="*/ 14 h 23"/>
                <a:gd name="T34" fmla="*/ 8 w 28"/>
                <a:gd name="T35" fmla="*/ 10 h 23"/>
                <a:gd name="T36" fmla="*/ 12 w 28"/>
                <a:gd name="T37" fmla="*/ 10 h 23"/>
                <a:gd name="T38" fmla="*/ 12 w 28"/>
                <a:gd name="T39" fmla="*/ 5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3">
                  <a:moveTo>
                    <a:pt x="0" y="0"/>
                  </a:moveTo>
                  <a:lnTo>
                    <a:pt x="0" y="23"/>
                  </a:lnTo>
                  <a:lnTo>
                    <a:pt x="28" y="23"/>
                  </a:lnTo>
                  <a:lnTo>
                    <a:pt x="28" y="0"/>
                  </a:lnTo>
                  <a:lnTo>
                    <a:pt x="17" y="0"/>
                  </a:lnTo>
                  <a:lnTo>
                    <a:pt x="12" y="0"/>
                  </a:lnTo>
                  <a:lnTo>
                    <a:pt x="0" y="0"/>
                  </a:lnTo>
                  <a:close/>
                  <a:moveTo>
                    <a:pt x="12" y="5"/>
                  </a:moveTo>
                  <a:lnTo>
                    <a:pt x="17" y="5"/>
                  </a:lnTo>
                  <a:lnTo>
                    <a:pt x="17" y="10"/>
                  </a:lnTo>
                  <a:lnTo>
                    <a:pt x="21" y="10"/>
                  </a:lnTo>
                  <a:lnTo>
                    <a:pt x="21" y="14"/>
                  </a:lnTo>
                  <a:lnTo>
                    <a:pt x="17" y="14"/>
                  </a:lnTo>
                  <a:lnTo>
                    <a:pt x="17" y="19"/>
                  </a:lnTo>
                  <a:lnTo>
                    <a:pt x="12" y="19"/>
                  </a:lnTo>
                  <a:lnTo>
                    <a:pt x="12" y="14"/>
                  </a:lnTo>
                  <a:lnTo>
                    <a:pt x="8" y="14"/>
                  </a:lnTo>
                  <a:lnTo>
                    <a:pt x="8" y="10"/>
                  </a:lnTo>
                  <a:lnTo>
                    <a:pt x="12" y="10"/>
                  </a:lnTo>
                  <a:lnTo>
                    <a:pt x="12"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29">
              <a:extLst>
                <a:ext uri="{FF2B5EF4-FFF2-40B4-BE49-F238E27FC236}">
                  <a16:creationId xmlns:a16="http://schemas.microsoft.com/office/drawing/2014/main" id="{379A44BF-D98D-43F6-9191-A23F03168F87}"/>
                </a:ext>
              </a:extLst>
            </p:cNvPr>
            <p:cNvSpPr>
              <a:spLocks noEditPoints="1"/>
            </p:cNvSpPr>
            <p:nvPr/>
          </p:nvSpPr>
          <p:spPr bwMode="auto">
            <a:xfrm>
              <a:off x="1879590" y="684215"/>
              <a:ext cx="44450" cy="38100"/>
            </a:xfrm>
            <a:custGeom>
              <a:avLst/>
              <a:gdLst>
                <a:gd name="T0" fmla="*/ 28 w 28"/>
                <a:gd name="T1" fmla="*/ 0 h 24"/>
                <a:gd name="T2" fmla="*/ 16 w 28"/>
                <a:gd name="T3" fmla="*/ 0 h 24"/>
                <a:gd name="T4" fmla="*/ 11 w 28"/>
                <a:gd name="T5" fmla="*/ 0 h 24"/>
                <a:gd name="T6" fmla="*/ 0 w 28"/>
                <a:gd name="T7" fmla="*/ 0 h 24"/>
                <a:gd name="T8" fmla="*/ 0 w 28"/>
                <a:gd name="T9" fmla="*/ 24 h 24"/>
                <a:gd name="T10" fmla="*/ 28 w 28"/>
                <a:gd name="T11" fmla="*/ 24 h 24"/>
                <a:gd name="T12" fmla="*/ 28 w 28"/>
                <a:gd name="T13" fmla="*/ 0 h 24"/>
                <a:gd name="T14" fmla="*/ 20 w 28"/>
                <a:gd name="T15" fmla="*/ 15 h 24"/>
                <a:gd name="T16" fmla="*/ 16 w 28"/>
                <a:gd name="T17" fmla="*/ 15 h 24"/>
                <a:gd name="T18" fmla="*/ 16 w 28"/>
                <a:gd name="T19" fmla="*/ 19 h 24"/>
                <a:gd name="T20" fmla="*/ 11 w 28"/>
                <a:gd name="T21" fmla="*/ 19 h 24"/>
                <a:gd name="T22" fmla="*/ 11 w 28"/>
                <a:gd name="T23" fmla="*/ 15 h 24"/>
                <a:gd name="T24" fmla="*/ 7 w 28"/>
                <a:gd name="T25" fmla="*/ 15 h 24"/>
                <a:gd name="T26" fmla="*/ 7 w 28"/>
                <a:gd name="T27" fmla="*/ 10 h 24"/>
                <a:gd name="T28" fmla="*/ 11 w 28"/>
                <a:gd name="T29" fmla="*/ 10 h 24"/>
                <a:gd name="T30" fmla="*/ 11 w 28"/>
                <a:gd name="T31" fmla="*/ 6 h 24"/>
                <a:gd name="T32" fmla="*/ 16 w 28"/>
                <a:gd name="T33" fmla="*/ 6 h 24"/>
                <a:gd name="T34" fmla="*/ 16 w 28"/>
                <a:gd name="T35" fmla="*/ 10 h 24"/>
                <a:gd name="T36" fmla="*/ 20 w 28"/>
                <a:gd name="T37" fmla="*/ 10 h 24"/>
                <a:gd name="T38" fmla="*/ 20 w 28"/>
                <a:gd name="T39" fmla="*/ 1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4">
                  <a:moveTo>
                    <a:pt x="28" y="0"/>
                  </a:moveTo>
                  <a:lnTo>
                    <a:pt x="16" y="0"/>
                  </a:lnTo>
                  <a:lnTo>
                    <a:pt x="11" y="0"/>
                  </a:lnTo>
                  <a:lnTo>
                    <a:pt x="0" y="0"/>
                  </a:lnTo>
                  <a:lnTo>
                    <a:pt x="0" y="24"/>
                  </a:lnTo>
                  <a:lnTo>
                    <a:pt x="28" y="24"/>
                  </a:lnTo>
                  <a:lnTo>
                    <a:pt x="28" y="0"/>
                  </a:lnTo>
                  <a:close/>
                  <a:moveTo>
                    <a:pt x="20" y="15"/>
                  </a:moveTo>
                  <a:lnTo>
                    <a:pt x="16" y="15"/>
                  </a:lnTo>
                  <a:lnTo>
                    <a:pt x="16" y="19"/>
                  </a:lnTo>
                  <a:lnTo>
                    <a:pt x="11" y="19"/>
                  </a:lnTo>
                  <a:lnTo>
                    <a:pt x="11" y="15"/>
                  </a:lnTo>
                  <a:lnTo>
                    <a:pt x="7" y="15"/>
                  </a:lnTo>
                  <a:lnTo>
                    <a:pt x="7" y="10"/>
                  </a:lnTo>
                  <a:lnTo>
                    <a:pt x="11" y="10"/>
                  </a:lnTo>
                  <a:lnTo>
                    <a:pt x="11" y="6"/>
                  </a:lnTo>
                  <a:lnTo>
                    <a:pt x="16" y="6"/>
                  </a:lnTo>
                  <a:lnTo>
                    <a:pt x="16" y="10"/>
                  </a:lnTo>
                  <a:lnTo>
                    <a:pt x="20" y="10"/>
                  </a:lnTo>
                  <a:lnTo>
                    <a:pt x="2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8" name="Group 37">
            <a:extLst>
              <a:ext uri="{FF2B5EF4-FFF2-40B4-BE49-F238E27FC236}">
                <a16:creationId xmlns:a16="http://schemas.microsoft.com/office/drawing/2014/main" id="{FAAA9066-C1B5-4FF5-96DC-0F56CFA3E6B6}"/>
              </a:ext>
            </a:extLst>
          </p:cNvPr>
          <p:cNvGrpSpPr/>
          <p:nvPr/>
        </p:nvGrpSpPr>
        <p:grpSpPr>
          <a:xfrm>
            <a:off x="8521215" y="1580194"/>
            <a:ext cx="333882" cy="338008"/>
            <a:chOff x="1835140" y="1027118"/>
            <a:chExt cx="128587" cy="130176"/>
          </a:xfrm>
          <a:solidFill>
            <a:schemeClr val="accent1"/>
          </a:solidFill>
        </p:grpSpPr>
        <p:sp>
          <p:nvSpPr>
            <p:cNvPr id="39" name="Freeform 30">
              <a:extLst>
                <a:ext uri="{FF2B5EF4-FFF2-40B4-BE49-F238E27FC236}">
                  <a16:creationId xmlns:a16="http://schemas.microsoft.com/office/drawing/2014/main" id="{4793624A-18D7-4259-8003-58F175A9A705}"/>
                </a:ext>
              </a:extLst>
            </p:cNvPr>
            <p:cNvSpPr>
              <a:spLocks/>
            </p:cNvSpPr>
            <p:nvPr/>
          </p:nvSpPr>
          <p:spPr bwMode="auto">
            <a:xfrm>
              <a:off x="1835140" y="1027118"/>
              <a:ext cx="128587" cy="130176"/>
            </a:xfrm>
            <a:custGeom>
              <a:avLst/>
              <a:gdLst>
                <a:gd name="T0" fmla="*/ 71 w 72"/>
                <a:gd name="T1" fmla="*/ 23 h 72"/>
                <a:gd name="T2" fmla="*/ 37 w 72"/>
                <a:gd name="T3" fmla="*/ 0 h 72"/>
                <a:gd name="T4" fmla="*/ 35 w 72"/>
                <a:gd name="T5" fmla="*/ 0 h 72"/>
                <a:gd name="T6" fmla="*/ 1 w 72"/>
                <a:gd name="T7" fmla="*/ 23 h 72"/>
                <a:gd name="T8" fmla="*/ 0 w 72"/>
                <a:gd name="T9" fmla="*/ 25 h 72"/>
                <a:gd name="T10" fmla="*/ 0 w 72"/>
                <a:gd name="T11" fmla="*/ 72 h 72"/>
                <a:gd name="T12" fmla="*/ 9 w 72"/>
                <a:gd name="T13" fmla="*/ 72 h 72"/>
                <a:gd name="T14" fmla="*/ 9 w 72"/>
                <a:gd name="T15" fmla="*/ 36 h 72"/>
                <a:gd name="T16" fmla="*/ 12 w 72"/>
                <a:gd name="T17" fmla="*/ 33 h 72"/>
                <a:gd name="T18" fmla="*/ 60 w 72"/>
                <a:gd name="T19" fmla="*/ 33 h 72"/>
                <a:gd name="T20" fmla="*/ 63 w 72"/>
                <a:gd name="T21" fmla="*/ 36 h 72"/>
                <a:gd name="T22" fmla="*/ 63 w 72"/>
                <a:gd name="T23" fmla="*/ 72 h 72"/>
                <a:gd name="T24" fmla="*/ 72 w 72"/>
                <a:gd name="T25" fmla="*/ 72 h 72"/>
                <a:gd name="T26" fmla="*/ 72 w 72"/>
                <a:gd name="T27" fmla="*/ 25 h 72"/>
                <a:gd name="T28" fmla="*/ 71 w 72"/>
                <a:gd name="T29" fmla="*/ 23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2" h="72">
                  <a:moveTo>
                    <a:pt x="71" y="23"/>
                  </a:moveTo>
                  <a:cubicBezTo>
                    <a:pt x="37" y="0"/>
                    <a:pt x="37" y="0"/>
                    <a:pt x="37" y="0"/>
                  </a:cubicBezTo>
                  <a:cubicBezTo>
                    <a:pt x="37" y="0"/>
                    <a:pt x="36" y="0"/>
                    <a:pt x="35" y="0"/>
                  </a:cubicBezTo>
                  <a:cubicBezTo>
                    <a:pt x="1" y="23"/>
                    <a:pt x="1" y="23"/>
                    <a:pt x="1" y="23"/>
                  </a:cubicBezTo>
                  <a:cubicBezTo>
                    <a:pt x="0" y="24"/>
                    <a:pt x="0" y="25"/>
                    <a:pt x="0" y="25"/>
                  </a:cubicBezTo>
                  <a:cubicBezTo>
                    <a:pt x="0" y="72"/>
                    <a:pt x="0" y="72"/>
                    <a:pt x="0" y="72"/>
                  </a:cubicBezTo>
                  <a:cubicBezTo>
                    <a:pt x="9" y="72"/>
                    <a:pt x="9" y="72"/>
                    <a:pt x="9" y="72"/>
                  </a:cubicBezTo>
                  <a:cubicBezTo>
                    <a:pt x="9" y="36"/>
                    <a:pt x="9" y="36"/>
                    <a:pt x="9" y="36"/>
                  </a:cubicBezTo>
                  <a:cubicBezTo>
                    <a:pt x="9" y="34"/>
                    <a:pt x="10" y="33"/>
                    <a:pt x="12" y="33"/>
                  </a:cubicBezTo>
                  <a:cubicBezTo>
                    <a:pt x="60" y="33"/>
                    <a:pt x="60" y="33"/>
                    <a:pt x="60" y="33"/>
                  </a:cubicBezTo>
                  <a:cubicBezTo>
                    <a:pt x="62" y="33"/>
                    <a:pt x="63" y="34"/>
                    <a:pt x="63" y="36"/>
                  </a:cubicBezTo>
                  <a:cubicBezTo>
                    <a:pt x="63" y="72"/>
                    <a:pt x="63" y="72"/>
                    <a:pt x="63" y="72"/>
                  </a:cubicBezTo>
                  <a:cubicBezTo>
                    <a:pt x="72" y="72"/>
                    <a:pt x="72" y="72"/>
                    <a:pt x="72" y="72"/>
                  </a:cubicBezTo>
                  <a:cubicBezTo>
                    <a:pt x="72" y="25"/>
                    <a:pt x="72" y="25"/>
                    <a:pt x="72" y="25"/>
                  </a:cubicBezTo>
                  <a:cubicBezTo>
                    <a:pt x="72" y="25"/>
                    <a:pt x="72" y="24"/>
                    <a:pt x="71"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31">
              <a:extLst>
                <a:ext uri="{FF2B5EF4-FFF2-40B4-BE49-F238E27FC236}">
                  <a16:creationId xmlns:a16="http://schemas.microsoft.com/office/drawing/2014/main" id="{D60E4DDE-12E2-46EE-80ED-647AFFA3B43C}"/>
                </a:ext>
              </a:extLst>
            </p:cNvPr>
            <p:cNvSpPr>
              <a:spLocks noEditPoints="1"/>
            </p:cNvSpPr>
            <p:nvPr/>
          </p:nvSpPr>
          <p:spPr bwMode="auto">
            <a:xfrm>
              <a:off x="1863715" y="1128719"/>
              <a:ext cx="33337" cy="28575"/>
            </a:xfrm>
            <a:custGeom>
              <a:avLst/>
              <a:gdLst>
                <a:gd name="T0" fmla="*/ 21 w 21"/>
                <a:gd name="T1" fmla="*/ 0 h 18"/>
                <a:gd name="T2" fmla="*/ 12 w 21"/>
                <a:gd name="T3" fmla="*/ 0 h 18"/>
                <a:gd name="T4" fmla="*/ 9 w 21"/>
                <a:gd name="T5" fmla="*/ 0 h 18"/>
                <a:gd name="T6" fmla="*/ 0 w 21"/>
                <a:gd name="T7" fmla="*/ 0 h 18"/>
                <a:gd name="T8" fmla="*/ 0 w 21"/>
                <a:gd name="T9" fmla="*/ 18 h 18"/>
                <a:gd name="T10" fmla="*/ 21 w 21"/>
                <a:gd name="T11" fmla="*/ 18 h 18"/>
                <a:gd name="T12" fmla="*/ 21 w 21"/>
                <a:gd name="T13" fmla="*/ 0 h 18"/>
                <a:gd name="T14" fmla="*/ 16 w 21"/>
                <a:gd name="T15" fmla="*/ 11 h 18"/>
                <a:gd name="T16" fmla="*/ 12 w 21"/>
                <a:gd name="T17" fmla="*/ 11 h 18"/>
                <a:gd name="T18" fmla="*/ 12 w 21"/>
                <a:gd name="T19" fmla="*/ 14 h 18"/>
                <a:gd name="T20" fmla="*/ 9 w 21"/>
                <a:gd name="T21" fmla="*/ 14 h 18"/>
                <a:gd name="T22" fmla="*/ 9 w 21"/>
                <a:gd name="T23" fmla="*/ 11 h 18"/>
                <a:gd name="T24" fmla="*/ 6 w 21"/>
                <a:gd name="T25" fmla="*/ 11 h 18"/>
                <a:gd name="T26" fmla="*/ 6 w 21"/>
                <a:gd name="T27" fmla="*/ 7 h 18"/>
                <a:gd name="T28" fmla="*/ 9 w 21"/>
                <a:gd name="T29" fmla="*/ 7 h 18"/>
                <a:gd name="T30" fmla="*/ 9 w 21"/>
                <a:gd name="T31" fmla="*/ 3 h 18"/>
                <a:gd name="T32" fmla="*/ 12 w 21"/>
                <a:gd name="T33" fmla="*/ 3 h 18"/>
                <a:gd name="T34" fmla="*/ 12 w 21"/>
                <a:gd name="T35" fmla="*/ 7 h 18"/>
                <a:gd name="T36" fmla="*/ 16 w 21"/>
                <a:gd name="T37" fmla="*/ 7 h 18"/>
                <a:gd name="T38" fmla="*/ 16 w 21"/>
                <a:gd name="T39" fmla="*/ 1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 h="18">
                  <a:moveTo>
                    <a:pt x="21" y="0"/>
                  </a:moveTo>
                  <a:lnTo>
                    <a:pt x="12" y="0"/>
                  </a:lnTo>
                  <a:lnTo>
                    <a:pt x="9" y="0"/>
                  </a:lnTo>
                  <a:lnTo>
                    <a:pt x="0" y="0"/>
                  </a:lnTo>
                  <a:lnTo>
                    <a:pt x="0" y="18"/>
                  </a:lnTo>
                  <a:lnTo>
                    <a:pt x="21" y="18"/>
                  </a:lnTo>
                  <a:lnTo>
                    <a:pt x="21" y="0"/>
                  </a:lnTo>
                  <a:close/>
                  <a:moveTo>
                    <a:pt x="16" y="11"/>
                  </a:moveTo>
                  <a:lnTo>
                    <a:pt x="12" y="11"/>
                  </a:lnTo>
                  <a:lnTo>
                    <a:pt x="12" y="14"/>
                  </a:lnTo>
                  <a:lnTo>
                    <a:pt x="9" y="14"/>
                  </a:lnTo>
                  <a:lnTo>
                    <a:pt x="9" y="11"/>
                  </a:lnTo>
                  <a:lnTo>
                    <a:pt x="6" y="11"/>
                  </a:lnTo>
                  <a:lnTo>
                    <a:pt x="6" y="7"/>
                  </a:lnTo>
                  <a:lnTo>
                    <a:pt x="9" y="7"/>
                  </a:lnTo>
                  <a:lnTo>
                    <a:pt x="9" y="3"/>
                  </a:lnTo>
                  <a:lnTo>
                    <a:pt x="12" y="3"/>
                  </a:lnTo>
                  <a:lnTo>
                    <a:pt x="12" y="7"/>
                  </a:lnTo>
                  <a:lnTo>
                    <a:pt x="16" y="7"/>
                  </a:lnTo>
                  <a:lnTo>
                    <a:pt x="16"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32">
              <a:extLst>
                <a:ext uri="{FF2B5EF4-FFF2-40B4-BE49-F238E27FC236}">
                  <a16:creationId xmlns:a16="http://schemas.microsoft.com/office/drawing/2014/main" id="{D9542D68-1B43-44C0-8724-69704048BF9F}"/>
                </a:ext>
              </a:extLst>
            </p:cNvPr>
            <p:cNvSpPr>
              <a:spLocks noEditPoints="1"/>
            </p:cNvSpPr>
            <p:nvPr/>
          </p:nvSpPr>
          <p:spPr bwMode="auto">
            <a:xfrm>
              <a:off x="1903402" y="1128719"/>
              <a:ext cx="33337" cy="28575"/>
            </a:xfrm>
            <a:custGeom>
              <a:avLst/>
              <a:gdLst>
                <a:gd name="T0" fmla="*/ 0 w 21"/>
                <a:gd name="T1" fmla="*/ 0 h 18"/>
                <a:gd name="T2" fmla="*/ 0 w 21"/>
                <a:gd name="T3" fmla="*/ 18 h 18"/>
                <a:gd name="T4" fmla="*/ 21 w 21"/>
                <a:gd name="T5" fmla="*/ 18 h 18"/>
                <a:gd name="T6" fmla="*/ 21 w 21"/>
                <a:gd name="T7" fmla="*/ 0 h 18"/>
                <a:gd name="T8" fmla="*/ 12 w 21"/>
                <a:gd name="T9" fmla="*/ 0 h 18"/>
                <a:gd name="T10" fmla="*/ 9 w 21"/>
                <a:gd name="T11" fmla="*/ 0 h 18"/>
                <a:gd name="T12" fmla="*/ 0 w 21"/>
                <a:gd name="T13" fmla="*/ 0 h 18"/>
                <a:gd name="T14" fmla="*/ 9 w 21"/>
                <a:gd name="T15" fmla="*/ 3 h 18"/>
                <a:gd name="T16" fmla="*/ 12 w 21"/>
                <a:gd name="T17" fmla="*/ 3 h 18"/>
                <a:gd name="T18" fmla="*/ 12 w 21"/>
                <a:gd name="T19" fmla="*/ 7 h 18"/>
                <a:gd name="T20" fmla="*/ 16 w 21"/>
                <a:gd name="T21" fmla="*/ 7 h 18"/>
                <a:gd name="T22" fmla="*/ 16 w 21"/>
                <a:gd name="T23" fmla="*/ 11 h 18"/>
                <a:gd name="T24" fmla="*/ 12 w 21"/>
                <a:gd name="T25" fmla="*/ 11 h 18"/>
                <a:gd name="T26" fmla="*/ 12 w 21"/>
                <a:gd name="T27" fmla="*/ 14 h 18"/>
                <a:gd name="T28" fmla="*/ 9 w 21"/>
                <a:gd name="T29" fmla="*/ 14 h 18"/>
                <a:gd name="T30" fmla="*/ 9 w 21"/>
                <a:gd name="T31" fmla="*/ 11 h 18"/>
                <a:gd name="T32" fmla="*/ 5 w 21"/>
                <a:gd name="T33" fmla="*/ 11 h 18"/>
                <a:gd name="T34" fmla="*/ 5 w 21"/>
                <a:gd name="T35" fmla="*/ 7 h 18"/>
                <a:gd name="T36" fmla="*/ 9 w 21"/>
                <a:gd name="T37" fmla="*/ 7 h 18"/>
                <a:gd name="T38" fmla="*/ 9 w 21"/>
                <a:gd name="T3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 h="18">
                  <a:moveTo>
                    <a:pt x="0" y="0"/>
                  </a:moveTo>
                  <a:lnTo>
                    <a:pt x="0" y="18"/>
                  </a:lnTo>
                  <a:lnTo>
                    <a:pt x="21" y="18"/>
                  </a:lnTo>
                  <a:lnTo>
                    <a:pt x="21" y="0"/>
                  </a:lnTo>
                  <a:lnTo>
                    <a:pt x="12" y="0"/>
                  </a:lnTo>
                  <a:lnTo>
                    <a:pt x="9" y="0"/>
                  </a:lnTo>
                  <a:lnTo>
                    <a:pt x="0" y="0"/>
                  </a:lnTo>
                  <a:close/>
                  <a:moveTo>
                    <a:pt x="9" y="3"/>
                  </a:moveTo>
                  <a:lnTo>
                    <a:pt x="12" y="3"/>
                  </a:lnTo>
                  <a:lnTo>
                    <a:pt x="12" y="7"/>
                  </a:lnTo>
                  <a:lnTo>
                    <a:pt x="16" y="7"/>
                  </a:lnTo>
                  <a:lnTo>
                    <a:pt x="16" y="11"/>
                  </a:lnTo>
                  <a:lnTo>
                    <a:pt x="12" y="11"/>
                  </a:lnTo>
                  <a:lnTo>
                    <a:pt x="12" y="14"/>
                  </a:lnTo>
                  <a:lnTo>
                    <a:pt x="9" y="14"/>
                  </a:lnTo>
                  <a:lnTo>
                    <a:pt x="9" y="11"/>
                  </a:lnTo>
                  <a:lnTo>
                    <a:pt x="5" y="11"/>
                  </a:lnTo>
                  <a:lnTo>
                    <a:pt x="5" y="7"/>
                  </a:lnTo>
                  <a:lnTo>
                    <a:pt x="9" y="7"/>
                  </a:lnTo>
                  <a:lnTo>
                    <a:pt x="9"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33">
              <a:extLst>
                <a:ext uri="{FF2B5EF4-FFF2-40B4-BE49-F238E27FC236}">
                  <a16:creationId xmlns:a16="http://schemas.microsoft.com/office/drawing/2014/main" id="{B0A4C13B-5DD9-428D-B9B1-2D0B1BFD98CE}"/>
                </a:ext>
              </a:extLst>
            </p:cNvPr>
            <p:cNvSpPr>
              <a:spLocks noEditPoints="1"/>
            </p:cNvSpPr>
            <p:nvPr/>
          </p:nvSpPr>
          <p:spPr bwMode="auto">
            <a:xfrm>
              <a:off x="1882765" y="1093794"/>
              <a:ext cx="34925" cy="28575"/>
            </a:xfrm>
            <a:custGeom>
              <a:avLst/>
              <a:gdLst>
                <a:gd name="T0" fmla="*/ 22 w 22"/>
                <a:gd name="T1" fmla="*/ 0 h 18"/>
                <a:gd name="T2" fmla="*/ 13 w 22"/>
                <a:gd name="T3" fmla="*/ 0 h 18"/>
                <a:gd name="T4" fmla="*/ 9 w 22"/>
                <a:gd name="T5" fmla="*/ 0 h 18"/>
                <a:gd name="T6" fmla="*/ 0 w 22"/>
                <a:gd name="T7" fmla="*/ 0 h 18"/>
                <a:gd name="T8" fmla="*/ 0 w 22"/>
                <a:gd name="T9" fmla="*/ 18 h 18"/>
                <a:gd name="T10" fmla="*/ 22 w 22"/>
                <a:gd name="T11" fmla="*/ 18 h 18"/>
                <a:gd name="T12" fmla="*/ 22 w 22"/>
                <a:gd name="T13" fmla="*/ 0 h 18"/>
                <a:gd name="T14" fmla="*/ 16 w 22"/>
                <a:gd name="T15" fmla="*/ 11 h 18"/>
                <a:gd name="T16" fmla="*/ 13 w 22"/>
                <a:gd name="T17" fmla="*/ 11 h 18"/>
                <a:gd name="T18" fmla="*/ 13 w 22"/>
                <a:gd name="T19" fmla="*/ 15 h 18"/>
                <a:gd name="T20" fmla="*/ 9 w 22"/>
                <a:gd name="T21" fmla="*/ 15 h 18"/>
                <a:gd name="T22" fmla="*/ 9 w 22"/>
                <a:gd name="T23" fmla="*/ 11 h 18"/>
                <a:gd name="T24" fmla="*/ 6 w 22"/>
                <a:gd name="T25" fmla="*/ 11 h 18"/>
                <a:gd name="T26" fmla="*/ 6 w 22"/>
                <a:gd name="T27" fmla="*/ 8 h 18"/>
                <a:gd name="T28" fmla="*/ 9 w 22"/>
                <a:gd name="T29" fmla="*/ 8 h 18"/>
                <a:gd name="T30" fmla="*/ 9 w 22"/>
                <a:gd name="T31" fmla="*/ 3 h 18"/>
                <a:gd name="T32" fmla="*/ 13 w 22"/>
                <a:gd name="T33" fmla="*/ 3 h 18"/>
                <a:gd name="T34" fmla="*/ 13 w 22"/>
                <a:gd name="T35" fmla="*/ 8 h 18"/>
                <a:gd name="T36" fmla="*/ 16 w 22"/>
                <a:gd name="T37" fmla="*/ 8 h 18"/>
                <a:gd name="T38" fmla="*/ 16 w 22"/>
                <a:gd name="T39" fmla="*/ 11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18">
                  <a:moveTo>
                    <a:pt x="22" y="0"/>
                  </a:moveTo>
                  <a:lnTo>
                    <a:pt x="13" y="0"/>
                  </a:lnTo>
                  <a:lnTo>
                    <a:pt x="9" y="0"/>
                  </a:lnTo>
                  <a:lnTo>
                    <a:pt x="0" y="0"/>
                  </a:lnTo>
                  <a:lnTo>
                    <a:pt x="0" y="18"/>
                  </a:lnTo>
                  <a:lnTo>
                    <a:pt x="22" y="18"/>
                  </a:lnTo>
                  <a:lnTo>
                    <a:pt x="22" y="0"/>
                  </a:lnTo>
                  <a:close/>
                  <a:moveTo>
                    <a:pt x="16" y="11"/>
                  </a:moveTo>
                  <a:lnTo>
                    <a:pt x="13" y="11"/>
                  </a:lnTo>
                  <a:lnTo>
                    <a:pt x="13" y="15"/>
                  </a:lnTo>
                  <a:lnTo>
                    <a:pt x="9" y="15"/>
                  </a:lnTo>
                  <a:lnTo>
                    <a:pt x="9" y="11"/>
                  </a:lnTo>
                  <a:lnTo>
                    <a:pt x="6" y="11"/>
                  </a:lnTo>
                  <a:lnTo>
                    <a:pt x="6" y="8"/>
                  </a:lnTo>
                  <a:lnTo>
                    <a:pt x="9" y="8"/>
                  </a:lnTo>
                  <a:lnTo>
                    <a:pt x="9" y="3"/>
                  </a:lnTo>
                  <a:lnTo>
                    <a:pt x="13" y="3"/>
                  </a:lnTo>
                  <a:lnTo>
                    <a:pt x="13" y="8"/>
                  </a:lnTo>
                  <a:lnTo>
                    <a:pt x="16" y="8"/>
                  </a:lnTo>
                  <a:lnTo>
                    <a:pt x="16"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3" name="Group 42">
            <a:extLst>
              <a:ext uri="{FF2B5EF4-FFF2-40B4-BE49-F238E27FC236}">
                <a16:creationId xmlns:a16="http://schemas.microsoft.com/office/drawing/2014/main" id="{1DD18560-2885-4E13-ADCC-5021C4C7F018}"/>
              </a:ext>
            </a:extLst>
          </p:cNvPr>
          <p:cNvGrpSpPr/>
          <p:nvPr/>
        </p:nvGrpSpPr>
        <p:grpSpPr>
          <a:xfrm>
            <a:off x="10243777" y="682168"/>
            <a:ext cx="386795" cy="352527"/>
            <a:chOff x="1146170" y="1042993"/>
            <a:chExt cx="125412" cy="114301"/>
          </a:xfrm>
        </p:grpSpPr>
        <p:sp>
          <p:nvSpPr>
            <p:cNvPr id="44" name="Freeform 34">
              <a:extLst>
                <a:ext uri="{FF2B5EF4-FFF2-40B4-BE49-F238E27FC236}">
                  <a16:creationId xmlns:a16="http://schemas.microsoft.com/office/drawing/2014/main" id="{2D49CBD4-F8ED-44C8-92D7-2F1603B92D8C}"/>
                </a:ext>
              </a:extLst>
            </p:cNvPr>
            <p:cNvSpPr>
              <a:spLocks/>
            </p:cNvSpPr>
            <p:nvPr/>
          </p:nvSpPr>
          <p:spPr bwMode="auto">
            <a:xfrm>
              <a:off x="1196970" y="1068393"/>
              <a:ext cx="25400" cy="25400"/>
            </a:xfrm>
            <a:custGeom>
              <a:avLst/>
              <a:gdLst>
                <a:gd name="T0" fmla="*/ 11 w 16"/>
                <a:gd name="T1" fmla="*/ 5 h 16"/>
                <a:gd name="T2" fmla="*/ 16 w 16"/>
                <a:gd name="T3" fmla="*/ 5 h 16"/>
                <a:gd name="T4" fmla="*/ 16 w 16"/>
                <a:gd name="T5" fmla="*/ 12 h 16"/>
                <a:gd name="T6" fmla="*/ 11 w 16"/>
                <a:gd name="T7" fmla="*/ 12 h 16"/>
                <a:gd name="T8" fmla="*/ 11 w 16"/>
                <a:gd name="T9" fmla="*/ 16 h 16"/>
                <a:gd name="T10" fmla="*/ 5 w 16"/>
                <a:gd name="T11" fmla="*/ 16 h 16"/>
                <a:gd name="T12" fmla="*/ 5 w 16"/>
                <a:gd name="T13" fmla="*/ 12 h 16"/>
                <a:gd name="T14" fmla="*/ 0 w 16"/>
                <a:gd name="T15" fmla="*/ 12 h 16"/>
                <a:gd name="T16" fmla="*/ 0 w 16"/>
                <a:gd name="T17" fmla="*/ 5 h 16"/>
                <a:gd name="T18" fmla="*/ 5 w 16"/>
                <a:gd name="T19" fmla="*/ 5 h 16"/>
                <a:gd name="T20" fmla="*/ 5 w 16"/>
                <a:gd name="T21" fmla="*/ 0 h 16"/>
                <a:gd name="T22" fmla="*/ 11 w 16"/>
                <a:gd name="T23" fmla="*/ 0 h 16"/>
                <a:gd name="T24" fmla="*/ 11 w 16"/>
                <a:gd name="T25" fmla="*/ 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16">
                  <a:moveTo>
                    <a:pt x="11" y="5"/>
                  </a:moveTo>
                  <a:lnTo>
                    <a:pt x="16" y="5"/>
                  </a:lnTo>
                  <a:lnTo>
                    <a:pt x="16" y="12"/>
                  </a:lnTo>
                  <a:lnTo>
                    <a:pt x="11" y="12"/>
                  </a:lnTo>
                  <a:lnTo>
                    <a:pt x="11" y="16"/>
                  </a:lnTo>
                  <a:lnTo>
                    <a:pt x="5" y="16"/>
                  </a:lnTo>
                  <a:lnTo>
                    <a:pt x="5" y="12"/>
                  </a:lnTo>
                  <a:lnTo>
                    <a:pt x="0" y="12"/>
                  </a:lnTo>
                  <a:lnTo>
                    <a:pt x="0" y="5"/>
                  </a:lnTo>
                  <a:lnTo>
                    <a:pt x="5" y="5"/>
                  </a:lnTo>
                  <a:lnTo>
                    <a:pt x="5" y="0"/>
                  </a:lnTo>
                  <a:lnTo>
                    <a:pt x="11" y="0"/>
                  </a:lnTo>
                  <a:lnTo>
                    <a:pt x="11" y="5"/>
                  </a:lnTo>
                  <a:close/>
                </a:path>
              </a:pathLst>
            </a:custGeom>
            <a:solidFill>
              <a:srgbClr val="59565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35">
              <a:extLst>
                <a:ext uri="{FF2B5EF4-FFF2-40B4-BE49-F238E27FC236}">
                  <a16:creationId xmlns:a16="http://schemas.microsoft.com/office/drawing/2014/main" id="{F9214346-96D5-4FD7-AFA5-27D9A98EBE57}"/>
                </a:ext>
              </a:extLst>
            </p:cNvPr>
            <p:cNvSpPr>
              <a:spLocks noEditPoints="1"/>
            </p:cNvSpPr>
            <p:nvPr/>
          </p:nvSpPr>
          <p:spPr bwMode="auto">
            <a:xfrm>
              <a:off x="1146170" y="1042993"/>
              <a:ext cx="125412" cy="114301"/>
            </a:xfrm>
            <a:custGeom>
              <a:avLst/>
              <a:gdLst>
                <a:gd name="T0" fmla="*/ 35 w 70"/>
                <a:gd name="T1" fmla="*/ 0 h 63"/>
                <a:gd name="T2" fmla="*/ 1 w 70"/>
                <a:gd name="T3" fmla="*/ 31 h 63"/>
                <a:gd name="T4" fmla="*/ 2 w 70"/>
                <a:gd name="T5" fmla="*/ 33 h 63"/>
                <a:gd name="T6" fmla="*/ 9 w 70"/>
                <a:gd name="T7" fmla="*/ 33 h 63"/>
                <a:gd name="T8" fmla="*/ 9 w 70"/>
                <a:gd name="T9" fmla="*/ 63 h 63"/>
                <a:gd name="T10" fmla="*/ 28 w 70"/>
                <a:gd name="T11" fmla="*/ 63 h 63"/>
                <a:gd name="T12" fmla="*/ 28 w 70"/>
                <a:gd name="T13" fmla="*/ 41 h 63"/>
                <a:gd name="T14" fmla="*/ 43 w 70"/>
                <a:gd name="T15" fmla="*/ 41 h 63"/>
                <a:gd name="T16" fmla="*/ 43 w 70"/>
                <a:gd name="T17" fmla="*/ 63 h 63"/>
                <a:gd name="T18" fmla="*/ 61 w 70"/>
                <a:gd name="T19" fmla="*/ 63 h 63"/>
                <a:gd name="T20" fmla="*/ 61 w 70"/>
                <a:gd name="T21" fmla="*/ 33 h 63"/>
                <a:gd name="T22" fmla="*/ 69 w 70"/>
                <a:gd name="T23" fmla="*/ 33 h 63"/>
                <a:gd name="T24" fmla="*/ 70 w 70"/>
                <a:gd name="T25" fmla="*/ 31 h 63"/>
                <a:gd name="T26" fmla="*/ 35 w 70"/>
                <a:gd name="T27" fmla="*/ 0 h 63"/>
                <a:gd name="T28" fmla="*/ 37 w 70"/>
                <a:gd name="T29" fmla="*/ 31 h 63"/>
                <a:gd name="T30" fmla="*/ 25 w 70"/>
                <a:gd name="T31" fmla="*/ 19 h 63"/>
                <a:gd name="T32" fmla="*/ 33 w 70"/>
                <a:gd name="T33" fmla="*/ 11 h 63"/>
                <a:gd name="T34" fmla="*/ 45 w 70"/>
                <a:gd name="T35" fmla="*/ 23 h 63"/>
                <a:gd name="T36" fmla="*/ 37 w 70"/>
                <a:gd name="T37"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63">
                  <a:moveTo>
                    <a:pt x="35" y="0"/>
                  </a:moveTo>
                  <a:cubicBezTo>
                    <a:pt x="1" y="31"/>
                    <a:pt x="1" y="31"/>
                    <a:pt x="1" y="31"/>
                  </a:cubicBezTo>
                  <a:cubicBezTo>
                    <a:pt x="0" y="32"/>
                    <a:pt x="1" y="33"/>
                    <a:pt x="2" y="33"/>
                  </a:cubicBezTo>
                  <a:cubicBezTo>
                    <a:pt x="9" y="33"/>
                    <a:pt x="9" y="33"/>
                    <a:pt x="9" y="33"/>
                  </a:cubicBezTo>
                  <a:cubicBezTo>
                    <a:pt x="9" y="63"/>
                    <a:pt x="9" y="63"/>
                    <a:pt x="9" y="63"/>
                  </a:cubicBezTo>
                  <a:cubicBezTo>
                    <a:pt x="28" y="63"/>
                    <a:pt x="28" y="63"/>
                    <a:pt x="28" y="63"/>
                  </a:cubicBezTo>
                  <a:cubicBezTo>
                    <a:pt x="28" y="41"/>
                    <a:pt x="28" y="41"/>
                    <a:pt x="28" y="41"/>
                  </a:cubicBezTo>
                  <a:cubicBezTo>
                    <a:pt x="43" y="41"/>
                    <a:pt x="43" y="41"/>
                    <a:pt x="43" y="41"/>
                  </a:cubicBezTo>
                  <a:cubicBezTo>
                    <a:pt x="43" y="63"/>
                    <a:pt x="43" y="63"/>
                    <a:pt x="43" y="63"/>
                  </a:cubicBezTo>
                  <a:cubicBezTo>
                    <a:pt x="61" y="63"/>
                    <a:pt x="61" y="63"/>
                    <a:pt x="61" y="63"/>
                  </a:cubicBezTo>
                  <a:cubicBezTo>
                    <a:pt x="61" y="33"/>
                    <a:pt x="61" y="33"/>
                    <a:pt x="61" y="33"/>
                  </a:cubicBezTo>
                  <a:cubicBezTo>
                    <a:pt x="69" y="33"/>
                    <a:pt x="69" y="33"/>
                    <a:pt x="69" y="33"/>
                  </a:cubicBezTo>
                  <a:cubicBezTo>
                    <a:pt x="70" y="33"/>
                    <a:pt x="70" y="32"/>
                    <a:pt x="70" y="31"/>
                  </a:cubicBezTo>
                  <a:lnTo>
                    <a:pt x="35" y="0"/>
                  </a:lnTo>
                  <a:close/>
                  <a:moveTo>
                    <a:pt x="37" y="31"/>
                  </a:moveTo>
                  <a:cubicBezTo>
                    <a:pt x="30" y="32"/>
                    <a:pt x="24" y="26"/>
                    <a:pt x="25" y="19"/>
                  </a:cubicBezTo>
                  <a:cubicBezTo>
                    <a:pt x="26" y="15"/>
                    <a:pt x="29" y="12"/>
                    <a:pt x="33" y="11"/>
                  </a:cubicBezTo>
                  <a:cubicBezTo>
                    <a:pt x="40" y="9"/>
                    <a:pt x="47" y="16"/>
                    <a:pt x="45" y="23"/>
                  </a:cubicBezTo>
                  <a:cubicBezTo>
                    <a:pt x="44" y="27"/>
                    <a:pt x="41" y="30"/>
                    <a:pt x="37" y="3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6" name="Freeform 38">
            <a:extLst>
              <a:ext uri="{FF2B5EF4-FFF2-40B4-BE49-F238E27FC236}">
                <a16:creationId xmlns:a16="http://schemas.microsoft.com/office/drawing/2014/main" id="{5A7E65DB-6BA8-44B5-8E28-FCDDA1ED0880}"/>
              </a:ext>
            </a:extLst>
          </p:cNvPr>
          <p:cNvSpPr>
            <a:spLocks noEditPoints="1"/>
          </p:cNvSpPr>
          <p:nvPr/>
        </p:nvSpPr>
        <p:spPr bwMode="auto">
          <a:xfrm>
            <a:off x="5867672" y="1619638"/>
            <a:ext cx="265111" cy="333404"/>
          </a:xfrm>
          <a:custGeom>
            <a:avLst/>
            <a:gdLst>
              <a:gd name="T0" fmla="*/ 56 w 58"/>
              <a:gd name="T1" fmla="*/ 33 h 73"/>
              <a:gd name="T2" fmla="*/ 52 w 58"/>
              <a:gd name="T3" fmla="*/ 24 h 73"/>
              <a:gd name="T4" fmla="*/ 54 w 58"/>
              <a:gd name="T5" fmla="*/ 9 h 73"/>
              <a:gd name="T6" fmla="*/ 46 w 58"/>
              <a:gd name="T7" fmla="*/ 0 h 73"/>
              <a:gd name="T8" fmla="*/ 11 w 58"/>
              <a:gd name="T9" fmla="*/ 0 h 73"/>
              <a:gd name="T10" fmla="*/ 3 w 58"/>
              <a:gd name="T11" fmla="*/ 9 h 73"/>
              <a:gd name="T12" fmla="*/ 6 w 58"/>
              <a:gd name="T13" fmla="*/ 24 h 73"/>
              <a:gd name="T14" fmla="*/ 2 w 58"/>
              <a:gd name="T15" fmla="*/ 33 h 73"/>
              <a:gd name="T16" fmla="*/ 0 w 58"/>
              <a:gd name="T17" fmla="*/ 44 h 73"/>
              <a:gd name="T18" fmla="*/ 29 w 58"/>
              <a:gd name="T19" fmla="*/ 73 h 73"/>
              <a:gd name="T20" fmla="*/ 58 w 58"/>
              <a:gd name="T21" fmla="*/ 44 h 73"/>
              <a:gd name="T22" fmla="*/ 56 w 58"/>
              <a:gd name="T23" fmla="*/ 33 h 73"/>
              <a:gd name="T24" fmla="*/ 18 w 58"/>
              <a:gd name="T25" fmla="*/ 11 h 73"/>
              <a:gd name="T26" fmla="*/ 25 w 58"/>
              <a:gd name="T27" fmla="*/ 11 h 73"/>
              <a:gd name="T28" fmla="*/ 25 w 58"/>
              <a:gd name="T29" fmla="*/ 4 h 73"/>
              <a:gd name="T30" fmla="*/ 32 w 58"/>
              <a:gd name="T31" fmla="*/ 4 h 73"/>
              <a:gd name="T32" fmla="*/ 32 w 58"/>
              <a:gd name="T33" fmla="*/ 11 h 73"/>
              <a:gd name="T34" fmla="*/ 40 w 58"/>
              <a:gd name="T35" fmla="*/ 11 h 73"/>
              <a:gd name="T36" fmla="*/ 40 w 58"/>
              <a:gd name="T37" fmla="*/ 18 h 73"/>
              <a:gd name="T38" fmla="*/ 32 w 58"/>
              <a:gd name="T39" fmla="*/ 18 h 73"/>
              <a:gd name="T40" fmla="*/ 32 w 58"/>
              <a:gd name="T41" fmla="*/ 25 h 73"/>
              <a:gd name="T42" fmla="*/ 25 w 58"/>
              <a:gd name="T43" fmla="*/ 25 h 73"/>
              <a:gd name="T44" fmla="*/ 25 w 58"/>
              <a:gd name="T45" fmla="*/ 18 h 73"/>
              <a:gd name="T46" fmla="*/ 18 w 58"/>
              <a:gd name="T47" fmla="*/ 18 h 73"/>
              <a:gd name="T48" fmla="*/ 18 w 58"/>
              <a:gd name="T49" fmla="*/ 11 h 73"/>
              <a:gd name="T50" fmla="*/ 29 w 58"/>
              <a:gd name="T51" fmla="*/ 65 h 73"/>
              <a:gd name="T52" fmla="*/ 7 w 58"/>
              <a:gd name="T53" fmla="*/ 44 h 73"/>
              <a:gd name="T54" fmla="*/ 7 w 58"/>
              <a:gd name="T55" fmla="*/ 40 h 73"/>
              <a:gd name="T56" fmla="*/ 11 w 58"/>
              <a:gd name="T57" fmla="*/ 40 h 73"/>
              <a:gd name="T58" fmla="*/ 29 w 58"/>
              <a:gd name="T59" fmla="*/ 34 h 73"/>
              <a:gd name="T60" fmla="*/ 47 w 58"/>
              <a:gd name="T61" fmla="*/ 40 h 73"/>
              <a:gd name="T62" fmla="*/ 50 w 58"/>
              <a:gd name="T63" fmla="*/ 40 h 73"/>
              <a:gd name="T64" fmla="*/ 50 w 58"/>
              <a:gd name="T65" fmla="*/ 44 h 73"/>
              <a:gd name="T66" fmla="*/ 29 w 58"/>
              <a:gd name="T67" fmla="*/ 6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8" h="73">
                <a:moveTo>
                  <a:pt x="56" y="33"/>
                </a:moveTo>
                <a:cubicBezTo>
                  <a:pt x="54" y="27"/>
                  <a:pt x="52" y="24"/>
                  <a:pt x="52" y="24"/>
                </a:cubicBezTo>
                <a:cubicBezTo>
                  <a:pt x="52" y="19"/>
                  <a:pt x="53" y="14"/>
                  <a:pt x="54" y="9"/>
                </a:cubicBezTo>
                <a:cubicBezTo>
                  <a:pt x="55" y="4"/>
                  <a:pt x="51" y="0"/>
                  <a:pt x="46" y="0"/>
                </a:cubicBezTo>
                <a:cubicBezTo>
                  <a:pt x="11" y="0"/>
                  <a:pt x="11" y="0"/>
                  <a:pt x="11" y="0"/>
                </a:cubicBezTo>
                <a:cubicBezTo>
                  <a:pt x="6" y="0"/>
                  <a:pt x="3" y="4"/>
                  <a:pt x="3" y="9"/>
                </a:cubicBezTo>
                <a:cubicBezTo>
                  <a:pt x="4" y="14"/>
                  <a:pt x="5" y="19"/>
                  <a:pt x="6" y="24"/>
                </a:cubicBezTo>
                <a:cubicBezTo>
                  <a:pt x="4" y="27"/>
                  <a:pt x="2" y="33"/>
                  <a:pt x="2" y="33"/>
                </a:cubicBezTo>
                <a:cubicBezTo>
                  <a:pt x="0" y="36"/>
                  <a:pt x="0" y="40"/>
                  <a:pt x="0" y="44"/>
                </a:cubicBezTo>
                <a:cubicBezTo>
                  <a:pt x="0" y="60"/>
                  <a:pt x="13" y="73"/>
                  <a:pt x="29" y="73"/>
                </a:cubicBezTo>
                <a:cubicBezTo>
                  <a:pt x="45" y="73"/>
                  <a:pt x="58" y="60"/>
                  <a:pt x="58" y="44"/>
                </a:cubicBezTo>
                <a:cubicBezTo>
                  <a:pt x="58" y="40"/>
                  <a:pt x="57" y="36"/>
                  <a:pt x="56" y="33"/>
                </a:cubicBezTo>
                <a:close/>
                <a:moveTo>
                  <a:pt x="18" y="11"/>
                </a:moveTo>
                <a:cubicBezTo>
                  <a:pt x="25" y="11"/>
                  <a:pt x="25" y="11"/>
                  <a:pt x="25" y="11"/>
                </a:cubicBezTo>
                <a:cubicBezTo>
                  <a:pt x="25" y="4"/>
                  <a:pt x="25" y="4"/>
                  <a:pt x="25" y="4"/>
                </a:cubicBezTo>
                <a:cubicBezTo>
                  <a:pt x="32" y="4"/>
                  <a:pt x="32" y="4"/>
                  <a:pt x="32" y="4"/>
                </a:cubicBezTo>
                <a:cubicBezTo>
                  <a:pt x="32" y="11"/>
                  <a:pt x="32" y="11"/>
                  <a:pt x="32" y="11"/>
                </a:cubicBezTo>
                <a:cubicBezTo>
                  <a:pt x="40" y="11"/>
                  <a:pt x="40" y="11"/>
                  <a:pt x="40" y="11"/>
                </a:cubicBezTo>
                <a:cubicBezTo>
                  <a:pt x="40" y="18"/>
                  <a:pt x="40" y="18"/>
                  <a:pt x="40" y="18"/>
                </a:cubicBezTo>
                <a:cubicBezTo>
                  <a:pt x="32" y="18"/>
                  <a:pt x="32" y="18"/>
                  <a:pt x="32" y="18"/>
                </a:cubicBezTo>
                <a:cubicBezTo>
                  <a:pt x="32" y="25"/>
                  <a:pt x="32" y="25"/>
                  <a:pt x="32" y="25"/>
                </a:cubicBezTo>
                <a:cubicBezTo>
                  <a:pt x="25" y="25"/>
                  <a:pt x="25" y="25"/>
                  <a:pt x="25" y="25"/>
                </a:cubicBezTo>
                <a:cubicBezTo>
                  <a:pt x="25" y="18"/>
                  <a:pt x="25" y="18"/>
                  <a:pt x="25" y="18"/>
                </a:cubicBezTo>
                <a:cubicBezTo>
                  <a:pt x="18" y="18"/>
                  <a:pt x="18" y="18"/>
                  <a:pt x="18" y="18"/>
                </a:cubicBezTo>
                <a:lnTo>
                  <a:pt x="18" y="11"/>
                </a:lnTo>
                <a:close/>
                <a:moveTo>
                  <a:pt x="29" y="65"/>
                </a:moveTo>
                <a:cubicBezTo>
                  <a:pt x="17" y="65"/>
                  <a:pt x="7" y="56"/>
                  <a:pt x="7" y="44"/>
                </a:cubicBezTo>
                <a:cubicBezTo>
                  <a:pt x="7" y="42"/>
                  <a:pt x="7" y="41"/>
                  <a:pt x="7" y="40"/>
                </a:cubicBezTo>
                <a:cubicBezTo>
                  <a:pt x="8" y="40"/>
                  <a:pt x="9" y="40"/>
                  <a:pt x="11" y="40"/>
                </a:cubicBezTo>
                <a:cubicBezTo>
                  <a:pt x="17" y="40"/>
                  <a:pt x="24" y="38"/>
                  <a:pt x="29" y="34"/>
                </a:cubicBezTo>
                <a:cubicBezTo>
                  <a:pt x="34" y="38"/>
                  <a:pt x="40" y="40"/>
                  <a:pt x="47" y="40"/>
                </a:cubicBezTo>
                <a:cubicBezTo>
                  <a:pt x="48" y="40"/>
                  <a:pt x="49" y="40"/>
                  <a:pt x="50" y="40"/>
                </a:cubicBezTo>
                <a:cubicBezTo>
                  <a:pt x="50" y="41"/>
                  <a:pt x="50" y="42"/>
                  <a:pt x="50" y="44"/>
                </a:cubicBezTo>
                <a:cubicBezTo>
                  <a:pt x="50" y="56"/>
                  <a:pt x="41" y="65"/>
                  <a:pt x="29" y="6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7" name="Group 46">
            <a:extLst>
              <a:ext uri="{FF2B5EF4-FFF2-40B4-BE49-F238E27FC236}">
                <a16:creationId xmlns:a16="http://schemas.microsoft.com/office/drawing/2014/main" id="{2E01312E-8FA6-48E9-8A4D-C51F44A1EF62}"/>
              </a:ext>
            </a:extLst>
          </p:cNvPr>
          <p:cNvGrpSpPr/>
          <p:nvPr/>
        </p:nvGrpSpPr>
        <p:grpSpPr>
          <a:xfrm>
            <a:off x="2253585" y="3447233"/>
            <a:ext cx="302666" cy="302673"/>
            <a:chOff x="1144583" y="2192352"/>
            <a:chExt cx="131761" cy="131764"/>
          </a:xfrm>
          <a:solidFill>
            <a:schemeClr val="accent1"/>
          </a:solidFill>
        </p:grpSpPr>
        <p:sp>
          <p:nvSpPr>
            <p:cNvPr id="48" name="Freeform 39">
              <a:extLst>
                <a:ext uri="{FF2B5EF4-FFF2-40B4-BE49-F238E27FC236}">
                  <a16:creationId xmlns:a16="http://schemas.microsoft.com/office/drawing/2014/main" id="{862C483C-ADCD-4E16-ADB8-F901ED51986A}"/>
                </a:ext>
              </a:extLst>
            </p:cNvPr>
            <p:cNvSpPr>
              <a:spLocks/>
            </p:cNvSpPr>
            <p:nvPr/>
          </p:nvSpPr>
          <p:spPr bwMode="auto">
            <a:xfrm>
              <a:off x="1230307" y="2200290"/>
              <a:ext cx="46037" cy="19050"/>
            </a:xfrm>
            <a:custGeom>
              <a:avLst/>
              <a:gdLst>
                <a:gd name="T0" fmla="*/ 10 w 25"/>
                <a:gd name="T1" fmla="*/ 0 h 11"/>
                <a:gd name="T2" fmla="*/ 0 w 25"/>
                <a:gd name="T3" fmla="*/ 11 h 11"/>
                <a:gd name="T4" fmla="*/ 14 w 25"/>
                <a:gd name="T5" fmla="*/ 11 h 11"/>
                <a:gd name="T6" fmla="*/ 25 w 25"/>
                <a:gd name="T7" fmla="*/ 0 h 11"/>
                <a:gd name="T8" fmla="*/ 10 w 25"/>
                <a:gd name="T9" fmla="*/ 0 h 11"/>
              </a:gdLst>
              <a:ahLst/>
              <a:cxnLst>
                <a:cxn ang="0">
                  <a:pos x="T0" y="T1"/>
                </a:cxn>
                <a:cxn ang="0">
                  <a:pos x="T2" y="T3"/>
                </a:cxn>
                <a:cxn ang="0">
                  <a:pos x="T4" y="T5"/>
                </a:cxn>
                <a:cxn ang="0">
                  <a:pos x="T6" y="T7"/>
                </a:cxn>
                <a:cxn ang="0">
                  <a:pos x="T8" y="T9"/>
                </a:cxn>
              </a:cxnLst>
              <a:rect l="0" t="0" r="r" b="b"/>
              <a:pathLst>
                <a:path w="25" h="11">
                  <a:moveTo>
                    <a:pt x="10" y="0"/>
                  </a:moveTo>
                  <a:cubicBezTo>
                    <a:pt x="4" y="0"/>
                    <a:pt x="0" y="5"/>
                    <a:pt x="0" y="11"/>
                  </a:cubicBezTo>
                  <a:cubicBezTo>
                    <a:pt x="14" y="11"/>
                    <a:pt x="14" y="11"/>
                    <a:pt x="14" y="11"/>
                  </a:cubicBezTo>
                  <a:cubicBezTo>
                    <a:pt x="20" y="11"/>
                    <a:pt x="25" y="6"/>
                    <a:pt x="25" y="0"/>
                  </a:cubicBez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40">
              <a:extLst>
                <a:ext uri="{FF2B5EF4-FFF2-40B4-BE49-F238E27FC236}">
                  <a16:creationId xmlns:a16="http://schemas.microsoft.com/office/drawing/2014/main" id="{BBB537DE-BD55-4F78-8043-C894A1B9D17D}"/>
                </a:ext>
              </a:extLst>
            </p:cNvPr>
            <p:cNvSpPr>
              <a:spLocks/>
            </p:cNvSpPr>
            <p:nvPr/>
          </p:nvSpPr>
          <p:spPr bwMode="auto">
            <a:xfrm>
              <a:off x="1144583" y="2200290"/>
              <a:ext cx="46037" cy="19050"/>
            </a:xfrm>
            <a:custGeom>
              <a:avLst/>
              <a:gdLst>
                <a:gd name="T0" fmla="*/ 15 w 26"/>
                <a:gd name="T1" fmla="*/ 0 h 11"/>
                <a:gd name="T2" fmla="*/ 0 w 26"/>
                <a:gd name="T3" fmla="*/ 0 h 11"/>
                <a:gd name="T4" fmla="*/ 11 w 26"/>
                <a:gd name="T5" fmla="*/ 11 h 11"/>
                <a:gd name="T6" fmla="*/ 26 w 26"/>
                <a:gd name="T7" fmla="*/ 11 h 11"/>
                <a:gd name="T8" fmla="*/ 15 w 26"/>
                <a:gd name="T9" fmla="*/ 0 h 11"/>
              </a:gdLst>
              <a:ahLst/>
              <a:cxnLst>
                <a:cxn ang="0">
                  <a:pos x="T0" y="T1"/>
                </a:cxn>
                <a:cxn ang="0">
                  <a:pos x="T2" y="T3"/>
                </a:cxn>
                <a:cxn ang="0">
                  <a:pos x="T4" y="T5"/>
                </a:cxn>
                <a:cxn ang="0">
                  <a:pos x="T6" y="T7"/>
                </a:cxn>
                <a:cxn ang="0">
                  <a:pos x="T8" y="T9"/>
                </a:cxn>
              </a:cxnLst>
              <a:rect l="0" t="0" r="r" b="b"/>
              <a:pathLst>
                <a:path w="26" h="11">
                  <a:moveTo>
                    <a:pt x="15" y="0"/>
                  </a:moveTo>
                  <a:cubicBezTo>
                    <a:pt x="0" y="0"/>
                    <a:pt x="0" y="0"/>
                    <a:pt x="0" y="0"/>
                  </a:cubicBezTo>
                  <a:cubicBezTo>
                    <a:pt x="0" y="6"/>
                    <a:pt x="5" y="11"/>
                    <a:pt x="11" y="11"/>
                  </a:cubicBezTo>
                  <a:cubicBezTo>
                    <a:pt x="26" y="11"/>
                    <a:pt x="26" y="11"/>
                    <a:pt x="26" y="11"/>
                  </a:cubicBezTo>
                  <a:cubicBezTo>
                    <a:pt x="26" y="5"/>
                    <a:pt x="21"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41">
              <a:extLst>
                <a:ext uri="{FF2B5EF4-FFF2-40B4-BE49-F238E27FC236}">
                  <a16:creationId xmlns:a16="http://schemas.microsoft.com/office/drawing/2014/main" id="{B7BE137D-13BE-42E2-994A-E95576BF044B}"/>
                </a:ext>
              </a:extLst>
            </p:cNvPr>
            <p:cNvSpPr>
              <a:spLocks noEditPoints="1"/>
            </p:cNvSpPr>
            <p:nvPr/>
          </p:nvSpPr>
          <p:spPr bwMode="auto">
            <a:xfrm>
              <a:off x="1158870" y="2192352"/>
              <a:ext cx="104774" cy="131764"/>
            </a:xfrm>
            <a:custGeom>
              <a:avLst/>
              <a:gdLst>
                <a:gd name="T0" fmla="*/ 47 w 58"/>
                <a:gd name="T1" fmla="*/ 22 h 73"/>
                <a:gd name="T2" fmla="*/ 40 w 58"/>
                <a:gd name="T3" fmla="*/ 22 h 73"/>
                <a:gd name="T4" fmla="*/ 36 w 58"/>
                <a:gd name="T5" fmla="*/ 26 h 73"/>
                <a:gd name="T6" fmla="*/ 40 w 58"/>
                <a:gd name="T7" fmla="*/ 29 h 73"/>
                <a:gd name="T8" fmla="*/ 47 w 58"/>
                <a:gd name="T9" fmla="*/ 29 h 73"/>
                <a:gd name="T10" fmla="*/ 51 w 58"/>
                <a:gd name="T11" fmla="*/ 33 h 73"/>
                <a:gd name="T12" fmla="*/ 51 w 58"/>
                <a:gd name="T13" fmla="*/ 34 h 73"/>
                <a:gd name="T14" fmla="*/ 48 w 58"/>
                <a:gd name="T15" fmla="*/ 38 h 73"/>
                <a:gd name="T16" fmla="*/ 32 w 58"/>
                <a:gd name="T17" fmla="*/ 40 h 73"/>
                <a:gd name="T18" fmla="*/ 32 w 58"/>
                <a:gd name="T19" fmla="*/ 14 h 73"/>
                <a:gd name="T20" fmla="*/ 36 w 58"/>
                <a:gd name="T21" fmla="*/ 8 h 73"/>
                <a:gd name="T22" fmla="*/ 29 w 58"/>
                <a:gd name="T23" fmla="*/ 0 h 73"/>
                <a:gd name="T24" fmla="*/ 21 w 58"/>
                <a:gd name="T25" fmla="*/ 8 h 73"/>
                <a:gd name="T26" fmla="*/ 25 w 58"/>
                <a:gd name="T27" fmla="*/ 14 h 73"/>
                <a:gd name="T28" fmla="*/ 25 w 58"/>
                <a:gd name="T29" fmla="*/ 40 h 73"/>
                <a:gd name="T30" fmla="*/ 10 w 58"/>
                <a:gd name="T31" fmla="*/ 38 h 73"/>
                <a:gd name="T32" fmla="*/ 7 w 58"/>
                <a:gd name="T33" fmla="*/ 34 h 73"/>
                <a:gd name="T34" fmla="*/ 7 w 58"/>
                <a:gd name="T35" fmla="*/ 33 h 73"/>
                <a:gd name="T36" fmla="*/ 11 w 58"/>
                <a:gd name="T37" fmla="*/ 29 h 73"/>
                <a:gd name="T38" fmla="*/ 18 w 58"/>
                <a:gd name="T39" fmla="*/ 29 h 73"/>
                <a:gd name="T40" fmla="*/ 21 w 58"/>
                <a:gd name="T41" fmla="*/ 26 h 73"/>
                <a:gd name="T42" fmla="*/ 18 w 58"/>
                <a:gd name="T43" fmla="*/ 22 h 73"/>
                <a:gd name="T44" fmla="*/ 11 w 58"/>
                <a:gd name="T45" fmla="*/ 22 h 73"/>
                <a:gd name="T46" fmla="*/ 0 w 58"/>
                <a:gd name="T47" fmla="*/ 33 h 73"/>
                <a:gd name="T48" fmla="*/ 0 w 58"/>
                <a:gd name="T49" fmla="*/ 34 h 73"/>
                <a:gd name="T50" fmla="*/ 9 w 58"/>
                <a:gd name="T51" fmla="*/ 45 h 73"/>
                <a:gd name="T52" fmla="*/ 11 w 58"/>
                <a:gd name="T53" fmla="*/ 45 h 73"/>
                <a:gd name="T54" fmla="*/ 7 w 58"/>
                <a:gd name="T55" fmla="*/ 54 h 73"/>
                <a:gd name="T56" fmla="*/ 7 w 58"/>
                <a:gd name="T57" fmla="*/ 55 h 73"/>
                <a:gd name="T58" fmla="*/ 18 w 58"/>
                <a:gd name="T59" fmla="*/ 66 h 73"/>
                <a:gd name="T60" fmla="*/ 25 w 58"/>
                <a:gd name="T61" fmla="*/ 66 h 73"/>
                <a:gd name="T62" fmla="*/ 25 w 58"/>
                <a:gd name="T63" fmla="*/ 69 h 73"/>
                <a:gd name="T64" fmla="*/ 29 w 58"/>
                <a:gd name="T65" fmla="*/ 73 h 73"/>
                <a:gd name="T66" fmla="*/ 32 w 58"/>
                <a:gd name="T67" fmla="*/ 69 h 73"/>
                <a:gd name="T68" fmla="*/ 32 w 58"/>
                <a:gd name="T69" fmla="*/ 66 h 73"/>
                <a:gd name="T70" fmla="*/ 40 w 58"/>
                <a:gd name="T71" fmla="*/ 66 h 73"/>
                <a:gd name="T72" fmla="*/ 51 w 58"/>
                <a:gd name="T73" fmla="*/ 55 h 73"/>
                <a:gd name="T74" fmla="*/ 51 w 58"/>
                <a:gd name="T75" fmla="*/ 54 h 73"/>
                <a:gd name="T76" fmla="*/ 46 w 58"/>
                <a:gd name="T77" fmla="*/ 45 h 73"/>
                <a:gd name="T78" fmla="*/ 49 w 58"/>
                <a:gd name="T79" fmla="*/ 45 h 73"/>
                <a:gd name="T80" fmla="*/ 58 w 58"/>
                <a:gd name="T81" fmla="*/ 34 h 73"/>
                <a:gd name="T82" fmla="*/ 58 w 58"/>
                <a:gd name="T83" fmla="*/ 33 h 73"/>
                <a:gd name="T84" fmla="*/ 47 w 58"/>
                <a:gd name="T85" fmla="*/ 22 h 73"/>
                <a:gd name="T86" fmla="*/ 25 w 58"/>
                <a:gd name="T87" fmla="*/ 58 h 73"/>
                <a:gd name="T88" fmla="*/ 18 w 58"/>
                <a:gd name="T89" fmla="*/ 58 h 73"/>
                <a:gd name="T90" fmla="*/ 14 w 58"/>
                <a:gd name="T91" fmla="*/ 55 h 73"/>
                <a:gd name="T92" fmla="*/ 14 w 58"/>
                <a:gd name="T93" fmla="*/ 54 h 73"/>
                <a:gd name="T94" fmla="*/ 18 w 58"/>
                <a:gd name="T95" fmla="*/ 50 h 73"/>
                <a:gd name="T96" fmla="*/ 25 w 58"/>
                <a:gd name="T97" fmla="*/ 49 h 73"/>
                <a:gd name="T98" fmla="*/ 25 w 58"/>
                <a:gd name="T99" fmla="*/ 58 h 73"/>
                <a:gd name="T100" fmla="*/ 43 w 58"/>
                <a:gd name="T101" fmla="*/ 55 h 73"/>
                <a:gd name="T102" fmla="*/ 43 w 58"/>
                <a:gd name="T103" fmla="*/ 55 h 73"/>
                <a:gd name="T104" fmla="*/ 40 w 58"/>
                <a:gd name="T105" fmla="*/ 58 h 73"/>
                <a:gd name="T106" fmla="*/ 32 w 58"/>
                <a:gd name="T107" fmla="*/ 58 h 73"/>
                <a:gd name="T108" fmla="*/ 32 w 58"/>
                <a:gd name="T109" fmla="*/ 49 h 73"/>
                <a:gd name="T110" fmla="*/ 40 w 58"/>
                <a:gd name="T111" fmla="*/ 51 h 73"/>
                <a:gd name="T112" fmla="*/ 43 w 58"/>
                <a:gd name="T113" fmla="*/ 54 h 73"/>
                <a:gd name="T114" fmla="*/ 43 w 58"/>
                <a:gd name="T115"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8" h="73">
                  <a:moveTo>
                    <a:pt x="47" y="22"/>
                  </a:moveTo>
                  <a:cubicBezTo>
                    <a:pt x="40" y="22"/>
                    <a:pt x="40" y="22"/>
                    <a:pt x="40" y="22"/>
                  </a:cubicBezTo>
                  <a:cubicBezTo>
                    <a:pt x="38" y="22"/>
                    <a:pt x="36" y="24"/>
                    <a:pt x="36" y="26"/>
                  </a:cubicBezTo>
                  <a:cubicBezTo>
                    <a:pt x="36" y="28"/>
                    <a:pt x="38" y="29"/>
                    <a:pt x="40" y="29"/>
                  </a:cubicBezTo>
                  <a:cubicBezTo>
                    <a:pt x="47" y="29"/>
                    <a:pt x="47" y="29"/>
                    <a:pt x="47" y="29"/>
                  </a:cubicBezTo>
                  <a:cubicBezTo>
                    <a:pt x="49" y="29"/>
                    <a:pt x="51" y="31"/>
                    <a:pt x="51" y="33"/>
                  </a:cubicBezTo>
                  <a:cubicBezTo>
                    <a:pt x="51" y="34"/>
                    <a:pt x="51" y="34"/>
                    <a:pt x="51" y="34"/>
                  </a:cubicBezTo>
                  <a:cubicBezTo>
                    <a:pt x="51" y="36"/>
                    <a:pt x="49" y="37"/>
                    <a:pt x="48" y="38"/>
                  </a:cubicBezTo>
                  <a:cubicBezTo>
                    <a:pt x="32" y="40"/>
                    <a:pt x="32" y="40"/>
                    <a:pt x="32" y="40"/>
                  </a:cubicBezTo>
                  <a:cubicBezTo>
                    <a:pt x="32" y="14"/>
                    <a:pt x="32" y="14"/>
                    <a:pt x="32" y="14"/>
                  </a:cubicBezTo>
                  <a:cubicBezTo>
                    <a:pt x="34" y="12"/>
                    <a:pt x="36" y="10"/>
                    <a:pt x="36" y="8"/>
                  </a:cubicBezTo>
                  <a:cubicBezTo>
                    <a:pt x="36" y="4"/>
                    <a:pt x="33" y="0"/>
                    <a:pt x="29" y="0"/>
                  </a:cubicBezTo>
                  <a:cubicBezTo>
                    <a:pt x="25" y="0"/>
                    <a:pt x="21" y="4"/>
                    <a:pt x="21" y="8"/>
                  </a:cubicBezTo>
                  <a:cubicBezTo>
                    <a:pt x="21" y="10"/>
                    <a:pt x="23" y="12"/>
                    <a:pt x="25" y="14"/>
                  </a:cubicBezTo>
                  <a:cubicBezTo>
                    <a:pt x="25" y="40"/>
                    <a:pt x="25" y="40"/>
                    <a:pt x="25" y="40"/>
                  </a:cubicBezTo>
                  <a:cubicBezTo>
                    <a:pt x="10" y="38"/>
                    <a:pt x="10" y="38"/>
                    <a:pt x="10" y="38"/>
                  </a:cubicBezTo>
                  <a:cubicBezTo>
                    <a:pt x="8" y="37"/>
                    <a:pt x="7" y="36"/>
                    <a:pt x="7" y="34"/>
                  </a:cubicBezTo>
                  <a:cubicBezTo>
                    <a:pt x="7" y="33"/>
                    <a:pt x="7" y="33"/>
                    <a:pt x="7" y="33"/>
                  </a:cubicBezTo>
                  <a:cubicBezTo>
                    <a:pt x="7" y="31"/>
                    <a:pt x="9" y="29"/>
                    <a:pt x="11" y="29"/>
                  </a:cubicBezTo>
                  <a:cubicBezTo>
                    <a:pt x="18" y="29"/>
                    <a:pt x="18" y="29"/>
                    <a:pt x="18" y="29"/>
                  </a:cubicBezTo>
                  <a:cubicBezTo>
                    <a:pt x="20" y="29"/>
                    <a:pt x="21" y="28"/>
                    <a:pt x="21" y="26"/>
                  </a:cubicBezTo>
                  <a:cubicBezTo>
                    <a:pt x="21" y="24"/>
                    <a:pt x="20" y="22"/>
                    <a:pt x="18" y="22"/>
                  </a:cubicBezTo>
                  <a:cubicBezTo>
                    <a:pt x="11" y="22"/>
                    <a:pt x="11" y="22"/>
                    <a:pt x="11" y="22"/>
                  </a:cubicBezTo>
                  <a:cubicBezTo>
                    <a:pt x="5" y="22"/>
                    <a:pt x="0" y="27"/>
                    <a:pt x="0" y="33"/>
                  </a:cubicBezTo>
                  <a:cubicBezTo>
                    <a:pt x="0" y="34"/>
                    <a:pt x="0" y="34"/>
                    <a:pt x="0" y="34"/>
                  </a:cubicBezTo>
                  <a:cubicBezTo>
                    <a:pt x="0" y="39"/>
                    <a:pt x="3" y="44"/>
                    <a:pt x="9" y="45"/>
                  </a:cubicBezTo>
                  <a:cubicBezTo>
                    <a:pt x="11" y="45"/>
                    <a:pt x="11" y="45"/>
                    <a:pt x="11" y="45"/>
                  </a:cubicBezTo>
                  <a:cubicBezTo>
                    <a:pt x="9" y="47"/>
                    <a:pt x="7" y="51"/>
                    <a:pt x="7" y="54"/>
                  </a:cubicBezTo>
                  <a:cubicBezTo>
                    <a:pt x="7" y="55"/>
                    <a:pt x="7" y="55"/>
                    <a:pt x="7" y="55"/>
                  </a:cubicBezTo>
                  <a:cubicBezTo>
                    <a:pt x="7" y="61"/>
                    <a:pt x="12" y="66"/>
                    <a:pt x="18" y="66"/>
                  </a:cubicBezTo>
                  <a:cubicBezTo>
                    <a:pt x="25" y="66"/>
                    <a:pt x="25" y="66"/>
                    <a:pt x="25" y="66"/>
                  </a:cubicBezTo>
                  <a:cubicBezTo>
                    <a:pt x="25" y="69"/>
                    <a:pt x="25" y="69"/>
                    <a:pt x="25" y="69"/>
                  </a:cubicBezTo>
                  <a:cubicBezTo>
                    <a:pt x="25" y="71"/>
                    <a:pt x="27" y="73"/>
                    <a:pt x="29" y="73"/>
                  </a:cubicBezTo>
                  <a:cubicBezTo>
                    <a:pt x="31" y="73"/>
                    <a:pt x="32" y="71"/>
                    <a:pt x="32" y="69"/>
                  </a:cubicBezTo>
                  <a:cubicBezTo>
                    <a:pt x="32" y="66"/>
                    <a:pt x="32" y="66"/>
                    <a:pt x="32" y="66"/>
                  </a:cubicBezTo>
                  <a:cubicBezTo>
                    <a:pt x="40" y="66"/>
                    <a:pt x="40" y="66"/>
                    <a:pt x="40" y="66"/>
                  </a:cubicBezTo>
                  <a:cubicBezTo>
                    <a:pt x="46" y="66"/>
                    <a:pt x="51" y="61"/>
                    <a:pt x="51" y="55"/>
                  </a:cubicBezTo>
                  <a:cubicBezTo>
                    <a:pt x="51" y="54"/>
                    <a:pt x="51" y="54"/>
                    <a:pt x="51" y="54"/>
                  </a:cubicBezTo>
                  <a:cubicBezTo>
                    <a:pt x="51" y="51"/>
                    <a:pt x="49" y="47"/>
                    <a:pt x="46" y="45"/>
                  </a:cubicBezTo>
                  <a:cubicBezTo>
                    <a:pt x="49" y="45"/>
                    <a:pt x="49" y="45"/>
                    <a:pt x="49" y="45"/>
                  </a:cubicBezTo>
                  <a:cubicBezTo>
                    <a:pt x="54" y="44"/>
                    <a:pt x="58" y="39"/>
                    <a:pt x="58" y="34"/>
                  </a:cubicBezTo>
                  <a:cubicBezTo>
                    <a:pt x="58" y="33"/>
                    <a:pt x="58" y="33"/>
                    <a:pt x="58" y="33"/>
                  </a:cubicBezTo>
                  <a:cubicBezTo>
                    <a:pt x="58" y="27"/>
                    <a:pt x="53" y="22"/>
                    <a:pt x="47" y="22"/>
                  </a:cubicBezTo>
                  <a:close/>
                  <a:moveTo>
                    <a:pt x="25" y="58"/>
                  </a:moveTo>
                  <a:cubicBezTo>
                    <a:pt x="18" y="58"/>
                    <a:pt x="18" y="58"/>
                    <a:pt x="18" y="58"/>
                  </a:cubicBezTo>
                  <a:cubicBezTo>
                    <a:pt x="16" y="58"/>
                    <a:pt x="14" y="57"/>
                    <a:pt x="14" y="55"/>
                  </a:cubicBezTo>
                  <a:cubicBezTo>
                    <a:pt x="14" y="54"/>
                    <a:pt x="14" y="54"/>
                    <a:pt x="14" y="54"/>
                  </a:cubicBezTo>
                  <a:cubicBezTo>
                    <a:pt x="14" y="52"/>
                    <a:pt x="16" y="51"/>
                    <a:pt x="18" y="50"/>
                  </a:cubicBezTo>
                  <a:cubicBezTo>
                    <a:pt x="25" y="49"/>
                    <a:pt x="25" y="49"/>
                    <a:pt x="25" y="49"/>
                  </a:cubicBezTo>
                  <a:lnTo>
                    <a:pt x="25" y="58"/>
                  </a:lnTo>
                  <a:close/>
                  <a:moveTo>
                    <a:pt x="43" y="55"/>
                  </a:moveTo>
                  <a:cubicBezTo>
                    <a:pt x="43" y="55"/>
                    <a:pt x="43" y="55"/>
                    <a:pt x="43" y="55"/>
                  </a:cubicBezTo>
                  <a:cubicBezTo>
                    <a:pt x="43" y="57"/>
                    <a:pt x="42" y="58"/>
                    <a:pt x="40" y="58"/>
                  </a:cubicBezTo>
                  <a:cubicBezTo>
                    <a:pt x="32" y="58"/>
                    <a:pt x="32" y="58"/>
                    <a:pt x="32" y="58"/>
                  </a:cubicBezTo>
                  <a:cubicBezTo>
                    <a:pt x="32" y="49"/>
                    <a:pt x="32" y="49"/>
                    <a:pt x="32" y="49"/>
                  </a:cubicBezTo>
                  <a:cubicBezTo>
                    <a:pt x="40" y="51"/>
                    <a:pt x="40" y="51"/>
                    <a:pt x="40" y="51"/>
                  </a:cubicBezTo>
                  <a:cubicBezTo>
                    <a:pt x="42" y="51"/>
                    <a:pt x="43" y="52"/>
                    <a:pt x="43" y="54"/>
                  </a:cubicBezTo>
                  <a:lnTo>
                    <a:pt x="43" y="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1" name="Group 50">
            <a:extLst>
              <a:ext uri="{FF2B5EF4-FFF2-40B4-BE49-F238E27FC236}">
                <a16:creationId xmlns:a16="http://schemas.microsoft.com/office/drawing/2014/main" id="{80B7623D-2010-456E-A2B0-BBA9E185A149}"/>
              </a:ext>
            </a:extLst>
          </p:cNvPr>
          <p:cNvGrpSpPr/>
          <p:nvPr/>
        </p:nvGrpSpPr>
        <p:grpSpPr>
          <a:xfrm>
            <a:off x="4995571" y="3476003"/>
            <a:ext cx="195708" cy="255689"/>
            <a:chOff x="1854190" y="2187590"/>
            <a:chExt cx="98424" cy="128589"/>
          </a:xfrm>
          <a:solidFill>
            <a:schemeClr val="accent1"/>
          </a:solidFill>
        </p:grpSpPr>
        <p:sp>
          <p:nvSpPr>
            <p:cNvPr id="52" name="Freeform 42">
              <a:extLst>
                <a:ext uri="{FF2B5EF4-FFF2-40B4-BE49-F238E27FC236}">
                  <a16:creationId xmlns:a16="http://schemas.microsoft.com/office/drawing/2014/main" id="{3665B09B-5417-4731-9D39-5FF6F72075C2}"/>
                </a:ext>
              </a:extLst>
            </p:cNvPr>
            <p:cNvSpPr>
              <a:spLocks/>
            </p:cNvSpPr>
            <p:nvPr/>
          </p:nvSpPr>
          <p:spPr bwMode="auto">
            <a:xfrm>
              <a:off x="1938327" y="2192352"/>
              <a:ext cx="9525" cy="9525"/>
            </a:xfrm>
            <a:custGeom>
              <a:avLst/>
              <a:gdLst>
                <a:gd name="T0" fmla="*/ 0 w 6"/>
                <a:gd name="T1" fmla="*/ 0 h 6"/>
                <a:gd name="T2" fmla="*/ 0 w 6"/>
                <a:gd name="T3" fmla="*/ 6 h 6"/>
                <a:gd name="T4" fmla="*/ 6 w 6"/>
                <a:gd name="T5" fmla="*/ 6 h 6"/>
                <a:gd name="T6" fmla="*/ 0 w 6"/>
                <a:gd name="T7" fmla="*/ 0 h 6"/>
              </a:gdLst>
              <a:ahLst/>
              <a:cxnLst>
                <a:cxn ang="0">
                  <a:pos x="T0" y="T1"/>
                </a:cxn>
                <a:cxn ang="0">
                  <a:pos x="T2" y="T3"/>
                </a:cxn>
                <a:cxn ang="0">
                  <a:pos x="T4" y="T5"/>
                </a:cxn>
                <a:cxn ang="0">
                  <a:pos x="T6" y="T7"/>
                </a:cxn>
              </a:cxnLst>
              <a:rect l="0" t="0" r="r" b="b"/>
              <a:pathLst>
                <a:path w="6" h="6">
                  <a:moveTo>
                    <a:pt x="0" y="0"/>
                  </a:moveTo>
                  <a:lnTo>
                    <a:pt x="0" y="6"/>
                  </a:lnTo>
                  <a:lnTo>
                    <a:pt x="6" y="6"/>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43">
              <a:extLst>
                <a:ext uri="{FF2B5EF4-FFF2-40B4-BE49-F238E27FC236}">
                  <a16:creationId xmlns:a16="http://schemas.microsoft.com/office/drawing/2014/main" id="{17A2379E-C3D8-4C63-ACCC-C6AED61CD9DD}"/>
                </a:ext>
              </a:extLst>
            </p:cNvPr>
            <p:cNvSpPr>
              <a:spLocks/>
            </p:cNvSpPr>
            <p:nvPr/>
          </p:nvSpPr>
          <p:spPr bwMode="auto">
            <a:xfrm>
              <a:off x="1879590" y="2220928"/>
              <a:ext cx="9525" cy="7938"/>
            </a:xfrm>
            <a:custGeom>
              <a:avLst/>
              <a:gdLst>
                <a:gd name="T0" fmla="*/ 3 w 5"/>
                <a:gd name="T1" fmla="*/ 0 h 4"/>
                <a:gd name="T2" fmla="*/ 0 w 5"/>
                <a:gd name="T3" fmla="*/ 0 h 4"/>
                <a:gd name="T4" fmla="*/ 0 w 5"/>
                <a:gd name="T5" fmla="*/ 4 h 4"/>
                <a:gd name="T6" fmla="*/ 3 w 5"/>
                <a:gd name="T7" fmla="*/ 4 h 4"/>
                <a:gd name="T8" fmla="*/ 5 w 5"/>
                <a:gd name="T9" fmla="*/ 2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0" y="0"/>
                    <a:pt x="0" y="0"/>
                    <a:pt x="0" y="0"/>
                  </a:cubicBezTo>
                  <a:cubicBezTo>
                    <a:pt x="0" y="4"/>
                    <a:pt x="0" y="4"/>
                    <a:pt x="0" y="4"/>
                  </a:cubicBezTo>
                  <a:cubicBezTo>
                    <a:pt x="3" y="4"/>
                    <a:pt x="3" y="4"/>
                    <a:pt x="3" y="4"/>
                  </a:cubicBezTo>
                  <a:cubicBezTo>
                    <a:pt x="4" y="4"/>
                    <a:pt x="5" y="3"/>
                    <a:pt x="5" y="2"/>
                  </a:cubicBezTo>
                  <a:cubicBezTo>
                    <a:pt x="5"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44">
              <a:extLst>
                <a:ext uri="{FF2B5EF4-FFF2-40B4-BE49-F238E27FC236}">
                  <a16:creationId xmlns:a16="http://schemas.microsoft.com/office/drawing/2014/main" id="{33BD783C-DC30-4DBE-8F40-92FB3D653964}"/>
                </a:ext>
              </a:extLst>
            </p:cNvPr>
            <p:cNvSpPr>
              <a:spLocks noEditPoints="1"/>
            </p:cNvSpPr>
            <p:nvPr/>
          </p:nvSpPr>
          <p:spPr bwMode="auto">
            <a:xfrm>
              <a:off x="1854190" y="2187590"/>
              <a:ext cx="98424" cy="128589"/>
            </a:xfrm>
            <a:custGeom>
              <a:avLst/>
              <a:gdLst>
                <a:gd name="T0" fmla="*/ 43 w 55"/>
                <a:gd name="T1" fmla="*/ 13 h 72"/>
                <a:gd name="T2" fmla="*/ 43 w 55"/>
                <a:gd name="T3" fmla="*/ 0 h 72"/>
                <a:gd name="T4" fmla="*/ 0 w 55"/>
                <a:gd name="T5" fmla="*/ 0 h 72"/>
                <a:gd name="T6" fmla="*/ 0 w 55"/>
                <a:gd name="T7" fmla="*/ 72 h 72"/>
                <a:gd name="T8" fmla="*/ 55 w 55"/>
                <a:gd name="T9" fmla="*/ 72 h 72"/>
                <a:gd name="T10" fmla="*/ 55 w 55"/>
                <a:gd name="T11" fmla="*/ 13 h 72"/>
                <a:gd name="T12" fmla="*/ 43 w 55"/>
                <a:gd name="T13" fmla="*/ 13 h 72"/>
                <a:gd name="T14" fmla="*/ 14 w 55"/>
                <a:gd name="T15" fmla="*/ 55 h 72"/>
                <a:gd name="T16" fmla="*/ 10 w 55"/>
                <a:gd name="T17" fmla="*/ 55 h 72"/>
                <a:gd name="T18" fmla="*/ 10 w 55"/>
                <a:gd name="T19" fmla="*/ 51 h 72"/>
                <a:gd name="T20" fmla="*/ 14 w 55"/>
                <a:gd name="T21" fmla="*/ 51 h 72"/>
                <a:gd name="T22" fmla="*/ 14 w 55"/>
                <a:gd name="T23" fmla="*/ 55 h 72"/>
                <a:gd name="T24" fmla="*/ 14 w 55"/>
                <a:gd name="T25" fmla="*/ 47 h 72"/>
                <a:gd name="T26" fmla="*/ 10 w 55"/>
                <a:gd name="T27" fmla="*/ 47 h 72"/>
                <a:gd name="T28" fmla="*/ 10 w 55"/>
                <a:gd name="T29" fmla="*/ 42 h 72"/>
                <a:gd name="T30" fmla="*/ 14 w 55"/>
                <a:gd name="T31" fmla="*/ 42 h 72"/>
                <a:gd name="T32" fmla="*/ 14 w 55"/>
                <a:gd name="T33" fmla="*/ 47 h 72"/>
                <a:gd name="T34" fmla="*/ 17 w 55"/>
                <a:gd name="T35" fmla="*/ 27 h 72"/>
                <a:gd name="T36" fmla="*/ 17 w 55"/>
                <a:gd name="T37" fmla="*/ 27 h 72"/>
                <a:gd name="T38" fmla="*/ 14 w 55"/>
                <a:gd name="T39" fmla="*/ 27 h 72"/>
                <a:gd name="T40" fmla="*/ 14 w 55"/>
                <a:gd name="T41" fmla="*/ 36 h 72"/>
                <a:gd name="T42" fmla="*/ 10 w 55"/>
                <a:gd name="T43" fmla="*/ 36 h 72"/>
                <a:gd name="T44" fmla="*/ 10 w 55"/>
                <a:gd name="T45" fmla="*/ 15 h 72"/>
                <a:gd name="T46" fmla="*/ 17 w 55"/>
                <a:gd name="T47" fmla="*/ 15 h 72"/>
                <a:gd name="T48" fmla="*/ 23 w 55"/>
                <a:gd name="T49" fmla="*/ 21 h 72"/>
                <a:gd name="T50" fmla="*/ 21 w 55"/>
                <a:gd name="T51" fmla="*/ 25 h 72"/>
                <a:gd name="T52" fmla="*/ 23 w 55"/>
                <a:gd name="T53" fmla="*/ 27 h 72"/>
                <a:gd name="T54" fmla="*/ 26 w 55"/>
                <a:gd name="T55" fmla="*/ 25 h 72"/>
                <a:gd name="T56" fmla="*/ 29 w 55"/>
                <a:gd name="T57" fmla="*/ 28 h 72"/>
                <a:gd name="T58" fmla="*/ 26 w 55"/>
                <a:gd name="T59" fmla="*/ 30 h 72"/>
                <a:gd name="T60" fmla="*/ 29 w 55"/>
                <a:gd name="T61" fmla="*/ 33 h 72"/>
                <a:gd name="T62" fmla="*/ 26 w 55"/>
                <a:gd name="T63" fmla="*/ 36 h 72"/>
                <a:gd name="T64" fmla="*/ 23 w 55"/>
                <a:gd name="T65" fmla="*/ 33 h 72"/>
                <a:gd name="T66" fmla="*/ 21 w 55"/>
                <a:gd name="T67" fmla="*/ 36 h 72"/>
                <a:gd name="T68" fmla="*/ 18 w 55"/>
                <a:gd name="T69" fmla="*/ 33 h 72"/>
                <a:gd name="T70" fmla="*/ 20 w 55"/>
                <a:gd name="T71" fmla="*/ 30 h 72"/>
                <a:gd name="T72" fmla="*/ 17 w 55"/>
                <a:gd name="T73" fmla="*/ 27 h 72"/>
                <a:gd name="T74" fmla="*/ 45 w 55"/>
                <a:gd name="T75" fmla="*/ 55 h 72"/>
                <a:gd name="T76" fmla="*/ 19 w 55"/>
                <a:gd name="T77" fmla="*/ 55 h 72"/>
                <a:gd name="T78" fmla="*/ 19 w 55"/>
                <a:gd name="T79" fmla="*/ 51 h 72"/>
                <a:gd name="T80" fmla="*/ 45 w 55"/>
                <a:gd name="T81" fmla="*/ 51 h 72"/>
                <a:gd name="T82" fmla="*/ 45 w 55"/>
                <a:gd name="T83" fmla="*/ 55 h 72"/>
                <a:gd name="T84" fmla="*/ 45 w 55"/>
                <a:gd name="T85" fmla="*/ 47 h 72"/>
                <a:gd name="T86" fmla="*/ 19 w 55"/>
                <a:gd name="T87" fmla="*/ 47 h 72"/>
                <a:gd name="T88" fmla="*/ 19 w 55"/>
                <a:gd name="T89" fmla="*/ 43 h 72"/>
                <a:gd name="T90" fmla="*/ 45 w 55"/>
                <a:gd name="T91" fmla="*/ 43 h 72"/>
                <a:gd name="T92" fmla="*/ 45 w 55"/>
                <a:gd name="T93" fmla="*/ 4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5" h="72">
                  <a:moveTo>
                    <a:pt x="43" y="13"/>
                  </a:moveTo>
                  <a:cubicBezTo>
                    <a:pt x="43" y="0"/>
                    <a:pt x="43" y="0"/>
                    <a:pt x="43" y="0"/>
                  </a:cubicBezTo>
                  <a:cubicBezTo>
                    <a:pt x="0" y="0"/>
                    <a:pt x="0" y="0"/>
                    <a:pt x="0" y="0"/>
                  </a:cubicBezTo>
                  <a:cubicBezTo>
                    <a:pt x="0" y="72"/>
                    <a:pt x="0" y="72"/>
                    <a:pt x="0" y="72"/>
                  </a:cubicBezTo>
                  <a:cubicBezTo>
                    <a:pt x="55" y="72"/>
                    <a:pt x="55" y="72"/>
                    <a:pt x="55" y="72"/>
                  </a:cubicBezTo>
                  <a:cubicBezTo>
                    <a:pt x="55" y="13"/>
                    <a:pt x="55" y="13"/>
                    <a:pt x="55" y="13"/>
                  </a:cubicBezTo>
                  <a:lnTo>
                    <a:pt x="43" y="13"/>
                  </a:lnTo>
                  <a:close/>
                  <a:moveTo>
                    <a:pt x="14" y="55"/>
                  </a:moveTo>
                  <a:cubicBezTo>
                    <a:pt x="10" y="55"/>
                    <a:pt x="10" y="55"/>
                    <a:pt x="10" y="55"/>
                  </a:cubicBezTo>
                  <a:cubicBezTo>
                    <a:pt x="10" y="51"/>
                    <a:pt x="10" y="51"/>
                    <a:pt x="10" y="51"/>
                  </a:cubicBezTo>
                  <a:cubicBezTo>
                    <a:pt x="14" y="51"/>
                    <a:pt x="14" y="51"/>
                    <a:pt x="14" y="51"/>
                  </a:cubicBezTo>
                  <a:lnTo>
                    <a:pt x="14" y="55"/>
                  </a:lnTo>
                  <a:close/>
                  <a:moveTo>
                    <a:pt x="14" y="47"/>
                  </a:moveTo>
                  <a:cubicBezTo>
                    <a:pt x="10" y="47"/>
                    <a:pt x="10" y="47"/>
                    <a:pt x="10" y="47"/>
                  </a:cubicBezTo>
                  <a:cubicBezTo>
                    <a:pt x="10" y="42"/>
                    <a:pt x="10" y="42"/>
                    <a:pt x="10" y="42"/>
                  </a:cubicBezTo>
                  <a:cubicBezTo>
                    <a:pt x="14" y="42"/>
                    <a:pt x="14" y="42"/>
                    <a:pt x="14" y="42"/>
                  </a:cubicBezTo>
                  <a:lnTo>
                    <a:pt x="14" y="47"/>
                  </a:lnTo>
                  <a:close/>
                  <a:moveTo>
                    <a:pt x="17" y="27"/>
                  </a:moveTo>
                  <a:cubicBezTo>
                    <a:pt x="17" y="27"/>
                    <a:pt x="17" y="27"/>
                    <a:pt x="17" y="27"/>
                  </a:cubicBezTo>
                  <a:cubicBezTo>
                    <a:pt x="14" y="27"/>
                    <a:pt x="14" y="27"/>
                    <a:pt x="14" y="27"/>
                  </a:cubicBezTo>
                  <a:cubicBezTo>
                    <a:pt x="14" y="36"/>
                    <a:pt x="14" y="36"/>
                    <a:pt x="14" y="36"/>
                  </a:cubicBezTo>
                  <a:cubicBezTo>
                    <a:pt x="10" y="36"/>
                    <a:pt x="10" y="36"/>
                    <a:pt x="10" y="36"/>
                  </a:cubicBezTo>
                  <a:cubicBezTo>
                    <a:pt x="10" y="15"/>
                    <a:pt x="10" y="15"/>
                    <a:pt x="10" y="15"/>
                  </a:cubicBezTo>
                  <a:cubicBezTo>
                    <a:pt x="17" y="15"/>
                    <a:pt x="17" y="15"/>
                    <a:pt x="17" y="15"/>
                  </a:cubicBezTo>
                  <a:cubicBezTo>
                    <a:pt x="20" y="15"/>
                    <a:pt x="23" y="18"/>
                    <a:pt x="23" y="21"/>
                  </a:cubicBezTo>
                  <a:cubicBezTo>
                    <a:pt x="23" y="23"/>
                    <a:pt x="22" y="24"/>
                    <a:pt x="21" y="25"/>
                  </a:cubicBezTo>
                  <a:cubicBezTo>
                    <a:pt x="23" y="27"/>
                    <a:pt x="23" y="27"/>
                    <a:pt x="23" y="27"/>
                  </a:cubicBezTo>
                  <a:cubicBezTo>
                    <a:pt x="26" y="25"/>
                    <a:pt x="26" y="25"/>
                    <a:pt x="26" y="25"/>
                  </a:cubicBezTo>
                  <a:cubicBezTo>
                    <a:pt x="29" y="28"/>
                    <a:pt x="29" y="28"/>
                    <a:pt x="29" y="28"/>
                  </a:cubicBezTo>
                  <a:cubicBezTo>
                    <a:pt x="26" y="30"/>
                    <a:pt x="26" y="30"/>
                    <a:pt x="26" y="30"/>
                  </a:cubicBezTo>
                  <a:cubicBezTo>
                    <a:pt x="29" y="33"/>
                    <a:pt x="29" y="33"/>
                    <a:pt x="29" y="33"/>
                  </a:cubicBezTo>
                  <a:cubicBezTo>
                    <a:pt x="26" y="36"/>
                    <a:pt x="26" y="36"/>
                    <a:pt x="26" y="36"/>
                  </a:cubicBezTo>
                  <a:cubicBezTo>
                    <a:pt x="23" y="33"/>
                    <a:pt x="23" y="33"/>
                    <a:pt x="23" y="33"/>
                  </a:cubicBezTo>
                  <a:cubicBezTo>
                    <a:pt x="21" y="36"/>
                    <a:pt x="21" y="36"/>
                    <a:pt x="21" y="36"/>
                  </a:cubicBezTo>
                  <a:cubicBezTo>
                    <a:pt x="18" y="33"/>
                    <a:pt x="18" y="33"/>
                    <a:pt x="18" y="33"/>
                  </a:cubicBezTo>
                  <a:cubicBezTo>
                    <a:pt x="20" y="30"/>
                    <a:pt x="20" y="30"/>
                    <a:pt x="20" y="30"/>
                  </a:cubicBezTo>
                  <a:lnTo>
                    <a:pt x="17" y="27"/>
                  </a:lnTo>
                  <a:close/>
                  <a:moveTo>
                    <a:pt x="45" y="55"/>
                  </a:moveTo>
                  <a:cubicBezTo>
                    <a:pt x="19" y="55"/>
                    <a:pt x="19" y="55"/>
                    <a:pt x="19" y="55"/>
                  </a:cubicBezTo>
                  <a:cubicBezTo>
                    <a:pt x="19" y="51"/>
                    <a:pt x="19" y="51"/>
                    <a:pt x="19" y="51"/>
                  </a:cubicBezTo>
                  <a:cubicBezTo>
                    <a:pt x="45" y="51"/>
                    <a:pt x="45" y="51"/>
                    <a:pt x="45" y="51"/>
                  </a:cubicBezTo>
                  <a:lnTo>
                    <a:pt x="45" y="55"/>
                  </a:lnTo>
                  <a:close/>
                  <a:moveTo>
                    <a:pt x="45" y="47"/>
                  </a:moveTo>
                  <a:cubicBezTo>
                    <a:pt x="19" y="47"/>
                    <a:pt x="19" y="47"/>
                    <a:pt x="19" y="47"/>
                  </a:cubicBezTo>
                  <a:cubicBezTo>
                    <a:pt x="19" y="43"/>
                    <a:pt x="19" y="43"/>
                    <a:pt x="19" y="43"/>
                  </a:cubicBezTo>
                  <a:cubicBezTo>
                    <a:pt x="45" y="43"/>
                    <a:pt x="45" y="43"/>
                    <a:pt x="45" y="43"/>
                  </a:cubicBezTo>
                  <a:lnTo>
                    <a:pt x="45" y="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5" name="Group 54">
            <a:extLst>
              <a:ext uri="{FF2B5EF4-FFF2-40B4-BE49-F238E27FC236}">
                <a16:creationId xmlns:a16="http://schemas.microsoft.com/office/drawing/2014/main" id="{96930565-B072-42E3-9AAA-BFD2885DC841}"/>
              </a:ext>
            </a:extLst>
          </p:cNvPr>
          <p:cNvGrpSpPr/>
          <p:nvPr/>
        </p:nvGrpSpPr>
        <p:grpSpPr>
          <a:xfrm>
            <a:off x="3237594" y="3429987"/>
            <a:ext cx="207482" cy="337165"/>
            <a:chOff x="1516055" y="2190765"/>
            <a:chExt cx="76199" cy="123826"/>
          </a:xfrm>
          <a:solidFill>
            <a:schemeClr val="accent1"/>
          </a:solidFill>
        </p:grpSpPr>
        <p:sp>
          <p:nvSpPr>
            <p:cNvPr id="56" name="Freeform 45">
              <a:extLst>
                <a:ext uri="{FF2B5EF4-FFF2-40B4-BE49-F238E27FC236}">
                  <a16:creationId xmlns:a16="http://schemas.microsoft.com/office/drawing/2014/main" id="{A00F42A5-6C55-4585-B816-079AA1EAD95E}"/>
                </a:ext>
              </a:extLst>
            </p:cNvPr>
            <p:cNvSpPr>
              <a:spLocks/>
            </p:cNvSpPr>
            <p:nvPr/>
          </p:nvSpPr>
          <p:spPr bwMode="auto">
            <a:xfrm>
              <a:off x="1528755" y="2190765"/>
              <a:ext cx="50800" cy="17463"/>
            </a:xfrm>
            <a:custGeom>
              <a:avLst/>
              <a:gdLst>
                <a:gd name="T0" fmla="*/ 28 w 28"/>
                <a:gd name="T1" fmla="*/ 3 h 10"/>
                <a:gd name="T2" fmla="*/ 24 w 28"/>
                <a:gd name="T3" fmla="*/ 0 h 10"/>
                <a:gd name="T4" fmla="*/ 4 w 28"/>
                <a:gd name="T5" fmla="*/ 0 h 10"/>
                <a:gd name="T6" fmla="*/ 0 w 28"/>
                <a:gd name="T7" fmla="*/ 3 h 10"/>
                <a:gd name="T8" fmla="*/ 0 w 28"/>
                <a:gd name="T9" fmla="*/ 10 h 10"/>
                <a:gd name="T10" fmla="*/ 28 w 28"/>
                <a:gd name="T11" fmla="*/ 10 h 10"/>
                <a:gd name="T12" fmla="*/ 28 w 28"/>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8" h="10">
                  <a:moveTo>
                    <a:pt x="28" y="3"/>
                  </a:moveTo>
                  <a:cubicBezTo>
                    <a:pt x="28" y="2"/>
                    <a:pt x="26" y="0"/>
                    <a:pt x="24" y="0"/>
                  </a:cubicBezTo>
                  <a:cubicBezTo>
                    <a:pt x="4" y="0"/>
                    <a:pt x="4" y="0"/>
                    <a:pt x="4" y="0"/>
                  </a:cubicBezTo>
                  <a:cubicBezTo>
                    <a:pt x="2" y="0"/>
                    <a:pt x="0" y="2"/>
                    <a:pt x="0" y="3"/>
                  </a:cubicBezTo>
                  <a:cubicBezTo>
                    <a:pt x="0" y="10"/>
                    <a:pt x="0" y="10"/>
                    <a:pt x="0" y="10"/>
                  </a:cubicBezTo>
                  <a:cubicBezTo>
                    <a:pt x="28" y="10"/>
                    <a:pt x="28" y="10"/>
                    <a:pt x="28" y="10"/>
                  </a:cubicBezTo>
                  <a:cubicBezTo>
                    <a:pt x="28" y="3"/>
                    <a:pt x="28" y="3"/>
                    <a:pt x="2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46">
              <a:extLst>
                <a:ext uri="{FF2B5EF4-FFF2-40B4-BE49-F238E27FC236}">
                  <a16:creationId xmlns:a16="http://schemas.microsoft.com/office/drawing/2014/main" id="{358264C8-9D72-42FE-B96F-1686ACC759C4}"/>
                </a:ext>
              </a:extLst>
            </p:cNvPr>
            <p:cNvSpPr>
              <a:spLocks noEditPoints="1"/>
            </p:cNvSpPr>
            <p:nvPr/>
          </p:nvSpPr>
          <p:spPr bwMode="auto">
            <a:xfrm>
              <a:off x="1516055" y="2220928"/>
              <a:ext cx="76199" cy="93663"/>
            </a:xfrm>
            <a:custGeom>
              <a:avLst/>
              <a:gdLst>
                <a:gd name="T0" fmla="*/ 35 w 42"/>
                <a:gd name="T1" fmla="*/ 0 h 52"/>
                <a:gd name="T2" fmla="*/ 7 w 42"/>
                <a:gd name="T3" fmla="*/ 0 h 52"/>
                <a:gd name="T4" fmla="*/ 0 w 42"/>
                <a:gd name="T5" fmla="*/ 7 h 52"/>
                <a:gd name="T6" fmla="*/ 0 w 42"/>
                <a:gd name="T7" fmla="*/ 49 h 52"/>
                <a:gd name="T8" fmla="*/ 4 w 42"/>
                <a:gd name="T9" fmla="*/ 52 h 52"/>
                <a:gd name="T10" fmla="*/ 38 w 42"/>
                <a:gd name="T11" fmla="*/ 52 h 52"/>
                <a:gd name="T12" fmla="*/ 42 w 42"/>
                <a:gd name="T13" fmla="*/ 49 h 52"/>
                <a:gd name="T14" fmla="*/ 42 w 42"/>
                <a:gd name="T15" fmla="*/ 7 h 52"/>
                <a:gd name="T16" fmla="*/ 35 w 42"/>
                <a:gd name="T17" fmla="*/ 0 h 52"/>
                <a:gd name="T18" fmla="*/ 35 w 42"/>
                <a:gd name="T19" fmla="*/ 38 h 52"/>
                <a:gd name="T20" fmla="*/ 7 w 42"/>
                <a:gd name="T21" fmla="*/ 38 h 52"/>
                <a:gd name="T22" fmla="*/ 7 w 42"/>
                <a:gd name="T23" fmla="*/ 14 h 52"/>
                <a:gd name="T24" fmla="*/ 35 w 42"/>
                <a:gd name="T25" fmla="*/ 14 h 52"/>
                <a:gd name="T26" fmla="*/ 35 w 42"/>
                <a:gd name="T27"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 h="52">
                  <a:moveTo>
                    <a:pt x="35" y="0"/>
                  </a:moveTo>
                  <a:cubicBezTo>
                    <a:pt x="7" y="0"/>
                    <a:pt x="7" y="0"/>
                    <a:pt x="7" y="0"/>
                  </a:cubicBezTo>
                  <a:cubicBezTo>
                    <a:pt x="0" y="7"/>
                    <a:pt x="0" y="7"/>
                    <a:pt x="0" y="7"/>
                  </a:cubicBezTo>
                  <a:cubicBezTo>
                    <a:pt x="0" y="49"/>
                    <a:pt x="0" y="49"/>
                    <a:pt x="0" y="49"/>
                  </a:cubicBezTo>
                  <a:cubicBezTo>
                    <a:pt x="0" y="50"/>
                    <a:pt x="2" y="52"/>
                    <a:pt x="4" y="52"/>
                  </a:cubicBezTo>
                  <a:cubicBezTo>
                    <a:pt x="38" y="52"/>
                    <a:pt x="38" y="52"/>
                    <a:pt x="38" y="52"/>
                  </a:cubicBezTo>
                  <a:cubicBezTo>
                    <a:pt x="40" y="52"/>
                    <a:pt x="42" y="50"/>
                    <a:pt x="42" y="49"/>
                  </a:cubicBezTo>
                  <a:cubicBezTo>
                    <a:pt x="42" y="7"/>
                    <a:pt x="42" y="7"/>
                    <a:pt x="42" y="7"/>
                  </a:cubicBezTo>
                  <a:lnTo>
                    <a:pt x="35" y="0"/>
                  </a:lnTo>
                  <a:close/>
                  <a:moveTo>
                    <a:pt x="35" y="38"/>
                  </a:moveTo>
                  <a:cubicBezTo>
                    <a:pt x="7" y="38"/>
                    <a:pt x="7" y="38"/>
                    <a:pt x="7" y="38"/>
                  </a:cubicBezTo>
                  <a:cubicBezTo>
                    <a:pt x="7" y="14"/>
                    <a:pt x="7" y="14"/>
                    <a:pt x="7" y="14"/>
                  </a:cubicBezTo>
                  <a:cubicBezTo>
                    <a:pt x="35" y="14"/>
                    <a:pt x="35" y="14"/>
                    <a:pt x="35" y="14"/>
                  </a:cubicBezTo>
                  <a:lnTo>
                    <a:pt x="35"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47">
              <a:extLst>
                <a:ext uri="{FF2B5EF4-FFF2-40B4-BE49-F238E27FC236}">
                  <a16:creationId xmlns:a16="http://schemas.microsoft.com/office/drawing/2014/main" id="{4B3DBB1C-FA74-4440-8F8E-43679E5D14FF}"/>
                </a:ext>
              </a:extLst>
            </p:cNvPr>
            <p:cNvSpPr>
              <a:spLocks noEditPoints="1"/>
            </p:cNvSpPr>
            <p:nvPr/>
          </p:nvSpPr>
          <p:spPr bwMode="auto">
            <a:xfrm>
              <a:off x="1543042" y="2257440"/>
              <a:ext cx="22225" cy="26988"/>
            </a:xfrm>
            <a:custGeom>
              <a:avLst/>
              <a:gdLst>
                <a:gd name="T0" fmla="*/ 12 w 12"/>
                <a:gd name="T1" fmla="*/ 9 h 15"/>
                <a:gd name="T2" fmla="*/ 10 w 12"/>
                <a:gd name="T3" fmla="*/ 7 h 15"/>
                <a:gd name="T4" fmla="*/ 8 w 12"/>
                <a:gd name="T5" fmla="*/ 9 h 15"/>
                <a:gd name="T6" fmla="*/ 6 w 12"/>
                <a:gd name="T7" fmla="*/ 7 h 15"/>
                <a:gd name="T8" fmla="*/ 9 w 12"/>
                <a:gd name="T9" fmla="*/ 4 h 15"/>
                <a:gd name="T10" fmla="*/ 5 w 12"/>
                <a:gd name="T11" fmla="*/ 0 h 15"/>
                <a:gd name="T12" fmla="*/ 0 w 12"/>
                <a:gd name="T13" fmla="*/ 0 h 15"/>
                <a:gd name="T14" fmla="*/ 0 w 12"/>
                <a:gd name="T15" fmla="*/ 11 h 15"/>
                <a:gd name="T16" fmla="*/ 3 w 12"/>
                <a:gd name="T17" fmla="*/ 11 h 15"/>
                <a:gd name="T18" fmla="*/ 3 w 12"/>
                <a:gd name="T19" fmla="*/ 7 h 15"/>
                <a:gd name="T20" fmla="*/ 6 w 12"/>
                <a:gd name="T21" fmla="*/ 11 h 15"/>
                <a:gd name="T22" fmla="*/ 4 w 12"/>
                <a:gd name="T23" fmla="*/ 13 h 15"/>
                <a:gd name="T24" fmla="*/ 6 w 12"/>
                <a:gd name="T25" fmla="*/ 15 h 15"/>
                <a:gd name="T26" fmla="*/ 8 w 12"/>
                <a:gd name="T27" fmla="*/ 13 h 15"/>
                <a:gd name="T28" fmla="*/ 10 w 12"/>
                <a:gd name="T29" fmla="*/ 15 h 15"/>
                <a:gd name="T30" fmla="*/ 12 w 12"/>
                <a:gd name="T31" fmla="*/ 13 h 15"/>
                <a:gd name="T32" fmla="*/ 10 w 12"/>
                <a:gd name="T33" fmla="*/ 11 h 15"/>
                <a:gd name="T34" fmla="*/ 12 w 12"/>
                <a:gd name="T35" fmla="*/ 9 h 15"/>
                <a:gd name="T36" fmla="*/ 5 w 12"/>
                <a:gd name="T37" fmla="*/ 5 h 15"/>
                <a:gd name="T38" fmla="*/ 3 w 12"/>
                <a:gd name="T39" fmla="*/ 5 h 15"/>
                <a:gd name="T40" fmla="*/ 3 w 12"/>
                <a:gd name="T41" fmla="*/ 2 h 15"/>
                <a:gd name="T42" fmla="*/ 5 w 12"/>
                <a:gd name="T43" fmla="*/ 2 h 15"/>
                <a:gd name="T44" fmla="*/ 6 w 12"/>
                <a:gd name="T45" fmla="*/ 4 h 15"/>
                <a:gd name="T46" fmla="*/ 5 w 12"/>
                <a:gd name="T47" fmla="*/ 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 h="15">
                  <a:moveTo>
                    <a:pt x="12" y="9"/>
                  </a:moveTo>
                  <a:cubicBezTo>
                    <a:pt x="10" y="7"/>
                    <a:pt x="10" y="7"/>
                    <a:pt x="10" y="7"/>
                  </a:cubicBezTo>
                  <a:cubicBezTo>
                    <a:pt x="8" y="9"/>
                    <a:pt x="8" y="9"/>
                    <a:pt x="8" y="9"/>
                  </a:cubicBezTo>
                  <a:cubicBezTo>
                    <a:pt x="6" y="7"/>
                    <a:pt x="6" y="7"/>
                    <a:pt x="6" y="7"/>
                  </a:cubicBezTo>
                  <a:cubicBezTo>
                    <a:pt x="8" y="7"/>
                    <a:pt x="9" y="5"/>
                    <a:pt x="9" y="4"/>
                  </a:cubicBezTo>
                  <a:cubicBezTo>
                    <a:pt x="9" y="1"/>
                    <a:pt x="7" y="0"/>
                    <a:pt x="5" y="0"/>
                  </a:cubicBezTo>
                  <a:cubicBezTo>
                    <a:pt x="0" y="0"/>
                    <a:pt x="0" y="0"/>
                    <a:pt x="0" y="0"/>
                  </a:cubicBezTo>
                  <a:cubicBezTo>
                    <a:pt x="0" y="11"/>
                    <a:pt x="0" y="11"/>
                    <a:pt x="0" y="11"/>
                  </a:cubicBezTo>
                  <a:cubicBezTo>
                    <a:pt x="3" y="11"/>
                    <a:pt x="3" y="11"/>
                    <a:pt x="3" y="11"/>
                  </a:cubicBezTo>
                  <a:cubicBezTo>
                    <a:pt x="3" y="7"/>
                    <a:pt x="3" y="7"/>
                    <a:pt x="3" y="7"/>
                  </a:cubicBezTo>
                  <a:cubicBezTo>
                    <a:pt x="6" y="11"/>
                    <a:pt x="6" y="11"/>
                    <a:pt x="6" y="11"/>
                  </a:cubicBezTo>
                  <a:cubicBezTo>
                    <a:pt x="4" y="13"/>
                    <a:pt x="4" y="13"/>
                    <a:pt x="4" y="13"/>
                  </a:cubicBezTo>
                  <a:cubicBezTo>
                    <a:pt x="6" y="15"/>
                    <a:pt x="6" y="15"/>
                    <a:pt x="6" y="15"/>
                  </a:cubicBezTo>
                  <a:cubicBezTo>
                    <a:pt x="8" y="13"/>
                    <a:pt x="8" y="13"/>
                    <a:pt x="8" y="13"/>
                  </a:cubicBezTo>
                  <a:cubicBezTo>
                    <a:pt x="10" y="15"/>
                    <a:pt x="10" y="15"/>
                    <a:pt x="10" y="15"/>
                  </a:cubicBezTo>
                  <a:cubicBezTo>
                    <a:pt x="12" y="13"/>
                    <a:pt x="12" y="13"/>
                    <a:pt x="12" y="13"/>
                  </a:cubicBezTo>
                  <a:cubicBezTo>
                    <a:pt x="10" y="11"/>
                    <a:pt x="10" y="11"/>
                    <a:pt x="10" y="11"/>
                  </a:cubicBezTo>
                  <a:lnTo>
                    <a:pt x="12" y="9"/>
                  </a:lnTo>
                  <a:close/>
                  <a:moveTo>
                    <a:pt x="5" y="5"/>
                  </a:moveTo>
                  <a:cubicBezTo>
                    <a:pt x="3" y="5"/>
                    <a:pt x="3" y="5"/>
                    <a:pt x="3" y="5"/>
                  </a:cubicBezTo>
                  <a:cubicBezTo>
                    <a:pt x="3" y="2"/>
                    <a:pt x="3" y="2"/>
                    <a:pt x="3" y="2"/>
                  </a:cubicBezTo>
                  <a:cubicBezTo>
                    <a:pt x="5" y="2"/>
                    <a:pt x="5" y="2"/>
                    <a:pt x="5" y="2"/>
                  </a:cubicBezTo>
                  <a:cubicBezTo>
                    <a:pt x="6" y="2"/>
                    <a:pt x="6" y="3"/>
                    <a:pt x="6" y="4"/>
                  </a:cubicBezTo>
                  <a:cubicBezTo>
                    <a:pt x="6" y="4"/>
                    <a:pt x="6" y="5"/>
                    <a:pt x="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9" name="Group 58">
            <a:extLst>
              <a:ext uri="{FF2B5EF4-FFF2-40B4-BE49-F238E27FC236}">
                <a16:creationId xmlns:a16="http://schemas.microsoft.com/office/drawing/2014/main" id="{AB6465A2-3FEB-4546-A032-B7FB62513264}"/>
              </a:ext>
            </a:extLst>
          </p:cNvPr>
          <p:cNvGrpSpPr/>
          <p:nvPr/>
        </p:nvGrpSpPr>
        <p:grpSpPr>
          <a:xfrm>
            <a:off x="4063465" y="2533932"/>
            <a:ext cx="342898" cy="338562"/>
            <a:chOff x="457200" y="2533668"/>
            <a:chExt cx="125412" cy="123826"/>
          </a:xfrm>
          <a:solidFill>
            <a:schemeClr val="accent1"/>
          </a:solidFill>
        </p:grpSpPr>
        <p:sp>
          <p:nvSpPr>
            <p:cNvPr id="60" name="Freeform 48">
              <a:extLst>
                <a:ext uri="{FF2B5EF4-FFF2-40B4-BE49-F238E27FC236}">
                  <a16:creationId xmlns:a16="http://schemas.microsoft.com/office/drawing/2014/main" id="{DC9B0C0A-137D-4C27-B9C6-10654C923E25}"/>
                </a:ext>
              </a:extLst>
            </p:cNvPr>
            <p:cNvSpPr>
              <a:spLocks noEditPoints="1"/>
            </p:cNvSpPr>
            <p:nvPr/>
          </p:nvSpPr>
          <p:spPr bwMode="auto">
            <a:xfrm>
              <a:off x="466725" y="2630506"/>
              <a:ext cx="106362" cy="17463"/>
            </a:xfrm>
            <a:custGeom>
              <a:avLst/>
              <a:gdLst>
                <a:gd name="T0" fmla="*/ 54 w 59"/>
                <a:gd name="T1" fmla="*/ 4 h 10"/>
                <a:gd name="T2" fmla="*/ 59 w 59"/>
                <a:gd name="T3" fmla="*/ 4 h 10"/>
                <a:gd name="T4" fmla="*/ 59 w 59"/>
                <a:gd name="T5" fmla="*/ 0 h 10"/>
                <a:gd name="T6" fmla="*/ 5 w 59"/>
                <a:gd name="T7" fmla="*/ 0 h 10"/>
                <a:gd name="T8" fmla="*/ 0 w 59"/>
                <a:gd name="T9" fmla="*/ 5 h 10"/>
                <a:gd name="T10" fmla="*/ 5 w 59"/>
                <a:gd name="T11" fmla="*/ 10 h 10"/>
                <a:gd name="T12" fmla="*/ 59 w 59"/>
                <a:gd name="T13" fmla="*/ 10 h 10"/>
                <a:gd name="T14" fmla="*/ 59 w 59"/>
                <a:gd name="T15" fmla="*/ 7 h 10"/>
                <a:gd name="T16" fmla="*/ 54 w 59"/>
                <a:gd name="T17" fmla="*/ 7 h 10"/>
                <a:gd name="T18" fmla="*/ 53 w 59"/>
                <a:gd name="T19" fmla="*/ 5 h 10"/>
                <a:gd name="T20" fmla="*/ 54 w 59"/>
                <a:gd name="T21" fmla="*/ 4 h 10"/>
                <a:gd name="T22" fmla="*/ 48 w 59"/>
                <a:gd name="T23" fmla="*/ 7 h 10"/>
                <a:gd name="T24" fmla="*/ 6 w 59"/>
                <a:gd name="T25" fmla="*/ 7 h 10"/>
                <a:gd name="T26" fmla="*/ 5 w 59"/>
                <a:gd name="T27" fmla="*/ 5 h 10"/>
                <a:gd name="T28" fmla="*/ 6 w 59"/>
                <a:gd name="T29" fmla="*/ 4 h 10"/>
                <a:gd name="T30" fmla="*/ 48 w 59"/>
                <a:gd name="T31" fmla="*/ 4 h 10"/>
                <a:gd name="T32" fmla="*/ 49 w 59"/>
                <a:gd name="T33" fmla="*/ 5 h 10"/>
                <a:gd name="T34" fmla="*/ 48 w 59"/>
                <a:gd name="T35"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10">
                  <a:moveTo>
                    <a:pt x="54" y="4"/>
                  </a:moveTo>
                  <a:cubicBezTo>
                    <a:pt x="59" y="4"/>
                    <a:pt x="59" y="4"/>
                    <a:pt x="59" y="4"/>
                  </a:cubicBezTo>
                  <a:cubicBezTo>
                    <a:pt x="59" y="0"/>
                    <a:pt x="59" y="0"/>
                    <a:pt x="59" y="0"/>
                  </a:cubicBezTo>
                  <a:cubicBezTo>
                    <a:pt x="5" y="0"/>
                    <a:pt x="5" y="0"/>
                    <a:pt x="5" y="0"/>
                  </a:cubicBezTo>
                  <a:cubicBezTo>
                    <a:pt x="2" y="0"/>
                    <a:pt x="0" y="3"/>
                    <a:pt x="0" y="5"/>
                  </a:cubicBezTo>
                  <a:cubicBezTo>
                    <a:pt x="0" y="8"/>
                    <a:pt x="2" y="10"/>
                    <a:pt x="5" y="10"/>
                  </a:cubicBezTo>
                  <a:cubicBezTo>
                    <a:pt x="59" y="10"/>
                    <a:pt x="59" y="10"/>
                    <a:pt x="59" y="10"/>
                  </a:cubicBezTo>
                  <a:cubicBezTo>
                    <a:pt x="59" y="7"/>
                    <a:pt x="59" y="7"/>
                    <a:pt x="59" y="7"/>
                  </a:cubicBezTo>
                  <a:cubicBezTo>
                    <a:pt x="54" y="7"/>
                    <a:pt x="54" y="7"/>
                    <a:pt x="54" y="7"/>
                  </a:cubicBezTo>
                  <a:cubicBezTo>
                    <a:pt x="53" y="7"/>
                    <a:pt x="53" y="6"/>
                    <a:pt x="53" y="5"/>
                  </a:cubicBezTo>
                  <a:cubicBezTo>
                    <a:pt x="53" y="5"/>
                    <a:pt x="53" y="4"/>
                    <a:pt x="54" y="4"/>
                  </a:cubicBezTo>
                  <a:close/>
                  <a:moveTo>
                    <a:pt x="48" y="7"/>
                  </a:moveTo>
                  <a:cubicBezTo>
                    <a:pt x="6" y="7"/>
                    <a:pt x="6" y="7"/>
                    <a:pt x="6" y="7"/>
                  </a:cubicBezTo>
                  <a:cubicBezTo>
                    <a:pt x="5" y="7"/>
                    <a:pt x="5" y="6"/>
                    <a:pt x="5" y="5"/>
                  </a:cubicBezTo>
                  <a:cubicBezTo>
                    <a:pt x="5" y="5"/>
                    <a:pt x="5" y="4"/>
                    <a:pt x="6" y="4"/>
                  </a:cubicBezTo>
                  <a:cubicBezTo>
                    <a:pt x="48" y="4"/>
                    <a:pt x="48" y="4"/>
                    <a:pt x="48" y="4"/>
                  </a:cubicBezTo>
                  <a:cubicBezTo>
                    <a:pt x="49" y="4"/>
                    <a:pt x="49" y="5"/>
                    <a:pt x="49" y="5"/>
                  </a:cubicBezTo>
                  <a:cubicBezTo>
                    <a:pt x="49" y="6"/>
                    <a:pt x="49" y="7"/>
                    <a:pt x="48"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49">
              <a:extLst>
                <a:ext uri="{FF2B5EF4-FFF2-40B4-BE49-F238E27FC236}">
                  <a16:creationId xmlns:a16="http://schemas.microsoft.com/office/drawing/2014/main" id="{607D8868-738B-445E-8BEF-ACF34C6E47BE}"/>
                </a:ext>
              </a:extLst>
            </p:cNvPr>
            <p:cNvSpPr>
              <a:spLocks/>
            </p:cNvSpPr>
            <p:nvPr/>
          </p:nvSpPr>
          <p:spPr bwMode="auto">
            <a:xfrm>
              <a:off x="468313" y="2536843"/>
              <a:ext cx="50800" cy="80963"/>
            </a:xfrm>
            <a:custGeom>
              <a:avLst/>
              <a:gdLst>
                <a:gd name="T0" fmla="*/ 15 w 28"/>
                <a:gd name="T1" fmla="*/ 45 h 45"/>
                <a:gd name="T2" fmla="*/ 18 w 28"/>
                <a:gd name="T3" fmla="*/ 45 h 45"/>
                <a:gd name="T4" fmla="*/ 18 w 28"/>
                <a:gd name="T5" fmla="*/ 42 h 45"/>
                <a:gd name="T6" fmla="*/ 15 w 28"/>
                <a:gd name="T7" fmla="*/ 42 h 45"/>
                <a:gd name="T8" fmla="*/ 4 w 28"/>
                <a:gd name="T9" fmla="*/ 32 h 45"/>
                <a:gd name="T10" fmla="*/ 14 w 28"/>
                <a:gd name="T11" fmla="*/ 20 h 45"/>
                <a:gd name="T12" fmla="*/ 26 w 28"/>
                <a:gd name="T13" fmla="*/ 30 h 45"/>
                <a:gd name="T14" fmla="*/ 28 w 28"/>
                <a:gd name="T15" fmla="*/ 27 h 45"/>
                <a:gd name="T16" fmla="*/ 19 w 28"/>
                <a:gd name="T17" fmla="*/ 19 h 45"/>
                <a:gd name="T18" fmla="*/ 19 w 28"/>
                <a:gd name="T19" fmla="*/ 17 h 45"/>
                <a:gd name="T20" fmla="*/ 19 w 28"/>
                <a:gd name="T21" fmla="*/ 7 h 45"/>
                <a:gd name="T22" fmla="*/ 20 w 28"/>
                <a:gd name="T23" fmla="*/ 5 h 45"/>
                <a:gd name="T24" fmla="*/ 21 w 28"/>
                <a:gd name="T25" fmla="*/ 5 h 45"/>
                <a:gd name="T26" fmla="*/ 24 w 28"/>
                <a:gd name="T27" fmla="*/ 3 h 45"/>
                <a:gd name="T28" fmla="*/ 21 w 28"/>
                <a:gd name="T29" fmla="*/ 0 h 45"/>
                <a:gd name="T30" fmla="*/ 9 w 28"/>
                <a:gd name="T31" fmla="*/ 0 h 45"/>
                <a:gd name="T32" fmla="*/ 6 w 28"/>
                <a:gd name="T33" fmla="*/ 3 h 45"/>
                <a:gd name="T34" fmla="*/ 9 w 28"/>
                <a:gd name="T35" fmla="*/ 5 h 45"/>
                <a:gd name="T36" fmla="*/ 15 w 28"/>
                <a:gd name="T37" fmla="*/ 5 h 45"/>
                <a:gd name="T38" fmla="*/ 16 w 28"/>
                <a:gd name="T39" fmla="*/ 7 h 45"/>
                <a:gd name="T40" fmla="*/ 15 w 28"/>
                <a:gd name="T41" fmla="*/ 8 h 45"/>
                <a:gd name="T42" fmla="*/ 11 w 28"/>
                <a:gd name="T43" fmla="*/ 8 h 45"/>
                <a:gd name="T44" fmla="*/ 11 w 28"/>
                <a:gd name="T45" fmla="*/ 17 h 45"/>
                <a:gd name="T46" fmla="*/ 10 w 28"/>
                <a:gd name="T47" fmla="*/ 19 h 45"/>
                <a:gd name="T48" fmla="*/ 2 w 28"/>
                <a:gd name="T49" fmla="*/ 34 h 45"/>
                <a:gd name="T50" fmla="*/ 15 w 28"/>
                <a:gd name="T51"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 h="45">
                  <a:moveTo>
                    <a:pt x="15" y="45"/>
                  </a:moveTo>
                  <a:cubicBezTo>
                    <a:pt x="18" y="45"/>
                    <a:pt x="18" y="45"/>
                    <a:pt x="18" y="45"/>
                  </a:cubicBezTo>
                  <a:cubicBezTo>
                    <a:pt x="17" y="44"/>
                    <a:pt x="17" y="43"/>
                    <a:pt x="18" y="42"/>
                  </a:cubicBezTo>
                  <a:cubicBezTo>
                    <a:pt x="17" y="42"/>
                    <a:pt x="16" y="42"/>
                    <a:pt x="15" y="42"/>
                  </a:cubicBezTo>
                  <a:cubicBezTo>
                    <a:pt x="9" y="42"/>
                    <a:pt x="4" y="38"/>
                    <a:pt x="4" y="32"/>
                  </a:cubicBezTo>
                  <a:cubicBezTo>
                    <a:pt x="3" y="26"/>
                    <a:pt x="8" y="21"/>
                    <a:pt x="14" y="20"/>
                  </a:cubicBezTo>
                  <a:cubicBezTo>
                    <a:pt x="20" y="20"/>
                    <a:pt x="25" y="24"/>
                    <a:pt x="26" y="30"/>
                  </a:cubicBezTo>
                  <a:cubicBezTo>
                    <a:pt x="28" y="27"/>
                    <a:pt x="28" y="27"/>
                    <a:pt x="28" y="27"/>
                  </a:cubicBezTo>
                  <a:cubicBezTo>
                    <a:pt x="26" y="23"/>
                    <a:pt x="23" y="20"/>
                    <a:pt x="19" y="19"/>
                  </a:cubicBezTo>
                  <a:cubicBezTo>
                    <a:pt x="19" y="18"/>
                    <a:pt x="19" y="18"/>
                    <a:pt x="19" y="17"/>
                  </a:cubicBezTo>
                  <a:cubicBezTo>
                    <a:pt x="19" y="7"/>
                    <a:pt x="19" y="7"/>
                    <a:pt x="19" y="7"/>
                  </a:cubicBezTo>
                  <a:cubicBezTo>
                    <a:pt x="19" y="6"/>
                    <a:pt x="19" y="5"/>
                    <a:pt x="20" y="5"/>
                  </a:cubicBezTo>
                  <a:cubicBezTo>
                    <a:pt x="21" y="5"/>
                    <a:pt x="21" y="5"/>
                    <a:pt x="21" y="5"/>
                  </a:cubicBezTo>
                  <a:cubicBezTo>
                    <a:pt x="22" y="5"/>
                    <a:pt x="24" y="4"/>
                    <a:pt x="24" y="3"/>
                  </a:cubicBezTo>
                  <a:cubicBezTo>
                    <a:pt x="24" y="2"/>
                    <a:pt x="22" y="0"/>
                    <a:pt x="21" y="0"/>
                  </a:cubicBezTo>
                  <a:cubicBezTo>
                    <a:pt x="9" y="0"/>
                    <a:pt x="9" y="0"/>
                    <a:pt x="9" y="0"/>
                  </a:cubicBezTo>
                  <a:cubicBezTo>
                    <a:pt x="7" y="1"/>
                    <a:pt x="6" y="2"/>
                    <a:pt x="6" y="3"/>
                  </a:cubicBezTo>
                  <a:cubicBezTo>
                    <a:pt x="6" y="4"/>
                    <a:pt x="7" y="5"/>
                    <a:pt x="9" y="5"/>
                  </a:cubicBezTo>
                  <a:cubicBezTo>
                    <a:pt x="15" y="5"/>
                    <a:pt x="15" y="5"/>
                    <a:pt x="15" y="5"/>
                  </a:cubicBezTo>
                  <a:cubicBezTo>
                    <a:pt x="16" y="5"/>
                    <a:pt x="16" y="6"/>
                    <a:pt x="16" y="7"/>
                  </a:cubicBezTo>
                  <a:cubicBezTo>
                    <a:pt x="16" y="7"/>
                    <a:pt x="16" y="8"/>
                    <a:pt x="15" y="8"/>
                  </a:cubicBezTo>
                  <a:cubicBezTo>
                    <a:pt x="11" y="8"/>
                    <a:pt x="11" y="8"/>
                    <a:pt x="11" y="8"/>
                  </a:cubicBezTo>
                  <a:cubicBezTo>
                    <a:pt x="11" y="17"/>
                    <a:pt x="11" y="17"/>
                    <a:pt x="11" y="17"/>
                  </a:cubicBezTo>
                  <a:cubicBezTo>
                    <a:pt x="11" y="18"/>
                    <a:pt x="11" y="18"/>
                    <a:pt x="10" y="19"/>
                  </a:cubicBezTo>
                  <a:cubicBezTo>
                    <a:pt x="4" y="21"/>
                    <a:pt x="0" y="27"/>
                    <a:pt x="2" y="34"/>
                  </a:cubicBezTo>
                  <a:cubicBezTo>
                    <a:pt x="3" y="40"/>
                    <a:pt x="8" y="45"/>
                    <a:pt x="15"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50">
              <a:extLst>
                <a:ext uri="{FF2B5EF4-FFF2-40B4-BE49-F238E27FC236}">
                  <a16:creationId xmlns:a16="http://schemas.microsoft.com/office/drawing/2014/main" id="{99B1A5F2-6C9C-4405-8E5D-F358BC92C47A}"/>
                </a:ext>
              </a:extLst>
            </p:cNvPr>
            <p:cNvSpPr>
              <a:spLocks/>
            </p:cNvSpPr>
            <p:nvPr/>
          </p:nvSpPr>
          <p:spPr bwMode="auto">
            <a:xfrm>
              <a:off x="457200" y="2620981"/>
              <a:ext cx="125412" cy="36513"/>
            </a:xfrm>
            <a:custGeom>
              <a:avLst/>
              <a:gdLst>
                <a:gd name="T0" fmla="*/ 10 w 69"/>
                <a:gd name="T1" fmla="*/ 20 h 20"/>
                <a:gd name="T2" fmla="*/ 68 w 69"/>
                <a:gd name="T3" fmla="*/ 20 h 20"/>
                <a:gd name="T4" fmla="*/ 69 w 69"/>
                <a:gd name="T5" fmla="*/ 19 h 20"/>
                <a:gd name="T6" fmla="*/ 68 w 69"/>
                <a:gd name="T7" fmla="*/ 18 h 20"/>
                <a:gd name="T8" fmla="*/ 10 w 69"/>
                <a:gd name="T9" fmla="*/ 18 h 20"/>
                <a:gd name="T10" fmla="*/ 2 w 69"/>
                <a:gd name="T11" fmla="*/ 10 h 20"/>
                <a:gd name="T12" fmla="*/ 10 w 69"/>
                <a:gd name="T13" fmla="*/ 3 h 20"/>
                <a:gd name="T14" fmla="*/ 68 w 69"/>
                <a:gd name="T15" fmla="*/ 3 h 20"/>
                <a:gd name="T16" fmla="*/ 69 w 69"/>
                <a:gd name="T17" fmla="*/ 2 h 20"/>
                <a:gd name="T18" fmla="*/ 68 w 69"/>
                <a:gd name="T19" fmla="*/ 0 h 20"/>
                <a:gd name="T20" fmla="*/ 10 w 69"/>
                <a:gd name="T21" fmla="*/ 0 h 20"/>
                <a:gd name="T22" fmla="*/ 0 w 69"/>
                <a:gd name="T23" fmla="*/ 10 h 20"/>
                <a:gd name="T24" fmla="*/ 10 w 69"/>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20">
                  <a:moveTo>
                    <a:pt x="10" y="20"/>
                  </a:moveTo>
                  <a:cubicBezTo>
                    <a:pt x="68" y="20"/>
                    <a:pt x="68" y="20"/>
                    <a:pt x="68" y="20"/>
                  </a:cubicBezTo>
                  <a:cubicBezTo>
                    <a:pt x="68" y="20"/>
                    <a:pt x="69" y="20"/>
                    <a:pt x="69" y="19"/>
                  </a:cubicBezTo>
                  <a:cubicBezTo>
                    <a:pt x="69" y="18"/>
                    <a:pt x="68" y="18"/>
                    <a:pt x="68" y="18"/>
                  </a:cubicBezTo>
                  <a:cubicBezTo>
                    <a:pt x="10" y="18"/>
                    <a:pt x="10" y="18"/>
                    <a:pt x="10" y="18"/>
                  </a:cubicBezTo>
                  <a:cubicBezTo>
                    <a:pt x="6" y="18"/>
                    <a:pt x="2" y="14"/>
                    <a:pt x="2" y="10"/>
                  </a:cubicBezTo>
                  <a:cubicBezTo>
                    <a:pt x="2" y="6"/>
                    <a:pt x="6" y="3"/>
                    <a:pt x="10" y="3"/>
                  </a:cubicBezTo>
                  <a:cubicBezTo>
                    <a:pt x="68" y="3"/>
                    <a:pt x="68" y="3"/>
                    <a:pt x="68" y="3"/>
                  </a:cubicBezTo>
                  <a:cubicBezTo>
                    <a:pt x="68" y="3"/>
                    <a:pt x="69" y="2"/>
                    <a:pt x="69" y="2"/>
                  </a:cubicBezTo>
                  <a:cubicBezTo>
                    <a:pt x="69" y="1"/>
                    <a:pt x="68" y="0"/>
                    <a:pt x="68" y="0"/>
                  </a:cubicBezTo>
                  <a:cubicBezTo>
                    <a:pt x="10" y="0"/>
                    <a:pt x="10" y="0"/>
                    <a:pt x="10" y="0"/>
                  </a:cubicBezTo>
                  <a:cubicBezTo>
                    <a:pt x="4" y="0"/>
                    <a:pt x="0" y="5"/>
                    <a:pt x="0" y="10"/>
                  </a:cubicBezTo>
                  <a:cubicBezTo>
                    <a:pt x="0" y="16"/>
                    <a:pt x="4" y="20"/>
                    <a:pt x="1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51">
              <a:extLst>
                <a:ext uri="{FF2B5EF4-FFF2-40B4-BE49-F238E27FC236}">
                  <a16:creationId xmlns:a16="http://schemas.microsoft.com/office/drawing/2014/main" id="{B213D599-259E-459E-AC3B-4909A779F711}"/>
                </a:ext>
              </a:extLst>
            </p:cNvPr>
            <p:cNvSpPr>
              <a:spLocks noEditPoints="1"/>
            </p:cNvSpPr>
            <p:nvPr/>
          </p:nvSpPr>
          <p:spPr bwMode="auto">
            <a:xfrm>
              <a:off x="504825" y="2533668"/>
              <a:ext cx="66675" cy="84138"/>
            </a:xfrm>
            <a:custGeom>
              <a:avLst/>
              <a:gdLst>
                <a:gd name="T0" fmla="*/ 12 w 37"/>
                <a:gd name="T1" fmla="*/ 5 h 47"/>
                <a:gd name="T2" fmla="*/ 18 w 37"/>
                <a:gd name="T3" fmla="*/ 5 h 47"/>
                <a:gd name="T4" fmla="*/ 20 w 37"/>
                <a:gd name="T5" fmla="*/ 6 h 47"/>
                <a:gd name="T6" fmla="*/ 18 w 37"/>
                <a:gd name="T7" fmla="*/ 7 h 47"/>
                <a:gd name="T8" fmla="*/ 15 w 37"/>
                <a:gd name="T9" fmla="*/ 7 h 47"/>
                <a:gd name="T10" fmla="*/ 15 w 37"/>
                <a:gd name="T11" fmla="*/ 20 h 47"/>
                <a:gd name="T12" fmla="*/ 13 w 37"/>
                <a:gd name="T13" fmla="*/ 25 h 47"/>
                <a:gd name="T14" fmla="*/ 0 w 37"/>
                <a:gd name="T15" fmla="*/ 45 h 47"/>
                <a:gd name="T16" fmla="*/ 0 w 37"/>
                <a:gd name="T17" fmla="*/ 46 h 47"/>
                <a:gd name="T18" fmla="*/ 1 w 37"/>
                <a:gd name="T19" fmla="*/ 47 h 47"/>
                <a:gd name="T20" fmla="*/ 36 w 37"/>
                <a:gd name="T21" fmla="*/ 47 h 47"/>
                <a:gd name="T22" fmla="*/ 37 w 37"/>
                <a:gd name="T23" fmla="*/ 46 h 47"/>
                <a:gd name="T24" fmla="*/ 37 w 37"/>
                <a:gd name="T25" fmla="*/ 45 h 47"/>
                <a:gd name="T26" fmla="*/ 23 w 37"/>
                <a:gd name="T27" fmla="*/ 25 h 47"/>
                <a:gd name="T28" fmla="*/ 22 w 37"/>
                <a:gd name="T29" fmla="*/ 20 h 47"/>
                <a:gd name="T30" fmla="*/ 22 w 37"/>
                <a:gd name="T31" fmla="*/ 6 h 47"/>
                <a:gd name="T32" fmla="*/ 23 w 37"/>
                <a:gd name="T33" fmla="*/ 5 h 47"/>
                <a:gd name="T34" fmla="*/ 25 w 37"/>
                <a:gd name="T35" fmla="*/ 5 h 47"/>
                <a:gd name="T36" fmla="*/ 27 w 37"/>
                <a:gd name="T37" fmla="*/ 2 h 47"/>
                <a:gd name="T38" fmla="*/ 25 w 37"/>
                <a:gd name="T39" fmla="*/ 0 h 47"/>
                <a:gd name="T40" fmla="*/ 12 w 37"/>
                <a:gd name="T41" fmla="*/ 0 h 47"/>
                <a:gd name="T42" fmla="*/ 10 w 37"/>
                <a:gd name="T43" fmla="*/ 2 h 47"/>
                <a:gd name="T44" fmla="*/ 12 w 37"/>
                <a:gd name="T45" fmla="*/ 5 h 47"/>
                <a:gd name="T46" fmla="*/ 22 w 37"/>
                <a:gd name="T47" fmla="*/ 27 h 47"/>
                <a:gd name="T48" fmla="*/ 31 w 37"/>
                <a:gd name="T49" fmla="*/ 41 h 47"/>
                <a:gd name="T50" fmla="*/ 31 w 37"/>
                <a:gd name="T51" fmla="*/ 43 h 47"/>
                <a:gd name="T52" fmla="*/ 29 w 37"/>
                <a:gd name="T53" fmla="*/ 44 h 47"/>
                <a:gd name="T54" fmla="*/ 8 w 37"/>
                <a:gd name="T55" fmla="*/ 44 h 47"/>
                <a:gd name="T56" fmla="*/ 6 w 37"/>
                <a:gd name="T57" fmla="*/ 43 h 47"/>
                <a:gd name="T58" fmla="*/ 6 w 37"/>
                <a:gd name="T59" fmla="*/ 41 h 47"/>
                <a:gd name="T60" fmla="*/ 15 w 37"/>
                <a:gd name="T61" fmla="*/ 27 h 47"/>
                <a:gd name="T62" fmla="*/ 17 w 37"/>
                <a:gd name="T63" fmla="*/ 26 h 47"/>
                <a:gd name="T64" fmla="*/ 20 w 37"/>
                <a:gd name="T65" fmla="*/ 26 h 47"/>
                <a:gd name="T66" fmla="*/ 22 w 37"/>
                <a:gd name="T67"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 h="47">
                  <a:moveTo>
                    <a:pt x="12" y="5"/>
                  </a:moveTo>
                  <a:cubicBezTo>
                    <a:pt x="18" y="5"/>
                    <a:pt x="18" y="5"/>
                    <a:pt x="18" y="5"/>
                  </a:cubicBezTo>
                  <a:cubicBezTo>
                    <a:pt x="19" y="5"/>
                    <a:pt x="20" y="6"/>
                    <a:pt x="20" y="6"/>
                  </a:cubicBezTo>
                  <a:cubicBezTo>
                    <a:pt x="20" y="7"/>
                    <a:pt x="19" y="7"/>
                    <a:pt x="18" y="7"/>
                  </a:cubicBezTo>
                  <a:cubicBezTo>
                    <a:pt x="15" y="7"/>
                    <a:pt x="15" y="7"/>
                    <a:pt x="15" y="7"/>
                  </a:cubicBezTo>
                  <a:cubicBezTo>
                    <a:pt x="15" y="20"/>
                    <a:pt x="15" y="20"/>
                    <a:pt x="15" y="20"/>
                  </a:cubicBezTo>
                  <a:cubicBezTo>
                    <a:pt x="15" y="22"/>
                    <a:pt x="14" y="23"/>
                    <a:pt x="13" y="25"/>
                  </a:cubicBezTo>
                  <a:cubicBezTo>
                    <a:pt x="0" y="45"/>
                    <a:pt x="0" y="45"/>
                    <a:pt x="0" y="45"/>
                  </a:cubicBezTo>
                  <a:cubicBezTo>
                    <a:pt x="0" y="45"/>
                    <a:pt x="0" y="46"/>
                    <a:pt x="0" y="46"/>
                  </a:cubicBezTo>
                  <a:cubicBezTo>
                    <a:pt x="0" y="47"/>
                    <a:pt x="1" y="47"/>
                    <a:pt x="1" y="47"/>
                  </a:cubicBezTo>
                  <a:cubicBezTo>
                    <a:pt x="36" y="47"/>
                    <a:pt x="36" y="47"/>
                    <a:pt x="36" y="47"/>
                  </a:cubicBezTo>
                  <a:cubicBezTo>
                    <a:pt x="36" y="47"/>
                    <a:pt x="37" y="47"/>
                    <a:pt x="37" y="46"/>
                  </a:cubicBezTo>
                  <a:cubicBezTo>
                    <a:pt x="37" y="46"/>
                    <a:pt x="37" y="45"/>
                    <a:pt x="37" y="45"/>
                  </a:cubicBezTo>
                  <a:cubicBezTo>
                    <a:pt x="23" y="25"/>
                    <a:pt x="23" y="25"/>
                    <a:pt x="23" y="25"/>
                  </a:cubicBezTo>
                  <a:cubicBezTo>
                    <a:pt x="23" y="23"/>
                    <a:pt x="22" y="22"/>
                    <a:pt x="22" y="20"/>
                  </a:cubicBezTo>
                  <a:cubicBezTo>
                    <a:pt x="22" y="6"/>
                    <a:pt x="22" y="6"/>
                    <a:pt x="22" y="6"/>
                  </a:cubicBezTo>
                  <a:cubicBezTo>
                    <a:pt x="22" y="6"/>
                    <a:pt x="23" y="5"/>
                    <a:pt x="23" y="5"/>
                  </a:cubicBezTo>
                  <a:cubicBezTo>
                    <a:pt x="25" y="5"/>
                    <a:pt x="25" y="5"/>
                    <a:pt x="25" y="5"/>
                  </a:cubicBezTo>
                  <a:cubicBezTo>
                    <a:pt x="26" y="5"/>
                    <a:pt x="27" y="4"/>
                    <a:pt x="27" y="2"/>
                  </a:cubicBezTo>
                  <a:cubicBezTo>
                    <a:pt x="27" y="1"/>
                    <a:pt x="26" y="0"/>
                    <a:pt x="25" y="0"/>
                  </a:cubicBezTo>
                  <a:cubicBezTo>
                    <a:pt x="12" y="0"/>
                    <a:pt x="12" y="0"/>
                    <a:pt x="12" y="0"/>
                  </a:cubicBezTo>
                  <a:cubicBezTo>
                    <a:pt x="11" y="0"/>
                    <a:pt x="10" y="1"/>
                    <a:pt x="10" y="2"/>
                  </a:cubicBezTo>
                  <a:cubicBezTo>
                    <a:pt x="10" y="4"/>
                    <a:pt x="11" y="5"/>
                    <a:pt x="12" y="5"/>
                  </a:cubicBezTo>
                  <a:close/>
                  <a:moveTo>
                    <a:pt x="22" y="27"/>
                  </a:moveTo>
                  <a:cubicBezTo>
                    <a:pt x="31" y="41"/>
                    <a:pt x="31" y="41"/>
                    <a:pt x="31" y="41"/>
                  </a:cubicBezTo>
                  <a:cubicBezTo>
                    <a:pt x="31" y="41"/>
                    <a:pt x="31" y="42"/>
                    <a:pt x="31" y="43"/>
                  </a:cubicBezTo>
                  <a:cubicBezTo>
                    <a:pt x="31" y="44"/>
                    <a:pt x="30" y="44"/>
                    <a:pt x="29" y="44"/>
                  </a:cubicBezTo>
                  <a:cubicBezTo>
                    <a:pt x="8" y="44"/>
                    <a:pt x="8" y="44"/>
                    <a:pt x="8" y="44"/>
                  </a:cubicBezTo>
                  <a:cubicBezTo>
                    <a:pt x="7" y="44"/>
                    <a:pt x="6" y="44"/>
                    <a:pt x="6" y="43"/>
                  </a:cubicBezTo>
                  <a:cubicBezTo>
                    <a:pt x="5" y="42"/>
                    <a:pt x="5" y="41"/>
                    <a:pt x="6" y="41"/>
                  </a:cubicBezTo>
                  <a:cubicBezTo>
                    <a:pt x="15" y="27"/>
                    <a:pt x="15" y="27"/>
                    <a:pt x="15" y="27"/>
                  </a:cubicBezTo>
                  <a:cubicBezTo>
                    <a:pt x="15" y="26"/>
                    <a:pt x="16" y="26"/>
                    <a:pt x="17" y="26"/>
                  </a:cubicBezTo>
                  <a:cubicBezTo>
                    <a:pt x="20" y="26"/>
                    <a:pt x="20" y="26"/>
                    <a:pt x="20" y="26"/>
                  </a:cubicBezTo>
                  <a:cubicBezTo>
                    <a:pt x="21" y="26"/>
                    <a:pt x="21" y="26"/>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4" name="Group 63">
            <a:extLst>
              <a:ext uri="{FF2B5EF4-FFF2-40B4-BE49-F238E27FC236}">
                <a16:creationId xmlns:a16="http://schemas.microsoft.com/office/drawing/2014/main" id="{EDAE645F-C080-4673-B2B4-520EF2DEB4E1}"/>
              </a:ext>
            </a:extLst>
          </p:cNvPr>
          <p:cNvGrpSpPr/>
          <p:nvPr/>
        </p:nvGrpSpPr>
        <p:grpSpPr>
          <a:xfrm>
            <a:off x="4056635" y="3496603"/>
            <a:ext cx="286026" cy="244173"/>
            <a:chOff x="1146170" y="2551130"/>
            <a:chExt cx="130174" cy="111126"/>
          </a:xfrm>
          <a:solidFill>
            <a:schemeClr val="accent1"/>
          </a:solidFill>
        </p:grpSpPr>
        <p:sp>
          <p:nvSpPr>
            <p:cNvPr id="65" name="Freeform 52">
              <a:extLst>
                <a:ext uri="{FF2B5EF4-FFF2-40B4-BE49-F238E27FC236}">
                  <a16:creationId xmlns:a16="http://schemas.microsoft.com/office/drawing/2014/main" id="{8B2EBE83-3E51-427D-8BDE-D3B75F4659A2}"/>
                </a:ext>
              </a:extLst>
            </p:cNvPr>
            <p:cNvSpPr>
              <a:spLocks noEditPoints="1"/>
            </p:cNvSpPr>
            <p:nvPr/>
          </p:nvSpPr>
          <p:spPr bwMode="auto">
            <a:xfrm>
              <a:off x="1146170" y="2624156"/>
              <a:ext cx="130174" cy="38100"/>
            </a:xfrm>
            <a:custGeom>
              <a:avLst/>
              <a:gdLst>
                <a:gd name="T0" fmla="*/ 61 w 72"/>
                <a:gd name="T1" fmla="*/ 0 h 22"/>
                <a:gd name="T2" fmla="*/ 11 w 72"/>
                <a:gd name="T3" fmla="*/ 0 h 22"/>
                <a:gd name="T4" fmla="*/ 0 w 72"/>
                <a:gd name="T5" fmla="*/ 11 h 22"/>
                <a:gd name="T6" fmla="*/ 11 w 72"/>
                <a:gd name="T7" fmla="*/ 22 h 22"/>
                <a:gd name="T8" fmla="*/ 61 w 72"/>
                <a:gd name="T9" fmla="*/ 22 h 22"/>
                <a:gd name="T10" fmla="*/ 72 w 72"/>
                <a:gd name="T11" fmla="*/ 11 h 22"/>
                <a:gd name="T12" fmla="*/ 61 w 72"/>
                <a:gd name="T13" fmla="*/ 0 h 22"/>
                <a:gd name="T14" fmla="*/ 14 w 72"/>
                <a:gd name="T15" fmla="*/ 15 h 22"/>
                <a:gd name="T16" fmla="*/ 11 w 72"/>
                <a:gd name="T17" fmla="*/ 11 h 22"/>
                <a:gd name="T18" fmla="*/ 14 w 72"/>
                <a:gd name="T19" fmla="*/ 7 h 22"/>
                <a:gd name="T20" fmla="*/ 18 w 72"/>
                <a:gd name="T21" fmla="*/ 11 h 22"/>
                <a:gd name="T22" fmla="*/ 14 w 72"/>
                <a:gd name="T23" fmla="*/ 15 h 22"/>
                <a:gd name="T24" fmla="*/ 29 w 72"/>
                <a:gd name="T25" fmla="*/ 15 h 22"/>
                <a:gd name="T26" fmla="*/ 25 w 72"/>
                <a:gd name="T27" fmla="*/ 11 h 22"/>
                <a:gd name="T28" fmla="*/ 29 w 72"/>
                <a:gd name="T29" fmla="*/ 7 h 22"/>
                <a:gd name="T30" fmla="*/ 32 w 72"/>
                <a:gd name="T31" fmla="*/ 11 h 22"/>
                <a:gd name="T32" fmla="*/ 29 w 72"/>
                <a:gd name="T33" fmla="*/ 15 h 22"/>
                <a:gd name="T34" fmla="*/ 43 w 72"/>
                <a:gd name="T35" fmla="*/ 15 h 22"/>
                <a:gd name="T36" fmla="*/ 40 w 72"/>
                <a:gd name="T37" fmla="*/ 11 h 22"/>
                <a:gd name="T38" fmla="*/ 43 w 72"/>
                <a:gd name="T39" fmla="*/ 7 h 22"/>
                <a:gd name="T40" fmla="*/ 47 w 72"/>
                <a:gd name="T41" fmla="*/ 11 h 22"/>
                <a:gd name="T42" fmla="*/ 43 w 72"/>
                <a:gd name="T43" fmla="*/ 15 h 22"/>
                <a:gd name="T44" fmla="*/ 58 w 72"/>
                <a:gd name="T45" fmla="*/ 15 h 22"/>
                <a:gd name="T46" fmla="*/ 54 w 72"/>
                <a:gd name="T47" fmla="*/ 11 h 22"/>
                <a:gd name="T48" fmla="*/ 58 w 72"/>
                <a:gd name="T49" fmla="*/ 7 h 22"/>
                <a:gd name="T50" fmla="*/ 61 w 72"/>
                <a:gd name="T51" fmla="*/ 11 h 22"/>
                <a:gd name="T52" fmla="*/ 58 w 72"/>
                <a:gd name="T53"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2" h="22">
                  <a:moveTo>
                    <a:pt x="61" y="0"/>
                  </a:moveTo>
                  <a:cubicBezTo>
                    <a:pt x="11" y="0"/>
                    <a:pt x="11" y="0"/>
                    <a:pt x="11" y="0"/>
                  </a:cubicBezTo>
                  <a:cubicBezTo>
                    <a:pt x="5" y="0"/>
                    <a:pt x="0" y="5"/>
                    <a:pt x="0" y="11"/>
                  </a:cubicBezTo>
                  <a:cubicBezTo>
                    <a:pt x="0" y="17"/>
                    <a:pt x="5" y="22"/>
                    <a:pt x="11" y="22"/>
                  </a:cubicBezTo>
                  <a:cubicBezTo>
                    <a:pt x="61" y="22"/>
                    <a:pt x="61" y="22"/>
                    <a:pt x="61" y="22"/>
                  </a:cubicBezTo>
                  <a:cubicBezTo>
                    <a:pt x="67" y="22"/>
                    <a:pt x="72" y="17"/>
                    <a:pt x="72" y="11"/>
                  </a:cubicBezTo>
                  <a:cubicBezTo>
                    <a:pt x="72" y="5"/>
                    <a:pt x="67" y="0"/>
                    <a:pt x="61" y="0"/>
                  </a:cubicBezTo>
                  <a:close/>
                  <a:moveTo>
                    <a:pt x="14" y="15"/>
                  </a:moveTo>
                  <a:cubicBezTo>
                    <a:pt x="12" y="15"/>
                    <a:pt x="11" y="13"/>
                    <a:pt x="11" y="11"/>
                  </a:cubicBezTo>
                  <a:cubicBezTo>
                    <a:pt x="11" y="9"/>
                    <a:pt x="12" y="7"/>
                    <a:pt x="14" y="7"/>
                  </a:cubicBezTo>
                  <a:cubicBezTo>
                    <a:pt x="16" y="7"/>
                    <a:pt x="18" y="9"/>
                    <a:pt x="18" y="11"/>
                  </a:cubicBezTo>
                  <a:cubicBezTo>
                    <a:pt x="18" y="13"/>
                    <a:pt x="16" y="15"/>
                    <a:pt x="14" y="15"/>
                  </a:cubicBezTo>
                  <a:close/>
                  <a:moveTo>
                    <a:pt x="29" y="15"/>
                  </a:moveTo>
                  <a:cubicBezTo>
                    <a:pt x="27" y="15"/>
                    <a:pt x="25" y="13"/>
                    <a:pt x="25" y="11"/>
                  </a:cubicBezTo>
                  <a:cubicBezTo>
                    <a:pt x="25" y="9"/>
                    <a:pt x="27" y="7"/>
                    <a:pt x="29" y="7"/>
                  </a:cubicBezTo>
                  <a:cubicBezTo>
                    <a:pt x="31" y="7"/>
                    <a:pt x="32" y="9"/>
                    <a:pt x="32" y="11"/>
                  </a:cubicBezTo>
                  <a:cubicBezTo>
                    <a:pt x="32" y="13"/>
                    <a:pt x="31" y="15"/>
                    <a:pt x="29" y="15"/>
                  </a:cubicBezTo>
                  <a:close/>
                  <a:moveTo>
                    <a:pt x="43" y="15"/>
                  </a:moveTo>
                  <a:cubicBezTo>
                    <a:pt x="41" y="15"/>
                    <a:pt x="40" y="13"/>
                    <a:pt x="40" y="11"/>
                  </a:cubicBezTo>
                  <a:cubicBezTo>
                    <a:pt x="40" y="9"/>
                    <a:pt x="41" y="7"/>
                    <a:pt x="43" y="7"/>
                  </a:cubicBezTo>
                  <a:cubicBezTo>
                    <a:pt x="45" y="7"/>
                    <a:pt x="47" y="9"/>
                    <a:pt x="47" y="11"/>
                  </a:cubicBezTo>
                  <a:cubicBezTo>
                    <a:pt x="47" y="13"/>
                    <a:pt x="45" y="15"/>
                    <a:pt x="43" y="15"/>
                  </a:cubicBezTo>
                  <a:close/>
                  <a:moveTo>
                    <a:pt x="58" y="15"/>
                  </a:moveTo>
                  <a:cubicBezTo>
                    <a:pt x="56" y="15"/>
                    <a:pt x="54" y="13"/>
                    <a:pt x="54" y="11"/>
                  </a:cubicBezTo>
                  <a:cubicBezTo>
                    <a:pt x="54" y="9"/>
                    <a:pt x="56" y="7"/>
                    <a:pt x="58" y="7"/>
                  </a:cubicBezTo>
                  <a:cubicBezTo>
                    <a:pt x="60" y="7"/>
                    <a:pt x="61" y="9"/>
                    <a:pt x="61" y="11"/>
                  </a:cubicBezTo>
                  <a:cubicBezTo>
                    <a:pt x="61" y="13"/>
                    <a:pt x="60" y="15"/>
                    <a:pt x="5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6" name="Freeform 53">
              <a:extLst>
                <a:ext uri="{FF2B5EF4-FFF2-40B4-BE49-F238E27FC236}">
                  <a16:creationId xmlns:a16="http://schemas.microsoft.com/office/drawing/2014/main" id="{C5FCFC9F-98DB-4186-9CCF-29DB00FF7A77}"/>
                </a:ext>
              </a:extLst>
            </p:cNvPr>
            <p:cNvSpPr>
              <a:spLocks/>
            </p:cNvSpPr>
            <p:nvPr/>
          </p:nvSpPr>
          <p:spPr bwMode="auto">
            <a:xfrm>
              <a:off x="1173158" y="2551130"/>
              <a:ext cx="25400" cy="9525"/>
            </a:xfrm>
            <a:custGeom>
              <a:avLst/>
              <a:gdLst>
                <a:gd name="T0" fmla="*/ 14 w 14"/>
                <a:gd name="T1" fmla="*/ 2 h 5"/>
                <a:gd name="T2" fmla="*/ 13 w 14"/>
                <a:gd name="T3" fmla="*/ 0 h 5"/>
                <a:gd name="T4" fmla="*/ 2 w 14"/>
                <a:gd name="T5" fmla="*/ 0 h 5"/>
                <a:gd name="T6" fmla="*/ 0 w 14"/>
                <a:gd name="T7" fmla="*/ 2 h 5"/>
                <a:gd name="T8" fmla="*/ 0 w 14"/>
                <a:gd name="T9" fmla="*/ 5 h 5"/>
                <a:gd name="T10" fmla="*/ 14 w 14"/>
                <a:gd name="T11" fmla="*/ 5 h 5"/>
                <a:gd name="T12" fmla="*/ 14 w 14"/>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14" h="5">
                  <a:moveTo>
                    <a:pt x="14" y="2"/>
                  </a:moveTo>
                  <a:cubicBezTo>
                    <a:pt x="14" y="1"/>
                    <a:pt x="14" y="0"/>
                    <a:pt x="13" y="0"/>
                  </a:cubicBezTo>
                  <a:cubicBezTo>
                    <a:pt x="2" y="0"/>
                    <a:pt x="2" y="0"/>
                    <a:pt x="2" y="0"/>
                  </a:cubicBezTo>
                  <a:cubicBezTo>
                    <a:pt x="1" y="0"/>
                    <a:pt x="0" y="1"/>
                    <a:pt x="0" y="2"/>
                  </a:cubicBezTo>
                  <a:cubicBezTo>
                    <a:pt x="0" y="5"/>
                    <a:pt x="0" y="5"/>
                    <a:pt x="0" y="5"/>
                  </a:cubicBezTo>
                  <a:cubicBezTo>
                    <a:pt x="14" y="5"/>
                    <a:pt x="14" y="5"/>
                    <a:pt x="14" y="5"/>
                  </a:cubicBezTo>
                  <a:cubicBezTo>
                    <a:pt x="14" y="2"/>
                    <a:pt x="14" y="2"/>
                    <a:pt x="1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54">
              <a:extLst>
                <a:ext uri="{FF2B5EF4-FFF2-40B4-BE49-F238E27FC236}">
                  <a16:creationId xmlns:a16="http://schemas.microsoft.com/office/drawing/2014/main" id="{244CAD55-70C0-4887-8C36-CE17DC473A1B}"/>
                </a:ext>
              </a:extLst>
            </p:cNvPr>
            <p:cNvSpPr>
              <a:spLocks noEditPoints="1"/>
            </p:cNvSpPr>
            <p:nvPr/>
          </p:nvSpPr>
          <p:spPr bwMode="auto">
            <a:xfrm>
              <a:off x="1168395" y="2567005"/>
              <a:ext cx="36512" cy="49213"/>
            </a:xfrm>
            <a:custGeom>
              <a:avLst/>
              <a:gdLst>
                <a:gd name="T0" fmla="*/ 17 w 21"/>
                <a:gd name="T1" fmla="*/ 0 h 27"/>
                <a:gd name="T2" fmla="*/ 3 w 21"/>
                <a:gd name="T3" fmla="*/ 0 h 27"/>
                <a:gd name="T4" fmla="*/ 0 w 21"/>
                <a:gd name="T5" fmla="*/ 3 h 27"/>
                <a:gd name="T6" fmla="*/ 0 w 21"/>
                <a:gd name="T7" fmla="*/ 25 h 27"/>
                <a:gd name="T8" fmla="*/ 1 w 21"/>
                <a:gd name="T9" fmla="*/ 27 h 27"/>
                <a:gd name="T10" fmla="*/ 19 w 21"/>
                <a:gd name="T11" fmla="*/ 27 h 27"/>
                <a:gd name="T12" fmla="*/ 21 w 21"/>
                <a:gd name="T13" fmla="*/ 25 h 27"/>
                <a:gd name="T14" fmla="*/ 21 w 21"/>
                <a:gd name="T15" fmla="*/ 3 h 27"/>
                <a:gd name="T16" fmla="*/ 17 w 21"/>
                <a:gd name="T17" fmla="*/ 0 h 27"/>
                <a:gd name="T18" fmla="*/ 17 w 21"/>
                <a:gd name="T19" fmla="*/ 19 h 27"/>
                <a:gd name="T20" fmla="*/ 3 w 21"/>
                <a:gd name="T21" fmla="*/ 19 h 27"/>
                <a:gd name="T22" fmla="*/ 3 w 21"/>
                <a:gd name="T23" fmla="*/ 7 h 27"/>
                <a:gd name="T24" fmla="*/ 17 w 21"/>
                <a:gd name="T25" fmla="*/ 7 h 27"/>
                <a:gd name="T26" fmla="*/ 17 w 21"/>
                <a:gd name="T27"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27">
                  <a:moveTo>
                    <a:pt x="17" y="0"/>
                  </a:moveTo>
                  <a:cubicBezTo>
                    <a:pt x="3" y="0"/>
                    <a:pt x="3" y="0"/>
                    <a:pt x="3" y="0"/>
                  </a:cubicBezTo>
                  <a:cubicBezTo>
                    <a:pt x="0" y="3"/>
                    <a:pt x="0" y="3"/>
                    <a:pt x="0" y="3"/>
                  </a:cubicBezTo>
                  <a:cubicBezTo>
                    <a:pt x="0" y="25"/>
                    <a:pt x="0" y="25"/>
                    <a:pt x="0" y="25"/>
                  </a:cubicBezTo>
                  <a:cubicBezTo>
                    <a:pt x="0" y="26"/>
                    <a:pt x="0" y="27"/>
                    <a:pt x="1" y="27"/>
                  </a:cubicBezTo>
                  <a:cubicBezTo>
                    <a:pt x="19" y="27"/>
                    <a:pt x="19" y="27"/>
                    <a:pt x="19" y="27"/>
                  </a:cubicBezTo>
                  <a:cubicBezTo>
                    <a:pt x="20" y="27"/>
                    <a:pt x="21" y="26"/>
                    <a:pt x="21" y="25"/>
                  </a:cubicBezTo>
                  <a:cubicBezTo>
                    <a:pt x="21" y="3"/>
                    <a:pt x="21" y="3"/>
                    <a:pt x="21" y="3"/>
                  </a:cubicBezTo>
                  <a:lnTo>
                    <a:pt x="17" y="0"/>
                  </a:lnTo>
                  <a:close/>
                  <a:moveTo>
                    <a:pt x="17" y="19"/>
                  </a:moveTo>
                  <a:cubicBezTo>
                    <a:pt x="3" y="19"/>
                    <a:pt x="3" y="19"/>
                    <a:pt x="3" y="19"/>
                  </a:cubicBezTo>
                  <a:cubicBezTo>
                    <a:pt x="3" y="7"/>
                    <a:pt x="3" y="7"/>
                    <a:pt x="3" y="7"/>
                  </a:cubicBezTo>
                  <a:cubicBezTo>
                    <a:pt x="17" y="7"/>
                    <a:pt x="17" y="7"/>
                    <a:pt x="17" y="7"/>
                  </a:cubicBezTo>
                  <a:lnTo>
                    <a:pt x="1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55">
              <a:extLst>
                <a:ext uri="{FF2B5EF4-FFF2-40B4-BE49-F238E27FC236}">
                  <a16:creationId xmlns:a16="http://schemas.microsoft.com/office/drawing/2014/main" id="{6129754D-FF06-45B5-B687-6904E1AE3A28}"/>
                </a:ext>
              </a:extLst>
            </p:cNvPr>
            <p:cNvSpPr>
              <a:spLocks noEditPoints="1"/>
            </p:cNvSpPr>
            <p:nvPr/>
          </p:nvSpPr>
          <p:spPr bwMode="auto">
            <a:xfrm>
              <a:off x="1181095" y="2586056"/>
              <a:ext cx="9525" cy="14288"/>
            </a:xfrm>
            <a:custGeom>
              <a:avLst/>
              <a:gdLst>
                <a:gd name="T0" fmla="*/ 6 w 6"/>
                <a:gd name="T1" fmla="*/ 5 h 8"/>
                <a:gd name="T2" fmla="*/ 5 w 6"/>
                <a:gd name="T3" fmla="*/ 4 h 8"/>
                <a:gd name="T4" fmla="*/ 4 w 6"/>
                <a:gd name="T5" fmla="*/ 5 h 8"/>
                <a:gd name="T6" fmla="*/ 3 w 6"/>
                <a:gd name="T7" fmla="*/ 4 h 8"/>
                <a:gd name="T8" fmla="*/ 5 w 6"/>
                <a:gd name="T9" fmla="*/ 2 h 8"/>
                <a:gd name="T10" fmla="*/ 3 w 6"/>
                <a:gd name="T11" fmla="*/ 0 h 8"/>
                <a:gd name="T12" fmla="*/ 0 w 6"/>
                <a:gd name="T13" fmla="*/ 0 h 8"/>
                <a:gd name="T14" fmla="*/ 0 w 6"/>
                <a:gd name="T15" fmla="*/ 6 h 8"/>
                <a:gd name="T16" fmla="*/ 2 w 6"/>
                <a:gd name="T17" fmla="*/ 6 h 8"/>
                <a:gd name="T18" fmla="*/ 2 w 6"/>
                <a:gd name="T19" fmla="*/ 4 h 8"/>
                <a:gd name="T20" fmla="*/ 3 w 6"/>
                <a:gd name="T21" fmla="*/ 6 h 8"/>
                <a:gd name="T22" fmla="*/ 2 w 6"/>
                <a:gd name="T23" fmla="*/ 7 h 8"/>
                <a:gd name="T24" fmla="*/ 3 w 6"/>
                <a:gd name="T25" fmla="*/ 8 h 8"/>
                <a:gd name="T26" fmla="*/ 4 w 6"/>
                <a:gd name="T27" fmla="*/ 7 h 8"/>
                <a:gd name="T28" fmla="*/ 5 w 6"/>
                <a:gd name="T29" fmla="*/ 8 h 8"/>
                <a:gd name="T30" fmla="*/ 6 w 6"/>
                <a:gd name="T31" fmla="*/ 7 h 8"/>
                <a:gd name="T32" fmla="*/ 5 w 6"/>
                <a:gd name="T33" fmla="*/ 6 h 8"/>
                <a:gd name="T34" fmla="*/ 6 w 6"/>
                <a:gd name="T35" fmla="*/ 5 h 8"/>
                <a:gd name="T36" fmla="*/ 3 w 6"/>
                <a:gd name="T37" fmla="*/ 3 h 8"/>
                <a:gd name="T38" fmla="*/ 2 w 6"/>
                <a:gd name="T39" fmla="*/ 3 h 8"/>
                <a:gd name="T40" fmla="*/ 2 w 6"/>
                <a:gd name="T41" fmla="*/ 1 h 8"/>
                <a:gd name="T42" fmla="*/ 3 w 6"/>
                <a:gd name="T43" fmla="*/ 1 h 8"/>
                <a:gd name="T44" fmla="*/ 3 w 6"/>
                <a:gd name="T45" fmla="*/ 2 h 8"/>
                <a:gd name="T46" fmla="*/ 3 w 6"/>
                <a:gd name="T47"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 h="8">
                  <a:moveTo>
                    <a:pt x="6" y="5"/>
                  </a:moveTo>
                  <a:cubicBezTo>
                    <a:pt x="5" y="4"/>
                    <a:pt x="5" y="4"/>
                    <a:pt x="5" y="4"/>
                  </a:cubicBezTo>
                  <a:cubicBezTo>
                    <a:pt x="4" y="5"/>
                    <a:pt x="4" y="5"/>
                    <a:pt x="4" y="5"/>
                  </a:cubicBezTo>
                  <a:cubicBezTo>
                    <a:pt x="3" y="4"/>
                    <a:pt x="3" y="4"/>
                    <a:pt x="3" y="4"/>
                  </a:cubicBezTo>
                  <a:cubicBezTo>
                    <a:pt x="4" y="3"/>
                    <a:pt x="5" y="3"/>
                    <a:pt x="5" y="2"/>
                  </a:cubicBezTo>
                  <a:cubicBezTo>
                    <a:pt x="5" y="1"/>
                    <a:pt x="4" y="0"/>
                    <a:pt x="3" y="0"/>
                  </a:cubicBezTo>
                  <a:cubicBezTo>
                    <a:pt x="0" y="0"/>
                    <a:pt x="0" y="0"/>
                    <a:pt x="0" y="0"/>
                  </a:cubicBezTo>
                  <a:cubicBezTo>
                    <a:pt x="0" y="6"/>
                    <a:pt x="0" y="6"/>
                    <a:pt x="0" y="6"/>
                  </a:cubicBezTo>
                  <a:cubicBezTo>
                    <a:pt x="2" y="6"/>
                    <a:pt x="2" y="6"/>
                    <a:pt x="2" y="6"/>
                  </a:cubicBezTo>
                  <a:cubicBezTo>
                    <a:pt x="2" y="4"/>
                    <a:pt x="2" y="4"/>
                    <a:pt x="2" y="4"/>
                  </a:cubicBezTo>
                  <a:cubicBezTo>
                    <a:pt x="3" y="6"/>
                    <a:pt x="3" y="6"/>
                    <a:pt x="3" y="6"/>
                  </a:cubicBezTo>
                  <a:cubicBezTo>
                    <a:pt x="2" y="7"/>
                    <a:pt x="2" y="7"/>
                    <a:pt x="2" y="7"/>
                  </a:cubicBezTo>
                  <a:cubicBezTo>
                    <a:pt x="3" y="8"/>
                    <a:pt x="3" y="8"/>
                    <a:pt x="3" y="8"/>
                  </a:cubicBezTo>
                  <a:cubicBezTo>
                    <a:pt x="4" y="7"/>
                    <a:pt x="4" y="7"/>
                    <a:pt x="4" y="7"/>
                  </a:cubicBezTo>
                  <a:cubicBezTo>
                    <a:pt x="5" y="8"/>
                    <a:pt x="5" y="8"/>
                    <a:pt x="5" y="8"/>
                  </a:cubicBezTo>
                  <a:cubicBezTo>
                    <a:pt x="6" y="7"/>
                    <a:pt x="6" y="7"/>
                    <a:pt x="6" y="7"/>
                  </a:cubicBezTo>
                  <a:cubicBezTo>
                    <a:pt x="5" y="6"/>
                    <a:pt x="5" y="6"/>
                    <a:pt x="5" y="6"/>
                  </a:cubicBezTo>
                  <a:lnTo>
                    <a:pt x="6" y="5"/>
                  </a:lnTo>
                  <a:close/>
                  <a:moveTo>
                    <a:pt x="3" y="3"/>
                  </a:moveTo>
                  <a:cubicBezTo>
                    <a:pt x="2" y="3"/>
                    <a:pt x="2" y="3"/>
                    <a:pt x="2" y="3"/>
                  </a:cubicBezTo>
                  <a:cubicBezTo>
                    <a:pt x="2" y="1"/>
                    <a:pt x="2" y="1"/>
                    <a:pt x="2" y="1"/>
                  </a:cubicBezTo>
                  <a:cubicBezTo>
                    <a:pt x="3" y="1"/>
                    <a:pt x="3" y="1"/>
                    <a:pt x="3" y="1"/>
                  </a:cubicBezTo>
                  <a:cubicBezTo>
                    <a:pt x="3" y="1"/>
                    <a:pt x="3" y="1"/>
                    <a:pt x="3" y="2"/>
                  </a:cubicBezTo>
                  <a:cubicBezTo>
                    <a:pt x="3" y="2"/>
                    <a:pt x="3"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56">
              <a:extLst>
                <a:ext uri="{FF2B5EF4-FFF2-40B4-BE49-F238E27FC236}">
                  <a16:creationId xmlns:a16="http://schemas.microsoft.com/office/drawing/2014/main" id="{9DA5D731-8C5D-4113-BF49-FDBE44A7A0B2}"/>
                </a:ext>
              </a:extLst>
            </p:cNvPr>
            <p:cNvSpPr>
              <a:spLocks/>
            </p:cNvSpPr>
            <p:nvPr/>
          </p:nvSpPr>
          <p:spPr bwMode="auto">
            <a:xfrm>
              <a:off x="1223957" y="2551130"/>
              <a:ext cx="26987" cy="9525"/>
            </a:xfrm>
            <a:custGeom>
              <a:avLst/>
              <a:gdLst>
                <a:gd name="T0" fmla="*/ 15 w 15"/>
                <a:gd name="T1" fmla="*/ 2 h 5"/>
                <a:gd name="T2" fmla="*/ 13 w 15"/>
                <a:gd name="T3" fmla="*/ 0 h 5"/>
                <a:gd name="T4" fmla="*/ 2 w 15"/>
                <a:gd name="T5" fmla="*/ 0 h 5"/>
                <a:gd name="T6" fmla="*/ 0 w 15"/>
                <a:gd name="T7" fmla="*/ 2 h 5"/>
                <a:gd name="T8" fmla="*/ 0 w 15"/>
                <a:gd name="T9" fmla="*/ 5 h 5"/>
                <a:gd name="T10" fmla="*/ 15 w 15"/>
                <a:gd name="T11" fmla="*/ 5 h 5"/>
                <a:gd name="T12" fmla="*/ 15 w 15"/>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15" h="5">
                  <a:moveTo>
                    <a:pt x="15" y="2"/>
                  </a:moveTo>
                  <a:cubicBezTo>
                    <a:pt x="15" y="1"/>
                    <a:pt x="14" y="0"/>
                    <a:pt x="13" y="0"/>
                  </a:cubicBezTo>
                  <a:cubicBezTo>
                    <a:pt x="2" y="0"/>
                    <a:pt x="2" y="0"/>
                    <a:pt x="2" y="0"/>
                  </a:cubicBezTo>
                  <a:cubicBezTo>
                    <a:pt x="1" y="0"/>
                    <a:pt x="0" y="1"/>
                    <a:pt x="0" y="2"/>
                  </a:cubicBezTo>
                  <a:cubicBezTo>
                    <a:pt x="0" y="5"/>
                    <a:pt x="0" y="5"/>
                    <a:pt x="0" y="5"/>
                  </a:cubicBezTo>
                  <a:cubicBezTo>
                    <a:pt x="15" y="5"/>
                    <a:pt x="15" y="5"/>
                    <a:pt x="15" y="5"/>
                  </a:cubicBezTo>
                  <a:cubicBezTo>
                    <a:pt x="15" y="2"/>
                    <a:pt x="15" y="2"/>
                    <a:pt x="1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57">
              <a:extLst>
                <a:ext uri="{FF2B5EF4-FFF2-40B4-BE49-F238E27FC236}">
                  <a16:creationId xmlns:a16="http://schemas.microsoft.com/office/drawing/2014/main" id="{EA493E9A-2E37-4642-B956-337D88EA1B18}"/>
                </a:ext>
              </a:extLst>
            </p:cNvPr>
            <p:cNvSpPr>
              <a:spLocks noEditPoints="1"/>
            </p:cNvSpPr>
            <p:nvPr/>
          </p:nvSpPr>
          <p:spPr bwMode="auto">
            <a:xfrm>
              <a:off x="1217607" y="2567005"/>
              <a:ext cx="38100" cy="49213"/>
            </a:xfrm>
            <a:custGeom>
              <a:avLst/>
              <a:gdLst>
                <a:gd name="T0" fmla="*/ 18 w 21"/>
                <a:gd name="T1" fmla="*/ 0 h 27"/>
                <a:gd name="T2" fmla="*/ 3 w 21"/>
                <a:gd name="T3" fmla="*/ 0 h 27"/>
                <a:gd name="T4" fmla="*/ 0 w 21"/>
                <a:gd name="T5" fmla="*/ 3 h 27"/>
                <a:gd name="T6" fmla="*/ 0 w 21"/>
                <a:gd name="T7" fmla="*/ 25 h 27"/>
                <a:gd name="T8" fmla="*/ 2 w 21"/>
                <a:gd name="T9" fmla="*/ 27 h 27"/>
                <a:gd name="T10" fmla="*/ 19 w 21"/>
                <a:gd name="T11" fmla="*/ 27 h 27"/>
                <a:gd name="T12" fmla="*/ 21 w 21"/>
                <a:gd name="T13" fmla="*/ 25 h 27"/>
                <a:gd name="T14" fmla="*/ 21 w 21"/>
                <a:gd name="T15" fmla="*/ 3 h 27"/>
                <a:gd name="T16" fmla="*/ 18 w 21"/>
                <a:gd name="T17" fmla="*/ 0 h 27"/>
                <a:gd name="T18" fmla="*/ 18 w 21"/>
                <a:gd name="T19" fmla="*/ 19 h 27"/>
                <a:gd name="T20" fmla="*/ 3 w 21"/>
                <a:gd name="T21" fmla="*/ 19 h 27"/>
                <a:gd name="T22" fmla="*/ 3 w 21"/>
                <a:gd name="T23" fmla="*/ 7 h 27"/>
                <a:gd name="T24" fmla="*/ 18 w 21"/>
                <a:gd name="T25" fmla="*/ 7 h 27"/>
                <a:gd name="T26" fmla="*/ 18 w 21"/>
                <a:gd name="T27"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 h="27">
                  <a:moveTo>
                    <a:pt x="18" y="0"/>
                  </a:moveTo>
                  <a:cubicBezTo>
                    <a:pt x="3" y="0"/>
                    <a:pt x="3" y="0"/>
                    <a:pt x="3" y="0"/>
                  </a:cubicBezTo>
                  <a:cubicBezTo>
                    <a:pt x="0" y="3"/>
                    <a:pt x="0" y="3"/>
                    <a:pt x="0" y="3"/>
                  </a:cubicBezTo>
                  <a:cubicBezTo>
                    <a:pt x="0" y="25"/>
                    <a:pt x="0" y="25"/>
                    <a:pt x="0" y="25"/>
                  </a:cubicBezTo>
                  <a:cubicBezTo>
                    <a:pt x="0" y="26"/>
                    <a:pt x="1" y="27"/>
                    <a:pt x="2" y="27"/>
                  </a:cubicBezTo>
                  <a:cubicBezTo>
                    <a:pt x="19" y="27"/>
                    <a:pt x="19" y="27"/>
                    <a:pt x="19" y="27"/>
                  </a:cubicBezTo>
                  <a:cubicBezTo>
                    <a:pt x="20" y="27"/>
                    <a:pt x="21" y="26"/>
                    <a:pt x="21" y="25"/>
                  </a:cubicBezTo>
                  <a:cubicBezTo>
                    <a:pt x="21" y="3"/>
                    <a:pt x="21" y="3"/>
                    <a:pt x="21" y="3"/>
                  </a:cubicBezTo>
                  <a:lnTo>
                    <a:pt x="18" y="0"/>
                  </a:lnTo>
                  <a:close/>
                  <a:moveTo>
                    <a:pt x="18" y="19"/>
                  </a:moveTo>
                  <a:cubicBezTo>
                    <a:pt x="3" y="19"/>
                    <a:pt x="3" y="19"/>
                    <a:pt x="3" y="19"/>
                  </a:cubicBezTo>
                  <a:cubicBezTo>
                    <a:pt x="3" y="7"/>
                    <a:pt x="3" y="7"/>
                    <a:pt x="3" y="7"/>
                  </a:cubicBezTo>
                  <a:cubicBezTo>
                    <a:pt x="18" y="7"/>
                    <a:pt x="18" y="7"/>
                    <a:pt x="18" y="7"/>
                  </a:cubicBezTo>
                  <a:lnTo>
                    <a:pt x="18"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58">
              <a:extLst>
                <a:ext uri="{FF2B5EF4-FFF2-40B4-BE49-F238E27FC236}">
                  <a16:creationId xmlns:a16="http://schemas.microsoft.com/office/drawing/2014/main" id="{A939FB98-B6A6-4333-979E-032D11911232}"/>
                </a:ext>
              </a:extLst>
            </p:cNvPr>
            <p:cNvSpPr>
              <a:spLocks noEditPoints="1"/>
            </p:cNvSpPr>
            <p:nvPr/>
          </p:nvSpPr>
          <p:spPr bwMode="auto">
            <a:xfrm>
              <a:off x="1231895" y="2586056"/>
              <a:ext cx="11112" cy="14288"/>
            </a:xfrm>
            <a:custGeom>
              <a:avLst/>
              <a:gdLst>
                <a:gd name="T0" fmla="*/ 6 w 6"/>
                <a:gd name="T1" fmla="*/ 5 h 8"/>
                <a:gd name="T2" fmla="*/ 5 w 6"/>
                <a:gd name="T3" fmla="*/ 4 h 8"/>
                <a:gd name="T4" fmla="*/ 4 w 6"/>
                <a:gd name="T5" fmla="*/ 5 h 8"/>
                <a:gd name="T6" fmla="*/ 3 w 6"/>
                <a:gd name="T7" fmla="*/ 4 h 8"/>
                <a:gd name="T8" fmla="*/ 4 w 6"/>
                <a:gd name="T9" fmla="*/ 2 h 8"/>
                <a:gd name="T10" fmla="*/ 2 w 6"/>
                <a:gd name="T11" fmla="*/ 0 h 8"/>
                <a:gd name="T12" fmla="*/ 0 w 6"/>
                <a:gd name="T13" fmla="*/ 0 h 8"/>
                <a:gd name="T14" fmla="*/ 0 w 6"/>
                <a:gd name="T15" fmla="*/ 6 h 8"/>
                <a:gd name="T16" fmla="*/ 1 w 6"/>
                <a:gd name="T17" fmla="*/ 6 h 8"/>
                <a:gd name="T18" fmla="*/ 1 w 6"/>
                <a:gd name="T19" fmla="*/ 4 h 8"/>
                <a:gd name="T20" fmla="*/ 3 w 6"/>
                <a:gd name="T21" fmla="*/ 6 h 8"/>
                <a:gd name="T22" fmla="*/ 2 w 6"/>
                <a:gd name="T23" fmla="*/ 7 h 8"/>
                <a:gd name="T24" fmla="*/ 3 w 6"/>
                <a:gd name="T25" fmla="*/ 8 h 8"/>
                <a:gd name="T26" fmla="*/ 4 w 6"/>
                <a:gd name="T27" fmla="*/ 7 h 8"/>
                <a:gd name="T28" fmla="*/ 5 w 6"/>
                <a:gd name="T29" fmla="*/ 8 h 8"/>
                <a:gd name="T30" fmla="*/ 6 w 6"/>
                <a:gd name="T31" fmla="*/ 7 h 8"/>
                <a:gd name="T32" fmla="*/ 5 w 6"/>
                <a:gd name="T33" fmla="*/ 6 h 8"/>
                <a:gd name="T34" fmla="*/ 6 w 6"/>
                <a:gd name="T35" fmla="*/ 5 h 8"/>
                <a:gd name="T36" fmla="*/ 2 w 6"/>
                <a:gd name="T37" fmla="*/ 3 h 8"/>
                <a:gd name="T38" fmla="*/ 1 w 6"/>
                <a:gd name="T39" fmla="*/ 3 h 8"/>
                <a:gd name="T40" fmla="*/ 1 w 6"/>
                <a:gd name="T41" fmla="*/ 1 h 8"/>
                <a:gd name="T42" fmla="*/ 2 w 6"/>
                <a:gd name="T43" fmla="*/ 1 h 8"/>
                <a:gd name="T44" fmla="*/ 3 w 6"/>
                <a:gd name="T45" fmla="*/ 2 h 8"/>
                <a:gd name="T46" fmla="*/ 2 w 6"/>
                <a:gd name="T47"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 h="8">
                  <a:moveTo>
                    <a:pt x="6" y="5"/>
                  </a:moveTo>
                  <a:cubicBezTo>
                    <a:pt x="5" y="4"/>
                    <a:pt x="5" y="4"/>
                    <a:pt x="5" y="4"/>
                  </a:cubicBezTo>
                  <a:cubicBezTo>
                    <a:pt x="4" y="5"/>
                    <a:pt x="4" y="5"/>
                    <a:pt x="4" y="5"/>
                  </a:cubicBezTo>
                  <a:cubicBezTo>
                    <a:pt x="3" y="4"/>
                    <a:pt x="3" y="4"/>
                    <a:pt x="3" y="4"/>
                  </a:cubicBezTo>
                  <a:cubicBezTo>
                    <a:pt x="3" y="3"/>
                    <a:pt x="4" y="3"/>
                    <a:pt x="4" y="2"/>
                  </a:cubicBezTo>
                  <a:cubicBezTo>
                    <a:pt x="4" y="1"/>
                    <a:pt x="3" y="0"/>
                    <a:pt x="2" y="0"/>
                  </a:cubicBezTo>
                  <a:cubicBezTo>
                    <a:pt x="0" y="0"/>
                    <a:pt x="0" y="0"/>
                    <a:pt x="0" y="0"/>
                  </a:cubicBezTo>
                  <a:cubicBezTo>
                    <a:pt x="0" y="6"/>
                    <a:pt x="0" y="6"/>
                    <a:pt x="0" y="6"/>
                  </a:cubicBezTo>
                  <a:cubicBezTo>
                    <a:pt x="1" y="6"/>
                    <a:pt x="1" y="6"/>
                    <a:pt x="1" y="6"/>
                  </a:cubicBezTo>
                  <a:cubicBezTo>
                    <a:pt x="1" y="4"/>
                    <a:pt x="1" y="4"/>
                    <a:pt x="1" y="4"/>
                  </a:cubicBezTo>
                  <a:cubicBezTo>
                    <a:pt x="3" y="6"/>
                    <a:pt x="3" y="6"/>
                    <a:pt x="3" y="6"/>
                  </a:cubicBezTo>
                  <a:cubicBezTo>
                    <a:pt x="2" y="7"/>
                    <a:pt x="2" y="7"/>
                    <a:pt x="2" y="7"/>
                  </a:cubicBezTo>
                  <a:cubicBezTo>
                    <a:pt x="3" y="8"/>
                    <a:pt x="3" y="8"/>
                    <a:pt x="3" y="8"/>
                  </a:cubicBezTo>
                  <a:cubicBezTo>
                    <a:pt x="4" y="7"/>
                    <a:pt x="4" y="7"/>
                    <a:pt x="4" y="7"/>
                  </a:cubicBezTo>
                  <a:cubicBezTo>
                    <a:pt x="5" y="8"/>
                    <a:pt x="5" y="8"/>
                    <a:pt x="5" y="8"/>
                  </a:cubicBezTo>
                  <a:cubicBezTo>
                    <a:pt x="6" y="7"/>
                    <a:pt x="6" y="7"/>
                    <a:pt x="6" y="7"/>
                  </a:cubicBezTo>
                  <a:cubicBezTo>
                    <a:pt x="5" y="6"/>
                    <a:pt x="5" y="6"/>
                    <a:pt x="5" y="6"/>
                  </a:cubicBezTo>
                  <a:lnTo>
                    <a:pt x="6" y="5"/>
                  </a:lnTo>
                  <a:close/>
                  <a:moveTo>
                    <a:pt x="2" y="3"/>
                  </a:moveTo>
                  <a:cubicBezTo>
                    <a:pt x="1" y="3"/>
                    <a:pt x="1" y="3"/>
                    <a:pt x="1" y="3"/>
                  </a:cubicBezTo>
                  <a:cubicBezTo>
                    <a:pt x="1" y="1"/>
                    <a:pt x="1" y="1"/>
                    <a:pt x="1" y="1"/>
                  </a:cubicBezTo>
                  <a:cubicBezTo>
                    <a:pt x="2" y="1"/>
                    <a:pt x="2" y="1"/>
                    <a:pt x="2" y="1"/>
                  </a:cubicBezTo>
                  <a:cubicBezTo>
                    <a:pt x="2" y="1"/>
                    <a:pt x="3" y="1"/>
                    <a:pt x="3" y="2"/>
                  </a:cubicBezTo>
                  <a:cubicBezTo>
                    <a:pt x="3" y="2"/>
                    <a:pt x="2"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2" name="Group 71">
            <a:extLst>
              <a:ext uri="{FF2B5EF4-FFF2-40B4-BE49-F238E27FC236}">
                <a16:creationId xmlns:a16="http://schemas.microsoft.com/office/drawing/2014/main" id="{7C97C3A9-035A-4FBF-98E6-AD0AA2FF6649}"/>
              </a:ext>
            </a:extLst>
          </p:cNvPr>
          <p:cNvGrpSpPr/>
          <p:nvPr/>
        </p:nvGrpSpPr>
        <p:grpSpPr>
          <a:xfrm>
            <a:off x="1385613" y="2581011"/>
            <a:ext cx="254314" cy="254318"/>
            <a:chOff x="1489068" y="2535255"/>
            <a:chExt cx="123824" cy="123826"/>
          </a:xfrm>
          <a:solidFill>
            <a:schemeClr val="accent1"/>
          </a:solidFill>
        </p:grpSpPr>
        <p:sp>
          <p:nvSpPr>
            <p:cNvPr id="73" name="Freeform 59">
              <a:extLst>
                <a:ext uri="{FF2B5EF4-FFF2-40B4-BE49-F238E27FC236}">
                  <a16:creationId xmlns:a16="http://schemas.microsoft.com/office/drawing/2014/main" id="{BB8296C1-AD8A-47C4-9E4F-47B0AEB38D4A}"/>
                </a:ext>
              </a:extLst>
            </p:cNvPr>
            <p:cNvSpPr>
              <a:spLocks/>
            </p:cNvSpPr>
            <p:nvPr/>
          </p:nvSpPr>
          <p:spPr bwMode="auto">
            <a:xfrm>
              <a:off x="1490655" y="2535255"/>
              <a:ext cx="53975" cy="53975"/>
            </a:xfrm>
            <a:custGeom>
              <a:avLst/>
              <a:gdLst>
                <a:gd name="T0" fmla="*/ 25 w 30"/>
                <a:gd name="T1" fmla="*/ 3 h 30"/>
                <a:gd name="T2" fmla="*/ 19 w 30"/>
                <a:gd name="T3" fmla="*/ 0 h 30"/>
                <a:gd name="T4" fmla="*/ 12 w 30"/>
                <a:gd name="T5" fmla="*/ 3 h 30"/>
                <a:gd name="T6" fmla="*/ 2 w 30"/>
                <a:gd name="T7" fmla="*/ 13 h 30"/>
                <a:gd name="T8" fmla="*/ 0 w 30"/>
                <a:gd name="T9" fmla="*/ 19 h 30"/>
                <a:gd name="T10" fmla="*/ 2 w 30"/>
                <a:gd name="T11" fmla="*/ 25 h 30"/>
                <a:gd name="T12" fmla="*/ 7 w 30"/>
                <a:gd name="T13" fmla="*/ 30 h 30"/>
                <a:gd name="T14" fmla="*/ 30 w 30"/>
                <a:gd name="T15" fmla="*/ 8 h 30"/>
                <a:gd name="T16" fmla="*/ 25 w 30"/>
                <a:gd name="T1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0">
                  <a:moveTo>
                    <a:pt x="25" y="3"/>
                  </a:moveTo>
                  <a:cubicBezTo>
                    <a:pt x="23" y="1"/>
                    <a:pt x="21" y="0"/>
                    <a:pt x="19" y="0"/>
                  </a:cubicBezTo>
                  <a:cubicBezTo>
                    <a:pt x="16" y="0"/>
                    <a:pt x="14" y="1"/>
                    <a:pt x="12" y="3"/>
                  </a:cubicBezTo>
                  <a:cubicBezTo>
                    <a:pt x="2" y="13"/>
                    <a:pt x="2" y="13"/>
                    <a:pt x="2" y="13"/>
                  </a:cubicBezTo>
                  <a:cubicBezTo>
                    <a:pt x="0" y="14"/>
                    <a:pt x="0" y="17"/>
                    <a:pt x="0" y="19"/>
                  </a:cubicBezTo>
                  <a:cubicBezTo>
                    <a:pt x="0" y="21"/>
                    <a:pt x="0" y="24"/>
                    <a:pt x="2" y="25"/>
                  </a:cubicBezTo>
                  <a:cubicBezTo>
                    <a:pt x="7" y="30"/>
                    <a:pt x="7" y="30"/>
                    <a:pt x="7" y="30"/>
                  </a:cubicBezTo>
                  <a:cubicBezTo>
                    <a:pt x="30" y="8"/>
                    <a:pt x="30" y="8"/>
                    <a:pt x="30" y="8"/>
                  </a:cubicBezTo>
                  <a:lnTo>
                    <a:pt x="25"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4" name="Freeform 60">
              <a:extLst>
                <a:ext uri="{FF2B5EF4-FFF2-40B4-BE49-F238E27FC236}">
                  <a16:creationId xmlns:a16="http://schemas.microsoft.com/office/drawing/2014/main" id="{C23EBBA2-86CE-42F7-8CFD-93D9BAEDD858}"/>
                </a:ext>
              </a:extLst>
            </p:cNvPr>
            <p:cNvSpPr>
              <a:spLocks/>
            </p:cNvSpPr>
            <p:nvPr/>
          </p:nvSpPr>
          <p:spPr bwMode="auto">
            <a:xfrm>
              <a:off x="1557330" y="2601931"/>
              <a:ext cx="55562" cy="57150"/>
            </a:xfrm>
            <a:custGeom>
              <a:avLst/>
              <a:gdLst>
                <a:gd name="T0" fmla="*/ 0 w 31"/>
                <a:gd name="T1" fmla="*/ 23 h 32"/>
                <a:gd name="T2" fmla="*/ 5 w 31"/>
                <a:gd name="T3" fmla="*/ 28 h 32"/>
                <a:gd name="T4" fmla="*/ 17 w 31"/>
                <a:gd name="T5" fmla="*/ 28 h 32"/>
                <a:gd name="T6" fmla="*/ 28 w 31"/>
                <a:gd name="T7" fmla="*/ 18 h 32"/>
                <a:gd name="T8" fmla="*/ 28 w 31"/>
                <a:gd name="T9" fmla="*/ 5 h 32"/>
                <a:gd name="T10" fmla="*/ 23 w 31"/>
                <a:gd name="T11" fmla="*/ 0 h 32"/>
                <a:gd name="T12" fmla="*/ 0 w 31"/>
                <a:gd name="T13" fmla="*/ 23 h 32"/>
              </a:gdLst>
              <a:ahLst/>
              <a:cxnLst>
                <a:cxn ang="0">
                  <a:pos x="T0" y="T1"/>
                </a:cxn>
                <a:cxn ang="0">
                  <a:pos x="T2" y="T3"/>
                </a:cxn>
                <a:cxn ang="0">
                  <a:pos x="T4" y="T5"/>
                </a:cxn>
                <a:cxn ang="0">
                  <a:pos x="T6" y="T7"/>
                </a:cxn>
                <a:cxn ang="0">
                  <a:pos x="T8" y="T9"/>
                </a:cxn>
                <a:cxn ang="0">
                  <a:pos x="T10" y="T11"/>
                </a:cxn>
                <a:cxn ang="0">
                  <a:pos x="T12" y="T13"/>
                </a:cxn>
              </a:cxnLst>
              <a:rect l="0" t="0" r="r" b="b"/>
              <a:pathLst>
                <a:path w="31" h="32">
                  <a:moveTo>
                    <a:pt x="0" y="23"/>
                  </a:moveTo>
                  <a:cubicBezTo>
                    <a:pt x="5" y="28"/>
                    <a:pt x="5" y="28"/>
                    <a:pt x="5" y="28"/>
                  </a:cubicBezTo>
                  <a:cubicBezTo>
                    <a:pt x="8" y="32"/>
                    <a:pt x="14" y="32"/>
                    <a:pt x="17" y="28"/>
                  </a:cubicBezTo>
                  <a:cubicBezTo>
                    <a:pt x="28" y="18"/>
                    <a:pt x="28" y="18"/>
                    <a:pt x="28" y="18"/>
                  </a:cubicBezTo>
                  <a:cubicBezTo>
                    <a:pt x="31" y="14"/>
                    <a:pt x="31" y="9"/>
                    <a:pt x="28" y="5"/>
                  </a:cubicBezTo>
                  <a:cubicBezTo>
                    <a:pt x="23" y="0"/>
                    <a:pt x="23" y="0"/>
                    <a:pt x="23" y="0"/>
                  </a:cubicBez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61">
              <a:extLst>
                <a:ext uri="{FF2B5EF4-FFF2-40B4-BE49-F238E27FC236}">
                  <a16:creationId xmlns:a16="http://schemas.microsoft.com/office/drawing/2014/main" id="{C891DC87-DD0C-4DE5-9550-8E82AE8CF2AF}"/>
                </a:ext>
              </a:extLst>
            </p:cNvPr>
            <p:cNvSpPr>
              <a:spLocks noEditPoints="1"/>
            </p:cNvSpPr>
            <p:nvPr/>
          </p:nvSpPr>
          <p:spPr bwMode="auto">
            <a:xfrm>
              <a:off x="1489068" y="2535255"/>
              <a:ext cx="123824" cy="123826"/>
            </a:xfrm>
            <a:custGeom>
              <a:avLst/>
              <a:gdLst>
                <a:gd name="T0" fmla="*/ 66 w 69"/>
                <a:gd name="T1" fmla="*/ 25 h 69"/>
                <a:gd name="T2" fmla="*/ 66 w 69"/>
                <a:gd name="T3" fmla="*/ 13 h 69"/>
                <a:gd name="T4" fmla="*/ 55 w 69"/>
                <a:gd name="T5" fmla="*/ 3 h 69"/>
                <a:gd name="T6" fmla="*/ 49 w 69"/>
                <a:gd name="T7" fmla="*/ 0 h 69"/>
                <a:gd name="T8" fmla="*/ 43 w 69"/>
                <a:gd name="T9" fmla="*/ 3 h 69"/>
                <a:gd name="T10" fmla="*/ 3 w 69"/>
                <a:gd name="T11" fmla="*/ 42 h 69"/>
                <a:gd name="T12" fmla="*/ 3 w 69"/>
                <a:gd name="T13" fmla="*/ 55 h 69"/>
                <a:gd name="T14" fmla="*/ 13 w 69"/>
                <a:gd name="T15" fmla="*/ 65 h 69"/>
                <a:gd name="T16" fmla="*/ 26 w 69"/>
                <a:gd name="T17" fmla="*/ 65 h 69"/>
                <a:gd name="T18" fmla="*/ 66 w 69"/>
                <a:gd name="T19" fmla="*/ 25 h 69"/>
                <a:gd name="T20" fmla="*/ 37 w 69"/>
                <a:gd name="T21" fmla="*/ 34 h 69"/>
                <a:gd name="T22" fmla="*/ 34 w 69"/>
                <a:gd name="T23" fmla="*/ 34 h 69"/>
                <a:gd name="T24" fmla="*/ 34 w 69"/>
                <a:gd name="T25" fmla="*/ 31 h 69"/>
                <a:gd name="T26" fmla="*/ 37 w 69"/>
                <a:gd name="T27" fmla="*/ 31 h 69"/>
                <a:gd name="T28" fmla="*/ 37 w 69"/>
                <a:gd name="T29" fmla="*/ 34 h 69"/>
                <a:gd name="T30" fmla="*/ 37 w 69"/>
                <a:gd name="T31" fmla="*/ 44 h 69"/>
                <a:gd name="T32" fmla="*/ 34 w 69"/>
                <a:gd name="T33" fmla="*/ 44 h 69"/>
                <a:gd name="T34" fmla="*/ 34 w 69"/>
                <a:gd name="T35" fmla="*/ 41 h 69"/>
                <a:gd name="T36" fmla="*/ 37 w 69"/>
                <a:gd name="T37" fmla="*/ 41 h 69"/>
                <a:gd name="T38" fmla="*/ 37 w 69"/>
                <a:gd name="T39" fmla="*/ 44 h 69"/>
                <a:gd name="T40" fmla="*/ 37 w 69"/>
                <a:gd name="T41" fmla="*/ 24 h 69"/>
                <a:gd name="T42" fmla="*/ 34 w 69"/>
                <a:gd name="T43" fmla="*/ 24 h 69"/>
                <a:gd name="T44" fmla="*/ 34 w 69"/>
                <a:gd name="T45" fmla="*/ 21 h 69"/>
                <a:gd name="T46" fmla="*/ 37 w 69"/>
                <a:gd name="T47" fmla="*/ 21 h 69"/>
                <a:gd name="T48" fmla="*/ 37 w 69"/>
                <a:gd name="T49" fmla="*/ 24 h 69"/>
                <a:gd name="T50" fmla="*/ 32 w 69"/>
                <a:gd name="T51" fmla="*/ 29 h 69"/>
                <a:gd name="T52" fmla="*/ 29 w 69"/>
                <a:gd name="T53" fmla="*/ 29 h 69"/>
                <a:gd name="T54" fmla="*/ 29 w 69"/>
                <a:gd name="T55" fmla="*/ 27 h 69"/>
                <a:gd name="T56" fmla="*/ 32 w 69"/>
                <a:gd name="T57" fmla="*/ 27 h 69"/>
                <a:gd name="T58" fmla="*/ 32 w 69"/>
                <a:gd name="T59" fmla="*/ 29 h 69"/>
                <a:gd name="T60" fmla="*/ 24 w 69"/>
                <a:gd name="T61" fmla="*/ 32 h 69"/>
                <a:gd name="T62" fmla="*/ 27 w 69"/>
                <a:gd name="T63" fmla="*/ 32 h 69"/>
                <a:gd name="T64" fmla="*/ 27 w 69"/>
                <a:gd name="T65" fmla="*/ 34 h 69"/>
                <a:gd name="T66" fmla="*/ 24 w 69"/>
                <a:gd name="T67" fmla="*/ 34 h 69"/>
                <a:gd name="T68" fmla="*/ 24 w 69"/>
                <a:gd name="T69" fmla="*/ 32 h 69"/>
                <a:gd name="T70" fmla="*/ 29 w 69"/>
                <a:gd name="T71" fmla="*/ 39 h 69"/>
                <a:gd name="T72" fmla="*/ 29 w 69"/>
                <a:gd name="T73" fmla="*/ 36 h 69"/>
                <a:gd name="T74" fmla="*/ 32 w 69"/>
                <a:gd name="T75" fmla="*/ 36 h 69"/>
                <a:gd name="T76" fmla="*/ 32 w 69"/>
                <a:gd name="T77" fmla="*/ 39 h 69"/>
                <a:gd name="T78" fmla="*/ 29 w 69"/>
                <a:gd name="T79" fmla="*/ 39 h 69"/>
                <a:gd name="T80" fmla="*/ 47 w 69"/>
                <a:gd name="T81" fmla="*/ 34 h 69"/>
                <a:gd name="T82" fmla="*/ 44 w 69"/>
                <a:gd name="T83" fmla="*/ 34 h 69"/>
                <a:gd name="T84" fmla="*/ 44 w 69"/>
                <a:gd name="T85" fmla="*/ 31 h 69"/>
                <a:gd name="T86" fmla="*/ 47 w 69"/>
                <a:gd name="T87" fmla="*/ 31 h 69"/>
                <a:gd name="T88" fmla="*/ 47 w 69"/>
                <a:gd name="T89" fmla="*/ 34 h 69"/>
                <a:gd name="T90" fmla="*/ 42 w 69"/>
                <a:gd name="T91" fmla="*/ 29 h 69"/>
                <a:gd name="T92" fmla="*/ 39 w 69"/>
                <a:gd name="T93" fmla="*/ 29 h 69"/>
                <a:gd name="T94" fmla="*/ 39 w 69"/>
                <a:gd name="T95" fmla="*/ 26 h 69"/>
                <a:gd name="T96" fmla="*/ 42 w 69"/>
                <a:gd name="T97" fmla="*/ 26 h 69"/>
                <a:gd name="T98" fmla="*/ 42 w 69"/>
                <a:gd name="T99" fmla="*/ 29 h 69"/>
                <a:gd name="T100" fmla="*/ 39 w 69"/>
                <a:gd name="T101" fmla="*/ 36 h 69"/>
                <a:gd name="T102" fmla="*/ 42 w 69"/>
                <a:gd name="T103" fmla="*/ 36 h 69"/>
                <a:gd name="T104" fmla="*/ 42 w 69"/>
                <a:gd name="T105" fmla="*/ 39 h 69"/>
                <a:gd name="T106" fmla="*/ 39 w 69"/>
                <a:gd name="T107" fmla="*/ 39 h 69"/>
                <a:gd name="T108" fmla="*/ 39 w 69"/>
                <a:gd name="T109" fmla="*/ 3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9" h="69">
                  <a:moveTo>
                    <a:pt x="66" y="25"/>
                  </a:moveTo>
                  <a:cubicBezTo>
                    <a:pt x="69" y="22"/>
                    <a:pt x="69" y="16"/>
                    <a:pt x="66" y="13"/>
                  </a:cubicBezTo>
                  <a:cubicBezTo>
                    <a:pt x="55" y="3"/>
                    <a:pt x="55" y="3"/>
                    <a:pt x="55" y="3"/>
                  </a:cubicBezTo>
                  <a:cubicBezTo>
                    <a:pt x="54" y="1"/>
                    <a:pt x="52" y="0"/>
                    <a:pt x="49" y="0"/>
                  </a:cubicBezTo>
                  <a:cubicBezTo>
                    <a:pt x="47" y="0"/>
                    <a:pt x="45" y="1"/>
                    <a:pt x="43" y="3"/>
                  </a:cubicBezTo>
                  <a:cubicBezTo>
                    <a:pt x="3" y="42"/>
                    <a:pt x="3" y="42"/>
                    <a:pt x="3" y="42"/>
                  </a:cubicBezTo>
                  <a:cubicBezTo>
                    <a:pt x="0" y="46"/>
                    <a:pt x="0" y="51"/>
                    <a:pt x="3" y="55"/>
                  </a:cubicBezTo>
                  <a:cubicBezTo>
                    <a:pt x="13" y="65"/>
                    <a:pt x="13" y="65"/>
                    <a:pt x="13" y="65"/>
                  </a:cubicBezTo>
                  <a:cubicBezTo>
                    <a:pt x="17" y="69"/>
                    <a:pt x="22" y="69"/>
                    <a:pt x="26" y="65"/>
                  </a:cubicBezTo>
                  <a:lnTo>
                    <a:pt x="66" y="25"/>
                  </a:lnTo>
                  <a:close/>
                  <a:moveTo>
                    <a:pt x="37" y="34"/>
                  </a:moveTo>
                  <a:cubicBezTo>
                    <a:pt x="36" y="35"/>
                    <a:pt x="35" y="35"/>
                    <a:pt x="34" y="34"/>
                  </a:cubicBezTo>
                  <a:cubicBezTo>
                    <a:pt x="33" y="34"/>
                    <a:pt x="33" y="32"/>
                    <a:pt x="34" y="31"/>
                  </a:cubicBezTo>
                  <a:cubicBezTo>
                    <a:pt x="35" y="31"/>
                    <a:pt x="36" y="31"/>
                    <a:pt x="37" y="31"/>
                  </a:cubicBezTo>
                  <a:cubicBezTo>
                    <a:pt x="38" y="32"/>
                    <a:pt x="38" y="34"/>
                    <a:pt x="37" y="34"/>
                  </a:cubicBezTo>
                  <a:close/>
                  <a:moveTo>
                    <a:pt x="37" y="44"/>
                  </a:moveTo>
                  <a:cubicBezTo>
                    <a:pt x="36" y="45"/>
                    <a:pt x="35" y="45"/>
                    <a:pt x="34" y="44"/>
                  </a:cubicBezTo>
                  <a:cubicBezTo>
                    <a:pt x="33" y="43"/>
                    <a:pt x="33" y="42"/>
                    <a:pt x="34" y="41"/>
                  </a:cubicBezTo>
                  <a:cubicBezTo>
                    <a:pt x="35" y="41"/>
                    <a:pt x="36" y="41"/>
                    <a:pt x="37" y="41"/>
                  </a:cubicBezTo>
                  <a:cubicBezTo>
                    <a:pt x="38" y="42"/>
                    <a:pt x="38" y="43"/>
                    <a:pt x="37" y="44"/>
                  </a:cubicBezTo>
                  <a:close/>
                  <a:moveTo>
                    <a:pt x="37" y="24"/>
                  </a:moveTo>
                  <a:cubicBezTo>
                    <a:pt x="36" y="25"/>
                    <a:pt x="35" y="25"/>
                    <a:pt x="34" y="24"/>
                  </a:cubicBezTo>
                  <a:cubicBezTo>
                    <a:pt x="33" y="24"/>
                    <a:pt x="33" y="22"/>
                    <a:pt x="34" y="21"/>
                  </a:cubicBezTo>
                  <a:cubicBezTo>
                    <a:pt x="35" y="21"/>
                    <a:pt x="36" y="21"/>
                    <a:pt x="37" y="21"/>
                  </a:cubicBezTo>
                  <a:cubicBezTo>
                    <a:pt x="38" y="22"/>
                    <a:pt x="38" y="24"/>
                    <a:pt x="37" y="24"/>
                  </a:cubicBezTo>
                  <a:close/>
                  <a:moveTo>
                    <a:pt x="32" y="29"/>
                  </a:moveTo>
                  <a:cubicBezTo>
                    <a:pt x="31" y="30"/>
                    <a:pt x="30" y="30"/>
                    <a:pt x="29" y="29"/>
                  </a:cubicBezTo>
                  <a:cubicBezTo>
                    <a:pt x="28" y="29"/>
                    <a:pt x="28" y="27"/>
                    <a:pt x="29" y="27"/>
                  </a:cubicBezTo>
                  <a:cubicBezTo>
                    <a:pt x="30" y="26"/>
                    <a:pt x="31" y="26"/>
                    <a:pt x="32" y="27"/>
                  </a:cubicBezTo>
                  <a:cubicBezTo>
                    <a:pt x="33" y="27"/>
                    <a:pt x="33" y="29"/>
                    <a:pt x="32" y="29"/>
                  </a:cubicBezTo>
                  <a:close/>
                  <a:moveTo>
                    <a:pt x="24" y="32"/>
                  </a:moveTo>
                  <a:cubicBezTo>
                    <a:pt x="25" y="31"/>
                    <a:pt x="26" y="31"/>
                    <a:pt x="27" y="32"/>
                  </a:cubicBezTo>
                  <a:cubicBezTo>
                    <a:pt x="28" y="32"/>
                    <a:pt x="28" y="34"/>
                    <a:pt x="27" y="34"/>
                  </a:cubicBezTo>
                  <a:cubicBezTo>
                    <a:pt x="26" y="35"/>
                    <a:pt x="25" y="35"/>
                    <a:pt x="24" y="34"/>
                  </a:cubicBezTo>
                  <a:cubicBezTo>
                    <a:pt x="23" y="34"/>
                    <a:pt x="23" y="32"/>
                    <a:pt x="24" y="32"/>
                  </a:cubicBezTo>
                  <a:close/>
                  <a:moveTo>
                    <a:pt x="29" y="39"/>
                  </a:moveTo>
                  <a:cubicBezTo>
                    <a:pt x="28" y="38"/>
                    <a:pt x="28" y="37"/>
                    <a:pt x="29" y="36"/>
                  </a:cubicBezTo>
                  <a:cubicBezTo>
                    <a:pt x="30" y="36"/>
                    <a:pt x="31" y="36"/>
                    <a:pt x="32" y="36"/>
                  </a:cubicBezTo>
                  <a:cubicBezTo>
                    <a:pt x="33" y="37"/>
                    <a:pt x="33" y="38"/>
                    <a:pt x="32" y="39"/>
                  </a:cubicBezTo>
                  <a:cubicBezTo>
                    <a:pt x="31" y="40"/>
                    <a:pt x="30" y="40"/>
                    <a:pt x="29" y="39"/>
                  </a:cubicBezTo>
                  <a:close/>
                  <a:moveTo>
                    <a:pt x="47" y="34"/>
                  </a:moveTo>
                  <a:cubicBezTo>
                    <a:pt x="46" y="35"/>
                    <a:pt x="45" y="35"/>
                    <a:pt x="44" y="34"/>
                  </a:cubicBezTo>
                  <a:cubicBezTo>
                    <a:pt x="43" y="33"/>
                    <a:pt x="43" y="32"/>
                    <a:pt x="44" y="31"/>
                  </a:cubicBezTo>
                  <a:cubicBezTo>
                    <a:pt x="45" y="30"/>
                    <a:pt x="46" y="30"/>
                    <a:pt x="47" y="31"/>
                  </a:cubicBezTo>
                  <a:cubicBezTo>
                    <a:pt x="48" y="32"/>
                    <a:pt x="48" y="33"/>
                    <a:pt x="47" y="34"/>
                  </a:cubicBezTo>
                  <a:close/>
                  <a:moveTo>
                    <a:pt x="42" y="29"/>
                  </a:moveTo>
                  <a:cubicBezTo>
                    <a:pt x="41" y="30"/>
                    <a:pt x="40" y="30"/>
                    <a:pt x="39" y="29"/>
                  </a:cubicBezTo>
                  <a:cubicBezTo>
                    <a:pt x="38" y="28"/>
                    <a:pt x="38" y="27"/>
                    <a:pt x="39" y="26"/>
                  </a:cubicBezTo>
                  <a:cubicBezTo>
                    <a:pt x="40" y="26"/>
                    <a:pt x="41" y="26"/>
                    <a:pt x="42" y="26"/>
                  </a:cubicBezTo>
                  <a:cubicBezTo>
                    <a:pt x="43" y="27"/>
                    <a:pt x="43" y="28"/>
                    <a:pt x="42" y="29"/>
                  </a:cubicBezTo>
                  <a:close/>
                  <a:moveTo>
                    <a:pt x="39" y="36"/>
                  </a:moveTo>
                  <a:cubicBezTo>
                    <a:pt x="40" y="36"/>
                    <a:pt x="41" y="36"/>
                    <a:pt x="42" y="36"/>
                  </a:cubicBezTo>
                  <a:cubicBezTo>
                    <a:pt x="42" y="37"/>
                    <a:pt x="42" y="38"/>
                    <a:pt x="42" y="39"/>
                  </a:cubicBezTo>
                  <a:cubicBezTo>
                    <a:pt x="41" y="40"/>
                    <a:pt x="40" y="40"/>
                    <a:pt x="39" y="39"/>
                  </a:cubicBezTo>
                  <a:cubicBezTo>
                    <a:pt x="38" y="38"/>
                    <a:pt x="38" y="37"/>
                    <a:pt x="39"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6" name="Freeform 62">
            <a:extLst>
              <a:ext uri="{FF2B5EF4-FFF2-40B4-BE49-F238E27FC236}">
                <a16:creationId xmlns:a16="http://schemas.microsoft.com/office/drawing/2014/main" id="{4D621D12-FE42-434F-B854-309612B16045}"/>
              </a:ext>
            </a:extLst>
          </p:cNvPr>
          <p:cNvSpPr>
            <a:spLocks/>
          </p:cNvSpPr>
          <p:nvPr/>
        </p:nvSpPr>
        <p:spPr bwMode="auto">
          <a:xfrm>
            <a:off x="5830861" y="2526364"/>
            <a:ext cx="301623" cy="337822"/>
          </a:xfrm>
          <a:custGeom>
            <a:avLst/>
            <a:gdLst>
              <a:gd name="T0" fmla="*/ 47 w 66"/>
              <a:gd name="T1" fmla="*/ 33 h 74"/>
              <a:gd name="T2" fmla="*/ 41 w 66"/>
              <a:gd name="T3" fmla="*/ 31 h 74"/>
              <a:gd name="T4" fmla="*/ 33 w 66"/>
              <a:gd name="T5" fmla="*/ 12 h 74"/>
              <a:gd name="T6" fmla="*/ 35 w 66"/>
              <a:gd name="T7" fmla="*/ 7 h 74"/>
              <a:gd name="T8" fmla="*/ 40 w 66"/>
              <a:gd name="T9" fmla="*/ 8 h 74"/>
              <a:gd name="T10" fmla="*/ 43 w 66"/>
              <a:gd name="T11" fmla="*/ 5 h 74"/>
              <a:gd name="T12" fmla="*/ 39 w 66"/>
              <a:gd name="T13" fmla="*/ 0 h 74"/>
              <a:gd name="T14" fmla="*/ 35 w 66"/>
              <a:gd name="T15" fmla="*/ 2 h 74"/>
              <a:gd name="T16" fmla="*/ 27 w 66"/>
              <a:gd name="T17" fmla="*/ 12 h 74"/>
              <a:gd name="T18" fmla="*/ 37 w 66"/>
              <a:gd name="T19" fmla="*/ 34 h 74"/>
              <a:gd name="T20" fmla="*/ 44 w 66"/>
              <a:gd name="T21" fmla="*/ 45 h 74"/>
              <a:gd name="T22" fmla="*/ 44 w 66"/>
              <a:gd name="T23" fmla="*/ 58 h 74"/>
              <a:gd name="T24" fmla="*/ 44 w 66"/>
              <a:gd name="T25" fmla="*/ 58 h 74"/>
              <a:gd name="T26" fmla="*/ 31 w 66"/>
              <a:gd name="T27" fmla="*/ 67 h 74"/>
              <a:gd name="T28" fmla="*/ 25 w 66"/>
              <a:gd name="T29" fmla="*/ 57 h 74"/>
              <a:gd name="T30" fmla="*/ 25 w 66"/>
              <a:gd name="T31" fmla="*/ 42 h 74"/>
              <a:gd name="T32" fmla="*/ 19 w 66"/>
              <a:gd name="T33" fmla="*/ 31 h 74"/>
              <a:gd name="T34" fmla="*/ 16 w 66"/>
              <a:gd name="T35" fmla="*/ 28 h 74"/>
              <a:gd name="T36" fmla="*/ 14 w 66"/>
              <a:gd name="T37" fmla="*/ 22 h 74"/>
              <a:gd name="T38" fmla="*/ 6 w 66"/>
              <a:gd name="T39" fmla="*/ 19 h 74"/>
              <a:gd name="T40" fmla="*/ 1 w 66"/>
              <a:gd name="T41" fmla="*/ 28 h 74"/>
              <a:gd name="T42" fmla="*/ 7 w 66"/>
              <a:gd name="T43" fmla="*/ 34 h 74"/>
              <a:gd name="T44" fmla="*/ 12 w 66"/>
              <a:gd name="T45" fmla="*/ 33 h 74"/>
              <a:gd name="T46" fmla="*/ 16 w 66"/>
              <a:gd name="T47" fmla="*/ 35 h 74"/>
              <a:gd name="T48" fmla="*/ 19 w 66"/>
              <a:gd name="T49" fmla="*/ 42 h 74"/>
              <a:gd name="T50" fmla="*/ 19 w 66"/>
              <a:gd name="T51" fmla="*/ 58 h 74"/>
              <a:gd name="T52" fmla="*/ 19 w 66"/>
              <a:gd name="T53" fmla="*/ 58 h 74"/>
              <a:gd name="T54" fmla="*/ 36 w 66"/>
              <a:gd name="T55" fmla="*/ 73 h 74"/>
              <a:gd name="T56" fmla="*/ 50 w 66"/>
              <a:gd name="T57" fmla="*/ 57 h 74"/>
              <a:gd name="T58" fmla="*/ 50 w 66"/>
              <a:gd name="T59" fmla="*/ 45 h 74"/>
              <a:gd name="T60" fmla="*/ 56 w 66"/>
              <a:gd name="T61" fmla="*/ 34 h 74"/>
              <a:gd name="T62" fmla="*/ 66 w 66"/>
              <a:gd name="T63" fmla="*/ 12 h 74"/>
              <a:gd name="T64" fmla="*/ 58 w 66"/>
              <a:gd name="T65" fmla="*/ 2 h 74"/>
              <a:gd name="T66" fmla="*/ 54 w 66"/>
              <a:gd name="T67" fmla="*/ 0 h 74"/>
              <a:gd name="T68" fmla="*/ 51 w 66"/>
              <a:gd name="T69" fmla="*/ 3 h 74"/>
              <a:gd name="T70" fmla="*/ 55 w 66"/>
              <a:gd name="T71" fmla="*/ 8 h 74"/>
              <a:gd name="T72" fmla="*/ 58 w 66"/>
              <a:gd name="T73" fmla="*/ 7 h 74"/>
              <a:gd name="T74" fmla="*/ 61 w 66"/>
              <a:gd name="T75" fmla="*/ 12 h 74"/>
              <a:gd name="T76" fmla="*/ 52 w 66"/>
              <a:gd name="T77" fmla="*/ 31 h 74"/>
              <a:gd name="T78" fmla="*/ 47 w 66"/>
              <a:gd name="T79" fmla="*/ 3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6" h="74">
                <a:moveTo>
                  <a:pt x="47" y="33"/>
                </a:moveTo>
                <a:cubicBezTo>
                  <a:pt x="45" y="33"/>
                  <a:pt x="43" y="32"/>
                  <a:pt x="41" y="31"/>
                </a:cubicBezTo>
                <a:cubicBezTo>
                  <a:pt x="39" y="29"/>
                  <a:pt x="33" y="20"/>
                  <a:pt x="33" y="12"/>
                </a:cubicBezTo>
                <a:cubicBezTo>
                  <a:pt x="33" y="10"/>
                  <a:pt x="34" y="7"/>
                  <a:pt x="35" y="7"/>
                </a:cubicBezTo>
                <a:cubicBezTo>
                  <a:pt x="36" y="8"/>
                  <a:pt x="38" y="9"/>
                  <a:pt x="40" y="8"/>
                </a:cubicBezTo>
                <a:cubicBezTo>
                  <a:pt x="41" y="8"/>
                  <a:pt x="42" y="7"/>
                  <a:pt x="43" y="5"/>
                </a:cubicBezTo>
                <a:cubicBezTo>
                  <a:pt x="43" y="3"/>
                  <a:pt x="41" y="0"/>
                  <a:pt x="39" y="0"/>
                </a:cubicBezTo>
                <a:cubicBezTo>
                  <a:pt x="37" y="0"/>
                  <a:pt x="36" y="1"/>
                  <a:pt x="35" y="2"/>
                </a:cubicBezTo>
                <a:cubicBezTo>
                  <a:pt x="31" y="3"/>
                  <a:pt x="27" y="6"/>
                  <a:pt x="27" y="12"/>
                </a:cubicBezTo>
                <a:cubicBezTo>
                  <a:pt x="27" y="22"/>
                  <a:pt x="35" y="32"/>
                  <a:pt x="37" y="34"/>
                </a:cubicBezTo>
                <a:cubicBezTo>
                  <a:pt x="40" y="37"/>
                  <a:pt x="44" y="43"/>
                  <a:pt x="44" y="45"/>
                </a:cubicBezTo>
                <a:cubicBezTo>
                  <a:pt x="44" y="58"/>
                  <a:pt x="44" y="58"/>
                  <a:pt x="44" y="58"/>
                </a:cubicBezTo>
                <a:cubicBezTo>
                  <a:pt x="44" y="58"/>
                  <a:pt x="44" y="58"/>
                  <a:pt x="44" y="58"/>
                </a:cubicBezTo>
                <a:cubicBezTo>
                  <a:pt x="44" y="64"/>
                  <a:pt x="38" y="69"/>
                  <a:pt x="31" y="67"/>
                </a:cubicBezTo>
                <a:cubicBezTo>
                  <a:pt x="27" y="65"/>
                  <a:pt x="25" y="62"/>
                  <a:pt x="25" y="57"/>
                </a:cubicBezTo>
                <a:cubicBezTo>
                  <a:pt x="25" y="42"/>
                  <a:pt x="25" y="42"/>
                  <a:pt x="25" y="42"/>
                </a:cubicBezTo>
                <a:cubicBezTo>
                  <a:pt x="25" y="36"/>
                  <a:pt x="23" y="33"/>
                  <a:pt x="19" y="31"/>
                </a:cubicBezTo>
                <a:cubicBezTo>
                  <a:pt x="16" y="28"/>
                  <a:pt x="16" y="28"/>
                  <a:pt x="16" y="28"/>
                </a:cubicBezTo>
                <a:cubicBezTo>
                  <a:pt x="16" y="26"/>
                  <a:pt x="16" y="24"/>
                  <a:pt x="14" y="22"/>
                </a:cubicBezTo>
                <a:cubicBezTo>
                  <a:pt x="12" y="20"/>
                  <a:pt x="9" y="18"/>
                  <a:pt x="6" y="19"/>
                </a:cubicBezTo>
                <a:cubicBezTo>
                  <a:pt x="3" y="20"/>
                  <a:pt x="0" y="24"/>
                  <a:pt x="1" y="28"/>
                </a:cubicBezTo>
                <a:cubicBezTo>
                  <a:pt x="1" y="31"/>
                  <a:pt x="4" y="33"/>
                  <a:pt x="7" y="34"/>
                </a:cubicBezTo>
                <a:cubicBezTo>
                  <a:pt x="9" y="34"/>
                  <a:pt x="11" y="34"/>
                  <a:pt x="12" y="33"/>
                </a:cubicBezTo>
                <a:cubicBezTo>
                  <a:pt x="16" y="35"/>
                  <a:pt x="16" y="35"/>
                  <a:pt x="16" y="35"/>
                </a:cubicBezTo>
                <a:cubicBezTo>
                  <a:pt x="18" y="36"/>
                  <a:pt x="19" y="38"/>
                  <a:pt x="19" y="42"/>
                </a:cubicBezTo>
                <a:cubicBezTo>
                  <a:pt x="19" y="58"/>
                  <a:pt x="19" y="58"/>
                  <a:pt x="19" y="58"/>
                </a:cubicBezTo>
                <a:cubicBezTo>
                  <a:pt x="19" y="58"/>
                  <a:pt x="19" y="58"/>
                  <a:pt x="19" y="58"/>
                </a:cubicBezTo>
                <a:cubicBezTo>
                  <a:pt x="19" y="67"/>
                  <a:pt x="27" y="74"/>
                  <a:pt x="36" y="73"/>
                </a:cubicBezTo>
                <a:cubicBezTo>
                  <a:pt x="44" y="72"/>
                  <a:pt x="50" y="65"/>
                  <a:pt x="50" y="57"/>
                </a:cubicBezTo>
                <a:cubicBezTo>
                  <a:pt x="50" y="45"/>
                  <a:pt x="50" y="45"/>
                  <a:pt x="50" y="45"/>
                </a:cubicBezTo>
                <a:cubicBezTo>
                  <a:pt x="50" y="43"/>
                  <a:pt x="54" y="37"/>
                  <a:pt x="56" y="34"/>
                </a:cubicBezTo>
                <a:cubicBezTo>
                  <a:pt x="59" y="32"/>
                  <a:pt x="66" y="22"/>
                  <a:pt x="66" y="12"/>
                </a:cubicBezTo>
                <a:cubicBezTo>
                  <a:pt x="66" y="6"/>
                  <a:pt x="63" y="3"/>
                  <a:pt x="58" y="2"/>
                </a:cubicBezTo>
                <a:cubicBezTo>
                  <a:pt x="57" y="1"/>
                  <a:pt x="56" y="0"/>
                  <a:pt x="54" y="0"/>
                </a:cubicBezTo>
                <a:cubicBezTo>
                  <a:pt x="53" y="1"/>
                  <a:pt x="51" y="2"/>
                  <a:pt x="51" y="3"/>
                </a:cubicBezTo>
                <a:cubicBezTo>
                  <a:pt x="50" y="6"/>
                  <a:pt x="52" y="8"/>
                  <a:pt x="55" y="8"/>
                </a:cubicBezTo>
                <a:cubicBezTo>
                  <a:pt x="56" y="8"/>
                  <a:pt x="57" y="8"/>
                  <a:pt x="58" y="7"/>
                </a:cubicBezTo>
                <a:cubicBezTo>
                  <a:pt x="60" y="7"/>
                  <a:pt x="61" y="10"/>
                  <a:pt x="61" y="12"/>
                </a:cubicBezTo>
                <a:cubicBezTo>
                  <a:pt x="61" y="20"/>
                  <a:pt x="54" y="29"/>
                  <a:pt x="52" y="31"/>
                </a:cubicBezTo>
                <a:cubicBezTo>
                  <a:pt x="51" y="32"/>
                  <a:pt x="49" y="33"/>
                  <a:pt x="47" y="3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7" name="Group 76">
            <a:extLst>
              <a:ext uri="{FF2B5EF4-FFF2-40B4-BE49-F238E27FC236}">
                <a16:creationId xmlns:a16="http://schemas.microsoft.com/office/drawing/2014/main" id="{9C54CED3-FB04-4CDF-AF6D-5F1473A8A544}"/>
              </a:ext>
            </a:extLst>
          </p:cNvPr>
          <p:cNvGrpSpPr/>
          <p:nvPr/>
        </p:nvGrpSpPr>
        <p:grpSpPr>
          <a:xfrm>
            <a:off x="6692928" y="2485410"/>
            <a:ext cx="380997" cy="361953"/>
            <a:chOff x="800098" y="2538430"/>
            <a:chExt cx="126999" cy="120651"/>
          </a:xfrm>
          <a:solidFill>
            <a:schemeClr val="accent1"/>
          </a:solidFill>
        </p:grpSpPr>
        <p:sp>
          <p:nvSpPr>
            <p:cNvPr id="78" name="Freeform 63">
              <a:extLst>
                <a:ext uri="{FF2B5EF4-FFF2-40B4-BE49-F238E27FC236}">
                  <a16:creationId xmlns:a16="http://schemas.microsoft.com/office/drawing/2014/main" id="{C8094C68-DF2D-42D5-93FC-34EA76BA0C1A}"/>
                </a:ext>
              </a:extLst>
            </p:cNvPr>
            <p:cNvSpPr>
              <a:spLocks noEditPoints="1"/>
            </p:cNvSpPr>
            <p:nvPr/>
          </p:nvSpPr>
          <p:spPr bwMode="auto">
            <a:xfrm>
              <a:off x="800098" y="2538430"/>
              <a:ext cx="126999" cy="120651"/>
            </a:xfrm>
            <a:custGeom>
              <a:avLst/>
              <a:gdLst>
                <a:gd name="T0" fmla="*/ 65 w 71"/>
                <a:gd name="T1" fmla="*/ 28 h 67"/>
                <a:gd name="T2" fmla="*/ 62 w 71"/>
                <a:gd name="T3" fmla="*/ 0 h 67"/>
                <a:gd name="T4" fmla="*/ 58 w 71"/>
                <a:gd name="T5" fmla="*/ 28 h 67"/>
                <a:gd name="T6" fmla="*/ 54 w 71"/>
                <a:gd name="T7" fmla="*/ 32 h 67"/>
                <a:gd name="T8" fmla="*/ 49 w 71"/>
                <a:gd name="T9" fmla="*/ 32 h 67"/>
                <a:gd name="T10" fmla="*/ 24 w 71"/>
                <a:gd name="T11" fmla="*/ 24 h 67"/>
                <a:gd name="T12" fmla="*/ 0 w 71"/>
                <a:gd name="T13" fmla="*/ 25 h 67"/>
                <a:gd name="T14" fmla="*/ 0 w 71"/>
                <a:gd name="T15" fmla="*/ 37 h 67"/>
                <a:gd name="T16" fmla="*/ 71 w 71"/>
                <a:gd name="T17" fmla="*/ 67 h 67"/>
                <a:gd name="T18" fmla="*/ 65 w 71"/>
                <a:gd name="T19" fmla="*/ 32 h 67"/>
                <a:gd name="T20" fmla="*/ 11 w 71"/>
                <a:gd name="T21" fmla="*/ 58 h 67"/>
                <a:gd name="T22" fmla="*/ 18 w 71"/>
                <a:gd name="T23" fmla="*/ 51 h 67"/>
                <a:gd name="T24" fmla="*/ 18 w 71"/>
                <a:gd name="T25" fmla="*/ 47 h 67"/>
                <a:gd name="T26" fmla="*/ 11 w 71"/>
                <a:gd name="T27" fmla="*/ 40 h 67"/>
                <a:gd name="T28" fmla="*/ 18 w 71"/>
                <a:gd name="T29" fmla="*/ 47 h 67"/>
                <a:gd name="T30" fmla="*/ 24 w 71"/>
                <a:gd name="T31" fmla="*/ 58 h 67"/>
                <a:gd name="T32" fmla="*/ 31 w 71"/>
                <a:gd name="T33" fmla="*/ 51 h 67"/>
                <a:gd name="T34" fmla="*/ 31 w 71"/>
                <a:gd name="T35" fmla="*/ 47 h 67"/>
                <a:gd name="T36" fmla="*/ 24 w 71"/>
                <a:gd name="T37" fmla="*/ 40 h 67"/>
                <a:gd name="T38" fmla="*/ 31 w 71"/>
                <a:gd name="T39" fmla="*/ 47 h 67"/>
                <a:gd name="T40" fmla="*/ 38 w 71"/>
                <a:gd name="T41" fmla="*/ 58 h 67"/>
                <a:gd name="T42" fmla="*/ 44 w 71"/>
                <a:gd name="T43" fmla="*/ 51 h 67"/>
                <a:gd name="T44" fmla="*/ 44 w 71"/>
                <a:gd name="T45" fmla="*/ 47 h 67"/>
                <a:gd name="T46" fmla="*/ 38 w 71"/>
                <a:gd name="T47" fmla="*/ 40 h 67"/>
                <a:gd name="T48" fmla="*/ 44 w 71"/>
                <a:gd name="T49" fmla="*/ 47 h 67"/>
                <a:gd name="T50" fmla="*/ 64 w 71"/>
                <a:gd name="T51" fmla="*/ 59 h 67"/>
                <a:gd name="T52" fmla="*/ 60 w 71"/>
                <a:gd name="T53" fmla="*/ 59 h 67"/>
                <a:gd name="T54" fmla="*/ 60 w 71"/>
                <a:gd name="T55" fmla="*/ 56 h 67"/>
                <a:gd name="T56" fmla="*/ 57 w 71"/>
                <a:gd name="T57" fmla="*/ 56 h 67"/>
                <a:gd name="T58" fmla="*/ 54 w 71"/>
                <a:gd name="T59" fmla="*/ 45 h 67"/>
                <a:gd name="T60" fmla="*/ 62 w 71"/>
                <a:gd name="T61" fmla="*/ 48 h 67"/>
                <a:gd name="T62" fmla="*/ 62 w 71"/>
                <a:gd name="T63" fmla="*/ 54 h 67"/>
                <a:gd name="T64" fmla="*/ 66 w 71"/>
                <a:gd name="T65" fmla="*/ 54 h 67"/>
                <a:gd name="T66" fmla="*/ 66 w 71"/>
                <a:gd name="T67" fmla="*/ 5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1" h="67">
                  <a:moveTo>
                    <a:pt x="65" y="32"/>
                  </a:moveTo>
                  <a:cubicBezTo>
                    <a:pt x="65" y="28"/>
                    <a:pt x="65" y="28"/>
                    <a:pt x="65" y="28"/>
                  </a:cubicBezTo>
                  <a:cubicBezTo>
                    <a:pt x="62" y="28"/>
                    <a:pt x="62" y="28"/>
                    <a:pt x="62" y="28"/>
                  </a:cubicBezTo>
                  <a:cubicBezTo>
                    <a:pt x="62" y="0"/>
                    <a:pt x="62" y="0"/>
                    <a:pt x="62" y="0"/>
                  </a:cubicBezTo>
                  <a:cubicBezTo>
                    <a:pt x="58" y="0"/>
                    <a:pt x="58" y="0"/>
                    <a:pt x="58" y="0"/>
                  </a:cubicBezTo>
                  <a:cubicBezTo>
                    <a:pt x="58" y="28"/>
                    <a:pt x="58" y="28"/>
                    <a:pt x="58" y="28"/>
                  </a:cubicBezTo>
                  <a:cubicBezTo>
                    <a:pt x="54" y="28"/>
                    <a:pt x="54" y="28"/>
                    <a:pt x="54" y="28"/>
                  </a:cubicBezTo>
                  <a:cubicBezTo>
                    <a:pt x="54" y="32"/>
                    <a:pt x="54" y="32"/>
                    <a:pt x="54" y="32"/>
                  </a:cubicBezTo>
                  <a:cubicBezTo>
                    <a:pt x="51" y="32"/>
                    <a:pt x="51" y="32"/>
                    <a:pt x="51" y="32"/>
                  </a:cubicBezTo>
                  <a:cubicBezTo>
                    <a:pt x="49" y="32"/>
                    <a:pt x="49" y="32"/>
                    <a:pt x="49" y="32"/>
                  </a:cubicBezTo>
                  <a:cubicBezTo>
                    <a:pt x="49" y="13"/>
                    <a:pt x="49" y="13"/>
                    <a:pt x="49" y="13"/>
                  </a:cubicBezTo>
                  <a:cubicBezTo>
                    <a:pt x="24" y="24"/>
                    <a:pt x="24" y="24"/>
                    <a:pt x="24" y="24"/>
                  </a:cubicBezTo>
                  <a:cubicBezTo>
                    <a:pt x="24" y="13"/>
                    <a:pt x="24" y="13"/>
                    <a:pt x="24" y="13"/>
                  </a:cubicBezTo>
                  <a:cubicBezTo>
                    <a:pt x="0" y="25"/>
                    <a:pt x="0" y="25"/>
                    <a:pt x="0" y="25"/>
                  </a:cubicBezTo>
                  <a:cubicBezTo>
                    <a:pt x="0" y="32"/>
                    <a:pt x="0" y="32"/>
                    <a:pt x="0" y="32"/>
                  </a:cubicBezTo>
                  <a:cubicBezTo>
                    <a:pt x="0" y="37"/>
                    <a:pt x="0" y="37"/>
                    <a:pt x="0" y="37"/>
                  </a:cubicBezTo>
                  <a:cubicBezTo>
                    <a:pt x="0" y="67"/>
                    <a:pt x="0" y="67"/>
                    <a:pt x="0" y="67"/>
                  </a:cubicBezTo>
                  <a:cubicBezTo>
                    <a:pt x="71" y="67"/>
                    <a:pt x="71" y="67"/>
                    <a:pt x="71" y="67"/>
                  </a:cubicBezTo>
                  <a:cubicBezTo>
                    <a:pt x="71" y="32"/>
                    <a:pt x="71" y="32"/>
                    <a:pt x="71" y="32"/>
                  </a:cubicBezTo>
                  <a:lnTo>
                    <a:pt x="65" y="32"/>
                  </a:lnTo>
                  <a:close/>
                  <a:moveTo>
                    <a:pt x="18" y="58"/>
                  </a:moveTo>
                  <a:cubicBezTo>
                    <a:pt x="11" y="58"/>
                    <a:pt x="11" y="58"/>
                    <a:pt x="11" y="58"/>
                  </a:cubicBezTo>
                  <a:cubicBezTo>
                    <a:pt x="11" y="51"/>
                    <a:pt x="11" y="51"/>
                    <a:pt x="11" y="51"/>
                  </a:cubicBezTo>
                  <a:cubicBezTo>
                    <a:pt x="18" y="51"/>
                    <a:pt x="18" y="51"/>
                    <a:pt x="18" y="51"/>
                  </a:cubicBezTo>
                  <a:lnTo>
                    <a:pt x="18" y="58"/>
                  </a:lnTo>
                  <a:close/>
                  <a:moveTo>
                    <a:pt x="18" y="47"/>
                  </a:moveTo>
                  <a:cubicBezTo>
                    <a:pt x="11" y="47"/>
                    <a:pt x="11" y="47"/>
                    <a:pt x="11" y="47"/>
                  </a:cubicBezTo>
                  <a:cubicBezTo>
                    <a:pt x="11" y="40"/>
                    <a:pt x="11" y="40"/>
                    <a:pt x="11" y="40"/>
                  </a:cubicBezTo>
                  <a:cubicBezTo>
                    <a:pt x="18" y="40"/>
                    <a:pt x="18" y="40"/>
                    <a:pt x="18" y="40"/>
                  </a:cubicBezTo>
                  <a:lnTo>
                    <a:pt x="18" y="47"/>
                  </a:lnTo>
                  <a:close/>
                  <a:moveTo>
                    <a:pt x="31" y="58"/>
                  </a:moveTo>
                  <a:cubicBezTo>
                    <a:pt x="24" y="58"/>
                    <a:pt x="24" y="58"/>
                    <a:pt x="24" y="58"/>
                  </a:cubicBezTo>
                  <a:cubicBezTo>
                    <a:pt x="24" y="51"/>
                    <a:pt x="24" y="51"/>
                    <a:pt x="24" y="51"/>
                  </a:cubicBezTo>
                  <a:cubicBezTo>
                    <a:pt x="31" y="51"/>
                    <a:pt x="31" y="51"/>
                    <a:pt x="31" y="51"/>
                  </a:cubicBezTo>
                  <a:lnTo>
                    <a:pt x="31" y="58"/>
                  </a:lnTo>
                  <a:close/>
                  <a:moveTo>
                    <a:pt x="31" y="47"/>
                  </a:moveTo>
                  <a:cubicBezTo>
                    <a:pt x="24" y="47"/>
                    <a:pt x="24" y="47"/>
                    <a:pt x="24" y="47"/>
                  </a:cubicBezTo>
                  <a:cubicBezTo>
                    <a:pt x="24" y="40"/>
                    <a:pt x="24" y="40"/>
                    <a:pt x="24" y="40"/>
                  </a:cubicBezTo>
                  <a:cubicBezTo>
                    <a:pt x="31" y="40"/>
                    <a:pt x="31" y="40"/>
                    <a:pt x="31" y="40"/>
                  </a:cubicBezTo>
                  <a:lnTo>
                    <a:pt x="31" y="47"/>
                  </a:lnTo>
                  <a:close/>
                  <a:moveTo>
                    <a:pt x="44" y="58"/>
                  </a:moveTo>
                  <a:cubicBezTo>
                    <a:pt x="38" y="58"/>
                    <a:pt x="38" y="58"/>
                    <a:pt x="38" y="58"/>
                  </a:cubicBezTo>
                  <a:cubicBezTo>
                    <a:pt x="38" y="51"/>
                    <a:pt x="38" y="51"/>
                    <a:pt x="38" y="51"/>
                  </a:cubicBezTo>
                  <a:cubicBezTo>
                    <a:pt x="44" y="51"/>
                    <a:pt x="44" y="51"/>
                    <a:pt x="44" y="51"/>
                  </a:cubicBezTo>
                  <a:lnTo>
                    <a:pt x="44" y="58"/>
                  </a:lnTo>
                  <a:close/>
                  <a:moveTo>
                    <a:pt x="44" y="47"/>
                  </a:moveTo>
                  <a:cubicBezTo>
                    <a:pt x="38" y="47"/>
                    <a:pt x="38" y="47"/>
                    <a:pt x="38" y="47"/>
                  </a:cubicBezTo>
                  <a:cubicBezTo>
                    <a:pt x="38" y="40"/>
                    <a:pt x="38" y="40"/>
                    <a:pt x="38" y="40"/>
                  </a:cubicBezTo>
                  <a:cubicBezTo>
                    <a:pt x="44" y="40"/>
                    <a:pt x="44" y="40"/>
                    <a:pt x="44" y="40"/>
                  </a:cubicBezTo>
                  <a:lnTo>
                    <a:pt x="44" y="47"/>
                  </a:lnTo>
                  <a:close/>
                  <a:moveTo>
                    <a:pt x="66" y="58"/>
                  </a:moveTo>
                  <a:cubicBezTo>
                    <a:pt x="64" y="59"/>
                    <a:pt x="64" y="59"/>
                    <a:pt x="64" y="59"/>
                  </a:cubicBezTo>
                  <a:cubicBezTo>
                    <a:pt x="62" y="57"/>
                    <a:pt x="62" y="57"/>
                    <a:pt x="62" y="57"/>
                  </a:cubicBezTo>
                  <a:cubicBezTo>
                    <a:pt x="60" y="59"/>
                    <a:pt x="60" y="59"/>
                    <a:pt x="60" y="59"/>
                  </a:cubicBezTo>
                  <a:cubicBezTo>
                    <a:pt x="58" y="58"/>
                    <a:pt x="58" y="58"/>
                    <a:pt x="58" y="58"/>
                  </a:cubicBezTo>
                  <a:cubicBezTo>
                    <a:pt x="60" y="56"/>
                    <a:pt x="60" y="56"/>
                    <a:pt x="60" y="56"/>
                  </a:cubicBezTo>
                  <a:cubicBezTo>
                    <a:pt x="57" y="52"/>
                    <a:pt x="57" y="52"/>
                    <a:pt x="57" y="52"/>
                  </a:cubicBezTo>
                  <a:cubicBezTo>
                    <a:pt x="57" y="56"/>
                    <a:pt x="57" y="56"/>
                    <a:pt x="57" y="56"/>
                  </a:cubicBezTo>
                  <a:cubicBezTo>
                    <a:pt x="54" y="56"/>
                    <a:pt x="54" y="56"/>
                    <a:pt x="54" y="56"/>
                  </a:cubicBezTo>
                  <a:cubicBezTo>
                    <a:pt x="54" y="45"/>
                    <a:pt x="54" y="45"/>
                    <a:pt x="54" y="45"/>
                  </a:cubicBezTo>
                  <a:cubicBezTo>
                    <a:pt x="59" y="45"/>
                    <a:pt x="59" y="45"/>
                    <a:pt x="59" y="45"/>
                  </a:cubicBezTo>
                  <a:cubicBezTo>
                    <a:pt x="61" y="45"/>
                    <a:pt x="62" y="46"/>
                    <a:pt x="62" y="48"/>
                  </a:cubicBezTo>
                  <a:cubicBezTo>
                    <a:pt x="62" y="50"/>
                    <a:pt x="61" y="51"/>
                    <a:pt x="60" y="52"/>
                  </a:cubicBezTo>
                  <a:cubicBezTo>
                    <a:pt x="62" y="54"/>
                    <a:pt x="62" y="54"/>
                    <a:pt x="62" y="54"/>
                  </a:cubicBezTo>
                  <a:cubicBezTo>
                    <a:pt x="64" y="52"/>
                    <a:pt x="64" y="52"/>
                    <a:pt x="64" y="52"/>
                  </a:cubicBezTo>
                  <a:cubicBezTo>
                    <a:pt x="66" y="54"/>
                    <a:pt x="66" y="54"/>
                    <a:pt x="66" y="54"/>
                  </a:cubicBezTo>
                  <a:cubicBezTo>
                    <a:pt x="64" y="56"/>
                    <a:pt x="64" y="56"/>
                    <a:pt x="64" y="56"/>
                  </a:cubicBezTo>
                  <a:lnTo>
                    <a:pt x="66"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64">
              <a:extLst>
                <a:ext uri="{FF2B5EF4-FFF2-40B4-BE49-F238E27FC236}">
                  <a16:creationId xmlns:a16="http://schemas.microsoft.com/office/drawing/2014/main" id="{E44EB3BB-75D6-49B5-90F5-0EDF22FC99AB}"/>
                </a:ext>
              </a:extLst>
            </p:cNvPr>
            <p:cNvSpPr>
              <a:spLocks/>
            </p:cNvSpPr>
            <p:nvPr/>
          </p:nvSpPr>
          <p:spPr bwMode="auto">
            <a:xfrm>
              <a:off x="901697" y="2624156"/>
              <a:ext cx="6350" cy="4763"/>
            </a:xfrm>
            <a:custGeom>
              <a:avLst/>
              <a:gdLst>
                <a:gd name="T0" fmla="*/ 2 w 3"/>
                <a:gd name="T1" fmla="*/ 0 h 3"/>
                <a:gd name="T2" fmla="*/ 0 w 3"/>
                <a:gd name="T3" fmla="*/ 0 h 3"/>
                <a:gd name="T4" fmla="*/ 0 w 3"/>
                <a:gd name="T5" fmla="*/ 3 h 3"/>
                <a:gd name="T6" fmla="*/ 2 w 3"/>
                <a:gd name="T7" fmla="*/ 3 h 3"/>
                <a:gd name="T8" fmla="*/ 3 w 3"/>
                <a:gd name="T9" fmla="*/ 1 h 3"/>
                <a:gd name="T10" fmla="*/ 2 w 3"/>
                <a:gd name="T11" fmla="*/ 0 h 3"/>
              </a:gdLst>
              <a:ahLst/>
              <a:cxnLst>
                <a:cxn ang="0">
                  <a:pos x="T0" y="T1"/>
                </a:cxn>
                <a:cxn ang="0">
                  <a:pos x="T2" y="T3"/>
                </a:cxn>
                <a:cxn ang="0">
                  <a:pos x="T4" y="T5"/>
                </a:cxn>
                <a:cxn ang="0">
                  <a:pos x="T6" y="T7"/>
                </a:cxn>
                <a:cxn ang="0">
                  <a:pos x="T8" y="T9"/>
                </a:cxn>
                <a:cxn ang="0">
                  <a:pos x="T10" y="T11"/>
                </a:cxn>
              </a:cxnLst>
              <a:rect l="0" t="0" r="r" b="b"/>
              <a:pathLst>
                <a:path w="3" h="3">
                  <a:moveTo>
                    <a:pt x="2" y="0"/>
                  </a:moveTo>
                  <a:cubicBezTo>
                    <a:pt x="0" y="0"/>
                    <a:pt x="0" y="0"/>
                    <a:pt x="0" y="0"/>
                  </a:cubicBezTo>
                  <a:cubicBezTo>
                    <a:pt x="0" y="3"/>
                    <a:pt x="0" y="3"/>
                    <a:pt x="0" y="3"/>
                  </a:cubicBezTo>
                  <a:cubicBezTo>
                    <a:pt x="2" y="3"/>
                    <a:pt x="2" y="3"/>
                    <a:pt x="2" y="3"/>
                  </a:cubicBezTo>
                  <a:cubicBezTo>
                    <a:pt x="2" y="3"/>
                    <a:pt x="3" y="2"/>
                    <a:pt x="3"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0" name="Group 79">
            <a:extLst>
              <a:ext uri="{FF2B5EF4-FFF2-40B4-BE49-F238E27FC236}">
                <a16:creationId xmlns:a16="http://schemas.microsoft.com/office/drawing/2014/main" id="{5686012B-6C14-4835-8F4C-DD3B17BD6504}"/>
              </a:ext>
            </a:extLst>
          </p:cNvPr>
          <p:cNvGrpSpPr/>
          <p:nvPr/>
        </p:nvGrpSpPr>
        <p:grpSpPr>
          <a:xfrm>
            <a:off x="6708646" y="3447430"/>
            <a:ext cx="332698" cy="286956"/>
            <a:chOff x="1835140" y="2543193"/>
            <a:chExt cx="126999" cy="109538"/>
          </a:xfrm>
          <a:solidFill>
            <a:schemeClr val="accent1"/>
          </a:solidFill>
        </p:grpSpPr>
        <p:sp>
          <p:nvSpPr>
            <p:cNvPr id="81" name="Freeform 65">
              <a:extLst>
                <a:ext uri="{FF2B5EF4-FFF2-40B4-BE49-F238E27FC236}">
                  <a16:creationId xmlns:a16="http://schemas.microsoft.com/office/drawing/2014/main" id="{5CF6DD56-8A65-4E55-950E-F1E4AFF25A61}"/>
                </a:ext>
              </a:extLst>
            </p:cNvPr>
            <p:cNvSpPr>
              <a:spLocks/>
            </p:cNvSpPr>
            <p:nvPr/>
          </p:nvSpPr>
          <p:spPr bwMode="auto">
            <a:xfrm>
              <a:off x="1835140" y="2560655"/>
              <a:ext cx="17462" cy="92076"/>
            </a:xfrm>
            <a:custGeom>
              <a:avLst/>
              <a:gdLst>
                <a:gd name="T0" fmla="*/ 3 w 10"/>
                <a:gd name="T1" fmla="*/ 3 h 51"/>
                <a:gd name="T2" fmla="*/ 0 w 10"/>
                <a:gd name="T3" fmla="*/ 9 h 51"/>
                <a:gd name="T4" fmla="*/ 0 w 10"/>
                <a:gd name="T5" fmla="*/ 42 h 51"/>
                <a:gd name="T6" fmla="*/ 3 w 10"/>
                <a:gd name="T7" fmla="*/ 48 h 51"/>
                <a:gd name="T8" fmla="*/ 9 w 10"/>
                <a:gd name="T9" fmla="*/ 51 h 51"/>
                <a:gd name="T10" fmla="*/ 10 w 10"/>
                <a:gd name="T11" fmla="*/ 51 h 51"/>
                <a:gd name="T12" fmla="*/ 10 w 10"/>
                <a:gd name="T13" fmla="*/ 0 h 51"/>
                <a:gd name="T14" fmla="*/ 9 w 10"/>
                <a:gd name="T15" fmla="*/ 0 h 51"/>
                <a:gd name="T16" fmla="*/ 3 w 10"/>
                <a:gd name="T1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51">
                  <a:moveTo>
                    <a:pt x="3" y="3"/>
                  </a:moveTo>
                  <a:cubicBezTo>
                    <a:pt x="1" y="5"/>
                    <a:pt x="0" y="7"/>
                    <a:pt x="0" y="9"/>
                  </a:cubicBezTo>
                  <a:cubicBezTo>
                    <a:pt x="0" y="42"/>
                    <a:pt x="0" y="42"/>
                    <a:pt x="0" y="42"/>
                  </a:cubicBezTo>
                  <a:cubicBezTo>
                    <a:pt x="0" y="44"/>
                    <a:pt x="1" y="46"/>
                    <a:pt x="3" y="48"/>
                  </a:cubicBezTo>
                  <a:cubicBezTo>
                    <a:pt x="4" y="50"/>
                    <a:pt x="6" y="51"/>
                    <a:pt x="9" y="51"/>
                  </a:cubicBezTo>
                  <a:cubicBezTo>
                    <a:pt x="10" y="51"/>
                    <a:pt x="10" y="51"/>
                    <a:pt x="10" y="51"/>
                  </a:cubicBezTo>
                  <a:cubicBezTo>
                    <a:pt x="10" y="0"/>
                    <a:pt x="10" y="0"/>
                    <a:pt x="10" y="0"/>
                  </a:cubicBezTo>
                  <a:cubicBezTo>
                    <a:pt x="9" y="0"/>
                    <a:pt x="9" y="0"/>
                    <a:pt x="9" y="0"/>
                  </a:cubicBezTo>
                  <a:cubicBezTo>
                    <a:pt x="6" y="0"/>
                    <a:pt x="4" y="1"/>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66">
              <a:extLst>
                <a:ext uri="{FF2B5EF4-FFF2-40B4-BE49-F238E27FC236}">
                  <a16:creationId xmlns:a16="http://schemas.microsoft.com/office/drawing/2014/main" id="{9905C931-06A0-44B9-AEBE-5D4589F03BB9}"/>
                </a:ext>
              </a:extLst>
            </p:cNvPr>
            <p:cNvSpPr>
              <a:spLocks noEditPoints="1"/>
            </p:cNvSpPr>
            <p:nvPr/>
          </p:nvSpPr>
          <p:spPr bwMode="auto">
            <a:xfrm>
              <a:off x="1860540" y="2543193"/>
              <a:ext cx="76199" cy="109538"/>
            </a:xfrm>
            <a:custGeom>
              <a:avLst/>
              <a:gdLst>
                <a:gd name="T0" fmla="*/ 36 w 43"/>
                <a:gd name="T1" fmla="*/ 4 h 61"/>
                <a:gd name="T2" fmla="*/ 35 w 43"/>
                <a:gd name="T3" fmla="*/ 1 h 61"/>
                <a:gd name="T4" fmla="*/ 33 w 43"/>
                <a:gd name="T5" fmla="*/ 0 h 61"/>
                <a:gd name="T6" fmla="*/ 10 w 43"/>
                <a:gd name="T7" fmla="*/ 0 h 61"/>
                <a:gd name="T8" fmla="*/ 7 w 43"/>
                <a:gd name="T9" fmla="*/ 1 h 61"/>
                <a:gd name="T10" fmla="*/ 6 w 43"/>
                <a:gd name="T11" fmla="*/ 4 h 61"/>
                <a:gd name="T12" fmla="*/ 6 w 43"/>
                <a:gd name="T13" fmla="*/ 10 h 61"/>
                <a:gd name="T14" fmla="*/ 0 w 43"/>
                <a:gd name="T15" fmla="*/ 10 h 61"/>
                <a:gd name="T16" fmla="*/ 0 w 43"/>
                <a:gd name="T17" fmla="*/ 61 h 61"/>
                <a:gd name="T18" fmla="*/ 43 w 43"/>
                <a:gd name="T19" fmla="*/ 61 h 61"/>
                <a:gd name="T20" fmla="*/ 43 w 43"/>
                <a:gd name="T21" fmla="*/ 10 h 61"/>
                <a:gd name="T22" fmla="*/ 36 w 43"/>
                <a:gd name="T23" fmla="*/ 10 h 61"/>
                <a:gd name="T24" fmla="*/ 36 w 43"/>
                <a:gd name="T25" fmla="*/ 4 h 61"/>
                <a:gd name="T26" fmla="*/ 11 w 43"/>
                <a:gd name="T27" fmla="*/ 5 h 61"/>
                <a:gd name="T28" fmla="*/ 31 w 43"/>
                <a:gd name="T29" fmla="*/ 5 h 61"/>
                <a:gd name="T30" fmla="*/ 31 w 43"/>
                <a:gd name="T31" fmla="*/ 10 h 61"/>
                <a:gd name="T32" fmla="*/ 11 w 43"/>
                <a:gd name="T33" fmla="*/ 10 h 61"/>
                <a:gd name="T34" fmla="*/ 11 w 43"/>
                <a:gd name="T35" fmla="*/ 5 h 61"/>
                <a:gd name="T36" fmla="*/ 36 w 43"/>
                <a:gd name="T37" fmla="*/ 39 h 61"/>
                <a:gd name="T38" fmla="*/ 36 w 43"/>
                <a:gd name="T39" fmla="*/ 40 h 61"/>
                <a:gd name="T40" fmla="*/ 35 w 43"/>
                <a:gd name="T41" fmla="*/ 40 h 61"/>
                <a:gd name="T42" fmla="*/ 26 w 43"/>
                <a:gd name="T43" fmla="*/ 40 h 61"/>
                <a:gd name="T44" fmla="*/ 26 w 43"/>
                <a:gd name="T45" fmla="*/ 49 h 61"/>
                <a:gd name="T46" fmla="*/ 26 w 43"/>
                <a:gd name="T47" fmla="*/ 50 h 61"/>
                <a:gd name="T48" fmla="*/ 25 w 43"/>
                <a:gd name="T49" fmla="*/ 50 h 61"/>
                <a:gd name="T50" fmla="*/ 18 w 43"/>
                <a:gd name="T51" fmla="*/ 50 h 61"/>
                <a:gd name="T52" fmla="*/ 17 w 43"/>
                <a:gd name="T53" fmla="*/ 50 h 61"/>
                <a:gd name="T54" fmla="*/ 16 w 43"/>
                <a:gd name="T55" fmla="*/ 49 h 61"/>
                <a:gd name="T56" fmla="*/ 16 w 43"/>
                <a:gd name="T57" fmla="*/ 40 h 61"/>
                <a:gd name="T58" fmla="*/ 7 w 43"/>
                <a:gd name="T59" fmla="*/ 40 h 61"/>
                <a:gd name="T60" fmla="*/ 7 w 43"/>
                <a:gd name="T61" fmla="*/ 40 h 61"/>
                <a:gd name="T62" fmla="*/ 6 w 43"/>
                <a:gd name="T63" fmla="*/ 39 h 61"/>
                <a:gd name="T64" fmla="*/ 6 w 43"/>
                <a:gd name="T65" fmla="*/ 32 h 61"/>
                <a:gd name="T66" fmla="*/ 7 w 43"/>
                <a:gd name="T67" fmla="*/ 31 h 61"/>
                <a:gd name="T68" fmla="*/ 7 w 43"/>
                <a:gd name="T69" fmla="*/ 30 h 61"/>
                <a:gd name="T70" fmla="*/ 16 w 43"/>
                <a:gd name="T71" fmla="*/ 30 h 61"/>
                <a:gd name="T72" fmla="*/ 16 w 43"/>
                <a:gd name="T73" fmla="*/ 22 h 61"/>
                <a:gd name="T74" fmla="*/ 17 w 43"/>
                <a:gd name="T75" fmla="*/ 21 h 61"/>
                <a:gd name="T76" fmla="*/ 18 w 43"/>
                <a:gd name="T77" fmla="*/ 20 h 61"/>
                <a:gd name="T78" fmla="*/ 25 w 43"/>
                <a:gd name="T79" fmla="*/ 20 h 61"/>
                <a:gd name="T80" fmla="*/ 26 w 43"/>
                <a:gd name="T81" fmla="*/ 21 h 61"/>
                <a:gd name="T82" fmla="*/ 26 w 43"/>
                <a:gd name="T83" fmla="*/ 22 h 61"/>
                <a:gd name="T84" fmla="*/ 26 w 43"/>
                <a:gd name="T85" fmla="*/ 30 h 61"/>
                <a:gd name="T86" fmla="*/ 35 w 43"/>
                <a:gd name="T87" fmla="*/ 30 h 61"/>
                <a:gd name="T88" fmla="*/ 36 w 43"/>
                <a:gd name="T89" fmla="*/ 31 h 61"/>
                <a:gd name="T90" fmla="*/ 36 w 43"/>
                <a:gd name="T91" fmla="*/ 32 h 61"/>
                <a:gd name="T92" fmla="*/ 36 w 43"/>
                <a:gd name="T93" fmla="*/ 39 h 61"/>
                <a:gd name="T94" fmla="*/ 36 w 43"/>
                <a:gd name="T95" fmla="*/ 3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61">
                  <a:moveTo>
                    <a:pt x="36" y="4"/>
                  </a:moveTo>
                  <a:cubicBezTo>
                    <a:pt x="36" y="3"/>
                    <a:pt x="36" y="2"/>
                    <a:pt x="35" y="1"/>
                  </a:cubicBezTo>
                  <a:cubicBezTo>
                    <a:pt x="35" y="1"/>
                    <a:pt x="34" y="0"/>
                    <a:pt x="33" y="0"/>
                  </a:cubicBezTo>
                  <a:cubicBezTo>
                    <a:pt x="10" y="0"/>
                    <a:pt x="10" y="0"/>
                    <a:pt x="10" y="0"/>
                  </a:cubicBezTo>
                  <a:cubicBezTo>
                    <a:pt x="9" y="0"/>
                    <a:pt x="8" y="1"/>
                    <a:pt x="7" y="1"/>
                  </a:cubicBezTo>
                  <a:cubicBezTo>
                    <a:pt x="7" y="2"/>
                    <a:pt x="6" y="3"/>
                    <a:pt x="6" y="4"/>
                  </a:cubicBezTo>
                  <a:cubicBezTo>
                    <a:pt x="6" y="10"/>
                    <a:pt x="6" y="10"/>
                    <a:pt x="6" y="10"/>
                  </a:cubicBezTo>
                  <a:cubicBezTo>
                    <a:pt x="0" y="10"/>
                    <a:pt x="0" y="10"/>
                    <a:pt x="0" y="10"/>
                  </a:cubicBezTo>
                  <a:cubicBezTo>
                    <a:pt x="0" y="61"/>
                    <a:pt x="0" y="61"/>
                    <a:pt x="0" y="61"/>
                  </a:cubicBezTo>
                  <a:cubicBezTo>
                    <a:pt x="43" y="61"/>
                    <a:pt x="43" y="61"/>
                    <a:pt x="43" y="61"/>
                  </a:cubicBezTo>
                  <a:cubicBezTo>
                    <a:pt x="43" y="10"/>
                    <a:pt x="43" y="10"/>
                    <a:pt x="43" y="10"/>
                  </a:cubicBezTo>
                  <a:cubicBezTo>
                    <a:pt x="36" y="10"/>
                    <a:pt x="36" y="10"/>
                    <a:pt x="36" y="10"/>
                  </a:cubicBezTo>
                  <a:cubicBezTo>
                    <a:pt x="36" y="4"/>
                    <a:pt x="36" y="4"/>
                    <a:pt x="36" y="4"/>
                  </a:cubicBezTo>
                  <a:close/>
                  <a:moveTo>
                    <a:pt x="11" y="5"/>
                  </a:moveTo>
                  <a:cubicBezTo>
                    <a:pt x="31" y="5"/>
                    <a:pt x="31" y="5"/>
                    <a:pt x="31" y="5"/>
                  </a:cubicBezTo>
                  <a:cubicBezTo>
                    <a:pt x="31" y="10"/>
                    <a:pt x="31" y="10"/>
                    <a:pt x="31" y="10"/>
                  </a:cubicBezTo>
                  <a:cubicBezTo>
                    <a:pt x="11" y="10"/>
                    <a:pt x="11" y="10"/>
                    <a:pt x="11" y="10"/>
                  </a:cubicBezTo>
                  <a:lnTo>
                    <a:pt x="11" y="5"/>
                  </a:lnTo>
                  <a:close/>
                  <a:moveTo>
                    <a:pt x="36" y="39"/>
                  </a:moveTo>
                  <a:cubicBezTo>
                    <a:pt x="36" y="40"/>
                    <a:pt x="36" y="40"/>
                    <a:pt x="36" y="40"/>
                  </a:cubicBezTo>
                  <a:cubicBezTo>
                    <a:pt x="36" y="40"/>
                    <a:pt x="36" y="40"/>
                    <a:pt x="35" y="40"/>
                  </a:cubicBezTo>
                  <a:cubicBezTo>
                    <a:pt x="26" y="40"/>
                    <a:pt x="26" y="40"/>
                    <a:pt x="26" y="40"/>
                  </a:cubicBezTo>
                  <a:cubicBezTo>
                    <a:pt x="26" y="49"/>
                    <a:pt x="26" y="49"/>
                    <a:pt x="26" y="49"/>
                  </a:cubicBezTo>
                  <a:cubicBezTo>
                    <a:pt x="26" y="50"/>
                    <a:pt x="26" y="50"/>
                    <a:pt x="26" y="50"/>
                  </a:cubicBezTo>
                  <a:cubicBezTo>
                    <a:pt x="26" y="50"/>
                    <a:pt x="25" y="50"/>
                    <a:pt x="25" y="50"/>
                  </a:cubicBezTo>
                  <a:cubicBezTo>
                    <a:pt x="18" y="50"/>
                    <a:pt x="18" y="50"/>
                    <a:pt x="18" y="50"/>
                  </a:cubicBezTo>
                  <a:cubicBezTo>
                    <a:pt x="17" y="50"/>
                    <a:pt x="17" y="50"/>
                    <a:pt x="17" y="50"/>
                  </a:cubicBezTo>
                  <a:cubicBezTo>
                    <a:pt x="16" y="50"/>
                    <a:pt x="16" y="50"/>
                    <a:pt x="16" y="49"/>
                  </a:cubicBezTo>
                  <a:cubicBezTo>
                    <a:pt x="16" y="40"/>
                    <a:pt x="16" y="40"/>
                    <a:pt x="16" y="40"/>
                  </a:cubicBezTo>
                  <a:cubicBezTo>
                    <a:pt x="7" y="40"/>
                    <a:pt x="7" y="40"/>
                    <a:pt x="7" y="40"/>
                  </a:cubicBezTo>
                  <a:cubicBezTo>
                    <a:pt x="7" y="40"/>
                    <a:pt x="7" y="40"/>
                    <a:pt x="7" y="40"/>
                  </a:cubicBezTo>
                  <a:cubicBezTo>
                    <a:pt x="6" y="40"/>
                    <a:pt x="6" y="40"/>
                    <a:pt x="6" y="39"/>
                  </a:cubicBezTo>
                  <a:cubicBezTo>
                    <a:pt x="6" y="32"/>
                    <a:pt x="6" y="32"/>
                    <a:pt x="6" y="32"/>
                  </a:cubicBezTo>
                  <a:cubicBezTo>
                    <a:pt x="6" y="31"/>
                    <a:pt x="6" y="31"/>
                    <a:pt x="7" y="31"/>
                  </a:cubicBezTo>
                  <a:cubicBezTo>
                    <a:pt x="7" y="30"/>
                    <a:pt x="7" y="30"/>
                    <a:pt x="7" y="30"/>
                  </a:cubicBezTo>
                  <a:cubicBezTo>
                    <a:pt x="16" y="30"/>
                    <a:pt x="16" y="30"/>
                    <a:pt x="16" y="30"/>
                  </a:cubicBezTo>
                  <a:cubicBezTo>
                    <a:pt x="16" y="22"/>
                    <a:pt x="16" y="22"/>
                    <a:pt x="16" y="22"/>
                  </a:cubicBezTo>
                  <a:cubicBezTo>
                    <a:pt x="16" y="21"/>
                    <a:pt x="16" y="21"/>
                    <a:pt x="17" y="21"/>
                  </a:cubicBezTo>
                  <a:cubicBezTo>
                    <a:pt x="17" y="20"/>
                    <a:pt x="17" y="20"/>
                    <a:pt x="18" y="20"/>
                  </a:cubicBezTo>
                  <a:cubicBezTo>
                    <a:pt x="25" y="20"/>
                    <a:pt x="25" y="20"/>
                    <a:pt x="25" y="20"/>
                  </a:cubicBezTo>
                  <a:cubicBezTo>
                    <a:pt x="25" y="20"/>
                    <a:pt x="26" y="20"/>
                    <a:pt x="26" y="21"/>
                  </a:cubicBezTo>
                  <a:cubicBezTo>
                    <a:pt x="26" y="21"/>
                    <a:pt x="26" y="21"/>
                    <a:pt x="26" y="22"/>
                  </a:cubicBezTo>
                  <a:cubicBezTo>
                    <a:pt x="26" y="30"/>
                    <a:pt x="26" y="30"/>
                    <a:pt x="26" y="30"/>
                  </a:cubicBezTo>
                  <a:cubicBezTo>
                    <a:pt x="35" y="30"/>
                    <a:pt x="35" y="30"/>
                    <a:pt x="35" y="30"/>
                  </a:cubicBezTo>
                  <a:cubicBezTo>
                    <a:pt x="36" y="30"/>
                    <a:pt x="36" y="30"/>
                    <a:pt x="36" y="31"/>
                  </a:cubicBezTo>
                  <a:cubicBezTo>
                    <a:pt x="36" y="31"/>
                    <a:pt x="36" y="31"/>
                    <a:pt x="36" y="32"/>
                  </a:cubicBezTo>
                  <a:cubicBezTo>
                    <a:pt x="36" y="39"/>
                    <a:pt x="36" y="39"/>
                    <a:pt x="36" y="39"/>
                  </a:cubicBezTo>
                  <a:cubicBezTo>
                    <a:pt x="36" y="39"/>
                    <a:pt x="36" y="39"/>
                    <a:pt x="36"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67">
              <a:extLst>
                <a:ext uri="{FF2B5EF4-FFF2-40B4-BE49-F238E27FC236}">
                  <a16:creationId xmlns:a16="http://schemas.microsoft.com/office/drawing/2014/main" id="{64D91C24-53A7-4D16-8578-31CD5043E591}"/>
                </a:ext>
              </a:extLst>
            </p:cNvPr>
            <p:cNvSpPr>
              <a:spLocks/>
            </p:cNvSpPr>
            <p:nvPr/>
          </p:nvSpPr>
          <p:spPr bwMode="auto">
            <a:xfrm>
              <a:off x="1943089" y="2560655"/>
              <a:ext cx="19050" cy="92076"/>
            </a:xfrm>
            <a:custGeom>
              <a:avLst/>
              <a:gdLst>
                <a:gd name="T0" fmla="*/ 8 w 11"/>
                <a:gd name="T1" fmla="*/ 3 h 51"/>
                <a:gd name="T2" fmla="*/ 2 w 11"/>
                <a:gd name="T3" fmla="*/ 0 h 51"/>
                <a:gd name="T4" fmla="*/ 0 w 11"/>
                <a:gd name="T5" fmla="*/ 0 h 51"/>
                <a:gd name="T6" fmla="*/ 0 w 11"/>
                <a:gd name="T7" fmla="*/ 51 h 51"/>
                <a:gd name="T8" fmla="*/ 2 w 11"/>
                <a:gd name="T9" fmla="*/ 51 h 51"/>
                <a:gd name="T10" fmla="*/ 8 w 11"/>
                <a:gd name="T11" fmla="*/ 48 h 51"/>
                <a:gd name="T12" fmla="*/ 11 w 11"/>
                <a:gd name="T13" fmla="*/ 42 h 51"/>
                <a:gd name="T14" fmla="*/ 11 w 11"/>
                <a:gd name="T15" fmla="*/ 9 h 51"/>
                <a:gd name="T16" fmla="*/ 8 w 11"/>
                <a:gd name="T1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1">
                  <a:moveTo>
                    <a:pt x="8" y="3"/>
                  </a:moveTo>
                  <a:cubicBezTo>
                    <a:pt x="6" y="1"/>
                    <a:pt x="4" y="0"/>
                    <a:pt x="2" y="0"/>
                  </a:cubicBezTo>
                  <a:cubicBezTo>
                    <a:pt x="0" y="0"/>
                    <a:pt x="0" y="0"/>
                    <a:pt x="0" y="0"/>
                  </a:cubicBezTo>
                  <a:cubicBezTo>
                    <a:pt x="0" y="51"/>
                    <a:pt x="0" y="51"/>
                    <a:pt x="0" y="51"/>
                  </a:cubicBezTo>
                  <a:cubicBezTo>
                    <a:pt x="2" y="51"/>
                    <a:pt x="2" y="51"/>
                    <a:pt x="2" y="51"/>
                  </a:cubicBezTo>
                  <a:cubicBezTo>
                    <a:pt x="4" y="51"/>
                    <a:pt x="6" y="50"/>
                    <a:pt x="8" y="48"/>
                  </a:cubicBezTo>
                  <a:cubicBezTo>
                    <a:pt x="10" y="46"/>
                    <a:pt x="11" y="44"/>
                    <a:pt x="11" y="42"/>
                  </a:cubicBezTo>
                  <a:cubicBezTo>
                    <a:pt x="11" y="9"/>
                    <a:pt x="11" y="9"/>
                    <a:pt x="11" y="9"/>
                  </a:cubicBezTo>
                  <a:cubicBezTo>
                    <a:pt x="11" y="7"/>
                    <a:pt x="10" y="5"/>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4" name="Group 83">
            <a:extLst>
              <a:ext uri="{FF2B5EF4-FFF2-40B4-BE49-F238E27FC236}">
                <a16:creationId xmlns:a16="http://schemas.microsoft.com/office/drawing/2014/main" id="{F489B5EB-2510-40E4-AD77-18227547D2A7}"/>
              </a:ext>
            </a:extLst>
          </p:cNvPr>
          <p:cNvGrpSpPr/>
          <p:nvPr/>
        </p:nvGrpSpPr>
        <p:grpSpPr>
          <a:xfrm>
            <a:off x="4884024" y="2520733"/>
            <a:ext cx="416574" cy="400763"/>
            <a:chOff x="457200" y="2887683"/>
            <a:chExt cx="125411" cy="120651"/>
          </a:xfrm>
          <a:solidFill>
            <a:schemeClr val="accent1"/>
          </a:solidFill>
        </p:grpSpPr>
        <p:sp>
          <p:nvSpPr>
            <p:cNvPr id="85" name="Freeform 68">
              <a:extLst>
                <a:ext uri="{FF2B5EF4-FFF2-40B4-BE49-F238E27FC236}">
                  <a16:creationId xmlns:a16="http://schemas.microsoft.com/office/drawing/2014/main" id="{5BC9A5C3-FB64-4919-8A0C-3935B285209F}"/>
                </a:ext>
              </a:extLst>
            </p:cNvPr>
            <p:cNvSpPr>
              <a:spLocks/>
            </p:cNvSpPr>
            <p:nvPr/>
          </p:nvSpPr>
          <p:spPr bwMode="auto">
            <a:xfrm>
              <a:off x="568324" y="2887683"/>
              <a:ext cx="14287" cy="120651"/>
            </a:xfrm>
            <a:custGeom>
              <a:avLst/>
              <a:gdLst>
                <a:gd name="T0" fmla="*/ 4 w 9"/>
                <a:gd name="T1" fmla="*/ 0 h 76"/>
                <a:gd name="T2" fmla="*/ 4 w 9"/>
                <a:gd name="T3" fmla="*/ 16 h 76"/>
                <a:gd name="T4" fmla="*/ 0 w 9"/>
                <a:gd name="T5" fmla="*/ 16 h 76"/>
                <a:gd name="T6" fmla="*/ 0 w 9"/>
                <a:gd name="T7" fmla="*/ 21 h 76"/>
                <a:gd name="T8" fmla="*/ 4 w 9"/>
                <a:gd name="T9" fmla="*/ 21 h 76"/>
                <a:gd name="T10" fmla="*/ 4 w 9"/>
                <a:gd name="T11" fmla="*/ 54 h 76"/>
                <a:gd name="T12" fmla="*/ 0 w 9"/>
                <a:gd name="T13" fmla="*/ 54 h 76"/>
                <a:gd name="T14" fmla="*/ 0 w 9"/>
                <a:gd name="T15" fmla="*/ 59 h 76"/>
                <a:gd name="T16" fmla="*/ 4 w 9"/>
                <a:gd name="T17" fmla="*/ 59 h 76"/>
                <a:gd name="T18" fmla="*/ 4 w 9"/>
                <a:gd name="T19" fmla="*/ 76 h 76"/>
                <a:gd name="T20" fmla="*/ 9 w 9"/>
                <a:gd name="T21" fmla="*/ 76 h 76"/>
                <a:gd name="T22" fmla="*/ 9 w 9"/>
                <a:gd name="T23" fmla="*/ 0 h 76"/>
                <a:gd name="T24" fmla="*/ 4 w 9"/>
                <a:gd name="T25"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76">
                  <a:moveTo>
                    <a:pt x="4" y="0"/>
                  </a:moveTo>
                  <a:lnTo>
                    <a:pt x="4" y="16"/>
                  </a:lnTo>
                  <a:lnTo>
                    <a:pt x="0" y="16"/>
                  </a:lnTo>
                  <a:lnTo>
                    <a:pt x="0" y="21"/>
                  </a:lnTo>
                  <a:lnTo>
                    <a:pt x="4" y="21"/>
                  </a:lnTo>
                  <a:lnTo>
                    <a:pt x="4" y="54"/>
                  </a:lnTo>
                  <a:lnTo>
                    <a:pt x="0" y="54"/>
                  </a:lnTo>
                  <a:lnTo>
                    <a:pt x="0" y="59"/>
                  </a:lnTo>
                  <a:lnTo>
                    <a:pt x="4" y="59"/>
                  </a:lnTo>
                  <a:lnTo>
                    <a:pt x="4" y="76"/>
                  </a:lnTo>
                  <a:lnTo>
                    <a:pt x="9" y="76"/>
                  </a:lnTo>
                  <a:lnTo>
                    <a:pt x="9" y="0"/>
                  </a:lnTo>
                  <a:lnTo>
                    <a:pt x="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69">
              <a:extLst>
                <a:ext uri="{FF2B5EF4-FFF2-40B4-BE49-F238E27FC236}">
                  <a16:creationId xmlns:a16="http://schemas.microsoft.com/office/drawing/2014/main" id="{5FD734A9-E602-44FD-9D7C-19E8DB3772E2}"/>
                </a:ext>
              </a:extLst>
            </p:cNvPr>
            <p:cNvSpPr>
              <a:spLocks/>
            </p:cNvSpPr>
            <p:nvPr/>
          </p:nvSpPr>
          <p:spPr bwMode="auto">
            <a:xfrm>
              <a:off x="482600" y="2921021"/>
              <a:ext cx="52387" cy="52388"/>
            </a:xfrm>
            <a:custGeom>
              <a:avLst/>
              <a:gdLst>
                <a:gd name="T0" fmla="*/ 12 w 33"/>
                <a:gd name="T1" fmla="*/ 33 h 33"/>
                <a:gd name="T2" fmla="*/ 22 w 33"/>
                <a:gd name="T3" fmla="*/ 33 h 33"/>
                <a:gd name="T4" fmla="*/ 22 w 33"/>
                <a:gd name="T5" fmla="*/ 22 h 33"/>
                <a:gd name="T6" fmla="*/ 33 w 33"/>
                <a:gd name="T7" fmla="*/ 22 h 33"/>
                <a:gd name="T8" fmla="*/ 33 w 33"/>
                <a:gd name="T9" fmla="*/ 12 h 33"/>
                <a:gd name="T10" fmla="*/ 22 w 33"/>
                <a:gd name="T11" fmla="*/ 12 h 33"/>
                <a:gd name="T12" fmla="*/ 22 w 33"/>
                <a:gd name="T13" fmla="*/ 0 h 33"/>
                <a:gd name="T14" fmla="*/ 12 w 33"/>
                <a:gd name="T15" fmla="*/ 0 h 33"/>
                <a:gd name="T16" fmla="*/ 12 w 33"/>
                <a:gd name="T17" fmla="*/ 12 h 33"/>
                <a:gd name="T18" fmla="*/ 0 w 33"/>
                <a:gd name="T19" fmla="*/ 12 h 33"/>
                <a:gd name="T20" fmla="*/ 0 w 33"/>
                <a:gd name="T21" fmla="*/ 22 h 33"/>
                <a:gd name="T22" fmla="*/ 12 w 33"/>
                <a:gd name="T23" fmla="*/ 22 h 33"/>
                <a:gd name="T24" fmla="*/ 12 w 33"/>
                <a:gd name="T25"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 h="33">
                  <a:moveTo>
                    <a:pt x="12" y="33"/>
                  </a:moveTo>
                  <a:lnTo>
                    <a:pt x="22" y="33"/>
                  </a:lnTo>
                  <a:lnTo>
                    <a:pt x="22" y="22"/>
                  </a:lnTo>
                  <a:lnTo>
                    <a:pt x="33" y="22"/>
                  </a:lnTo>
                  <a:lnTo>
                    <a:pt x="33" y="12"/>
                  </a:lnTo>
                  <a:lnTo>
                    <a:pt x="22" y="12"/>
                  </a:lnTo>
                  <a:lnTo>
                    <a:pt x="22" y="0"/>
                  </a:lnTo>
                  <a:lnTo>
                    <a:pt x="12" y="0"/>
                  </a:lnTo>
                  <a:lnTo>
                    <a:pt x="12" y="12"/>
                  </a:lnTo>
                  <a:lnTo>
                    <a:pt x="0" y="12"/>
                  </a:lnTo>
                  <a:lnTo>
                    <a:pt x="0" y="22"/>
                  </a:lnTo>
                  <a:lnTo>
                    <a:pt x="12" y="22"/>
                  </a:lnTo>
                  <a:lnTo>
                    <a:pt x="12" y="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70">
              <a:extLst>
                <a:ext uri="{FF2B5EF4-FFF2-40B4-BE49-F238E27FC236}">
                  <a16:creationId xmlns:a16="http://schemas.microsoft.com/office/drawing/2014/main" id="{4901728C-9B65-442F-B505-773FC0B544AF}"/>
                </a:ext>
              </a:extLst>
            </p:cNvPr>
            <p:cNvSpPr>
              <a:spLocks noEditPoints="1"/>
            </p:cNvSpPr>
            <p:nvPr/>
          </p:nvSpPr>
          <p:spPr bwMode="auto">
            <a:xfrm>
              <a:off x="457200" y="2895621"/>
              <a:ext cx="103187" cy="103188"/>
            </a:xfrm>
            <a:custGeom>
              <a:avLst/>
              <a:gdLst>
                <a:gd name="T0" fmla="*/ 0 w 65"/>
                <a:gd name="T1" fmla="*/ 65 h 65"/>
                <a:gd name="T2" fmla="*/ 65 w 65"/>
                <a:gd name="T3" fmla="*/ 65 h 65"/>
                <a:gd name="T4" fmla="*/ 65 w 65"/>
                <a:gd name="T5" fmla="*/ 0 h 65"/>
                <a:gd name="T6" fmla="*/ 0 w 65"/>
                <a:gd name="T7" fmla="*/ 0 h 65"/>
                <a:gd name="T8" fmla="*/ 0 w 65"/>
                <a:gd name="T9" fmla="*/ 65 h 65"/>
                <a:gd name="T10" fmla="*/ 11 w 65"/>
                <a:gd name="T11" fmla="*/ 22 h 65"/>
                <a:gd name="T12" fmla="*/ 22 w 65"/>
                <a:gd name="T13" fmla="*/ 22 h 65"/>
                <a:gd name="T14" fmla="*/ 22 w 65"/>
                <a:gd name="T15" fmla="*/ 11 h 65"/>
                <a:gd name="T16" fmla="*/ 42 w 65"/>
                <a:gd name="T17" fmla="*/ 11 h 65"/>
                <a:gd name="T18" fmla="*/ 42 w 65"/>
                <a:gd name="T19" fmla="*/ 22 h 65"/>
                <a:gd name="T20" fmla="*/ 54 w 65"/>
                <a:gd name="T21" fmla="*/ 22 h 65"/>
                <a:gd name="T22" fmla="*/ 54 w 65"/>
                <a:gd name="T23" fmla="*/ 42 h 65"/>
                <a:gd name="T24" fmla="*/ 42 w 65"/>
                <a:gd name="T25" fmla="*/ 42 h 65"/>
                <a:gd name="T26" fmla="*/ 42 w 65"/>
                <a:gd name="T27" fmla="*/ 54 h 65"/>
                <a:gd name="T28" fmla="*/ 22 w 65"/>
                <a:gd name="T29" fmla="*/ 54 h 65"/>
                <a:gd name="T30" fmla="*/ 22 w 65"/>
                <a:gd name="T31" fmla="*/ 42 h 65"/>
                <a:gd name="T32" fmla="*/ 11 w 65"/>
                <a:gd name="T33" fmla="*/ 42 h 65"/>
                <a:gd name="T34" fmla="*/ 11 w 65"/>
                <a:gd name="T35" fmla="*/ 2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5" h="65">
                  <a:moveTo>
                    <a:pt x="0" y="65"/>
                  </a:moveTo>
                  <a:lnTo>
                    <a:pt x="65" y="65"/>
                  </a:lnTo>
                  <a:lnTo>
                    <a:pt x="65" y="0"/>
                  </a:lnTo>
                  <a:lnTo>
                    <a:pt x="0" y="0"/>
                  </a:lnTo>
                  <a:lnTo>
                    <a:pt x="0" y="65"/>
                  </a:lnTo>
                  <a:close/>
                  <a:moveTo>
                    <a:pt x="11" y="22"/>
                  </a:moveTo>
                  <a:lnTo>
                    <a:pt x="22" y="22"/>
                  </a:lnTo>
                  <a:lnTo>
                    <a:pt x="22" y="11"/>
                  </a:lnTo>
                  <a:lnTo>
                    <a:pt x="42" y="11"/>
                  </a:lnTo>
                  <a:lnTo>
                    <a:pt x="42" y="22"/>
                  </a:lnTo>
                  <a:lnTo>
                    <a:pt x="54" y="22"/>
                  </a:lnTo>
                  <a:lnTo>
                    <a:pt x="54" y="42"/>
                  </a:lnTo>
                  <a:lnTo>
                    <a:pt x="42" y="42"/>
                  </a:lnTo>
                  <a:lnTo>
                    <a:pt x="42" y="54"/>
                  </a:lnTo>
                  <a:lnTo>
                    <a:pt x="22" y="54"/>
                  </a:lnTo>
                  <a:lnTo>
                    <a:pt x="22" y="42"/>
                  </a:lnTo>
                  <a:lnTo>
                    <a:pt x="11" y="42"/>
                  </a:lnTo>
                  <a:lnTo>
                    <a:pt x="11"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8" name="Group 87">
            <a:extLst>
              <a:ext uri="{FF2B5EF4-FFF2-40B4-BE49-F238E27FC236}">
                <a16:creationId xmlns:a16="http://schemas.microsoft.com/office/drawing/2014/main" id="{6813E7C1-08C2-41EE-A369-33C5DE738939}"/>
              </a:ext>
            </a:extLst>
          </p:cNvPr>
          <p:cNvGrpSpPr/>
          <p:nvPr/>
        </p:nvGrpSpPr>
        <p:grpSpPr>
          <a:xfrm>
            <a:off x="501015" y="2551154"/>
            <a:ext cx="323847" cy="304168"/>
            <a:chOff x="804860" y="2884508"/>
            <a:chExt cx="123824" cy="123826"/>
          </a:xfrm>
          <a:solidFill>
            <a:schemeClr val="accent1"/>
          </a:solidFill>
        </p:grpSpPr>
        <p:sp>
          <p:nvSpPr>
            <p:cNvPr id="89" name="Freeform 71">
              <a:extLst>
                <a:ext uri="{FF2B5EF4-FFF2-40B4-BE49-F238E27FC236}">
                  <a16:creationId xmlns:a16="http://schemas.microsoft.com/office/drawing/2014/main" id="{C1BE5635-06F6-4F91-94E5-875755D41B97}"/>
                </a:ext>
              </a:extLst>
            </p:cNvPr>
            <p:cNvSpPr>
              <a:spLocks noEditPoints="1"/>
            </p:cNvSpPr>
            <p:nvPr/>
          </p:nvSpPr>
          <p:spPr bwMode="auto">
            <a:xfrm>
              <a:off x="860422" y="2884508"/>
              <a:ext cx="68262" cy="68263"/>
            </a:xfrm>
            <a:custGeom>
              <a:avLst/>
              <a:gdLst>
                <a:gd name="T0" fmla="*/ 19 w 38"/>
                <a:gd name="T1" fmla="*/ 0 h 38"/>
                <a:gd name="T2" fmla="*/ 0 w 38"/>
                <a:gd name="T3" fmla="*/ 19 h 38"/>
                <a:gd name="T4" fmla="*/ 4 w 38"/>
                <a:gd name="T5" fmla="*/ 29 h 38"/>
                <a:gd name="T6" fmla="*/ 1 w 38"/>
                <a:gd name="T7" fmla="*/ 37 h 38"/>
                <a:gd name="T8" fmla="*/ 9 w 38"/>
                <a:gd name="T9" fmla="*/ 34 h 38"/>
                <a:gd name="T10" fmla="*/ 19 w 38"/>
                <a:gd name="T11" fmla="*/ 38 h 38"/>
                <a:gd name="T12" fmla="*/ 38 w 38"/>
                <a:gd name="T13" fmla="*/ 19 h 38"/>
                <a:gd name="T14" fmla="*/ 19 w 38"/>
                <a:gd name="T15" fmla="*/ 0 h 38"/>
                <a:gd name="T16" fmla="*/ 31 w 38"/>
                <a:gd name="T17" fmla="*/ 22 h 38"/>
                <a:gd name="T18" fmla="*/ 23 w 38"/>
                <a:gd name="T19" fmla="*/ 22 h 38"/>
                <a:gd name="T20" fmla="*/ 23 w 38"/>
                <a:gd name="T21" fmla="*/ 30 h 38"/>
                <a:gd name="T22" fmla="*/ 15 w 38"/>
                <a:gd name="T23" fmla="*/ 30 h 38"/>
                <a:gd name="T24" fmla="*/ 15 w 38"/>
                <a:gd name="T25" fmla="*/ 22 h 38"/>
                <a:gd name="T26" fmla="*/ 8 w 38"/>
                <a:gd name="T27" fmla="*/ 22 h 38"/>
                <a:gd name="T28" fmla="*/ 8 w 38"/>
                <a:gd name="T29" fmla="*/ 15 h 38"/>
                <a:gd name="T30" fmla="*/ 15 w 38"/>
                <a:gd name="T31" fmla="*/ 15 h 38"/>
                <a:gd name="T32" fmla="*/ 15 w 38"/>
                <a:gd name="T33" fmla="*/ 7 h 38"/>
                <a:gd name="T34" fmla="*/ 23 w 38"/>
                <a:gd name="T35" fmla="*/ 7 h 38"/>
                <a:gd name="T36" fmla="*/ 23 w 38"/>
                <a:gd name="T37" fmla="*/ 15 h 38"/>
                <a:gd name="T38" fmla="*/ 31 w 38"/>
                <a:gd name="T39" fmla="*/ 15 h 38"/>
                <a:gd name="T40" fmla="*/ 31 w 38"/>
                <a:gd name="T41" fmla="*/ 2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8" h="38">
                  <a:moveTo>
                    <a:pt x="19" y="0"/>
                  </a:moveTo>
                  <a:cubicBezTo>
                    <a:pt x="9" y="0"/>
                    <a:pt x="0" y="8"/>
                    <a:pt x="0" y="19"/>
                  </a:cubicBezTo>
                  <a:cubicBezTo>
                    <a:pt x="0" y="23"/>
                    <a:pt x="2" y="26"/>
                    <a:pt x="4" y="29"/>
                  </a:cubicBezTo>
                  <a:cubicBezTo>
                    <a:pt x="1" y="37"/>
                    <a:pt x="1" y="37"/>
                    <a:pt x="1" y="37"/>
                  </a:cubicBezTo>
                  <a:cubicBezTo>
                    <a:pt x="9" y="34"/>
                    <a:pt x="9" y="34"/>
                    <a:pt x="9" y="34"/>
                  </a:cubicBezTo>
                  <a:cubicBezTo>
                    <a:pt x="12" y="36"/>
                    <a:pt x="15" y="38"/>
                    <a:pt x="19" y="38"/>
                  </a:cubicBezTo>
                  <a:cubicBezTo>
                    <a:pt x="30" y="38"/>
                    <a:pt x="38" y="29"/>
                    <a:pt x="38" y="19"/>
                  </a:cubicBezTo>
                  <a:cubicBezTo>
                    <a:pt x="38" y="8"/>
                    <a:pt x="30" y="0"/>
                    <a:pt x="19" y="0"/>
                  </a:cubicBezTo>
                  <a:close/>
                  <a:moveTo>
                    <a:pt x="31" y="22"/>
                  </a:moveTo>
                  <a:cubicBezTo>
                    <a:pt x="23" y="22"/>
                    <a:pt x="23" y="22"/>
                    <a:pt x="23" y="22"/>
                  </a:cubicBezTo>
                  <a:cubicBezTo>
                    <a:pt x="23" y="30"/>
                    <a:pt x="23" y="30"/>
                    <a:pt x="23" y="30"/>
                  </a:cubicBezTo>
                  <a:cubicBezTo>
                    <a:pt x="15" y="30"/>
                    <a:pt x="15" y="30"/>
                    <a:pt x="15" y="30"/>
                  </a:cubicBezTo>
                  <a:cubicBezTo>
                    <a:pt x="15" y="22"/>
                    <a:pt x="15" y="22"/>
                    <a:pt x="15" y="22"/>
                  </a:cubicBezTo>
                  <a:cubicBezTo>
                    <a:pt x="8" y="22"/>
                    <a:pt x="8" y="22"/>
                    <a:pt x="8" y="22"/>
                  </a:cubicBezTo>
                  <a:cubicBezTo>
                    <a:pt x="8" y="15"/>
                    <a:pt x="8" y="15"/>
                    <a:pt x="8" y="15"/>
                  </a:cubicBezTo>
                  <a:cubicBezTo>
                    <a:pt x="15" y="15"/>
                    <a:pt x="15" y="15"/>
                    <a:pt x="15" y="15"/>
                  </a:cubicBezTo>
                  <a:cubicBezTo>
                    <a:pt x="15" y="7"/>
                    <a:pt x="15" y="7"/>
                    <a:pt x="15" y="7"/>
                  </a:cubicBezTo>
                  <a:cubicBezTo>
                    <a:pt x="23" y="7"/>
                    <a:pt x="23" y="7"/>
                    <a:pt x="23" y="7"/>
                  </a:cubicBezTo>
                  <a:cubicBezTo>
                    <a:pt x="23" y="15"/>
                    <a:pt x="23" y="15"/>
                    <a:pt x="23" y="15"/>
                  </a:cubicBezTo>
                  <a:cubicBezTo>
                    <a:pt x="31" y="15"/>
                    <a:pt x="31" y="15"/>
                    <a:pt x="31" y="15"/>
                  </a:cubicBezTo>
                  <a:lnTo>
                    <a:pt x="31"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72">
              <a:extLst>
                <a:ext uri="{FF2B5EF4-FFF2-40B4-BE49-F238E27FC236}">
                  <a16:creationId xmlns:a16="http://schemas.microsoft.com/office/drawing/2014/main" id="{56740969-2690-48C3-9829-FB2E82DB639D}"/>
                </a:ext>
              </a:extLst>
            </p:cNvPr>
            <p:cNvSpPr>
              <a:spLocks/>
            </p:cNvSpPr>
            <p:nvPr/>
          </p:nvSpPr>
          <p:spPr bwMode="auto">
            <a:xfrm>
              <a:off x="804860" y="2909908"/>
              <a:ext cx="96837" cy="98426"/>
            </a:xfrm>
            <a:custGeom>
              <a:avLst/>
              <a:gdLst>
                <a:gd name="T0" fmla="*/ 35 w 54"/>
                <a:gd name="T1" fmla="*/ 39 h 54"/>
                <a:gd name="T2" fmla="*/ 15 w 54"/>
                <a:gd name="T3" fmla="*/ 19 h 54"/>
                <a:gd name="T4" fmla="*/ 20 w 54"/>
                <a:gd name="T5" fmla="*/ 13 h 54"/>
                <a:gd name="T6" fmla="*/ 7 w 54"/>
                <a:gd name="T7" fmla="*/ 0 h 54"/>
                <a:gd name="T8" fmla="*/ 0 w 54"/>
                <a:gd name="T9" fmla="*/ 11 h 54"/>
                <a:gd name="T10" fmla="*/ 16 w 54"/>
                <a:gd name="T11" fmla="*/ 38 h 54"/>
                <a:gd name="T12" fmla="*/ 43 w 54"/>
                <a:gd name="T13" fmla="*/ 54 h 54"/>
                <a:gd name="T14" fmla="*/ 54 w 54"/>
                <a:gd name="T15" fmla="*/ 47 h 54"/>
                <a:gd name="T16" fmla="*/ 41 w 54"/>
                <a:gd name="T17" fmla="*/ 34 h 54"/>
                <a:gd name="T18" fmla="*/ 35 w 54"/>
                <a:gd name="T19" fmla="*/ 3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35" y="39"/>
                  </a:moveTo>
                  <a:cubicBezTo>
                    <a:pt x="15" y="19"/>
                    <a:pt x="15" y="19"/>
                    <a:pt x="15" y="19"/>
                  </a:cubicBezTo>
                  <a:cubicBezTo>
                    <a:pt x="20" y="13"/>
                    <a:pt x="20" y="13"/>
                    <a:pt x="20" y="13"/>
                  </a:cubicBezTo>
                  <a:cubicBezTo>
                    <a:pt x="7" y="0"/>
                    <a:pt x="7" y="0"/>
                    <a:pt x="7" y="0"/>
                  </a:cubicBezTo>
                  <a:cubicBezTo>
                    <a:pt x="7" y="0"/>
                    <a:pt x="1" y="6"/>
                    <a:pt x="0" y="11"/>
                  </a:cubicBezTo>
                  <a:cubicBezTo>
                    <a:pt x="0" y="17"/>
                    <a:pt x="6" y="28"/>
                    <a:pt x="16" y="38"/>
                  </a:cubicBezTo>
                  <a:cubicBezTo>
                    <a:pt x="26" y="48"/>
                    <a:pt x="37" y="54"/>
                    <a:pt x="43" y="54"/>
                  </a:cubicBezTo>
                  <a:cubicBezTo>
                    <a:pt x="48" y="53"/>
                    <a:pt x="54" y="47"/>
                    <a:pt x="54" y="47"/>
                  </a:cubicBezTo>
                  <a:cubicBezTo>
                    <a:pt x="41" y="34"/>
                    <a:pt x="41" y="34"/>
                    <a:pt x="41" y="34"/>
                  </a:cubicBezTo>
                  <a:lnTo>
                    <a:pt x="35"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1" name="Group 90">
            <a:extLst>
              <a:ext uri="{FF2B5EF4-FFF2-40B4-BE49-F238E27FC236}">
                <a16:creationId xmlns:a16="http://schemas.microsoft.com/office/drawing/2014/main" id="{8E565D34-7F27-48DB-ACD0-4987B76A362C}"/>
              </a:ext>
            </a:extLst>
          </p:cNvPr>
          <p:cNvGrpSpPr/>
          <p:nvPr/>
        </p:nvGrpSpPr>
        <p:grpSpPr>
          <a:xfrm>
            <a:off x="3190723" y="4383234"/>
            <a:ext cx="288738" cy="285040"/>
            <a:chOff x="1147758" y="2887683"/>
            <a:chExt cx="123824" cy="122238"/>
          </a:xfrm>
          <a:solidFill>
            <a:schemeClr val="accent1"/>
          </a:solidFill>
        </p:grpSpPr>
        <p:sp>
          <p:nvSpPr>
            <p:cNvPr id="92" name="Freeform 73">
              <a:extLst>
                <a:ext uri="{FF2B5EF4-FFF2-40B4-BE49-F238E27FC236}">
                  <a16:creationId xmlns:a16="http://schemas.microsoft.com/office/drawing/2014/main" id="{95B83727-17C7-4312-8D8C-9FDBEC7888B7}"/>
                </a:ext>
              </a:extLst>
            </p:cNvPr>
            <p:cNvSpPr>
              <a:spLocks/>
            </p:cNvSpPr>
            <p:nvPr/>
          </p:nvSpPr>
          <p:spPr bwMode="auto">
            <a:xfrm>
              <a:off x="1212845" y="2930546"/>
              <a:ext cx="55562" cy="53975"/>
            </a:xfrm>
            <a:custGeom>
              <a:avLst/>
              <a:gdLst>
                <a:gd name="T0" fmla="*/ 23 w 35"/>
                <a:gd name="T1" fmla="*/ 0 h 34"/>
                <a:gd name="T2" fmla="*/ 12 w 35"/>
                <a:gd name="T3" fmla="*/ 0 h 34"/>
                <a:gd name="T4" fmla="*/ 12 w 35"/>
                <a:gd name="T5" fmla="*/ 11 h 34"/>
                <a:gd name="T6" fmla="*/ 0 w 35"/>
                <a:gd name="T7" fmla="*/ 11 h 34"/>
                <a:gd name="T8" fmla="*/ 0 w 35"/>
                <a:gd name="T9" fmla="*/ 21 h 34"/>
                <a:gd name="T10" fmla="*/ 12 w 35"/>
                <a:gd name="T11" fmla="*/ 21 h 34"/>
                <a:gd name="T12" fmla="*/ 12 w 35"/>
                <a:gd name="T13" fmla="*/ 34 h 34"/>
                <a:gd name="T14" fmla="*/ 23 w 35"/>
                <a:gd name="T15" fmla="*/ 34 h 34"/>
                <a:gd name="T16" fmla="*/ 23 w 35"/>
                <a:gd name="T17" fmla="*/ 21 h 34"/>
                <a:gd name="T18" fmla="*/ 35 w 35"/>
                <a:gd name="T19" fmla="*/ 21 h 34"/>
                <a:gd name="T20" fmla="*/ 35 w 35"/>
                <a:gd name="T21" fmla="*/ 11 h 34"/>
                <a:gd name="T22" fmla="*/ 23 w 35"/>
                <a:gd name="T23" fmla="*/ 11 h 34"/>
                <a:gd name="T24" fmla="*/ 23 w 35"/>
                <a:gd name="T25"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34">
                  <a:moveTo>
                    <a:pt x="23" y="0"/>
                  </a:moveTo>
                  <a:lnTo>
                    <a:pt x="12" y="0"/>
                  </a:lnTo>
                  <a:lnTo>
                    <a:pt x="12" y="11"/>
                  </a:lnTo>
                  <a:lnTo>
                    <a:pt x="0" y="11"/>
                  </a:lnTo>
                  <a:lnTo>
                    <a:pt x="0" y="21"/>
                  </a:lnTo>
                  <a:lnTo>
                    <a:pt x="12" y="21"/>
                  </a:lnTo>
                  <a:lnTo>
                    <a:pt x="12" y="34"/>
                  </a:lnTo>
                  <a:lnTo>
                    <a:pt x="23" y="34"/>
                  </a:lnTo>
                  <a:lnTo>
                    <a:pt x="23" y="21"/>
                  </a:lnTo>
                  <a:lnTo>
                    <a:pt x="35" y="21"/>
                  </a:lnTo>
                  <a:lnTo>
                    <a:pt x="35" y="11"/>
                  </a:lnTo>
                  <a:lnTo>
                    <a:pt x="23" y="11"/>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3" name="Freeform 74">
              <a:extLst>
                <a:ext uri="{FF2B5EF4-FFF2-40B4-BE49-F238E27FC236}">
                  <a16:creationId xmlns:a16="http://schemas.microsoft.com/office/drawing/2014/main" id="{CC7385DA-E132-4A4F-8E18-0F8F8FAA76C4}"/>
                </a:ext>
              </a:extLst>
            </p:cNvPr>
            <p:cNvSpPr>
              <a:spLocks/>
            </p:cNvSpPr>
            <p:nvPr/>
          </p:nvSpPr>
          <p:spPr bwMode="auto">
            <a:xfrm>
              <a:off x="1147758" y="2887683"/>
              <a:ext cx="123824" cy="122238"/>
            </a:xfrm>
            <a:custGeom>
              <a:avLst/>
              <a:gdLst>
                <a:gd name="T0" fmla="*/ 32 w 69"/>
                <a:gd name="T1" fmla="*/ 30 h 68"/>
                <a:gd name="T2" fmla="*/ 42 w 69"/>
                <a:gd name="T3" fmla="*/ 30 h 68"/>
                <a:gd name="T4" fmla="*/ 42 w 69"/>
                <a:gd name="T5" fmla="*/ 19 h 68"/>
                <a:gd name="T6" fmla="*/ 61 w 69"/>
                <a:gd name="T7" fmla="*/ 19 h 68"/>
                <a:gd name="T8" fmla="*/ 61 w 69"/>
                <a:gd name="T9" fmla="*/ 30 h 68"/>
                <a:gd name="T10" fmla="*/ 66 w 69"/>
                <a:gd name="T11" fmla="*/ 30 h 68"/>
                <a:gd name="T12" fmla="*/ 69 w 69"/>
                <a:gd name="T13" fmla="*/ 19 h 68"/>
                <a:gd name="T14" fmla="*/ 50 w 69"/>
                <a:gd name="T15" fmla="*/ 0 h 68"/>
                <a:gd name="T16" fmla="*/ 34 w 69"/>
                <a:gd name="T17" fmla="*/ 8 h 68"/>
                <a:gd name="T18" fmla="*/ 19 w 69"/>
                <a:gd name="T19" fmla="*/ 0 h 68"/>
                <a:gd name="T20" fmla="*/ 0 w 69"/>
                <a:gd name="T21" fmla="*/ 19 h 68"/>
                <a:gd name="T22" fmla="*/ 4 w 69"/>
                <a:gd name="T23" fmla="*/ 31 h 68"/>
                <a:gd name="T24" fmla="*/ 34 w 69"/>
                <a:gd name="T25" fmla="*/ 68 h 68"/>
                <a:gd name="T26" fmla="*/ 42 w 69"/>
                <a:gd name="T27" fmla="*/ 58 h 68"/>
                <a:gd name="T28" fmla="*/ 42 w 69"/>
                <a:gd name="T29" fmla="*/ 48 h 68"/>
                <a:gd name="T30" fmla="*/ 32 w 69"/>
                <a:gd name="T31" fmla="*/ 48 h 68"/>
                <a:gd name="T32" fmla="*/ 32 w 69"/>
                <a:gd name="T33" fmla="*/ 3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68">
                  <a:moveTo>
                    <a:pt x="32" y="30"/>
                  </a:moveTo>
                  <a:cubicBezTo>
                    <a:pt x="42" y="30"/>
                    <a:pt x="42" y="30"/>
                    <a:pt x="42" y="30"/>
                  </a:cubicBezTo>
                  <a:cubicBezTo>
                    <a:pt x="42" y="19"/>
                    <a:pt x="42" y="19"/>
                    <a:pt x="42" y="19"/>
                  </a:cubicBezTo>
                  <a:cubicBezTo>
                    <a:pt x="61" y="19"/>
                    <a:pt x="61" y="19"/>
                    <a:pt x="61" y="19"/>
                  </a:cubicBezTo>
                  <a:cubicBezTo>
                    <a:pt x="61" y="30"/>
                    <a:pt x="61" y="30"/>
                    <a:pt x="61" y="30"/>
                  </a:cubicBezTo>
                  <a:cubicBezTo>
                    <a:pt x="66" y="30"/>
                    <a:pt x="66" y="30"/>
                    <a:pt x="66" y="30"/>
                  </a:cubicBezTo>
                  <a:cubicBezTo>
                    <a:pt x="68" y="27"/>
                    <a:pt x="69" y="23"/>
                    <a:pt x="69" y="19"/>
                  </a:cubicBezTo>
                  <a:cubicBezTo>
                    <a:pt x="69" y="9"/>
                    <a:pt x="60" y="0"/>
                    <a:pt x="50" y="0"/>
                  </a:cubicBezTo>
                  <a:cubicBezTo>
                    <a:pt x="43" y="0"/>
                    <a:pt x="38" y="3"/>
                    <a:pt x="34" y="8"/>
                  </a:cubicBezTo>
                  <a:cubicBezTo>
                    <a:pt x="31" y="3"/>
                    <a:pt x="25" y="0"/>
                    <a:pt x="19" y="0"/>
                  </a:cubicBezTo>
                  <a:cubicBezTo>
                    <a:pt x="8" y="0"/>
                    <a:pt x="0" y="9"/>
                    <a:pt x="0" y="19"/>
                  </a:cubicBezTo>
                  <a:cubicBezTo>
                    <a:pt x="0" y="24"/>
                    <a:pt x="1" y="28"/>
                    <a:pt x="4" y="31"/>
                  </a:cubicBezTo>
                  <a:cubicBezTo>
                    <a:pt x="34" y="68"/>
                    <a:pt x="34" y="68"/>
                    <a:pt x="34" y="68"/>
                  </a:cubicBezTo>
                  <a:cubicBezTo>
                    <a:pt x="42" y="58"/>
                    <a:pt x="42" y="58"/>
                    <a:pt x="42" y="58"/>
                  </a:cubicBezTo>
                  <a:cubicBezTo>
                    <a:pt x="42" y="48"/>
                    <a:pt x="42" y="48"/>
                    <a:pt x="42" y="48"/>
                  </a:cubicBezTo>
                  <a:cubicBezTo>
                    <a:pt x="32" y="48"/>
                    <a:pt x="32" y="48"/>
                    <a:pt x="32" y="48"/>
                  </a:cubicBezTo>
                  <a:lnTo>
                    <a:pt x="32"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4" name="Group 93">
            <a:extLst>
              <a:ext uri="{FF2B5EF4-FFF2-40B4-BE49-F238E27FC236}">
                <a16:creationId xmlns:a16="http://schemas.microsoft.com/office/drawing/2014/main" id="{96BEC01C-8531-4143-A607-4D7CE02A35B5}"/>
              </a:ext>
            </a:extLst>
          </p:cNvPr>
          <p:cNvGrpSpPr/>
          <p:nvPr/>
        </p:nvGrpSpPr>
        <p:grpSpPr>
          <a:xfrm>
            <a:off x="4096211" y="4365524"/>
            <a:ext cx="277406" cy="291637"/>
            <a:chOff x="1493830" y="2879746"/>
            <a:chExt cx="123824" cy="130176"/>
          </a:xfrm>
          <a:solidFill>
            <a:schemeClr val="accent1"/>
          </a:solidFill>
        </p:grpSpPr>
        <p:sp>
          <p:nvSpPr>
            <p:cNvPr id="95" name="Freeform 75">
              <a:extLst>
                <a:ext uri="{FF2B5EF4-FFF2-40B4-BE49-F238E27FC236}">
                  <a16:creationId xmlns:a16="http://schemas.microsoft.com/office/drawing/2014/main" id="{0B53CE51-162B-48A7-AA8A-DD9FD2561E59}"/>
                </a:ext>
              </a:extLst>
            </p:cNvPr>
            <p:cNvSpPr>
              <a:spLocks noEditPoints="1"/>
            </p:cNvSpPr>
            <p:nvPr/>
          </p:nvSpPr>
          <p:spPr bwMode="auto">
            <a:xfrm>
              <a:off x="1493830" y="2884508"/>
              <a:ext cx="95249" cy="125414"/>
            </a:xfrm>
            <a:custGeom>
              <a:avLst/>
              <a:gdLst>
                <a:gd name="T0" fmla="*/ 27 w 53"/>
                <a:gd name="T1" fmla="*/ 0 h 70"/>
                <a:gd name="T2" fmla="*/ 3 w 53"/>
                <a:gd name="T3" fmla="*/ 33 h 70"/>
                <a:gd name="T4" fmla="*/ 0 w 53"/>
                <a:gd name="T5" fmla="*/ 45 h 70"/>
                <a:gd name="T6" fmla="*/ 3 w 53"/>
                <a:gd name="T7" fmla="*/ 57 h 70"/>
                <a:gd name="T8" fmla="*/ 27 w 53"/>
                <a:gd name="T9" fmla="*/ 70 h 70"/>
                <a:gd name="T10" fmla="*/ 50 w 53"/>
                <a:gd name="T11" fmla="*/ 57 h 70"/>
                <a:gd name="T12" fmla="*/ 53 w 53"/>
                <a:gd name="T13" fmla="*/ 45 h 70"/>
                <a:gd name="T14" fmla="*/ 50 w 53"/>
                <a:gd name="T15" fmla="*/ 33 h 70"/>
                <a:gd name="T16" fmla="*/ 27 w 53"/>
                <a:gd name="T17" fmla="*/ 0 h 70"/>
                <a:gd name="T18" fmla="*/ 44 w 53"/>
                <a:gd name="T19" fmla="*/ 44 h 70"/>
                <a:gd name="T20" fmla="*/ 26 w 53"/>
                <a:gd name="T21" fmla="*/ 61 h 70"/>
                <a:gd name="T22" fmla="*/ 24 w 53"/>
                <a:gd name="T23" fmla="*/ 59 h 70"/>
                <a:gd name="T24" fmla="*/ 26 w 53"/>
                <a:gd name="T25" fmla="*/ 56 h 70"/>
                <a:gd name="T26" fmla="*/ 39 w 53"/>
                <a:gd name="T27" fmla="*/ 44 h 70"/>
                <a:gd name="T28" fmla="*/ 41 w 53"/>
                <a:gd name="T29" fmla="*/ 41 h 70"/>
                <a:gd name="T30" fmla="*/ 44 w 53"/>
                <a:gd name="T31"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3" h="70">
                  <a:moveTo>
                    <a:pt x="27" y="0"/>
                  </a:moveTo>
                  <a:cubicBezTo>
                    <a:pt x="3" y="33"/>
                    <a:pt x="3" y="33"/>
                    <a:pt x="3" y="33"/>
                  </a:cubicBezTo>
                  <a:cubicBezTo>
                    <a:pt x="1" y="36"/>
                    <a:pt x="0" y="41"/>
                    <a:pt x="0" y="45"/>
                  </a:cubicBezTo>
                  <a:cubicBezTo>
                    <a:pt x="0" y="49"/>
                    <a:pt x="1" y="53"/>
                    <a:pt x="3" y="57"/>
                  </a:cubicBezTo>
                  <a:cubicBezTo>
                    <a:pt x="8" y="65"/>
                    <a:pt x="17" y="70"/>
                    <a:pt x="27" y="70"/>
                  </a:cubicBezTo>
                  <a:cubicBezTo>
                    <a:pt x="36" y="70"/>
                    <a:pt x="45" y="65"/>
                    <a:pt x="50" y="57"/>
                  </a:cubicBezTo>
                  <a:cubicBezTo>
                    <a:pt x="52" y="53"/>
                    <a:pt x="53" y="49"/>
                    <a:pt x="53" y="45"/>
                  </a:cubicBezTo>
                  <a:cubicBezTo>
                    <a:pt x="53" y="41"/>
                    <a:pt x="52" y="36"/>
                    <a:pt x="50" y="33"/>
                  </a:cubicBezTo>
                  <a:lnTo>
                    <a:pt x="27" y="0"/>
                  </a:lnTo>
                  <a:close/>
                  <a:moveTo>
                    <a:pt x="44" y="44"/>
                  </a:moveTo>
                  <a:cubicBezTo>
                    <a:pt x="44" y="53"/>
                    <a:pt x="36" y="61"/>
                    <a:pt x="26" y="61"/>
                  </a:cubicBezTo>
                  <a:cubicBezTo>
                    <a:pt x="25" y="61"/>
                    <a:pt x="24" y="60"/>
                    <a:pt x="24" y="59"/>
                  </a:cubicBezTo>
                  <a:cubicBezTo>
                    <a:pt x="24" y="57"/>
                    <a:pt x="25" y="56"/>
                    <a:pt x="26" y="56"/>
                  </a:cubicBezTo>
                  <a:cubicBezTo>
                    <a:pt x="33" y="56"/>
                    <a:pt x="39" y="51"/>
                    <a:pt x="39" y="44"/>
                  </a:cubicBezTo>
                  <a:cubicBezTo>
                    <a:pt x="39" y="42"/>
                    <a:pt x="40" y="41"/>
                    <a:pt x="41" y="41"/>
                  </a:cubicBezTo>
                  <a:cubicBezTo>
                    <a:pt x="43" y="41"/>
                    <a:pt x="44" y="42"/>
                    <a:pt x="44"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6" name="Freeform 76">
              <a:extLst>
                <a:ext uri="{FF2B5EF4-FFF2-40B4-BE49-F238E27FC236}">
                  <a16:creationId xmlns:a16="http://schemas.microsoft.com/office/drawing/2014/main" id="{A9D782F9-51AE-4DED-ABD7-DC19A949745A}"/>
                </a:ext>
              </a:extLst>
            </p:cNvPr>
            <p:cNvSpPr>
              <a:spLocks/>
            </p:cNvSpPr>
            <p:nvPr/>
          </p:nvSpPr>
          <p:spPr bwMode="auto">
            <a:xfrm>
              <a:off x="1562092" y="2879746"/>
              <a:ext cx="55562" cy="98426"/>
            </a:xfrm>
            <a:custGeom>
              <a:avLst/>
              <a:gdLst>
                <a:gd name="T0" fmla="*/ 28 w 31"/>
                <a:gd name="T1" fmla="*/ 27 h 55"/>
                <a:gd name="T2" fmla="*/ 9 w 31"/>
                <a:gd name="T3" fmla="*/ 0 h 55"/>
                <a:gd name="T4" fmla="*/ 0 w 31"/>
                <a:gd name="T5" fmla="*/ 12 h 55"/>
                <a:gd name="T6" fmla="*/ 16 w 31"/>
                <a:gd name="T7" fmla="*/ 33 h 55"/>
                <a:gd name="T8" fmla="*/ 16 w 31"/>
                <a:gd name="T9" fmla="*/ 33 h 55"/>
                <a:gd name="T10" fmla="*/ 19 w 31"/>
                <a:gd name="T11" fmla="*/ 47 h 55"/>
                <a:gd name="T12" fmla="*/ 18 w 31"/>
                <a:gd name="T13" fmla="*/ 55 h 55"/>
                <a:gd name="T14" fmla="*/ 29 w 31"/>
                <a:gd name="T15" fmla="*/ 43 h 55"/>
                <a:gd name="T16" fmla="*/ 28 w 31"/>
                <a:gd name="T17" fmla="*/ 2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55">
                  <a:moveTo>
                    <a:pt x="28" y="27"/>
                  </a:moveTo>
                  <a:cubicBezTo>
                    <a:pt x="9" y="0"/>
                    <a:pt x="9" y="0"/>
                    <a:pt x="9" y="0"/>
                  </a:cubicBezTo>
                  <a:cubicBezTo>
                    <a:pt x="0" y="12"/>
                    <a:pt x="0" y="12"/>
                    <a:pt x="0" y="12"/>
                  </a:cubicBezTo>
                  <a:cubicBezTo>
                    <a:pt x="16" y="33"/>
                    <a:pt x="16" y="33"/>
                    <a:pt x="16" y="33"/>
                  </a:cubicBezTo>
                  <a:cubicBezTo>
                    <a:pt x="16" y="33"/>
                    <a:pt x="16" y="33"/>
                    <a:pt x="16" y="33"/>
                  </a:cubicBezTo>
                  <a:cubicBezTo>
                    <a:pt x="18" y="37"/>
                    <a:pt x="20" y="42"/>
                    <a:pt x="19" y="47"/>
                  </a:cubicBezTo>
                  <a:cubicBezTo>
                    <a:pt x="19" y="50"/>
                    <a:pt x="19" y="52"/>
                    <a:pt x="18" y="55"/>
                  </a:cubicBezTo>
                  <a:cubicBezTo>
                    <a:pt x="23" y="52"/>
                    <a:pt x="27" y="48"/>
                    <a:pt x="29" y="43"/>
                  </a:cubicBezTo>
                  <a:cubicBezTo>
                    <a:pt x="31" y="38"/>
                    <a:pt x="30" y="32"/>
                    <a:pt x="2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7" name="Group 96">
            <a:extLst>
              <a:ext uri="{FF2B5EF4-FFF2-40B4-BE49-F238E27FC236}">
                <a16:creationId xmlns:a16="http://schemas.microsoft.com/office/drawing/2014/main" id="{B5D795D8-82F0-48A7-AB16-D34A9D06FA1A}"/>
              </a:ext>
            </a:extLst>
          </p:cNvPr>
          <p:cNvGrpSpPr/>
          <p:nvPr/>
        </p:nvGrpSpPr>
        <p:grpSpPr>
          <a:xfrm>
            <a:off x="7646570" y="2550171"/>
            <a:ext cx="276692" cy="266447"/>
            <a:chOff x="1836728" y="2887683"/>
            <a:chExt cx="128587" cy="123826"/>
          </a:xfrm>
          <a:solidFill>
            <a:schemeClr val="accent1"/>
          </a:solidFill>
        </p:grpSpPr>
        <p:sp>
          <p:nvSpPr>
            <p:cNvPr id="98" name="Freeform 77">
              <a:extLst>
                <a:ext uri="{FF2B5EF4-FFF2-40B4-BE49-F238E27FC236}">
                  <a16:creationId xmlns:a16="http://schemas.microsoft.com/office/drawing/2014/main" id="{45CAA218-43CE-44B6-9A21-6FBBC279396A}"/>
                </a:ext>
              </a:extLst>
            </p:cNvPr>
            <p:cNvSpPr>
              <a:spLocks/>
            </p:cNvSpPr>
            <p:nvPr/>
          </p:nvSpPr>
          <p:spPr bwMode="auto">
            <a:xfrm>
              <a:off x="1836728" y="2917846"/>
              <a:ext cx="128587" cy="93663"/>
            </a:xfrm>
            <a:custGeom>
              <a:avLst/>
              <a:gdLst>
                <a:gd name="T0" fmla="*/ 71 w 72"/>
                <a:gd name="T1" fmla="*/ 13 h 52"/>
                <a:gd name="T2" fmla="*/ 69 w 72"/>
                <a:gd name="T3" fmla="*/ 15 h 52"/>
                <a:gd name="T4" fmla="*/ 69 w 72"/>
                <a:gd name="T5" fmla="*/ 22 h 52"/>
                <a:gd name="T6" fmla="*/ 3 w 72"/>
                <a:gd name="T7" fmla="*/ 22 h 52"/>
                <a:gd name="T8" fmla="*/ 3 w 72"/>
                <a:gd name="T9" fmla="*/ 19 h 52"/>
                <a:gd name="T10" fmla="*/ 19 w 72"/>
                <a:gd name="T11" fmla="*/ 19 h 52"/>
                <a:gd name="T12" fmla="*/ 19 w 72"/>
                <a:gd name="T13" fmla="*/ 13 h 52"/>
                <a:gd name="T14" fmla="*/ 19 w 72"/>
                <a:gd name="T15" fmla="*/ 12 h 52"/>
                <a:gd name="T16" fmla="*/ 17 w 72"/>
                <a:gd name="T17" fmla="*/ 11 h 52"/>
                <a:gd name="T18" fmla="*/ 3 w 72"/>
                <a:gd name="T19" fmla="*/ 11 h 52"/>
                <a:gd name="T20" fmla="*/ 3 w 72"/>
                <a:gd name="T21" fmla="*/ 2 h 52"/>
                <a:gd name="T22" fmla="*/ 2 w 72"/>
                <a:gd name="T23" fmla="*/ 0 h 52"/>
                <a:gd name="T24" fmla="*/ 0 w 72"/>
                <a:gd name="T25" fmla="*/ 2 h 52"/>
                <a:gd name="T26" fmla="*/ 0 w 72"/>
                <a:gd name="T27" fmla="*/ 51 h 52"/>
                <a:gd name="T28" fmla="*/ 2 w 72"/>
                <a:gd name="T29" fmla="*/ 52 h 52"/>
                <a:gd name="T30" fmla="*/ 3 w 72"/>
                <a:gd name="T31" fmla="*/ 51 h 52"/>
                <a:gd name="T32" fmla="*/ 3 w 72"/>
                <a:gd name="T33" fmla="*/ 35 h 52"/>
                <a:gd name="T34" fmla="*/ 69 w 72"/>
                <a:gd name="T35" fmla="*/ 35 h 52"/>
                <a:gd name="T36" fmla="*/ 69 w 72"/>
                <a:gd name="T37" fmla="*/ 51 h 52"/>
                <a:gd name="T38" fmla="*/ 71 w 72"/>
                <a:gd name="T39" fmla="*/ 52 h 52"/>
                <a:gd name="T40" fmla="*/ 72 w 72"/>
                <a:gd name="T41" fmla="*/ 51 h 52"/>
                <a:gd name="T42" fmla="*/ 72 w 72"/>
                <a:gd name="T43" fmla="*/ 15 h 52"/>
                <a:gd name="T44" fmla="*/ 71 w 72"/>
                <a:gd name="T45" fmla="*/ 1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2" h="52">
                  <a:moveTo>
                    <a:pt x="71" y="13"/>
                  </a:moveTo>
                  <a:cubicBezTo>
                    <a:pt x="70" y="13"/>
                    <a:pt x="69" y="14"/>
                    <a:pt x="69" y="15"/>
                  </a:cubicBezTo>
                  <a:cubicBezTo>
                    <a:pt x="69" y="22"/>
                    <a:pt x="69" y="22"/>
                    <a:pt x="69" y="22"/>
                  </a:cubicBezTo>
                  <a:cubicBezTo>
                    <a:pt x="3" y="22"/>
                    <a:pt x="3" y="22"/>
                    <a:pt x="3" y="22"/>
                  </a:cubicBezTo>
                  <a:cubicBezTo>
                    <a:pt x="3" y="19"/>
                    <a:pt x="3" y="19"/>
                    <a:pt x="3" y="19"/>
                  </a:cubicBezTo>
                  <a:cubicBezTo>
                    <a:pt x="19" y="19"/>
                    <a:pt x="19" y="19"/>
                    <a:pt x="19" y="19"/>
                  </a:cubicBezTo>
                  <a:cubicBezTo>
                    <a:pt x="19" y="13"/>
                    <a:pt x="19" y="13"/>
                    <a:pt x="19" y="13"/>
                  </a:cubicBezTo>
                  <a:cubicBezTo>
                    <a:pt x="19" y="13"/>
                    <a:pt x="19" y="12"/>
                    <a:pt x="19" y="12"/>
                  </a:cubicBezTo>
                  <a:cubicBezTo>
                    <a:pt x="18" y="12"/>
                    <a:pt x="18" y="11"/>
                    <a:pt x="17" y="11"/>
                  </a:cubicBezTo>
                  <a:cubicBezTo>
                    <a:pt x="3" y="11"/>
                    <a:pt x="3" y="11"/>
                    <a:pt x="3" y="11"/>
                  </a:cubicBezTo>
                  <a:cubicBezTo>
                    <a:pt x="3" y="2"/>
                    <a:pt x="3" y="2"/>
                    <a:pt x="3" y="2"/>
                  </a:cubicBezTo>
                  <a:cubicBezTo>
                    <a:pt x="3" y="1"/>
                    <a:pt x="2" y="0"/>
                    <a:pt x="2" y="0"/>
                  </a:cubicBezTo>
                  <a:cubicBezTo>
                    <a:pt x="1" y="0"/>
                    <a:pt x="0" y="1"/>
                    <a:pt x="0" y="2"/>
                  </a:cubicBezTo>
                  <a:cubicBezTo>
                    <a:pt x="0" y="51"/>
                    <a:pt x="0" y="51"/>
                    <a:pt x="0" y="51"/>
                  </a:cubicBezTo>
                  <a:cubicBezTo>
                    <a:pt x="0" y="52"/>
                    <a:pt x="1" y="52"/>
                    <a:pt x="2" y="52"/>
                  </a:cubicBezTo>
                  <a:cubicBezTo>
                    <a:pt x="2" y="52"/>
                    <a:pt x="3" y="52"/>
                    <a:pt x="3" y="51"/>
                  </a:cubicBezTo>
                  <a:cubicBezTo>
                    <a:pt x="3" y="35"/>
                    <a:pt x="3" y="35"/>
                    <a:pt x="3" y="35"/>
                  </a:cubicBezTo>
                  <a:cubicBezTo>
                    <a:pt x="69" y="35"/>
                    <a:pt x="69" y="35"/>
                    <a:pt x="69" y="35"/>
                  </a:cubicBezTo>
                  <a:cubicBezTo>
                    <a:pt x="69" y="51"/>
                    <a:pt x="69" y="51"/>
                    <a:pt x="69" y="51"/>
                  </a:cubicBezTo>
                  <a:cubicBezTo>
                    <a:pt x="69" y="52"/>
                    <a:pt x="70" y="52"/>
                    <a:pt x="71" y="52"/>
                  </a:cubicBezTo>
                  <a:cubicBezTo>
                    <a:pt x="71" y="52"/>
                    <a:pt x="72" y="52"/>
                    <a:pt x="72" y="51"/>
                  </a:cubicBezTo>
                  <a:cubicBezTo>
                    <a:pt x="72" y="15"/>
                    <a:pt x="72" y="15"/>
                    <a:pt x="72" y="15"/>
                  </a:cubicBezTo>
                  <a:cubicBezTo>
                    <a:pt x="72" y="14"/>
                    <a:pt x="71" y="13"/>
                    <a:pt x="71"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78">
              <a:extLst>
                <a:ext uri="{FF2B5EF4-FFF2-40B4-BE49-F238E27FC236}">
                  <a16:creationId xmlns:a16="http://schemas.microsoft.com/office/drawing/2014/main" id="{93C7EB30-B0BD-439C-85FD-A8DA8D87926D}"/>
                </a:ext>
              </a:extLst>
            </p:cNvPr>
            <p:cNvSpPr>
              <a:spLocks/>
            </p:cNvSpPr>
            <p:nvPr/>
          </p:nvSpPr>
          <p:spPr bwMode="auto">
            <a:xfrm>
              <a:off x="1914515" y="2887683"/>
              <a:ext cx="44450" cy="42863"/>
            </a:xfrm>
            <a:custGeom>
              <a:avLst/>
              <a:gdLst>
                <a:gd name="T0" fmla="*/ 0 w 28"/>
                <a:gd name="T1" fmla="*/ 9 h 27"/>
                <a:gd name="T2" fmla="*/ 9 w 28"/>
                <a:gd name="T3" fmla="*/ 9 h 27"/>
                <a:gd name="T4" fmla="*/ 9 w 28"/>
                <a:gd name="T5" fmla="*/ 0 h 27"/>
                <a:gd name="T6" fmla="*/ 19 w 28"/>
                <a:gd name="T7" fmla="*/ 0 h 27"/>
                <a:gd name="T8" fmla="*/ 19 w 28"/>
                <a:gd name="T9" fmla="*/ 9 h 27"/>
                <a:gd name="T10" fmla="*/ 28 w 28"/>
                <a:gd name="T11" fmla="*/ 9 h 27"/>
                <a:gd name="T12" fmla="*/ 28 w 28"/>
                <a:gd name="T13" fmla="*/ 18 h 27"/>
                <a:gd name="T14" fmla="*/ 19 w 28"/>
                <a:gd name="T15" fmla="*/ 18 h 27"/>
                <a:gd name="T16" fmla="*/ 19 w 28"/>
                <a:gd name="T17" fmla="*/ 27 h 27"/>
                <a:gd name="T18" fmla="*/ 9 w 28"/>
                <a:gd name="T19" fmla="*/ 27 h 27"/>
                <a:gd name="T20" fmla="*/ 9 w 28"/>
                <a:gd name="T21" fmla="*/ 18 h 27"/>
                <a:gd name="T22" fmla="*/ 0 w 28"/>
                <a:gd name="T23" fmla="*/ 18 h 27"/>
                <a:gd name="T24" fmla="*/ 0 w 28"/>
                <a:gd name="T25" fmla="*/ 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 h="27">
                  <a:moveTo>
                    <a:pt x="0" y="9"/>
                  </a:moveTo>
                  <a:lnTo>
                    <a:pt x="9" y="9"/>
                  </a:lnTo>
                  <a:lnTo>
                    <a:pt x="9" y="0"/>
                  </a:lnTo>
                  <a:lnTo>
                    <a:pt x="19" y="0"/>
                  </a:lnTo>
                  <a:lnTo>
                    <a:pt x="19" y="9"/>
                  </a:lnTo>
                  <a:lnTo>
                    <a:pt x="28" y="9"/>
                  </a:lnTo>
                  <a:lnTo>
                    <a:pt x="28" y="18"/>
                  </a:lnTo>
                  <a:lnTo>
                    <a:pt x="19" y="18"/>
                  </a:lnTo>
                  <a:lnTo>
                    <a:pt x="19" y="27"/>
                  </a:lnTo>
                  <a:lnTo>
                    <a:pt x="9" y="27"/>
                  </a:lnTo>
                  <a:lnTo>
                    <a:pt x="9" y="18"/>
                  </a:lnTo>
                  <a:lnTo>
                    <a:pt x="0" y="18"/>
                  </a:ln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0" name="Group 99">
            <a:extLst>
              <a:ext uri="{FF2B5EF4-FFF2-40B4-BE49-F238E27FC236}">
                <a16:creationId xmlns:a16="http://schemas.microsoft.com/office/drawing/2014/main" id="{FD7A7E30-6541-4EB6-A270-B93886D441E7}"/>
              </a:ext>
            </a:extLst>
          </p:cNvPr>
          <p:cNvGrpSpPr/>
          <p:nvPr/>
        </p:nvGrpSpPr>
        <p:grpSpPr>
          <a:xfrm>
            <a:off x="1393976" y="759798"/>
            <a:ext cx="312737" cy="316557"/>
            <a:chOff x="1489068" y="1027118"/>
            <a:chExt cx="130174" cy="131764"/>
          </a:xfrm>
          <a:solidFill>
            <a:schemeClr val="accent1"/>
          </a:solidFill>
        </p:grpSpPr>
        <p:sp>
          <p:nvSpPr>
            <p:cNvPr id="101" name="Freeform 79">
              <a:extLst>
                <a:ext uri="{FF2B5EF4-FFF2-40B4-BE49-F238E27FC236}">
                  <a16:creationId xmlns:a16="http://schemas.microsoft.com/office/drawing/2014/main" id="{BB1A7C03-6364-4185-B447-88692BEACD4E}"/>
                </a:ext>
              </a:extLst>
            </p:cNvPr>
            <p:cNvSpPr>
              <a:spLocks/>
            </p:cNvSpPr>
            <p:nvPr/>
          </p:nvSpPr>
          <p:spPr bwMode="auto">
            <a:xfrm>
              <a:off x="1543042" y="1089031"/>
              <a:ext cx="17462" cy="42863"/>
            </a:xfrm>
            <a:custGeom>
              <a:avLst/>
              <a:gdLst>
                <a:gd name="T0" fmla="*/ 5 w 9"/>
                <a:gd name="T1" fmla="*/ 20 h 24"/>
                <a:gd name="T2" fmla="*/ 5 w 9"/>
                <a:gd name="T3" fmla="*/ 17 h 24"/>
                <a:gd name="T4" fmla="*/ 9 w 9"/>
                <a:gd name="T5" fmla="*/ 17 h 24"/>
                <a:gd name="T6" fmla="*/ 9 w 9"/>
                <a:gd name="T7" fmla="*/ 16 h 24"/>
                <a:gd name="T8" fmla="*/ 9 w 9"/>
                <a:gd name="T9" fmla="*/ 14 h 24"/>
                <a:gd name="T10" fmla="*/ 5 w 9"/>
                <a:gd name="T11" fmla="*/ 14 h 24"/>
                <a:gd name="T12" fmla="*/ 5 w 9"/>
                <a:gd name="T13" fmla="*/ 12 h 24"/>
                <a:gd name="T14" fmla="*/ 9 w 9"/>
                <a:gd name="T15" fmla="*/ 12 h 24"/>
                <a:gd name="T16" fmla="*/ 9 w 9"/>
                <a:gd name="T17" fmla="*/ 12 h 24"/>
                <a:gd name="T18" fmla="*/ 9 w 9"/>
                <a:gd name="T19" fmla="*/ 9 h 24"/>
                <a:gd name="T20" fmla="*/ 5 w 9"/>
                <a:gd name="T21" fmla="*/ 9 h 24"/>
                <a:gd name="T22" fmla="*/ 5 w 9"/>
                <a:gd name="T23" fmla="*/ 7 h 24"/>
                <a:gd name="T24" fmla="*/ 9 w 9"/>
                <a:gd name="T25" fmla="*/ 7 h 24"/>
                <a:gd name="T26" fmla="*/ 9 w 9"/>
                <a:gd name="T27" fmla="*/ 7 h 24"/>
                <a:gd name="T28" fmla="*/ 9 w 9"/>
                <a:gd name="T29" fmla="*/ 5 h 24"/>
                <a:gd name="T30" fmla="*/ 5 w 9"/>
                <a:gd name="T31" fmla="*/ 5 h 24"/>
                <a:gd name="T32" fmla="*/ 5 w 9"/>
                <a:gd name="T33" fmla="*/ 3 h 24"/>
                <a:gd name="T34" fmla="*/ 9 w 9"/>
                <a:gd name="T35" fmla="*/ 3 h 24"/>
                <a:gd name="T36" fmla="*/ 6 w 9"/>
                <a:gd name="T37" fmla="*/ 0 h 24"/>
                <a:gd name="T38" fmla="*/ 3 w 9"/>
                <a:gd name="T39" fmla="*/ 3 h 24"/>
                <a:gd name="T40" fmla="*/ 3 w 9"/>
                <a:gd name="T41" fmla="*/ 7 h 24"/>
                <a:gd name="T42" fmla="*/ 3 w 9"/>
                <a:gd name="T43" fmla="*/ 12 h 24"/>
                <a:gd name="T44" fmla="*/ 3 w 9"/>
                <a:gd name="T45" fmla="*/ 16 h 24"/>
                <a:gd name="T46" fmla="*/ 3 w 9"/>
                <a:gd name="T47" fmla="*/ 18 h 24"/>
                <a:gd name="T48" fmla="*/ 3 w 9"/>
                <a:gd name="T49" fmla="*/ 19 h 24"/>
                <a:gd name="T50" fmla="*/ 0 w 9"/>
                <a:gd name="T51" fmla="*/ 24 h 24"/>
                <a:gd name="T52" fmla="*/ 0 w 9"/>
                <a:gd name="T53" fmla="*/ 24 h 24"/>
                <a:gd name="T54" fmla="*/ 2 w 9"/>
                <a:gd name="T55" fmla="*/ 24 h 24"/>
                <a:gd name="T56" fmla="*/ 5 w 9"/>
                <a:gd name="T57"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 h="24">
                  <a:moveTo>
                    <a:pt x="5" y="20"/>
                  </a:moveTo>
                  <a:cubicBezTo>
                    <a:pt x="5" y="17"/>
                    <a:pt x="5" y="17"/>
                    <a:pt x="5" y="17"/>
                  </a:cubicBezTo>
                  <a:cubicBezTo>
                    <a:pt x="9" y="17"/>
                    <a:pt x="9" y="17"/>
                    <a:pt x="9" y="17"/>
                  </a:cubicBezTo>
                  <a:cubicBezTo>
                    <a:pt x="9" y="16"/>
                    <a:pt x="9" y="16"/>
                    <a:pt x="9" y="16"/>
                  </a:cubicBezTo>
                  <a:cubicBezTo>
                    <a:pt x="9" y="14"/>
                    <a:pt x="9" y="14"/>
                    <a:pt x="9" y="14"/>
                  </a:cubicBezTo>
                  <a:cubicBezTo>
                    <a:pt x="5" y="14"/>
                    <a:pt x="5" y="14"/>
                    <a:pt x="5" y="14"/>
                  </a:cubicBezTo>
                  <a:cubicBezTo>
                    <a:pt x="5" y="12"/>
                    <a:pt x="5" y="12"/>
                    <a:pt x="5" y="12"/>
                  </a:cubicBezTo>
                  <a:cubicBezTo>
                    <a:pt x="9" y="12"/>
                    <a:pt x="9" y="12"/>
                    <a:pt x="9" y="12"/>
                  </a:cubicBezTo>
                  <a:cubicBezTo>
                    <a:pt x="9" y="12"/>
                    <a:pt x="9" y="12"/>
                    <a:pt x="9" y="12"/>
                  </a:cubicBezTo>
                  <a:cubicBezTo>
                    <a:pt x="9" y="9"/>
                    <a:pt x="9" y="9"/>
                    <a:pt x="9" y="9"/>
                  </a:cubicBezTo>
                  <a:cubicBezTo>
                    <a:pt x="5" y="9"/>
                    <a:pt x="5" y="9"/>
                    <a:pt x="5" y="9"/>
                  </a:cubicBezTo>
                  <a:cubicBezTo>
                    <a:pt x="5" y="7"/>
                    <a:pt x="5" y="7"/>
                    <a:pt x="5" y="7"/>
                  </a:cubicBezTo>
                  <a:cubicBezTo>
                    <a:pt x="9" y="7"/>
                    <a:pt x="9" y="7"/>
                    <a:pt x="9" y="7"/>
                  </a:cubicBezTo>
                  <a:cubicBezTo>
                    <a:pt x="9" y="7"/>
                    <a:pt x="9" y="7"/>
                    <a:pt x="9" y="7"/>
                  </a:cubicBezTo>
                  <a:cubicBezTo>
                    <a:pt x="9" y="5"/>
                    <a:pt x="9" y="5"/>
                    <a:pt x="9" y="5"/>
                  </a:cubicBezTo>
                  <a:cubicBezTo>
                    <a:pt x="5" y="5"/>
                    <a:pt x="5" y="5"/>
                    <a:pt x="5" y="5"/>
                  </a:cubicBezTo>
                  <a:cubicBezTo>
                    <a:pt x="5" y="3"/>
                    <a:pt x="5" y="3"/>
                    <a:pt x="5" y="3"/>
                  </a:cubicBezTo>
                  <a:cubicBezTo>
                    <a:pt x="9" y="3"/>
                    <a:pt x="9" y="3"/>
                    <a:pt x="9" y="3"/>
                  </a:cubicBezTo>
                  <a:cubicBezTo>
                    <a:pt x="9" y="1"/>
                    <a:pt x="8" y="0"/>
                    <a:pt x="6" y="0"/>
                  </a:cubicBezTo>
                  <a:cubicBezTo>
                    <a:pt x="4" y="0"/>
                    <a:pt x="3" y="2"/>
                    <a:pt x="3" y="3"/>
                  </a:cubicBezTo>
                  <a:cubicBezTo>
                    <a:pt x="3" y="7"/>
                    <a:pt x="3" y="7"/>
                    <a:pt x="3" y="7"/>
                  </a:cubicBezTo>
                  <a:cubicBezTo>
                    <a:pt x="3" y="12"/>
                    <a:pt x="3" y="12"/>
                    <a:pt x="3" y="12"/>
                  </a:cubicBezTo>
                  <a:cubicBezTo>
                    <a:pt x="3" y="16"/>
                    <a:pt x="3" y="16"/>
                    <a:pt x="3" y="16"/>
                  </a:cubicBezTo>
                  <a:cubicBezTo>
                    <a:pt x="3" y="18"/>
                    <a:pt x="3" y="18"/>
                    <a:pt x="3" y="18"/>
                  </a:cubicBezTo>
                  <a:cubicBezTo>
                    <a:pt x="3" y="19"/>
                    <a:pt x="3" y="19"/>
                    <a:pt x="3" y="19"/>
                  </a:cubicBezTo>
                  <a:cubicBezTo>
                    <a:pt x="1" y="20"/>
                    <a:pt x="0" y="22"/>
                    <a:pt x="0" y="24"/>
                  </a:cubicBezTo>
                  <a:cubicBezTo>
                    <a:pt x="0" y="24"/>
                    <a:pt x="0" y="24"/>
                    <a:pt x="0" y="24"/>
                  </a:cubicBezTo>
                  <a:cubicBezTo>
                    <a:pt x="2" y="24"/>
                    <a:pt x="2" y="24"/>
                    <a:pt x="2" y="24"/>
                  </a:cubicBezTo>
                  <a:cubicBezTo>
                    <a:pt x="3" y="22"/>
                    <a:pt x="4" y="21"/>
                    <a:pt x="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2" name="Freeform 80">
              <a:extLst>
                <a:ext uri="{FF2B5EF4-FFF2-40B4-BE49-F238E27FC236}">
                  <a16:creationId xmlns:a16="http://schemas.microsoft.com/office/drawing/2014/main" id="{C53B3D55-3983-4653-9B95-0300FEF1F1DF}"/>
                </a:ext>
              </a:extLst>
            </p:cNvPr>
            <p:cNvSpPr>
              <a:spLocks noEditPoints="1"/>
            </p:cNvSpPr>
            <p:nvPr/>
          </p:nvSpPr>
          <p:spPr bwMode="auto">
            <a:xfrm>
              <a:off x="1489068" y="1069981"/>
              <a:ext cx="130174" cy="88901"/>
            </a:xfrm>
            <a:custGeom>
              <a:avLst/>
              <a:gdLst>
                <a:gd name="T0" fmla="*/ 0 w 72"/>
                <a:gd name="T1" fmla="*/ 49 h 49"/>
                <a:gd name="T2" fmla="*/ 72 w 72"/>
                <a:gd name="T3" fmla="*/ 49 h 49"/>
                <a:gd name="T4" fmla="*/ 72 w 72"/>
                <a:gd name="T5" fmla="*/ 0 h 49"/>
                <a:gd name="T6" fmla="*/ 0 w 72"/>
                <a:gd name="T7" fmla="*/ 0 h 49"/>
                <a:gd name="T8" fmla="*/ 0 w 72"/>
                <a:gd name="T9" fmla="*/ 49 h 49"/>
                <a:gd name="T10" fmla="*/ 31 w 72"/>
                <a:gd name="T11" fmla="*/ 28 h 49"/>
                <a:gd name="T12" fmla="*/ 31 w 72"/>
                <a:gd name="T13" fmla="*/ 13 h 49"/>
                <a:gd name="T14" fmla="*/ 36 w 72"/>
                <a:gd name="T15" fmla="*/ 8 h 49"/>
                <a:gd name="T16" fmla="*/ 41 w 72"/>
                <a:gd name="T17" fmla="*/ 13 h 49"/>
                <a:gd name="T18" fmla="*/ 41 w 72"/>
                <a:gd name="T19" fmla="*/ 13 h 49"/>
                <a:gd name="T20" fmla="*/ 41 w 72"/>
                <a:gd name="T21" fmla="*/ 13 h 49"/>
                <a:gd name="T22" fmla="*/ 41 w 72"/>
                <a:gd name="T23" fmla="*/ 15 h 49"/>
                <a:gd name="T24" fmla="*/ 41 w 72"/>
                <a:gd name="T25" fmla="*/ 17 h 49"/>
                <a:gd name="T26" fmla="*/ 41 w 72"/>
                <a:gd name="T27" fmla="*/ 19 h 49"/>
                <a:gd name="T28" fmla="*/ 41 w 72"/>
                <a:gd name="T29" fmla="*/ 22 h 49"/>
                <a:gd name="T30" fmla="*/ 41 w 72"/>
                <a:gd name="T31" fmla="*/ 24 h 49"/>
                <a:gd name="T32" fmla="*/ 41 w 72"/>
                <a:gd name="T33" fmla="*/ 27 h 49"/>
                <a:gd name="T34" fmla="*/ 41 w 72"/>
                <a:gd name="T35" fmla="*/ 28 h 49"/>
                <a:gd name="T36" fmla="*/ 44 w 72"/>
                <a:gd name="T37" fmla="*/ 34 h 49"/>
                <a:gd name="T38" fmla="*/ 36 w 72"/>
                <a:gd name="T39" fmla="*/ 41 h 49"/>
                <a:gd name="T40" fmla="*/ 28 w 72"/>
                <a:gd name="T41" fmla="*/ 34 h 49"/>
                <a:gd name="T42" fmla="*/ 31 w 72"/>
                <a:gd name="T43" fmla="*/ 2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2" h="49">
                  <a:moveTo>
                    <a:pt x="0" y="49"/>
                  </a:moveTo>
                  <a:cubicBezTo>
                    <a:pt x="72" y="49"/>
                    <a:pt x="72" y="49"/>
                    <a:pt x="72" y="49"/>
                  </a:cubicBezTo>
                  <a:cubicBezTo>
                    <a:pt x="72" y="0"/>
                    <a:pt x="72" y="0"/>
                    <a:pt x="72" y="0"/>
                  </a:cubicBezTo>
                  <a:cubicBezTo>
                    <a:pt x="0" y="0"/>
                    <a:pt x="0" y="0"/>
                    <a:pt x="0" y="0"/>
                  </a:cubicBezTo>
                  <a:lnTo>
                    <a:pt x="0" y="49"/>
                  </a:lnTo>
                  <a:close/>
                  <a:moveTo>
                    <a:pt x="31" y="28"/>
                  </a:moveTo>
                  <a:cubicBezTo>
                    <a:pt x="31" y="13"/>
                    <a:pt x="31" y="13"/>
                    <a:pt x="31" y="13"/>
                  </a:cubicBezTo>
                  <a:cubicBezTo>
                    <a:pt x="31" y="10"/>
                    <a:pt x="33" y="8"/>
                    <a:pt x="36" y="8"/>
                  </a:cubicBezTo>
                  <a:cubicBezTo>
                    <a:pt x="39" y="8"/>
                    <a:pt x="41" y="10"/>
                    <a:pt x="41" y="13"/>
                  </a:cubicBezTo>
                  <a:cubicBezTo>
                    <a:pt x="41" y="13"/>
                    <a:pt x="41" y="13"/>
                    <a:pt x="41" y="13"/>
                  </a:cubicBezTo>
                  <a:cubicBezTo>
                    <a:pt x="41" y="13"/>
                    <a:pt x="41" y="13"/>
                    <a:pt x="41" y="13"/>
                  </a:cubicBezTo>
                  <a:cubicBezTo>
                    <a:pt x="41" y="15"/>
                    <a:pt x="41" y="15"/>
                    <a:pt x="41" y="15"/>
                  </a:cubicBezTo>
                  <a:cubicBezTo>
                    <a:pt x="41" y="17"/>
                    <a:pt x="41" y="17"/>
                    <a:pt x="41" y="17"/>
                  </a:cubicBezTo>
                  <a:cubicBezTo>
                    <a:pt x="41" y="19"/>
                    <a:pt x="41" y="19"/>
                    <a:pt x="41" y="19"/>
                  </a:cubicBezTo>
                  <a:cubicBezTo>
                    <a:pt x="41" y="22"/>
                    <a:pt x="41" y="22"/>
                    <a:pt x="41" y="22"/>
                  </a:cubicBezTo>
                  <a:cubicBezTo>
                    <a:pt x="41" y="24"/>
                    <a:pt x="41" y="24"/>
                    <a:pt x="41" y="24"/>
                  </a:cubicBezTo>
                  <a:cubicBezTo>
                    <a:pt x="41" y="27"/>
                    <a:pt x="41" y="27"/>
                    <a:pt x="41" y="27"/>
                  </a:cubicBezTo>
                  <a:cubicBezTo>
                    <a:pt x="41" y="28"/>
                    <a:pt x="41" y="28"/>
                    <a:pt x="41" y="28"/>
                  </a:cubicBezTo>
                  <a:cubicBezTo>
                    <a:pt x="43" y="29"/>
                    <a:pt x="44" y="31"/>
                    <a:pt x="44" y="34"/>
                  </a:cubicBezTo>
                  <a:cubicBezTo>
                    <a:pt x="44" y="38"/>
                    <a:pt x="40" y="41"/>
                    <a:pt x="36" y="41"/>
                  </a:cubicBezTo>
                  <a:cubicBezTo>
                    <a:pt x="32" y="41"/>
                    <a:pt x="28" y="38"/>
                    <a:pt x="28" y="34"/>
                  </a:cubicBezTo>
                  <a:cubicBezTo>
                    <a:pt x="28" y="31"/>
                    <a:pt x="29" y="29"/>
                    <a:pt x="3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3" name="Freeform 81">
              <a:extLst>
                <a:ext uri="{FF2B5EF4-FFF2-40B4-BE49-F238E27FC236}">
                  <a16:creationId xmlns:a16="http://schemas.microsoft.com/office/drawing/2014/main" id="{5954364A-BD8E-4845-AECC-0872DDC23A1A}"/>
                </a:ext>
              </a:extLst>
            </p:cNvPr>
            <p:cNvSpPr>
              <a:spLocks/>
            </p:cNvSpPr>
            <p:nvPr/>
          </p:nvSpPr>
          <p:spPr bwMode="auto">
            <a:xfrm>
              <a:off x="1489068" y="1027118"/>
              <a:ext cx="61912" cy="34925"/>
            </a:xfrm>
            <a:custGeom>
              <a:avLst/>
              <a:gdLst>
                <a:gd name="T0" fmla="*/ 39 w 39"/>
                <a:gd name="T1" fmla="*/ 0 h 22"/>
                <a:gd name="T2" fmla="*/ 13 w 39"/>
                <a:gd name="T3" fmla="*/ 0 h 22"/>
                <a:gd name="T4" fmla="*/ 0 w 39"/>
                <a:gd name="T5" fmla="*/ 22 h 22"/>
                <a:gd name="T6" fmla="*/ 35 w 39"/>
                <a:gd name="T7" fmla="*/ 22 h 22"/>
                <a:gd name="T8" fmla="*/ 39 w 39"/>
                <a:gd name="T9" fmla="*/ 0 h 22"/>
              </a:gdLst>
              <a:ahLst/>
              <a:cxnLst>
                <a:cxn ang="0">
                  <a:pos x="T0" y="T1"/>
                </a:cxn>
                <a:cxn ang="0">
                  <a:pos x="T2" y="T3"/>
                </a:cxn>
                <a:cxn ang="0">
                  <a:pos x="T4" y="T5"/>
                </a:cxn>
                <a:cxn ang="0">
                  <a:pos x="T6" y="T7"/>
                </a:cxn>
                <a:cxn ang="0">
                  <a:pos x="T8" y="T9"/>
                </a:cxn>
              </a:cxnLst>
              <a:rect l="0" t="0" r="r" b="b"/>
              <a:pathLst>
                <a:path w="39" h="22">
                  <a:moveTo>
                    <a:pt x="39" y="0"/>
                  </a:moveTo>
                  <a:lnTo>
                    <a:pt x="13" y="0"/>
                  </a:lnTo>
                  <a:lnTo>
                    <a:pt x="0" y="22"/>
                  </a:lnTo>
                  <a:lnTo>
                    <a:pt x="35" y="22"/>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Freeform 82">
              <a:extLst>
                <a:ext uri="{FF2B5EF4-FFF2-40B4-BE49-F238E27FC236}">
                  <a16:creationId xmlns:a16="http://schemas.microsoft.com/office/drawing/2014/main" id="{0B057924-AEA7-401E-9D87-4E1EF6F867CE}"/>
                </a:ext>
              </a:extLst>
            </p:cNvPr>
            <p:cNvSpPr>
              <a:spLocks/>
            </p:cNvSpPr>
            <p:nvPr/>
          </p:nvSpPr>
          <p:spPr bwMode="auto">
            <a:xfrm>
              <a:off x="1557330" y="1027118"/>
              <a:ext cx="61912" cy="34925"/>
            </a:xfrm>
            <a:custGeom>
              <a:avLst/>
              <a:gdLst>
                <a:gd name="T0" fmla="*/ 39 w 39"/>
                <a:gd name="T1" fmla="*/ 22 h 22"/>
                <a:gd name="T2" fmla="*/ 26 w 39"/>
                <a:gd name="T3" fmla="*/ 0 h 22"/>
                <a:gd name="T4" fmla="*/ 0 w 39"/>
                <a:gd name="T5" fmla="*/ 0 h 22"/>
                <a:gd name="T6" fmla="*/ 3 w 39"/>
                <a:gd name="T7" fmla="*/ 22 h 22"/>
                <a:gd name="T8" fmla="*/ 39 w 39"/>
                <a:gd name="T9" fmla="*/ 22 h 22"/>
              </a:gdLst>
              <a:ahLst/>
              <a:cxnLst>
                <a:cxn ang="0">
                  <a:pos x="T0" y="T1"/>
                </a:cxn>
                <a:cxn ang="0">
                  <a:pos x="T2" y="T3"/>
                </a:cxn>
                <a:cxn ang="0">
                  <a:pos x="T4" y="T5"/>
                </a:cxn>
                <a:cxn ang="0">
                  <a:pos x="T6" y="T7"/>
                </a:cxn>
                <a:cxn ang="0">
                  <a:pos x="T8" y="T9"/>
                </a:cxn>
              </a:cxnLst>
              <a:rect l="0" t="0" r="r" b="b"/>
              <a:pathLst>
                <a:path w="39" h="22">
                  <a:moveTo>
                    <a:pt x="39" y="22"/>
                  </a:moveTo>
                  <a:lnTo>
                    <a:pt x="26" y="0"/>
                  </a:lnTo>
                  <a:lnTo>
                    <a:pt x="0" y="0"/>
                  </a:lnTo>
                  <a:lnTo>
                    <a:pt x="3" y="22"/>
                  </a:lnTo>
                  <a:lnTo>
                    <a:pt x="3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5" name="Group 104">
            <a:extLst>
              <a:ext uri="{FF2B5EF4-FFF2-40B4-BE49-F238E27FC236}">
                <a16:creationId xmlns:a16="http://schemas.microsoft.com/office/drawing/2014/main" id="{1A9CB2F2-AE54-4FFC-9B0E-0A3B5529A60E}"/>
              </a:ext>
            </a:extLst>
          </p:cNvPr>
          <p:cNvGrpSpPr/>
          <p:nvPr/>
        </p:nvGrpSpPr>
        <p:grpSpPr>
          <a:xfrm>
            <a:off x="3125982" y="1655454"/>
            <a:ext cx="368415" cy="336972"/>
            <a:chOff x="454025" y="1851037"/>
            <a:chExt cx="130174" cy="119064"/>
          </a:xfrm>
          <a:solidFill>
            <a:schemeClr val="accent1"/>
          </a:solidFill>
        </p:grpSpPr>
        <p:sp>
          <p:nvSpPr>
            <p:cNvPr id="106" name="Freeform 83">
              <a:extLst>
                <a:ext uri="{FF2B5EF4-FFF2-40B4-BE49-F238E27FC236}">
                  <a16:creationId xmlns:a16="http://schemas.microsoft.com/office/drawing/2014/main" id="{E908E30C-B546-4B4F-9786-297E2562FB6F}"/>
                </a:ext>
              </a:extLst>
            </p:cNvPr>
            <p:cNvSpPr>
              <a:spLocks/>
            </p:cNvSpPr>
            <p:nvPr/>
          </p:nvSpPr>
          <p:spPr bwMode="auto">
            <a:xfrm>
              <a:off x="454025" y="1911363"/>
              <a:ext cx="130174" cy="58738"/>
            </a:xfrm>
            <a:custGeom>
              <a:avLst/>
              <a:gdLst>
                <a:gd name="T0" fmla="*/ 71 w 72"/>
                <a:gd name="T1" fmla="*/ 2 h 33"/>
                <a:gd name="T2" fmla="*/ 64 w 72"/>
                <a:gd name="T3" fmla="*/ 2 h 33"/>
                <a:gd name="T4" fmla="*/ 48 w 72"/>
                <a:gd name="T5" fmla="*/ 15 h 33"/>
                <a:gd name="T6" fmla="*/ 35 w 72"/>
                <a:gd name="T7" fmla="*/ 15 h 33"/>
                <a:gd name="T8" fmla="*/ 34 w 72"/>
                <a:gd name="T9" fmla="*/ 14 h 33"/>
                <a:gd name="T10" fmla="*/ 35 w 72"/>
                <a:gd name="T11" fmla="*/ 13 h 33"/>
                <a:gd name="T12" fmla="*/ 43 w 72"/>
                <a:gd name="T13" fmla="*/ 13 h 33"/>
                <a:gd name="T14" fmla="*/ 49 w 72"/>
                <a:gd name="T15" fmla="*/ 7 h 33"/>
                <a:gd name="T16" fmla="*/ 43 w 72"/>
                <a:gd name="T17" fmla="*/ 2 h 33"/>
                <a:gd name="T18" fmla="*/ 37 w 72"/>
                <a:gd name="T19" fmla="*/ 2 h 33"/>
                <a:gd name="T20" fmla="*/ 32 w 72"/>
                <a:gd name="T21" fmla="*/ 1 h 33"/>
                <a:gd name="T22" fmla="*/ 25 w 72"/>
                <a:gd name="T23" fmla="*/ 0 h 33"/>
                <a:gd name="T24" fmla="*/ 14 w 72"/>
                <a:gd name="T25" fmla="*/ 4 h 33"/>
                <a:gd name="T26" fmla="*/ 0 w 72"/>
                <a:gd name="T27" fmla="*/ 18 h 33"/>
                <a:gd name="T28" fmla="*/ 16 w 72"/>
                <a:gd name="T29" fmla="*/ 33 h 33"/>
                <a:gd name="T30" fmla="*/ 21 w 72"/>
                <a:gd name="T31" fmla="*/ 28 h 33"/>
                <a:gd name="T32" fmla="*/ 47 w 72"/>
                <a:gd name="T33" fmla="*/ 28 h 33"/>
                <a:gd name="T34" fmla="*/ 54 w 72"/>
                <a:gd name="T35" fmla="*/ 25 h 33"/>
                <a:gd name="T36" fmla="*/ 71 w 72"/>
                <a:gd name="T37" fmla="*/ 6 h 33"/>
                <a:gd name="T38" fmla="*/ 71 w 72"/>
                <a:gd name="T39" fmla="*/ 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33">
                  <a:moveTo>
                    <a:pt x="71" y="2"/>
                  </a:moveTo>
                  <a:cubicBezTo>
                    <a:pt x="69" y="1"/>
                    <a:pt x="66" y="1"/>
                    <a:pt x="64" y="2"/>
                  </a:cubicBezTo>
                  <a:cubicBezTo>
                    <a:pt x="61" y="4"/>
                    <a:pt x="48" y="15"/>
                    <a:pt x="48" y="15"/>
                  </a:cubicBezTo>
                  <a:cubicBezTo>
                    <a:pt x="35" y="15"/>
                    <a:pt x="35" y="15"/>
                    <a:pt x="35" y="15"/>
                  </a:cubicBezTo>
                  <a:cubicBezTo>
                    <a:pt x="34" y="15"/>
                    <a:pt x="34" y="14"/>
                    <a:pt x="34" y="14"/>
                  </a:cubicBezTo>
                  <a:cubicBezTo>
                    <a:pt x="34" y="13"/>
                    <a:pt x="34" y="13"/>
                    <a:pt x="35" y="13"/>
                  </a:cubicBezTo>
                  <a:cubicBezTo>
                    <a:pt x="43" y="13"/>
                    <a:pt x="43" y="13"/>
                    <a:pt x="43" y="13"/>
                  </a:cubicBezTo>
                  <a:cubicBezTo>
                    <a:pt x="46" y="13"/>
                    <a:pt x="49" y="11"/>
                    <a:pt x="49" y="7"/>
                  </a:cubicBezTo>
                  <a:cubicBezTo>
                    <a:pt x="49" y="4"/>
                    <a:pt x="46" y="2"/>
                    <a:pt x="43" y="2"/>
                  </a:cubicBezTo>
                  <a:cubicBezTo>
                    <a:pt x="38" y="2"/>
                    <a:pt x="37" y="2"/>
                    <a:pt x="37" y="2"/>
                  </a:cubicBezTo>
                  <a:cubicBezTo>
                    <a:pt x="35" y="2"/>
                    <a:pt x="33" y="2"/>
                    <a:pt x="32" y="1"/>
                  </a:cubicBezTo>
                  <a:cubicBezTo>
                    <a:pt x="30" y="0"/>
                    <a:pt x="27" y="0"/>
                    <a:pt x="25" y="0"/>
                  </a:cubicBezTo>
                  <a:cubicBezTo>
                    <a:pt x="21" y="0"/>
                    <a:pt x="17" y="2"/>
                    <a:pt x="14" y="4"/>
                  </a:cubicBezTo>
                  <a:cubicBezTo>
                    <a:pt x="0" y="18"/>
                    <a:pt x="0" y="18"/>
                    <a:pt x="0" y="18"/>
                  </a:cubicBezTo>
                  <a:cubicBezTo>
                    <a:pt x="16" y="33"/>
                    <a:pt x="16" y="33"/>
                    <a:pt x="16" y="33"/>
                  </a:cubicBezTo>
                  <a:cubicBezTo>
                    <a:pt x="21" y="28"/>
                    <a:pt x="21" y="28"/>
                    <a:pt x="21" y="28"/>
                  </a:cubicBezTo>
                  <a:cubicBezTo>
                    <a:pt x="47" y="28"/>
                    <a:pt x="47" y="28"/>
                    <a:pt x="47" y="28"/>
                  </a:cubicBezTo>
                  <a:cubicBezTo>
                    <a:pt x="49" y="28"/>
                    <a:pt x="52" y="27"/>
                    <a:pt x="54" y="25"/>
                  </a:cubicBezTo>
                  <a:cubicBezTo>
                    <a:pt x="71" y="6"/>
                    <a:pt x="71" y="6"/>
                    <a:pt x="71" y="6"/>
                  </a:cubicBezTo>
                  <a:cubicBezTo>
                    <a:pt x="72" y="5"/>
                    <a:pt x="72" y="3"/>
                    <a:pt x="7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Freeform 84">
              <a:extLst>
                <a:ext uri="{FF2B5EF4-FFF2-40B4-BE49-F238E27FC236}">
                  <a16:creationId xmlns:a16="http://schemas.microsoft.com/office/drawing/2014/main" id="{B3740ED2-200B-4935-AE59-7F0A4DB224FB}"/>
                </a:ext>
              </a:extLst>
            </p:cNvPr>
            <p:cNvSpPr>
              <a:spLocks/>
            </p:cNvSpPr>
            <p:nvPr/>
          </p:nvSpPr>
          <p:spPr bwMode="auto">
            <a:xfrm>
              <a:off x="479425" y="1858975"/>
              <a:ext cx="20637" cy="31750"/>
            </a:xfrm>
            <a:custGeom>
              <a:avLst/>
              <a:gdLst>
                <a:gd name="T0" fmla="*/ 11 w 11"/>
                <a:gd name="T1" fmla="*/ 18 h 18"/>
                <a:gd name="T2" fmla="*/ 8 w 11"/>
                <a:gd name="T3" fmla="*/ 11 h 18"/>
                <a:gd name="T4" fmla="*/ 9 w 11"/>
                <a:gd name="T5" fmla="*/ 7 h 18"/>
                <a:gd name="T6" fmla="*/ 2 w 11"/>
                <a:gd name="T7" fmla="*/ 0 h 18"/>
                <a:gd name="T8" fmla="*/ 0 w 11"/>
                <a:gd name="T9" fmla="*/ 7 h 18"/>
                <a:gd name="T10" fmla="*/ 11 w 11"/>
                <a:gd name="T11" fmla="*/ 18 h 18"/>
              </a:gdLst>
              <a:ahLst/>
              <a:cxnLst>
                <a:cxn ang="0">
                  <a:pos x="T0" y="T1"/>
                </a:cxn>
                <a:cxn ang="0">
                  <a:pos x="T2" y="T3"/>
                </a:cxn>
                <a:cxn ang="0">
                  <a:pos x="T4" y="T5"/>
                </a:cxn>
                <a:cxn ang="0">
                  <a:pos x="T6" y="T7"/>
                </a:cxn>
                <a:cxn ang="0">
                  <a:pos x="T8" y="T9"/>
                </a:cxn>
                <a:cxn ang="0">
                  <a:pos x="T10" y="T11"/>
                </a:cxn>
              </a:cxnLst>
              <a:rect l="0" t="0" r="r" b="b"/>
              <a:pathLst>
                <a:path w="11" h="18">
                  <a:moveTo>
                    <a:pt x="11" y="18"/>
                  </a:moveTo>
                  <a:cubicBezTo>
                    <a:pt x="9" y="16"/>
                    <a:pt x="8" y="14"/>
                    <a:pt x="8" y="11"/>
                  </a:cubicBezTo>
                  <a:cubicBezTo>
                    <a:pt x="8" y="9"/>
                    <a:pt x="8" y="8"/>
                    <a:pt x="9" y="7"/>
                  </a:cubicBezTo>
                  <a:cubicBezTo>
                    <a:pt x="2" y="0"/>
                    <a:pt x="2" y="0"/>
                    <a:pt x="2" y="0"/>
                  </a:cubicBezTo>
                  <a:cubicBezTo>
                    <a:pt x="1" y="2"/>
                    <a:pt x="0" y="5"/>
                    <a:pt x="0" y="7"/>
                  </a:cubicBezTo>
                  <a:cubicBezTo>
                    <a:pt x="0" y="13"/>
                    <a:pt x="5" y="18"/>
                    <a:pt x="11"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Freeform 85">
              <a:extLst>
                <a:ext uri="{FF2B5EF4-FFF2-40B4-BE49-F238E27FC236}">
                  <a16:creationId xmlns:a16="http://schemas.microsoft.com/office/drawing/2014/main" id="{2F7084E8-AC17-43E9-A31D-61999CD9594A}"/>
                </a:ext>
              </a:extLst>
            </p:cNvPr>
            <p:cNvSpPr>
              <a:spLocks/>
            </p:cNvSpPr>
            <p:nvPr/>
          </p:nvSpPr>
          <p:spPr bwMode="auto">
            <a:xfrm>
              <a:off x="488950" y="1851037"/>
              <a:ext cx="26987" cy="12700"/>
            </a:xfrm>
            <a:custGeom>
              <a:avLst/>
              <a:gdLst>
                <a:gd name="T0" fmla="*/ 14 w 15"/>
                <a:gd name="T1" fmla="*/ 3 h 7"/>
                <a:gd name="T2" fmla="*/ 15 w 15"/>
                <a:gd name="T3" fmla="*/ 3 h 7"/>
                <a:gd name="T4" fmla="*/ 7 w 15"/>
                <a:gd name="T5" fmla="*/ 0 h 7"/>
                <a:gd name="T6" fmla="*/ 0 w 15"/>
                <a:gd name="T7" fmla="*/ 2 h 7"/>
                <a:gd name="T8" fmla="*/ 6 w 15"/>
                <a:gd name="T9" fmla="*/ 7 h 7"/>
                <a:gd name="T10" fmla="*/ 14 w 15"/>
                <a:gd name="T11" fmla="*/ 3 h 7"/>
              </a:gdLst>
              <a:ahLst/>
              <a:cxnLst>
                <a:cxn ang="0">
                  <a:pos x="T0" y="T1"/>
                </a:cxn>
                <a:cxn ang="0">
                  <a:pos x="T2" y="T3"/>
                </a:cxn>
                <a:cxn ang="0">
                  <a:pos x="T4" y="T5"/>
                </a:cxn>
                <a:cxn ang="0">
                  <a:pos x="T6" y="T7"/>
                </a:cxn>
                <a:cxn ang="0">
                  <a:pos x="T8" y="T9"/>
                </a:cxn>
                <a:cxn ang="0">
                  <a:pos x="T10" y="T11"/>
                </a:cxn>
              </a:cxnLst>
              <a:rect l="0" t="0" r="r" b="b"/>
              <a:pathLst>
                <a:path w="15" h="7">
                  <a:moveTo>
                    <a:pt x="14" y="3"/>
                  </a:moveTo>
                  <a:cubicBezTo>
                    <a:pt x="15" y="3"/>
                    <a:pt x="15" y="3"/>
                    <a:pt x="15" y="3"/>
                  </a:cubicBezTo>
                  <a:cubicBezTo>
                    <a:pt x="13" y="1"/>
                    <a:pt x="10" y="0"/>
                    <a:pt x="7" y="0"/>
                  </a:cubicBezTo>
                  <a:cubicBezTo>
                    <a:pt x="4" y="0"/>
                    <a:pt x="2" y="0"/>
                    <a:pt x="0" y="2"/>
                  </a:cubicBezTo>
                  <a:cubicBezTo>
                    <a:pt x="6" y="7"/>
                    <a:pt x="6" y="7"/>
                    <a:pt x="6" y="7"/>
                  </a:cubicBezTo>
                  <a:cubicBezTo>
                    <a:pt x="8" y="5"/>
                    <a:pt x="11" y="3"/>
                    <a:pt x="1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Freeform 86">
              <a:extLst>
                <a:ext uri="{FF2B5EF4-FFF2-40B4-BE49-F238E27FC236}">
                  <a16:creationId xmlns:a16="http://schemas.microsoft.com/office/drawing/2014/main" id="{56DD52D7-E124-42C0-843C-77A332FDFA04}"/>
                </a:ext>
              </a:extLst>
            </p:cNvPr>
            <p:cNvSpPr>
              <a:spLocks/>
            </p:cNvSpPr>
            <p:nvPr/>
          </p:nvSpPr>
          <p:spPr bwMode="auto">
            <a:xfrm>
              <a:off x="501650" y="1863737"/>
              <a:ext cx="26987" cy="26988"/>
            </a:xfrm>
            <a:custGeom>
              <a:avLst/>
              <a:gdLst>
                <a:gd name="T0" fmla="*/ 0 w 15"/>
                <a:gd name="T1" fmla="*/ 8 h 15"/>
                <a:gd name="T2" fmla="*/ 7 w 15"/>
                <a:gd name="T3" fmla="*/ 15 h 15"/>
                <a:gd name="T4" fmla="*/ 15 w 15"/>
                <a:gd name="T5" fmla="*/ 15 h 15"/>
                <a:gd name="T6" fmla="*/ 15 w 15"/>
                <a:gd name="T7" fmla="*/ 0 h 15"/>
                <a:gd name="T8" fmla="*/ 7 w 15"/>
                <a:gd name="T9" fmla="*/ 0 h 15"/>
                <a:gd name="T10" fmla="*/ 0 w 15"/>
                <a:gd name="T11" fmla="*/ 8 h 15"/>
              </a:gdLst>
              <a:ahLst/>
              <a:cxnLst>
                <a:cxn ang="0">
                  <a:pos x="T0" y="T1"/>
                </a:cxn>
                <a:cxn ang="0">
                  <a:pos x="T2" y="T3"/>
                </a:cxn>
                <a:cxn ang="0">
                  <a:pos x="T4" y="T5"/>
                </a:cxn>
                <a:cxn ang="0">
                  <a:pos x="T6" y="T7"/>
                </a:cxn>
                <a:cxn ang="0">
                  <a:pos x="T8" y="T9"/>
                </a:cxn>
                <a:cxn ang="0">
                  <a:pos x="T10" y="T11"/>
                </a:cxn>
              </a:cxnLst>
              <a:rect l="0" t="0" r="r" b="b"/>
              <a:pathLst>
                <a:path w="15" h="15">
                  <a:moveTo>
                    <a:pt x="0" y="8"/>
                  </a:moveTo>
                  <a:cubicBezTo>
                    <a:pt x="0" y="12"/>
                    <a:pt x="3" y="15"/>
                    <a:pt x="7" y="15"/>
                  </a:cubicBezTo>
                  <a:cubicBezTo>
                    <a:pt x="15" y="15"/>
                    <a:pt x="15" y="15"/>
                    <a:pt x="15" y="15"/>
                  </a:cubicBezTo>
                  <a:cubicBezTo>
                    <a:pt x="15" y="0"/>
                    <a:pt x="15" y="0"/>
                    <a:pt x="15" y="0"/>
                  </a:cubicBezTo>
                  <a:cubicBezTo>
                    <a:pt x="7" y="0"/>
                    <a:pt x="7" y="0"/>
                    <a:pt x="7" y="0"/>
                  </a:cubicBezTo>
                  <a:cubicBezTo>
                    <a:pt x="3" y="0"/>
                    <a:pt x="0" y="4"/>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Freeform 87">
              <a:extLst>
                <a:ext uri="{FF2B5EF4-FFF2-40B4-BE49-F238E27FC236}">
                  <a16:creationId xmlns:a16="http://schemas.microsoft.com/office/drawing/2014/main" id="{568A850B-D1F3-4F4F-866B-256C2C89114D}"/>
                </a:ext>
              </a:extLst>
            </p:cNvPr>
            <p:cNvSpPr>
              <a:spLocks/>
            </p:cNvSpPr>
            <p:nvPr/>
          </p:nvSpPr>
          <p:spPr bwMode="auto">
            <a:xfrm>
              <a:off x="534987" y="1863737"/>
              <a:ext cx="26987" cy="26988"/>
            </a:xfrm>
            <a:custGeom>
              <a:avLst/>
              <a:gdLst>
                <a:gd name="T0" fmla="*/ 15 w 15"/>
                <a:gd name="T1" fmla="*/ 8 h 15"/>
                <a:gd name="T2" fmla="*/ 7 w 15"/>
                <a:gd name="T3" fmla="*/ 0 h 15"/>
                <a:gd name="T4" fmla="*/ 0 w 15"/>
                <a:gd name="T5" fmla="*/ 0 h 15"/>
                <a:gd name="T6" fmla="*/ 0 w 15"/>
                <a:gd name="T7" fmla="*/ 15 h 15"/>
                <a:gd name="T8" fmla="*/ 7 w 15"/>
                <a:gd name="T9" fmla="*/ 15 h 15"/>
                <a:gd name="T10" fmla="*/ 15 w 15"/>
                <a:gd name="T11" fmla="*/ 8 h 15"/>
              </a:gdLst>
              <a:ahLst/>
              <a:cxnLst>
                <a:cxn ang="0">
                  <a:pos x="T0" y="T1"/>
                </a:cxn>
                <a:cxn ang="0">
                  <a:pos x="T2" y="T3"/>
                </a:cxn>
                <a:cxn ang="0">
                  <a:pos x="T4" y="T5"/>
                </a:cxn>
                <a:cxn ang="0">
                  <a:pos x="T6" y="T7"/>
                </a:cxn>
                <a:cxn ang="0">
                  <a:pos x="T8" y="T9"/>
                </a:cxn>
                <a:cxn ang="0">
                  <a:pos x="T10" y="T11"/>
                </a:cxn>
              </a:cxnLst>
              <a:rect l="0" t="0" r="r" b="b"/>
              <a:pathLst>
                <a:path w="15" h="15">
                  <a:moveTo>
                    <a:pt x="15" y="8"/>
                  </a:moveTo>
                  <a:cubicBezTo>
                    <a:pt x="15" y="4"/>
                    <a:pt x="12" y="0"/>
                    <a:pt x="7" y="0"/>
                  </a:cubicBezTo>
                  <a:cubicBezTo>
                    <a:pt x="0" y="0"/>
                    <a:pt x="0" y="0"/>
                    <a:pt x="0" y="0"/>
                  </a:cubicBezTo>
                  <a:cubicBezTo>
                    <a:pt x="0" y="15"/>
                    <a:pt x="0" y="15"/>
                    <a:pt x="0" y="15"/>
                  </a:cubicBezTo>
                  <a:cubicBezTo>
                    <a:pt x="7" y="15"/>
                    <a:pt x="7" y="15"/>
                    <a:pt x="7" y="15"/>
                  </a:cubicBezTo>
                  <a:cubicBezTo>
                    <a:pt x="12" y="15"/>
                    <a:pt x="15" y="12"/>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1" name="Group 110">
            <a:extLst>
              <a:ext uri="{FF2B5EF4-FFF2-40B4-BE49-F238E27FC236}">
                <a16:creationId xmlns:a16="http://schemas.microsoft.com/office/drawing/2014/main" id="{678DB883-32C0-42B1-96BF-0248B5292443}"/>
              </a:ext>
            </a:extLst>
          </p:cNvPr>
          <p:cNvGrpSpPr/>
          <p:nvPr/>
        </p:nvGrpSpPr>
        <p:grpSpPr>
          <a:xfrm>
            <a:off x="2250618" y="2576212"/>
            <a:ext cx="339168" cy="288926"/>
            <a:chOff x="1141408" y="1852625"/>
            <a:chExt cx="128587" cy="109539"/>
          </a:xfrm>
          <a:solidFill>
            <a:schemeClr val="accent1"/>
          </a:solidFill>
        </p:grpSpPr>
        <p:sp>
          <p:nvSpPr>
            <p:cNvPr id="112" name="Freeform 88">
              <a:extLst>
                <a:ext uri="{FF2B5EF4-FFF2-40B4-BE49-F238E27FC236}">
                  <a16:creationId xmlns:a16="http://schemas.microsoft.com/office/drawing/2014/main" id="{87DFEB6A-CC95-482A-BDC8-94901729B8C4}"/>
                </a:ext>
              </a:extLst>
            </p:cNvPr>
            <p:cNvSpPr>
              <a:spLocks/>
            </p:cNvSpPr>
            <p:nvPr/>
          </p:nvSpPr>
          <p:spPr bwMode="auto">
            <a:xfrm>
              <a:off x="1189032" y="1917713"/>
              <a:ext cx="23812" cy="25400"/>
            </a:xfrm>
            <a:custGeom>
              <a:avLst/>
              <a:gdLst>
                <a:gd name="T0" fmla="*/ 10 w 15"/>
                <a:gd name="T1" fmla="*/ 0 h 16"/>
                <a:gd name="T2" fmla="*/ 5 w 15"/>
                <a:gd name="T3" fmla="*/ 0 h 16"/>
                <a:gd name="T4" fmla="*/ 5 w 15"/>
                <a:gd name="T5" fmla="*/ 6 h 16"/>
                <a:gd name="T6" fmla="*/ 0 w 15"/>
                <a:gd name="T7" fmla="*/ 6 h 16"/>
                <a:gd name="T8" fmla="*/ 0 w 15"/>
                <a:gd name="T9" fmla="*/ 10 h 16"/>
                <a:gd name="T10" fmla="*/ 5 w 15"/>
                <a:gd name="T11" fmla="*/ 10 h 16"/>
                <a:gd name="T12" fmla="*/ 5 w 15"/>
                <a:gd name="T13" fmla="*/ 16 h 16"/>
                <a:gd name="T14" fmla="*/ 10 w 15"/>
                <a:gd name="T15" fmla="*/ 16 h 16"/>
                <a:gd name="T16" fmla="*/ 10 w 15"/>
                <a:gd name="T17" fmla="*/ 10 h 16"/>
                <a:gd name="T18" fmla="*/ 15 w 15"/>
                <a:gd name="T19" fmla="*/ 10 h 16"/>
                <a:gd name="T20" fmla="*/ 15 w 15"/>
                <a:gd name="T21" fmla="*/ 6 h 16"/>
                <a:gd name="T22" fmla="*/ 10 w 15"/>
                <a:gd name="T23" fmla="*/ 6 h 16"/>
                <a:gd name="T24" fmla="*/ 10 w 15"/>
                <a:gd name="T2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16">
                  <a:moveTo>
                    <a:pt x="10" y="0"/>
                  </a:moveTo>
                  <a:lnTo>
                    <a:pt x="5" y="0"/>
                  </a:lnTo>
                  <a:lnTo>
                    <a:pt x="5" y="6"/>
                  </a:lnTo>
                  <a:lnTo>
                    <a:pt x="0" y="6"/>
                  </a:lnTo>
                  <a:lnTo>
                    <a:pt x="0" y="10"/>
                  </a:lnTo>
                  <a:lnTo>
                    <a:pt x="5" y="10"/>
                  </a:lnTo>
                  <a:lnTo>
                    <a:pt x="5" y="16"/>
                  </a:lnTo>
                  <a:lnTo>
                    <a:pt x="10" y="16"/>
                  </a:lnTo>
                  <a:lnTo>
                    <a:pt x="10" y="10"/>
                  </a:lnTo>
                  <a:lnTo>
                    <a:pt x="15" y="10"/>
                  </a:lnTo>
                  <a:lnTo>
                    <a:pt x="15" y="6"/>
                  </a:lnTo>
                  <a:lnTo>
                    <a:pt x="10" y="6"/>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Freeform 89">
              <a:extLst>
                <a:ext uri="{FF2B5EF4-FFF2-40B4-BE49-F238E27FC236}">
                  <a16:creationId xmlns:a16="http://schemas.microsoft.com/office/drawing/2014/main" id="{118949FA-D213-4A2D-AFFA-1364F25EEAA7}"/>
                </a:ext>
              </a:extLst>
            </p:cNvPr>
            <p:cNvSpPr>
              <a:spLocks noEditPoints="1"/>
            </p:cNvSpPr>
            <p:nvPr/>
          </p:nvSpPr>
          <p:spPr bwMode="auto">
            <a:xfrm>
              <a:off x="1158870" y="1898663"/>
              <a:ext cx="84137" cy="63501"/>
            </a:xfrm>
            <a:custGeom>
              <a:avLst/>
              <a:gdLst>
                <a:gd name="T0" fmla="*/ 38 w 47"/>
                <a:gd name="T1" fmla="*/ 8 h 36"/>
                <a:gd name="T2" fmla="*/ 23 w 47"/>
                <a:gd name="T3" fmla="*/ 0 h 36"/>
                <a:gd name="T4" fmla="*/ 9 w 47"/>
                <a:gd name="T5" fmla="*/ 8 h 36"/>
                <a:gd name="T6" fmla="*/ 1 w 47"/>
                <a:gd name="T7" fmla="*/ 19 h 36"/>
                <a:gd name="T8" fmla="*/ 0 w 47"/>
                <a:gd name="T9" fmla="*/ 26 h 36"/>
                <a:gd name="T10" fmla="*/ 2 w 47"/>
                <a:gd name="T11" fmla="*/ 32 h 36"/>
                <a:gd name="T12" fmla="*/ 8 w 47"/>
                <a:gd name="T13" fmla="*/ 36 h 36"/>
                <a:gd name="T14" fmla="*/ 15 w 47"/>
                <a:gd name="T15" fmla="*/ 35 h 36"/>
                <a:gd name="T16" fmla="*/ 15 w 47"/>
                <a:gd name="T17" fmla="*/ 35 h 36"/>
                <a:gd name="T18" fmla="*/ 32 w 47"/>
                <a:gd name="T19" fmla="*/ 35 h 36"/>
                <a:gd name="T20" fmla="*/ 36 w 47"/>
                <a:gd name="T21" fmla="*/ 36 h 36"/>
                <a:gd name="T22" fmla="*/ 39 w 47"/>
                <a:gd name="T23" fmla="*/ 36 h 36"/>
                <a:gd name="T24" fmla="*/ 44 w 47"/>
                <a:gd name="T25" fmla="*/ 32 h 36"/>
                <a:gd name="T26" fmla="*/ 47 w 47"/>
                <a:gd name="T27" fmla="*/ 26 h 36"/>
                <a:gd name="T28" fmla="*/ 45 w 47"/>
                <a:gd name="T29" fmla="*/ 19 h 36"/>
                <a:gd name="T30" fmla="*/ 38 w 47"/>
                <a:gd name="T31" fmla="*/ 8 h 36"/>
                <a:gd name="T32" fmla="*/ 23 w 47"/>
                <a:gd name="T33" fmla="*/ 29 h 36"/>
                <a:gd name="T34" fmla="*/ 12 w 47"/>
                <a:gd name="T35" fmla="*/ 18 h 36"/>
                <a:gd name="T36" fmla="*/ 23 w 47"/>
                <a:gd name="T37" fmla="*/ 7 h 36"/>
                <a:gd name="T38" fmla="*/ 34 w 47"/>
                <a:gd name="T39" fmla="*/ 18 h 36"/>
                <a:gd name="T40" fmla="*/ 23 w 47"/>
                <a:gd name="T41"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 h="36">
                  <a:moveTo>
                    <a:pt x="38" y="8"/>
                  </a:moveTo>
                  <a:cubicBezTo>
                    <a:pt x="35" y="3"/>
                    <a:pt x="29" y="0"/>
                    <a:pt x="23" y="0"/>
                  </a:cubicBezTo>
                  <a:cubicBezTo>
                    <a:pt x="18" y="0"/>
                    <a:pt x="12" y="3"/>
                    <a:pt x="9" y="8"/>
                  </a:cubicBezTo>
                  <a:cubicBezTo>
                    <a:pt x="1" y="19"/>
                    <a:pt x="1" y="19"/>
                    <a:pt x="1" y="19"/>
                  </a:cubicBezTo>
                  <a:cubicBezTo>
                    <a:pt x="0" y="21"/>
                    <a:pt x="0" y="24"/>
                    <a:pt x="0" y="26"/>
                  </a:cubicBezTo>
                  <a:cubicBezTo>
                    <a:pt x="0" y="28"/>
                    <a:pt x="1" y="30"/>
                    <a:pt x="2" y="32"/>
                  </a:cubicBezTo>
                  <a:cubicBezTo>
                    <a:pt x="4" y="34"/>
                    <a:pt x="6" y="35"/>
                    <a:pt x="8" y="36"/>
                  </a:cubicBezTo>
                  <a:cubicBezTo>
                    <a:pt x="10" y="36"/>
                    <a:pt x="13" y="36"/>
                    <a:pt x="15" y="35"/>
                  </a:cubicBezTo>
                  <a:cubicBezTo>
                    <a:pt x="15" y="35"/>
                    <a:pt x="15" y="35"/>
                    <a:pt x="15" y="35"/>
                  </a:cubicBezTo>
                  <a:cubicBezTo>
                    <a:pt x="20" y="33"/>
                    <a:pt x="27" y="33"/>
                    <a:pt x="32" y="35"/>
                  </a:cubicBezTo>
                  <a:cubicBezTo>
                    <a:pt x="33" y="36"/>
                    <a:pt x="35" y="36"/>
                    <a:pt x="36" y="36"/>
                  </a:cubicBezTo>
                  <a:cubicBezTo>
                    <a:pt x="37" y="36"/>
                    <a:pt x="38" y="36"/>
                    <a:pt x="39" y="36"/>
                  </a:cubicBezTo>
                  <a:cubicBezTo>
                    <a:pt x="41" y="35"/>
                    <a:pt x="43" y="34"/>
                    <a:pt x="44" y="32"/>
                  </a:cubicBezTo>
                  <a:cubicBezTo>
                    <a:pt x="46" y="30"/>
                    <a:pt x="47" y="28"/>
                    <a:pt x="47" y="26"/>
                  </a:cubicBezTo>
                  <a:cubicBezTo>
                    <a:pt x="47" y="24"/>
                    <a:pt x="47" y="21"/>
                    <a:pt x="45" y="19"/>
                  </a:cubicBezTo>
                  <a:lnTo>
                    <a:pt x="38" y="8"/>
                  </a:lnTo>
                  <a:close/>
                  <a:moveTo>
                    <a:pt x="23" y="29"/>
                  </a:moveTo>
                  <a:cubicBezTo>
                    <a:pt x="17" y="29"/>
                    <a:pt x="12" y="24"/>
                    <a:pt x="12" y="18"/>
                  </a:cubicBezTo>
                  <a:cubicBezTo>
                    <a:pt x="12" y="12"/>
                    <a:pt x="17" y="7"/>
                    <a:pt x="23" y="7"/>
                  </a:cubicBezTo>
                  <a:cubicBezTo>
                    <a:pt x="30" y="7"/>
                    <a:pt x="34" y="12"/>
                    <a:pt x="34" y="18"/>
                  </a:cubicBezTo>
                  <a:cubicBezTo>
                    <a:pt x="34" y="24"/>
                    <a:pt x="30" y="29"/>
                    <a:pt x="2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Freeform 90">
              <a:extLst>
                <a:ext uri="{FF2B5EF4-FFF2-40B4-BE49-F238E27FC236}">
                  <a16:creationId xmlns:a16="http://schemas.microsoft.com/office/drawing/2014/main" id="{28CEBE27-B800-4884-B564-4372B4F96EEE}"/>
                </a:ext>
              </a:extLst>
            </p:cNvPr>
            <p:cNvSpPr>
              <a:spLocks/>
            </p:cNvSpPr>
            <p:nvPr/>
          </p:nvSpPr>
          <p:spPr bwMode="auto">
            <a:xfrm>
              <a:off x="1141408" y="1876437"/>
              <a:ext cx="33337" cy="36513"/>
            </a:xfrm>
            <a:custGeom>
              <a:avLst/>
              <a:gdLst>
                <a:gd name="T0" fmla="*/ 14 w 19"/>
                <a:gd name="T1" fmla="*/ 20 h 20"/>
                <a:gd name="T2" fmla="*/ 18 w 19"/>
                <a:gd name="T3" fmla="*/ 14 h 20"/>
                <a:gd name="T4" fmla="*/ 18 w 19"/>
                <a:gd name="T5" fmla="*/ 7 h 20"/>
                <a:gd name="T6" fmla="*/ 13 w 19"/>
                <a:gd name="T7" fmla="*/ 1 h 20"/>
                <a:gd name="T8" fmla="*/ 6 w 19"/>
                <a:gd name="T9" fmla="*/ 1 h 20"/>
                <a:gd name="T10" fmla="*/ 2 w 19"/>
                <a:gd name="T11" fmla="*/ 13 h 20"/>
                <a:gd name="T12" fmla="*/ 11 w 19"/>
                <a:gd name="T13" fmla="*/ 20 h 20"/>
                <a:gd name="T14" fmla="*/ 14 w 19"/>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20">
                  <a:moveTo>
                    <a:pt x="14" y="20"/>
                  </a:moveTo>
                  <a:cubicBezTo>
                    <a:pt x="16" y="19"/>
                    <a:pt x="17" y="17"/>
                    <a:pt x="18" y="14"/>
                  </a:cubicBezTo>
                  <a:cubicBezTo>
                    <a:pt x="19" y="12"/>
                    <a:pt x="19" y="9"/>
                    <a:pt x="18" y="7"/>
                  </a:cubicBezTo>
                  <a:cubicBezTo>
                    <a:pt x="17" y="5"/>
                    <a:pt x="16" y="3"/>
                    <a:pt x="13" y="1"/>
                  </a:cubicBezTo>
                  <a:cubicBezTo>
                    <a:pt x="11" y="0"/>
                    <a:pt x="9" y="0"/>
                    <a:pt x="6" y="1"/>
                  </a:cubicBezTo>
                  <a:cubicBezTo>
                    <a:pt x="2" y="3"/>
                    <a:pt x="0" y="8"/>
                    <a:pt x="2" y="13"/>
                  </a:cubicBezTo>
                  <a:cubicBezTo>
                    <a:pt x="3" y="17"/>
                    <a:pt x="7" y="20"/>
                    <a:pt x="11" y="20"/>
                  </a:cubicBezTo>
                  <a:cubicBezTo>
                    <a:pt x="12" y="20"/>
                    <a:pt x="13" y="20"/>
                    <a:pt x="1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Oval 91">
              <a:extLst>
                <a:ext uri="{FF2B5EF4-FFF2-40B4-BE49-F238E27FC236}">
                  <a16:creationId xmlns:a16="http://schemas.microsoft.com/office/drawing/2014/main" id="{EF869B23-C324-4970-99BD-A7FD0B39AFB8}"/>
                </a:ext>
              </a:extLst>
            </p:cNvPr>
            <p:cNvSpPr>
              <a:spLocks noChangeArrowheads="1"/>
            </p:cNvSpPr>
            <p:nvPr/>
          </p:nvSpPr>
          <p:spPr bwMode="auto">
            <a:xfrm>
              <a:off x="1173158" y="1852625"/>
              <a:ext cx="36512" cy="412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Freeform 92">
              <a:extLst>
                <a:ext uri="{FF2B5EF4-FFF2-40B4-BE49-F238E27FC236}">
                  <a16:creationId xmlns:a16="http://schemas.microsoft.com/office/drawing/2014/main" id="{5946BB4C-95FE-477B-8130-21F26E741A1B}"/>
                </a:ext>
              </a:extLst>
            </p:cNvPr>
            <p:cNvSpPr>
              <a:spLocks/>
            </p:cNvSpPr>
            <p:nvPr/>
          </p:nvSpPr>
          <p:spPr bwMode="auto">
            <a:xfrm>
              <a:off x="1211257" y="1862150"/>
              <a:ext cx="36512" cy="39688"/>
            </a:xfrm>
            <a:custGeom>
              <a:avLst/>
              <a:gdLst>
                <a:gd name="T0" fmla="*/ 7 w 20"/>
                <a:gd name="T1" fmla="*/ 21 h 22"/>
                <a:gd name="T2" fmla="*/ 7 w 20"/>
                <a:gd name="T3" fmla="*/ 21 h 22"/>
                <a:gd name="T4" fmla="*/ 10 w 20"/>
                <a:gd name="T5" fmla="*/ 22 h 22"/>
                <a:gd name="T6" fmla="*/ 19 w 20"/>
                <a:gd name="T7" fmla="*/ 14 h 22"/>
                <a:gd name="T8" fmla="*/ 19 w 20"/>
                <a:gd name="T9" fmla="*/ 6 h 22"/>
                <a:gd name="T10" fmla="*/ 14 w 20"/>
                <a:gd name="T11" fmla="*/ 1 h 22"/>
                <a:gd name="T12" fmla="*/ 6 w 20"/>
                <a:gd name="T13" fmla="*/ 2 h 22"/>
                <a:gd name="T14" fmla="*/ 1 w 20"/>
                <a:gd name="T15" fmla="*/ 8 h 22"/>
                <a:gd name="T16" fmla="*/ 7 w 20"/>
                <a:gd name="T17"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2">
                  <a:moveTo>
                    <a:pt x="7" y="21"/>
                  </a:moveTo>
                  <a:cubicBezTo>
                    <a:pt x="7" y="21"/>
                    <a:pt x="7" y="21"/>
                    <a:pt x="7" y="21"/>
                  </a:cubicBezTo>
                  <a:cubicBezTo>
                    <a:pt x="8" y="21"/>
                    <a:pt x="9" y="22"/>
                    <a:pt x="10" y="22"/>
                  </a:cubicBezTo>
                  <a:cubicBezTo>
                    <a:pt x="14" y="22"/>
                    <a:pt x="18" y="19"/>
                    <a:pt x="19" y="14"/>
                  </a:cubicBezTo>
                  <a:cubicBezTo>
                    <a:pt x="20" y="11"/>
                    <a:pt x="20" y="8"/>
                    <a:pt x="19" y="6"/>
                  </a:cubicBezTo>
                  <a:cubicBezTo>
                    <a:pt x="18" y="3"/>
                    <a:pt x="16" y="2"/>
                    <a:pt x="14" y="1"/>
                  </a:cubicBezTo>
                  <a:cubicBezTo>
                    <a:pt x="11" y="0"/>
                    <a:pt x="9" y="0"/>
                    <a:pt x="6" y="2"/>
                  </a:cubicBezTo>
                  <a:cubicBezTo>
                    <a:pt x="4" y="3"/>
                    <a:pt x="2" y="5"/>
                    <a:pt x="1" y="8"/>
                  </a:cubicBezTo>
                  <a:cubicBezTo>
                    <a:pt x="0" y="14"/>
                    <a:pt x="2" y="19"/>
                    <a:pt x="7"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7" name="Freeform 93">
              <a:extLst>
                <a:ext uri="{FF2B5EF4-FFF2-40B4-BE49-F238E27FC236}">
                  <a16:creationId xmlns:a16="http://schemas.microsoft.com/office/drawing/2014/main" id="{872DDB2A-265B-4EB6-8364-28A429C24A89}"/>
                </a:ext>
              </a:extLst>
            </p:cNvPr>
            <p:cNvSpPr>
              <a:spLocks/>
            </p:cNvSpPr>
            <p:nvPr/>
          </p:nvSpPr>
          <p:spPr bwMode="auto">
            <a:xfrm>
              <a:off x="1231895" y="1892313"/>
              <a:ext cx="38100" cy="36513"/>
            </a:xfrm>
            <a:custGeom>
              <a:avLst/>
              <a:gdLst>
                <a:gd name="T0" fmla="*/ 17 w 21"/>
                <a:gd name="T1" fmla="*/ 3 h 20"/>
                <a:gd name="T2" fmla="*/ 17 w 21"/>
                <a:gd name="T3" fmla="*/ 3 h 20"/>
                <a:gd name="T4" fmla="*/ 4 w 21"/>
                <a:gd name="T5" fmla="*/ 6 h 20"/>
                <a:gd name="T6" fmla="*/ 5 w 21"/>
                <a:gd name="T7" fmla="*/ 19 h 20"/>
                <a:gd name="T8" fmla="*/ 9 w 21"/>
                <a:gd name="T9" fmla="*/ 20 h 20"/>
                <a:gd name="T10" fmla="*/ 18 w 21"/>
                <a:gd name="T11" fmla="*/ 16 h 20"/>
                <a:gd name="T12" fmla="*/ 17 w 21"/>
                <a:gd name="T13" fmla="*/ 3 h 20"/>
              </a:gdLst>
              <a:ahLst/>
              <a:cxnLst>
                <a:cxn ang="0">
                  <a:pos x="T0" y="T1"/>
                </a:cxn>
                <a:cxn ang="0">
                  <a:pos x="T2" y="T3"/>
                </a:cxn>
                <a:cxn ang="0">
                  <a:pos x="T4" y="T5"/>
                </a:cxn>
                <a:cxn ang="0">
                  <a:pos x="T6" y="T7"/>
                </a:cxn>
                <a:cxn ang="0">
                  <a:pos x="T8" y="T9"/>
                </a:cxn>
                <a:cxn ang="0">
                  <a:pos x="T10" y="T11"/>
                </a:cxn>
                <a:cxn ang="0">
                  <a:pos x="T12" y="T13"/>
                </a:cxn>
              </a:cxnLst>
              <a:rect l="0" t="0" r="r" b="b"/>
              <a:pathLst>
                <a:path w="21" h="20">
                  <a:moveTo>
                    <a:pt x="17" y="3"/>
                  </a:moveTo>
                  <a:cubicBezTo>
                    <a:pt x="17" y="3"/>
                    <a:pt x="17" y="3"/>
                    <a:pt x="17" y="3"/>
                  </a:cubicBezTo>
                  <a:cubicBezTo>
                    <a:pt x="13" y="0"/>
                    <a:pt x="7" y="1"/>
                    <a:pt x="4" y="6"/>
                  </a:cubicBezTo>
                  <a:cubicBezTo>
                    <a:pt x="0" y="10"/>
                    <a:pt x="1" y="16"/>
                    <a:pt x="5" y="19"/>
                  </a:cubicBezTo>
                  <a:cubicBezTo>
                    <a:pt x="6" y="20"/>
                    <a:pt x="8" y="20"/>
                    <a:pt x="9" y="20"/>
                  </a:cubicBezTo>
                  <a:cubicBezTo>
                    <a:pt x="12" y="20"/>
                    <a:pt x="16" y="19"/>
                    <a:pt x="18" y="16"/>
                  </a:cubicBezTo>
                  <a:cubicBezTo>
                    <a:pt x="21" y="12"/>
                    <a:pt x="20" y="6"/>
                    <a:pt x="1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8" name="Group 117">
            <a:extLst>
              <a:ext uri="{FF2B5EF4-FFF2-40B4-BE49-F238E27FC236}">
                <a16:creationId xmlns:a16="http://schemas.microsoft.com/office/drawing/2014/main" id="{35458E44-5F20-4822-A262-D89E19534FE5}"/>
              </a:ext>
            </a:extLst>
          </p:cNvPr>
          <p:cNvGrpSpPr/>
          <p:nvPr/>
        </p:nvGrpSpPr>
        <p:grpSpPr>
          <a:xfrm>
            <a:off x="5874815" y="3483073"/>
            <a:ext cx="257669" cy="234841"/>
            <a:chOff x="1836728" y="1852625"/>
            <a:chExt cx="125412" cy="114301"/>
          </a:xfrm>
          <a:solidFill>
            <a:schemeClr val="accent1"/>
          </a:solidFill>
        </p:grpSpPr>
        <p:sp>
          <p:nvSpPr>
            <p:cNvPr id="119" name="Freeform 94">
              <a:extLst>
                <a:ext uri="{FF2B5EF4-FFF2-40B4-BE49-F238E27FC236}">
                  <a16:creationId xmlns:a16="http://schemas.microsoft.com/office/drawing/2014/main" id="{1D0B0268-8914-4D0E-B915-BD11522DE060}"/>
                </a:ext>
              </a:extLst>
            </p:cNvPr>
            <p:cNvSpPr>
              <a:spLocks noEditPoints="1"/>
            </p:cNvSpPr>
            <p:nvPr/>
          </p:nvSpPr>
          <p:spPr bwMode="auto">
            <a:xfrm>
              <a:off x="1836728" y="1874850"/>
              <a:ext cx="125412" cy="92076"/>
            </a:xfrm>
            <a:custGeom>
              <a:avLst/>
              <a:gdLst>
                <a:gd name="T0" fmla="*/ 70 w 70"/>
                <a:gd name="T1" fmla="*/ 50 h 51"/>
                <a:gd name="T2" fmla="*/ 69 w 70"/>
                <a:gd name="T3" fmla="*/ 43 h 51"/>
                <a:gd name="T4" fmla="*/ 68 w 70"/>
                <a:gd name="T5" fmla="*/ 42 h 51"/>
                <a:gd name="T6" fmla="*/ 65 w 70"/>
                <a:gd name="T7" fmla="*/ 42 h 51"/>
                <a:gd name="T8" fmla="*/ 65 w 70"/>
                <a:gd name="T9" fmla="*/ 7 h 51"/>
                <a:gd name="T10" fmla="*/ 69 w 70"/>
                <a:gd name="T11" fmla="*/ 7 h 51"/>
                <a:gd name="T12" fmla="*/ 70 w 70"/>
                <a:gd name="T13" fmla="*/ 6 h 51"/>
                <a:gd name="T14" fmla="*/ 70 w 70"/>
                <a:gd name="T15" fmla="*/ 1 h 51"/>
                <a:gd name="T16" fmla="*/ 69 w 70"/>
                <a:gd name="T17" fmla="*/ 0 h 51"/>
                <a:gd name="T18" fmla="*/ 2 w 70"/>
                <a:gd name="T19" fmla="*/ 0 h 51"/>
                <a:gd name="T20" fmla="*/ 0 w 70"/>
                <a:gd name="T21" fmla="*/ 1 h 51"/>
                <a:gd name="T22" fmla="*/ 0 w 70"/>
                <a:gd name="T23" fmla="*/ 6 h 51"/>
                <a:gd name="T24" fmla="*/ 2 w 70"/>
                <a:gd name="T25" fmla="*/ 7 h 51"/>
                <a:gd name="T26" fmla="*/ 5 w 70"/>
                <a:gd name="T27" fmla="*/ 7 h 51"/>
                <a:gd name="T28" fmla="*/ 5 w 70"/>
                <a:gd name="T29" fmla="*/ 42 h 51"/>
                <a:gd name="T30" fmla="*/ 3 w 70"/>
                <a:gd name="T31" fmla="*/ 42 h 51"/>
                <a:gd name="T32" fmla="*/ 2 w 70"/>
                <a:gd name="T33" fmla="*/ 43 h 51"/>
                <a:gd name="T34" fmla="*/ 0 w 70"/>
                <a:gd name="T35" fmla="*/ 50 h 51"/>
                <a:gd name="T36" fmla="*/ 1 w 70"/>
                <a:gd name="T37" fmla="*/ 51 h 51"/>
                <a:gd name="T38" fmla="*/ 2 w 70"/>
                <a:gd name="T39" fmla="*/ 51 h 51"/>
                <a:gd name="T40" fmla="*/ 69 w 70"/>
                <a:gd name="T41" fmla="*/ 51 h 51"/>
                <a:gd name="T42" fmla="*/ 70 w 70"/>
                <a:gd name="T43" fmla="*/ 50 h 51"/>
                <a:gd name="T44" fmla="*/ 70 w 70"/>
                <a:gd name="T45" fmla="*/ 50 h 51"/>
                <a:gd name="T46" fmla="*/ 42 w 70"/>
                <a:gd name="T47" fmla="*/ 7 h 51"/>
                <a:gd name="T48" fmla="*/ 56 w 70"/>
                <a:gd name="T49" fmla="*/ 7 h 51"/>
                <a:gd name="T50" fmla="*/ 56 w 70"/>
                <a:gd name="T51" fmla="*/ 22 h 51"/>
                <a:gd name="T52" fmla="*/ 53 w 70"/>
                <a:gd name="T53" fmla="*/ 24 h 51"/>
                <a:gd name="T54" fmla="*/ 53 w 70"/>
                <a:gd name="T55" fmla="*/ 24 h 51"/>
                <a:gd name="T56" fmla="*/ 48 w 70"/>
                <a:gd name="T57" fmla="*/ 19 h 51"/>
                <a:gd name="T58" fmla="*/ 42 w 70"/>
                <a:gd name="T59" fmla="*/ 20 h 51"/>
                <a:gd name="T60" fmla="*/ 42 w 70"/>
                <a:gd name="T61" fmla="*/ 7 h 51"/>
                <a:gd name="T62" fmla="*/ 15 w 70"/>
                <a:gd name="T63" fmla="*/ 7 h 51"/>
                <a:gd name="T64" fmla="*/ 28 w 70"/>
                <a:gd name="T65" fmla="*/ 7 h 51"/>
                <a:gd name="T66" fmla="*/ 28 w 70"/>
                <a:gd name="T67" fmla="*/ 22 h 51"/>
                <a:gd name="T68" fmla="*/ 26 w 70"/>
                <a:gd name="T69" fmla="*/ 24 h 51"/>
                <a:gd name="T70" fmla="*/ 25 w 70"/>
                <a:gd name="T71" fmla="*/ 24 h 51"/>
                <a:gd name="T72" fmla="*/ 20 w 70"/>
                <a:gd name="T73" fmla="*/ 19 h 51"/>
                <a:gd name="T74" fmla="*/ 15 w 70"/>
                <a:gd name="T75" fmla="*/ 20 h 51"/>
                <a:gd name="T76" fmla="*/ 15 w 70"/>
                <a:gd name="T77" fmla="*/ 7 h 51"/>
                <a:gd name="T78" fmla="*/ 63 w 70"/>
                <a:gd name="T79" fmla="*/ 42 h 51"/>
                <a:gd name="T80" fmla="*/ 8 w 70"/>
                <a:gd name="T81" fmla="*/ 42 h 51"/>
                <a:gd name="T82" fmla="*/ 8 w 70"/>
                <a:gd name="T83" fmla="*/ 7 h 51"/>
                <a:gd name="T84" fmla="*/ 12 w 70"/>
                <a:gd name="T85" fmla="*/ 7 h 51"/>
                <a:gd name="T86" fmla="*/ 12 w 70"/>
                <a:gd name="T87" fmla="*/ 30 h 51"/>
                <a:gd name="T88" fmla="*/ 21 w 70"/>
                <a:gd name="T89" fmla="*/ 39 h 51"/>
                <a:gd name="T90" fmla="*/ 30 w 70"/>
                <a:gd name="T91" fmla="*/ 30 h 51"/>
                <a:gd name="T92" fmla="*/ 30 w 70"/>
                <a:gd name="T93" fmla="*/ 7 h 51"/>
                <a:gd name="T94" fmla="*/ 40 w 70"/>
                <a:gd name="T95" fmla="*/ 7 h 51"/>
                <a:gd name="T96" fmla="*/ 40 w 70"/>
                <a:gd name="T97" fmla="*/ 30 h 51"/>
                <a:gd name="T98" fmla="*/ 49 w 70"/>
                <a:gd name="T99" fmla="*/ 39 h 51"/>
                <a:gd name="T100" fmla="*/ 58 w 70"/>
                <a:gd name="T101" fmla="*/ 30 h 51"/>
                <a:gd name="T102" fmla="*/ 58 w 70"/>
                <a:gd name="T103" fmla="*/ 7 h 51"/>
                <a:gd name="T104" fmla="*/ 63 w 70"/>
                <a:gd name="T105" fmla="*/ 7 h 51"/>
                <a:gd name="T106" fmla="*/ 63 w 70"/>
                <a:gd name="T107"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0" h="51">
                  <a:moveTo>
                    <a:pt x="70" y="50"/>
                  </a:moveTo>
                  <a:cubicBezTo>
                    <a:pt x="69" y="43"/>
                    <a:pt x="69" y="43"/>
                    <a:pt x="69" y="43"/>
                  </a:cubicBezTo>
                  <a:cubicBezTo>
                    <a:pt x="69" y="42"/>
                    <a:pt x="68" y="42"/>
                    <a:pt x="68" y="42"/>
                  </a:cubicBezTo>
                  <a:cubicBezTo>
                    <a:pt x="65" y="42"/>
                    <a:pt x="65" y="42"/>
                    <a:pt x="65" y="42"/>
                  </a:cubicBezTo>
                  <a:cubicBezTo>
                    <a:pt x="65" y="7"/>
                    <a:pt x="65" y="7"/>
                    <a:pt x="65" y="7"/>
                  </a:cubicBezTo>
                  <a:cubicBezTo>
                    <a:pt x="69" y="7"/>
                    <a:pt x="69" y="7"/>
                    <a:pt x="69" y="7"/>
                  </a:cubicBezTo>
                  <a:cubicBezTo>
                    <a:pt x="69" y="7"/>
                    <a:pt x="70" y="6"/>
                    <a:pt x="70" y="6"/>
                  </a:cubicBezTo>
                  <a:cubicBezTo>
                    <a:pt x="70" y="1"/>
                    <a:pt x="70" y="1"/>
                    <a:pt x="70" y="1"/>
                  </a:cubicBezTo>
                  <a:cubicBezTo>
                    <a:pt x="70" y="0"/>
                    <a:pt x="69" y="0"/>
                    <a:pt x="69" y="0"/>
                  </a:cubicBezTo>
                  <a:cubicBezTo>
                    <a:pt x="2" y="0"/>
                    <a:pt x="2" y="0"/>
                    <a:pt x="2" y="0"/>
                  </a:cubicBezTo>
                  <a:cubicBezTo>
                    <a:pt x="1" y="0"/>
                    <a:pt x="0" y="0"/>
                    <a:pt x="0" y="1"/>
                  </a:cubicBezTo>
                  <a:cubicBezTo>
                    <a:pt x="0" y="6"/>
                    <a:pt x="0" y="6"/>
                    <a:pt x="0" y="6"/>
                  </a:cubicBezTo>
                  <a:cubicBezTo>
                    <a:pt x="0" y="6"/>
                    <a:pt x="1" y="7"/>
                    <a:pt x="2" y="7"/>
                  </a:cubicBezTo>
                  <a:cubicBezTo>
                    <a:pt x="5" y="7"/>
                    <a:pt x="5" y="7"/>
                    <a:pt x="5" y="7"/>
                  </a:cubicBezTo>
                  <a:cubicBezTo>
                    <a:pt x="5" y="42"/>
                    <a:pt x="5" y="42"/>
                    <a:pt x="5" y="42"/>
                  </a:cubicBezTo>
                  <a:cubicBezTo>
                    <a:pt x="3" y="42"/>
                    <a:pt x="3" y="42"/>
                    <a:pt x="3" y="42"/>
                  </a:cubicBezTo>
                  <a:cubicBezTo>
                    <a:pt x="2" y="42"/>
                    <a:pt x="2" y="42"/>
                    <a:pt x="2" y="43"/>
                  </a:cubicBezTo>
                  <a:cubicBezTo>
                    <a:pt x="0" y="50"/>
                    <a:pt x="0" y="50"/>
                    <a:pt x="0" y="50"/>
                  </a:cubicBezTo>
                  <a:cubicBezTo>
                    <a:pt x="0" y="51"/>
                    <a:pt x="1" y="51"/>
                    <a:pt x="1" y="51"/>
                  </a:cubicBezTo>
                  <a:cubicBezTo>
                    <a:pt x="1" y="51"/>
                    <a:pt x="2" y="51"/>
                    <a:pt x="2" y="51"/>
                  </a:cubicBezTo>
                  <a:cubicBezTo>
                    <a:pt x="69" y="51"/>
                    <a:pt x="69" y="51"/>
                    <a:pt x="69" y="51"/>
                  </a:cubicBezTo>
                  <a:cubicBezTo>
                    <a:pt x="69" y="51"/>
                    <a:pt x="70" y="51"/>
                    <a:pt x="70" y="50"/>
                  </a:cubicBezTo>
                  <a:cubicBezTo>
                    <a:pt x="70" y="50"/>
                    <a:pt x="70" y="50"/>
                    <a:pt x="70" y="50"/>
                  </a:cubicBezTo>
                  <a:close/>
                  <a:moveTo>
                    <a:pt x="42" y="7"/>
                  </a:moveTo>
                  <a:cubicBezTo>
                    <a:pt x="56" y="7"/>
                    <a:pt x="56" y="7"/>
                    <a:pt x="56" y="7"/>
                  </a:cubicBezTo>
                  <a:cubicBezTo>
                    <a:pt x="56" y="22"/>
                    <a:pt x="56" y="22"/>
                    <a:pt x="56" y="22"/>
                  </a:cubicBezTo>
                  <a:cubicBezTo>
                    <a:pt x="55" y="23"/>
                    <a:pt x="54" y="24"/>
                    <a:pt x="53" y="24"/>
                  </a:cubicBezTo>
                  <a:cubicBezTo>
                    <a:pt x="53" y="24"/>
                    <a:pt x="53" y="24"/>
                    <a:pt x="53" y="24"/>
                  </a:cubicBezTo>
                  <a:cubicBezTo>
                    <a:pt x="51" y="23"/>
                    <a:pt x="51" y="20"/>
                    <a:pt x="48" y="19"/>
                  </a:cubicBezTo>
                  <a:cubicBezTo>
                    <a:pt x="46" y="18"/>
                    <a:pt x="44" y="19"/>
                    <a:pt x="42" y="20"/>
                  </a:cubicBezTo>
                  <a:lnTo>
                    <a:pt x="42" y="7"/>
                  </a:lnTo>
                  <a:close/>
                  <a:moveTo>
                    <a:pt x="15" y="7"/>
                  </a:moveTo>
                  <a:cubicBezTo>
                    <a:pt x="28" y="7"/>
                    <a:pt x="28" y="7"/>
                    <a:pt x="28" y="7"/>
                  </a:cubicBezTo>
                  <a:cubicBezTo>
                    <a:pt x="28" y="22"/>
                    <a:pt x="28" y="22"/>
                    <a:pt x="28" y="22"/>
                  </a:cubicBezTo>
                  <a:cubicBezTo>
                    <a:pt x="28" y="23"/>
                    <a:pt x="27" y="24"/>
                    <a:pt x="26" y="24"/>
                  </a:cubicBezTo>
                  <a:cubicBezTo>
                    <a:pt x="25" y="24"/>
                    <a:pt x="25" y="24"/>
                    <a:pt x="25" y="24"/>
                  </a:cubicBezTo>
                  <a:cubicBezTo>
                    <a:pt x="23" y="23"/>
                    <a:pt x="24" y="20"/>
                    <a:pt x="20" y="19"/>
                  </a:cubicBezTo>
                  <a:cubicBezTo>
                    <a:pt x="18" y="18"/>
                    <a:pt x="16" y="19"/>
                    <a:pt x="15" y="20"/>
                  </a:cubicBezTo>
                  <a:lnTo>
                    <a:pt x="15" y="7"/>
                  </a:lnTo>
                  <a:close/>
                  <a:moveTo>
                    <a:pt x="63" y="42"/>
                  </a:moveTo>
                  <a:cubicBezTo>
                    <a:pt x="8" y="42"/>
                    <a:pt x="8" y="42"/>
                    <a:pt x="8" y="42"/>
                  </a:cubicBezTo>
                  <a:cubicBezTo>
                    <a:pt x="8" y="7"/>
                    <a:pt x="8" y="7"/>
                    <a:pt x="8" y="7"/>
                  </a:cubicBezTo>
                  <a:cubicBezTo>
                    <a:pt x="12" y="7"/>
                    <a:pt x="12" y="7"/>
                    <a:pt x="12" y="7"/>
                  </a:cubicBezTo>
                  <a:cubicBezTo>
                    <a:pt x="12" y="30"/>
                    <a:pt x="12" y="30"/>
                    <a:pt x="12" y="30"/>
                  </a:cubicBezTo>
                  <a:cubicBezTo>
                    <a:pt x="12" y="35"/>
                    <a:pt x="16" y="39"/>
                    <a:pt x="21" y="39"/>
                  </a:cubicBezTo>
                  <a:cubicBezTo>
                    <a:pt x="26" y="39"/>
                    <a:pt x="30" y="35"/>
                    <a:pt x="30" y="30"/>
                  </a:cubicBezTo>
                  <a:cubicBezTo>
                    <a:pt x="30" y="7"/>
                    <a:pt x="30" y="7"/>
                    <a:pt x="30" y="7"/>
                  </a:cubicBezTo>
                  <a:cubicBezTo>
                    <a:pt x="40" y="7"/>
                    <a:pt x="40" y="7"/>
                    <a:pt x="40" y="7"/>
                  </a:cubicBezTo>
                  <a:cubicBezTo>
                    <a:pt x="40" y="30"/>
                    <a:pt x="40" y="30"/>
                    <a:pt x="40" y="30"/>
                  </a:cubicBezTo>
                  <a:cubicBezTo>
                    <a:pt x="40" y="35"/>
                    <a:pt x="44" y="39"/>
                    <a:pt x="49" y="39"/>
                  </a:cubicBezTo>
                  <a:cubicBezTo>
                    <a:pt x="54" y="39"/>
                    <a:pt x="58" y="35"/>
                    <a:pt x="58" y="30"/>
                  </a:cubicBezTo>
                  <a:cubicBezTo>
                    <a:pt x="58" y="7"/>
                    <a:pt x="58" y="7"/>
                    <a:pt x="58" y="7"/>
                  </a:cubicBezTo>
                  <a:cubicBezTo>
                    <a:pt x="63" y="7"/>
                    <a:pt x="63" y="7"/>
                    <a:pt x="63" y="7"/>
                  </a:cubicBezTo>
                  <a:lnTo>
                    <a:pt x="6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0" name="Freeform 95">
              <a:extLst>
                <a:ext uri="{FF2B5EF4-FFF2-40B4-BE49-F238E27FC236}">
                  <a16:creationId xmlns:a16="http://schemas.microsoft.com/office/drawing/2014/main" id="{6E0D9DDB-7717-406D-8116-DE67EF22B322}"/>
                </a:ext>
              </a:extLst>
            </p:cNvPr>
            <p:cNvSpPr>
              <a:spLocks/>
            </p:cNvSpPr>
            <p:nvPr/>
          </p:nvSpPr>
          <p:spPr bwMode="auto">
            <a:xfrm>
              <a:off x="1854190" y="1852625"/>
              <a:ext cx="41275" cy="17463"/>
            </a:xfrm>
            <a:custGeom>
              <a:avLst/>
              <a:gdLst>
                <a:gd name="T0" fmla="*/ 2 w 26"/>
                <a:gd name="T1" fmla="*/ 11 h 11"/>
                <a:gd name="T2" fmla="*/ 6 w 26"/>
                <a:gd name="T3" fmla="*/ 11 h 11"/>
                <a:gd name="T4" fmla="*/ 6 w 26"/>
                <a:gd name="T5" fmla="*/ 3 h 11"/>
                <a:gd name="T6" fmla="*/ 21 w 26"/>
                <a:gd name="T7" fmla="*/ 3 h 11"/>
                <a:gd name="T8" fmla="*/ 21 w 26"/>
                <a:gd name="T9" fmla="*/ 11 h 11"/>
                <a:gd name="T10" fmla="*/ 23 w 26"/>
                <a:gd name="T11" fmla="*/ 11 h 11"/>
                <a:gd name="T12" fmla="*/ 23 w 26"/>
                <a:gd name="T13" fmla="*/ 3 h 11"/>
                <a:gd name="T14" fmla="*/ 26 w 26"/>
                <a:gd name="T15" fmla="*/ 3 h 11"/>
                <a:gd name="T16" fmla="*/ 26 w 26"/>
                <a:gd name="T17" fmla="*/ 0 h 11"/>
                <a:gd name="T18" fmla="*/ 0 w 26"/>
                <a:gd name="T19" fmla="*/ 0 h 11"/>
                <a:gd name="T20" fmla="*/ 0 w 26"/>
                <a:gd name="T21" fmla="*/ 3 h 11"/>
                <a:gd name="T22" fmla="*/ 2 w 26"/>
                <a:gd name="T23" fmla="*/ 3 h 11"/>
                <a:gd name="T24" fmla="*/ 2 w 26"/>
                <a:gd name="T2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 h="11">
                  <a:moveTo>
                    <a:pt x="2" y="11"/>
                  </a:moveTo>
                  <a:lnTo>
                    <a:pt x="6" y="11"/>
                  </a:lnTo>
                  <a:lnTo>
                    <a:pt x="6" y="3"/>
                  </a:lnTo>
                  <a:lnTo>
                    <a:pt x="21" y="3"/>
                  </a:lnTo>
                  <a:lnTo>
                    <a:pt x="21" y="11"/>
                  </a:lnTo>
                  <a:lnTo>
                    <a:pt x="23" y="11"/>
                  </a:lnTo>
                  <a:lnTo>
                    <a:pt x="23" y="3"/>
                  </a:lnTo>
                  <a:lnTo>
                    <a:pt x="26" y="3"/>
                  </a:lnTo>
                  <a:lnTo>
                    <a:pt x="26" y="0"/>
                  </a:lnTo>
                  <a:lnTo>
                    <a:pt x="0" y="0"/>
                  </a:lnTo>
                  <a:lnTo>
                    <a:pt x="0" y="3"/>
                  </a:lnTo>
                  <a:lnTo>
                    <a:pt x="2" y="3"/>
                  </a:lnTo>
                  <a:lnTo>
                    <a:pt x="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1" name="Freeform 96">
              <a:extLst>
                <a:ext uri="{FF2B5EF4-FFF2-40B4-BE49-F238E27FC236}">
                  <a16:creationId xmlns:a16="http://schemas.microsoft.com/office/drawing/2014/main" id="{ED23762F-3A63-4B6D-806E-1A950FF636B3}"/>
                </a:ext>
              </a:extLst>
            </p:cNvPr>
            <p:cNvSpPr>
              <a:spLocks/>
            </p:cNvSpPr>
            <p:nvPr/>
          </p:nvSpPr>
          <p:spPr bwMode="auto">
            <a:xfrm>
              <a:off x="1904990" y="1852625"/>
              <a:ext cx="39687" cy="17463"/>
            </a:xfrm>
            <a:custGeom>
              <a:avLst/>
              <a:gdLst>
                <a:gd name="T0" fmla="*/ 2 w 25"/>
                <a:gd name="T1" fmla="*/ 11 h 11"/>
                <a:gd name="T2" fmla="*/ 4 w 25"/>
                <a:gd name="T3" fmla="*/ 11 h 11"/>
                <a:gd name="T4" fmla="*/ 4 w 25"/>
                <a:gd name="T5" fmla="*/ 3 h 11"/>
                <a:gd name="T6" fmla="*/ 20 w 25"/>
                <a:gd name="T7" fmla="*/ 3 h 11"/>
                <a:gd name="T8" fmla="*/ 20 w 25"/>
                <a:gd name="T9" fmla="*/ 11 h 11"/>
                <a:gd name="T10" fmla="*/ 23 w 25"/>
                <a:gd name="T11" fmla="*/ 11 h 11"/>
                <a:gd name="T12" fmla="*/ 23 w 25"/>
                <a:gd name="T13" fmla="*/ 3 h 11"/>
                <a:gd name="T14" fmla="*/ 25 w 25"/>
                <a:gd name="T15" fmla="*/ 3 h 11"/>
                <a:gd name="T16" fmla="*/ 25 w 25"/>
                <a:gd name="T17" fmla="*/ 0 h 11"/>
                <a:gd name="T18" fmla="*/ 0 w 25"/>
                <a:gd name="T19" fmla="*/ 0 h 11"/>
                <a:gd name="T20" fmla="*/ 0 w 25"/>
                <a:gd name="T21" fmla="*/ 3 h 11"/>
                <a:gd name="T22" fmla="*/ 2 w 25"/>
                <a:gd name="T23" fmla="*/ 3 h 11"/>
                <a:gd name="T24" fmla="*/ 2 w 25"/>
                <a:gd name="T25" fmla="*/ 1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 h="11">
                  <a:moveTo>
                    <a:pt x="2" y="11"/>
                  </a:moveTo>
                  <a:lnTo>
                    <a:pt x="4" y="11"/>
                  </a:lnTo>
                  <a:lnTo>
                    <a:pt x="4" y="3"/>
                  </a:lnTo>
                  <a:lnTo>
                    <a:pt x="20" y="3"/>
                  </a:lnTo>
                  <a:lnTo>
                    <a:pt x="20" y="11"/>
                  </a:lnTo>
                  <a:lnTo>
                    <a:pt x="23" y="11"/>
                  </a:lnTo>
                  <a:lnTo>
                    <a:pt x="23" y="3"/>
                  </a:lnTo>
                  <a:lnTo>
                    <a:pt x="25" y="3"/>
                  </a:lnTo>
                  <a:lnTo>
                    <a:pt x="25" y="0"/>
                  </a:lnTo>
                  <a:lnTo>
                    <a:pt x="0" y="0"/>
                  </a:lnTo>
                  <a:lnTo>
                    <a:pt x="0" y="3"/>
                  </a:lnTo>
                  <a:lnTo>
                    <a:pt x="2" y="3"/>
                  </a:lnTo>
                  <a:lnTo>
                    <a:pt x="2"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2" name="Group 121">
            <a:extLst>
              <a:ext uri="{FF2B5EF4-FFF2-40B4-BE49-F238E27FC236}">
                <a16:creationId xmlns:a16="http://schemas.microsoft.com/office/drawing/2014/main" id="{077D840E-9996-4FFA-84EF-FB48F9D9E695}"/>
              </a:ext>
            </a:extLst>
          </p:cNvPr>
          <p:cNvGrpSpPr/>
          <p:nvPr/>
        </p:nvGrpSpPr>
        <p:grpSpPr>
          <a:xfrm>
            <a:off x="4020145" y="1569729"/>
            <a:ext cx="407231" cy="423746"/>
            <a:chOff x="812798" y="1851037"/>
            <a:chExt cx="117474" cy="122238"/>
          </a:xfrm>
          <a:solidFill>
            <a:schemeClr val="accent1"/>
          </a:solidFill>
        </p:grpSpPr>
        <p:sp>
          <p:nvSpPr>
            <p:cNvPr id="123" name="Freeform 97">
              <a:extLst>
                <a:ext uri="{FF2B5EF4-FFF2-40B4-BE49-F238E27FC236}">
                  <a16:creationId xmlns:a16="http://schemas.microsoft.com/office/drawing/2014/main" id="{BC615EFE-57D7-4A6D-BC2C-80E8841EA183}"/>
                </a:ext>
              </a:extLst>
            </p:cNvPr>
            <p:cNvSpPr>
              <a:spLocks/>
            </p:cNvSpPr>
            <p:nvPr/>
          </p:nvSpPr>
          <p:spPr bwMode="auto">
            <a:xfrm>
              <a:off x="812798" y="1919300"/>
              <a:ext cx="117474" cy="53975"/>
            </a:xfrm>
            <a:custGeom>
              <a:avLst/>
              <a:gdLst>
                <a:gd name="T0" fmla="*/ 65 w 66"/>
                <a:gd name="T1" fmla="*/ 2 h 30"/>
                <a:gd name="T2" fmla="*/ 58 w 66"/>
                <a:gd name="T3" fmla="*/ 2 h 30"/>
                <a:gd name="T4" fmla="*/ 44 w 66"/>
                <a:gd name="T5" fmla="*/ 14 h 30"/>
                <a:gd name="T6" fmla="*/ 32 w 66"/>
                <a:gd name="T7" fmla="*/ 14 h 30"/>
                <a:gd name="T8" fmla="*/ 30 w 66"/>
                <a:gd name="T9" fmla="*/ 13 h 30"/>
                <a:gd name="T10" fmla="*/ 32 w 66"/>
                <a:gd name="T11" fmla="*/ 11 h 30"/>
                <a:gd name="T12" fmla="*/ 39 w 66"/>
                <a:gd name="T13" fmla="*/ 11 h 30"/>
                <a:gd name="T14" fmla="*/ 45 w 66"/>
                <a:gd name="T15" fmla="*/ 7 h 30"/>
                <a:gd name="T16" fmla="*/ 39 w 66"/>
                <a:gd name="T17" fmla="*/ 2 h 30"/>
                <a:gd name="T18" fmla="*/ 34 w 66"/>
                <a:gd name="T19" fmla="*/ 2 h 30"/>
                <a:gd name="T20" fmla="*/ 29 w 66"/>
                <a:gd name="T21" fmla="*/ 1 h 30"/>
                <a:gd name="T22" fmla="*/ 22 w 66"/>
                <a:gd name="T23" fmla="*/ 0 h 30"/>
                <a:gd name="T24" fmla="*/ 12 w 66"/>
                <a:gd name="T25" fmla="*/ 4 h 30"/>
                <a:gd name="T26" fmla="*/ 0 w 66"/>
                <a:gd name="T27" fmla="*/ 16 h 30"/>
                <a:gd name="T28" fmla="*/ 14 w 66"/>
                <a:gd name="T29" fmla="*/ 30 h 30"/>
                <a:gd name="T30" fmla="*/ 19 w 66"/>
                <a:gd name="T31" fmla="*/ 26 h 30"/>
                <a:gd name="T32" fmla="*/ 43 w 66"/>
                <a:gd name="T33" fmla="*/ 26 h 30"/>
                <a:gd name="T34" fmla="*/ 49 w 66"/>
                <a:gd name="T35" fmla="*/ 23 h 30"/>
                <a:gd name="T36" fmla="*/ 65 w 66"/>
                <a:gd name="T37" fmla="*/ 5 h 30"/>
                <a:gd name="T38" fmla="*/ 65 w 66"/>
                <a:gd name="T39"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30">
                  <a:moveTo>
                    <a:pt x="65" y="2"/>
                  </a:moveTo>
                  <a:cubicBezTo>
                    <a:pt x="63" y="0"/>
                    <a:pt x="60" y="1"/>
                    <a:pt x="58" y="2"/>
                  </a:cubicBezTo>
                  <a:cubicBezTo>
                    <a:pt x="56" y="3"/>
                    <a:pt x="44" y="14"/>
                    <a:pt x="44" y="14"/>
                  </a:cubicBezTo>
                  <a:cubicBezTo>
                    <a:pt x="32" y="14"/>
                    <a:pt x="32" y="14"/>
                    <a:pt x="32" y="14"/>
                  </a:cubicBezTo>
                  <a:cubicBezTo>
                    <a:pt x="31" y="14"/>
                    <a:pt x="30" y="13"/>
                    <a:pt x="30" y="13"/>
                  </a:cubicBezTo>
                  <a:cubicBezTo>
                    <a:pt x="30" y="12"/>
                    <a:pt x="31" y="11"/>
                    <a:pt x="32" y="11"/>
                  </a:cubicBezTo>
                  <a:cubicBezTo>
                    <a:pt x="39" y="11"/>
                    <a:pt x="39" y="11"/>
                    <a:pt x="39" y="11"/>
                  </a:cubicBezTo>
                  <a:cubicBezTo>
                    <a:pt x="42" y="11"/>
                    <a:pt x="45" y="10"/>
                    <a:pt x="45" y="7"/>
                  </a:cubicBezTo>
                  <a:cubicBezTo>
                    <a:pt x="45" y="4"/>
                    <a:pt x="42" y="2"/>
                    <a:pt x="39" y="2"/>
                  </a:cubicBezTo>
                  <a:cubicBezTo>
                    <a:pt x="35" y="2"/>
                    <a:pt x="34" y="2"/>
                    <a:pt x="34" y="2"/>
                  </a:cubicBezTo>
                  <a:cubicBezTo>
                    <a:pt x="32" y="2"/>
                    <a:pt x="30" y="2"/>
                    <a:pt x="29" y="1"/>
                  </a:cubicBezTo>
                  <a:cubicBezTo>
                    <a:pt x="27" y="0"/>
                    <a:pt x="25" y="0"/>
                    <a:pt x="22" y="0"/>
                  </a:cubicBezTo>
                  <a:cubicBezTo>
                    <a:pt x="18" y="0"/>
                    <a:pt x="15" y="1"/>
                    <a:pt x="12" y="4"/>
                  </a:cubicBezTo>
                  <a:cubicBezTo>
                    <a:pt x="0" y="16"/>
                    <a:pt x="0" y="16"/>
                    <a:pt x="0" y="16"/>
                  </a:cubicBezTo>
                  <a:cubicBezTo>
                    <a:pt x="14" y="30"/>
                    <a:pt x="14" y="30"/>
                    <a:pt x="14" y="30"/>
                  </a:cubicBezTo>
                  <a:cubicBezTo>
                    <a:pt x="19" y="26"/>
                    <a:pt x="19" y="26"/>
                    <a:pt x="19" y="26"/>
                  </a:cubicBezTo>
                  <a:cubicBezTo>
                    <a:pt x="43" y="26"/>
                    <a:pt x="43" y="26"/>
                    <a:pt x="43" y="26"/>
                  </a:cubicBezTo>
                  <a:cubicBezTo>
                    <a:pt x="45" y="26"/>
                    <a:pt x="47" y="25"/>
                    <a:pt x="49" y="23"/>
                  </a:cubicBezTo>
                  <a:cubicBezTo>
                    <a:pt x="65" y="5"/>
                    <a:pt x="65" y="5"/>
                    <a:pt x="65" y="5"/>
                  </a:cubicBezTo>
                  <a:cubicBezTo>
                    <a:pt x="66" y="4"/>
                    <a:pt x="66" y="3"/>
                    <a:pt x="6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4" name="Freeform 98">
              <a:extLst>
                <a:ext uri="{FF2B5EF4-FFF2-40B4-BE49-F238E27FC236}">
                  <a16:creationId xmlns:a16="http://schemas.microsoft.com/office/drawing/2014/main" id="{125D29D8-ADEB-4CB5-9E4B-834BB45DC13D}"/>
                </a:ext>
              </a:extLst>
            </p:cNvPr>
            <p:cNvSpPr>
              <a:spLocks/>
            </p:cNvSpPr>
            <p:nvPr/>
          </p:nvSpPr>
          <p:spPr bwMode="auto">
            <a:xfrm>
              <a:off x="868360" y="1876437"/>
              <a:ext cx="6350" cy="20638"/>
            </a:xfrm>
            <a:custGeom>
              <a:avLst/>
              <a:gdLst>
                <a:gd name="T0" fmla="*/ 2 w 4"/>
                <a:gd name="T1" fmla="*/ 9 h 11"/>
                <a:gd name="T2" fmla="*/ 2 w 4"/>
                <a:gd name="T3" fmla="*/ 7 h 11"/>
                <a:gd name="T4" fmla="*/ 4 w 4"/>
                <a:gd name="T5" fmla="*/ 7 h 11"/>
                <a:gd name="T6" fmla="*/ 4 w 4"/>
                <a:gd name="T7" fmla="*/ 7 h 11"/>
                <a:gd name="T8" fmla="*/ 4 w 4"/>
                <a:gd name="T9" fmla="*/ 6 h 11"/>
                <a:gd name="T10" fmla="*/ 2 w 4"/>
                <a:gd name="T11" fmla="*/ 6 h 11"/>
                <a:gd name="T12" fmla="*/ 2 w 4"/>
                <a:gd name="T13" fmla="*/ 5 h 11"/>
                <a:gd name="T14" fmla="*/ 4 w 4"/>
                <a:gd name="T15" fmla="*/ 5 h 11"/>
                <a:gd name="T16" fmla="*/ 4 w 4"/>
                <a:gd name="T17" fmla="*/ 5 h 11"/>
                <a:gd name="T18" fmla="*/ 4 w 4"/>
                <a:gd name="T19" fmla="*/ 4 h 11"/>
                <a:gd name="T20" fmla="*/ 2 w 4"/>
                <a:gd name="T21" fmla="*/ 4 h 11"/>
                <a:gd name="T22" fmla="*/ 2 w 4"/>
                <a:gd name="T23" fmla="*/ 3 h 11"/>
                <a:gd name="T24" fmla="*/ 4 w 4"/>
                <a:gd name="T25" fmla="*/ 3 h 11"/>
                <a:gd name="T26" fmla="*/ 4 w 4"/>
                <a:gd name="T27" fmla="*/ 3 h 11"/>
                <a:gd name="T28" fmla="*/ 4 w 4"/>
                <a:gd name="T29" fmla="*/ 2 h 11"/>
                <a:gd name="T30" fmla="*/ 2 w 4"/>
                <a:gd name="T31" fmla="*/ 2 h 11"/>
                <a:gd name="T32" fmla="*/ 2 w 4"/>
                <a:gd name="T33" fmla="*/ 1 h 11"/>
                <a:gd name="T34" fmla="*/ 4 w 4"/>
                <a:gd name="T35" fmla="*/ 1 h 11"/>
                <a:gd name="T36" fmla="*/ 3 w 4"/>
                <a:gd name="T37" fmla="*/ 0 h 11"/>
                <a:gd name="T38" fmla="*/ 1 w 4"/>
                <a:gd name="T39" fmla="*/ 2 h 11"/>
                <a:gd name="T40" fmla="*/ 1 w 4"/>
                <a:gd name="T41" fmla="*/ 3 h 11"/>
                <a:gd name="T42" fmla="*/ 1 w 4"/>
                <a:gd name="T43" fmla="*/ 5 h 11"/>
                <a:gd name="T44" fmla="*/ 1 w 4"/>
                <a:gd name="T45" fmla="*/ 7 h 11"/>
                <a:gd name="T46" fmla="*/ 1 w 4"/>
                <a:gd name="T47" fmla="*/ 8 h 11"/>
                <a:gd name="T48" fmla="*/ 1 w 4"/>
                <a:gd name="T49" fmla="*/ 8 h 11"/>
                <a:gd name="T50" fmla="*/ 0 w 4"/>
                <a:gd name="T51" fmla="*/ 10 h 11"/>
                <a:gd name="T52" fmla="*/ 0 w 4"/>
                <a:gd name="T53" fmla="*/ 11 h 11"/>
                <a:gd name="T54" fmla="*/ 1 w 4"/>
                <a:gd name="T55" fmla="*/ 11 h 11"/>
                <a:gd name="T56" fmla="*/ 2 w 4"/>
                <a:gd name="T57"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 h="11">
                  <a:moveTo>
                    <a:pt x="2" y="9"/>
                  </a:moveTo>
                  <a:cubicBezTo>
                    <a:pt x="2" y="7"/>
                    <a:pt x="2" y="7"/>
                    <a:pt x="2" y="7"/>
                  </a:cubicBezTo>
                  <a:cubicBezTo>
                    <a:pt x="4" y="7"/>
                    <a:pt x="4" y="7"/>
                    <a:pt x="4" y="7"/>
                  </a:cubicBezTo>
                  <a:cubicBezTo>
                    <a:pt x="4" y="7"/>
                    <a:pt x="4" y="7"/>
                    <a:pt x="4" y="7"/>
                  </a:cubicBezTo>
                  <a:cubicBezTo>
                    <a:pt x="4" y="6"/>
                    <a:pt x="4" y="6"/>
                    <a:pt x="4" y="6"/>
                  </a:cubicBezTo>
                  <a:cubicBezTo>
                    <a:pt x="2" y="6"/>
                    <a:pt x="2" y="6"/>
                    <a:pt x="2" y="6"/>
                  </a:cubicBezTo>
                  <a:cubicBezTo>
                    <a:pt x="2" y="5"/>
                    <a:pt x="2" y="5"/>
                    <a:pt x="2" y="5"/>
                  </a:cubicBezTo>
                  <a:cubicBezTo>
                    <a:pt x="4" y="5"/>
                    <a:pt x="4" y="5"/>
                    <a:pt x="4" y="5"/>
                  </a:cubicBezTo>
                  <a:cubicBezTo>
                    <a:pt x="4" y="5"/>
                    <a:pt x="4" y="5"/>
                    <a:pt x="4" y="5"/>
                  </a:cubicBezTo>
                  <a:cubicBezTo>
                    <a:pt x="4" y="4"/>
                    <a:pt x="4" y="4"/>
                    <a:pt x="4" y="4"/>
                  </a:cubicBezTo>
                  <a:cubicBezTo>
                    <a:pt x="2" y="4"/>
                    <a:pt x="2" y="4"/>
                    <a:pt x="2" y="4"/>
                  </a:cubicBezTo>
                  <a:cubicBezTo>
                    <a:pt x="2" y="3"/>
                    <a:pt x="2" y="3"/>
                    <a:pt x="2" y="3"/>
                  </a:cubicBezTo>
                  <a:cubicBezTo>
                    <a:pt x="4" y="3"/>
                    <a:pt x="4" y="3"/>
                    <a:pt x="4" y="3"/>
                  </a:cubicBezTo>
                  <a:cubicBezTo>
                    <a:pt x="4" y="3"/>
                    <a:pt x="4" y="3"/>
                    <a:pt x="4" y="3"/>
                  </a:cubicBezTo>
                  <a:cubicBezTo>
                    <a:pt x="4" y="2"/>
                    <a:pt x="4" y="2"/>
                    <a:pt x="4" y="2"/>
                  </a:cubicBezTo>
                  <a:cubicBezTo>
                    <a:pt x="2" y="2"/>
                    <a:pt x="2" y="2"/>
                    <a:pt x="2" y="2"/>
                  </a:cubicBezTo>
                  <a:cubicBezTo>
                    <a:pt x="2" y="1"/>
                    <a:pt x="2" y="1"/>
                    <a:pt x="2" y="1"/>
                  </a:cubicBezTo>
                  <a:cubicBezTo>
                    <a:pt x="4" y="1"/>
                    <a:pt x="4" y="1"/>
                    <a:pt x="4" y="1"/>
                  </a:cubicBezTo>
                  <a:cubicBezTo>
                    <a:pt x="4" y="1"/>
                    <a:pt x="3" y="0"/>
                    <a:pt x="3" y="0"/>
                  </a:cubicBezTo>
                  <a:cubicBezTo>
                    <a:pt x="2" y="0"/>
                    <a:pt x="1" y="1"/>
                    <a:pt x="1" y="2"/>
                  </a:cubicBezTo>
                  <a:cubicBezTo>
                    <a:pt x="1" y="3"/>
                    <a:pt x="1" y="3"/>
                    <a:pt x="1" y="3"/>
                  </a:cubicBezTo>
                  <a:cubicBezTo>
                    <a:pt x="1" y="5"/>
                    <a:pt x="1" y="5"/>
                    <a:pt x="1" y="5"/>
                  </a:cubicBezTo>
                  <a:cubicBezTo>
                    <a:pt x="1" y="7"/>
                    <a:pt x="1" y="7"/>
                    <a:pt x="1" y="7"/>
                  </a:cubicBezTo>
                  <a:cubicBezTo>
                    <a:pt x="1" y="8"/>
                    <a:pt x="1" y="8"/>
                    <a:pt x="1" y="8"/>
                  </a:cubicBezTo>
                  <a:cubicBezTo>
                    <a:pt x="1" y="8"/>
                    <a:pt x="1" y="8"/>
                    <a:pt x="1" y="8"/>
                  </a:cubicBezTo>
                  <a:cubicBezTo>
                    <a:pt x="1" y="9"/>
                    <a:pt x="0" y="9"/>
                    <a:pt x="0" y="10"/>
                  </a:cubicBezTo>
                  <a:cubicBezTo>
                    <a:pt x="0" y="10"/>
                    <a:pt x="0" y="10"/>
                    <a:pt x="0" y="11"/>
                  </a:cubicBezTo>
                  <a:cubicBezTo>
                    <a:pt x="1" y="11"/>
                    <a:pt x="1" y="11"/>
                    <a:pt x="1" y="11"/>
                  </a:cubicBezTo>
                  <a:cubicBezTo>
                    <a:pt x="1" y="10"/>
                    <a:pt x="2" y="9"/>
                    <a:pt x="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99">
              <a:extLst>
                <a:ext uri="{FF2B5EF4-FFF2-40B4-BE49-F238E27FC236}">
                  <a16:creationId xmlns:a16="http://schemas.microsoft.com/office/drawing/2014/main" id="{AE53F01E-A96B-4C2D-A032-C309ED5B3A91}"/>
                </a:ext>
              </a:extLst>
            </p:cNvPr>
            <p:cNvSpPr>
              <a:spLocks noEditPoints="1"/>
            </p:cNvSpPr>
            <p:nvPr/>
          </p:nvSpPr>
          <p:spPr bwMode="auto">
            <a:xfrm>
              <a:off x="844547" y="1870087"/>
              <a:ext cx="55562" cy="36513"/>
            </a:xfrm>
            <a:custGeom>
              <a:avLst/>
              <a:gdLst>
                <a:gd name="T0" fmla="*/ 0 w 31"/>
                <a:gd name="T1" fmla="*/ 21 h 21"/>
                <a:gd name="T2" fmla="*/ 31 w 31"/>
                <a:gd name="T3" fmla="*/ 21 h 21"/>
                <a:gd name="T4" fmla="*/ 31 w 31"/>
                <a:gd name="T5" fmla="*/ 0 h 21"/>
                <a:gd name="T6" fmla="*/ 0 w 31"/>
                <a:gd name="T7" fmla="*/ 0 h 21"/>
                <a:gd name="T8" fmla="*/ 0 w 31"/>
                <a:gd name="T9" fmla="*/ 21 h 21"/>
                <a:gd name="T10" fmla="*/ 13 w 31"/>
                <a:gd name="T11" fmla="*/ 12 h 21"/>
                <a:gd name="T12" fmla="*/ 13 w 31"/>
                <a:gd name="T13" fmla="*/ 6 h 21"/>
                <a:gd name="T14" fmla="*/ 16 w 31"/>
                <a:gd name="T15" fmla="*/ 3 h 21"/>
                <a:gd name="T16" fmla="*/ 18 w 31"/>
                <a:gd name="T17" fmla="*/ 5 h 21"/>
                <a:gd name="T18" fmla="*/ 18 w 31"/>
                <a:gd name="T19" fmla="*/ 5 h 21"/>
                <a:gd name="T20" fmla="*/ 18 w 31"/>
                <a:gd name="T21" fmla="*/ 6 h 21"/>
                <a:gd name="T22" fmla="*/ 18 w 31"/>
                <a:gd name="T23" fmla="*/ 6 h 21"/>
                <a:gd name="T24" fmla="*/ 18 w 31"/>
                <a:gd name="T25" fmla="*/ 7 h 21"/>
                <a:gd name="T26" fmla="*/ 18 w 31"/>
                <a:gd name="T27" fmla="*/ 8 h 21"/>
                <a:gd name="T28" fmla="*/ 18 w 31"/>
                <a:gd name="T29" fmla="*/ 9 h 21"/>
                <a:gd name="T30" fmla="*/ 18 w 31"/>
                <a:gd name="T31" fmla="*/ 10 h 21"/>
                <a:gd name="T32" fmla="*/ 18 w 31"/>
                <a:gd name="T33" fmla="*/ 11 h 21"/>
                <a:gd name="T34" fmla="*/ 18 w 31"/>
                <a:gd name="T35" fmla="*/ 12 h 21"/>
                <a:gd name="T36" fmla="*/ 19 w 31"/>
                <a:gd name="T37" fmla="*/ 14 h 21"/>
                <a:gd name="T38" fmla="*/ 16 w 31"/>
                <a:gd name="T39" fmla="*/ 18 h 21"/>
                <a:gd name="T40" fmla="*/ 12 w 31"/>
                <a:gd name="T41" fmla="*/ 14 h 21"/>
                <a:gd name="T42" fmla="*/ 13 w 31"/>
                <a:gd name="T43" fmla="*/ 1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 h="21">
                  <a:moveTo>
                    <a:pt x="0" y="21"/>
                  </a:moveTo>
                  <a:cubicBezTo>
                    <a:pt x="31" y="21"/>
                    <a:pt x="31" y="21"/>
                    <a:pt x="31" y="21"/>
                  </a:cubicBezTo>
                  <a:cubicBezTo>
                    <a:pt x="31" y="0"/>
                    <a:pt x="31" y="0"/>
                    <a:pt x="31" y="0"/>
                  </a:cubicBezTo>
                  <a:cubicBezTo>
                    <a:pt x="0" y="0"/>
                    <a:pt x="0" y="0"/>
                    <a:pt x="0" y="0"/>
                  </a:cubicBezTo>
                  <a:lnTo>
                    <a:pt x="0" y="21"/>
                  </a:lnTo>
                  <a:close/>
                  <a:moveTo>
                    <a:pt x="13" y="12"/>
                  </a:moveTo>
                  <a:cubicBezTo>
                    <a:pt x="13" y="6"/>
                    <a:pt x="13" y="6"/>
                    <a:pt x="13" y="6"/>
                  </a:cubicBezTo>
                  <a:cubicBezTo>
                    <a:pt x="13" y="4"/>
                    <a:pt x="14" y="3"/>
                    <a:pt x="16" y="3"/>
                  </a:cubicBezTo>
                  <a:cubicBezTo>
                    <a:pt x="17" y="3"/>
                    <a:pt x="18" y="4"/>
                    <a:pt x="18" y="5"/>
                  </a:cubicBezTo>
                  <a:cubicBezTo>
                    <a:pt x="18" y="5"/>
                    <a:pt x="18" y="5"/>
                    <a:pt x="18" y="5"/>
                  </a:cubicBezTo>
                  <a:cubicBezTo>
                    <a:pt x="18" y="6"/>
                    <a:pt x="18" y="6"/>
                    <a:pt x="18" y="6"/>
                  </a:cubicBezTo>
                  <a:cubicBezTo>
                    <a:pt x="18" y="6"/>
                    <a:pt x="18" y="6"/>
                    <a:pt x="18" y="6"/>
                  </a:cubicBezTo>
                  <a:cubicBezTo>
                    <a:pt x="18" y="7"/>
                    <a:pt x="18" y="7"/>
                    <a:pt x="18" y="7"/>
                  </a:cubicBezTo>
                  <a:cubicBezTo>
                    <a:pt x="18" y="8"/>
                    <a:pt x="18" y="8"/>
                    <a:pt x="18" y="8"/>
                  </a:cubicBezTo>
                  <a:cubicBezTo>
                    <a:pt x="18" y="9"/>
                    <a:pt x="18" y="9"/>
                    <a:pt x="18" y="9"/>
                  </a:cubicBezTo>
                  <a:cubicBezTo>
                    <a:pt x="18" y="10"/>
                    <a:pt x="18" y="10"/>
                    <a:pt x="18" y="10"/>
                  </a:cubicBezTo>
                  <a:cubicBezTo>
                    <a:pt x="18" y="11"/>
                    <a:pt x="18" y="11"/>
                    <a:pt x="18" y="11"/>
                  </a:cubicBezTo>
                  <a:cubicBezTo>
                    <a:pt x="18" y="12"/>
                    <a:pt x="18" y="12"/>
                    <a:pt x="18" y="12"/>
                  </a:cubicBezTo>
                  <a:cubicBezTo>
                    <a:pt x="19" y="12"/>
                    <a:pt x="19" y="13"/>
                    <a:pt x="19" y="14"/>
                  </a:cubicBezTo>
                  <a:cubicBezTo>
                    <a:pt x="19" y="16"/>
                    <a:pt x="17" y="18"/>
                    <a:pt x="16" y="18"/>
                  </a:cubicBezTo>
                  <a:cubicBezTo>
                    <a:pt x="14" y="18"/>
                    <a:pt x="12" y="16"/>
                    <a:pt x="12" y="14"/>
                  </a:cubicBezTo>
                  <a:cubicBezTo>
                    <a:pt x="12" y="13"/>
                    <a:pt x="13" y="12"/>
                    <a:pt x="1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6" name="Freeform 100">
              <a:extLst>
                <a:ext uri="{FF2B5EF4-FFF2-40B4-BE49-F238E27FC236}">
                  <a16:creationId xmlns:a16="http://schemas.microsoft.com/office/drawing/2014/main" id="{56BD50E0-5742-4D08-8612-44B9FC703A10}"/>
                </a:ext>
              </a:extLst>
            </p:cNvPr>
            <p:cNvSpPr>
              <a:spLocks/>
            </p:cNvSpPr>
            <p:nvPr/>
          </p:nvSpPr>
          <p:spPr bwMode="auto">
            <a:xfrm>
              <a:off x="844547" y="1851037"/>
              <a:ext cx="26987" cy="14288"/>
            </a:xfrm>
            <a:custGeom>
              <a:avLst/>
              <a:gdLst>
                <a:gd name="T0" fmla="*/ 17 w 17"/>
                <a:gd name="T1" fmla="*/ 0 h 9"/>
                <a:gd name="T2" fmla="*/ 6 w 17"/>
                <a:gd name="T3" fmla="*/ 0 h 9"/>
                <a:gd name="T4" fmla="*/ 0 w 17"/>
                <a:gd name="T5" fmla="*/ 9 h 9"/>
                <a:gd name="T6" fmla="*/ 16 w 17"/>
                <a:gd name="T7" fmla="*/ 9 h 9"/>
                <a:gd name="T8" fmla="*/ 17 w 17"/>
                <a:gd name="T9" fmla="*/ 0 h 9"/>
              </a:gdLst>
              <a:ahLst/>
              <a:cxnLst>
                <a:cxn ang="0">
                  <a:pos x="T0" y="T1"/>
                </a:cxn>
                <a:cxn ang="0">
                  <a:pos x="T2" y="T3"/>
                </a:cxn>
                <a:cxn ang="0">
                  <a:pos x="T4" y="T5"/>
                </a:cxn>
                <a:cxn ang="0">
                  <a:pos x="T6" y="T7"/>
                </a:cxn>
                <a:cxn ang="0">
                  <a:pos x="T8" y="T9"/>
                </a:cxn>
              </a:cxnLst>
              <a:rect l="0" t="0" r="r" b="b"/>
              <a:pathLst>
                <a:path w="17" h="9">
                  <a:moveTo>
                    <a:pt x="17" y="0"/>
                  </a:moveTo>
                  <a:lnTo>
                    <a:pt x="6" y="0"/>
                  </a:lnTo>
                  <a:lnTo>
                    <a:pt x="0" y="9"/>
                  </a:lnTo>
                  <a:lnTo>
                    <a:pt x="16" y="9"/>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7" name="Freeform 101">
              <a:extLst>
                <a:ext uri="{FF2B5EF4-FFF2-40B4-BE49-F238E27FC236}">
                  <a16:creationId xmlns:a16="http://schemas.microsoft.com/office/drawing/2014/main" id="{1501FE86-867A-4EF3-98B2-A52F8D2A2AEF}"/>
                </a:ext>
              </a:extLst>
            </p:cNvPr>
            <p:cNvSpPr>
              <a:spLocks/>
            </p:cNvSpPr>
            <p:nvPr/>
          </p:nvSpPr>
          <p:spPr bwMode="auto">
            <a:xfrm>
              <a:off x="874710" y="1851037"/>
              <a:ext cx="25400" cy="14288"/>
            </a:xfrm>
            <a:custGeom>
              <a:avLst/>
              <a:gdLst>
                <a:gd name="T0" fmla="*/ 16 w 16"/>
                <a:gd name="T1" fmla="*/ 9 h 9"/>
                <a:gd name="T2" fmla="*/ 10 w 16"/>
                <a:gd name="T3" fmla="*/ 0 h 9"/>
                <a:gd name="T4" fmla="*/ 0 w 16"/>
                <a:gd name="T5" fmla="*/ 0 h 9"/>
                <a:gd name="T6" fmla="*/ 1 w 16"/>
                <a:gd name="T7" fmla="*/ 9 h 9"/>
                <a:gd name="T8" fmla="*/ 16 w 16"/>
                <a:gd name="T9" fmla="*/ 9 h 9"/>
              </a:gdLst>
              <a:ahLst/>
              <a:cxnLst>
                <a:cxn ang="0">
                  <a:pos x="T0" y="T1"/>
                </a:cxn>
                <a:cxn ang="0">
                  <a:pos x="T2" y="T3"/>
                </a:cxn>
                <a:cxn ang="0">
                  <a:pos x="T4" y="T5"/>
                </a:cxn>
                <a:cxn ang="0">
                  <a:pos x="T6" y="T7"/>
                </a:cxn>
                <a:cxn ang="0">
                  <a:pos x="T8" y="T9"/>
                </a:cxn>
              </a:cxnLst>
              <a:rect l="0" t="0" r="r" b="b"/>
              <a:pathLst>
                <a:path w="16" h="9">
                  <a:moveTo>
                    <a:pt x="16" y="9"/>
                  </a:moveTo>
                  <a:lnTo>
                    <a:pt x="10" y="0"/>
                  </a:lnTo>
                  <a:lnTo>
                    <a:pt x="0" y="0"/>
                  </a:lnTo>
                  <a:lnTo>
                    <a:pt x="1" y="9"/>
                  </a:lnTo>
                  <a:lnTo>
                    <a:pt x="16"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8" name="Group 127">
            <a:extLst>
              <a:ext uri="{FF2B5EF4-FFF2-40B4-BE49-F238E27FC236}">
                <a16:creationId xmlns:a16="http://schemas.microsoft.com/office/drawing/2014/main" id="{3452DF2E-6EB9-490F-AE14-ED232F53E961}"/>
              </a:ext>
            </a:extLst>
          </p:cNvPr>
          <p:cNvGrpSpPr/>
          <p:nvPr/>
        </p:nvGrpSpPr>
        <p:grpSpPr>
          <a:xfrm>
            <a:off x="3160185" y="2529379"/>
            <a:ext cx="327630" cy="363541"/>
            <a:chOff x="1495418" y="1844687"/>
            <a:chExt cx="115887" cy="128589"/>
          </a:xfrm>
          <a:solidFill>
            <a:schemeClr val="accent1"/>
          </a:solidFill>
        </p:grpSpPr>
        <p:sp>
          <p:nvSpPr>
            <p:cNvPr id="129" name="Freeform 102">
              <a:extLst>
                <a:ext uri="{FF2B5EF4-FFF2-40B4-BE49-F238E27FC236}">
                  <a16:creationId xmlns:a16="http://schemas.microsoft.com/office/drawing/2014/main" id="{C8DB8A0F-3925-4C4B-983B-437E856A810A}"/>
                </a:ext>
              </a:extLst>
            </p:cNvPr>
            <p:cNvSpPr>
              <a:spLocks/>
            </p:cNvSpPr>
            <p:nvPr/>
          </p:nvSpPr>
          <p:spPr bwMode="auto">
            <a:xfrm>
              <a:off x="1557330" y="1882787"/>
              <a:ext cx="31750" cy="30163"/>
            </a:xfrm>
            <a:custGeom>
              <a:avLst/>
              <a:gdLst>
                <a:gd name="T0" fmla="*/ 0 w 17"/>
                <a:gd name="T1" fmla="*/ 17 h 17"/>
                <a:gd name="T2" fmla="*/ 17 w 17"/>
                <a:gd name="T3" fmla="*/ 17 h 17"/>
                <a:gd name="T4" fmla="*/ 0 w 17"/>
                <a:gd name="T5" fmla="*/ 0 h 17"/>
                <a:gd name="T6" fmla="*/ 0 w 17"/>
                <a:gd name="T7" fmla="*/ 17 h 17"/>
              </a:gdLst>
              <a:ahLst/>
              <a:cxnLst>
                <a:cxn ang="0">
                  <a:pos x="T0" y="T1"/>
                </a:cxn>
                <a:cxn ang="0">
                  <a:pos x="T2" y="T3"/>
                </a:cxn>
                <a:cxn ang="0">
                  <a:pos x="T4" y="T5"/>
                </a:cxn>
                <a:cxn ang="0">
                  <a:pos x="T6" y="T7"/>
                </a:cxn>
              </a:cxnLst>
              <a:rect l="0" t="0" r="r" b="b"/>
              <a:pathLst>
                <a:path w="17" h="17">
                  <a:moveTo>
                    <a:pt x="0" y="17"/>
                  </a:moveTo>
                  <a:cubicBezTo>
                    <a:pt x="17" y="17"/>
                    <a:pt x="17" y="17"/>
                    <a:pt x="17" y="17"/>
                  </a:cubicBezTo>
                  <a:cubicBezTo>
                    <a:pt x="16" y="8"/>
                    <a:pt x="9" y="1"/>
                    <a:pt x="0" y="0"/>
                  </a:cubicBezTo>
                  <a:lnTo>
                    <a:pt x="0"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0" name="Freeform 103">
              <a:extLst>
                <a:ext uri="{FF2B5EF4-FFF2-40B4-BE49-F238E27FC236}">
                  <a16:creationId xmlns:a16="http://schemas.microsoft.com/office/drawing/2014/main" id="{EE76A652-5EEF-4C88-A2E5-7F8B6A964FD6}"/>
                </a:ext>
              </a:extLst>
            </p:cNvPr>
            <p:cNvSpPr>
              <a:spLocks/>
            </p:cNvSpPr>
            <p:nvPr/>
          </p:nvSpPr>
          <p:spPr bwMode="auto">
            <a:xfrm>
              <a:off x="1520817" y="1882787"/>
              <a:ext cx="68262" cy="68263"/>
            </a:xfrm>
            <a:custGeom>
              <a:avLst/>
              <a:gdLst>
                <a:gd name="T0" fmla="*/ 19 w 38"/>
                <a:gd name="T1" fmla="*/ 38 h 38"/>
                <a:gd name="T2" fmla="*/ 38 w 38"/>
                <a:gd name="T3" fmla="*/ 21 h 38"/>
                <a:gd name="T4" fmla="*/ 17 w 38"/>
                <a:gd name="T5" fmla="*/ 21 h 38"/>
                <a:gd name="T6" fmla="*/ 17 w 38"/>
                <a:gd name="T7" fmla="*/ 0 h 38"/>
                <a:gd name="T8" fmla="*/ 0 w 38"/>
                <a:gd name="T9" fmla="*/ 19 h 38"/>
                <a:gd name="T10" fmla="*/ 19 w 38"/>
                <a:gd name="T11" fmla="*/ 38 h 38"/>
              </a:gdLst>
              <a:ahLst/>
              <a:cxnLst>
                <a:cxn ang="0">
                  <a:pos x="T0" y="T1"/>
                </a:cxn>
                <a:cxn ang="0">
                  <a:pos x="T2" y="T3"/>
                </a:cxn>
                <a:cxn ang="0">
                  <a:pos x="T4" y="T5"/>
                </a:cxn>
                <a:cxn ang="0">
                  <a:pos x="T6" y="T7"/>
                </a:cxn>
                <a:cxn ang="0">
                  <a:pos x="T8" y="T9"/>
                </a:cxn>
                <a:cxn ang="0">
                  <a:pos x="T10" y="T11"/>
                </a:cxn>
              </a:cxnLst>
              <a:rect l="0" t="0" r="r" b="b"/>
              <a:pathLst>
                <a:path w="38" h="38">
                  <a:moveTo>
                    <a:pt x="19" y="38"/>
                  </a:moveTo>
                  <a:cubicBezTo>
                    <a:pt x="29" y="38"/>
                    <a:pt x="37" y="31"/>
                    <a:pt x="38" y="21"/>
                  </a:cubicBezTo>
                  <a:cubicBezTo>
                    <a:pt x="17" y="21"/>
                    <a:pt x="17" y="21"/>
                    <a:pt x="17" y="21"/>
                  </a:cubicBezTo>
                  <a:cubicBezTo>
                    <a:pt x="17" y="0"/>
                    <a:pt x="17" y="0"/>
                    <a:pt x="17" y="0"/>
                  </a:cubicBezTo>
                  <a:cubicBezTo>
                    <a:pt x="7" y="1"/>
                    <a:pt x="0" y="9"/>
                    <a:pt x="0" y="19"/>
                  </a:cubicBezTo>
                  <a:cubicBezTo>
                    <a:pt x="0" y="30"/>
                    <a:pt x="8" y="38"/>
                    <a:pt x="19"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1" name="Freeform 104">
              <a:extLst>
                <a:ext uri="{FF2B5EF4-FFF2-40B4-BE49-F238E27FC236}">
                  <a16:creationId xmlns:a16="http://schemas.microsoft.com/office/drawing/2014/main" id="{B6992D7B-AACA-4825-BF54-BA302AF74645}"/>
                </a:ext>
              </a:extLst>
            </p:cNvPr>
            <p:cNvSpPr>
              <a:spLocks noEditPoints="1"/>
            </p:cNvSpPr>
            <p:nvPr/>
          </p:nvSpPr>
          <p:spPr bwMode="auto">
            <a:xfrm>
              <a:off x="1495418" y="1844687"/>
              <a:ext cx="115887" cy="128589"/>
            </a:xfrm>
            <a:custGeom>
              <a:avLst/>
              <a:gdLst>
                <a:gd name="T0" fmla="*/ 55 w 65"/>
                <a:gd name="T1" fmla="*/ 18 h 72"/>
                <a:gd name="T2" fmla="*/ 41 w 65"/>
                <a:gd name="T3" fmla="*/ 9 h 72"/>
                <a:gd name="T4" fmla="*/ 41 w 65"/>
                <a:gd name="T5" fmla="*/ 4 h 72"/>
                <a:gd name="T6" fmla="*/ 45 w 65"/>
                <a:gd name="T7" fmla="*/ 4 h 72"/>
                <a:gd name="T8" fmla="*/ 45 w 65"/>
                <a:gd name="T9" fmla="*/ 0 h 72"/>
                <a:gd name="T10" fmla="*/ 21 w 65"/>
                <a:gd name="T11" fmla="*/ 0 h 72"/>
                <a:gd name="T12" fmla="*/ 21 w 65"/>
                <a:gd name="T13" fmla="*/ 4 h 72"/>
                <a:gd name="T14" fmla="*/ 25 w 65"/>
                <a:gd name="T15" fmla="*/ 4 h 72"/>
                <a:gd name="T16" fmla="*/ 25 w 65"/>
                <a:gd name="T17" fmla="*/ 9 h 72"/>
                <a:gd name="T18" fmla="*/ 12 w 65"/>
                <a:gd name="T19" fmla="*/ 16 h 72"/>
                <a:gd name="T20" fmla="*/ 9 w 65"/>
                <a:gd name="T21" fmla="*/ 13 h 72"/>
                <a:gd name="T22" fmla="*/ 12 w 65"/>
                <a:gd name="T23" fmla="*/ 10 h 72"/>
                <a:gd name="T24" fmla="*/ 9 w 65"/>
                <a:gd name="T25" fmla="*/ 7 h 72"/>
                <a:gd name="T26" fmla="*/ 0 w 65"/>
                <a:gd name="T27" fmla="*/ 16 h 72"/>
                <a:gd name="T28" fmla="*/ 3 w 65"/>
                <a:gd name="T29" fmla="*/ 19 h 72"/>
                <a:gd name="T30" fmla="*/ 6 w 65"/>
                <a:gd name="T31" fmla="*/ 16 h 72"/>
                <a:gd name="T32" fmla="*/ 9 w 65"/>
                <a:gd name="T33" fmla="*/ 19 h 72"/>
                <a:gd name="T34" fmla="*/ 1 w 65"/>
                <a:gd name="T35" fmla="*/ 40 h 72"/>
                <a:gd name="T36" fmla="*/ 10 w 65"/>
                <a:gd name="T37" fmla="*/ 63 h 72"/>
                <a:gd name="T38" fmla="*/ 33 w 65"/>
                <a:gd name="T39" fmla="*/ 72 h 72"/>
                <a:gd name="T40" fmla="*/ 55 w 65"/>
                <a:gd name="T41" fmla="*/ 63 h 72"/>
                <a:gd name="T42" fmla="*/ 65 w 65"/>
                <a:gd name="T43" fmla="*/ 40 h 72"/>
                <a:gd name="T44" fmla="*/ 55 w 65"/>
                <a:gd name="T45" fmla="*/ 18 h 72"/>
                <a:gd name="T46" fmla="*/ 33 w 65"/>
                <a:gd name="T47" fmla="*/ 17 h 72"/>
                <a:gd name="T48" fmla="*/ 56 w 65"/>
                <a:gd name="T49" fmla="*/ 40 h 72"/>
                <a:gd name="T50" fmla="*/ 33 w 65"/>
                <a:gd name="T51" fmla="*/ 64 h 72"/>
                <a:gd name="T52" fmla="*/ 9 w 65"/>
                <a:gd name="T53" fmla="*/ 40 h 72"/>
                <a:gd name="T54" fmla="*/ 33 w 65"/>
                <a:gd name="T55" fmla="*/ 1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2">
                  <a:moveTo>
                    <a:pt x="55" y="18"/>
                  </a:moveTo>
                  <a:cubicBezTo>
                    <a:pt x="51" y="13"/>
                    <a:pt x="46" y="11"/>
                    <a:pt x="41" y="9"/>
                  </a:cubicBezTo>
                  <a:cubicBezTo>
                    <a:pt x="41" y="4"/>
                    <a:pt x="41" y="4"/>
                    <a:pt x="41" y="4"/>
                  </a:cubicBezTo>
                  <a:cubicBezTo>
                    <a:pt x="45" y="4"/>
                    <a:pt x="45" y="4"/>
                    <a:pt x="45" y="4"/>
                  </a:cubicBezTo>
                  <a:cubicBezTo>
                    <a:pt x="45" y="0"/>
                    <a:pt x="45" y="0"/>
                    <a:pt x="45" y="0"/>
                  </a:cubicBezTo>
                  <a:cubicBezTo>
                    <a:pt x="21" y="0"/>
                    <a:pt x="21" y="0"/>
                    <a:pt x="21" y="0"/>
                  </a:cubicBezTo>
                  <a:cubicBezTo>
                    <a:pt x="21" y="4"/>
                    <a:pt x="21" y="4"/>
                    <a:pt x="21" y="4"/>
                  </a:cubicBezTo>
                  <a:cubicBezTo>
                    <a:pt x="25" y="4"/>
                    <a:pt x="25" y="4"/>
                    <a:pt x="25" y="4"/>
                  </a:cubicBezTo>
                  <a:cubicBezTo>
                    <a:pt x="25" y="9"/>
                    <a:pt x="25" y="9"/>
                    <a:pt x="25" y="9"/>
                  </a:cubicBezTo>
                  <a:cubicBezTo>
                    <a:pt x="20" y="10"/>
                    <a:pt x="16" y="13"/>
                    <a:pt x="12" y="16"/>
                  </a:cubicBezTo>
                  <a:cubicBezTo>
                    <a:pt x="9" y="13"/>
                    <a:pt x="9" y="13"/>
                    <a:pt x="9" y="13"/>
                  </a:cubicBezTo>
                  <a:cubicBezTo>
                    <a:pt x="12" y="10"/>
                    <a:pt x="12" y="10"/>
                    <a:pt x="12" y="10"/>
                  </a:cubicBezTo>
                  <a:cubicBezTo>
                    <a:pt x="9" y="7"/>
                    <a:pt x="9" y="7"/>
                    <a:pt x="9" y="7"/>
                  </a:cubicBezTo>
                  <a:cubicBezTo>
                    <a:pt x="0" y="16"/>
                    <a:pt x="0" y="16"/>
                    <a:pt x="0" y="16"/>
                  </a:cubicBezTo>
                  <a:cubicBezTo>
                    <a:pt x="3" y="19"/>
                    <a:pt x="3" y="19"/>
                    <a:pt x="3" y="19"/>
                  </a:cubicBezTo>
                  <a:cubicBezTo>
                    <a:pt x="6" y="16"/>
                    <a:pt x="6" y="16"/>
                    <a:pt x="6" y="16"/>
                  </a:cubicBezTo>
                  <a:cubicBezTo>
                    <a:pt x="9" y="19"/>
                    <a:pt x="9" y="19"/>
                    <a:pt x="9" y="19"/>
                  </a:cubicBezTo>
                  <a:cubicBezTo>
                    <a:pt x="4" y="25"/>
                    <a:pt x="1" y="32"/>
                    <a:pt x="1" y="40"/>
                  </a:cubicBezTo>
                  <a:cubicBezTo>
                    <a:pt x="1" y="49"/>
                    <a:pt x="4" y="57"/>
                    <a:pt x="10" y="63"/>
                  </a:cubicBezTo>
                  <a:cubicBezTo>
                    <a:pt x="16" y="69"/>
                    <a:pt x="24" y="72"/>
                    <a:pt x="33" y="72"/>
                  </a:cubicBezTo>
                  <a:cubicBezTo>
                    <a:pt x="41" y="72"/>
                    <a:pt x="49" y="69"/>
                    <a:pt x="55" y="63"/>
                  </a:cubicBezTo>
                  <a:cubicBezTo>
                    <a:pt x="61" y="57"/>
                    <a:pt x="65" y="49"/>
                    <a:pt x="65" y="40"/>
                  </a:cubicBezTo>
                  <a:cubicBezTo>
                    <a:pt x="65" y="32"/>
                    <a:pt x="61" y="24"/>
                    <a:pt x="55" y="18"/>
                  </a:cubicBezTo>
                  <a:close/>
                  <a:moveTo>
                    <a:pt x="33" y="17"/>
                  </a:moveTo>
                  <a:cubicBezTo>
                    <a:pt x="46" y="17"/>
                    <a:pt x="56" y="27"/>
                    <a:pt x="56" y="40"/>
                  </a:cubicBezTo>
                  <a:cubicBezTo>
                    <a:pt x="56" y="53"/>
                    <a:pt x="46" y="64"/>
                    <a:pt x="33" y="64"/>
                  </a:cubicBezTo>
                  <a:cubicBezTo>
                    <a:pt x="20" y="64"/>
                    <a:pt x="9" y="53"/>
                    <a:pt x="9" y="40"/>
                  </a:cubicBezTo>
                  <a:cubicBezTo>
                    <a:pt x="9" y="27"/>
                    <a:pt x="20" y="17"/>
                    <a:pt x="33"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32" name="Freeform 105">
            <a:extLst>
              <a:ext uri="{FF2B5EF4-FFF2-40B4-BE49-F238E27FC236}">
                <a16:creationId xmlns:a16="http://schemas.microsoft.com/office/drawing/2014/main" id="{7487C1E7-96AF-4497-A1AB-5F5030D104BA}"/>
              </a:ext>
            </a:extLst>
          </p:cNvPr>
          <p:cNvSpPr>
            <a:spLocks noEditPoints="1"/>
          </p:cNvSpPr>
          <p:nvPr/>
        </p:nvSpPr>
        <p:spPr bwMode="auto">
          <a:xfrm>
            <a:off x="522890" y="3474542"/>
            <a:ext cx="251576" cy="248473"/>
          </a:xfrm>
          <a:custGeom>
            <a:avLst/>
            <a:gdLst>
              <a:gd name="T0" fmla="*/ 65 w 71"/>
              <a:gd name="T1" fmla="*/ 0 h 70"/>
              <a:gd name="T2" fmla="*/ 6 w 71"/>
              <a:gd name="T3" fmla="*/ 0 h 70"/>
              <a:gd name="T4" fmla="*/ 0 w 71"/>
              <a:gd name="T5" fmla="*/ 5 h 70"/>
              <a:gd name="T6" fmla="*/ 0 w 71"/>
              <a:gd name="T7" fmla="*/ 64 h 70"/>
              <a:gd name="T8" fmla="*/ 6 w 71"/>
              <a:gd name="T9" fmla="*/ 70 h 70"/>
              <a:gd name="T10" fmla="*/ 65 w 71"/>
              <a:gd name="T11" fmla="*/ 70 h 70"/>
              <a:gd name="T12" fmla="*/ 71 w 71"/>
              <a:gd name="T13" fmla="*/ 64 h 70"/>
              <a:gd name="T14" fmla="*/ 71 w 71"/>
              <a:gd name="T15" fmla="*/ 5 h 70"/>
              <a:gd name="T16" fmla="*/ 65 w 71"/>
              <a:gd name="T17" fmla="*/ 0 h 70"/>
              <a:gd name="T18" fmla="*/ 24 w 71"/>
              <a:gd name="T19" fmla="*/ 64 h 70"/>
              <a:gd name="T20" fmla="*/ 21 w 71"/>
              <a:gd name="T21" fmla="*/ 61 h 70"/>
              <a:gd name="T22" fmla="*/ 24 w 71"/>
              <a:gd name="T23" fmla="*/ 58 h 70"/>
              <a:gd name="T24" fmla="*/ 27 w 71"/>
              <a:gd name="T25" fmla="*/ 61 h 70"/>
              <a:gd name="T26" fmla="*/ 24 w 71"/>
              <a:gd name="T27" fmla="*/ 64 h 70"/>
              <a:gd name="T28" fmla="*/ 36 w 71"/>
              <a:gd name="T29" fmla="*/ 64 h 70"/>
              <a:gd name="T30" fmla="*/ 33 w 71"/>
              <a:gd name="T31" fmla="*/ 61 h 70"/>
              <a:gd name="T32" fmla="*/ 36 w 71"/>
              <a:gd name="T33" fmla="*/ 58 h 70"/>
              <a:gd name="T34" fmla="*/ 38 w 71"/>
              <a:gd name="T35" fmla="*/ 61 h 70"/>
              <a:gd name="T36" fmla="*/ 36 w 71"/>
              <a:gd name="T37" fmla="*/ 64 h 70"/>
              <a:gd name="T38" fmla="*/ 47 w 71"/>
              <a:gd name="T39" fmla="*/ 64 h 70"/>
              <a:gd name="T40" fmla="*/ 44 w 71"/>
              <a:gd name="T41" fmla="*/ 61 h 70"/>
              <a:gd name="T42" fmla="*/ 47 w 71"/>
              <a:gd name="T43" fmla="*/ 58 h 70"/>
              <a:gd name="T44" fmla="*/ 50 w 71"/>
              <a:gd name="T45" fmla="*/ 61 h 70"/>
              <a:gd name="T46" fmla="*/ 47 w 71"/>
              <a:gd name="T47" fmla="*/ 64 h 70"/>
              <a:gd name="T48" fmla="*/ 59 w 71"/>
              <a:gd name="T49" fmla="*/ 53 h 70"/>
              <a:gd name="T50" fmla="*/ 12 w 71"/>
              <a:gd name="T51" fmla="*/ 53 h 70"/>
              <a:gd name="T52" fmla="*/ 9 w 71"/>
              <a:gd name="T53" fmla="*/ 50 h 70"/>
              <a:gd name="T54" fmla="*/ 9 w 71"/>
              <a:gd name="T55" fmla="*/ 35 h 70"/>
              <a:gd name="T56" fmla="*/ 21 w 71"/>
              <a:gd name="T57" fmla="*/ 35 h 70"/>
              <a:gd name="T58" fmla="*/ 23 w 71"/>
              <a:gd name="T59" fmla="*/ 34 h 70"/>
              <a:gd name="T60" fmla="*/ 26 w 71"/>
              <a:gd name="T61" fmla="*/ 31 h 70"/>
              <a:gd name="T62" fmla="*/ 30 w 71"/>
              <a:gd name="T63" fmla="*/ 42 h 70"/>
              <a:gd name="T64" fmla="*/ 35 w 71"/>
              <a:gd name="T65" fmla="*/ 42 h 70"/>
              <a:gd name="T66" fmla="*/ 41 w 71"/>
              <a:gd name="T67" fmla="*/ 27 h 70"/>
              <a:gd name="T68" fmla="*/ 44 w 71"/>
              <a:gd name="T69" fmla="*/ 33 h 70"/>
              <a:gd name="T70" fmla="*/ 47 w 71"/>
              <a:gd name="T71" fmla="*/ 35 h 70"/>
              <a:gd name="T72" fmla="*/ 62 w 71"/>
              <a:gd name="T73" fmla="*/ 35 h 70"/>
              <a:gd name="T74" fmla="*/ 62 w 71"/>
              <a:gd name="T75" fmla="*/ 50 h 70"/>
              <a:gd name="T76" fmla="*/ 59 w 71"/>
              <a:gd name="T77" fmla="*/ 53 h 70"/>
              <a:gd name="T78" fmla="*/ 62 w 71"/>
              <a:gd name="T79" fmla="*/ 29 h 70"/>
              <a:gd name="T80" fmla="*/ 49 w 71"/>
              <a:gd name="T81" fmla="*/ 29 h 70"/>
              <a:gd name="T82" fmla="*/ 44 w 71"/>
              <a:gd name="T83" fmla="*/ 19 h 70"/>
              <a:gd name="T84" fmla="*/ 39 w 71"/>
              <a:gd name="T85" fmla="*/ 19 h 70"/>
              <a:gd name="T86" fmla="*/ 33 w 71"/>
              <a:gd name="T87" fmla="*/ 33 h 70"/>
              <a:gd name="T88" fmla="*/ 29 w 71"/>
              <a:gd name="T89" fmla="*/ 25 h 70"/>
              <a:gd name="T90" fmla="*/ 25 w 71"/>
              <a:gd name="T91" fmla="*/ 24 h 70"/>
              <a:gd name="T92" fmla="*/ 20 w 71"/>
              <a:gd name="T93" fmla="*/ 29 h 70"/>
              <a:gd name="T94" fmla="*/ 9 w 71"/>
              <a:gd name="T95" fmla="*/ 29 h 70"/>
              <a:gd name="T96" fmla="*/ 9 w 71"/>
              <a:gd name="T97" fmla="*/ 11 h 70"/>
              <a:gd name="T98" fmla="*/ 12 w 71"/>
              <a:gd name="T99" fmla="*/ 8 h 70"/>
              <a:gd name="T100" fmla="*/ 59 w 71"/>
              <a:gd name="T101" fmla="*/ 8 h 70"/>
              <a:gd name="T102" fmla="*/ 62 w 71"/>
              <a:gd name="T103" fmla="*/ 11 h 70"/>
              <a:gd name="T104" fmla="*/ 62 w 71"/>
              <a:gd name="T105" fmla="*/ 2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1" h="70">
                <a:moveTo>
                  <a:pt x="65" y="0"/>
                </a:moveTo>
                <a:cubicBezTo>
                  <a:pt x="6" y="0"/>
                  <a:pt x="6" y="0"/>
                  <a:pt x="6" y="0"/>
                </a:cubicBezTo>
                <a:cubicBezTo>
                  <a:pt x="3" y="0"/>
                  <a:pt x="0" y="2"/>
                  <a:pt x="0" y="5"/>
                </a:cubicBezTo>
                <a:cubicBezTo>
                  <a:pt x="0" y="64"/>
                  <a:pt x="0" y="64"/>
                  <a:pt x="0" y="64"/>
                </a:cubicBezTo>
                <a:cubicBezTo>
                  <a:pt x="0" y="68"/>
                  <a:pt x="3" y="70"/>
                  <a:pt x="6" y="70"/>
                </a:cubicBezTo>
                <a:cubicBezTo>
                  <a:pt x="65" y="70"/>
                  <a:pt x="65" y="70"/>
                  <a:pt x="65" y="70"/>
                </a:cubicBezTo>
                <a:cubicBezTo>
                  <a:pt x="68" y="70"/>
                  <a:pt x="71" y="68"/>
                  <a:pt x="71" y="64"/>
                </a:cubicBezTo>
                <a:cubicBezTo>
                  <a:pt x="71" y="5"/>
                  <a:pt x="71" y="5"/>
                  <a:pt x="71" y="5"/>
                </a:cubicBezTo>
                <a:cubicBezTo>
                  <a:pt x="71" y="2"/>
                  <a:pt x="68" y="0"/>
                  <a:pt x="65" y="0"/>
                </a:cubicBezTo>
                <a:close/>
                <a:moveTo>
                  <a:pt x="24" y="64"/>
                </a:moveTo>
                <a:cubicBezTo>
                  <a:pt x="22" y="64"/>
                  <a:pt x="21" y="63"/>
                  <a:pt x="21" y="61"/>
                </a:cubicBezTo>
                <a:cubicBezTo>
                  <a:pt x="21" y="60"/>
                  <a:pt x="22" y="58"/>
                  <a:pt x="24" y="58"/>
                </a:cubicBezTo>
                <a:cubicBezTo>
                  <a:pt x="26" y="58"/>
                  <a:pt x="27" y="60"/>
                  <a:pt x="27" y="61"/>
                </a:cubicBezTo>
                <a:cubicBezTo>
                  <a:pt x="27" y="63"/>
                  <a:pt x="26" y="64"/>
                  <a:pt x="24" y="64"/>
                </a:cubicBezTo>
                <a:close/>
                <a:moveTo>
                  <a:pt x="36" y="64"/>
                </a:moveTo>
                <a:cubicBezTo>
                  <a:pt x="34" y="64"/>
                  <a:pt x="33" y="63"/>
                  <a:pt x="33" y="61"/>
                </a:cubicBezTo>
                <a:cubicBezTo>
                  <a:pt x="33" y="60"/>
                  <a:pt x="34" y="58"/>
                  <a:pt x="36" y="58"/>
                </a:cubicBezTo>
                <a:cubicBezTo>
                  <a:pt x="37" y="58"/>
                  <a:pt x="38" y="60"/>
                  <a:pt x="38" y="61"/>
                </a:cubicBezTo>
                <a:cubicBezTo>
                  <a:pt x="38" y="63"/>
                  <a:pt x="37" y="64"/>
                  <a:pt x="36" y="64"/>
                </a:cubicBezTo>
                <a:close/>
                <a:moveTo>
                  <a:pt x="47" y="64"/>
                </a:moveTo>
                <a:cubicBezTo>
                  <a:pt x="46" y="64"/>
                  <a:pt x="44" y="63"/>
                  <a:pt x="44" y="61"/>
                </a:cubicBezTo>
                <a:cubicBezTo>
                  <a:pt x="44" y="60"/>
                  <a:pt x="46" y="58"/>
                  <a:pt x="47" y="58"/>
                </a:cubicBezTo>
                <a:cubicBezTo>
                  <a:pt x="49" y="58"/>
                  <a:pt x="50" y="60"/>
                  <a:pt x="50" y="61"/>
                </a:cubicBezTo>
                <a:cubicBezTo>
                  <a:pt x="50" y="63"/>
                  <a:pt x="49" y="64"/>
                  <a:pt x="47" y="64"/>
                </a:cubicBezTo>
                <a:close/>
                <a:moveTo>
                  <a:pt x="59" y="53"/>
                </a:moveTo>
                <a:cubicBezTo>
                  <a:pt x="12" y="53"/>
                  <a:pt x="12" y="53"/>
                  <a:pt x="12" y="53"/>
                </a:cubicBezTo>
                <a:cubicBezTo>
                  <a:pt x="10" y="53"/>
                  <a:pt x="9" y="51"/>
                  <a:pt x="9" y="50"/>
                </a:cubicBezTo>
                <a:cubicBezTo>
                  <a:pt x="9" y="35"/>
                  <a:pt x="9" y="35"/>
                  <a:pt x="9" y="35"/>
                </a:cubicBezTo>
                <a:cubicBezTo>
                  <a:pt x="21" y="35"/>
                  <a:pt x="21" y="35"/>
                  <a:pt x="21" y="35"/>
                </a:cubicBezTo>
                <a:cubicBezTo>
                  <a:pt x="22" y="35"/>
                  <a:pt x="22" y="35"/>
                  <a:pt x="23" y="34"/>
                </a:cubicBezTo>
                <a:cubicBezTo>
                  <a:pt x="26" y="31"/>
                  <a:pt x="26" y="31"/>
                  <a:pt x="26" y="31"/>
                </a:cubicBezTo>
                <a:cubicBezTo>
                  <a:pt x="30" y="42"/>
                  <a:pt x="30" y="42"/>
                  <a:pt x="30" y="42"/>
                </a:cubicBezTo>
                <a:cubicBezTo>
                  <a:pt x="31" y="44"/>
                  <a:pt x="34" y="44"/>
                  <a:pt x="35" y="42"/>
                </a:cubicBezTo>
                <a:cubicBezTo>
                  <a:pt x="41" y="27"/>
                  <a:pt x="41" y="27"/>
                  <a:pt x="41" y="27"/>
                </a:cubicBezTo>
                <a:cubicBezTo>
                  <a:pt x="44" y="33"/>
                  <a:pt x="44" y="33"/>
                  <a:pt x="44" y="33"/>
                </a:cubicBezTo>
                <a:cubicBezTo>
                  <a:pt x="45" y="35"/>
                  <a:pt x="46" y="35"/>
                  <a:pt x="47" y="35"/>
                </a:cubicBezTo>
                <a:cubicBezTo>
                  <a:pt x="62" y="35"/>
                  <a:pt x="62" y="35"/>
                  <a:pt x="62" y="35"/>
                </a:cubicBezTo>
                <a:cubicBezTo>
                  <a:pt x="62" y="50"/>
                  <a:pt x="62" y="50"/>
                  <a:pt x="62" y="50"/>
                </a:cubicBezTo>
                <a:cubicBezTo>
                  <a:pt x="62" y="51"/>
                  <a:pt x="61" y="53"/>
                  <a:pt x="59" y="53"/>
                </a:cubicBezTo>
                <a:close/>
                <a:moveTo>
                  <a:pt x="62" y="29"/>
                </a:moveTo>
                <a:cubicBezTo>
                  <a:pt x="49" y="29"/>
                  <a:pt x="49" y="29"/>
                  <a:pt x="49" y="29"/>
                </a:cubicBezTo>
                <a:cubicBezTo>
                  <a:pt x="44" y="19"/>
                  <a:pt x="44" y="19"/>
                  <a:pt x="44" y="19"/>
                </a:cubicBezTo>
                <a:cubicBezTo>
                  <a:pt x="43" y="17"/>
                  <a:pt x="40" y="17"/>
                  <a:pt x="39" y="19"/>
                </a:cubicBezTo>
                <a:cubicBezTo>
                  <a:pt x="33" y="33"/>
                  <a:pt x="33" y="33"/>
                  <a:pt x="33" y="33"/>
                </a:cubicBezTo>
                <a:cubicBezTo>
                  <a:pt x="29" y="25"/>
                  <a:pt x="29" y="25"/>
                  <a:pt x="29" y="25"/>
                </a:cubicBezTo>
                <a:cubicBezTo>
                  <a:pt x="28" y="23"/>
                  <a:pt x="26" y="23"/>
                  <a:pt x="25" y="24"/>
                </a:cubicBezTo>
                <a:cubicBezTo>
                  <a:pt x="20" y="29"/>
                  <a:pt x="20" y="29"/>
                  <a:pt x="20" y="29"/>
                </a:cubicBezTo>
                <a:cubicBezTo>
                  <a:pt x="9" y="29"/>
                  <a:pt x="9" y="29"/>
                  <a:pt x="9" y="29"/>
                </a:cubicBezTo>
                <a:cubicBezTo>
                  <a:pt x="9" y="11"/>
                  <a:pt x="9" y="11"/>
                  <a:pt x="9" y="11"/>
                </a:cubicBezTo>
                <a:cubicBezTo>
                  <a:pt x="9" y="10"/>
                  <a:pt x="10" y="8"/>
                  <a:pt x="12" y="8"/>
                </a:cubicBezTo>
                <a:cubicBezTo>
                  <a:pt x="59" y="8"/>
                  <a:pt x="59" y="8"/>
                  <a:pt x="59" y="8"/>
                </a:cubicBezTo>
                <a:cubicBezTo>
                  <a:pt x="61" y="8"/>
                  <a:pt x="62" y="10"/>
                  <a:pt x="62" y="11"/>
                </a:cubicBezTo>
                <a:lnTo>
                  <a:pt x="62" y="2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3" name="Group 132">
            <a:extLst>
              <a:ext uri="{FF2B5EF4-FFF2-40B4-BE49-F238E27FC236}">
                <a16:creationId xmlns:a16="http://schemas.microsoft.com/office/drawing/2014/main" id="{A7480D92-3BF4-4FD1-A8CC-D03944F1EC03}"/>
              </a:ext>
            </a:extLst>
          </p:cNvPr>
          <p:cNvGrpSpPr/>
          <p:nvPr/>
        </p:nvGrpSpPr>
        <p:grpSpPr>
          <a:xfrm>
            <a:off x="1363979" y="3512343"/>
            <a:ext cx="317605" cy="229160"/>
            <a:chOff x="803273" y="3386162"/>
            <a:chExt cx="125412" cy="90488"/>
          </a:xfrm>
          <a:solidFill>
            <a:schemeClr val="accent1"/>
          </a:solidFill>
        </p:grpSpPr>
        <p:sp>
          <p:nvSpPr>
            <p:cNvPr id="134" name="Freeform 106">
              <a:extLst>
                <a:ext uri="{FF2B5EF4-FFF2-40B4-BE49-F238E27FC236}">
                  <a16:creationId xmlns:a16="http://schemas.microsoft.com/office/drawing/2014/main" id="{9818F7F6-7A67-4124-8097-26E25A237B0E}"/>
                </a:ext>
              </a:extLst>
            </p:cNvPr>
            <p:cNvSpPr>
              <a:spLocks noEditPoints="1"/>
            </p:cNvSpPr>
            <p:nvPr/>
          </p:nvSpPr>
          <p:spPr bwMode="auto">
            <a:xfrm>
              <a:off x="803273" y="3386162"/>
              <a:ext cx="125412" cy="90488"/>
            </a:xfrm>
            <a:custGeom>
              <a:avLst/>
              <a:gdLst>
                <a:gd name="T0" fmla="*/ 35 w 70"/>
                <a:gd name="T1" fmla="*/ 0 h 50"/>
                <a:gd name="T2" fmla="*/ 0 w 70"/>
                <a:gd name="T3" fmla="*/ 22 h 50"/>
                <a:gd name="T4" fmla="*/ 70 w 70"/>
                <a:gd name="T5" fmla="*/ 22 h 50"/>
                <a:gd name="T6" fmla="*/ 35 w 70"/>
                <a:gd name="T7" fmla="*/ 0 h 50"/>
                <a:gd name="T8" fmla="*/ 35 w 70"/>
                <a:gd name="T9" fmla="*/ 36 h 50"/>
                <a:gd name="T10" fmla="*/ 21 w 70"/>
                <a:gd name="T11" fmla="*/ 22 h 50"/>
                <a:gd name="T12" fmla="*/ 35 w 70"/>
                <a:gd name="T13" fmla="*/ 7 h 50"/>
                <a:gd name="T14" fmla="*/ 49 w 70"/>
                <a:gd name="T15" fmla="*/ 22 h 50"/>
                <a:gd name="T16" fmla="*/ 35 w 70"/>
                <a:gd name="T17"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50">
                  <a:moveTo>
                    <a:pt x="35" y="0"/>
                  </a:moveTo>
                  <a:cubicBezTo>
                    <a:pt x="22" y="0"/>
                    <a:pt x="10" y="8"/>
                    <a:pt x="0" y="22"/>
                  </a:cubicBezTo>
                  <a:cubicBezTo>
                    <a:pt x="19" y="50"/>
                    <a:pt x="51" y="50"/>
                    <a:pt x="70" y="22"/>
                  </a:cubicBezTo>
                  <a:cubicBezTo>
                    <a:pt x="60" y="8"/>
                    <a:pt x="48" y="0"/>
                    <a:pt x="35" y="0"/>
                  </a:cubicBezTo>
                  <a:close/>
                  <a:moveTo>
                    <a:pt x="35" y="36"/>
                  </a:moveTo>
                  <a:cubicBezTo>
                    <a:pt x="27" y="36"/>
                    <a:pt x="21" y="29"/>
                    <a:pt x="21" y="22"/>
                  </a:cubicBezTo>
                  <a:cubicBezTo>
                    <a:pt x="21" y="14"/>
                    <a:pt x="27" y="7"/>
                    <a:pt x="35" y="7"/>
                  </a:cubicBezTo>
                  <a:cubicBezTo>
                    <a:pt x="43" y="7"/>
                    <a:pt x="49" y="14"/>
                    <a:pt x="49" y="22"/>
                  </a:cubicBezTo>
                  <a:cubicBezTo>
                    <a:pt x="49" y="29"/>
                    <a:pt x="43" y="36"/>
                    <a:pt x="35"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5" name="Oval 107">
              <a:extLst>
                <a:ext uri="{FF2B5EF4-FFF2-40B4-BE49-F238E27FC236}">
                  <a16:creationId xmlns:a16="http://schemas.microsoft.com/office/drawing/2014/main" id="{C238BCA1-955D-49E1-99F3-1387975FF064}"/>
                </a:ext>
              </a:extLst>
            </p:cNvPr>
            <p:cNvSpPr>
              <a:spLocks noChangeArrowheads="1"/>
            </p:cNvSpPr>
            <p:nvPr/>
          </p:nvSpPr>
          <p:spPr bwMode="auto">
            <a:xfrm>
              <a:off x="854072" y="3413150"/>
              <a:ext cx="23812" cy="254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6" name="Group 135">
            <a:extLst>
              <a:ext uri="{FF2B5EF4-FFF2-40B4-BE49-F238E27FC236}">
                <a16:creationId xmlns:a16="http://schemas.microsoft.com/office/drawing/2014/main" id="{AE5E1646-9FD1-4230-9D19-CC9A689D3A11}"/>
              </a:ext>
            </a:extLst>
          </p:cNvPr>
          <p:cNvGrpSpPr/>
          <p:nvPr/>
        </p:nvGrpSpPr>
        <p:grpSpPr>
          <a:xfrm>
            <a:off x="9428056" y="3423626"/>
            <a:ext cx="271098" cy="274718"/>
            <a:chOff x="1144583" y="3373462"/>
            <a:chExt cx="119061" cy="120651"/>
          </a:xfrm>
          <a:solidFill>
            <a:schemeClr val="accent1"/>
          </a:solidFill>
        </p:grpSpPr>
        <p:sp>
          <p:nvSpPr>
            <p:cNvPr id="137" name="Oval 108">
              <a:extLst>
                <a:ext uri="{FF2B5EF4-FFF2-40B4-BE49-F238E27FC236}">
                  <a16:creationId xmlns:a16="http://schemas.microsoft.com/office/drawing/2014/main" id="{D9CAF5A9-2DA5-455C-99C7-BBEAF2CD8399}"/>
                </a:ext>
              </a:extLst>
            </p:cNvPr>
            <p:cNvSpPr>
              <a:spLocks noChangeArrowheads="1"/>
            </p:cNvSpPr>
            <p:nvPr/>
          </p:nvSpPr>
          <p:spPr bwMode="auto">
            <a:xfrm>
              <a:off x="1244594" y="3470300"/>
              <a:ext cx="19050"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8" name="Oval 109">
              <a:extLst>
                <a:ext uri="{FF2B5EF4-FFF2-40B4-BE49-F238E27FC236}">
                  <a16:creationId xmlns:a16="http://schemas.microsoft.com/office/drawing/2014/main" id="{EAC2AF8D-B812-4EC2-A9D6-F49FCE62ADD6}"/>
                </a:ext>
              </a:extLst>
            </p:cNvPr>
            <p:cNvSpPr>
              <a:spLocks noChangeArrowheads="1"/>
            </p:cNvSpPr>
            <p:nvPr/>
          </p:nvSpPr>
          <p:spPr bwMode="auto">
            <a:xfrm>
              <a:off x="1163633" y="3436962"/>
              <a:ext cx="38100" cy="38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Freeform 110">
              <a:extLst>
                <a:ext uri="{FF2B5EF4-FFF2-40B4-BE49-F238E27FC236}">
                  <a16:creationId xmlns:a16="http://schemas.microsoft.com/office/drawing/2014/main" id="{F1FC9EA6-C6B5-441F-A083-897F9828F8D1}"/>
                </a:ext>
              </a:extLst>
            </p:cNvPr>
            <p:cNvSpPr>
              <a:spLocks noEditPoints="1"/>
            </p:cNvSpPr>
            <p:nvPr/>
          </p:nvSpPr>
          <p:spPr bwMode="auto">
            <a:xfrm>
              <a:off x="1144583" y="3373462"/>
              <a:ext cx="109537" cy="120651"/>
            </a:xfrm>
            <a:custGeom>
              <a:avLst/>
              <a:gdLst>
                <a:gd name="T0" fmla="*/ 56 w 61"/>
                <a:gd name="T1" fmla="*/ 37 h 67"/>
                <a:gd name="T2" fmla="*/ 53 w 61"/>
                <a:gd name="T3" fmla="*/ 35 h 67"/>
                <a:gd name="T4" fmla="*/ 45 w 61"/>
                <a:gd name="T5" fmla="*/ 35 h 67"/>
                <a:gd name="T6" fmla="*/ 45 w 61"/>
                <a:gd name="T7" fmla="*/ 22 h 67"/>
                <a:gd name="T8" fmla="*/ 37 w 61"/>
                <a:gd name="T9" fmla="*/ 14 h 67"/>
                <a:gd name="T10" fmla="*/ 16 w 61"/>
                <a:gd name="T11" fmla="*/ 14 h 67"/>
                <a:gd name="T12" fmla="*/ 16 w 61"/>
                <a:gd name="T13" fmla="*/ 3 h 67"/>
                <a:gd name="T14" fmla="*/ 13 w 61"/>
                <a:gd name="T15" fmla="*/ 0 h 67"/>
                <a:gd name="T16" fmla="*/ 3 w 61"/>
                <a:gd name="T17" fmla="*/ 0 h 67"/>
                <a:gd name="T18" fmla="*/ 3 w 61"/>
                <a:gd name="T19" fmla="*/ 6 h 67"/>
                <a:gd name="T20" fmla="*/ 11 w 61"/>
                <a:gd name="T21" fmla="*/ 6 h 67"/>
                <a:gd name="T22" fmla="*/ 11 w 61"/>
                <a:gd name="T23" fmla="*/ 27 h 67"/>
                <a:gd name="T24" fmla="*/ 16 w 61"/>
                <a:gd name="T25" fmla="*/ 25 h 67"/>
                <a:gd name="T26" fmla="*/ 16 w 61"/>
                <a:gd name="T27" fmla="*/ 19 h 67"/>
                <a:gd name="T28" fmla="*/ 37 w 61"/>
                <a:gd name="T29" fmla="*/ 19 h 67"/>
                <a:gd name="T30" fmla="*/ 40 w 61"/>
                <a:gd name="T31" fmla="*/ 22 h 67"/>
                <a:gd name="T32" fmla="*/ 40 w 61"/>
                <a:gd name="T33" fmla="*/ 35 h 67"/>
                <a:gd name="T34" fmla="*/ 36 w 61"/>
                <a:gd name="T35" fmla="*/ 35 h 67"/>
                <a:gd name="T36" fmla="*/ 10 w 61"/>
                <a:gd name="T37" fmla="*/ 30 h 67"/>
                <a:gd name="T38" fmla="*/ 6 w 61"/>
                <a:gd name="T39" fmla="*/ 57 h 67"/>
                <a:gd name="T40" fmla="*/ 32 w 61"/>
                <a:gd name="T41" fmla="*/ 61 h 67"/>
                <a:gd name="T42" fmla="*/ 39 w 61"/>
                <a:gd name="T43" fmla="*/ 40 h 67"/>
                <a:gd name="T44" fmla="*/ 51 w 61"/>
                <a:gd name="T45" fmla="*/ 40 h 67"/>
                <a:gd name="T46" fmla="*/ 56 w 61"/>
                <a:gd name="T47" fmla="*/ 53 h 67"/>
                <a:gd name="T48" fmla="*/ 61 w 61"/>
                <a:gd name="T49" fmla="*/ 51 h 67"/>
                <a:gd name="T50" fmla="*/ 61 w 61"/>
                <a:gd name="T51" fmla="*/ 51 h 67"/>
                <a:gd name="T52" fmla="*/ 56 w 61"/>
                <a:gd name="T53" fmla="*/ 37 h 67"/>
                <a:gd name="T54" fmla="*/ 21 w 61"/>
                <a:gd name="T55" fmla="*/ 59 h 67"/>
                <a:gd name="T56" fmla="*/ 8 w 61"/>
                <a:gd name="T57" fmla="*/ 45 h 67"/>
                <a:gd name="T58" fmla="*/ 21 w 61"/>
                <a:gd name="T59" fmla="*/ 32 h 67"/>
                <a:gd name="T60" fmla="*/ 35 w 61"/>
                <a:gd name="T61" fmla="*/ 45 h 67"/>
                <a:gd name="T62" fmla="*/ 21 w 61"/>
                <a:gd name="T63" fmla="*/ 5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1" h="67">
                  <a:moveTo>
                    <a:pt x="56" y="37"/>
                  </a:moveTo>
                  <a:cubicBezTo>
                    <a:pt x="55" y="36"/>
                    <a:pt x="54" y="35"/>
                    <a:pt x="53" y="35"/>
                  </a:cubicBezTo>
                  <a:cubicBezTo>
                    <a:pt x="45" y="35"/>
                    <a:pt x="45" y="35"/>
                    <a:pt x="45" y="35"/>
                  </a:cubicBezTo>
                  <a:cubicBezTo>
                    <a:pt x="45" y="22"/>
                    <a:pt x="45" y="22"/>
                    <a:pt x="45" y="22"/>
                  </a:cubicBezTo>
                  <a:cubicBezTo>
                    <a:pt x="45" y="17"/>
                    <a:pt x="42" y="14"/>
                    <a:pt x="37" y="14"/>
                  </a:cubicBezTo>
                  <a:cubicBezTo>
                    <a:pt x="16" y="14"/>
                    <a:pt x="16" y="14"/>
                    <a:pt x="16" y="14"/>
                  </a:cubicBezTo>
                  <a:cubicBezTo>
                    <a:pt x="16" y="3"/>
                    <a:pt x="16" y="3"/>
                    <a:pt x="16" y="3"/>
                  </a:cubicBezTo>
                  <a:cubicBezTo>
                    <a:pt x="16" y="1"/>
                    <a:pt x="15" y="0"/>
                    <a:pt x="13" y="0"/>
                  </a:cubicBezTo>
                  <a:cubicBezTo>
                    <a:pt x="3" y="0"/>
                    <a:pt x="3" y="0"/>
                    <a:pt x="3" y="0"/>
                  </a:cubicBezTo>
                  <a:cubicBezTo>
                    <a:pt x="3" y="6"/>
                    <a:pt x="3" y="6"/>
                    <a:pt x="3" y="6"/>
                  </a:cubicBezTo>
                  <a:cubicBezTo>
                    <a:pt x="11" y="6"/>
                    <a:pt x="11" y="6"/>
                    <a:pt x="11" y="6"/>
                  </a:cubicBezTo>
                  <a:cubicBezTo>
                    <a:pt x="11" y="27"/>
                    <a:pt x="11" y="27"/>
                    <a:pt x="11" y="27"/>
                  </a:cubicBezTo>
                  <a:cubicBezTo>
                    <a:pt x="12" y="26"/>
                    <a:pt x="14" y="26"/>
                    <a:pt x="16" y="25"/>
                  </a:cubicBezTo>
                  <a:cubicBezTo>
                    <a:pt x="16" y="19"/>
                    <a:pt x="16" y="19"/>
                    <a:pt x="16" y="19"/>
                  </a:cubicBezTo>
                  <a:cubicBezTo>
                    <a:pt x="37" y="19"/>
                    <a:pt x="37" y="19"/>
                    <a:pt x="37" y="19"/>
                  </a:cubicBezTo>
                  <a:cubicBezTo>
                    <a:pt x="39" y="19"/>
                    <a:pt x="40" y="20"/>
                    <a:pt x="40" y="22"/>
                  </a:cubicBezTo>
                  <a:cubicBezTo>
                    <a:pt x="40" y="35"/>
                    <a:pt x="40" y="35"/>
                    <a:pt x="40" y="35"/>
                  </a:cubicBezTo>
                  <a:cubicBezTo>
                    <a:pt x="36" y="35"/>
                    <a:pt x="36" y="35"/>
                    <a:pt x="36" y="35"/>
                  </a:cubicBezTo>
                  <a:cubicBezTo>
                    <a:pt x="30" y="26"/>
                    <a:pt x="19" y="24"/>
                    <a:pt x="10" y="30"/>
                  </a:cubicBezTo>
                  <a:cubicBezTo>
                    <a:pt x="2" y="37"/>
                    <a:pt x="0" y="48"/>
                    <a:pt x="6" y="57"/>
                  </a:cubicBezTo>
                  <a:cubicBezTo>
                    <a:pt x="12" y="65"/>
                    <a:pt x="24" y="67"/>
                    <a:pt x="32" y="61"/>
                  </a:cubicBezTo>
                  <a:cubicBezTo>
                    <a:pt x="39" y="56"/>
                    <a:pt x="41" y="48"/>
                    <a:pt x="39" y="40"/>
                  </a:cubicBezTo>
                  <a:cubicBezTo>
                    <a:pt x="51" y="40"/>
                    <a:pt x="51" y="40"/>
                    <a:pt x="51" y="40"/>
                  </a:cubicBezTo>
                  <a:cubicBezTo>
                    <a:pt x="56" y="53"/>
                    <a:pt x="56" y="53"/>
                    <a:pt x="56" y="53"/>
                  </a:cubicBezTo>
                  <a:cubicBezTo>
                    <a:pt x="58" y="51"/>
                    <a:pt x="60" y="51"/>
                    <a:pt x="61" y="51"/>
                  </a:cubicBezTo>
                  <a:cubicBezTo>
                    <a:pt x="61" y="51"/>
                    <a:pt x="61" y="51"/>
                    <a:pt x="61" y="51"/>
                  </a:cubicBezTo>
                  <a:lnTo>
                    <a:pt x="56" y="37"/>
                  </a:lnTo>
                  <a:close/>
                  <a:moveTo>
                    <a:pt x="21" y="59"/>
                  </a:moveTo>
                  <a:cubicBezTo>
                    <a:pt x="14" y="59"/>
                    <a:pt x="8" y="53"/>
                    <a:pt x="8" y="45"/>
                  </a:cubicBezTo>
                  <a:cubicBezTo>
                    <a:pt x="8" y="38"/>
                    <a:pt x="14" y="32"/>
                    <a:pt x="21" y="32"/>
                  </a:cubicBezTo>
                  <a:cubicBezTo>
                    <a:pt x="29" y="32"/>
                    <a:pt x="35" y="38"/>
                    <a:pt x="35" y="45"/>
                  </a:cubicBezTo>
                  <a:cubicBezTo>
                    <a:pt x="35" y="53"/>
                    <a:pt x="29" y="59"/>
                    <a:pt x="2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0" name="Group 139">
            <a:extLst>
              <a:ext uri="{FF2B5EF4-FFF2-40B4-BE49-F238E27FC236}">
                <a16:creationId xmlns:a16="http://schemas.microsoft.com/office/drawing/2014/main" id="{C7EB9FF1-44F1-4DF7-91A5-5875114F8156}"/>
              </a:ext>
            </a:extLst>
          </p:cNvPr>
          <p:cNvGrpSpPr/>
          <p:nvPr/>
        </p:nvGrpSpPr>
        <p:grpSpPr>
          <a:xfrm>
            <a:off x="6751782" y="697075"/>
            <a:ext cx="301901" cy="370519"/>
            <a:chOff x="466725" y="1374783"/>
            <a:chExt cx="104775" cy="128589"/>
          </a:xfrm>
          <a:solidFill>
            <a:schemeClr val="accent1"/>
          </a:solidFill>
        </p:grpSpPr>
        <p:sp>
          <p:nvSpPr>
            <p:cNvPr id="141" name="Freeform 111">
              <a:extLst>
                <a:ext uri="{FF2B5EF4-FFF2-40B4-BE49-F238E27FC236}">
                  <a16:creationId xmlns:a16="http://schemas.microsoft.com/office/drawing/2014/main" id="{809358CB-B8F8-4C48-B539-D9978518DE7B}"/>
                </a:ext>
              </a:extLst>
            </p:cNvPr>
            <p:cNvSpPr>
              <a:spLocks noEditPoints="1"/>
            </p:cNvSpPr>
            <p:nvPr/>
          </p:nvSpPr>
          <p:spPr bwMode="auto">
            <a:xfrm>
              <a:off x="466725" y="1374783"/>
              <a:ext cx="50800" cy="88901"/>
            </a:xfrm>
            <a:custGeom>
              <a:avLst/>
              <a:gdLst>
                <a:gd name="T0" fmla="*/ 27 w 28"/>
                <a:gd name="T1" fmla="*/ 0 h 50"/>
                <a:gd name="T2" fmla="*/ 1 w 28"/>
                <a:gd name="T3" fmla="*/ 0 h 50"/>
                <a:gd name="T4" fmla="*/ 0 w 28"/>
                <a:gd name="T5" fmla="*/ 1 h 50"/>
                <a:gd name="T6" fmla="*/ 0 w 28"/>
                <a:gd name="T7" fmla="*/ 5 h 50"/>
                <a:gd name="T8" fmla="*/ 1 w 28"/>
                <a:gd name="T9" fmla="*/ 6 h 50"/>
                <a:gd name="T10" fmla="*/ 10 w 28"/>
                <a:gd name="T11" fmla="*/ 8 h 50"/>
                <a:gd name="T12" fmla="*/ 10 w 28"/>
                <a:gd name="T13" fmla="*/ 14 h 50"/>
                <a:gd name="T14" fmla="*/ 0 w 28"/>
                <a:gd name="T15" fmla="*/ 14 h 50"/>
                <a:gd name="T16" fmla="*/ 0 w 28"/>
                <a:gd name="T17" fmla="*/ 16 h 50"/>
                <a:gd name="T18" fmla="*/ 4 w 28"/>
                <a:gd name="T19" fmla="*/ 16 h 50"/>
                <a:gd name="T20" fmla="*/ 4 w 28"/>
                <a:gd name="T21" fmla="*/ 44 h 50"/>
                <a:gd name="T22" fmla="*/ 10 w 28"/>
                <a:gd name="T23" fmla="*/ 50 h 50"/>
                <a:gd name="T24" fmla="*/ 18 w 28"/>
                <a:gd name="T25" fmla="*/ 50 h 50"/>
                <a:gd name="T26" fmla="*/ 24 w 28"/>
                <a:gd name="T27" fmla="*/ 44 h 50"/>
                <a:gd name="T28" fmla="*/ 24 w 28"/>
                <a:gd name="T29" fmla="*/ 16 h 50"/>
                <a:gd name="T30" fmla="*/ 28 w 28"/>
                <a:gd name="T31" fmla="*/ 16 h 50"/>
                <a:gd name="T32" fmla="*/ 28 w 28"/>
                <a:gd name="T33" fmla="*/ 14 h 50"/>
                <a:gd name="T34" fmla="*/ 18 w 28"/>
                <a:gd name="T35" fmla="*/ 14 h 50"/>
                <a:gd name="T36" fmla="*/ 18 w 28"/>
                <a:gd name="T37" fmla="*/ 8 h 50"/>
                <a:gd name="T38" fmla="*/ 27 w 28"/>
                <a:gd name="T39" fmla="*/ 6 h 50"/>
                <a:gd name="T40" fmla="*/ 28 w 28"/>
                <a:gd name="T41" fmla="*/ 5 h 50"/>
                <a:gd name="T42" fmla="*/ 28 w 28"/>
                <a:gd name="T43" fmla="*/ 1 h 50"/>
                <a:gd name="T44" fmla="*/ 27 w 28"/>
                <a:gd name="T45" fmla="*/ 0 h 50"/>
                <a:gd name="T46" fmla="*/ 6 w 28"/>
                <a:gd name="T47" fmla="*/ 16 h 50"/>
                <a:gd name="T48" fmla="*/ 10 w 28"/>
                <a:gd name="T49" fmla="*/ 16 h 50"/>
                <a:gd name="T50" fmla="*/ 10 w 28"/>
                <a:gd name="T51" fmla="*/ 29 h 50"/>
                <a:gd name="T52" fmla="*/ 6 w 28"/>
                <a:gd name="T53" fmla="*/ 29 h 50"/>
                <a:gd name="T54" fmla="*/ 6 w 28"/>
                <a:gd name="T55" fmla="*/ 16 h 50"/>
                <a:gd name="T56" fmla="*/ 22 w 28"/>
                <a:gd name="T57" fmla="*/ 36 h 50"/>
                <a:gd name="T58" fmla="*/ 6 w 28"/>
                <a:gd name="T59" fmla="*/ 36 h 50"/>
                <a:gd name="T60" fmla="*/ 6 w 28"/>
                <a:gd name="T61" fmla="*/ 34 h 50"/>
                <a:gd name="T62" fmla="*/ 22 w 28"/>
                <a:gd name="T63" fmla="*/ 34 h 50"/>
                <a:gd name="T64" fmla="*/ 22 w 28"/>
                <a:gd name="T65" fmla="*/ 36 h 50"/>
                <a:gd name="T66" fmla="*/ 22 w 28"/>
                <a:gd name="T67" fmla="*/ 16 h 50"/>
                <a:gd name="T68" fmla="*/ 22 w 28"/>
                <a:gd name="T69" fmla="*/ 29 h 50"/>
                <a:gd name="T70" fmla="*/ 18 w 28"/>
                <a:gd name="T71" fmla="*/ 29 h 50"/>
                <a:gd name="T72" fmla="*/ 18 w 28"/>
                <a:gd name="T73" fmla="*/ 16 h 50"/>
                <a:gd name="T74" fmla="*/ 22 w 28"/>
                <a:gd name="T75"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 h="50">
                  <a:moveTo>
                    <a:pt x="27" y="0"/>
                  </a:moveTo>
                  <a:cubicBezTo>
                    <a:pt x="1" y="0"/>
                    <a:pt x="1" y="0"/>
                    <a:pt x="1" y="0"/>
                  </a:cubicBezTo>
                  <a:cubicBezTo>
                    <a:pt x="1" y="0"/>
                    <a:pt x="0" y="0"/>
                    <a:pt x="0" y="1"/>
                  </a:cubicBezTo>
                  <a:cubicBezTo>
                    <a:pt x="0" y="5"/>
                    <a:pt x="0" y="5"/>
                    <a:pt x="0" y="5"/>
                  </a:cubicBezTo>
                  <a:cubicBezTo>
                    <a:pt x="0" y="6"/>
                    <a:pt x="0" y="6"/>
                    <a:pt x="1" y="6"/>
                  </a:cubicBezTo>
                  <a:cubicBezTo>
                    <a:pt x="10" y="8"/>
                    <a:pt x="10" y="8"/>
                    <a:pt x="10" y="8"/>
                  </a:cubicBezTo>
                  <a:cubicBezTo>
                    <a:pt x="10" y="14"/>
                    <a:pt x="10" y="14"/>
                    <a:pt x="10" y="14"/>
                  </a:cubicBezTo>
                  <a:cubicBezTo>
                    <a:pt x="0" y="14"/>
                    <a:pt x="0" y="14"/>
                    <a:pt x="0" y="14"/>
                  </a:cubicBezTo>
                  <a:cubicBezTo>
                    <a:pt x="0" y="16"/>
                    <a:pt x="0" y="16"/>
                    <a:pt x="0" y="16"/>
                  </a:cubicBezTo>
                  <a:cubicBezTo>
                    <a:pt x="4" y="16"/>
                    <a:pt x="4" y="16"/>
                    <a:pt x="4" y="16"/>
                  </a:cubicBezTo>
                  <a:cubicBezTo>
                    <a:pt x="4" y="44"/>
                    <a:pt x="4" y="44"/>
                    <a:pt x="4" y="44"/>
                  </a:cubicBezTo>
                  <a:cubicBezTo>
                    <a:pt x="4" y="47"/>
                    <a:pt x="7" y="50"/>
                    <a:pt x="10" y="50"/>
                  </a:cubicBezTo>
                  <a:cubicBezTo>
                    <a:pt x="18" y="50"/>
                    <a:pt x="18" y="50"/>
                    <a:pt x="18" y="50"/>
                  </a:cubicBezTo>
                  <a:cubicBezTo>
                    <a:pt x="21" y="50"/>
                    <a:pt x="24" y="47"/>
                    <a:pt x="24" y="44"/>
                  </a:cubicBezTo>
                  <a:cubicBezTo>
                    <a:pt x="24" y="16"/>
                    <a:pt x="24" y="16"/>
                    <a:pt x="24" y="16"/>
                  </a:cubicBezTo>
                  <a:cubicBezTo>
                    <a:pt x="28" y="16"/>
                    <a:pt x="28" y="16"/>
                    <a:pt x="28" y="16"/>
                  </a:cubicBezTo>
                  <a:cubicBezTo>
                    <a:pt x="28" y="14"/>
                    <a:pt x="28" y="14"/>
                    <a:pt x="28" y="14"/>
                  </a:cubicBezTo>
                  <a:cubicBezTo>
                    <a:pt x="18" y="14"/>
                    <a:pt x="18" y="14"/>
                    <a:pt x="18" y="14"/>
                  </a:cubicBezTo>
                  <a:cubicBezTo>
                    <a:pt x="18" y="8"/>
                    <a:pt x="18" y="8"/>
                    <a:pt x="18" y="8"/>
                  </a:cubicBezTo>
                  <a:cubicBezTo>
                    <a:pt x="27" y="6"/>
                    <a:pt x="27" y="6"/>
                    <a:pt x="27" y="6"/>
                  </a:cubicBezTo>
                  <a:cubicBezTo>
                    <a:pt x="27" y="6"/>
                    <a:pt x="28" y="6"/>
                    <a:pt x="28" y="5"/>
                  </a:cubicBezTo>
                  <a:cubicBezTo>
                    <a:pt x="28" y="1"/>
                    <a:pt x="28" y="1"/>
                    <a:pt x="28" y="1"/>
                  </a:cubicBezTo>
                  <a:cubicBezTo>
                    <a:pt x="28" y="0"/>
                    <a:pt x="27" y="0"/>
                    <a:pt x="27" y="0"/>
                  </a:cubicBezTo>
                  <a:close/>
                  <a:moveTo>
                    <a:pt x="6" y="16"/>
                  </a:moveTo>
                  <a:cubicBezTo>
                    <a:pt x="10" y="16"/>
                    <a:pt x="10" y="16"/>
                    <a:pt x="10" y="16"/>
                  </a:cubicBezTo>
                  <a:cubicBezTo>
                    <a:pt x="10" y="29"/>
                    <a:pt x="10" y="29"/>
                    <a:pt x="10" y="29"/>
                  </a:cubicBezTo>
                  <a:cubicBezTo>
                    <a:pt x="6" y="29"/>
                    <a:pt x="6" y="29"/>
                    <a:pt x="6" y="29"/>
                  </a:cubicBezTo>
                  <a:lnTo>
                    <a:pt x="6" y="16"/>
                  </a:lnTo>
                  <a:close/>
                  <a:moveTo>
                    <a:pt x="22" y="36"/>
                  </a:moveTo>
                  <a:cubicBezTo>
                    <a:pt x="6" y="36"/>
                    <a:pt x="6" y="36"/>
                    <a:pt x="6" y="36"/>
                  </a:cubicBezTo>
                  <a:cubicBezTo>
                    <a:pt x="6" y="34"/>
                    <a:pt x="6" y="34"/>
                    <a:pt x="6" y="34"/>
                  </a:cubicBezTo>
                  <a:cubicBezTo>
                    <a:pt x="22" y="34"/>
                    <a:pt x="22" y="34"/>
                    <a:pt x="22" y="34"/>
                  </a:cubicBezTo>
                  <a:lnTo>
                    <a:pt x="22" y="36"/>
                  </a:lnTo>
                  <a:close/>
                  <a:moveTo>
                    <a:pt x="22" y="16"/>
                  </a:moveTo>
                  <a:cubicBezTo>
                    <a:pt x="22" y="29"/>
                    <a:pt x="22" y="29"/>
                    <a:pt x="22" y="29"/>
                  </a:cubicBezTo>
                  <a:cubicBezTo>
                    <a:pt x="18" y="29"/>
                    <a:pt x="18" y="29"/>
                    <a:pt x="18" y="29"/>
                  </a:cubicBezTo>
                  <a:cubicBezTo>
                    <a:pt x="18" y="16"/>
                    <a:pt x="18" y="16"/>
                    <a:pt x="18" y="16"/>
                  </a:cubicBezTo>
                  <a:lnTo>
                    <a:pt x="2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2" name="Freeform 112">
              <a:extLst>
                <a:ext uri="{FF2B5EF4-FFF2-40B4-BE49-F238E27FC236}">
                  <a16:creationId xmlns:a16="http://schemas.microsoft.com/office/drawing/2014/main" id="{B78BED9A-475C-45A0-8A0F-F9FF88AEE56F}"/>
                </a:ext>
              </a:extLst>
            </p:cNvPr>
            <p:cNvSpPr>
              <a:spLocks/>
            </p:cNvSpPr>
            <p:nvPr/>
          </p:nvSpPr>
          <p:spPr bwMode="auto">
            <a:xfrm>
              <a:off x="530225" y="1409709"/>
              <a:ext cx="41275" cy="15875"/>
            </a:xfrm>
            <a:custGeom>
              <a:avLst/>
              <a:gdLst>
                <a:gd name="T0" fmla="*/ 22 w 23"/>
                <a:gd name="T1" fmla="*/ 0 h 9"/>
                <a:gd name="T2" fmla="*/ 2 w 23"/>
                <a:gd name="T3" fmla="*/ 0 h 9"/>
                <a:gd name="T4" fmla="*/ 0 w 23"/>
                <a:gd name="T5" fmla="*/ 1 h 9"/>
                <a:gd name="T6" fmla="*/ 0 w 23"/>
                <a:gd name="T7" fmla="*/ 8 h 9"/>
                <a:gd name="T8" fmla="*/ 2 w 23"/>
                <a:gd name="T9" fmla="*/ 9 h 9"/>
                <a:gd name="T10" fmla="*/ 22 w 23"/>
                <a:gd name="T11" fmla="*/ 9 h 9"/>
                <a:gd name="T12" fmla="*/ 23 w 23"/>
                <a:gd name="T13" fmla="*/ 8 h 9"/>
                <a:gd name="T14" fmla="*/ 23 w 23"/>
                <a:gd name="T15" fmla="*/ 1 h 9"/>
                <a:gd name="T16" fmla="*/ 22 w 23"/>
                <a:gd name="T1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9">
                  <a:moveTo>
                    <a:pt x="22" y="0"/>
                  </a:moveTo>
                  <a:cubicBezTo>
                    <a:pt x="2" y="0"/>
                    <a:pt x="2" y="0"/>
                    <a:pt x="2" y="0"/>
                  </a:cubicBezTo>
                  <a:cubicBezTo>
                    <a:pt x="1" y="0"/>
                    <a:pt x="0" y="1"/>
                    <a:pt x="0" y="1"/>
                  </a:cubicBezTo>
                  <a:cubicBezTo>
                    <a:pt x="0" y="8"/>
                    <a:pt x="0" y="8"/>
                    <a:pt x="0" y="8"/>
                  </a:cubicBezTo>
                  <a:cubicBezTo>
                    <a:pt x="0" y="8"/>
                    <a:pt x="1" y="9"/>
                    <a:pt x="2" y="9"/>
                  </a:cubicBezTo>
                  <a:cubicBezTo>
                    <a:pt x="22" y="9"/>
                    <a:pt x="22" y="9"/>
                    <a:pt x="22" y="9"/>
                  </a:cubicBezTo>
                  <a:cubicBezTo>
                    <a:pt x="22" y="9"/>
                    <a:pt x="23" y="8"/>
                    <a:pt x="23" y="8"/>
                  </a:cubicBezTo>
                  <a:cubicBezTo>
                    <a:pt x="23" y="1"/>
                    <a:pt x="23" y="1"/>
                    <a:pt x="23" y="1"/>
                  </a:cubicBezTo>
                  <a:cubicBezTo>
                    <a:pt x="23" y="1"/>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Rectangle 113">
              <a:extLst>
                <a:ext uri="{FF2B5EF4-FFF2-40B4-BE49-F238E27FC236}">
                  <a16:creationId xmlns:a16="http://schemas.microsoft.com/office/drawing/2014/main" id="{06FEA0E6-3250-4F4D-87CA-5FF18553ED26}"/>
                </a:ext>
              </a:extLst>
            </p:cNvPr>
            <p:cNvSpPr>
              <a:spLocks noChangeArrowheads="1"/>
            </p:cNvSpPr>
            <p:nvPr/>
          </p:nvSpPr>
          <p:spPr bwMode="auto">
            <a:xfrm>
              <a:off x="482600" y="1468447"/>
              <a:ext cx="1587"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Freeform 114">
              <a:extLst>
                <a:ext uri="{FF2B5EF4-FFF2-40B4-BE49-F238E27FC236}">
                  <a16:creationId xmlns:a16="http://schemas.microsoft.com/office/drawing/2014/main" id="{47932418-4EAF-4CD2-A500-5680C9860FF1}"/>
                </a:ext>
              </a:extLst>
            </p:cNvPr>
            <p:cNvSpPr>
              <a:spLocks/>
            </p:cNvSpPr>
            <p:nvPr/>
          </p:nvSpPr>
          <p:spPr bwMode="auto">
            <a:xfrm>
              <a:off x="482600" y="1468447"/>
              <a:ext cx="19050" cy="34925"/>
            </a:xfrm>
            <a:custGeom>
              <a:avLst/>
              <a:gdLst>
                <a:gd name="T0" fmla="*/ 1 w 10"/>
                <a:gd name="T1" fmla="*/ 5 h 19"/>
                <a:gd name="T2" fmla="*/ 2 w 10"/>
                <a:gd name="T3" fmla="*/ 6 h 19"/>
                <a:gd name="T4" fmla="*/ 4 w 10"/>
                <a:gd name="T5" fmla="*/ 6 h 19"/>
                <a:gd name="T6" fmla="*/ 4 w 10"/>
                <a:gd name="T7" fmla="*/ 19 h 19"/>
                <a:gd name="T8" fmla="*/ 6 w 10"/>
                <a:gd name="T9" fmla="*/ 19 h 19"/>
                <a:gd name="T10" fmla="*/ 6 w 10"/>
                <a:gd name="T11" fmla="*/ 6 h 19"/>
                <a:gd name="T12" fmla="*/ 8 w 10"/>
                <a:gd name="T13" fmla="*/ 6 h 19"/>
                <a:gd name="T14" fmla="*/ 9 w 10"/>
                <a:gd name="T15" fmla="*/ 5 h 19"/>
                <a:gd name="T16" fmla="*/ 10 w 10"/>
                <a:gd name="T17" fmla="*/ 0 h 19"/>
                <a:gd name="T18" fmla="*/ 0 w 10"/>
                <a:gd name="T19" fmla="*/ 0 h 19"/>
                <a:gd name="T20" fmla="*/ 1 w 10"/>
                <a:gd name="T21" fmla="*/ 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9">
                  <a:moveTo>
                    <a:pt x="1" y="5"/>
                  </a:moveTo>
                  <a:cubicBezTo>
                    <a:pt x="1" y="6"/>
                    <a:pt x="2" y="6"/>
                    <a:pt x="2" y="6"/>
                  </a:cubicBezTo>
                  <a:cubicBezTo>
                    <a:pt x="4" y="6"/>
                    <a:pt x="4" y="6"/>
                    <a:pt x="4" y="6"/>
                  </a:cubicBezTo>
                  <a:cubicBezTo>
                    <a:pt x="4" y="19"/>
                    <a:pt x="4" y="19"/>
                    <a:pt x="4" y="19"/>
                  </a:cubicBezTo>
                  <a:cubicBezTo>
                    <a:pt x="6" y="19"/>
                    <a:pt x="6" y="19"/>
                    <a:pt x="6" y="19"/>
                  </a:cubicBezTo>
                  <a:cubicBezTo>
                    <a:pt x="6" y="6"/>
                    <a:pt x="6" y="6"/>
                    <a:pt x="6" y="6"/>
                  </a:cubicBezTo>
                  <a:cubicBezTo>
                    <a:pt x="8" y="6"/>
                    <a:pt x="8" y="6"/>
                    <a:pt x="8" y="6"/>
                  </a:cubicBezTo>
                  <a:cubicBezTo>
                    <a:pt x="8" y="6"/>
                    <a:pt x="9" y="6"/>
                    <a:pt x="9" y="5"/>
                  </a:cubicBezTo>
                  <a:cubicBezTo>
                    <a:pt x="10" y="0"/>
                    <a:pt x="10" y="0"/>
                    <a:pt x="10" y="0"/>
                  </a:cubicBezTo>
                  <a:cubicBezTo>
                    <a:pt x="9" y="0"/>
                    <a:pt x="1" y="0"/>
                    <a:pt x="0" y="0"/>
                  </a:cubicBezTo>
                  <a:lnTo>
                    <a:pt x="1"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115">
              <a:extLst>
                <a:ext uri="{FF2B5EF4-FFF2-40B4-BE49-F238E27FC236}">
                  <a16:creationId xmlns:a16="http://schemas.microsoft.com/office/drawing/2014/main" id="{EF9A7EF4-4170-4091-897E-BD5DEA08E7EB}"/>
                </a:ext>
              </a:extLst>
            </p:cNvPr>
            <p:cNvSpPr>
              <a:spLocks/>
            </p:cNvSpPr>
            <p:nvPr/>
          </p:nvSpPr>
          <p:spPr bwMode="auto">
            <a:xfrm>
              <a:off x="530225" y="1430346"/>
              <a:ext cx="41275" cy="47625"/>
            </a:xfrm>
            <a:custGeom>
              <a:avLst/>
              <a:gdLst>
                <a:gd name="T0" fmla="*/ 21 w 23"/>
                <a:gd name="T1" fmla="*/ 0 h 27"/>
                <a:gd name="T2" fmla="*/ 2 w 23"/>
                <a:gd name="T3" fmla="*/ 0 h 27"/>
                <a:gd name="T4" fmla="*/ 0 w 23"/>
                <a:gd name="T5" fmla="*/ 3 h 27"/>
                <a:gd name="T6" fmla="*/ 0 w 23"/>
                <a:gd name="T7" fmla="*/ 5 h 27"/>
                <a:gd name="T8" fmla="*/ 15 w 23"/>
                <a:gd name="T9" fmla="*/ 5 h 27"/>
                <a:gd name="T10" fmla="*/ 17 w 23"/>
                <a:gd name="T11" fmla="*/ 7 h 27"/>
                <a:gd name="T12" fmla="*/ 17 w 23"/>
                <a:gd name="T13" fmla="*/ 18 h 27"/>
                <a:gd name="T14" fmla="*/ 15 w 23"/>
                <a:gd name="T15" fmla="*/ 19 h 27"/>
                <a:gd name="T16" fmla="*/ 0 w 23"/>
                <a:gd name="T17" fmla="*/ 19 h 27"/>
                <a:gd name="T18" fmla="*/ 0 w 23"/>
                <a:gd name="T19" fmla="*/ 23 h 27"/>
                <a:gd name="T20" fmla="*/ 4 w 23"/>
                <a:gd name="T21" fmla="*/ 27 h 27"/>
                <a:gd name="T22" fmla="*/ 19 w 23"/>
                <a:gd name="T23" fmla="*/ 27 h 27"/>
                <a:gd name="T24" fmla="*/ 23 w 23"/>
                <a:gd name="T25" fmla="*/ 23 h 27"/>
                <a:gd name="T26" fmla="*/ 23 w 23"/>
                <a:gd name="T27" fmla="*/ 3 h 27"/>
                <a:gd name="T28" fmla="*/ 21 w 23"/>
                <a:gd name="T2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 h="27">
                  <a:moveTo>
                    <a:pt x="21" y="0"/>
                  </a:moveTo>
                  <a:cubicBezTo>
                    <a:pt x="2" y="0"/>
                    <a:pt x="2" y="0"/>
                    <a:pt x="2" y="0"/>
                  </a:cubicBezTo>
                  <a:cubicBezTo>
                    <a:pt x="1" y="2"/>
                    <a:pt x="0" y="2"/>
                    <a:pt x="0" y="3"/>
                  </a:cubicBezTo>
                  <a:cubicBezTo>
                    <a:pt x="0" y="5"/>
                    <a:pt x="0" y="5"/>
                    <a:pt x="0" y="5"/>
                  </a:cubicBezTo>
                  <a:cubicBezTo>
                    <a:pt x="15" y="5"/>
                    <a:pt x="15" y="5"/>
                    <a:pt x="15" y="5"/>
                  </a:cubicBezTo>
                  <a:cubicBezTo>
                    <a:pt x="16" y="5"/>
                    <a:pt x="17" y="6"/>
                    <a:pt x="17" y="7"/>
                  </a:cubicBezTo>
                  <a:cubicBezTo>
                    <a:pt x="17" y="18"/>
                    <a:pt x="17" y="18"/>
                    <a:pt x="17" y="18"/>
                  </a:cubicBezTo>
                  <a:cubicBezTo>
                    <a:pt x="17" y="19"/>
                    <a:pt x="16" y="19"/>
                    <a:pt x="15" y="19"/>
                  </a:cubicBezTo>
                  <a:cubicBezTo>
                    <a:pt x="0" y="19"/>
                    <a:pt x="0" y="19"/>
                    <a:pt x="0" y="19"/>
                  </a:cubicBezTo>
                  <a:cubicBezTo>
                    <a:pt x="0" y="23"/>
                    <a:pt x="0" y="23"/>
                    <a:pt x="0" y="23"/>
                  </a:cubicBezTo>
                  <a:cubicBezTo>
                    <a:pt x="0" y="25"/>
                    <a:pt x="2" y="27"/>
                    <a:pt x="4" y="27"/>
                  </a:cubicBezTo>
                  <a:cubicBezTo>
                    <a:pt x="19" y="27"/>
                    <a:pt x="19" y="27"/>
                    <a:pt x="19" y="27"/>
                  </a:cubicBezTo>
                  <a:cubicBezTo>
                    <a:pt x="21" y="27"/>
                    <a:pt x="23" y="25"/>
                    <a:pt x="23" y="23"/>
                  </a:cubicBezTo>
                  <a:cubicBezTo>
                    <a:pt x="23" y="3"/>
                    <a:pt x="23" y="3"/>
                    <a:pt x="23" y="3"/>
                  </a:cubicBezTo>
                  <a:cubicBezTo>
                    <a:pt x="23" y="2"/>
                    <a:pt x="22" y="2"/>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6" name="Rectangle 116">
              <a:extLst>
                <a:ext uri="{FF2B5EF4-FFF2-40B4-BE49-F238E27FC236}">
                  <a16:creationId xmlns:a16="http://schemas.microsoft.com/office/drawing/2014/main" id="{849D1A56-A562-4FE9-BAC8-968FC8238A08}"/>
                </a:ext>
              </a:extLst>
            </p:cNvPr>
            <p:cNvSpPr>
              <a:spLocks noChangeArrowheads="1"/>
            </p:cNvSpPr>
            <p:nvPr/>
          </p:nvSpPr>
          <p:spPr bwMode="auto">
            <a:xfrm>
              <a:off x="530225" y="1444634"/>
              <a:ext cx="25400" cy="158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7" name="Group 146">
            <a:extLst>
              <a:ext uri="{FF2B5EF4-FFF2-40B4-BE49-F238E27FC236}">
                <a16:creationId xmlns:a16="http://schemas.microsoft.com/office/drawing/2014/main" id="{F10A2F7A-F307-461E-BAE2-42F0F2A4E80A}"/>
              </a:ext>
            </a:extLst>
          </p:cNvPr>
          <p:cNvGrpSpPr/>
          <p:nvPr/>
        </p:nvGrpSpPr>
        <p:grpSpPr>
          <a:xfrm>
            <a:off x="501015" y="1668197"/>
            <a:ext cx="306726" cy="306731"/>
            <a:chOff x="1487480" y="1376371"/>
            <a:chExt cx="130174" cy="130176"/>
          </a:xfrm>
          <a:solidFill>
            <a:schemeClr val="accent1"/>
          </a:solidFill>
        </p:grpSpPr>
        <p:sp>
          <p:nvSpPr>
            <p:cNvPr id="148" name="Freeform 117">
              <a:extLst>
                <a:ext uri="{FF2B5EF4-FFF2-40B4-BE49-F238E27FC236}">
                  <a16:creationId xmlns:a16="http://schemas.microsoft.com/office/drawing/2014/main" id="{84B216A2-013C-4680-8A01-32DE16DB73DB}"/>
                </a:ext>
              </a:extLst>
            </p:cNvPr>
            <p:cNvSpPr>
              <a:spLocks noEditPoints="1"/>
            </p:cNvSpPr>
            <p:nvPr/>
          </p:nvSpPr>
          <p:spPr bwMode="auto">
            <a:xfrm>
              <a:off x="1487480" y="1419234"/>
              <a:ext cx="130174" cy="87313"/>
            </a:xfrm>
            <a:custGeom>
              <a:avLst/>
              <a:gdLst>
                <a:gd name="T0" fmla="*/ 0 w 72"/>
                <a:gd name="T1" fmla="*/ 49 h 49"/>
                <a:gd name="T2" fmla="*/ 72 w 72"/>
                <a:gd name="T3" fmla="*/ 49 h 49"/>
                <a:gd name="T4" fmla="*/ 72 w 72"/>
                <a:gd name="T5" fmla="*/ 0 h 49"/>
                <a:gd name="T6" fmla="*/ 0 w 72"/>
                <a:gd name="T7" fmla="*/ 0 h 49"/>
                <a:gd name="T8" fmla="*/ 0 w 72"/>
                <a:gd name="T9" fmla="*/ 49 h 49"/>
                <a:gd name="T10" fmla="*/ 19 w 72"/>
                <a:gd name="T11" fmla="*/ 29 h 49"/>
                <a:gd name="T12" fmla="*/ 22 w 72"/>
                <a:gd name="T13" fmla="*/ 23 h 49"/>
                <a:gd name="T14" fmla="*/ 27 w 72"/>
                <a:gd name="T15" fmla="*/ 20 h 49"/>
                <a:gd name="T16" fmla="*/ 27 w 72"/>
                <a:gd name="T17" fmla="*/ 18 h 49"/>
                <a:gd name="T18" fmla="*/ 29 w 72"/>
                <a:gd name="T19" fmla="*/ 11 h 49"/>
                <a:gd name="T20" fmla="*/ 35 w 72"/>
                <a:gd name="T21" fmla="*/ 8 h 49"/>
                <a:gd name="T22" fmla="*/ 36 w 72"/>
                <a:gd name="T23" fmla="*/ 7 h 49"/>
                <a:gd name="T24" fmla="*/ 36 w 72"/>
                <a:gd name="T25" fmla="*/ 10 h 49"/>
                <a:gd name="T26" fmla="*/ 35 w 72"/>
                <a:gd name="T27" fmla="*/ 10 h 49"/>
                <a:gd name="T28" fmla="*/ 31 w 72"/>
                <a:gd name="T29" fmla="*/ 16 h 49"/>
                <a:gd name="T30" fmla="*/ 31 w 72"/>
                <a:gd name="T31" fmla="*/ 18 h 49"/>
                <a:gd name="T32" fmla="*/ 37 w 72"/>
                <a:gd name="T33" fmla="*/ 16 h 49"/>
                <a:gd name="T34" fmla="*/ 43 w 72"/>
                <a:gd name="T35" fmla="*/ 18 h 49"/>
                <a:gd name="T36" fmla="*/ 43 w 72"/>
                <a:gd name="T37" fmla="*/ 16 h 49"/>
                <a:gd name="T38" fmla="*/ 39 w 72"/>
                <a:gd name="T39" fmla="*/ 10 h 49"/>
                <a:gd name="T40" fmla="*/ 38 w 72"/>
                <a:gd name="T41" fmla="*/ 10 h 49"/>
                <a:gd name="T42" fmla="*/ 38 w 72"/>
                <a:gd name="T43" fmla="*/ 7 h 49"/>
                <a:gd name="T44" fmla="*/ 39 w 72"/>
                <a:gd name="T45" fmla="*/ 8 h 49"/>
                <a:gd name="T46" fmla="*/ 45 w 72"/>
                <a:gd name="T47" fmla="*/ 11 h 49"/>
                <a:gd name="T48" fmla="*/ 47 w 72"/>
                <a:gd name="T49" fmla="*/ 18 h 49"/>
                <a:gd name="T50" fmla="*/ 47 w 72"/>
                <a:gd name="T51" fmla="*/ 20 h 49"/>
                <a:gd name="T52" fmla="*/ 51 w 72"/>
                <a:gd name="T53" fmla="*/ 23 h 49"/>
                <a:gd name="T54" fmla="*/ 54 w 72"/>
                <a:gd name="T55" fmla="*/ 29 h 49"/>
                <a:gd name="T56" fmla="*/ 52 w 72"/>
                <a:gd name="T57" fmla="*/ 36 h 49"/>
                <a:gd name="T58" fmla="*/ 52 w 72"/>
                <a:gd name="T59" fmla="*/ 37 h 49"/>
                <a:gd name="T60" fmla="*/ 50 w 72"/>
                <a:gd name="T61" fmla="*/ 36 h 49"/>
                <a:gd name="T62" fmla="*/ 51 w 72"/>
                <a:gd name="T63" fmla="*/ 35 h 49"/>
                <a:gd name="T64" fmla="*/ 50 w 72"/>
                <a:gd name="T65" fmla="*/ 27 h 49"/>
                <a:gd name="T66" fmla="*/ 47 w 72"/>
                <a:gd name="T67" fmla="*/ 26 h 49"/>
                <a:gd name="T68" fmla="*/ 47 w 72"/>
                <a:gd name="T69" fmla="*/ 26 h 49"/>
                <a:gd name="T70" fmla="*/ 41 w 72"/>
                <a:gd name="T71" fmla="*/ 35 h 49"/>
                <a:gd name="T72" fmla="*/ 41 w 72"/>
                <a:gd name="T73" fmla="*/ 36 h 49"/>
                <a:gd name="T74" fmla="*/ 45 w 72"/>
                <a:gd name="T75" fmla="*/ 37 h 49"/>
                <a:gd name="T76" fmla="*/ 48 w 72"/>
                <a:gd name="T77" fmla="*/ 37 h 49"/>
                <a:gd name="T78" fmla="*/ 49 w 72"/>
                <a:gd name="T79" fmla="*/ 37 h 49"/>
                <a:gd name="T80" fmla="*/ 50 w 72"/>
                <a:gd name="T81" fmla="*/ 38 h 49"/>
                <a:gd name="T82" fmla="*/ 49 w 72"/>
                <a:gd name="T83" fmla="*/ 39 h 49"/>
                <a:gd name="T84" fmla="*/ 43 w 72"/>
                <a:gd name="T85" fmla="*/ 40 h 49"/>
                <a:gd name="T86" fmla="*/ 37 w 72"/>
                <a:gd name="T87" fmla="*/ 37 h 49"/>
                <a:gd name="T88" fmla="*/ 37 w 72"/>
                <a:gd name="T89" fmla="*/ 37 h 49"/>
                <a:gd name="T90" fmla="*/ 37 w 72"/>
                <a:gd name="T91" fmla="*/ 37 h 49"/>
                <a:gd name="T92" fmla="*/ 31 w 72"/>
                <a:gd name="T93" fmla="*/ 40 h 49"/>
                <a:gd name="T94" fmla="*/ 30 w 72"/>
                <a:gd name="T95" fmla="*/ 40 h 49"/>
                <a:gd name="T96" fmla="*/ 25 w 72"/>
                <a:gd name="T97" fmla="*/ 39 h 49"/>
                <a:gd name="T98" fmla="*/ 24 w 72"/>
                <a:gd name="T99" fmla="*/ 38 h 49"/>
                <a:gd name="T100" fmla="*/ 25 w 72"/>
                <a:gd name="T101" fmla="*/ 37 h 49"/>
                <a:gd name="T102" fmla="*/ 26 w 72"/>
                <a:gd name="T103" fmla="*/ 37 h 49"/>
                <a:gd name="T104" fmla="*/ 29 w 72"/>
                <a:gd name="T105" fmla="*/ 37 h 49"/>
                <a:gd name="T106" fmla="*/ 32 w 72"/>
                <a:gd name="T107" fmla="*/ 36 h 49"/>
                <a:gd name="T108" fmla="*/ 33 w 72"/>
                <a:gd name="T109" fmla="*/ 35 h 49"/>
                <a:gd name="T110" fmla="*/ 27 w 72"/>
                <a:gd name="T111" fmla="*/ 26 h 49"/>
                <a:gd name="T112" fmla="*/ 27 w 72"/>
                <a:gd name="T113" fmla="*/ 26 h 49"/>
                <a:gd name="T114" fmla="*/ 24 w 72"/>
                <a:gd name="T115" fmla="*/ 27 h 49"/>
                <a:gd name="T116" fmla="*/ 23 w 72"/>
                <a:gd name="T117" fmla="*/ 35 h 49"/>
                <a:gd name="T118" fmla="*/ 24 w 72"/>
                <a:gd name="T119" fmla="*/ 36 h 49"/>
                <a:gd name="T120" fmla="*/ 22 w 72"/>
                <a:gd name="T121" fmla="*/ 37 h 49"/>
                <a:gd name="T122" fmla="*/ 22 w 72"/>
                <a:gd name="T123" fmla="*/ 36 h 49"/>
                <a:gd name="T124" fmla="*/ 19 w 72"/>
                <a:gd name="T125" fmla="*/ 2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2" h="49">
                  <a:moveTo>
                    <a:pt x="0" y="49"/>
                  </a:moveTo>
                  <a:cubicBezTo>
                    <a:pt x="72" y="49"/>
                    <a:pt x="72" y="49"/>
                    <a:pt x="72" y="49"/>
                  </a:cubicBezTo>
                  <a:cubicBezTo>
                    <a:pt x="72" y="0"/>
                    <a:pt x="72" y="0"/>
                    <a:pt x="72" y="0"/>
                  </a:cubicBezTo>
                  <a:cubicBezTo>
                    <a:pt x="0" y="0"/>
                    <a:pt x="0" y="0"/>
                    <a:pt x="0" y="0"/>
                  </a:cubicBezTo>
                  <a:lnTo>
                    <a:pt x="0" y="49"/>
                  </a:lnTo>
                  <a:close/>
                  <a:moveTo>
                    <a:pt x="19" y="29"/>
                  </a:moveTo>
                  <a:cubicBezTo>
                    <a:pt x="20" y="27"/>
                    <a:pt x="21" y="25"/>
                    <a:pt x="22" y="23"/>
                  </a:cubicBezTo>
                  <a:cubicBezTo>
                    <a:pt x="24" y="22"/>
                    <a:pt x="25" y="21"/>
                    <a:pt x="27" y="20"/>
                  </a:cubicBezTo>
                  <a:cubicBezTo>
                    <a:pt x="27" y="19"/>
                    <a:pt x="27" y="18"/>
                    <a:pt x="27" y="18"/>
                  </a:cubicBezTo>
                  <a:cubicBezTo>
                    <a:pt x="27" y="15"/>
                    <a:pt x="28" y="13"/>
                    <a:pt x="29" y="11"/>
                  </a:cubicBezTo>
                  <a:cubicBezTo>
                    <a:pt x="31" y="9"/>
                    <a:pt x="33" y="8"/>
                    <a:pt x="35" y="8"/>
                  </a:cubicBezTo>
                  <a:cubicBezTo>
                    <a:pt x="36" y="7"/>
                    <a:pt x="36" y="7"/>
                    <a:pt x="36" y="7"/>
                  </a:cubicBezTo>
                  <a:cubicBezTo>
                    <a:pt x="36" y="10"/>
                    <a:pt x="36" y="10"/>
                    <a:pt x="36" y="10"/>
                  </a:cubicBezTo>
                  <a:cubicBezTo>
                    <a:pt x="35" y="10"/>
                    <a:pt x="35" y="10"/>
                    <a:pt x="35" y="10"/>
                  </a:cubicBezTo>
                  <a:cubicBezTo>
                    <a:pt x="33" y="10"/>
                    <a:pt x="31" y="13"/>
                    <a:pt x="31" y="16"/>
                  </a:cubicBezTo>
                  <a:cubicBezTo>
                    <a:pt x="31" y="16"/>
                    <a:pt x="31" y="17"/>
                    <a:pt x="31" y="18"/>
                  </a:cubicBezTo>
                  <a:cubicBezTo>
                    <a:pt x="33" y="17"/>
                    <a:pt x="35" y="16"/>
                    <a:pt x="37" y="16"/>
                  </a:cubicBezTo>
                  <a:cubicBezTo>
                    <a:pt x="39" y="16"/>
                    <a:pt x="41" y="17"/>
                    <a:pt x="43" y="18"/>
                  </a:cubicBezTo>
                  <a:cubicBezTo>
                    <a:pt x="43" y="17"/>
                    <a:pt x="43" y="16"/>
                    <a:pt x="43" y="16"/>
                  </a:cubicBezTo>
                  <a:cubicBezTo>
                    <a:pt x="43" y="13"/>
                    <a:pt x="41" y="10"/>
                    <a:pt x="39" y="10"/>
                  </a:cubicBezTo>
                  <a:cubicBezTo>
                    <a:pt x="38" y="10"/>
                    <a:pt x="38" y="10"/>
                    <a:pt x="38" y="10"/>
                  </a:cubicBezTo>
                  <a:cubicBezTo>
                    <a:pt x="38" y="7"/>
                    <a:pt x="38" y="7"/>
                    <a:pt x="38" y="7"/>
                  </a:cubicBezTo>
                  <a:cubicBezTo>
                    <a:pt x="39" y="8"/>
                    <a:pt x="39" y="8"/>
                    <a:pt x="39" y="8"/>
                  </a:cubicBezTo>
                  <a:cubicBezTo>
                    <a:pt x="41" y="8"/>
                    <a:pt x="43" y="9"/>
                    <a:pt x="45" y="11"/>
                  </a:cubicBezTo>
                  <a:cubicBezTo>
                    <a:pt x="46" y="13"/>
                    <a:pt x="47" y="15"/>
                    <a:pt x="47" y="18"/>
                  </a:cubicBezTo>
                  <a:cubicBezTo>
                    <a:pt x="47" y="18"/>
                    <a:pt x="47" y="19"/>
                    <a:pt x="47" y="20"/>
                  </a:cubicBezTo>
                  <a:cubicBezTo>
                    <a:pt x="48" y="21"/>
                    <a:pt x="50" y="22"/>
                    <a:pt x="51" y="23"/>
                  </a:cubicBezTo>
                  <a:cubicBezTo>
                    <a:pt x="53" y="25"/>
                    <a:pt x="54" y="27"/>
                    <a:pt x="54" y="29"/>
                  </a:cubicBezTo>
                  <a:cubicBezTo>
                    <a:pt x="55" y="32"/>
                    <a:pt x="54" y="34"/>
                    <a:pt x="52" y="36"/>
                  </a:cubicBezTo>
                  <a:cubicBezTo>
                    <a:pt x="52" y="37"/>
                    <a:pt x="52" y="37"/>
                    <a:pt x="52" y="37"/>
                  </a:cubicBezTo>
                  <a:cubicBezTo>
                    <a:pt x="50" y="36"/>
                    <a:pt x="50" y="36"/>
                    <a:pt x="50" y="36"/>
                  </a:cubicBezTo>
                  <a:cubicBezTo>
                    <a:pt x="51" y="35"/>
                    <a:pt x="51" y="35"/>
                    <a:pt x="51" y="35"/>
                  </a:cubicBezTo>
                  <a:cubicBezTo>
                    <a:pt x="52" y="33"/>
                    <a:pt x="52" y="29"/>
                    <a:pt x="50" y="27"/>
                  </a:cubicBezTo>
                  <a:cubicBezTo>
                    <a:pt x="49" y="26"/>
                    <a:pt x="48" y="26"/>
                    <a:pt x="47" y="26"/>
                  </a:cubicBezTo>
                  <a:cubicBezTo>
                    <a:pt x="47" y="26"/>
                    <a:pt x="47" y="26"/>
                    <a:pt x="47" y="26"/>
                  </a:cubicBezTo>
                  <a:cubicBezTo>
                    <a:pt x="47" y="30"/>
                    <a:pt x="44" y="33"/>
                    <a:pt x="41" y="35"/>
                  </a:cubicBezTo>
                  <a:cubicBezTo>
                    <a:pt x="41" y="35"/>
                    <a:pt x="41" y="36"/>
                    <a:pt x="41" y="36"/>
                  </a:cubicBezTo>
                  <a:cubicBezTo>
                    <a:pt x="42" y="37"/>
                    <a:pt x="43" y="37"/>
                    <a:pt x="45" y="37"/>
                  </a:cubicBezTo>
                  <a:cubicBezTo>
                    <a:pt x="46" y="38"/>
                    <a:pt x="47" y="38"/>
                    <a:pt x="48" y="37"/>
                  </a:cubicBezTo>
                  <a:cubicBezTo>
                    <a:pt x="49" y="37"/>
                    <a:pt x="49" y="37"/>
                    <a:pt x="49" y="37"/>
                  </a:cubicBezTo>
                  <a:cubicBezTo>
                    <a:pt x="50" y="38"/>
                    <a:pt x="50" y="38"/>
                    <a:pt x="50" y="38"/>
                  </a:cubicBezTo>
                  <a:cubicBezTo>
                    <a:pt x="49" y="39"/>
                    <a:pt x="49" y="39"/>
                    <a:pt x="49" y="39"/>
                  </a:cubicBezTo>
                  <a:cubicBezTo>
                    <a:pt x="47" y="40"/>
                    <a:pt x="45" y="40"/>
                    <a:pt x="43" y="40"/>
                  </a:cubicBezTo>
                  <a:cubicBezTo>
                    <a:pt x="41" y="40"/>
                    <a:pt x="39" y="39"/>
                    <a:pt x="37" y="37"/>
                  </a:cubicBezTo>
                  <a:cubicBezTo>
                    <a:pt x="37" y="37"/>
                    <a:pt x="37" y="37"/>
                    <a:pt x="37" y="37"/>
                  </a:cubicBezTo>
                  <a:cubicBezTo>
                    <a:pt x="37" y="37"/>
                    <a:pt x="37" y="37"/>
                    <a:pt x="37" y="37"/>
                  </a:cubicBezTo>
                  <a:cubicBezTo>
                    <a:pt x="35" y="39"/>
                    <a:pt x="33" y="40"/>
                    <a:pt x="31" y="40"/>
                  </a:cubicBezTo>
                  <a:cubicBezTo>
                    <a:pt x="30" y="40"/>
                    <a:pt x="30" y="40"/>
                    <a:pt x="30" y="40"/>
                  </a:cubicBezTo>
                  <a:cubicBezTo>
                    <a:pt x="28" y="40"/>
                    <a:pt x="26" y="40"/>
                    <a:pt x="25" y="39"/>
                  </a:cubicBezTo>
                  <a:cubicBezTo>
                    <a:pt x="24" y="38"/>
                    <a:pt x="24" y="38"/>
                    <a:pt x="24" y="38"/>
                  </a:cubicBezTo>
                  <a:cubicBezTo>
                    <a:pt x="25" y="37"/>
                    <a:pt x="25" y="37"/>
                    <a:pt x="25" y="37"/>
                  </a:cubicBezTo>
                  <a:cubicBezTo>
                    <a:pt x="26" y="37"/>
                    <a:pt x="26" y="37"/>
                    <a:pt x="26" y="37"/>
                  </a:cubicBezTo>
                  <a:cubicBezTo>
                    <a:pt x="27" y="38"/>
                    <a:pt x="28" y="38"/>
                    <a:pt x="29" y="37"/>
                  </a:cubicBezTo>
                  <a:cubicBezTo>
                    <a:pt x="30" y="37"/>
                    <a:pt x="32" y="37"/>
                    <a:pt x="32" y="36"/>
                  </a:cubicBezTo>
                  <a:cubicBezTo>
                    <a:pt x="33" y="36"/>
                    <a:pt x="33" y="35"/>
                    <a:pt x="33" y="35"/>
                  </a:cubicBezTo>
                  <a:cubicBezTo>
                    <a:pt x="30" y="33"/>
                    <a:pt x="27" y="30"/>
                    <a:pt x="27" y="26"/>
                  </a:cubicBezTo>
                  <a:cubicBezTo>
                    <a:pt x="27" y="26"/>
                    <a:pt x="27" y="26"/>
                    <a:pt x="27" y="26"/>
                  </a:cubicBezTo>
                  <a:cubicBezTo>
                    <a:pt x="26" y="26"/>
                    <a:pt x="25" y="26"/>
                    <a:pt x="24" y="27"/>
                  </a:cubicBezTo>
                  <a:cubicBezTo>
                    <a:pt x="22" y="29"/>
                    <a:pt x="22" y="33"/>
                    <a:pt x="23" y="35"/>
                  </a:cubicBezTo>
                  <a:cubicBezTo>
                    <a:pt x="24" y="36"/>
                    <a:pt x="24" y="36"/>
                    <a:pt x="24" y="36"/>
                  </a:cubicBezTo>
                  <a:cubicBezTo>
                    <a:pt x="22" y="37"/>
                    <a:pt x="22" y="37"/>
                    <a:pt x="22" y="37"/>
                  </a:cubicBezTo>
                  <a:cubicBezTo>
                    <a:pt x="22" y="36"/>
                    <a:pt x="22" y="36"/>
                    <a:pt x="22" y="36"/>
                  </a:cubicBezTo>
                  <a:cubicBezTo>
                    <a:pt x="20" y="34"/>
                    <a:pt x="19" y="32"/>
                    <a:pt x="19"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9" name="Freeform 118">
              <a:extLst>
                <a:ext uri="{FF2B5EF4-FFF2-40B4-BE49-F238E27FC236}">
                  <a16:creationId xmlns:a16="http://schemas.microsoft.com/office/drawing/2014/main" id="{BB8DFAA9-562E-47C8-877C-DCE8F7ECAC0D}"/>
                </a:ext>
              </a:extLst>
            </p:cNvPr>
            <p:cNvSpPr>
              <a:spLocks/>
            </p:cNvSpPr>
            <p:nvPr/>
          </p:nvSpPr>
          <p:spPr bwMode="auto">
            <a:xfrm>
              <a:off x="1544630" y="1450984"/>
              <a:ext cx="17462" cy="7938"/>
            </a:xfrm>
            <a:custGeom>
              <a:avLst/>
              <a:gdLst>
                <a:gd name="T0" fmla="*/ 9 w 9"/>
                <a:gd name="T1" fmla="*/ 2 h 4"/>
                <a:gd name="T2" fmla="*/ 5 w 9"/>
                <a:gd name="T3" fmla="*/ 0 h 4"/>
                <a:gd name="T4" fmla="*/ 0 w 9"/>
                <a:gd name="T5" fmla="*/ 2 h 4"/>
                <a:gd name="T6" fmla="*/ 5 w 9"/>
                <a:gd name="T7" fmla="*/ 4 h 4"/>
                <a:gd name="T8" fmla="*/ 9 w 9"/>
                <a:gd name="T9" fmla="*/ 2 h 4"/>
              </a:gdLst>
              <a:ahLst/>
              <a:cxnLst>
                <a:cxn ang="0">
                  <a:pos x="T0" y="T1"/>
                </a:cxn>
                <a:cxn ang="0">
                  <a:pos x="T2" y="T3"/>
                </a:cxn>
                <a:cxn ang="0">
                  <a:pos x="T4" y="T5"/>
                </a:cxn>
                <a:cxn ang="0">
                  <a:pos x="T6" y="T7"/>
                </a:cxn>
                <a:cxn ang="0">
                  <a:pos x="T8" y="T9"/>
                </a:cxn>
              </a:cxnLst>
              <a:rect l="0" t="0" r="r" b="b"/>
              <a:pathLst>
                <a:path w="9" h="4">
                  <a:moveTo>
                    <a:pt x="9" y="2"/>
                  </a:moveTo>
                  <a:cubicBezTo>
                    <a:pt x="8" y="1"/>
                    <a:pt x="7" y="0"/>
                    <a:pt x="5" y="0"/>
                  </a:cubicBezTo>
                  <a:cubicBezTo>
                    <a:pt x="3" y="0"/>
                    <a:pt x="2" y="1"/>
                    <a:pt x="0" y="2"/>
                  </a:cubicBezTo>
                  <a:cubicBezTo>
                    <a:pt x="2" y="3"/>
                    <a:pt x="3" y="4"/>
                    <a:pt x="5" y="4"/>
                  </a:cubicBezTo>
                  <a:cubicBezTo>
                    <a:pt x="7" y="4"/>
                    <a:pt x="8" y="3"/>
                    <a:pt x="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0" name="Freeform 119">
              <a:extLst>
                <a:ext uri="{FF2B5EF4-FFF2-40B4-BE49-F238E27FC236}">
                  <a16:creationId xmlns:a16="http://schemas.microsoft.com/office/drawing/2014/main" id="{974D77BB-DE0F-4501-AE74-146C019ADCE9}"/>
                </a:ext>
              </a:extLst>
            </p:cNvPr>
            <p:cNvSpPr>
              <a:spLocks/>
            </p:cNvSpPr>
            <p:nvPr/>
          </p:nvSpPr>
          <p:spPr bwMode="auto">
            <a:xfrm>
              <a:off x="1557330" y="1465272"/>
              <a:ext cx="11112" cy="12700"/>
            </a:xfrm>
            <a:custGeom>
              <a:avLst/>
              <a:gdLst>
                <a:gd name="T0" fmla="*/ 1 w 6"/>
                <a:gd name="T1" fmla="*/ 7 h 7"/>
                <a:gd name="T2" fmla="*/ 6 w 6"/>
                <a:gd name="T3" fmla="*/ 0 h 7"/>
                <a:gd name="T4" fmla="*/ 6 w 6"/>
                <a:gd name="T5" fmla="*/ 0 h 7"/>
                <a:gd name="T6" fmla="*/ 2 w 6"/>
                <a:gd name="T7" fmla="*/ 1 h 7"/>
                <a:gd name="T8" fmla="*/ 1 w 6"/>
                <a:gd name="T9" fmla="*/ 7 h 7"/>
              </a:gdLst>
              <a:ahLst/>
              <a:cxnLst>
                <a:cxn ang="0">
                  <a:pos x="T0" y="T1"/>
                </a:cxn>
                <a:cxn ang="0">
                  <a:pos x="T2" y="T3"/>
                </a:cxn>
                <a:cxn ang="0">
                  <a:pos x="T4" y="T5"/>
                </a:cxn>
                <a:cxn ang="0">
                  <a:pos x="T6" y="T7"/>
                </a:cxn>
                <a:cxn ang="0">
                  <a:pos x="T8" y="T9"/>
                </a:cxn>
              </a:cxnLst>
              <a:rect l="0" t="0" r="r" b="b"/>
              <a:pathLst>
                <a:path w="6" h="7">
                  <a:moveTo>
                    <a:pt x="1" y="7"/>
                  </a:moveTo>
                  <a:cubicBezTo>
                    <a:pt x="4" y="6"/>
                    <a:pt x="6" y="3"/>
                    <a:pt x="6" y="0"/>
                  </a:cubicBezTo>
                  <a:cubicBezTo>
                    <a:pt x="6" y="0"/>
                    <a:pt x="6" y="0"/>
                    <a:pt x="6" y="0"/>
                  </a:cubicBezTo>
                  <a:cubicBezTo>
                    <a:pt x="4" y="0"/>
                    <a:pt x="3" y="0"/>
                    <a:pt x="2" y="1"/>
                  </a:cubicBezTo>
                  <a:cubicBezTo>
                    <a:pt x="1" y="3"/>
                    <a:pt x="0" y="5"/>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1" name="Freeform 120">
              <a:extLst>
                <a:ext uri="{FF2B5EF4-FFF2-40B4-BE49-F238E27FC236}">
                  <a16:creationId xmlns:a16="http://schemas.microsoft.com/office/drawing/2014/main" id="{31A942A5-3C3D-43B5-AC77-2EB7CF0ABB33}"/>
                </a:ext>
              </a:extLst>
            </p:cNvPr>
            <p:cNvSpPr>
              <a:spLocks/>
            </p:cNvSpPr>
            <p:nvPr/>
          </p:nvSpPr>
          <p:spPr bwMode="auto">
            <a:xfrm>
              <a:off x="1539867" y="1465272"/>
              <a:ext cx="11112" cy="12700"/>
            </a:xfrm>
            <a:custGeom>
              <a:avLst/>
              <a:gdLst>
                <a:gd name="T0" fmla="*/ 5 w 6"/>
                <a:gd name="T1" fmla="*/ 7 h 7"/>
                <a:gd name="T2" fmla="*/ 3 w 6"/>
                <a:gd name="T3" fmla="*/ 1 h 7"/>
                <a:gd name="T4" fmla="*/ 0 w 6"/>
                <a:gd name="T5" fmla="*/ 0 h 7"/>
                <a:gd name="T6" fmla="*/ 0 w 6"/>
                <a:gd name="T7" fmla="*/ 0 h 7"/>
                <a:gd name="T8" fmla="*/ 5 w 6"/>
                <a:gd name="T9" fmla="*/ 7 h 7"/>
              </a:gdLst>
              <a:ahLst/>
              <a:cxnLst>
                <a:cxn ang="0">
                  <a:pos x="T0" y="T1"/>
                </a:cxn>
                <a:cxn ang="0">
                  <a:pos x="T2" y="T3"/>
                </a:cxn>
                <a:cxn ang="0">
                  <a:pos x="T4" y="T5"/>
                </a:cxn>
                <a:cxn ang="0">
                  <a:pos x="T6" y="T7"/>
                </a:cxn>
                <a:cxn ang="0">
                  <a:pos x="T8" y="T9"/>
                </a:cxn>
              </a:cxnLst>
              <a:rect l="0" t="0" r="r" b="b"/>
              <a:pathLst>
                <a:path w="6" h="7">
                  <a:moveTo>
                    <a:pt x="5" y="7"/>
                  </a:moveTo>
                  <a:cubicBezTo>
                    <a:pt x="6" y="5"/>
                    <a:pt x="5" y="3"/>
                    <a:pt x="3" y="1"/>
                  </a:cubicBezTo>
                  <a:cubicBezTo>
                    <a:pt x="3" y="0"/>
                    <a:pt x="1" y="0"/>
                    <a:pt x="0" y="0"/>
                  </a:cubicBezTo>
                  <a:cubicBezTo>
                    <a:pt x="0" y="0"/>
                    <a:pt x="0" y="0"/>
                    <a:pt x="0" y="0"/>
                  </a:cubicBezTo>
                  <a:cubicBezTo>
                    <a:pt x="0" y="3"/>
                    <a:pt x="2" y="6"/>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2" name="Freeform 121">
              <a:extLst>
                <a:ext uri="{FF2B5EF4-FFF2-40B4-BE49-F238E27FC236}">
                  <a16:creationId xmlns:a16="http://schemas.microsoft.com/office/drawing/2014/main" id="{553EA381-67F3-408A-A5E1-D3F1B68B601B}"/>
                </a:ext>
              </a:extLst>
            </p:cNvPr>
            <p:cNvSpPr>
              <a:spLocks/>
            </p:cNvSpPr>
            <p:nvPr/>
          </p:nvSpPr>
          <p:spPr bwMode="auto">
            <a:xfrm>
              <a:off x="1487480" y="1376371"/>
              <a:ext cx="61912" cy="33338"/>
            </a:xfrm>
            <a:custGeom>
              <a:avLst/>
              <a:gdLst>
                <a:gd name="T0" fmla="*/ 39 w 39"/>
                <a:gd name="T1" fmla="*/ 0 h 21"/>
                <a:gd name="T2" fmla="*/ 13 w 39"/>
                <a:gd name="T3" fmla="*/ 0 h 21"/>
                <a:gd name="T4" fmla="*/ 0 w 39"/>
                <a:gd name="T5" fmla="*/ 21 h 21"/>
                <a:gd name="T6" fmla="*/ 36 w 39"/>
                <a:gd name="T7" fmla="*/ 21 h 21"/>
                <a:gd name="T8" fmla="*/ 39 w 39"/>
                <a:gd name="T9" fmla="*/ 0 h 21"/>
              </a:gdLst>
              <a:ahLst/>
              <a:cxnLst>
                <a:cxn ang="0">
                  <a:pos x="T0" y="T1"/>
                </a:cxn>
                <a:cxn ang="0">
                  <a:pos x="T2" y="T3"/>
                </a:cxn>
                <a:cxn ang="0">
                  <a:pos x="T4" y="T5"/>
                </a:cxn>
                <a:cxn ang="0">
                  <a:pos x="T6" y="T7"/>
                </a:cxn>
                <a:cxn ang="0">
                  <a:pos x="T8" y="T9"/>
                </a:cxn>
              </a:cxnLst>
              <a:rect l="0" t="0" r="r" b="b"/>
              <a:pathLst>
                <a:path w="39" h="21">
                  <a:moveTo>
                    <a:pt x="39" y="0"/>
                  </a:moveTo>
                  <a:lnTo>
                    <a:pt x="13" y="0"/>
                  </a:lnTo>
                  <a:lnTo>
                    <a:pt x="0" y="21"/>
                  </a:lnTo>
                  <a:lnTo>
                    <a:pt x="36" y="21"/>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3" name="Freeform 122">
              <a:extLst>
                <a:ext uri="{FF2B5EF4-FFF2-40B4-BE49-F238E27FC236}">
                  <a16:creationId xmlns:a16="http://schemas.microsoft.com/office/drawing/2014/main" id="{260B625B-B64E-4CE6-A19D-2D4712EF8DAD}"/>
                </a:ext>
              </a:extLst>
            </p:cNvPr>
            <p:cNvSpPr>
              <a:spLocks/>
            </p:cNvSpPr>
            <p:nvPr/>
          </p:nvSpPr>
          <p:spPr bwMode="auto">
            <a:xfrm>
              <a:off x="1555742" y="1376371"/>
              <a:ext cx="61912" cy="33338"/>
            </a:xfrm>
            <a:custGeom>
              <a:avLst/>
              <a:gdLst>
                <a:gd name="T0" fmla="*/ 0 w 39"/>
                <a:gd name="T1" fmla="*/ 0 h 21"/>
                <a:gd name="T2" fmla="*/ 4 w 39"/>
                <a:gd name="T3" fmla="*/ 21 h 21"/>
                <a:gd name="T4" fmla="*/ 39 w 39"/>
                <a:gd name="T5" fmla="*/ 21 h 21"/>
                <a:gd name="T6" fmla="*/ 26 w 39"/>
                <a:gd name="T7" fmla="*/ 0 h 21"/>
                <a:gd name="T8" fmla="*/ 0 w 39"/>
                <a:gd name="T9" fmla="*/ 0 h 21"/>
              </a:gdLst>
              <a:ahLst/>
              <a:cxnLst>
                <a:cxn ang="0">
                  <a:pos x="T0" y="T1"/>
                </a:cxn>
                <a:cxn ang="0">
                  <a:pos x="T2" y="T3"/>
                </a:cxn>
                <a:cxn ang="0">
                  <a:pos x="T4" y="T5"/>
                </a:cxn>
                <a:cxn ang="0">
                  <a:pos x="T6" y="T7"/>
                </a:cxn>
                <a:cxn ang="0">
                  <a:pos x="T8" y="T9"/>
                </a:cxn>
              </a:cxnLst>
              <a:rect l="0" t="0" r="r" b="b"/>
              <a:pathLst>
                <a:path w="39" h="21">
                  <a:moveTo>
                    <a:pt x="0" y="0"/>
                  </a:moveTo>
                  <a:lnTo>
                    <a:pt x="4" y="21"/>
                  </a:lnTo>
                  <a:lnTo>
                    <a:pt x="39" y="21"/>
                  </a:lnTo>
                  <a:lnTo>
                    <a:pt x="26"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54" name="Freeform 123">
            <a:extLst>
              <a:ext uri="{FF2B5EF4-FFF2-40B4-BE49-F238E27FC236}">
                <a16:creationId xmlns:a16="http://schemas.microsoft.com/office/drawing/2014/main" id="{9B266CAA-CD98-4822-8AA6-E7DD534BBE94}"/>
              </a:ext>
            </a:extLst>
          </p:cNvPr>
          <p:cNvSpPr>
            <a:spLocks noEditPoints="1"/>
          </p:cNvSpPr>
          <p:nvPr/>
        </p:nvSpPr>
        <p:spPr bwMode="auto">
          <a:xfrm>
            <a:off x="2247259" y="1666567"/>
            <a:ext cx="342527" cy="338140"/>
          </a:xfrm>
          <a:custGeom>
            <a:avLst/>
            <a:gdLst>
              <a:gd name="T0" fmla="*/ 35 w 69"/>
              <a:gd name="T1" fmla="*/ 0 h 68"/>
              <a:gd name="T2" fmla="*/ 0 w 69"/>
              <a:gd name="T3" fmla="*/ 34 h 68"/>
              <a:gd name="T4" fmla="*/ 35 w 69"/>
              <a:gd name="T5" fmla="*/ 68 h 68"/>
              <a:gd name="T6" fmla="*/ 69 w 69"/>
              <a:gd name="T7" fmla="*/ 34 h 68"/>
              <a:gd name="T8" fmla="*/ 35 w 69"/>
              <a:gd name="T9" fmla="*/ 0 h 68"/>
              <a:gd name="T10" fmla="*/ 46 w 69"/>
              <a:gd name="T11" fmla="*/ 49 h 68"/>
              <a:gd name="T12" fmla="*/ 32 w 69"/>
              <a:gd name="T13" fmla="*/ 35 h 68"/>
              <a:gd name="T14" fmla="*/ 32 w 69"/>
              <a:gd name="T15" fmla="*/ 11 h 68"/>
              <a:gd name="T16" fmla="*/ 38 w 69"/>
              <a:gd name="T17" fmla="*/ 11 h 68"/>
              <a:gd name="T18" fmla="*/ 38 w 69"/>
              <a:gd name="T19" fmla="*/ 33 h 68"/>
              <a:gd name="T20" fmla="*/ 50 w 69"/>
              <a:gd name="T21" fmla="*/ 45 h 68"/>
              <a:gd name="T22" fmla="*/ 46 w 69"/>
              <a:gd name="T23" fmla="*/ 4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9" h="68">
                <a:moveTo>
                  <a:pt x="35" y="0"/>
                </a:moveTo>
                <a:cubicBezTo>
                  <a:pt x="16" y="0"/>
                  <a:pt x="0" y="15"/>
                  <a:pt x="0" y="34"/>
                </a:cubicBezTo>
                <a:cubicBezTo>
                  <a:pt x="0" y="53"/>
                  <a:pt x="16" y="68"/>
                  <a:pt x="35" y="68"/>
                </a:cubicBezTo>
                <a:cubicBezTo>
                  <a:pt x="54" y="68"/>
                  <a:pt x="69" y="53"/>
                  <a:pt x="69" y="34"/>
                </a:cubicBezTo>
                <a:cubicBezTo>
                  <a:pt x="69" y="15"/>
                  <a:pt x="54" y="0"/>
                  <a:pt x="35" y="0"/>
                </a:cubicBezTo>
                <a:close/>
                <a:moveTo>
                  <a:pt x="46" y="49"/>
                </a:moveTo>
                <a:cubicBezTo>
                  <a:pt x="32" y="35"/>
                  <a:pt x="32" y="35"/>
                  <a:pt x="32" y="35"/>
                </a:cubicBezTo>
                <a:cubicBezTo>
                  <a:pt x="32" y="11"/>
                  <a:pt x="32" y="11"/>
                  <a:pt x="32" y="11"/>
                </a:cubicBezTo>
                <a:cubicBezTo>
                  <a:pt x="38" y="11"/>
                  <a:pt x="38" y="11"/>
                  <a:pt x="38" y="11"/>
                </a:cubicBezTo>
                <a:cubicBezTo>
                  <a:pt x="38" y="33"/>
                  <a:pt x="38" y="33"/>
                  <a:pt x="38" y="33"/>
                </a:cubicBezTo>
                <a:cubicBezTo>
                  <a:pt x="50" y="45"/>
                  <a:pt x="50" y="45"/>
                  <a:pt x="50" y="45"/>
                </a:cubicBezTo>
                <a:lnTo>
                  <a:pt x="46" y="4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55" name="Group 154">
            <a:extLst>
              <a:ext uri="{FF2B5EF4-FFF2-40B4-BE49-F238E27FC236}">
                <a16:creationId xmlns:a16="http://schemas.microsoft.com/office/drawing/2014/main" id="{49CE1ACD-22ED-4493-9814-CC21FCC47038}"/>
              </a:ext>
            </a:extLst>
          </p:cNvPr>
          <p:cNvGrpSpPr/>
          <p:nvPr/>
        </p:nvGrpSpPr>
        <p:grpSpPr>
          <a:xfrm>
            <a:off x="1347147" y="1620844"/>
            <a:ext cx="365122" cy="341105"/>
            <a:chOff x="1841490" y="1382721"/>
            <a:chExt cx="120649" cy="112713"/>
          </a:xfrm>
          <a:solidFill>
            <a:schemeClr val="accent1"/>
          </a:solidFill>
        </p:grpSpPr>
        <p:sp>
          <p:nvSpPr>
            <p:cNvPr id="156" name="Freeform 124">
              <a:extLst>
                <a:ext uri="{FF2B5EF4-FFF2-40B4-BE49-F238E27FC236}">
                  <a16:creationId xmlns:a16="http://schemas.microsoft.com/office/drawing/2014/main" id="{84673D5D-5DC4-4FF7-B2E8-945AF828807E}"/>
                </a:ext>
              </a:extLst>
            </p:cNvPr>
            <p:cNvSpPr>
              <a:spLocks/>
            </p:cNvSpPr>
            <p:nvPr/>
          </p:nvSpPr>
          <p:spPr bwMode="auto">
            <a:xfrm>
              <a:off x="1878002" y="1382721"/>
              <a:ext cx="60325" cy="50800"/>
            </a:xfrm>
            <a:custGeom>
              <a:avLst/>
              <a:gdLst>
                <a:gd name="T0" fmla="*/ 17 w 34"/>
                <a:gd name="T1" fmla="*/ 28 h 28"/>
                <a:gd name="T2" fmla="*/ 31 w 34"/>
                <a:gd name="T3" fmla="*/ 15 h 28"/>
                <a:gd name="T4" fmla="*/ 31 w 34"/>
                <a:gd name="T5" fmla="*/ 2 h 28"/>
                <a:gd name="T6" fmla="*/ 25 w 34"/>
                <a:gd name="T7" fmla="*/ 0 h 28"/>
                <a:gd name="T8" fmla="*/ 18 w 34"/>
                <a:gd name="T9" fmla="*/ 3 h 28"/>
                <a:gd name="T10" fmla="*/ 17 w 34"/>
                <a:gd name="T11" fmla="*/ 3 h 28"/>
                <a:gd name="T12" fmla="*/ 17 w 34"/>
                <a:gd name="T13" fmla="*/ 3 h 28"/>
                <a:gd name="T14" fmla="*/ 10 w 34"/>
                <a:gd name="T15" fmla="*/ 0 h 28"/>
                <a:gd name="T16" fmla="*/ 4 w 34"/>
                <a:gd name="T17" fmla="*/ 2 h 28"/>
                <a:gd name="T18" fmla="*/ 4 w 34"/>
                <a:gd name="T19" fmla="*/ 15 h 28"/>
                <a:gd name="T20" fmla="*/ 17 w 34"/>
                <a:gd name="T21" fmla="*/ 2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28">
                  <a:moveTo>
                    <a:pt x="17" y="28"/>
                  </a:moveTo>
                  <a:cubicBezTo>
                    <a:pt x="31" y="15"/>
                    <a:pt x="31" y="15"/>
                    <a:pt x="31" y="15"/>
                  </a:cubicBezTo>
                  <a:cubicBezTo>
                    <a:pt x="34" y="11"/>
                    <a:pt x="34" y="5"/>
                    <a:pt x="31" y="2"/>
                  </a:cubicBezTo>
                  <a:cubicBezTo>
                    <a:pt x="29" y="1"/>
                    <a:pt x="27" y="0"/>
                    <a:pt x="25" y="0"/>
                  </a:cubicBezTo>
                  <a:cubicBezTo>
                    <a:pt x="22" y="0"/>
                    <a:pt x="20" y="1"/>
                    <a:pt x="18" y="3"/>
                  </a:cubicBezTo>
                  <a:cubicBezTo>
                    <a:pt x="17" y="3"/>
                    <a:pt x="17" y="3"/>
                    <a:pt x="17" y="3"/>
                  </a:cubicBezTo>
                  <a:cubicBezTo>
                    <a:pt x="17" y="3"/>
                    <a:pt x="17" y="3"/>
                    <a:pt x="17" y="3"/>
                  </a:cubicBezTo>
                  <a:cubicBezTo>
                    <a:pt x="15" y="1"/>
                    <a:pt x="12" y="0"/>
                    <a:pt x="10" y="0"/>
                  </a:cubicBezTo>
                  <a:cubicBezTo>
                    <a:pt x="8" y="0"/>
                    <a:pt x="6" y="1"/>
                    <a:pt x="4" y="2"/>
                  </a:cubicBezTo>
                  <a:cubicBezTo>
                    <a:pt x="1" y="5"/>
                    <a:pt x="0" y="11"/>
                    <a:pt x="4" y="15"/>
                  </a:cubicBezTo>
                  <a:lnTo>
                    <a:pt x="17"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7" name="Freeform 125">
              <a:extLst>
                <a:ext uri="{FF2B5EF4-FFF2-40B4-BE49-F238E27FC236}">
                  <a16:creationId xmlns:a16="http://schemas.microsoft.com/office/drawing/2014/main" id="{25939A94-06F8-4F82-AB8D-CE00A96C3DFF}"/>
                </a:ext>
              </a:extLst>
            </p:cNvPr>
            <p:cNvSpPr>
              <a:spLocks/>
            </p:cNvSpPr>
            <p:nvPr/>
          </p:nvSpPr>
          <p:spPr bwMode="auto">
            <a:xfrm>
              <a:off x="1841490" y="1441459"/>
              <a:ext cx="120649" cy="53975"/>
            </a:xfrm>
            <a:custGeom>
              <a:avLst/>
              <a:gdLst>
                <a:gd name="T0" fmla="*/ 66 w 67"/>
                <a:gd name="T1" fmla="*/ 2 h 30"/>
                <a:gd name="T2" fmla="*/ 59 w 67"/>
                <a:gd name="T3" fmla="*/ 2 h 30"/>
                <a:gd name="T4" fmla="*/ 44 w 67"/>
                <a:gd name="T5" fmla="*/ 14 h 30"/>
                <a:gd name="T6" fmla="*/ 32 w 67"/>
                <a:gd name="T7" fmla="*/ 14 h 30"/>
                <a:gd name="T8" fmla="*/ 31 w 67"/>
                <a:gd name="T9" fmla="*/ 13 h 30"/>
                <a:gd name="T10" fmla="*/ 32 w 67"/>
                <a:gd name="T11" fmla="*/ 12 h 30"/>
                <a:gd name="T12" fmla="*/ 40 w 67"/>
                <a:gd name="T13" fmla="*/ 12 h 30"/>
                <a:gd name="T14" fmla="*/ 45 w 67"/>
                <a:gd name="T15" fmla="*/ 7 h 30"/>
                <a:gd name="T16" fmla="*/ 40 w 67"/>
                <a:gd name="T17" fmla="*/ 2 h 30"/>
                <a:gd name="T18" fmla="*/ 34 w 67"/>
                <a:gd name="T19" fmla="*/ 2 h 30"/>
                <a:gd name="T20" fmla="*/ 29 w 67"/>
                <a:gd name="T21" fmla="*/ 1 h 30"/>
                <a:gd name="T22" fmla="*/ 23 w 67"/>
                <a:gd name="T23" fmla="*/ 0 h 30"/>
                <a:gd name="T24" fmla="*/ 13 w 67"/>
                <a:gd name="T25" fmla="*/ 4 h 30"/>
                <a:gd name="T26" fmla="*/ 0 w 67"/>
                <a:gd name="T27" fmla="*/ 16 h 30"/>
                <a:gd name="T28" fmla="*/ 14 w 67"/>
                <a:gd name="T29" fmla="*/ 30 h 30"/>
                <a:gd name="T30" fmla="*/ 19 w 67"/>
                <a:gd name="T31" fmla="*/ 26 h 30"/>
                <a:gd name="T32" fmla="*/ 43 w 67"/>
                <a:gd name="T33" fmla="*/ 26 h 30"/>
                <a:gd name="T34" fmla="*/ 50 w 67"/>
                <a:gd name="T35" fmla="*/ 23 h 30"/>
                <a:gd name="T36" fmla="*/ 66 w 67"/>
                <a:gd name="T37" fmla="*/ 5 h 30"/>
                <a:gd name="T38" fmla="*/ 66 w 67"/>
                <a:gd name="T39"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7" h="30">
                  <a:moveTo>
                    <a:pt x="66" y="2"/>
                  </a:moveTo>
                  <a:cubicBezTo>
                    <a:pt x="63" y="0"/>
                    <a:pt x="61" y="1"/>
                    <a:pt x="59" y="2"/>
                  </a:cubicBezTo>
                  <a:cubicBezTo>
                    <a:pt x="57" y="3"/>
                    <a:pt x="44" y="14"/>
                    <a:pt x="44" y="14"/>
                  </a:cubicBezTo>
                  <a:cubicBezTo>
                    <a:pt x="32" y="14"/>
                    <a:pt x="32" y="14"/>
                    <a:pt x="32" y="14"/>
                  </a:cubicBezTo>
                  <a:cubicBezTo>
                    <a:pt x="32" y="14"/>
                    <a:pt x="31" y="13"/>
                    <a:pt x="31" y="13"/>
                  </a:cubicBezTo>
                  <a:cubicBezTo>
                    <a:pt x="31" y="12"/>
                    <a:pt x="32" y="12"/>
                    <a:pt x="32" y="12"/>
                  </a:cubicBezTo>
                  <a:cubicBezTo>
                    <a:pt x="40" y="12"/>
                    <a:pt x="40" y="12"/>
                    <a:pt x="40" y="12"/>
                  </a:cubicBezTo>
                  <a:cubicBezTo>
                    <a:pt x="42" y="12"/>
                    <a:pt x="45" y="10"/>
                    <a:pt x="45" y="7"/>
                  </a:cubicBezTo>
                  <a:cubicBezTo>
                    <a:pt x="45" y="4"/>
                    <a:pt x="42" y="2"/>
                    <a:pt x="40" y="2"/>
                  </a:cubicBezTo>
                  <a:cubicBezTo>
                    <a:pt x="35" y="2"/>
                    <a:pt x="34" y="2"/>
                    <a:pt x="34" y="2"/>
                  </a:cubicBezTo>
                  <a:cubicBezTo>
                    <a:pt x="32" y="2"/>
                    <a:pt x="31" y="2"/>
                    <a:pt x="29" y="1"/>
                  </a:cubicBezTo>
                  <a:cubicBezTo>
                    <a:pt x="27" y="0"/>
                    <a:pt x="25" y="0"/>
                    <a:pt x="23" y="0"/>
                  </a:cubicBezTo>
                  <a:cubicBezTo>
                    <a:pt x="19" y="0"/>
                    <a:pt x="15" y="1"/>
                    <a:pt x="13" y="4"/>
                  </a:cubicBezTo>
                  <a:cubicBezTo>
                    <a:pt x="0" y="16"/>
                    <a:pt x="0" y="16"/>
                    <a:pt x="0" y="16"/>
                  </a:cubicBezTo>
                  <a:cubicBezTo>
                    <a:pt x="14" y="30"/>
                    <a:pt x="14" y="30"/>
                    <a:pt x="14" y="30"/>
                  </a:cubicBezTo>
                  <a:cubicBezTo>
                    <a:pt x="19" y="26"/>
                    <a:pt x="19" y="26"/>
                    <a:pt x="19" y="26"/>
                  </a:cubicBezTo>
                  <a:cubicBezTo>
                    <a:pt x="43" y="26"/>
                    <a:pt x="43" y="26"/>
                    <a:pt x="43" y="26"/>
                  </a:cubicBezTo>
                  <a:cubicBezTo>
                    <a:pt x="45" y="26"/>
                    <a:pt x="48" y="25"/>
                    <a:pt x="50" y="23"/>
                  </a:cubicBezTo>
                  <a:cubicBezTo>
                    <a:pt x="66" y="5"/>
                    <a:pt x="66" y="5"/>
                    <a:pt x="66" y="5"/>
                  </a:cubicBezTo>
                  <a:cubicBezTo>
                    <a:pt x="67" y="4"/>
                    <a:pt x="67" y="3"/>
                    <a:pt x="6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58" name="Freeform 126">
            <a:extLst>
              <a:ext uri="{FF2B5EF4-FFF2-40B4-BE49-F238E27FC236}">
                <a16:creationId xmlns:a16="http://schemas.microsoft.com/office/drawing/2014/main" id="{552535F7-EFBC-46F7-9054-EC0FBE0C42A0}"/>
              </a:ext>
            </a:extLst>
          </p:cNvPr>
          <p:cNvSpPr>
            <a:spLocks noEditPoints="1"/>
          </p:cNvSpPr>
          <p:nvPr/>
        </p:nvSpPr>
        <p:spPr bwMode="auto">
          <a:xfrm>
            <a:off x="7635927" y="746603"/>
            <a:ext cx="287335" cy="287340"/>
          </a:xfrm>
          <a:custGeom>
            <a:avLst/>
            <a:gdLst>
              <a:gd name="T0" fmla="*/ 48 w 69"/>
              <a:gd name="T1" fmla="*/ 10 h 69"/>
              <a:gd name="T2" fmla="*/ 42 w 69"/>
              <a:gd name="T3" fmla="*/ 13 h 69"/>
              <a:gd name="T4" fmla="*/ 42 w 69"/>
              <a:gd name="T5" fmla="*/ 15 h 69"/>
              <a:gd name="T6" fmla="*/ 42 w 69"/>
              <a:gd name="T7" fmla="*/ 30 h 69"/>
              <a:gd name="T8" fmla="*/ 37 w 69"/>
              <a:gd name="T9" fmla="*/ 28 h 69"/>
              <a:gd name="T10" fmla="*/ 37 w 69"/>
              <a:gd name="T11" fmla="*/ 2 h 69"/>
              <a:gd name="T12" fmla="*/ 35 w 69"/>
              <a:gd name="T13" fmla="*/ 0 h 69"/>
              <a:gd name="T14" fmla="*/ 32 w 69"/>
              <a:gd name="T15" fmla="*/ 2 h 69"/>
              <a:gd name="T16" fmla="*/ 32 w 69"/>
              <a:gd name="T17" fmla="*/ 28 h 69"/>
              <a:gd name="T18" fmla="*/ 28 w 69"/>
              <a:gd name="T19" fmla="*/ 30 h 69"/>
              <a:gd name="T20" fmla="*/ 28 w 69"/>
              <a:gd name="T21" fmla="*/ 15 h 69"/>
              <a:gd name="T22" fmla="*/ 23 w 69"/>
              <a:gd name="T23" fmla="*/ 10 h 69"/>
              <a:gd name="T24" fmla="*/ 21 w 69"/>
              <a:gd name="T25" fmla="*/ 10 h 69"/>
              <a:gd name="T26" fmla="*/ 0 w 69"/>
              <a:gd name="T27" fmla="*/ 42 h 69"/>
              <a:gd name="T28" fmla="*/ 0 w 69"/>
              <a:gd name="T29" fmla="*/ 67 h 69"/>
              <a:gd name="T30" fmla="*/ 2 w 69"/>
              <a:gd name="T31" fmla="*/ 69 h 69"/>
              <a:gd name="T32" fmla="*/ 3 w 69"/>
              <a:gd name="T33" fmla="*/ 69 h 69"/>
              <a:gd name="T34" fmla="*/ 21 w 69"/>
              <a:gd name="T35" fmla="*/ 62 h 69"/>
              <a:gd name="T36" fmla="*/ 28 w 69"/>
              <a:gd name="T37" fmla="*/ 51 h 69"/>
              <a:gd name="T38" fmla="*/ 28 w 69"/>
              <a:gd name="T39" fmla="*/ 34 h 69"/>
              <a:gd name="T40" fmla="*/ 35 w 69"/>
              <a:gd name="T41" fmla="*/ 32 h 69"/>
              <a:gd name="T42" fmla="*/ 42 w 69"/>
              <a:gd name="T43" fmla="*/ 34 h 69"/>
              <a:gd name="T44" fmla="*/ 42 w 69"/>
              <a:gd name="T45" fmla="*/ 51 h 69"/>
              <a:gd name="T46" fmla="*/ 49 w 69"/>
              <a:gd name="T47" fmla="*/ 62 h 69"/>
              <a:gd name="T48" fmla="*/ 66 w 69"/>
              <a:gd name="T49" fmla="*/ 69 h 69"/>
              <a:gd name="T50" fmla="*/ 67 w 69"/>
              <a:gd name="T51" fmla="*/ 69 h 69"/>
              <a:gd name="T52" fmla="*/ 69 w 69"/>
              <a:gd name="T53" fmla="*/ 67 h 69"/>
              <a:gd name="T54" fmla="*/ 69 w 69"/>
              <a:gd name="T55" fmla="*/ 42 h 69"/>
              <a:gd name="T56" fmla="*/ 48 w 69"/>
              <a:gd name="T57" fmla="*/ 10 h 69"/>
              <a:gd name="T58" fmla="*/ 21 w 69"/>
              <a:gd name="T59" fmla="*/ 53 h 69"/>
              <a:gd name="T60" fmla="*/ 16 w 69"/>
              <a:gd name="T61" fmla="*/ 53 h 69"/>
              <a:gd name="T62" fmla="*/ 16 w 69"/>
              <a:gd name="T63" fmla="*/ 58 h 69"/>
              <a:gd name="T64" fmla="*/ 10 w 69"/>
              <a:gd name="T65" fmla="*/ 58 h 69"/>
              <a:gd name="T66" fmla="*/ 10 w 69"/>
              <a:gd name="T67" fmla="*/ 53 h 69"/>
              <a:gd name="T68" fmla="*/ 5 w 69"/>
              <a:gd name="T69" fmla="*/ 53 h 69"/>
              <a:gd name="T70" fmla="*/ 5 w 69"/>
              <a:gd name="T71" fmla="*/ 47 h 69"/>
              <a:gd name="T72" fmla="*/ 10 w 69"/>
              <a:gd name="T73" fmla="*/ 47 h 69"/>
              <a:gd name="T74" fmla="*/ 10 w 69"/>
              <a:gd name="T75" fmla="*/ 42 h 69"/>
              <a:gd name="T76" fmla="*/ 16 w 69"/>
              <a:gd name="T77" fmla="*/ 42 h 69"/>
              <a:gd name="T78" fmla="*/ 16 w 69"/>
              <a:gd name="T79" fmla="*/ 47 h 69"/>
              <a:gd name="T80" fmla="*/ 21 w 69"/>
              <a:gd name="T81" fmla="*/ 47 h 69"/>
              <a:gd name="T82" fmla="*/ 21 w 69"/>
              <a:gd name="T83" fmla="*/ 5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9" h="69">
                <a:moveTo>
                  <a:pt x="48" y="10"/>
                </a:moveTo>
                <a:cubicBezTo>
                  <a:pt x="46" y="9"/>
                  <a:pt x="43" y="11"/>
                  <a:pt x="42" y="13"/>
                </a:cubicBezTo>
                <a:cubicBezTo>
                  <a:pt x="42" y="13"/>
                  <a:pt x="42" y="14"/>
                  <a:pt x="42" y="15"/>
                </a:cubicBezTo>
                <a:cubicBezTo>
                  <a:pt x="42" y="30"/>
                  <a:pt x="42" y="30"/>
                  <a:pt x="42" y="30"/>
                </a:cubicBezTo>
                <a:cubicBezTo>
                  <a:pt x="37" y="28"/>
                  <a:pt x="37" y="28"/>
                  <a:pt x="37" y="28"/>
                </a:cubicBezTo>
                <a:cubicBezTo>
                  <a:pt x="37" y="2"/>
                  <a:pt x="37" y="2"/>
                  <a:pt x="37" y="2"/>
                </a:cubicBezTo>
                <a:cubicBezTo>
                  <a:pt x="37" y="1"/>
                  <a:pt x="36" y="0"/>
                  <a:pt x="35" y="0"/>
                </a:cubicBezTo>
                <a:cubicBezTo>
                  <a:pt x="33" y="0"/>
                  <a:pt x="32" y="1"/>
                  <a:pt x="32" y="2"/>
                </a:cubicBezTo>
                <a:cubicBezTo>
                  <a:pt x="32" y="28"/>
                  <a:pt x="32" y="28"/>
                  <a:pt x="32" y="28"/>
                </a:cubicBezTo>
                <a:cubicBezTo>
                  <a:pt x="28" y="30"/>
                  <a:pt x="28" y="30"/>
                  <a:pt x="28" y="30"/>
                </a:cubicBezTo>
                <a:cubicBezTo>
                  <a:pt x="28" y="15"/>
                  <a:pt x="28" y="15"/>
                  <a:pt x="28" y="15"/>
                </a:cubicBezTo>
                <a:cubicBezTo>
                  <a:pt x="28" y="12"/>
                  <a:pt x="26" y="10"/>
                  <a:pt x="23" y="10"/>
                </a:cubicBezTo>
                <a:cubicBezTo>
                  <a:pt x="23" y="10"/>
                  <a:pt x="22" y="10"/>
                  <a:pt x="21" y="10"/>
                </a:cubicBezTo>
                <a:cubicBezTo>
                  <a:pt x="9" y="15"/>
                  <a:pt x="0" y="28"/>
                  <a:pt x="0" y="42"/>
                </a:cubicBezTo>
                <a:cubicBezTo>
                  <a:pt x="0" y="67"/>
                  <a:pt x="0" y="67"/>
                  <a:pt x="0" y="67"/>
                </a:cubicBezTo>
                <a:cubicBezTo>
                  <a:pt x="0" y="68"/>
                  <a:pt x="1" y="69"/>
                  <a:pt x="2" y="69"/>
                </a:cubicBezTo>
                <a:cubicBezTo>
                  <a:pt x="3" y="69"/>
                  <a:pt x="3" y="69"/>
                  <a:pt x="3" y="69"/>
                </a:cubicBezTo>
                <a:cubicBezTo>
                  <a:pt x="21" y="62"/>
                  <a:pt x="21" y="62"/>
                  <a:pt x="21" y="62"/>
                </a:cubicBezTo>
                <a:cubicBezTo>
                  <a:pt x="25" y="60"/>
                  <a:pt x="28" y="56"/>
                  <a:pt x="28" y="51"/>
                </a:cubicBezTo>
                <a:cubicBezTo>
                  <a:pt x="28" y="34"/>
                  <a:pt x="28" y="34"/>
                  <a:pt x="28" y="34"/>
                </a:cubicBezTo>
                <a:cubicBezTo>
                  <a:pt x="35" y="32"/>
                  <a:pt x="35" y="32"/>
                  <a:pt x="35" y="32"/>
                </a:cubicBezTo>
                <a:cubicBezTo>
                  <a:pt x="42" y="34"/>
                  <a:pt x="42" y="34"/>
                  <a:pt x="42" y="34"/>
                </a:cubicBezTo>
                <a:cubicBezTo>
                  <a:pt x="42" y="51"/>
                  <a:pt x="42" y="51"/>
                  <a:pt x="42" y="51"/>
                </a:cubicBezTo>
                <a:cubicBezTo>
                  <a:pt x="42" y="56"/>
                  <a:pt x="44" y="60"/>
                  <a:pt x="49" y="62"/>
                </a:cubicBezTo>
                <a:cubicBezTo>
                  <a:pt x="66" y="69"/>
                  <a:pt x="66" y="69"/>
                  <a:pt x="66" y="69"/>
                </a:cubicBezTo>
                <a:cubicBezTo>
                  <a:pt x="66" y="69"/>
                  <a:pt x="67" y="69"/>
                  <a:pt x="67" y="69"/>
                </a:cubicBezTo>
                <a:cubicBezTo>
                  <a:pt x="68" y="69"/>
                  <a:pt x="69" y="68"/>
                  <a:pt x="69" y="67"/>
                </a:cubicBezTo>
                <a:cubicBezTo>
                  <a:pt x="69" y="42"/>
                  <a:pt x="69" y="42"/>
                  <a:pt x="69" y="42"/>
                </a:cubicBezTo>
                <a:cubicBezTo>
                  <a:pt x="69" y="28"/>
                  <a:pt x="61" y="15"/>
                  <a:pt x="48" y="10"/>
                </a:cubicBezTo>
                <a:close/>
                <a:moveTo>
                  <a:pt x="21" y="53"/>
                </a:moveTo>
                <a:cubicBezTo>
                  <a:pt x="16" y="53"/>
                  <a:pt x="16" y="53"/>
                  <a:pt x="16" y="53"/>
                </a:cubicBezTo>
                <a:cubicBezTo>
                  <a:pt x="16" y="58"/>
                  <a:pt x="16" y="58"/>
                  <a:pt x="16" y="58"/>
                </a:cubicBezTo>
                <a:cubicBezTo>
                  <a:pt x="10" y="58"/>
                  <a:pt x="10" y="58"/>
                  <a:pt x="10" y="58"/>
                </a:cubicBezTo>
                <a:cubicBezTo>
                  <a:pt x="10" y="53"/>
                  <a:pt x="10" y="53"/>
                  <a:pt x="10" y="53"/>
                </a:cubicBezTo>
                <a:cubicBezTo>
                  <a:pt x="5" y="53"/>
                  <a:pt x="5" y="53"/>
                  <a:pt x="5" y="53"/>
                </a:cubicBezTo>
                <a:cubicBezTo>
                  <a:pt x="5" y="47"/>
                  <a:pt x="5" y="47"/>
                  <a:pt x="5" y="47"/>
                </a:cubicBezTo>
                <a:cubicBezTo>
                  <a:pt x="10" y="47"/>
                  <a:pt x="10" y="47"/>
                  <a:pt x="10" y="47"/>
                </a:cubicBezTo>
                <a:cubicBezTo>
                  <a:pt x="10" y="42"/>
                  <a:pt x="10" y="42"/>
                  <a:pt x="10" y="42"/>
                </a:cubicBezTo>
                <a:cubicBezTo>
                  <a:pt x="16" y="42"/>
                  <a:pt x="16" y="42"/>
                  <a:pt x="16" y="42"/>
                </a:cubicBezTo>
                <a:cubicBezTo>
                  <a:pt x="16" y="47"/>
                  <a:pt x="16" y="47"/>
                  <a:pt x="16" y="47"/>
                </a:cubicBezTo>
                <a:cubicBezTo>
                  <a:pt x="21" y="47"/>
                  <a:pt x="21" y="47"/>
                  <a:pt x="21" y="47"/>
                </a:cubicBezTo>
                <a:lnTo>
                  <a:pt x="21" y="5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9" name="Freeform 127">
            <a:extLst>
              <a:ext uri="{FF2B5EF4-FFF2-40B4-BE49-F238E27FC236}">
                <a16:creationId xmlns:a16="http://schemas.microsoft.com/office/drawing/2014/main" id="{5EA9174B-D94C-4C00-A3FF-F8E0EC5BB2B0}"/>
              </a:ext>
            </a:extLst>
          </p:cNvPr>
          <p:cNvSpPr>
            <a:spLocks noEditPoints="1"/>
          </p:cNvSpPr>
          <p:nvPr/>
        </p:nvSpPr>
        <p:spPr bwMode="auto">
          <a:xfrm>
            <a:off x="4064461" y="5319307"/>
            <a:ext cx="278200" cy="246510"/>
          </a:xfrm>
          <a:custGeom>
            <a:avLst/>
            <a:gdLst>
              <a:gd name="T0" fmla="*/ 49 w 69"/>
              <a:gd name="T1" fmla="*/ 28 h 62"/>
              <a:gd name="T2" fmla="*/ 47 w 69"/>
              <a:gd name="T3" fmla="*/ 23 h 62"/>
              <a:gd name="T4" fmla="*/ 44 w 69"/>
              <a:gd name="T5" fmla="*/ 32 h 62"/>
              <a:gd name="T6" fmla="*/ 36 w 69"/>
              <a:gd name="T7" fmla="*/ 32 h 62"/>
              <a:gd name="T8" fmla="*/ 31 w 69"/>
              <a:gd name="T9" fmla="*/ 48 h 62"/>
              <a:gd name="T10" fmla="*/ 22 w 69"/>
              <a:gd name="T11" fmla="*/ 27 h 62"/>
              <a:gd name="T12" fmla="*/ 20 w 69"/>
              <a:gd name="T13" fmla="*/ 32 h 62"/>
              <a:gd name="T14" fmla="*/ 4 w 69"/>
              <a:gd name="T15" fmla="*/ 32 h 62"/>
              <a:gd name="T16" fmla="*/ 33 w 69"/>
              <a:gd name="T17" fmla="*/ 60 h 62"/>
              <a:gd name="T18" fmla="*/ 35 w 69"/>
              <a:gd name="T19" fmla="*/ 62 h 62"/>
              <a:gd name="T20" fmla="*/ 36 w 69"/>
              <a:gd name="T21" fmla="*/ 61 h 62"/>
              <a:gd name="T22" fmla="*/ 67 w 69"/>
              <a:gd name="T23" fmla="*/ 28 h 62"/>
              <a:gd name="T24" fmla="*/ 49 w 69"/>
              <a:gd name="T25" fmla="*/ 28 h 62"/>
              <a:gd name="T26" fmla="*/ 51 w 69"/>
              <a:gd name="T27" fmla="*/ 0 h 62"/>
              <a:gd name="T28" fmla="*/ 35 w 69"/>
              <a:gd name="T29" fmla="*/ 10 h 62"/>
              <a:gd name="T30" fmla="*/ 18 w 69"/>
              <a:gd name="T31" fmla="*/ 0 h 62"/>
              <a:gd name="T32" fmla="*/ 0 w 69"/>
              <a:gd name="T33" fmla="*/ 20 h 62"/>
              <a:gd name="T34" fmla="*/ 2 w 69"/>
              <a:gd name="T35" fmla="*/ 28 h 62"/>
              <a:gd name="T36" fmla="*/ 17 w 69"/>
              <a:gd name="T37" fmla="*/ 28 h 62"/>
              <a:gd name="T38" fmla="*/ 23 w 69"/>
              <a:gd name="T39" fmla="*/ 17 h 62"/>
              <a:gd name="T40" fmla="*/ 30 w 69"/>
              <a:gd name="T41" fmla="*/ 36 h 62"/>
              <a:gd name="T42" fmla="*/ 33 w 69"/>
              <a:gd name="T43" fmla="*/ 28 h 62"/>
              <a:gd name="T44" fmla="*/ 41 w 69"/>
              <a:gd name="T45" fmla="*/ 28 h 62"/>
              <a:gd name="T46" fmla="*/ 46 w 69"/>
              <a:gd name="T47" fmla="*/ 13 h 62"/>
              <a:gd name="T48" fmla="*/ 52 w 69"/>
              <a:gd name="T49" fmla="*/ 24 h 62"/>
              <a:gd name="T50" fmla="*/ 68 w 69"/>
              <a:gd name="T51" fmla="*/ 24 h 62"/>
              <a:gd name="T52" fmla="*/ 69 w 69"/>
              <a:gd name="T53" fmla="*/ 20 h 62"/>
              <a:gd name="T54" fmla="*/ 51 w 69"/>
              <a:gd name="T55"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 h="62">
                <a:moveTo>
                  <a:pt x="49" y="28"/>
                </a:moveTo>
                <a:cubicBezTo>
                  <a:pt x="47" y="23"/>
                  <a:pt x="47" y="23"/>
                  <a:pt x="47" y="23"/>
                </a:cubicBezTo>
                <a:cubicBezTo>
                  <a:pt x="44" y="32"/>
                  <a:pt x="44" y="32"/>
                  <a:pt x="44" y="32"/>
                </a:cubicBezTo>
                <a:cubicBezTo>
                  <a:pt x="36" y="32"/>
                  <a:pt x="36" y="32"/>
                  <a:pt x="36" y="32"/>
                </a:cubicBezTo>
                <a:cubicBezTo>
                  <a:pt x="31" y="48"/>
                  <a:pt x="31" y="48"/>
                  <a:pt x="31" y="48"/>
                </a:cubicBezTo>
                <a:cubicBezTo>
                  <a:pt x="22" y="27"/>
                  <a:pt x="22" y="27"/>
                  <a:pt x="22" y="27"/>
                </a:cubicBezTo>
                <a:cubicBezTo>
                  <a:pt x="20" y="32"/>
                  <a:pt x="20" y="32"/>
                  <a:pt x="20" y="32"/>
                </a:cubicBezTo>
                <a:cubicBezTo>
                  <a:pt x="4" y="32"/>
                  <a:pt x="4" y="32"/>
                  <a:pt x="4" y="32"/>
                </a:cubicBezTo>
                <a:cubicBezTo>
                  <a:pt x="8" y="39"/>
                  <a:pt x="17" y="47"/>
                  <a:pt x="33" y="60"/>
                </a:cubicBezTo>
                <a:cubicBezTo>
                  <a:pt x="35" y="62"/>
                  <a:pt x="35" y="62"/>
                  <a:pt x="35" y="62"/>
                </a:cubicBezTo>
                <a:cubicBezTo>
                  <a:pt x="36" y="61"/>
                  <a:pt x="36" y="61"/>
                  <a:pt x="36" y="61"/>
                </a:cubicBezTo>
                <a:cubicBezTo>
                  <a:pt x="52" y="47"/>
                  <a:pt x="63" y="39"/>
                  <a:pt x="67" y="28"/>
                </a:cubicBezTo>
                <a:lnTo>
                  <a:pt x="49" y="28"/>
                </a:lnTo>
                <a:close/>
                <a:moveTo>
                  <a:pt x="51" y="0"/>
                </a:moveTo>
                <a:cubicBezTo>
                  <a:pt x="44" y="0"/>
                  <a:pt x="38" y="4"/>
                  <a:pt x="35" y="10"/>
                </a:cubicBezTo>
                <a:cubicBezTo>
                  <a:pt x="32" y="4"/>
                  <a:pt x="25" y="0"/>
                  <a:pt x="18" y="0"/>
                </a:cubicBezTo>
                <a:cubicBezTo>
                  <a:pt x="7" y="0"/>
                  <a:pt x="0" y="9"/>
                  <a:pt x="0" y="20"/>
                </a:cubicBezTo>
                <a:cubicBezTo>
                  <a:pt x="0" y="23"/>
                  <a:pt x="1" y="26"/>
                  <a:pt x="2" y="28"/>
                </a:cubicBezTo>
                <a:cubicBezTo>
                  <a:pt x="17" y="28"/>
                  <a:pt x="17" y="28"/>
                  <a:pt x="17" y="28"/>
                </a:cubicBezTo>
                <a:cubicBezTo>
                  <a:pt x="23" y="17"/>
                  <a:pt x="23" y="17"/>
                  <a:pt x="23" y="17"/>
                </a:cubicBezTo>
                <a:cubicBezTo>
                  <a:pt x="30" y="36"/>
                  <a:pt x="30" y="36"/>
                  <a:pt x="30" y="36"/>
                </a:cubicBezTo>
                <a:cubicBezTo>
                  <a:pt x="33" y="28"/>
                  <a:pt x="33" y="28"/>
                  <a:pt x="33" y="28"/>
                </a:cubicBezTo>
                <a:cubicBezTo>
                  <a:pt x="41" y="28"/>
                  <a:pt x="41" y="28"/>
                  <a:pt x="41" y="28"/>
                </a:cubicBezTo>
                <a:cubicBezTo>
                  <a:pt x="46" y="13"/>
                  <a:pt x="46" y="13"/>
                  <a:pt x="46" y="13"/>
                </a:cubicBezTo>
                <a:cubicBezTo>
                  <a:pt x="52" y="24"/>
                  <a:pt x="52" y="24"/>
                  <a:pt x="52" y="24"/>
                </a:cubicBezTo>
                <a:cubicBezTo>
                  <a:pt x="68" y="24"/>
                  <a:pt x="68" y="24"/>
                  <a:pt x="68" y="24"/>
                </a:cubicBezTo>
                <a:cubicBezTo>
                  <a:pt x="69" y="23"/>
                  <a:pt x="69" y="22"/>
                  <a:pt x="69" y="20"/>
                </a:cubicBezTo>
                <a:cubicBezTo>
                  <a:pt x="69" y="9"/>
                  <a:pt x="62" y="0"/>
                  <a:pt x="5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60" name="Group 159">
            <a:extLst>
              <a:ext uri="{FF2B5EF4-FFF2-40B4-BE49-F238E27FC236}">
                <a16:creationId xmlns:a16="http://schemas.microsoft.com/office/drawing/2014/main" id="{BC0CA9BE-26D2-4553-AC15-7E5A8E3F665A}"/>
              </a:ext>
            </a:extLst>
          </p:cNvPr>
          <p:cNvGrpSpPr/>
          <p:nvPr/>
        </p:nvGrpSpPr>
        <p:grpSpPr>
          <a:xfrm>
            <a:off x="9405665" y="2540077"/>
            <a:ext cx="294941" cy="294946"/>
            <a:chOff x="1841490" y="3367112"/>
            <a:chExt cx="122237" cy="122239"/>
          </a:xfrm>
          <a:solidFill>
            <a:schemeClr val="accent1"/>
          </a:solidFill>
        </p:grpSpPr>
        <p:sp>
          <p:nvSpPr>
            <p:cNvPr id="161" name="Freeform 128">
              <a:extLst>
                <a:ext uri="{FF2B5EF4-FFF2-40B4-BE49-F238E27FC236}">
                  <a16:creationId xmlns:a16="http://schemas.microsoft.com/office/drawing/2014/main" id="{FFC68834-5EE1-4411-8E61-398FD09846E2}"/>
                </a:ext>
              </a:extLst>
            </p:cNvPr>
            <p:cNvSpPr>
              <a:spLocks/>
            </p:cNvSpPr>
            <p:nvPr/>
          </p:nvSpPr>
          <p:spPr bwMode="auto">
            <a:xfrm>
              <a:off x="1841490" y="3409975"/>
              <a:ext cx="74612" cy="79376"/>
            </a:xfrm>
            <a:custGeom>
              <a:avLst/>
              <a:gdLst>
                <a:gd name="T0" fmla="*/ 28 w 41"/>
                <a:gd name="T1" fmla="*/ 24 h 44"/>
                <a:gd name="T2" fmla="*/ 28 w 41"/>
                <a:gd name="T3" fmla="*/ 0 h 44"/>
                <a:gd name="T4" fmla="*/ 1 w 41"/>
                <a:gd name="T5" fmla="*/ 0 h 44"/>
                <a:gd name="T6" fmla="*/ 4 w 41"/>
                <a:gd name="T7" fmla="*/ 6 h 44"/>
                <a:gd name="T8" fmla="*/ 0 w 41"/>
                <a:gd name="T9" fmla="*/ 14 h 44"/>
                <a:gd name="T10" fmla="*/ 4 w 41"/>
                <a:gd name="T11" fmla="*/ 22 h 44"/>
                <a:gd name="T12" fmla="*/ 0 w 41"/>
                <a:gd name="T13" fmla="*/ 30 h 44"/>
                <a:gd name="T14" fmla="*/ 4 w 41"/>
                <a:gd name="T15" fmla="*/ 38 h 44"/>
                <a:gd name="T16" fmla="*/ 1 w 41"/>
                <a:gd name="T17" fmla="*/ 44 h 44"/>
                <a:gd name="T18" fmla="*/ 41 w 41"/>
                <a:gd name="T19" fmla="*/ 44 h 44"/>
                <a:gd name="T20" fmla="*/ 28 w 41"/>
                <a:gd name="T21"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44">
                  <a:moveTo>
                    <a:pt x="28" y="24"/>
                  </a:moveTo>
                  <a:cubicBezTo>
                    <a:pt x="28" y="0"/>
                    <a:pt x="28" y="0"/>
                    <a:pt x="28" y="0"/>
                  </a:cubicBezTo>
                  <a:cubicBezTo>
                    <a:pt x="1" y="0"/>
                    <a:pt x="1" y="0"/>
                    <a:pt x="1" y="0"/>
                  </a:cubicBezTo>
                  <a:cubicBezTo>
                    <a:pt x="4" y="6"/>
                    <a:pt x="4" y="6"/>
                    <a:pt x="4" y="6"/>
                  </a:cubicBezTo>
                  <a:cubicBezTo>
                    <a:pt x="0" y="14"/>
                    <a:pt x="0" y="14"/>
                    <a:pt x="0" y="14"/>
                  </a:cubicBezTo>
                  <a:cubicBezTo>
                    <a:pt x="4" y="22"/>
                    <a:pt x="4" y="22"/>
                    <a:pt x="4" y="22"/>
                  </a:cubicBezTo>
                  <a:cubicBezTo>
                    <a:pt x="0" y="30"/>
                    <a:pt x="0" y="30"/>
                    <a:pt x="0" y="30"/>
                  </a:cubicBezTo>
                  <a:cubicBezTo>
                    <a:pt x="4" y="38"/>
                    <a:pt x="4" y="38"/>
                    <a:pt x="4" y="38"/>
                  </a:cubicBezTo>
                  <a:cubicBezTo>
                    <a:pt x="1" y="44"/>
                    <a:pt x="1" y="44"/>
                    <a:pt x="1" y="44"/>
                  </a:cubicBezTo>
                  <a:cubicBezTo>
                    <a:pt x="41" y="44"/>
                    <a:pt x="41" y="44"/>
                    <a:pt x="41" y="44"/>
                  </a:cubicBezTo>
                  <a:cubicBezTo>
                    <a:pt x="33" y="41"/>
                    <a:pt x="28" y="33"/>
                    <a:pt x="2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2" name="Freeform 129">
              <a:extLst>
                <a:ext uri="{FF2B5EF4-FFF2-40B4-BE49-F238E27FC236}">
                  <a16:creationId xmlns:a16="http://schemas.microsoft.com/office/drawing/2014/main" id="{504001C6-2A23-4CE9-99FE-BF58A54B4F03}"/>
                </a:ext>
              </a:extLst>
            </p:cNvPr>
            <p:cNvSpPr>
              <a:spLocks/>
            </p:cNvSpPr>
            <p:nvPr/>
          </p:nvSpPr>
          <p:spPr bwMode="auto">
            <a:xfrm>
              <a:off x="1900227" y="3367112"/>
              <a:ext cx="63500" cy="63501"/>
            </a:xfrm>
            <a:custGeom>
              <a:avLst/>
              <a:gdLst>
                <a:gd name="T0" fmla="*/ 18 w 36"/>
                <a:gd name="T1" fmla="*/ 0 h 36"/>
                <a:gd name="T2" fmla="*/ 0 w 36"/>
                <a:gd name="T3" fmla="*/ 18 h 36"/>
                <a:gd name="T4" fmla="*/ 0 w 36"/>
                <a:gd name="T5" fmla="*/ 36 h 36"/>
                <a:gd name="T6" fmla="*/ 18 w 36"/>
                <a:gd name="T7" fmla="*/ 26 h 36"/>
                <a:gd name="T8" fmla="*/ 36 w 36"/>
                <a:gd name="T9" fmla="*/ 36 h 36"/>
                <a:gd name="T10" fmla="*/ 36 w 36"/>
                <a:gd name="T11" fmla="*/ 18 h 36"/>
                <a:gd name="T12" fmla="*/ 18 w 36"/>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36" h="36">
                  <a:moveTo>
                    <a:pt x="18" y="0"/>
                  </a:moveTo>
                  <a:cubicBezTo>
                    <a:pt x="8" y="0"/>
                    <a:pt x="0" y="8"/>
                    <a:pt x="0" y="18"/>
                  </a:cubicBezTo>
                  <a:cubicBezTo>
                    <a:pt x="0" y="36"/>
                    <a:pt x="0" y="36"/>
                    <a:pt x="0" y="36"/>
                  </a:cubicBezTo>
                  <a:cubicBezTo>
                    <a:pt x="4" y="30"/>
                    <a:pt x="10" y="26"/>
                    <a:pt x="18" y="26"/>
                  </a:cubicBezTo>
                  <a:cubicBezTo>
                    <a:pt x="25" y="26"/>
                    <a:pt x="32" y="30"/>
                    <a:pt x="36" y="36"/>
                  </a:cubicBezTo>
                  <a:cubicBezTo>
                    <a:pt x="36" y="18"/>
                    <a:pt x="36" y="18"/>
                    <a:pt x="36" y="18"/>
                  </a:cubicBezTo>
                  <a:cubicBezTo>
                    <a:pt x="36" y="8"/>
                    <a:pt x="28"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3" name="Freeform 130">
              <a:extLst>
                <a:ext uri="{FF2B5EF4-FFF2-40B4-BE49-F238E27FC236}">
                  <a16:creationId xmlns:a16="http://schemas.microsoft.com/office/drawing/2014/main" id="{494FAABE-F403-4509-989E-21EEB7DACD20}"/>
                </a:ext>
              </a:extLst>
            </p:cNvPr>
            <p:cNvSpPr>
              <a:spLocks noEditPoints="1"/>
            </p:cNvSpPr>
            <p:nvPr/>
          </p:nvSpPr>
          <p:spPr bwMode="auto">
            <a:xfrm>
              <a:off x="1900227" y="3421087"/>
              <a:ext cx="63500" cy="63501"/>
            </a:xfrm>
            <a:custGeom>
              <a:avLst/>
              <a:gdLst>
                <a:gd name="T0" fmla="*/ 18 w 36"/>
                <a:gd name="T1" fmla="*/ 0 h 36"/>
                <a:gd name="T2" fmla="*/ 0 w 36"/>
                <a:gd name="T3" fmla="*/ 18 h 36"/>
                <a:gd name="T4" fmla="*/ 18 w 36"/>
                <a:gd name="T5" fmla="*/ 36 h 36"/>
                <a:gd name="T6" fmla="*/ 36 w 36"/>
                <a:gd name="T7" fmla="*/ 18 h 36"/>
                <a:gd name="T8" fmla="*/ 18 w 36"/>
                <a:gd name="T9" fmla="*/ 0 h 36"/>
                <a:gd name="T10" fmla="*/ 18 w 36"/>
                <a:gd name="T11" fmla="*/ 32 h 36"/>
                <a:gd name="T12" fmla="*/ 4 w 36"/>
                <a:gd name="T13" fmla="*/ 18 h 36"/>
                <a:gd name="T14" fmla="*/ 18 w 36"/>
                <a:gd name="T15" fmla="*/ 4 h 36"/>
                <a:gd name="T16" fmla="*/ 32 w 36"/>
                <a:gd name="T17" fmla="*/ 18 h 36"/>
                <a:gd name="T18" fmla="*/ 18 w 36"/>
                <a:gd name="T19"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0"/>
                  </a:moveTo>
                  <a:cubicBezTo>
                    <a:pt x="8" y="0"/>
                    <a:pt x="0" y="8"/>
                    <a:pt x="0" y="18"/>
                  </a:cubicBezTo>
                  <a:cubicBezTo>
                    <a:pt x="0" y="28"/>
                    <a:pt x="8" y="36"/>
                    <a:pt x="18" y="36"/>
                  </a:cubicBezTo>
                  <a:cubicBezTo>
                    <a:pt x="28" y="36"/>
                    <a:pt x="36" y="28"/>
                    <a:pt x="36" y="18"/>
                  </a:cubicBezTo>
                  <a:cubicBezTo>
                    <a:pt x="36" y="8"/>
                    <a:pt x="28" y="0"/>
                    <a:pt x="18" y="0"/>
                  </a:cubicBezTo>
                  <a:close/>
                  <a:moveTo>
                    <a:pt x="18" y="32"/>
                  </a:moveTo>
                  <a:cubicBezTo>
                    <a:pt x="10" y="32"/>
                    <a:pt x="4" y="26"/>
                    <a:pt x="4" y="18"/>
                  </a:cubicBezTo>
                  <a:cubicBezTo>
                    <a:pt x="4" y="11"/>
                    <a:pt x="10" y="4"/>
                    <a:pt x="18" y="4"/>
                  </a:cubicBezTo>
                  <a:cubicBezTo>
                    <a:pt x="26" y="4"/>
                    <a:pt x="32" y="11"/>
                    <a:pt x="32" y="18"/>
                  </a:cubicBezTo>
                  <a:cubicBezTo>
                    <a:pt x="32" y="26"/>
                    <a:pt x="26" y="32"/>
                    <a:pt x="18"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4" name="Freeform 131">
              <a:extLst>
                <a:ext uri="{FF2B5EF4-FFF2-40B4-BE49-F238E27FC236}">
                  <a16:creationId xmlns:a16="http://schemas.microsoft.com/office/drawing/2014/main" id="{47676FC1-3946-40C9-8731-8E2A82ADE086}"/>
                </a:ext>
              </a:extLst>
            </p:cNvPr>
            <p:cNvSpPr>
              <a:spLocks noEditPoints="1"/>
            </p:cNvSpPr>
            <p:nvPr/>
          </p:nvSpPr>
          <p:spPr bwMode="auto">
            <a:xfrm>
              <a:off x="1914515" y="3435375"/>
              <a:ext cx="34925" cy="34925"/>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5"/>
                    <a:pt x="0" y="10"/>
                  </a:cubicBezTo>
                  <a:cubicBezTo>
                    <a:pt x="0" y="16"/>
                    <a:pt x="4" y="20"/>
                    <a:pt x="10" y="20"/>
                  </a:cubicBezTo>
                  <a:cubicBezTo>
                    <a:pt x="15" y="20"/>
                    <a:pt x="20" y="16"/>
                    <a:pt x="20" y="10"/>
                  </a:cubicBezTo>
                  <a:cubicBezTo>
                    <a:pt x="20" y="5"/>
                    <a:pt x="15" y="0"/>
                    <a:pt x="10" y="0"/>
                  </a:cubicBezTo>
                  <a:close/>
                  <a:moveTo>
                    <a:pt x="10" y="16"/>
                  </a:moveTo>
                  <a:cubicBezTo>
                    <a:pt x="7" y="16"/>
                    <a:pt x="4" y="14"/>
                    <a:pt x="4" y="10"/>
                  </a:cubicBezTo>
                  <a:cubicBezTo>
                    <a:pt x="4" y="7"/>
                    <a:pt x="7" y="4"/>
                    <a:pt x="10" y="4"/>
                  </a:cubicBezTo>
                  <a:cubicBezTo>
                    <a:pt x="13" y="4"/>
                    <a:pt x="16" y="7"/>
                    <a:pt x="16" y="10"/>
                  </a:cubicBezTo>
                  <a:cubicBezTo>
                    <a:pt x="16" y="14"/>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5" name="Oval 132">
              <a:extLst>
                <a:ext uri="{FF2B5EF4-FFF2-40B4-BE49-F238E27FC236}">
                  <a16:creationId xmlns:a16="http://schemas.microsoft.com/office/drawing/2014/main" id="{B72B209A-0315-40F2-9DEC-A1E5EB98C7CD}"/>
                </a:ext>
              </a:extLst>
            </p:cNvPr>
            <p:cNvSpPr>
              <a:spLocks noChangeArrowheads="1"/>
            </p:cNvSpPr>
            <p:nvPr/>
          </p:nvSpPr>
          <p:spPr bwMode="auto">
            <a:xfrm>
              <a:off x="1928802" y="3449663"/>
              <a:ext cx="6350" cy="63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66" name="Freeform 133">
            <a:extLst>
              <a:ext uri="{FF2B5EF4-FFF2-40B4-BE49-F238E27FC236}">
                <a16:creationId xmlns:a16="http://schemas.microsoft.com/office/drawing/2014/main" id="{6785C314-39EC-46B2-959A-14A9B0ED5CDC}"/>
              </a:ext>
            </a:extLst>
          </p:cNvPr>
          <p:cNvSpPr>
            <a:spLocks noEditPoints="1"/>
          </p:cNvSpPr>
          <p:nvPr/>
        </p:nvSpPr>
        <p:spPr bwMode="auto">
          <a:xfrm>
            <a:off x="9452789" y="4266349"/>
            <a:ext cx="266189" cy="320998"/>
          </a:xfrm>
          <a:custGeom>
            <a:avLst/>
            <a:gdLst>
              <a:gd name="T0" fmla="*/ 3 w 60"/>
              <a:gd name="T1" fmla="*/ 0 h 72"/>
              <a:gd name="T2" fmla="*/ 0 w 60"/>
              <a:gd name="T3" fmla="*/ 69 h 72"/>
              <a:gd name="T4" fmla="*/ 57 w 60"/>
              <a:gd name="T5" fmla="*/ 72 h 72"/>
              <a:gd name="T6" fmla="*/ 60 w 60"/>
              <a:gd name="T7" fmla="*/ 3 h 72"/>
              <a:gd name="T8" fmla="*/ 18 w 60"/>
              <a:gd name="T9" fmla="*/ 9 h 72"/>
              <a:gd name="T10" fmla="*/ 42 w 60"/>
              <a:gd name="T11" fmla="*/ 15 h 72"/>
              <a:gd name="T12" fmla="*/ 18 w 60"/>
              <a:gd name="T13" fmla="*/ 9 h 72"/>
              <a:gd name="T14" fmla="*/ 25 w 60"/>
              <a:gd name="T15" fmla="*/ 60 h 72"/>
              <a:gd name="T16" fmla="*/ 12 w 60"/>
              <a:gd name="T17" fmla="*/ 61 h 72"/>
              <a:gd name="T18" fmla="*/ 16 w 60"/>
              <a:gd name="T19" fmla="*/ 56 h 72"/>
              <a:gd name="T20" fmla="*/ 20 w 60"/>
              <a:gd name="T21" fmla="*/ 56 h 72"/>
              <a:gd name="T22" fmla="*/ 16 w 60"/>
              <a:gd name="T23" fmla="*/ 52 h 72"/>
              <a:gd name="T24" fmla="*/ 16 w 60"/>
              <a:gd name="T25" fmla="*/ 53 h 72"/>
              <a:gd name="T26" fmla="*/ 20 w 60"/>
              <a:gd name="T27" fmla="*/ 45 h 72"/>
              <a:gd name="T28" fmla="*/ 27 w 60"/>
              <a:gd name="T29" fmla="*/ 32 h 72"/>
              <a:gd name="T30" fmla="*/ 25 w 60"/>
              <a:gd name="T31" fmla="*/ 37 h 72"/>
              <a:gd name="T32" fmla="*/ 12 w 60"/>
              <a:gd name="T33" fmla="*/ 24 h 72"/>
              <a:gd name="T34" fmla="*/ 17 w 60"/>
              <a:gd name="T35" fmla="*/ 28 h 72"/>
              <a:gd name="T36" fmla="*/ 16 w 60"/>
              <a:gd name="T37" fmla="*/ 32 h 72"/>
              <a:gd name="T38" fmla="*/ 20 w 60"/>
              <a:gd name="T39" fmla="*/ 28 h 72"/>
              <a:gd name="T40" fmla="*/ 20 w 60"/>
              <a:gd name="T41" fmla="*/ 28 h 72"/>
              <a:gd name="T42" fmla="*/ 27 w 60"/>
              <a:gd name="T43" fmla="*/ 32 h 72"/>
              <a:gd name="T44" fmla="*/ 40 w 60"/>
              <a:gd name="T45" fmla="*/ 56 h 72"/>
              <a:gd name="T46" fmla="*/ 44 w 60"/>
              <a:gd name="T47" fmla="*/ 56 h 72"/>
              <a:gd name="T48" fmla="*/ 51 w 60"/>
              <a:gd name="T49" fmla="*/ 56 h 72"/>
              <a:gd name="T50" fmla="*/ 34 w 60"/>
              <a:gd name="T51" fmla="*/ 53 h 72"/>
              <a:gd name="T52" fmla="*/ 51 w 60"/>
              <a:gd name="T53" fmla="*/ 53 h 72"/>
              <a:gd name="T54" fmla="*/ 44 w 60"/>
              <a:gd name="T55" fmla="*/ 52 h 72"/>
              <a:gd name="T56" fmla="*/ 40 w 60"/>
              <a:gd name="T57" fmla="*/ 56 h 72"/>
              <a:gd name="T58" fmla="*/ 49 w 60"/>
              <a:gd name="T59" fmla="*/ 37 h 72"/>
              <a:gd name="T60" fmla="*/ 44 w 60"/>
              <a:gd name="T61" fmla="*/ 39 h 72"/>
              <a:gd name="T62" fmla="*/ 44 w 60"/>
              <a:gd name="T63" fmla="*/ 32 h 72"/>
              <a:gd name="T64" fmla="*/ 40 w 60"/>
              <a:gd name="T65" fmla="*/ 28 h 72"/>
              <a:gd name="T66" fmla="*/ 40 w 60"/>
              <a:gd name="T67" fmla="*/ 32 h 72"/>
              <a:gd name="T68" fmla="*/ 41 w 60"/>
              <a:gd name="T69" fmla="*/ 39 h 72"/>
              <a:gd name="T70" fmla="*/ 44 w 60"/>
              <a:gd name="T71" fmla="*/ 2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0" h="72">
                <a:moveTo>
                  <a:pt x="57" y="0"/>
                </a:moveTo>
                <a:cubicBezTo>
                  <a:pt x="3" y="0"/>
                  <a:pt x="3" y="0"/>
                  <a:pt x="3" y="0"/>
                </a:cubicBezTo>
                <a:cubicBezTo>
                  <a:pt x="2" y="0"/>
                  <a:pt x="0" y="2"/>
                  <a:pt x="0" y="3"/>
                </a:cubicBezTo>
                <a:cubicBezTo>
                  <a:pt x="0" y="69"/>
                  <a:pt x="0" y="69"/>
                  <a:pt x="0" y="69"/>
                </a:cubicBezTo>
                <a:cubicBezTo>
                  <a:pt x="0" y="71"/>
                  <a:pt x="2" y="72"/>
                  <a:pt x="3" y="72"/>
                </a:cubicBezTo>
                <a:cubicBezTo>
                  <a:pt x="57" y="72"/>
                  <a:pt x="57" y="72"/>
                  <a:pt x="57" y="72"/>
                </a:cubicBezTo>
                <a:cubicBezTo>
                  <a:pt x="59" y="72"/>
                  <a:pt x="60" y="71"/>
                  <a:pt x="60" y="69"/>
                </a:cubicBezTo>
                <a:cubicBezTo>
                  <a:pt x="60" y="3"/>
                  <a:pt x="60" y="3"/>
                  <a:pt x="60" y="3"/>
                </a:cubicBezTo>
                <a:cubicBezTo>
                  <a:pt x="60" y="2"/>
                  <a:pt x="59" y="0"/>
                  <a:pt x="57" y="0"/>
                </a:cubicBezTo>
                <a:close/>
                <a:moveTo>
                  <a:pt x="18" y="9"/>
                </a:moveTo>
                <a:cubicBezTo>
                  <a:pt x="42" y="9"/>
                  <a:pt x="42" y="9"/>
                  <a:pt x="42" y="9"/>
                </a:cubicBezTo>
                <a:cubicBezTo>
                  <a:pt x="42" y="15"/>
                  <a:pt x="42" y="15"/>
                  <a:pt x="42" y="15"/>
                </a:cubicBezTo>
                <a:cubicBezTo>
                  <a:pt x="18" y="15"/>
                  <a:pt x="18" y="15"/>
                  <a:pt x="18" y="15"/>
                </a:cubicBezTo>
                <a:lnTo>
                  <a:pt x="18" y="9"/>
                </a:lnTo>
                <a:close/>
                <a:moveTo>
                  <a:pt x="27" y="56"/>
                </a:moveTo>
                <a:cubicBezTo>
                  <a:pt x="27" y="57"/>
                  <a:pt x="26" y="59"/>
                  <a:pt x="25" y="60"/>
                </a:cubicBezTo>
                <a:cubicBezTo>
                  <a:pt x="25" y="60"/>
                  <a:pt x="25" y="60"/>
                  <a:pt x="25" y="60"/>
                </a:cubicBezTo>
                <a:cubicBezTo>
                  <a:pt x="21" y="64"/>
                  <a:pt x="16" y="64"/>
                  <a:pt x="12" y="61"/>
                </a:cubicBezTo>
                <a:cubicBezTo>
                  <a:pt x="11" y="59"/>
                  <a:pt x="10" y="58"/>
                  <a:pt x="9" y="56"/>
                </a:cubicBezTo>
                <a:cubicBezTo>
                  <a:pt x="16" y="56"/>
                  <a:pt x="16" y="56"/>
                  <a:pt x="16" y="56"/>
                </a:cubicBezTo>
                <a:cubicBezTo>
                  <a:pt x="16" y="56"/>
                  <a:pt x="16" y="56"/>
                  <a:pt x="16" y="56"/>
                </a:cubicBezTo>
                <a:cubicBezTo>
                  <a:pt x="17" y="57"/>
                  <a:pt x="19" y="57"/>
                  <a:pt x="20" y="56"/>
                </a:cubicBezTo>
                <a:cubicBezTo>
                  <a:pt x="22" y="55"/>
                  <a:pt x="22" y="53"/>
                  <a:pt x="20" y="52"/>
                </a:cubicBezTo>
                <a:cubicBezTo>
                  <a:pt x="19" y="51"/>
                  <a:pt x="17" y="51"/>
                  <a:pt x="16" y="52"/>
                </a:cubicBezTo>
                <a:cubicBezTo>
                  <a:pt x="16" y="52"/>
                  <a:pt x="16" y="52"/>
                  <a:pt x="16" y="52"/>
                </a:cubicBezTo>
                <a:cubicBezTo>
                  <a:pt x="16" y="52"/>
                  <a:pt x="16" y="52"/>
                  <a:pt x="16" y="53"/>
                </a:cubicBezTo>
                <a:cubicBezTo>
                  <a:pt x="9" y="53"/>
                  <a:pt x="9" y="53"/>
                  <a:pt x="9" y="53"/>
                </a:cubicBezTo>
                <a:cubicBezTo>
                  <a:pt x="10" y="48"/>
                  <a:pt x="15" y="44"/>
                  <a:pt x="20" y="45"/>
                </a:cubicBezTo>
                <a:cubicBezTo>
                  <a:pt x="25" y="46"/>
                  <a:pt x="28" y="51"/>
                  <a:pt x="27" y="56"/>
                </a:cubicBezTo>
                <a:close/>
                <a:moveTo>
                  <a:pt x="27" y="32"/>
                </a:moveTo>
                <a:cubicBezTo>
                  <a:pt x="27" y="34"/>
                  <a:pt x="26" y="35"/>
                  <a:pt x="25" y="37"/>
                </a:cubicBezTo>
                <a:cubicBezTo>
                  <a:pt x="25" y="37"/>
                  <a:pt x="25" y="37"/>
                  <a:pt x="25" y="37"/>
                </a:cubicBezTo>
                <a:cubicBezTo>
                  <a:pt x="21" y="40"/>
                  <a:pt x="16" y="40"/>
                  <a:pt x="12" y="37"/>
                </a:cubicBezTo>
                <a:cubicBezTo>
                  <a:pt x="8" y="33"/>
                  <a:pt x="8" y="27"/>
                  <a:pt x="12" y="24"/>
                </a:cubicBezTo>
                <a:cubicBezTo>
                  <a:pt x="13" y="23"/>
                  <a:pt x="15" y="22"/>
                  <a:pt x="17" y="21"/>
                </a:cubicBezTo>
                <a:cubicBezTo>
                  <a:pt x="17" y="28"/>
                  <a:pt x="17" y="28"/>
                  <a:pt x="17" y="28"/>
                </a:cubicBezTo>
                <a:cubicBezTo>
                  <a:pt x="17" y="28"/>
                  <a:pt x="16" y="28"/>
                  <a:pt x="16" y="28"/>
                </a:cubicBezTo>
                <a:cubicBezTo>
                  <a:pt x="15" y="29"/>
                  <a:pt x="15" y="31"/>
                  <a:pt x="16" y="32"/>
                </a:cubicBezTo>
                <a:cubicBezTo>
                  <a:pt x="17" y="33"/>
                  <a:pt x="19" y="34"/>
                  <a:pt x="20" y="32"/>
                </a:cubicBezTo>
                <a:cubicBezTo>
                  <a:pt x="22" y="31"/>
                  <a:pt x="22" y="29"/>
                  <a:pt x="20" y="28"/>
                </a:cubicBezTo>
                <a:cubicBezTo>
                  <a:pt x="20" y="28"/>
                  <a:pt x="20" y="28"/>
                  <a:pt x="20" y="28"/>
                </a:cubicBezTo>
                <a:cubicBezTo>
                  <a:pt x="20" y="28"/>
                  <a:pt x="20" y="28"/>
                  <a:pt x="20" y="28"/>
                </a:cubicBezTo>
                <a:cubicBezTo>
                  <a:pt x="20" y="21"/>
                  <a:pt x="20" y="21"/>
                  <a:pt x="20" y="21"/>
                </a:cubicBezTo>
                <a:cubicBezTo>
                  <a:pt x="25" y="22"/>
                  <a:pt x="28" y="27"/>
                  <a:pt x="27" y="32"/>
                </a:cubicBezTo>
                <a:close/>
                <a:moveTo>
                  <a:pt x="40" y="56"/>
                </a:moveTo>
                <a:cubicBezTo>
                  <a:pt x="40" y="56"/>
                  <a:pt x="40" y="56"/>
                  <a:pt x="40" y="56"/>
                </a:cubicBezTo>
                <a:cubicBezTo>
                  <a:pt x="40" y="56"/>
                  <a:pt x="40" y="56"/>
                  <a:pt x="40" y="56"/>
                </a:cubicBezTo>
                <a:cubicBezTo>
                  <a:pt x="41" y="57"/>
                  <a:pt x="43" y="57"/>
                  <a:pt x="44" y="56"/>
                </a:cubicBezTo>
                <a:cubicBezTo>
                  <a:pt x="44" y="56"/>
                  <a:pt x="45" y="56"/>
                  <a:pt x="45" y="56"/>
                </a:cubicBezTo>
                <a:cubicBezTo>
                  <a:pt x="51" y="56"/>
                  <a:pt x="51" y="56"/>
                  <a:pt x="51" y="56"/>
                </a:cubicBezTo>
                <a:cubicBezTo>
                  <a:pt x="50" y="60"/>
                  <a:pt x="46" y="64"/>
                  <a:pt x="41" y="63"/>
                </a:cubicBezTo>
                <a:cubicBezTo>
                  <a:pt x="36" y="62"/>
                  <a:pt x="33" y="57"/>
                  <a:pt x="34" y="53"/>
                </a:cubicBezTo>
                <a:cubicBezTo>
                  <a:pt x="34" y="48"/>
                  <a:pt x="39" y="44"/>
                  <a:pt x="44" y="45"/>
                </a:cubicBezTo>
                <a:cubicBezTo>
                  <a:pt x="48" y="46"/>
                  <a:pt x="51" y="49"/>
                  <a:pt x="51" y="53"/>
                </a:cubicBezTo>
                <a:cubicBezTo>
                  <a:pt x="45" y="53"/>
                  <a:pt x="45" y="53"/>
                  <a:pt x="45" y="53"/>
                </a:cubicBezTo>
                <a:cubicBezTo>
                  <a:pt x="45" y="52"/>
                  <a:pt x="44" y="52"/>
                  <a:pt x="44" y="52"/>
                </a:cubicBezTo>
                <a:cubicBezTo>
                  <a:pt x="43" y="51"/>
                  <a:pt x="41" y="51"/>
                  <a:pt x="40" y="52"/>
                </a:cubicBezTo>
                <a:cubicBezTo>
                  <a:pt x="39" y="53"/>
                  <a:pt x="39" y="55"/>
                  <a:pt x="40" y="56"/>
                </a:cubicBezTo>
                <a:close/>
                <a:moveTo>
                  <a:pt x="51" y="32"/>
                </a:moveTo>
                <a:cubicBezTo>
                  <a:pt x="51" y="34"/>
                  <a:pt x="50" y="35"/>
                  <a:pt x="49" y="37"/>
                </a:cubicBezTo>
                <a:cubicBezTo>
                  <a:pt x="49" y="37"/>
                  <a:pt x="49" y="37"/>
                  <a:pt x="49" y="37"/>
                </a:cubicBezTo>
                <a:cubicBezTo>
                  <a:pt x="47" y="38"/>
                  <a:pt x="46" y="39"/>
                  <a:pt x="44" y="39"/>
                </a:cubicBezTo>
                <a:cubicBezTo>
                  <a:pt x="44" y="33"/>
                  <a:pt x="44" y="33"/>
                  <a:pt x="44" y="33"/>
                </a:cubicBezTo>
                <a:cubicBezTo>
                  <a:pt x="44" y="33"/>
                  <a:pt x="44" y="32"/>
                  <a:pt x="44" y="32"/>
                </a:cubicBezTo>
                <a:cubicBezTo>
                  <a:pt x="46" y="31"/>
                  <a:pt x="46" y="29"/>
                  <a:pt x="44" y="28"/>
                </a:cubicBezTo>
                <a:cubicBezTo>
                  <a:pt x="43" y="27"/>
                  <a:pt x="41" y="27"/>
                  <a:pt x="40" y="28"/>
                </a:cubicBezTo>
                <a:cubicBezTo>
                  <a:pt x="39" y="29"/>
                  <a:pt x="39" y="31"/>
                  <a:pt x="40" y="32"/>
                </a:cubicBezTo>
                <a:cubicBezTo>
                  <a:pt x="40" y="32"/>
                  <a:pt x="40" y="32"/>
                  <a:pt x="40" y="32"/>
                </a:cubicBezTo>
                <a:cubicBezTo>
                  <a:pt x="40" y="32"/>
                  <a:pt x="41" y="33"/>
                  <a:pt x="41" y="33"/>
                </a:cubicBezTo>
                <a:cubicBezTo>
                  <a:pt x="41" y="39"/>
                  <a:pt x="41" y="39"/>
                  <a:pt x="41" y="39"/>
                </a:cubicBezTo>
                <a:cubicBezTo>
                  <a:pt x="36" y="38"/>
                  <a:pt x="33" y="34"/>
                  <a:pt x="33" y="29"/>
                </a:cubicBezTo>
                <a:cubicBezTo>
                  <a:pt x="34" y="24"/>
                  <a:pt x="39" y="21"/>
                  <a:pt x="44" y="21"/>
                </a:cubicBezTo>
                <a:cubicBezTo>
                  <a:pt x="49" y="22"/>
                  <a:pt x="52" y="27"/>
                  <a:pt x="51" y="3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67" name="Group 166">
            <a:extLst>
              <a:ext uri="{FF2B5EF4-FFF2-40B4-BE49-F238E27FC236}">
                <a16:creationId xmlns:a16="http://schemas.microsoft.com/office/drawing/2014/main" id="{27E3D974-1440-4EB4-802A-F14CE4971195}"/>
              </a:ext>
            </a:extLst>
          </p:cNvPr>
          <p:cNvGrpSpPr/>
          <p:nvPr/>
        </p:nvGrpSpPr>
        <p:grpSpPr>
          <a:xfrm>
            <a:off x="8528577" y="4286975"/>
            <a:ext cx="257326" cy="314096"/>
            <a:chOff x="809623" y="3703665"/>
            <a:chExt cx="107949" cy="131764"/>
          </a:xfrm>
          <a:solidFill>
            <a:schemeClr val="accent1"/>
          </a:solidFill>
        </p:grpSpPr>
        <p:sp>
          <p:nvSpPr>
            <p:cNvPr id="168" name="Freeform 134">
              <a:extLst>
                <a:ext uri="{FF2B5EF4-FFF2-40B4-BE49-F238E27FC236}">
                  <a16:creationId xmlns:a16="http://schemas.microsoft.com/office/drawing/2014/main" id="{8C6CB88D-012B-4F62-B37B-89E12B19CB88}"/>
                </a:ext>
              </a:extLst>
            </p:cNvPr>
            <p:cNvSpPr>
              <a:spLocks noEditPoints="1"/>
            </p:cNvSpPr>
            <p:nvPr/>
          </p:nvSpPr>
          <p:spPr bwMode="auto">
            <a:xfrm>
              <a:off x="809623" y="3703665"/>
              <a:ext cx="107949" cy="131764"/>
            </a:xfrm>
            <a:custGeom>
              <a:avLst/>
              <a:gdLst>
                <a:gd name="T0" fmla="*/ 59 w 60"/>
                <a:gd name="T1" fmla="*/ 13 h 73"/>
                <a:gd name="T2" fmla="*/ 47 w 60"/>
                <a:gd name="T3" fmla="*/ 1 h 73"/>
                <a:gd name="T4" fmla="*/ 45 w 60"/>
                <a:gd name="T5" fmla="*/ 0 h 73"/>
                <a:gd name="T6" fmla="*/ 3 w 60"/>
                <a:gd name="T7" fmla="*/ 0 h 73"/>
                <a:gd name="T8" fmla="*/ 0 w 60"/>
                <a:gd name="T9" fmla="*/ 3 h 73"/>
                <a:gd name="T10" fmla="*/ 0 w 60"/>
                <a:gd name="T11" fmla="*/ 69 h 73"/>
                <a:gd name="T12" fmla="*/ 3 w 60"/>
                <a:gd name="T13" fmla="*/ 73 h 73"/>
                <a:gd name="T14" fmla="*/ 57 w 60"/>
                <a:gd name="T15" fmla="*/ 73 h 73"/>
                <a:gd name="T16" fmla="*/ 60 w 60"/>
                <a:gd name="T17" fmla="*/ 69 h 73"/>
                <a:gd name="T18" fmla="*/ 60 w 60"/>
                <a:gd name="T19" fmla="*/ 15 h 73"/>
                <a:gd name="T20" fmla="*/ 59 w 60"/>
                <a:gd name="T21" fmla="*/ 13 h 73"/>
                <a:gd name="T22" fmla="*/ 30 w 60"/>
                <a:gd name="T23" fmla="*/ 18 h 73"/>
                <a:gd name="T24" fmla="*/ 42 w 60"/>
                <a:gd name="T25" fmla="*/ 27 h 73"/>
                <a:gd name="T26" fmla="*/ 30 w 60"/>
                <a:gd name="T27" fmla="*/ 36 h 73"/>
                <a:gd name="T28" fmla="*/ 18 w 60"/>
                <a:gd name="T29" fmla="*/ 27 h 73"/>
                <a:gd name="T30" fmla="*/ 30 w 60"/>
                <a:gd name="T31" fmla="*/ 18 h 73"/>
                <a:gd name="T32" fmla="*/ 12 w 60"/>
                <a:gd name="T33" fmla="*/ 42 h 73"/>
                <a:gd name="T34" fmla="*/ 33 w 60"/>
                <a:gd name="T35" fmla="*/ 42 h 73"/>
                <a:gd name="T36" fmla="*/ 33 w 60"/>
                <a:gd name="T37" fmla="*/ 48 h 73"/>
                <a:gd name="T38" fmla="*/ 12 w 60"/>
                <a:gd name="T39" fmla="*/ 48 h 73"/>
                <a:gd name="T40" fmla="*/ 12 w 60"/>
                <a:gd name="T41" fmla="*/ 42 h 73"/>
                <a:gd name="T42" fmla="*/ 27 w 60"/>
                <a:gd name="T43" fmla="*/ 60 h 73"/>
                <a:gd name="T44" fmla="*/ 12 w 60"/>
                <a:gd name="T45" fmla="*/ 60 h 73"/>
                <a:gd name="T46" fmla="*/ 12 w 60"/>
                <a:gd name="T47" fmla="*/ 54 h 73"/>
                <a:gd name="T48" fmla="*/ 27 w 60"/>
                <a:gd name="T49" fmla="*/ 54 h 73"/>
                <a:gd name="T50" fmla="*/ 27 w 60"/>
                <a:gd name="T51" fmla="*/ 60 h 73"/>
                <a:gd name="T52" fmla="*/ 48 w 60"/>
                <a:gd name="T53" fmla="*/ 60 h 73"/>
                <a:gd name="T54" fmla="*/ 33 w 60"/>
                <a:gd name="T55" fmla="*/ 60 h 73"/>
                <a:gd name="T56" fmla="*/ 33 w 60"/>
                <a:gd name="T57" fmla="*/ 54 h 73"/>
                <a:gd name="T58" fmla="*/ 48 w 60"/>
                <a:gd name="T59" fmla="*/ 54 h 73"/>
                <a:gd name="T60" fmla="*/ 48 w 60"/>
                <a:gd name="T61" fmla="*/ 60 h 73"/>
                <a:gd name="T62" fmla="*/ 48 w 60"/>
                <a:gd name="T63" fmla="*/ 48 h 73"/>
                <a:gd name="T64" fmla="*/ 39 w 60"/>
                <a:gd name="T65" fmla="*/ 48 h 73"/>
                <a:gd name="T66" fmla="*/ 39 w 60"/>
                <a:gd name="T67" fmla="*/ 42 h 73"/>
                <a:gd name="T68" fmla="*/ 48 w 60"/>
                <a:gd name="T69" fmla="*/ 42 h 73"/>
                <a:gd name="T70" fmla="*/ 48 w 60"/>
                <a:gd name="T71" fmla="*/ 48 h 73"/>
                <a:gd name="T72" fmla="*/ 48 w 60"/>
                <a:gd name="T73" fmla="*/ 15 h 73"/>
                <a:gd name="T74" fmla="*/ 45 w 60"/>
                <a:gd name="T75" fmla="*/ 12 h 73"/>
                <a:gd name="T76" fmla="*/ 45 w 60"/>
                <a:gd name="T77" fmla="*/ 3 h 73"/>
                <a:gd name="T78" fmla="*/ 57 w 60"/>
                <a:gd name="T79" fmla="*/ 15 h 73"/>
                <a:gd name="T80" fmla="*/ 48 w 60"/>
                <a:gd name="T81" fmla="*/ 1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73">
                  <a:moveTo>
                    <a:pt x="59" y="13"/>
                  </a:moveTo>
                  <a:cubicBezTo>
                    <a:pt x="47" y="1"/>
                    <a:pt x="47" y="1"/>
                    <a:pt x="47" y="1"/>
                  </a:cubicBezTo>
                  <a:cubicBezTo>
                    <a:pt x="47" y="0"/>
                    <a:pt x="46" y="0"/>
                    <a:pt x="45" y="0"/>
                  </a:cubicBezTo>
                  <a:cubicBezTo>
                    <a:pt x="3" y="0"/>
                    <a:pt x="3" y="0"/>
                    <a:pt x="3" y="0"/>
                  </a:cubicBezTo>
                  <a:cubicBezTo>
                    <a:pt x="1" y="0"/>
                    <a:pt x="0" y="1"/>
                    <a:pt x="0" y="3"/>
                  </a:cubicBezTo>
                  <a:cubicBezTo>
                    <a:pt x="0" y="69"/>
                    <a:pt x="0" y="69"/>
                    <a:pt x="0" y="69"/>
                  </a:cubicBezTo>
                  <a:cubicBezTo>
                    <a:pt x="0" y="71"/>
                    <a:pt x="1" y="73"/>
                    <a:pt x="3" y="73"/>
                  </a:cubicBezTo>
                  <a:cubicBezTo>
                    <a:pt x="57" y="73"/>
                    <a:pt x="57" y="73"/>
                    <a:pt x="57" y="73"/>
                  </a:cubicBezTo>
                  <a:cubicBezTo>
                    <a:pt x="59" y="73"/>
                    <a:pt x="60" y="71"/>
                    <a:pt x="60" y="69"/>
                  </a:cubicBezTo>
                  <a:cubicBezTo>
                    <a:pt x="60" y="15"/>
                    <a:pt x="60" y="15"/>
                    <a:pt x="60" y="15"/>
                  </a:cubicBezTo>
                  <a:cubicBezTo>
                    <a:pt x="60" y="14"/>
                    <a:pt x="60" y="13"/>
                    <a:pt x="59" y="13"/>
                  </a:cubicBezTo>
                  <a:close/>
                  <a:moveTo>
                    <a:pt x="30" y="18"/>
                  </a:moveTo>
                  <a:cubicBezTo>
                    <a:pt x="39" y="18"/>
                    <a:pt x="42" y="27"/>
                    <a:pt x="42" y="27"/>
                  </a:cubicBezTo>
                  <a:cubicBezTo>
                    <a:pt x="42" y="27"/>
                    <a:pt x="39" y="36"/>
                    <a:pt x="30" y="36"/>
                  </a:cubicBezTo>
                  <a:cubicBezTo>
                    <a:pt x="21" y="36"/>
                    <a:pt x="18" y="27"/>
                    <a:pt x="18" y="27"/>
                  </a:cubicBezTo>
                  <a:cubicBezTo>
                    <a:pt x="18" y="27"/>
                    <a:pt x="21" y="18"/>
                    <a:pt x="30" y="18"/>
                  </a:cubicBezTo>
                  <a:close/>
                  <a:moveTo>
                    <a:pt x="12" y="42"/>
                  </a:moveTo>
                  <a:cubicBezTo>
                    <a:pt x="33" y="42"/>
                    <a:pt x="33" y="42"/>
                    <a:pt x="33" y="42"/>
                  </a:cubicBezTo>
                  <a:cubicBezTo>
                    <a:pt x="33" y="48"/>
                    <a:pt x="33" y="48"/>
                    <a:pt x="33" y="48"/>
                  </a:cubicBezTo>
                  <a:cubicBezTo>
                    <a:pt x="12" y="48"/>
                    <a:pt x="12" y="48"/>
                    <a:pt x="12" y="48"/>
                  </a:cubicBezTo>
                  <a:lnTo>
                    <a:pt x="12" y="42"/>
                  </a:lnTo>
                  <a:close/>
                  <a:moveTo>
                    <a:pt x="27" y="60"/>
                  </a:moveTo>
                  <a:cubicBezTo>
                    <a:pt x="12" y="60"/>
                    <a:pt x="12" y="60"/>
                    <a:pt x="12" y="60"/>
                  </a:cubicBezTo>
                  <a:cubicBezTo>
                    <a:pt x="12" y="54"/>
                    <a:pt x="12" y="54"/>
                    <a:pt x="12" y="54"/>
                  </a:cubicBezTo>
                  <a:cubicBezTo>
                    <a:pt x="27" y="54"/>
                    <a:pt x="27" y="54"/>
                    <a:pt x="27" y="54"/>
                  </a:cubicBezTo>
                  <a:cubicBezTo>
                    <a:pt x="27" y="60"/>
                    <a:pt x="27" y="60"/>
                    <a:pt x="27" y="60"/>
                  </a:cubicBezTo>
                  <a:close/>
                  <a:moveTo>
                    <a:pt x="48" y="60"/>
                  </a:moveTo>
                  <a:cubicBezTo>
                    <a:pt x="33" y="60"/>
                    <a:pt x="33" y="60"/>
                    <a:pt x="33" y="60"/>
                  </a:cubicBezTo>
                  <a:cubicBezTo>
                    <a:pt x="33" y="54"/>
                    <a:pt x="33" y="54"/>
                    <a:pt x="33" y="54"/>
                  </a:cubicBezTo>
                  <a:cubicBezTo>
                    <a:pt x="48" y="54"/>
                    <a:pt x="48" y="54"/>
                    <a:pt x="48" y="54"/>
                  </a:cubicBezTo>
                  <a:lnTo>
                    <a:pt x="48" y="60"/>
                  </a:lnTo>
                  <a:close/>
                  <a:moveTo>
                    <a:pt x="48" y="48"/>
                  </a:moveTo>
                  <a:cubicBezTo>
                    <a:pt x="39" y="48"/>
                    <a:pt x="39" y="48"/>
                    <a:pt x="39" y="48"/>
                  </a:cubicBezTo>
                  <a:cubicBezTo>
                    <a:pt x="39" y="42"/>
                    <a:pt x="39" y="42"/>
                    <a:pt x="39" y="42"/>
                  </a:cubicBezTo>
                  <a:cubicBezTo>
                    <a:pt x="48" y="42"/>
                    <a:pt x="48" y="42"/>
                    <a:pt x="48" y="42"/>
                  </a:cubicBezTo>
                  <a:lnTo>
                    <a:pt x="48" y="48"/>
                  </a:lnTo>
                  <a:close/>
                  <a:moveTo>
                    <a:pt x="48" y="15"/>
                  </a:moveTo>
                  <a:cubicBezTo>
                    <a:pt x="46" y="15"/>
                    <a:pt x="45" y="13"/>
                    <a:pt x="45" y="12"/>
                  </a:cubicBezTo>
                  <a:cubicBezTo>
                    <a:pt x="45" y="3"/>
                    <a:pt x="45" y="3"/>
                    <a:pt x="45" y="3"/>
                  </a:cubicBezTo>
                  <a:cubicBezTo>
                    <a:pt x="57" y="15"/>
                    <a:pt x="57" y="15"/>
                    <a:pt x="57" y="15"/>
                  </a:cubicBezTo>
                  <a:lnTo>
                    <a:pt x="48"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9" name="Oval 135">
              <a:extLst>
                <a:ext uri="{FF2B5EF4-FFF2-40B4-BE49-F238E27FC236}">
                  <a16:creationId xmlns:a16="http://schemas.microsoft.com/office/drawing/2014/main" id="{880659B0-95F3-4404-AD69-EDFEBDC0355C}"/>
                </a:ext>
              </a:extLst>
            </p:cNvPr>
            <p:cNvSpPr>
              <a:spLocks noChangeArrowheads="1"/>
            </p:cNvSpPr>
            <p:nvPr/>
          </p:nvSpPr>
          <p:spPr bwMode="auto">
            <a:xfrm>
              <a:off x="855660" y="3743352"/>
              <a:ext cx="17462" cy="190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70" name="Group 169">
            <a:extLst>
              <a:ext uri="{FF2B5EF4-FFF2-40B4-BE49-F238E27FC236}">
                <a16:creationId xmlns:a16="http://schemas.microsoft.com/office/drawing/2014/main" id="{A8FAC050-C048-4427-A2A5-FE75238FB1EF}"/>
              </a:ext>
            </a:extLst>
          </p:cNvPr>
          <p:cNvGrpSpPr/>
          <p:nvPr/>
        </p:nvGrpSpPr>
        <p:grpSpPr>
          <a:xfrm>
            <a:off x="7620466" y="4305590"/>
            <a:ext cx="317505" cy="317510"/>
            <a:chOff x="1149345" y="3716365"/>
            <a:chExt cx="120649" cy="120651"/>
          </a:xfrm>
          <a:solidFill>
            <a:schemeClr val="accent1"/>
          </a:solidFill>
        </p:grpSpPr>
        <p:sp>
          <p:nvSpPr>
            <p:cNvPr id="171" name="Freeform 136">
              <a:extLst>
                <a:ext uri="{FF2B5EF4-FFF2-40B4-BE49-F238E27FC236}">
                  <a16:creationId xmlns:a16="http://schemas.microsoft.com/office/drawing/2014/main" id="{EBBAA48C-6EC5-4DC6-8BAA-E9AE3C2879BF}"/>
                </a:ext>
              </a:extLst>
            </p:cNvPr>
            <p:cNvSpPr>
              <a:spLocks/>
            </p:cNvSpPr>
            <p:nvPr/>
          </p:nvSpPr>
          <p:spPr bwMode="auto">
            <a:xfrm>
              <a:off x="1149345" y="3781453"/>
              <a:ext cx="55562" cy="55563"/>
            </a:xfrm>
            <a:custGeom>
              <a:avLst/>
              <a:gdLst>
                <a:gd name="T0" fmla="*/ 10 w 31"/>
                <a:gd name="T1" fmla="*/ 0 h 31"/>
                <a:gd name="T2" fmla="*/ 4 w 31"/>
                <a:gd name="T3" fmla="*/ 6 h 31"/>
                <a:gd name="T4" fmla="*/ 0 w 31"/>
                <a:gd name="T5" fmla="*/ 16 h 31"/>
                <a:gd name="T6" fmla="*/ 4 w 31"/>
                <a:gd name="T7" fmla="*/ 27 h 31"/>
                <a:gd name="T8" fmla="*/ 15 w 31"/>
                <a:gd name="T9" fmla="*/ 31 h 31"/>
                <a:gd name="T10" fmla="*/ 25 w 31"/>
                <a:gd name="T11" fmla="*/ 27 h 31"/>
                <a:gd name="T12" fmla="*/ 31 w 31"/>
                <a:gd name="T13" fmla="*/ 21 h 31"/>
                <a:gd name="T14" fmla="*/ 10 w 31"/>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1">
                  <a:moveTo>
                    <a:pt x="10" y="0"/>
                  </a:moveTo>
                  <a:cubicBezTo>
                    <a:pt x="4" y="6"/>
                    <a:pt x="4" y="6"/>
                    <a:pt x="4" y="6"/>
                  </a:cubicBezTo>
                  <a:cubicBezTo>
                    <a:pt x="2" y="9"/>
                    <a:pt x="0" y="13"/>
                    <a:pt x="0" y="16"/>
                  </a:cubicBezTo>
                  <a:cubicBezTo>
                    <a:pt x="0" y="20"/>
                    <a:pt x="2" y="24"/>
                    <a:pt x="4" y="27"/>
                  </a:cubicBezTo>
                  <a:cubicBezTo>
                    <a:pt x="7" y="29"/>
                    <a:pt x="11" y="31"/>
                    <a:pt x="15" y="31"/>
                  </a:cubicBezTo>
                  <a:cubicBezTo>
                    <a:pt x="18" y="31"/>
                    <a:pt x="22" y="29"/>
                    <a:pt x="25" y="27"/>
                  </a:cubicBezTo>
                  <a:cubicBezTo>
                    <a:pt x="31" y="21"/>
                    <a:pt x="31" y="21"/>
                    <a:pt x="31" y="21"/>
                  </a:cubicBez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2" name="Freeform 137">
              <a:extLst>
                <a:ext uri="{FF2B5EF4-FFF2-40B4-BE49-F238E27FC236}">
                  <a16:creationId xmlns:a16="http://schemas.microsoft.com/office/drawing/2014/main" id="{C5DE098C-A15C-4834-A363-99F8E01510ED}"/>
                </a:ext>
              </a:extLst>
            </p:cNvPr>
            <p:cNvSpPr>
              <a:spLocks/>
            </p:cNvSpPr>
            <p:nvPr/>
          </p:nvSpPr>
          <p:spPr bwMode="auto">
            <a:xfrm>
              <a:off x="1214432" y="3716365"/>
              <a:ext cx="55562" cy="55563"/>
            </a:xfrm>
            <a:custGeom>
              <a:avLst/>
              <a:gdLst>
                <a:gd name="T0" fmla="*/ 27 w 31"/>
                <a:gd name="T1" fmla="*/ 4 h 31"/>
                <a:gd name="T2" fmla="*/ 16 w 31"/>
                <a:gd name="T3" fmla="*/ 0 h 31"/>
                <a:gd name="T4" fmla="*/ 6 w 31"/>
                <a:gd name="T5" fmla="*/ 4 h 31"/>
                <a:gd name="T6" fmla="*/ 0 w 31"/>
                <a:gd name="T7" fmla="*/ 10 h 31"/>
                <a:gd name="T8" fmla="*/ 21 w 31"/>
                <a:gd name="T9" fmla="*/ 31 h 31"/>
                <a:gd name="T10" fmla="*/ 27 w 31"/>
                <a:gd name="T11" fmla="*/ 25 h 31"/>
                <a:gd name="T12" fmla="*/ 31 w 31"/>
                <a:gd name="T13" fmla="*/ 15 h 31"/>
                <a:gd name="T14" fmla="*/ 27 w 31"/>
                <a:gd name="T15" fmla="*/ 4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1">
                  <a:moveTo>
                    <a:pt x="27" y="4"/>
                  </a:moveTo>
                  <a:cubicBezTo>
                    <a:pt x="24" y="2"/>
                    <a:pt x="20" y="0"/>
                    <a:pt x="16" y="0"/>
                  </a:cubicBezTo>
                  <a:cubicBezTo>
                    <a:pt x="13" y="0"/>
                    <a:pt x="9" y="2"/>
                    <a:pt x="6" y="4"/>
                  </a:cubicBezTo>
                  <a:cubicBezTo>
                    <a:pt x="0" y="10"/>
                    <a:pt x="0" y="10"/>
                    <a:pt x="0" y="10"/>
                  </a:cubicBezTo>
                  <a:cubicBezTo>
                    <a:pt x="21" y="31"/>
                    <a:pt x="21" y="31"/>
                    <a:pt x="21" y="31"/>
                  </a:cubicBezTo>
                  <a:cubicBezTo>
                    <a:pt x="27" y="25"/>
                    <a:pt x="27" y="25"/>
                    <a:pt x="27" y="25"/>
                  </a:cubicBezTo>
                  <a:cubicBezTo>
                    <a:pt x="29" y="22"/>
                    <a:pt x="31" y="18"/>
                    <a:pt x="31" y="15"/>
                  </a:cubicBezTo>
                  <a:cubicBezTo>
                    <a:pt x="31" y="11"/>
                    <a:pt x="29" y="7"/>
                    <a:pt x="2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3" name="Freeform 138">
              <a:extLst>
                <a:ext uri="{FF2B5EF4-FFF2-40B4-BE49-F238E27FC236}">
                  <a16:creationId xmlns:a16="http://schemas.microsoft.com/office/drawing/2014/main" id="{CDF25C0C-D503-42EB-829D-80C41859E97F}"/>
                </a:ext>
              </a:extLst>
            </p:cNvPr>
            <p:cNvSpPr>
              <a:spLocks noEditPoints="1"/>
            </p:cNvSpPr>
            <p:nvPr/>
          </p:nvSpPr>
          <p:spPr bwMode="auto">
            <a:xfrm>
              <a:off x="1173158" y="3740177"/>
              <a:ext cx="74612" cy="73026"/>
            </a:xfrm>
            <a:custGeom>
              <a:avLst/>
              <a:gdLst>
                <a:gd name="T0" fmla="*/ 21 w 41"/>
                <a:gd name="T1" fmla="*/ 0 h 41"/>
                <a:gd name="T2" fmla="*/ 0 w 41"/>
                <a:gd name="T3" fmla="*/ 21 h 41"/>
                <a:gd name="T4" fmla="*/ 21 w 41"/>
                <a:gd name="T5" fmla="*/ 41 h 41"/>
                <a:gd name="T6" fmla="*/ 41 w 41"/>
                <a:gd name="T7" fmla="*/ 21 h 41"/>
                <a:gd name="T8" fmla="*/ 21 w 41"/>
                <a:gd name="T9" fmla="*/ 0 h 41"/>
                <a:gd name="T10" fmla="*/ 11 w 41"/>
                <a:gd name="T11" fmla="*/ 22 h 41"/>
                <a:gd name="T12" fmla="*/ 8 w 41"/>
                <a:gd name="T13" fmla="*/ 22 h 41"/>
                <a:gd name="T14" fmla="*/ 8 w 41"/>
                <a:gd name="T15" fmla="*/ 19 h 41"/>
                <a:gd name="T16" fmla="*/ 11 w 41"/>
                <a:gd name="T17" fmla="*/ 19 h 41"/>
                <a:gd name="T18" fmla="*/ 11 w 41"/>
                <a:gd name="T19" fmla="*/ 22 h 41"/>
                <a:gd name="T20" fmla="*/ 22 w 41"/>
                <a:gd name="T21" fmla="*/ 33 h 41"/>
                <a:gd name="T22" fmla="*/ 19 w 41"/>
                <a:gd name="T23" fmla="*/ 33 h 41"/>
                <a:gd name="T24" fmla="*/ 19 w 41"/>
                <a:gd name="T25" fmla="*/ 30 h 41"/>
                <a:gd name="T26" fmla="*/ 22 w 41"/>
                <a:gd name="T27" fmla="*/ 30 h 41"/>
                <a:gd name="T28" fmla="*/ 22 w 41"/>
                <a:gd name="T29" fmla="*/ 33 h 41"/>
                <a:gd name="T30" fmla="*/ 22 w 41"/>
                <a:gd name="T31" fmla="*/ 22 h 41"/>
                <a:gd name="T32" fmla="*/ 19 w 41"/>
                <a:gd name="T33" fmla="*/ 22 h 41"/>
                <a:gd name="T34" fmla="*/ 19 w 41"/>
                <a:gd name="T35" fmla="*/ 19 h 41"/>
                <a:gd name="T36" fmla="*/ 22 w 41"/>
                <a:gd name="T37" fmla="*/ 19 h 41"/>
                <a:gd name="T38" fmla="*/ 22 w 41"/>
                <a:gd name="T39" fmla="*/ 22 h 41"/>
                <a:gd name="T40" fmla="*/ 22 w 41"/>
                <a:gd name="T41" fmla="*/ 11 h 41"/>
                <a:gd name="T42" fmla="*/ 19 w 41"/>
                <a:gd name="T43" fmla="*/ 11 h 41"/>
                <a:gd name="T44" fmla="*/ 19 w 41"/>
                <a:gd name="T45" fmla="*/ 8 h 41"/>
                <a:gd name="T46" fmla="*/ 22 w 41"/>
                <a:gd name="T47" fmla="*/ 8 h 41"/>
                <a:gd name="T48" fmla="*/ 22 w 41"/>
                <a:gd name="T49" fmla="*/ 11 h 41"/>
                <a:gd name="T50" fmla="*/ 30 w 41"/>
                <a:gd name="T51" fmla="*/ 22 h 41"/>
                <a:gd name="T52" fmla="*/ 30 w 41"/>
                <a:gd name="T53" fmla="*/ 19 h 41"/>
                <a:gd name="T54" fmla="*/ 33 w 41"/>
                <a:gd name="T55" fmla="*/ 19 h 41"/>
                <a:gd name="T56" fmla="*/ 33 w 41"/>
                <a:gd name="T57" fmla="*/ 22 h 41"/>
                <a:gd name="T58" fmla="*/ 30 w 41"/>
                <a:gd name="T59" fmla="*/ 2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1" h="41">
                  <a:moveTo>
                    <a:pt x="21" y="0"/>
                  </a:moveTo>
                  <a:cubicBezTo>
                    <a:pt x="0" y="21"/>
                    <a:pt x="0" y="21"/>
                    <a:pt x="0" y="21"/>
                  </a:cubicBezTo>
                  <a:cubicBezTo>
                    <a:pt x="21" y="41"/>
                    <a:pt x="21" y="41"/>
                    <a:pt x="21" y="41"/>
                  </a:cubicBezTo>
                  <a:cubicBezTo>
                    <a:pt x="41" y="21"/>
                    <a:pt x="41" y="21"/>
                    <a:pt x="41" y="21"/>
                  </a:cubicBezTo>
                  <a:lnTo>
                    <a:pt x="21" y="0"/>
                  </a:lnTo>
                  <a:close/>
                  <a:moveTo>
                    <a:pt x="11" y="22"/>
                  </a:moveTo>
                  <a:cubicBezTo>
                    <a:pt x="10" y="23"/>
                    <a:pt x="9" y="23"/>
                    <a:pt x="8" y="22"/>
                  </a:cubicBezTo>
                  <a:cubicBezTo>
                    <a:pt x="8" y="21"/>
                    <a:pt x="8" y="20"/>
                    <a:pt x="8" y="19"/>
                  </a:cubicBezTo>
                  <a:cubicBezTo>
                    <a:pt x="9" y="18"/>
                    <a:pt x="10" y="18"/>
                    <a:pt x="11" y="19"/>
                  </a:cubicBezTo>
                  <a:cubicBezTo>
                    <a:pt x="12" y="20"/>
                    <a:pt x="12" y="21"/>
                    <a:pt x="11" y="22"/>
                  </a:cubicBezTo>
                  <a:close/>
                  <a:moveTo>
                    <a:pt x="22" y="33"/>
                  </a:moveTo>
                  <a:cubicBezTo>
                    <a:pt x="21" y="33"/>
                    <a:pt x="20" y="33"/>
                    <a:pt x="19" y="33"/>
                  </a:cubicBezTo>
                  <a:cubicBezTo>
                    <a:pt x="18" y="32"/>
                    <a:pt x="18" y="31"/>
                    <a:pt x="19" y="30"/>
                  </a:cubicBezTo>
                  <a:cubicBezTo>
                    <a:pt x="20" y="29"/>
                    <a:pt x="21" y="29"/>
                    <a:pt x="22" y="30"/>
                  </a:cubicBezTo>
                  <a:cubicBezTo>
                    <a:pt x="23" y="31"/>
                    <a:pt x="23" y="32"/>
                    <a:pt x="22" y="33"/>
                  </a:cubicBezTo>
                  <a:close/>
                  <a:moveTo>
                    <a:pt x="22" y="22"/>
                  </a:moveTo>
                  <a:cubicBezTo>
                    <a:pt x="21" y="23"/>
                    <a:pt x="20" y="23"/>
                    <a:pt x="19" y="22"/>
                  </a:cubicBezTo>
                  <a:cubicBezTo>
                    <a:pt x="18" y="21"/>
                    <a:pt x="18" y="20"/>
                    <a:pt x="19" y="19"/>
                  </a:cubicBezTo>
                  <a:cubicBezTo>
                    <a:pt x="20" y="18"/>
                    <a:pt x="21" y="18"/>
                    <a:pt x="22" y="19"/>
                  </a:cubicBezTo>
                  <a:cubicBezTo>
                    <a:pt x="23" y="20"/>
                    <a:pt x="23" y="21"/>
                    <a:pt x="22" y="22"/>
                  </a:cubicBezTo>
                  <a:close/>
                  <a:moveTo>
                    <a:pt x="22" y="11"/>
                  </a:moveTo>
                  <a:cubicBezTo>
                    <a:pt x="21" y="12"/>
                    <a:pt x="20" y="12"/>
                    <a:pt x="19" y="11"/>
                  </a:cubicBezTo>
                  <a:cubicBezTo>
                    <a:pt x="18" y="10"/>
                    <a:pt x="18" y="9"/>
                    <a:pt x="19" y="8"/>
                  </a:cubicBezTo>
                  <a:cubicBezTo>
                    <a:pt x="20" y="8"/>
                    <a:pt x="21" y="8"/>
                    <a:pt x="22" y="8"/>
                  </a:cubicBezTo>
                  <a:cubicBezTo>
                    <a:pt x="23" y="9"/>
                    <a:pt x="23" y="10"/>
                    <a:pt x="22" y="11"/>
                  </a:cubicBezTo>
                  <a:close/>
                  <a:moveTo>
                    <a:pt x="30" y="22"/>
                  </a:moveTo>
                  <a:cubicBezTo>
                    <a:pt x="29" y="21"/>
                    <a:pt x="29" y="20"/>
                    <a:pt x="30" y="19"/>
                  </a:cubicBezTo>
                  <a:cubicBezTo>
                    <a:pt x="31" y="18"/>
                    <a:pt x="32" y="18"/>
                    <a:pt x="33" y="19"/>
                  </a:cubicBezTo>
                  <a:cubicBezTo>
                    <a:pt x="33" y="20"/>
                    <a:pt x="33" y="21"/>
                    <a:pt x="33" y="22"/>
                  </a:cubicBezTo>
                  <a:cubicBezTo>
                    <a:pt x="32" y="23"/>
                    <a:pt x="31" y="23"/>
                    <a:pt x="30"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74" name="Group 173">
            <a:extLst>
              <a:ext uri="{FF2B5EF4-FFF2-40B4-BE49-F238E27FC236}">
                <a16:creationId xmlns:a16="http://schemas.microsoft.com/office/drawing/2014/main" id="{99D91F32-C2AD-4581-A592-FCC2407EF834}"/>
              </a:ext>
            </a:extLst>
          </p:cNvPr>
          <p:cNvGrpSpPr/>
          <p:nvPr/>
        </p:nvGrpSpPr>
        <p:grpSpPr>
          <a:xfrm>
            <a:off x="4961413" y="4361878"/>
            <a:ext cx="254079" cy="240886"/>
            <a:chOff x="1493830" y="3716365"/>
            <a:chExt cx="122236" cy="115889"/>
          </a:xfrm>
          <a:solidFill>
            <a:schemeClr val="accent1"/>
          </a:solidFill>
        </p:grpSpPr>
        <p:sp>
          <p:nvSpPr>
            <p:cNvPr id="175" name="Freeform 139">
              <a:extLst>
                <a:ext uri="{FF2B5EF4-FFF2-40B4-BE49-F238E27FC236}">
                  <a16:creationId xmlns:a16="http://schemas.microsoft.com/office/drawing/2014/main" id="{F1B31055-B046-4211-B2AC-77D49AC98810}"/>
                </a:ext>
              </a:extLst>
            </p:cNvPr>
            <p:cNvSpPr>
              <a:spLocks/>
            </p:cNvSpPr>
            <p:nvPr/>
          </p:nvSpPr>
          <p:spPr bwMode="auto">
            <a:xfrm>
              <a:off x="1493830" y="3738590"/>
              <a:ext cx="30162" cy="34925"/>
            </a:xfrm>
            <a:custGeom>
              <a:avLst/>
              <a:gdLst>
                <a:gd name="T0" fmla="*/ 1 w 17"/>
                <a:gd name="T1" fmla="*/ 4 h 20"/>
                <a:gd name="T2" fmla="*/ 2 w 17"/>
                <a:gd name="T3" fmla="*/ 7 h 20"/>
                <a:gd name="T4" fmla="*/ 2 w 17"/>
                <a:gd name="T5" fmla="*/ 20 h 20"/>
                <a:gd name="T6" fmla="*/ 14 w 17"/>
                <a:gd name="T7" fmla="*/ 11 h 20"/>
                <a:gd name="T8" fmla="*/ 14 w 17"/>
                <a:gd name="T9" fmla="*/ 7 h 20"/>
                <a:gd name="T10" fmla="*/ 15 w 17"/>
                <a:gd name="T11" fmla="*/ 4 h 20"/>
                <a:gd name="T12" fmla="*/ 17 w 17"/>
                <a:gd name="T13" fmla="*/ 0 h 20"/>
                <a:gd name="T14" fmla="*/ 0 w 17"/>
                <a:gd name="T15" fmla="*/ 0 h 20"/>
                <a:gd name="T16" fmla="*/ 1 w 17"/>
                <a:gd name="T17"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0">
                  <a:moveTo>
                    <a:pt x="1" y="4"/>
                  </a:moveTo>
                  <a:cubicBezTo>
                    <a:pt x="2" y="5"/>
                    <a:pt x="2" y="6"/>
                    <a:pt x="2" y="7"/>
                  </a:cubicBezTo>
                  <a:cubicBezTo>
                    <a:pt x="2" y="20"/>
                    <a:pt x="2" y="20"/>
                    <a:pt x="2" y="20"/>
                  </a:cubicBezTo>
                  <a:cubicBezTo>
                    <a:pt x="14" y="11"/>
                    <a:pt x="14" y="11"/>
                    <a:pt x="14" y="11"/>
                  </a:cubicBezTo>
                  <a:cubicBezTo>
                    <a:pt x="14" y="7"/>
                    <a:pt x="14" y="7"/>
                    <a:pt x="14" y="7"/>
                  </a:cubicBezTo>
                  <a:cubicBezTo>
                    <a:pt x="14" y="6"/>
                    <a:pt x="15" y="5"/>
                    <a:pt x="15" y="4"/>
                  </a:cubicBezTo>
                  <a:cubicBezTo>
                    <a:pt x="17" y="0"/>
                    <a:pt x="17" y="0"/>
                    <a:pt x="17" y="0"/>
                  </a:cubicBezTo>
                  <a:cubicBezTo>
                    <a:pt x="0" y="0"/>
                    <a:pt x="0" y="0"/>
                    <a:pt x="0" y="0"/>
                  </a:cubicBezTo>
                  <a:lnTo>
                    <a:pt x="1"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6" name="Freeform 140">
              <a:extLst>
                <a:ext uri="{FF2B5EF4-FFF2-40B4-BE49-F238E27FC236}">
                  <a16:creationId xmlns:a16="http://schemas.microsoft.com/office/drawing/2014/main" id="{D0EE38F9-5163-4230-B93D-FD06759B83E1}"/>
                </a:ext>
              </a:extLst>
            </p:cNvPr>
            <p:cNvSpPr>
              <a:spLocks/>
            </p:cNvSpPr>
            <p:nvPr/>
          </p:nvSpPr>
          <p:spPr bwMode="auto">
            <a:xfrm>
              <a:off x="1497005" y="3765578"/>
              <a:ext cx="20637" cy="66676"/>
            </a:xfrm>
            <a:custGeom>
              <a:avLst/>
              <a:gdLst>
                <a:gd name="T0" fmla="*/ 0 w 12"/>
                <a:gd name="T1" fmla="*/ 31 h 37"/>
                <a:gd name="T2" fmla="*/ 6 w 12"/>
                <a:gd name="T3" fmla="*/ 37 h 37"/>
                <a:gd name="T4" fmla="*/ 12 w 12"/>
                <a:gd name="T5" fmla="*/ 31 h 37"/>
                <a:gd name="T6" fmla="*/ 12 w 12"/>
                <a:gd name="T7" fmla="*/ 0 h 37"/>
                <a:gd name="T8" fmla="*/ 0 w 12"/>
                <a:gd name="T9" fmla="*/ 9 h 37"/>
                <a:gd name="T10" fmla="*/ 0 w 12"/>
                <a:gd name="T11" fmla="*/ 31 h 37"/>
              </a:gdLst>
              <a:ahLst/>
              <a:cxnLst>
                <a:cxn ang="0">
                  <a:pos x="T0" y="T1"/>
                </a:cxn>
                <a:cxn ang="0">
                  <a:pos x="T2" y="T3"/>
                </a:cxn>
                <a:cxn ang="0">
                  <a:pos x="T4" y="T5"/>
                </a:cxn>
                <a:cxn ang="0">
                  <a:pos x="T6" y="T7"/>
                </a:cxn>
                <a:cxn ang="0">
                  <a:pos x="T8" y="T9"/>
                </a:cxn>
                <a:cxn ang="0">
                  <a:pos x="T10" y="T11"/>
                </a:cxn>
              </a:cxnLst>
              <a:rect l="0" t="0" r="r" b="b"/>
              <a:pathLst>
                <a:path w="12" h="37">
                  <a:moveTo>
                    <a:pt x="0" y="31"/>
                  </a:moveTo>
                  <a:cubicBezTo>
                    <a:pt x="0" y="34"/>
                    <a:pt x="3" y="37"/>
                    <a:pt x="6" y="37"/>
                  </a:cubicBezTo>
                  <a:cubicBezTo>
                    <a:pt x="10" y="37"/>
                    <a:pt x="12" y="34"/>
                    <a:pt x="12" y="31"/>
                  </a:cubicBezTo>
                  <a:cubicBezTo>
                    <a:pt x="12" y="0"/>
                    <a:pt x="12" y="0"/>
                    <a:pt x="12" y="0"/>
                  </a:cubicBezTo>
                  <a:cubicBezTo>
                    <a:pt x="0" y="9"/>
                    <a:pt x="0" y="9"/>
                    <a:pt x="0" y="9"/>
                  </a:cubicBezTo>
                  <a:lnTo>
                    <a:pt x="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7" name="Freeform 141">
              <a:extLst>
                <a:ext uri="{FF2B5EF4-FFF2-40B4-BE49-F238E27FC236}">
                  <a16:creationId xmlns:a16="http://schemas.microsoft.com/office/drawing/2014/main" id="{B6B67799-7D2B-4D8D-BC2C-E00A15ED98C0}"/>
                </a:ext>
              </a:extLst>
            </p:cNvPr>
            <p:cNvSpPr>
              <a:spLocks/>
            </p:cNvSpPr>
            <p:nvPr/>
          </p:nvSpPr>
          <p:spPr bwMode="auto">
            <a:xfrm>
              <a:off x="1557330" y="3730652"/>
              <a:ext cx="39687" cy="58738"/>
            </a:xfrm>
            <a:custGeom>
              <a:avLst/>
              <a:gdLst>
                <a:gd name="T0" fmla="*/ 20 w 22"/>
                <a:gd name="T1" fmla="*/ 27 h 32"/>
                <a:gd name="T2" fmla="*/ 17 w 22"/>
                <a:gd name="T3" fmla="*/ 14 h 32"/>
                <a:gd name="T4" fmla="*/ 17 w 22"/>
                <a:gd name="T5" fmla="*/ 0 h 32"/>
                <a:gd name="T6" fmla="*/ 5 w 22"/>
                <a:gd name="T7" fmla="*/ 0 h 32"/>
                <a:gd name="T8" fmla="*/ 5 w 22"/>
                <a:gd name="T9" fmla="*/ 14 h 32"/>
                <a:gd name="T10" fmla="*/ 2 w 22"/>
                <a:gd name="T11" fmla="*/ 27 h 32"/>
                <a:gd name="T12" fmla="*/ 0 w 22"/>
                <a:gd name="T13" fmla="*/ 32 h 32"/>
                <a:gd name="T14" fmla="*/ 22 w 22"/>
                <a:gd name="T15" fmla="*/ 32 h 32"/>
                <a:gd name="T16" fmla="*/ 20 w 22"/>
                <a:gd name="T17" fmla="*/ 27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2">
                  <a:moveTo>
                    <a:pt x="20" y="27"/>
                  </a:moveTo>
                  <a:cubicBezTo>
                    <a:pt x="18" y="23"/>
                    <a:pt x="17" y="19"/>
                    <a:pt x="17" y="14"/>
                  </a:cubicBezTo>
                  <a:cubicBezTo>
                    <a:pt x="17" y="0"/>
                    <a:pt x="17" y="0"/>
                    <a:pt x="17" y="0"/>
                  </a:cubicBezTo>
                  <a:cubicBezTo>
                    <a:pt x="5" y="0"/>
                    <a:pt x="5" y="0"/>
                    <a:pt x="5" y="0"/>
                  </a:cubicBezTo>
                  <a:cubicBezTo>
                    <a:pt x="5" y="14"/>
                    <a:pt x="5" y="14"/>
                    <a:pt x="5" y="14"/>
                  </a:cubicBezTo>
                  <a:cubicBezTo>
                    <a:pt x="5" y="19"/>
                    <a:pt x="4" y="23"/>
                    <a:pt x="2" y="27"/>
                  </a:cubicBezTo>
                  <a:cubicBezTo>
                    <a:pt x="0" y="32"/>
                    <a:pt x="0" y="32"/>
                    <a:pt x="0" y="32"/>
                  </a:cubicBezTo>
                  <a:cubicBezTo>
                    <a:pt x="22" y="32"/>
                    <a:pt x="22" y="32"/>
                    <a:pt x="22" y="32"/>
                  </a:cubicBezTo>
                  <a:lnTo>
                    <a:pt x="2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8" name="Rectangle 142">
              <a:extLst>
                <a:ext uri="{FF2B5EF4-FFF2-40B4-BE49-F238E27FC236}">
                  <a16:creationId xmlns:a16="http://schemas.microsoft.com/office/drawing/2014/main" id="{8EB37202-4B4B-47B4-AAD0-F6FEF27C96EB}"/>
                </a:ext>
              </a:extLst>
            </p:cNvPr>
            <p:cNvSpPr>
              <a:spLocks noChangeArrowheads="1"/>
            </p:cNvSpPr>
            <p:nvPr/>
          </p:nvSpPr>
          <p:spPr bwMode="auto">
            <a:xfrm>
              <a:off x="1562092" y="3716365"/>
              <a:ext cx="31750" cy="95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9" name="Freeform 143">
              <a:extLst>
                <a:ext uri="{FF2B5EF4-FFF2-40B4-BE49-F238E27FC236}">
                  <a16:creationId xmlns:a16="http://schemas.microsoft.com/office/drawing/2014/main" id="{AD997CD3-909E-4045-B994-B042299C8E9D}"/>
                </a:ext>
              </a:extLst>
            </p:cNvPr>
            <p:cNvSpPr>
              <a:spLocks/>
            </p:cNvSpPr>
            <p:nvPr/>
          </p:nvSpPr>
          <p:spPr bwMode="auto">
            <a:xfrm>
              <a:off x="1539867" y="3794153"/>
              <a:ext cx="76199" cy="38100"/>
            </a:xfrm>
            <a:custGeom>
              <a:avLst/>
              <a:gdLst>
                <a:gd name="T0" fmla="*/ 34 w 42"/>
                <a:gd name="T1" fmla="*/ 0 h 21"/>
                <a:gd name="T2" fmla="*/ 8 w 42"/>
                <a:gd name="T3" fmla="*/ 0 h 21"/>
                <a:gd name="T4" fmla="*/ 1 w 42"/>
                <a:gd name="T5" fmla="*/ 15 h 21"/>
                <a:gd name="T6" fmla="*/ 1 w 42"/>
                <a:gd name="T7" fmla="*/ 19 h 21"/>
                <a:gd name="T8" fmla="*/ 5 w 42"/>
                <a:gd name="T9" fmla="*/ 21 h 21"/>
                <a:gd name="T10" fmla="*/ 38 w 42"/>
                <a:gd name="T11" fmla="*/ 21 h 21"/>
                <a:gd name="T12" fmla="*/ 41 w 42"/>
                <a:gd name="T13" fmla="*/ 19 h 21"/>
                <a:gd name="T14" fmla="*/ 41 w 42"/>
                <a:gd name="T15" fmla="*/ 15 h 21"/>
                <a:gd name="T16" fmla="*/ 34 w 42"/>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21">
                  <a:moveTo>
                    <a:pt x="34" y="0"/>
                  </a:moveTo>
                  <a:cubicBezTo>
                    <a:pt x="8" y="0"/>
                    <a:pt x="8" y="0"/>
                    <a:pt x="8" y="0"/>
                  </a:cubicBezTo>
                  <a:cubicBezTo>
                    <a:pt x="1" y="15"/>
                    <a:pt x="1" y="15"/>
                    <a:pt x="1" y="15"/>
                  </a:cubicBezTo>
                  <a:cubicBezTo>
                    <a:pt x="0" y="17"/>
                    <a:pt x="1" y="18"/>
                    <a:pt x="1" y="19"/>
                  </a:cubicBezTo>
                  <a:cubicBezTo>
                    <a:pt x="2" y="20"/>
                    <a:pt x="3" y="21"/>
                    <a:pt x="5" y="21"/>
                  </a:cubicBezTo>
                  <a:cubicBezTo>
                    <a:pt x="38" y="21"/>
                    <a:pt x="38" y="21"/>
                    <a:pt x="38" y="21"/>
                  </a:cubicBezTo>
                  <a:cubicBezTo>
                    <a:pt x="39" y="21"/>
                    <a:pt x="40" y="20"/>
                    <a:pt x="41" y="19"/>
                  </a:cubicBezTo>
                  <a:cubicBezTo>
                    <a:pt x="42" y="18"/>
                    <a:pt x="42" y="17"/>
                    <a:pt x="41" y="15"/>
                  </a:cubicBez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80" name="Group 179">
            <a:extLst>
              <a:ext uri="{FF2B5EF4-FFF2-40B4-BE49-F238E27FC236}">
                <a16:creationId xmlns:a16="http://schemas.microsoft.com/office/drawing/2014/main" id="{4A9E5A8C-041D-43DE-AE26-1282D2429A05}"/>
              </a:ext>
            </a:extLst>
          </p:cNvPr>
          <p:cNvGrpSpPr/>
          <p:nvPr/>
        </p:nvGrpSpPr>
        <p:grpSpPr>
          <a:xfrm>
            <a:off x="8518488" y="2530130"/>
            <a:ext cx="306652" cy="268325"/>
            <a:chOff x="1836728" y="3714777"/>
            <a:chExt cx="126999" cy="111126"/>
          </a:xfrm>
          <a:solidFill>
            <a:schemeClr val="accent1"/>
          </a:solidFill>
        </p:grpSpPr>
        <p:sp>
          <p:nvSpPr>
            <p:cNvPr id="181" name="Freeform 144">
              <a:extLst>
                <a:ext uri="{FF2B5EF4-FFF2-40B4-BE49-F238E27FC236}">
                  <a16:creationId xmlns:a16="http://schemas.microsoft.com/office/drawing/2014/main" id="{D423F3FD-6E98-4AFE-8BBF-20E9864B0073}"/>
                </a:ext>
              </a:extLst>
            </p:cNvPr>
            <p:cNvSpPr>
              <a:spLocks/>
            </p:cNvSpPr>
            <p:nvPr/>
          </p:nvSpPr>
          <p:spPr bwMode="auto">
            <a:xfrm>
              <a:off x="1836728" y="3783040"/>
              <a:ext cx="126999" cy="42863"/>
            </a:xfrm>
            <a:custGeom>
              <a:avLst/>
              <a:gdLst>
                <a:gd name="T0" fmla="*/ 69 w 71"/>
                <a:gd name="T1" fmla="*/ 7 h 24"/>
                <a:gd name="T2" fmla="*/ 58 w 71"/>
                <a:gd name="T3" fmla="*/ 3 h 24"/>
                <a:gd name="T4" fmla="*/ 48 w 71"/>
                <a:gd name="T5" fmla="*/ 0 h 24"/>
                <a:gd name="T6" fmla="*/ 42 w 71"/>
                <a:gd name="T7" fmla="*/ 1 h 24"/>
                <a:gd name="T8" fmla="*/ 36 w 71"/>
                <a:gd name="T9" fmla="*/ 2 h 24"/>
                <a:gd name="T10" fmla="*/ 22 w 71"/>
                <a:gd name="T11" fmla="*/ 6 h 24"/>
                <a:gd name="T12" fmla="*/ 22 w 71"/>
                <a:gd name="T13" fmla="*/ 7 h 24"/>
                <a:gd name="T14" fmla="*/ 31 w 71"/>
                <a:gd name="T15" fmla="*/ 9 h 24"/>
                <a:gd name="T16" fmla="*/ 35 w 71"/>
                <a:gd name="T17" fmla="*/ 10 h 24"/>
                <a:gd name="T18" fmla="*/ 28 w 71"/>
                <a:gd name="T19" fmla="*/ 11 h 24"/>
                <a:gd name="T20" fmla="*/ 28 w 71"/>
                <a:gd name="T21" fmla="*/ 11 h 24"/>
                <a:gd name="T22" fmla="*/ 28 w 71"/>
                <a:gd name="T23" fmla="*/ 11 h 24"/>
                <a:gd name="T24" fmla="*/ 19 w 71"/>
                <a:gd name="T25" fmla="*/ 10 h 24"/>
                <a:gd name="T26" fmla="*/ 6 w 71"/>
                <a:gd name="T27" fmla="*/ 9 h 24"/>
                <a:gd name="T28" fmla="*/ 0 w 71"/>
                <a:gd name="T29" fmla="*/ 12 h 24"/>
                <a:gd name="T30" fmla="*/ 4 w 71"/>
                <a:gd name="T31" fmla="*/ 16 h 24"/>
                <a:gd name="T32" fmla="*/ 3 w 71"/>
                <a:gd name="T33" fmla="*/ 18 h 24"/>
                <a:gd name="T34" fmla="*/ 17 w 71"/>
                <a:gd name="T35" fmla="*/ 22 h 24"/>
                <a:gd name="T36" fmla="*/ 28 w 71"/>
                <a:gd name="T37" fmla="*/ 23 h 24"/>
                <a:gd name="T38" fmla="*/ 37 w 71"/>
                <a:gd name="T39" fmla="*/ 24 h 24"/>
                <a:gd name="T40" fmla="*/ 40 w 71"/>
                <a:gd name="T41" fmla="*/ 24 h 24"/>
                <a:gd name="T42" fmla="*/ 42 w 71"/>
                <a:gd name="T43" fmla="*/ 23 h 24"/>
                <a:gd name="T44" fmla="*/ 53 w 71"/>
                <a:gd name="T45" fmla="*/ 21 h 24"/>
                <a:gd name="T46" fmla="*/ 54 w 71"/>
                <a:gd name="T47" fmla="*/ 21 h 24"/>
                <a:gd name="T48" fmla="*/ 66 w 71"/>
                <a:gd name="T49" fmla="*/ 24 h 24"/>
                <a:gd name="T50" fmla="*/ 66 w 71"/>
                <a:gd name="T51" fmla="*/ 24 h 24"/>
                <a:gd name="T52" fmla="*/ 66 w 71"/>
                <a:gd name="T53" fmla="*/ 24 h 24"/>
                <a:gd name="T54" fmla="*/ 69 w 71"/>
                <a:gd name="T55" fmla="*/ 21 h 24"/>
                <a:gd name="T56" fmla="*/ 71 w 71"/>
                <a:gd name="T57" fmla="*/ 14 h 24"/>
                <a:gd name="T58" fmla="*/ 69 w 71"/>
                <a:gd name="T59" fmla="*/ 7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1" h="24">
                  <a:moveTo>
                    <a:pt x="69" y="7"/>
                  </a:moveTo>
                  <a:cubicBezTo>
                    <a:pt x="66" y="6"/>
                    <a:pt x="62" y="5"/>
                    <a:pt x="58" y="3"/>
                  </a:cubicBezTo>
                  <a:cubicBezTo>
                    <a:pt x="55" y="1"/>
                    <a:pt x="51" y="0"/>
                    <a:pt x="48" y="0"/>
                  </a:cubicBezTo>
                  <a:cubicBezTo>
                    <a:pt x="46" y="0"/>
                    <a:pt x="44" y="0"/>
                    <a:pt x="42" y="1"/>
                  </a:cubicBezTo>
                  <a:cubicBezTo>
                    <a:pt x="41" y="1"/>
                    <a:pt x="39" y="1"/>
                    <a:pt x="36" y="2"/>
                  </a:cubicBezTo>
                  <a:cubicBezTo>
                    <a:pt x="28" y="3"/>
                    <a:pt x="23" y="4"/>
                    <a:pt x="22" y="6"/>
                  </a:cubicBezTo>
                  <a:cubicBezTo>
                    <a:pt x="22" y="6"/>
                    <a:pt x="22" y="7"/>
                    <a:pt x="22" y="7"/>
                  </a:cubicBezTo>
                  <a:cubicBezTo>
                    <a:pt x="23" y="9"/>
                    <a:pt x="26" y="9"/>
                    <a:pt x="31" y="9"/>
                  </a:cubicBezTo>
                  <a:cubicBezTo>
                    <a:pt x="32" y="9"/>
                    <a:pt x="34" y="9"/>
                    <a:pt x="35" y="10"/>
                  </a:cubicBezTo>
                  <a:cubicBezTo>
                    <a:pt x="33" y="10"/>
                    <a:pt x="30" y="11"/>
                    <a:pt x="28" y="11"/>
                  </a:cubicBezTo>
                  <a:cubicBezTo>
                    <a:pt x="28" y="11"/>
                    <a:pt x="28" y="11"/>
                    <a:pt x="28" y="11"/>
                  </a:cubicBezTo>
                  <a:cubicBezTo>
                    <a:pt x="28" y="11"/>
                    <a:pt x="28" y="11"/>
                    <a:pt x="28" y="11"/>
                  </a:cubicBezTo>
                  <a:cubicBezTo>
                    <a:pt x="26" y="11"/>
                    <a:pt x="22" y="11"/>
                    <a:pt x="19" y="10"/>
                  </a:cubicBezTo>
                  <a:cubicBezTo>
                    <a:pt x="14" y="10"/>
                    <a:pt x="10" y="9"/>
                    <a:pt x="6" y="9"/>
                  </a:cubicBezTo>
                  <a:cubicBezTo>
                    <a:pt x="5" y="9"/>
                    <a:pt x="0" y="9"/>
                    <a:pt x="0" y="12"/>
                  </a:cubicBezTo>
                  <a:cubicBezTo>
                    <a:pt x="0" y="15"/>
                    <a:pt x="2" y="15"/>
                    <a:pt x="4" y="16"/>
                  </a:cubicBezTo>
                  <a:cubicBezTo>
                    <a:pt x="4" y="16"/>
                    <a:pt x="3" y="17"/>
                    <a:pt x="3" y="18"/>
                  </a:cubicBezTo>
                  <a:cubicBezTo>
                    <a:pt x="3" y="20"/>
                    <a:pt x="8" y="21"/>
                    <a:pt x="17" y="22"/>
                  </a:cubicBezTo>
                  <a:cubicBezTo>
                    <a:pt x="21" y="22"/>
                    <a:pt x="25" y="22"/>
                    <a:pt x="28" y="23"/>
                  </a:cubicBezTo>
                  <a:cubicBezTo>
                    <a:pt x="31" y="24"/>
                    <a:pt x="35" y="24"/>
                    <a:pt x="37" y="24"/>
                  </a:cubicBezTo>
                  <a:cubicBezTo>
                    <a:pt x="38" y="24"/>
                    <a:pt x="39" y="24"/>
                    <a:pt x="40" y="24"/>
                  </a:cubicBezTo>
                  <a:cubicBezTo>
                    <a:pt x="41" y="24"/>
                    <a:pt x="41" y="23"/>
                    <a:pt x="42" y="23"/>
                  </a:cubicBezTo>
                  <a:cubicBezTo>
                    <a:pt x="45" y="22"/>
                    <a:pt x="49" y="21"/>
                    <a:pt x="53" y="21"/>
                  </a:cubicBezTo>
                  <a:cubicBezTo>
                    <a:pt x="53" y="21"/>
                    <a:pt x="53" y="21"/>
                    <a:pt x="54" y="21"/>
                  </a:cubicBezTo>
                  <a:cubicBezTo>
                    <a:pt x="58" y="21"/>
                    <a:pt x="63" y="23"/>
                    <a:pt x="66" y="24"/>
                  </a:cubicBezTo>
                  <a:cubicBezTo>
                    <a:pt x="66" y="24"/>
                    <a:pt x="66" y="24"/>
                    <a:pt x="66" y="24"/>
                  </a:cubicBezTo>
                  <a:cubicBezTo>
                    <a:pt x="66" y="24"/>
                    <a:pt x="66" y="24"/>
                    <a:pt x="66" y="24"/>
                  </a:cubicBezTo>
                  <a:cubicBezTo>
                    <a:pt x="67" y="24"/>
                    <a:pt x="68" y="24"/>
                    <a:pt x="69" y="21"/>
                  </a:cubicBezTo>
                  <a:cubicBezTo>
                    <a:pt x="70" y="19"/>
                    <a:pt x="70" y="17"/>
                    <a:pt x="71" y="14"/>
                  </a:cubicBezTo>
                  <a:cubicBezTo>
                    <a:pt x="71" y="11"/>
                    <a:pt x="71" y="7"/>
                    <a:pt x="6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2" name="Freeform 145">
              <a:extLst>
                <a:ext uri="{FF2B5EF4-FFF2-40B4-BE49-F238E27FC236}">
                  <a16:creationId xmlns:a16="http://schemas.microsoft.com/office/drawing/2014/main" id="{CB186899-912A-4A19-81F5-AD1B853A0645}"/>
                </a:ext>
              </a:extLst>
            </p:cNvPr>
            <p:cNvSpPr>
              <a:spLocks/>
            </p:cNvSpPr>
            <p:nvPr/>
          </p:nvSpPr>
          <p:spPr bwMode="auto">
            <a:xfrm>
              <a:off x="1855777" y="3714777"/>
              <a:ext cx="69849" cy="26988"/>
            </a:xfrm>
            <a:custGeom>
              <a:avLst/>
              <a:gdLst>
                <a:gd name="T0" fmla="*/ 2 w 39"/>
                <a:gd name="T1" fmla="*/ 15 h 15"/>
                <a:gd name="T2" fmla="*/ 37 w 39"/>
                <a:gd name="T3" fmla="*/ 15 h 15"/>
                <a:gd name="T4" fmla="*/ 38 w 39"/>
                <a:gd name="T5" fmla="*/ 14 h 15"/>
                <a:gd name="T6" fmla="*/ 38 w 39"/>
                <a:gd name="T7" fmla="*/ 12 h 15"/>
                <a:gd name="T8" fmla="*/ 33 w 39"/>
                <a:gd name="T9" fmla="*/ 2 h 15"/>
                <a:gd name="T10" fmla="*/ 30 w 39"/>
                <a:gd name="T11" fmla="*/ 0 h 15"/>
                <a:gd name="T12" fmla="*/ 9 w 39"/>
                <a:gd name="T13" fmla="*/ 0 h 15"/>
                <a:gd name="T14" fmla="*/ 6 w 39"/>
                <a:gd name="T15" fmla="*/ 2 h 15"/>
                <a:gd name="T16" fmla="*/ 0 w 39"/>
                <a:gd name="T17" fmla="*/ 12 h 15"/>
                <a:gd name="T18" fmla="*/ 0 w 39"/>
                <a:gd name="T19" fmla="*/ 14 h 15"/>
                <a:gd name="T20" fmla="*/ 2 w 39"/>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15">
                  <a:moveTo>
                    <a:pt x="2" y="15"/>
                  </a:moveTo>
                  <a:cubicBezTo>
                    <a:pt x="37" y="15"/>
                    <a:pt x="37" y="15"/>
                    <a:pt x="37" y="15"/>
                  </a:cubicBezTo>
                  <a:cubicBezTo>
                    <a:pt x="37" y="15"/>
                    <a:pt x="38" y="15"/>
                    <a:pt x="38" y="14"/>
                  </a:cubicBezTo>
                  <a:cubicBezTo>
                    <a:pt x="39" y="14"/>
                    <a:pt x="39" y="13"/>
                    <a:pt x="38" y="12"/>
                  </a:cubicBezTo>
                  <a:cubicBezTo>
                    <a:pt x="33" y="2"/>
                    <a:pt x="33" y="2"/>
                    <a:pt x="33" y="2"/>
                  </a:cubicBezTo>
                  <a:cubicBezTo>
                    <a:pt x="32" y="1"/>
                    <a:pt x="31" y="0"/>
                    <a:pt x="30" y="0"/>
                  </a:cubicBezTo>
                  <a:cubicBezTo>
                    <a:pt x="9" y="0"/>
                    <a:pt x="9" y="0"/>
                    <a:pt x="9" y="0"/>
                  </a:cubicBezTo>
                  <a:cubicBezTo>
                    <a:pt x="8" y="0"/>
                    <a:pt x="6" y="1"/>
                    <a:pt x="6" y="2"/>
                  </a:cubicBezTo>
                  <a:cubicBezTo>
                    <a:pt x="0" y="12"/>
                    <a:pt x="0" y="12"/>
                    <a:pt x="0" y="12"/>
                  </a:cubicBezTo>
                  <a:cubicBezTo>
                    <a:pt x="0" y="13"/>
                    <a:pt x="0" y="14"/>
                    <a:pt x="0" y="14"/>
                  </a:cubicBezTo>
                  <a:cubicBezTo>
                    <a:pt x="0" y="15"/>
                    <a:pt x="1" y="15"/>
                    <a:pt x="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3" name="Oval 146">
              <a:extLst>
                <a:ext uri="{FF2B5EF4-FFF2-40B4-BE49-F238E27FC236}">
                  <a16:creationId xmlns:a16="http://schemas.microsoft.com/office/drawing/2014/main" id="{CF1D16AF-9F13-47AA-9BDD-7261D40F3CDF}"/>
                </a:ext>
              </a:extLst>
            </p:cNvPr>
            <p:cNvSpPr>
              <a:spLocks noChangeArrowheads="1"/>
            </p:cNvSpPr>
            <p:nvPr/>
          </p:nvSpPr>
          <p:spPr bwMode="auto">
            <a:xfrm>
              <a:off x="1884352" y="3765578"/>
              <a:ext cx="11112" cy="111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4" name="Oval 147">
              <a:extLst>
                <a:ext uri="{FF2B5EF4-FFF2-40B4-BE49-F238E27FC236}">
                  <a16:creationId xmlns:a16="http://schemas.microsoft.com/office/drawing/2014/main" id="{410CE918-75BA-4C9B-AC6F-3B44C5B96D31}"/>
                </a:ext>
              </a:extLst>
            </p:cNvPr>
            <p:cNvSpPr>
              <a:spLocks noChangeArrowheads="1"/>
            </p:cNvSpPr>
            <p:nvPr/>
          </p:nvSpPr>
          <p:spPr bwMode="auto">
            <a:xfrm>
              <a:off x="1870065" y="3748115"/>
              <a:ext cx="11112" cy="95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5" name="Oval 148">
              <a:extLst>
                <a:ext uri="{FF2B5EF4-FFF2-40B4-BE49-F238E27FC236}">
                  <a16:creationId xmlns:a16="http://schemas.microsoft.com/office/drawing/2014/main" id="{017EAB67-958C-4224-9F90-6E11761ADE6C}"/>
                </a:ext>
              </a:extLst>
            </p:cNvPr>
            <p:cNvSpPr>
              <a:spLocks noChangeArrowheads="1"/>
            </p:cNvSpPr>
            <p:nvPr/>
          </p:nvSpPr>
          <p:spPr bwMode="auto">
            <a:xfrm>
              <a:off x="1900227" y="3748115"/>
              <a:ext cx="11112" cy="95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6" name="Oval 149">
              <a:extLst>
                <a:ext uri="{FF2B5EF4-FFF2-40B4-BE49-F238E27FC236}">
                  <a16:creationId xmlns:a16="http://schemas.microsoft.com/office/drawing/2014/main" id="{CA760E3E-31D1-47EC-B92E-0FB02CE56DAD}"/>
                </a:ext>
              </a:extLst>
            </p:cNvPr>
            <p:cNvSpPr>
              <a:spLocks noChangeArrowheads="1"/>
            </p:cNvSpPr>
            <p:nvPr/>
          </p:nvSpPr>
          <p:spPr bwMode="auto">
            <a:xfrm>
              <a:off x="1909752" y="3765578"/>
              <a:ext cx="12700" cy="111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7" name="Oval 150">
              <a:extLst>
                <a:ext uri="{FF2B5EF4-FFF2-40B4-BE49-F238E27FC236}">
                  <a16:creationId xmlns:a16="http://schemas.microsoft.com/office/drawing/2014/main" id="{BFC4C956-5DE2-486A-A5CA-455AC52B1BB1}"/>
                </a:ext>
              </a:extLst>
            </p:cNvPr>
            <p:cNvSpPr>
              <a:spLocks noChangeArrowheads="1"/>
            </p:cNvSpPr>
            <p:nvPr/>
          </p:nvSpPr>
          <p:spPr bwMode="auto">
            <a:xfrm>
              <a:off x="1857365" y="3765578"/>
              <a:ext cx="12700" cy="111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88" name="Group 187">
            <a:extLst>
              <a:ext uri="{FF2B5EF4-FFF2-40B4-BE49-F238E27FC236}">
                <a16:creationId xmlns:a16="http://schemas.microsoft.com/office/drawing/2014/main" id="{9D485C32-8BEA-4B67-B6FF-FAD63A98A244}"/>
              </a:ext>
            </a:extLst>
          </p:cNvPr>
          <p:cNvGrpSpPr/>
          <p:nvPr/>
        </p:nvGrpSpPr>
        <p:grpSpPr>
          <a:xfrm>
            <a:off x="10378938" y="3355339"/>
            <a:ext cx="212942" cy="354911"/>
            <a:chOff x="479425" y="4051330"/>
            <a:chExt cx="76199" cy="127001"/>
          </a:xfrm>
          <a:solidFill>
            <a:schemeClr val="accent1"/>
          </a:solidFill>
        </p:grpSpPr>
        <p:sp>
          <p:nvSpPr>
            <p:cNvPr id="189" name="Freeform 151">
              <a:extLst>
                <a:ext uri="{FF2B5EF4-FFF2-40B4-BE49-F238E27FC236}">
                  <a16:creationId xmlns:a16="http://schemas.microsoft.com/office/drawing/2014/main" id="{8C208A85-A785-48E5-9427-7CCC0A2CF7E2}"/>
                </a:ext>
              </a:extLst>
            </p:cNvPr>
            <p:cNvSpPr>
              <a:spLocks/>
            </p:cNvSpPr>
            <p:nvPr/>
          </p:nvSpPr>
          <p:spPr bwMode="auto">
            <a:xfrm>
              <a:off x="479425" y="4051330"/>
              <a:ext cx="20637" cy="65088"/>
            </a:xfrm>
            <a:custGeom>
              <a:avLst/>
              <a:gdLst>
                <a:gd name="T0" fmla="*/ 11 w 11"/>
                <a:gd name="T1" fmla="*/ 26 h 37"/>
                <a:gd name="T2" fmla="*/ 11 w 11"/>
                <a:gd name="T3" fmla="*/ 23 h 37"/>
                <a:gd name="T4" fmla="*/ 2 w 11"/>
                <a:gd name="T5" fmla="*/ 0 h 37"/>
                <a:gd name="T6" fmla="*/ 2 w 11"/>
                <a:gd name="T7" fmla="*/ 33 h 37"/>
                <a:gd name="T8" fmla="*/ 0 w 11"/>
                <a:gd name="T9" fmla="*/ 33 h 37"/>
                <a:gd name="T10" fmla="*/ 0 w 11"/>
                <a:gd name="T11" fmla="*/ 37 h 37"/>
                <a:gd name="T12" fmla="*/ 9 w 11"/>
                <a:gd name="T13" fmla="*/ 37 h 37"/>
                <a:gd name="T14" fmla="*/ 9 w 11"/>
                <a:gd name="T15" fmla="*/ 33 h 37"/>
                <a:gd name="T16" fmla="*/ 7 w 11"/>
                <a:gd name="T17" fmla="*/ 33 h 37"/>
                <a:gd name="T18" fmla="*/ 7 w 11"/>
                <a:gd name="T19" fmla="*/ 26 h 37"/>
                <a:gd name="T20" fmla="*/ 11 w 11"/>
                <a:gd name="T21" fmla="*/ 2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 h="37">
                  <a:moveTo>
                    <a:pt x="11" y="26"/>
                  </a:moveTo>
                  <a:cubicBezTo>
                    <a:pt x="11" y="23"/>
                    <a:pt x="11" y="23"/>
                    <a:pt x="11" y="23"/>
                  </a:cubicBezTo>
                  <a:cubicBezTo>
                    <a:pt x="11" y="14"/>
                    <a:pt x="8" y="6"/>
                    <a:pt x="2" y="0"/>
                  </a:cubicBezTo>
                  <a:cubicBezTo>
                    <a:pt x="2" y="33"/>
                    <a:pt x="2" y="33"/>
                    <a:pt x="2" y="33"/>
                  </a:cubicBezTo>
                  <a:cubicBezTo>
                    <a:pt x="0" y="33"/>
                    <a:pt x="0" y="33"/>
                    <a:pt x="0" y="33"/>
                  </a:cubicBezTo>
                  <a:cubicBezTo>
                    <a:pt x="0" y="37"/>
                    <a:pt x="0" y="37"/>
                    <a:pt x="0" y="37"/>
                  </a:cubicBezTo>
                  <a:cubicBezTo>
                    <a:pt x="9" y="37"/>
                    <a:pt x="9" y="37"/>
                    <a:pt x="9" y="37"/>
                  </a:cubicBezTo>
                  <a:cubicBezTo>
                    <a:pt x="9" y="33"/>
                    <a:pt x="9" y="33"/>
                    <a:pt x="9" y="33"/>
                  </a:cubicBezTo>
                  <a:cubicBezTo>
                    <a:pt x="7" y="33"/>
                    <a:pt x="7" y="33"/>
                    <a:pt x="7" y="33"/>
                  </a:cubicBezTo>
                  <a:cubicBezTo>
                    <a:pt x="7" y="26"/>
                    <a:pt x="7" y="26"/>
                    <a:pt x="7" y="26"/>
                  </a:cubicBezTo>
                  <a:lnTo>
                    <a:pt x="11"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0" name="Freeform 152">
              <a:extLst>
                <a:ext uri="{FF2B5EF4-FFF2-40B4-BE49-F238E27FC236}">
                  <a16:creationId xmlns:a16="http://schemas.microsoft.com/office/drawing/2014/main" id="{174D8C02-381E-44F8-9AD2-35904A7B0B9F}"/>
                </a:ext>
              </a:extLst>
            </p:cNvPr>
            <p:cNvSpPr>
              <a:spLocks/>
            </p:cNvSpPr>
            <p:nvPr/>
          </p:nvSpPr>
          <p:spPr bwMode="auto">
            <a:xfrm>
              <a:off x="479425" y="4121181"/>
              <a:ext cx="15875" cy="57150"/>
            </a:xfrm>
            <a:custGeom>
              <a:avLst/>
              <a:gdLst>
                <a:gd name="T0" fmla="*/ 0 w 9"/>
                <a:gd name="T1" fmla="*/ 27 h 32"/>
                <a:gd name="T2" fmla="*/ 4 w 9"/>
                <a:gd name="T3" fmla="*/ 32 h 32"/>
                <a:gd name="T4" fmla="*/ 9 w 9"/>
                <a:gd name="T5" fmla="*/ 27 h 32"/>
                <a:gd name="T6" fmla="*/ 9 w 9"/>
                <a:gd name="T7" fmla="*/ 0 h 32"/>
                <a:gd name="T8" fmla="*/ 0 w 9"/>
                <a:gd name="T9" fmla="*/ 0 h 32"/>
                <a:gd name="T10" fmla="*/ 0 w 9"/>
                <a:gd name="T11" fmla="*/ 27 h 32"/>
              </a:gdLst>
              <a:ahLst/>
              <a:cxnLst>
                <a:cxn ang="0">
                  <a:pos x="T0" y="T1"/>
                </a:cxn>
                <a:cxn ang="0">
                  <a:pos x="T2" y="T3"/>
                </a:cxn>
                <a:cxn ang="0">
                  <a:pos x="T4" y="T5"/>
                </a:cxn>
                <a:cxn ang="0">
                  <a:pos x="T6" y="T7"/>
                </a:cxn>
                <a:cxn ang="0">
                  <a:pos x="T8" y="T9"/>
                </a:cxn>
                <a:cxn ang="0">
                  <a:pos x="T10" y="T11"/>
                </a:cxn>
              </a:cxnLst>
              <a:rect l="0" t="0" r="r" b="b"/>
              <a:pathLst>
                <a:path w="9" h="32">
                  <a:moveTo>
                    <a:pt x="0" y="27"/>
                  </a:moveTo>
                  <a:cubicBezTo>
                    <a:pt x="0" y="30"/>
                    <a:pt x="2" y="32"/>
                    <a:pt x="4" y="32"/>
                  </a:cubicBezTo>
                  <a:cubicBezTo>
                    <a:pt x="7" y="32"/>
                    <a:pt x="9" y="30"/>
                    <a:pt x="9" y="27"/>
                  </a:cubicBezTo>
                  <a:cubicBezTo>
                    <a:pt x="9" y="0"/>
                    <a:pt x="9" y="0"/>
                    <a:pt x="9" y="0"/>
                  </a:cubicBezTo>
                  <a:cubicBezTo>
                    <a:pt x="0" y="0"/>
                    <a:pt x="0" y="0"/>
                    <a:pt x="0" y="0"/>
                  </a:cubicBezTo>
                  <a:lnTo>
                    <a:pt x="0"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1" name="Freeform 153">
              <a:extLst>
                <a:ext uri="{FF2B5EF4-FFF2-40B4-BE49-F238E27FC236}">
                  <a16:creationId xmlns:a16="http://schemas.microsoft.com/office/drawing/2014/main" id="{783BC37F-230A-4955-A199-8287DC56A641}"/>
                </a:ext>
              </a:extLst>
            </p:cNvPr>
            <p:cNvSpPr>
              <a:spLocks/>
            </p:cNvSpPr>
            <p:nvPr/>
          </p:nvSpPr>
          <p:spPr bwMode="auto">
            <a:xfrm>
              <a:off x="514350" y="4129118"/>
              <a:ext cx="12700" cy="49213"/>
            </a:xfrm>
            <a:custGeom>
              <a:avLst/>
              <a:gdLst>
                <a:gd name="T0" fmla="*/ 0 w 7"/>
                <a:gd name="T1" fmla="*/ 23 h 27"/>
                <a:gd name="T2" fmla="*/ 3 w 7"/>
                <a:gd name="T3" fmla="*/ 27 h 27"/>
                <a:gd name="T4" fmla="*/ 7 w 7"/>
                <a:gd name="T5" fmla="*/ 23 h 27"/>
                <a:gd name="T6" fmla="*/ 7 w 7"/>
                <a:gd name="T7" fmla="*/ 0 h 27"/>
                <a:gd name="T8" fmla="*/ 0 w 7"/>
                <a:gd name="T9" fmla="*/ 0 h 27"/>
                <a:gd name="T10" fmla="*/ 0 w 7"/>
                <a:gd name="T11" fmla="*/ 23 h 27"/>
              </a:gdLst>
              <a:ahLst/>
              <a:cxnLst>
                <a:cxn ang="0">
                  <a:pos x="T0" y="T1"/>
                </a:cxn>
                <a:cxn ang="0">
                  <a:pos x="T2" y="T3"/>
                </a:cxn>
                <a:cxn ang="0">
                  <a:pos x="T4" y="T5"/>
                </a:cxn>
                <a:cxn ang="0">
                  <a:pos x="T6" y="T7"/>
                </a:cxn>
                <a:cxn ang="0">
                  <a:pos x="T8" y="T9"/>
                </a:cxn>
                <a:cxn ang="0">
                  <a:pos x="T10" y="T11"/>
                </a:cxn>
              </a:cxnLst>
              <a:rect l="0" t="0" r="r" b="b"/>
              <a:pathLst>
                <a:path w="7" h="27">
                  <a:moveTo>
                    <a:pt x="0" y="23"/>
                  </a:moveTo>
                  <a:cubicBezTo>
                    <a:pt x="0" y="25"/>
                    <a:pt x="1" y="27"/>
                    <a:pt x="3" y="27"/>
                  </a:cubicBezTo>
                  <a:cubicBezTo>
                    <a:pt x="5" y="27"/>
                    <a:pt x="7" y="25"/>
                    <a:pt x="7" y="23"/>
                  </a:cubicBezTo>
                  <a:cubicBezTo>
                    <a:pt x="7" y="0"/>
                    <a:pt x="7" y="0"/>
                    <a:pt x="7" y="0"/>
                  </a:cubicBezTo>
                  <a:cubicBezTo>
                    <a:pt x="0" y="0"/>
                    <a:pt x="0" y="0"/>
                    <a:pt x="0" y="0"/>
                  </a:cubicBez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2" name="Freeform 154">
              <a:extLst>
                <a:ext uri="{FF2B5EF4-FFF2-40B4-BE49-F238E27FC236}">
                  <a16:creationId xmlns:a16="http://schemas.microsoft.com/office/drawing/2014/main" id="{94B24270-DB6D-4D8B-9F5B-4A1088021F38}"/>
                </a:ext>
              </a:extLst>
            </p:cNvPr>
            <p:cNvSpPr>
              <a:spLocks/>
            </p:cNvSpPr>
            <p:nvPr/>
          </p:nvSpPr>
          <p:spPr bwMode="auto">
            <a:xfrm>
              <a:off x="514350" y="4051330"/>
              <a:ext cx="12700" cy="65088"/>
            </a:xfrm>
            <a:custGeom>
              <a:avLst/>
              <a:gdLst>
                <a:gd name="T0" fmla="*/ 0 w 8"/>
                <a:gd name="T1" fmla="*/ 0 h 41"/>
                <a:gd name="T2" fmla="*/ 0 w 8"/>
                <a:gd name="T3" fmla="*/ 41 h 41"/>
                <a:gd name="T4" fmla="*/ 8 w 8"/>
                <a:gd name="T5" fmla="*/ 41 h 41"/>
                <a:gd name="T6" fmla="*/ 8 w 8"/>
                <a:gd name="T7" fmla="*/ 30 h 41"/>
                <a:gd name="T8" fmla="*/ 0 w 8"/>
                <a:gd name="T9" fmla="*/ 0 h 41"/>
              </a:gdLst>
              <a:ahLst/>
              <a:cxnLst>
                <a:cxn ang="0">
                  <a:pos x="T0" y="T1"/>
                </a:cxn>
                <a:cxn ang="0">
                  <a:pos x="T2" y="T3"/>
                </a:cxn>
                <a:cxn ang="0">
                  <a:pos x="T4" y="T5"/>
                </a:cxn>
                <a:cxn ang="0">
                  <a:pos x="T6" y="T7"/>
                </a:cxn>
                <a:cxn ang="0">
                  <a:pos x="T8" y="T9"/>
                </a:cxn>
              </a:cxnLst>
              <a:rect l="0" t="0" r="r" b="b"/>
              <a:pathLst>
                <a:path w="8" h="41">
                  <a:moveTo>
                    <a:pt x="0" y="0"/>
                  </a:moveTo>
                  <a:lnTo>
                    <a:pt x="0" y="41"/>
                  </a:lnTo>
                  <a:lnTo>
                    <a:pt x="8" y="41"/>
                  </a:lnTo>
                  <a:lnTo>
                    <a:pt x="8" y="3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3" name="Rectangle 155">
              <a:extLst>
                <a:ext uri="{FF2B5EF4-FFF2-40B4-BE49-F238E27FC236}">
                  <a16:creationId xmlns:a16="http://schemas.microsoft.com/office/drawing/2014/main" id="{F4035DEF-D729-4B83-83B4-96954C39A219}"/>
                </a:ext>
              </a:extLst>
            </p:cNvPr>
            <p:cNvSpPr>
              <a:spLocks noChangeArrowheads="1"/>
            </p:cNvSpPr>
            <p:nvPr/>
          </p:nvSpPr>
          <p:spPr bwMode="auto">
            <a:xfrm>
              <a:off x="514350" y="4121181"/>
              <a:ext cx="12700" cy="3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4" name="Freeform 156">
              <a:extLst>
                <a:ext uri="{FF2B5EF4-FFF2-40B4-BE49-F238E27FC236}">
                  <a16:creationId xmlns:a16="http://schemas.microsoft.com/office/drawing/2014/main" id="{687F33C6-69DB-432C-9823-7C3EF6A75028}"/>
                </a:ext>
              </a:extLst>
            </p:cNvPr>
            <p:cNvSpPr>
              <a:spLocks/>
            </p:cNvSpPr>
            <p:nvPr/>
          </p:nvSpPr>
          <p:spPr bwMode="auto">
            <a:xfrm>
              <a:off x="538162" y="4111655"/>
              <a:ext cx="17462" cy="31750"/>
            </a:xfrm>
            <a:custGeom>
              <a:avLst/>
              <a:gdLst>
                <a:gd name="T0" fmla="*/ 0 w 11"/>
                <a:gd name="T1" fmla="*/ 20 h 20"/>
                <a:gd name="T2" fmla="*/ 11 w 11"/>
                <a:gd name="T3" fmla="*/ 9 h 20"/>
                <a:gd name="T4" fmla="*/ 11 w 11"/>
                <a:gd name="T5" fmla="*/ 0 h 20"/>
                <a:gd name="T6" fmla="*/ 0 w 11"/>
                <a:gd name="T7" fmla="*/ 10 h 20"/>
                <a:gd name="T8" fmla="*/ 0 w 11"/>
                <a:gd name="T9" fmla="*/ 20 h 20"/>
              </a:gdLst>
              <a:ahLst/>
              <a:cxnLst>
                <a:cxn ang="0">
                  <a:pos x="T0" y="T1"/>
                </a:cxn>
                <a:cxn ang="0">
                  <a:pos x="T2" y="T3"/>
                </a:cxn>
                <a:cxn ang="0">
                  <a:pos x="T4" y="T5"/>
                </a:cxn>
                <a:cxn ang="0">
                  <a:pos x="T6" y="T7"/>
                </a:cxn>
                <a:cxn ang="0">
                  <a:pos x="T8" y="T9"/>
                </a:cxn>
              </a:cxnLst>
              <a:rect l="0" t="0" r="r" b="b"/>
              <a:pathLst>
                <a:path w="11" h="20">
                  <a:moveTo>
                    <a:pt x="0" y="20"/>
                  </a:moveTo>
                  <a:lnTo>
                    <a:pt x="11" y="9"/>
                  </a:lnTo>
                  <a:lnTo>
                    <a:pt x="11" y="0"/>
                  </a:lnTo>
                  <a:lnTo>
                    <a:pt x="0" y="10"/>
                  </a:lnTo>
                  <a:lnTo>
                    <a:pt x="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5" name="Freeform 157">
              <a:extLst>
                <a:ext uri="{FF2B5EF4-FFF2-40B4-BE49-F238E27FC236}">
                  <a16:creationId xmlns:a16="http://schemas.microsoft.com/office/drawing/2014/main" id="{9C73ADD3-C40B-43CB-BF5E-4688589188D7}"/>
                </a:ext>
              </a:extLst>
            </p:cNvPr>
            <p:cNvSpPr>
              <a:spLocks/>
            </p:cNvSpPr>
            <p:nvPr/>
          </p:nvSpPr>
          <p:spPr bwMode="auto">
            <a:xfrm>
              <a:off x="538162" y="4132293"/>
              <a:ext cx="17462" cy="31750"/>
            </a:xfrm>
            <a:custGeom>
              <a:avLst/>
              <a:gdLst>
                <a:gd name="T0" fmla="*/ 0 w 11"/>
                <a:gd name="T1" fmla="*/ 20 h 20"/>
                <a:gd name="T2" fmla="*/ 11 w 11"/>
                <a:gd name="T3" fmla="*/ 10 h 20"/>
                <a:gd name="T4" fmla="*/ 11 w 11"/>
                <a:gd name="T5" fmla="*/ 0 h 20"/>
                <a:gd name="T6" fmla="*/ 0 w 11"/>
                <a:gd name="T7" fmla="*/ 11 h 20"/>
                <a:gd name="T8" fmla="*/ 0 w 11"/>
                <a:gd name="T9" fmla="*/ 20 h 20"/>
              </a:gdLst>
              <a:ahLst/>
              <a:cxnLst>
                <a:cxn ang="0">
                  <a:pos x="T0" y="T1"/>
                </a:cxn>
                <a:cxn ang="0">
                  <a:pos x="T2" y="T3"/>
                </a:cxn>
                <a:cxn ang="0">
                  <a:pos x="T4" y="T5"/>
                </a:cxn>
                <a:cxn ang="0">
                  <a:pos x="T6" y="T7"/>
                </a:cxn>
                <a:cxn ang="0">
                  <a:pos x="T8" y="T9"/>
                </a:cxn>
              </a:cxnLst>
              <a:rect l="0" t="0" r="r" b="b"/>
              <a:pathLst>
                <a:path w="11" h="20">
                  <a:moveTo>
                    <a:pt x="0" y="20"/>
                  </a:moveTo>
                  <a:lnTo>
                    <a:pt x="11" y="10"/>
                  </a:lnTo>
                  <a:lnTo>
                    <a:pt x="11" y="0"/>
                  </a:lnTo>
                  <a:lnTo>
                    <a:pt x="0" y="11"/>
                  </a:lnTo>
                  <a:lnTo>
                    <a:pt x="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6" name="Freeform 158">
              <a:extLst>
                <a:ext uri="{FF2B5EF4-FFF2-40B4-BE49-F238E27FC236}">
                  <a16:creationId xmlns:a16="http://schemas.microsoft.com/office/drawing/2014/main" id="{837DADBA-6BBE-41F0-B909-605DF2E3492B}"/>
                </a:ext>
              </a:extLst>
            </p:cNvPr>
            <p:cNvSpPr>
              <a:spLocks/>
            </p:cNvSpPr>
            <p:nvPr/>
          </p:nvSpPr>
          <p:spPr bwMode="auto">
            <a:xfrm>
              <a:off x="538162" y="4152931"/>
              <a:ext cx="17462" cy="25400"/>
            </a:xfrm>
            <a:custGeom>
              <a:avLst/>
              <a:gdLst>
                <a:gd name="T0" fmla="*/ 0 w 11"/>
                <a:gd name="T1" fmla="*/ 10 h 16"/>
                <a:gd name="T2" fmla="*/ 5 w 11"/>
                <a:gd name="T3" fmla="*/ 16 h 16"/>
                <a:gd name="T4" fmla="*/ 11 w 11"/>
                <a:gd name="T5" fmla="*/ 10 h 16"/>
                <a:gd name="T6" fmla="*/ 11 w 11"/>
                <a:gd name="T7" fmla="*/ 0 h 16"/>
                <a:gd name="T8" fmla="*/ 0 w 11"/>
                <a:gd name="T9" fmla="*/ 10 h 16"/>
              </a:gdLst>
              <a:ahLst/>
              <a:cxnLst>
                <a:cxn ang="0">
                  <a:pos x="T0" y="T1"/>
                </a:cxn>
                <a:cxn ang="0">
                  <a:pos x="T2" y="T3"/>
                </a:cxn>
                <a:cxn ang="0">
                  <a:pos x="T4" y="T5"/>
                </a:cxn>
                <a:cxn ang="0">
                  <a:pos x="T6" y="T7"/>
                </a:cxn>
                <a:cxn ang="0">
                  <a:pos x="T8" y="T9"/>
                </a:cxn>
              </a:cxnLst>
              <a:rect l="0" t="0" r="r" b="b"/>
              <a:pathLst>
                <a:path w="11" h="16">
                  <a:moveTo>
                    <a:pt x="0" y="10"/>
                  </a:moveTo>
                  <a:lnTo>
                    <a:pt x="5" y="16"/>
                  </a:lnTo>
                  <a:lnTo>
                    <a:pt x="11" y="10"/>
                  </a:lnTo>
                  <a:lnTo>
                    <a:pt x="11" y="0"/>
                  </a:lnTo>
                  <a:lnTo>
                    <a:pt x="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7" name="Freeform 159">
              <a:extLst>
                <a:ext uri="{FF2B5EF4-FFF2-40B4-BE49-F238E27FC236}">
                  <a16:creationId xmlns:a16="http://schemas.microsoft.com/office/drawing/2014/main" id="{CD2E670A-9EDB-4EBB-99A8-E5C1347F26B4}"/>
                </a:ext>
              </a:extLst>
            </p:cNvPr>
            <p:cNvSpPr>
              <a:spLocks/>
            </p:cNvSpPr>
            <p:nvPr/>
          </p:nvSpPr>
          <p:spPr bwMode="auto">
            <a:xfrm>
              <a:off x="538162" y="4051330"/>
              <a:ext cx="17462" cy="49213"/>
            </a:xfrm>
            <a:custGeom>
              <a:avLst/>
              <a:gdLst>
                <a:gd name="T0" fmla="*/ 11 w 11"/>
                <a:gd name="T1" fmla="*/ 21 h 31"/>
                <a:gd name="T2" fmla="*/ 8 w 11"/>
                <a:gd name="T3" fmla="*/ 19 h 31"/>
                <a:gd name="T4" fmla="*/ 8 w 11"/>
                <a:gd name="T5" fmla="*/ 5 h 31"/>
                <a:gd name="T6" fmla="*/ 3 w 11"/>
                <a:gd name="T7" fmla="*/ 0 h 31"/>
                <a:gd name="T8" fmla="*/ 3 w 11"/>
                <a:gd name="T9" fmla="*/ 19 h 31"/>
                <a:gd name="T10" fmla="*/ 0 w 11"/>
                <a:gd name="T11" fmla="*/ 21 h 31"/>
                <a:gd name="T12" fmla="*/ 0 w 11"/>
                <a:gd name="T13" fmla="*/ 31 h 31"/>
                <a:gd name="T14" fmla="*/ 11 w 11"/>
                <a:gd name="T15" fmla="*/ 2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31">
                  <a:moveTo>
                    <a:pt x="11" y="21"/>
                  </a:moveTo>
                  <a:lnTo>
                    <a:pt x="8" y="19"/>
                  </a:lnTo>
                  <a:lnTo>
                    <a:pt x="8" y="5"/>
                  </a:lnTo>
                  <a:lnTo>
                    <a:pt x="3" y="0"/>
                  </a:lnTo>
                  <a:lnTo>
                    <a:pt x="3" y="19"/>
                  </a:lnTo>
                  <a:lnTo>
                    <a:pt x="0" y="21"/>
                  </a:lnTo>
                  <a:lnTo>
                    <a:pt x="0" y="31"/>
                  </a:lnTo>
                  <a:lnTo>
                    <a:pt x="11"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8" name="Freeform 160">
              <a:extLst>
                <a:ext uri="{FF2B5EF4-FFF2-40B4-BE49-F238E27FC236}">
                  <a16:creationId xmlns:a16="http://schemas.microsoft.com/office/drawing/2014/main" id="{B2834561-8ACD-4714-8F74-0E7FC833A4A1}"/>
                </a:ext>
              </a:extLst>
            </p:cNvPr>
            <p:cNvSpPr>
              <a:spLocks/>
            </p:cNvSpPr>
            <p:nvPr/>
          </p:nvSpPr>
          <p:spPr bwMode="auto">
            <a:xfrm>
              <a:off x="538162" y="4091018"/>
              <a:ext cx="17462" cy="31750"/>
            </a:xfrm>
            <a:custGeom>
              <a:avLst/>
              <a:gdLst>
                <a:gd name="T0" fmla="*/ 0 w 11"/>
                <a:gd name="T1" fmla="*/ 20 h 20"/>
                <a:gd name="T2" fmla="*/ 11 w 11"/>
                <a:gd name="T3" fmla="*/ 9 h 20"/>
                <a:gd name="T4" fmla="*/ 11 w 11"/>
                <a:gd name="T5" fmla="*/ 0 h 20"/>
                <a:gd name="T6" fmla="*/ 0 w 11"/>
                <a:gd name="T7" fmla="*/ 10 h 20"/>
                <a:gd name="T8" fmla="*/ 0 w 11"/>
                <a:gd name="T9" fmla="*/ 20 h 20"/>
              </a:gdLst>
              <a:ahLst/>
              <a:cxnLst>
                <a:cxn ang="0">
                  <a:pos x="T0" y="T1"/>
                </a:cxn>
                <a:cxn ang="0">
                  <a:pos x="T2" y="T3"/>
                </a:cxn>
                <a:cxn ang="0">
                  <a:pos x="T4" y="T5"/>
                </a:cxn>
                <a:cxn ang="0">
                  <a:pos x="T6" y="T7"/>
                </a:cxn>
                <a:cxn ang="0">
                  <a:pos x="T8" y="T9"/>
                </a:cxn>
              </a:cxnLst>
              <a:rect l="0" t="0" r="r" b="b"/>
              <a:pathLst>
                <a:path w="11" h="20">
                  <a:moveTo>
                    <a:pt x="0" y="20"/>
                  </a:moveTo>
                  <a:lnTo>
                    <a:pt x="11" y="9"/>
                  </a:lnTo>
                  <a:lnTo>
                    <a:pt x="11" y="0"/>
                  </a:lnTo>
                  <a:lnTo>
                    <a:pt x="0" y="10"/>
                  </a:lnTo>
                  <a:lnTo>
                    <a:pt x="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99" name="Group 198">
            <a:extLst>
              <a:ext uri="{FF2B5EF4-FFF2-40B4-BE49-F238E27FC236}">
                <a16:creationId xmlns:a16="http://schemas.microsoft.com/office/drawing/2014/main" id="{EA4E76A0-A2C3-45B0-BF0E-9154303D9020}"/>
              </a:ext>
            </a:extLst>
          </p:cNvPr>
          <p:cNvGrpSpPr/>
          <p:nvPr/>
        </p:nvGrpSpPr>
        <p:grpSpPr>
          <a:xfrm>
            <a:off x="10314268" y="1596897"/>
            <a:ext cx="282256" cy="344525"/>
            <a:chOff x="1155695" y="4051330"/>
            <a:chExt cx="107949" cy="131764"/>
          </a:xfrm>
          <a:solidFill>
            <a:schemeClr val="accent1"/>
          </a:solidFill>
        </p:grpSpPr>
        <p:sp>
          <p:nvSpPr>
            <p:cNvPr id="200" name="Freeform 161">
              <a:extLst>
                <a:ext uri="{FF2B5EF4-FFF2-40B4-BE49-F238E27FC236}">
                  <a16:creationId xmlns:a16="http://schemas.microsoft.com/office/drawing/2014/main" id="{59AD227D-80D3-4F29-8C9A-9EC383123B3D}"/>
                </a:ext>
              </a:extLst>
            </p:cNvPr>
            <p:cNvSpPr>
              <a:spLocks/>
            </p:cNvSpPr>
            <p:nvPr/>
          </p:nvSpPr>
          <p:spPr bwMode="auto">
            <a:xfrm>
              <a:off x="1220782" y="4054505"/>
              <a:ext cx="20637" cy="19050"/>
            </a:xfrm>
            <a:custGeom>
              <a:avLst/>
              <a:gdLst>
                <a:gd name="T0" fmla="*/ 0 w 13"/>
                <a:gd name="T1" fmla="*/ 0 h 12"/>
                <a:gd name="T2" fmla="*/ 0 w 13"/>
                <a:gd name="T3" fmla="*/ 12 h 12"/>
                <a:gd name="T4" fmla="*/ 13 w 13"/>
                <a:gd name="T5" fmla="*/ 12 h 12"/>
                <a:gd name="T6" fmla="*/ 0 w 13"/>
                <a:gd name="T7" fmla="*/ 0 h 12"/>
              </a:gdLst>
              <a:ahLst/>
              <a:cxnLst>
                <a:cxn ang="0">
                  <a:pos x="T0" y="T1"/>
                </a:cxn>
                <a:cxn ang="0">
                  <a:pos x="T2" y="T3"/>
                </a:cxn>
                <a:cxn ang="0">
                  <a:pos x="T4" y="T5"/>
                </a:cxn>
                <a:cxn ang="0">
                  <a:pos x="T6" y="T7"/>
                </a:cxn>
              </a:cxnLst>
              <a:rect l="0" t="0" r="r" b="b"/>
              <a:pathLst>
                <a:path w="13" h="12">
                  <a:moveTo>
                    <a:pt x="0" y="0"/>
                  </a:moveTo>
                  <a:lnTo>
                    <a:pt x="0" y="12"/>
                  </a:lnTo>
                  <a:lnTo>
                    <a:pt x="13" y="12"/>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1" name="Freeform 162">
              <a:extLst>
                <a:ext uri="{FF2B5EF4-FFF2-40B4-BE49-F238E27FC236}">
                  <a16:creationId xmlns:a16="http://schemas.microsoft.com/office/drawing/2014/main" id="{2A75992E-0642-4970-B8BF-E6924EB6D9EC}"/>
                </a:ext>
              </a:extLst>
            </p:cNvPr>
            <p:cNvSpPr>
              <a:spLocks noEditPoints="1"/>
            </p:cNvSpPr>
            <p:nvPr/>
          </p:nvSpPr>
          <p:spPr bwMode="auto">
            <a:xfrm>
              <a:off x="1155695" y="4051330"/>
              <a:ext cx="87312" cy="123826"/>
            </a:xfrm>
            <a:custGeom>
              <a:avLst/>
              <a:gdLst>
                <a:gd name="T0" fmla="*/ 36 w 49"/>
                <a:gd name="T1" fmla="*/ 57 h 69"/>
                <a:gd name="T2" fmla="*/ 11 w 49"/>
                <a:gd name="T3" fmla="*/ 57 h 69"/>
                <a:gd name="T4" fmla="*/ 9 w 49"/>
                <a:gd name="T5" fmla="*/ 54 h 69"/>
                <a:gd name="T6" fmla="*/ 11 w 49"/>
                <a:gd name="T7" fmla="*/ 52 h 69"/>
                <a:gd name="T8" fmla="*/ 36 w 49"/>
                <a:gd name="T9" fmla="*/ 52 h 69"/>
                <a:gd name="T10" fmla="*/ 36 w 49"/>
                <a:gd name="T11" fmla="*/ 48 h 69"/>
                <a:gd name="T12" fmla="*/ 11 w 49"/>
                <a:gd name="T13" fmla="*/ 48 h 69"/>
                <a:gd name="T14" fmla="*/ 9 w 49"/>
                <a:gd name="T15" fmla="*/ 46 h 69"/>
                <a:gd name="T16" fmla="*/ 11 w 49"/>
                <a:gd name="T17" fmla="*/ 44 h 69"/>
                <a:gd name="T18" fmla="*/ 36 w 49"/>
                <a:gd name="T19" fmla="*/ 44 h 69"/>
                <a:gd name="T20" fmla="*/ 36 w 49"/>
                <a:gd name="T21" fmla="*/ 40 h 69"/>
                <a:gd name="T22" fmla="*/ 35 w 49"/>
                <a:gd name="T23" fmla="*/ 39 h 69"/>
                <a:gd name="T24" fmla="*/ 11 w 49"/>
                <a:gd name="T25" fmla="*/ 39 h 69"/>
                <a:gd name="T26" fmla="*/ 9 w 49"/>
                <a:gd name="T27" fmla="*/ 37 h 69"/>
                <a:gd name="T28" fmla="*/ 11 w 49"/>
                <a:gd name="T29" fmla="*/ 35 h 69"/>
                <a:gd name="T30" fmla="*/ 34 w 49"/>
                <a:gd name="T31" fmla="*/ 35 h 69"/>
                <a:gd name="T32" fmla="*/ 40 w 49"/>
                <a:gd name="T33" fmla="*/ 29 h 69"/>
                <a:gd name="T34" fmla="*/ 49 w 49"/>
                <a:gd name="T35" fmla="*/ 29 h 69"/>
                <a:gd name="T36" fmla="*/ 49 w 49"/>
                <a:gd name="T37" fmla="*/ 18 h 69"/>
                <a:gd name="T38" fmla="*/ 34 w 49"/>
                <a:gd name="T39" fmla="*/ 18 h 69"/>
                <a:gd name="T40" fmla="*/ 32 w 49"/>
                <a:gd name="T41" fmla="*/ 16 h 69"/>
                <a:gd name="T42" fmla="*/ 32 w 49"/>
                <a:gd name="T43" fmla="*/ 0 h 69"/>
                <a:gd name="T44" fmla="*/ 2 w 49"/>
                <a:gd name="T45" fmla="*/ 0 h 69"/>
                <a:gd name="T46" fmla="*/ 0 w 49"/>
                <a:gd name="T47" fmla="*/ 3 h 69"/>
                <a:gd name="T48" fmla="*/ 0 w 49"/>
                <a:gd name="T49" fmla="*/ 67 h 69"/>
                <a:gd name="T50" fmla="*/ 2 w 49"/>
                <a:gd name="T51" fmla="*/ 69 h 69"/>
                <a:gd name="T52" fmla="*/ 36 w 49"/>
                <a:gd name="T53" fmla="*/ 69 h 69"/>
                <a:gd name="T54" fmla="*/ 36 w 49"/>
                <a:gd name="T55" fmla="*/ 57 h 69"/>
                <a:gd name="T56" fmla="*/ 11 w 49"/>
                <a:gd name="T57" fmla="*/ 18 h 69"/>
                <a:gd name="T58" fmla="*/ 25 w 49"/>
                <a:gd name="T59" fmla="*/ 18 h 69"/>
                <a:gd name="T60" fmla="*/ 27 w 49"/>
                <a:gd name="T61" fmla="*/ 20 h 69"/>
                <a:gd name="T62" fmla="*/ 25 w 49"/>
                <a:gd name="T63" fmla="*/ 22 h 69"/>
                <a:gd name="T64" fmla="*/ 11 w 49"/>
                <a:gd name="T65" fmla="*/ 22 h 69"/>
                <a:gd name="T66" fmla="*/ 9 w 49"/>
                <a:gd name="T67" fmla="*/ 20 h 69"/>
                <a:gd name="T68" fmla="*/ 11 w 49"/>
                <a:gd name="T69" fmla="*/ 18 h 69"/>
                <a:gd name="T70" fmla="*/ 11 w 49"/>
                <a:gd name="T71" fmla="*/ 26 h 69"/>
                <a:gd name="T72" fmla="*/ 31 w 49"/>
                <a:gd name="T73" fmla="*/ 26 h 69"/>
                <a:gd name="T74" fmla="*/ 33 w 49"/>
                <a:gd name="T75" fmla="*/ 29 h 69"/>
                <a:gd name="T76" fmla="*/ 31 w 49"/>
                <a:gd name="T77" fmla="*/ 31 h 69"/>
                <a:gd name="T78" fmla="*/ 11 w 49"/>
                <a:gd name="T79" fmla="*/ 31 h 69"/>
                <a:gd name="T80" fmla="*/ 9 w 49"/>
                <a:gd name="T81" fmla="*/ 29 h 69"/>
                <a:gd name="T82" fmla="*/ 11 w 49"/>
                <a:gd name="T83" fmla="*/ 2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9" h="69">
                  <a:moveTo>
                    <a:pt x="36" y="57"/>
                  </a:moveTo>
                  <a:cubicBezTo>
                    <a:pt x="11" y="57"/>
                    <a:pt x="11" y="57"/>
                    <a:pt x="11" y="57"/>
                  </a:cubicBezTo>
                  <a:cubicBezTo>
                    <a:pt x="9" y="57"/>
                    <a:pt x="9" y="56"/>
                    <a:pt x="9" y="54"/>
                  </a:cubicBezTo>
                  <a:cubicBezTo>
                    <a:pt x="9" y="53"/>
                    <a:pt x="9" y="52"/>
                    <a:pt x="11" y="52"/>
                  </a:cubicBezTo>
                  <a:cubicBezTo>
                    <a:pt x="36" y="52"/>
                    <a:pt x="36" y="52"/>
                    <a:pt x="36" y="52"/>
                  </a:cubicBezTo>
                  <a:cubicBezTo>
                    <a:pt x="36" y="48"/>
                    <a:pt x="36" y="48"/>
                    <a:pt x="36" y="48"/>
                  </a:cubicBezTo>
                  <a:cubicBezTo>
                    <a:pt x="11" y="48"/>
                    <a:pt x="11" y="48"/>
                    <a:pt x="11" y="48"/>
                  </a:cubicBezTo>
                  <a:cubicBezTo>
                    <a:pt x="9" y="48"/>
                    <a:pt x="9" y="47"/>
                    <a:pt x="9" y="46"/>
                  </a:cubicBezTo>
                  <a:cubicBezTo>
                    <a:pt x="9" y="45"/>
                    <a:pt x="9" y="44"/>
                    <a:pt x="11" y="44"/>
                  </a:cubicBezTo>
                  <a:cubicBezTo>
                    <a:pt x="36" y="44"/>
                    <a:pt x="36" y="44"/>
                    <a:pt x="36" y="44"/>
                  </a:cubicBezTo>
                  <a:cubicBezTo>
                    <a:pt x="36" y="40"/>
                    <a:pt x="36" y="40"/>
                    <a:pt x="36" y="40"/>
                  </a:cubicBezTo>
                  <a:cubicBezTo>
                    <a:pt x="36" y="40"/>
                    <a:pt x="35" y="39"/>
                    <a:pt x="35" y="39"/>
                  </a:cubicBezTo>
                  <a:cubicBezTo>
                    <a:pt x="11" y="39"/>
                    <a:pt x="11" y="39"/>
                    <a:pt x="11" y="39"/>
                  </a:cubicBezTo>
                  <a:cubicBezTo>
                    <a:pt x="9" y="39"/>
                    <a:pt x="9" y="38"/>
                    <a:pt x="9" y="37"/>
                  </a:cubicBezTo>
                  <a:cubicBezTo>
                    <a:pt x="9" y="36"/>
                    <a:pt x="9" y="35"/>
                    <a:pt x="11" y="35"/>
                  </a:cubicBezTo>
                  <a:cubicBezTo>
                    <a:pt x="34" y="35"/>
                    <a:pt x="34" y="35"/>
                    <a:pt x="34" y="35"/>
                  </a:cubicBezTo>
                  <a:cubicBezTo>
                    <a:pt x="34" y="31"/>
                    <a:pt x="37" y="29"/>
                    <a:pt x="40" y="29"/>
                  </a:cubicBezTo>
                  <a:cubicBezTo>
                    <a:pt x="49" y="29"/>
                    <a:pt x="49" y="29"/>
                    <a:pt x="49" y="29"/>
                  </a:cubicBezTo>
                  <a:cubicBezTo>
                    <a:pt x="49" y="18"/>
                    <a:pt x="49" y="18"/>
                    <a:pt x="49" y="18"/>
                  </a:cubicBezTo>
                  <a:cubicBezTo>
                    <a:pt x="34" y="18"/>
                    <a:pt x="34" y="18"/>
                    <a:pt x="34" y="18"/>
                  </a:cubicBezTo>
                  <a:cubicBezTo>
                    <a:pt x="32" y="18"/>
                    <a:pt x="32" y="17"/>
                    <a:pt x="32" y="16"/>
                  </a:cubicBezTo>
                  <a:cubicBezTo>
                    <a:pt x="32" y="0"/>
                    <a:pt x="32" y="0"/>
                    <a:pt x="32" y="0"/>
                  </a:cubicBezTo>
                  <a:cubicBezTo>
                    <a:pt x="2" y="0"/>
                    <a:pt x="2" y="0"/>
                    <a:pt x="2" y="0"/>
                  </a:cubicBezTo>
                  <a:cubicBezTo>
                    <a:pt x="1" y="0"/>
                    <a:pt x="0" y="1"/>
                    <a:pt x="0" y="3"/>
                  </a:cubicBezTo>
                  <a:cubicBezTo>
                    <a:pt x="0" y="67"/>
                    <a:pt x="0" y="67"/>
                    <a:pt x="0" y="67"/>
                  </a:cubicBezTo>
                  <a:cubicBezTo>
                    <a:pt x="0" y="68"/>
                    <a:pt x="1" y="69"/>
                    <a:pt x="2" y="69"/>
                  </a:cubicBezTo>
                  <a:cubicBezTo>
                    <a:pt x="36" y="69"/>
                    <a:pt x="36" y="69"/>
                    <a:pt x="36" y="69"/>
                  </a:cubicBezTo>
                  <a:cubicBezTo>
                    <a:pt x="35" y="66"/>
                    <a:pt x="36" y="64"/>
                    <a:pt x="36" y="57"/>
                  </a:cubicBezTo>
                  <a:close/>
                  <a:moveTo>
                    <a:pt x="11" y="18"/>
                  </a:moveTo>
                  <a:cubicBezTo>
                    <a:pt x="25" y="18"/>
                    <a:pt x="25" y="18"/>
                    <a:pt x="25" y="18"/>
                  </a:cubicBezTo>
                  <a:cubicBezTo>
                    <a:pt x="26" y="18"/>
                    <a:pt x="27" y="19"/>
                    <a:pt x="27" y="20"/>
                  </a:cubicBezTo>
                  <a:cubicBezTo>
                    <a:pt x="27" y="21"/>
                    <a:pt x="26" y="22"/>
                    <a:pt x="25" y="22"/>
                  </a:cubicBezTo>
                  <a:cubicBezTo>
                    <a:pt x="11" y="22"/>
                    <a:pt x="11" y="22"/>
                    <a:pt x="11" y="22"/>
                  </a:cubicBezTo>
                  <a:cubicBezTo>
                    <a:pt x="9" y="22"/>
                    <a:pt x="9" y="21"/>
                    <a:pt x="9" y="20"/>
                  </a:cubicBezTo>
                  <a:cubicBezTo>
                    <a:pt x="9" y="19"/>
                    <a:pt x="9" y="18"/>
                    <a:pt x="11" y="18"/>
                  </a:cubicBezTo>
                  <a:close/>
                  <a:moveTo>
                    <a:pt x="11" y="26"/>
                  </a:moveTo>
                  <a:cubicBezTo>
                    <a:pt x="31" y="26"/>
                    <a:pt x="31" y="26"/>
                    <a:pt x="31" y="26"/>
                  </a:cubicBezTo>
                  <a:cubicBezTo>
                    <a:pt x="32" y="26"/>
                    <a:pt x="33" y="27"/>
                    <a:pt x="33" y="29"/>
                  </a:cubicBezTo>
                  <a:cubicBezTo>
                    <a:pt x="33" y="30"/>
                    <a:pt x="32" y="31"/>
                    <a:pt x="31" y="31"/>
                  </a:cubicBezTo>
                  <a:cubicBezTo>
                    <a:pt x="11" y="31"/>
                    <a:pt x="11" y="31"/>
                    <a:pt x="11" y="31"/>
                  </a:cubicBezTo>
                  <a:cubicBezTo>
                    <a:pt x="9" y="31"/>
                    <a:pt x="9" y="30"/>
                    <a:pt x="9" y="29"/>
                  </a:cubicBezTo>
                  <a:cubicBezTo>
                    <a:pt x="9" y="27"/>
                    <a:pt x="9" y="26"/>
                    <a:pt x="1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2" name="Freeform 163">
              <a:extLst>
                <a:ext uri="{FF2B5EF4-FFF2-40B4-BE49-F238E27FC236}">
                  <a16:creationId xmlns:a16="http://schemas.microsoft.com/office/drawing/2014/main" id="{466413D2-3FA0-4B37-9433-1DD70ED96BA6}"/>
                </a:ext>
              </a:extLst>
            </p:cNvPr>
            <p:cNvSpPr>
              <a:spLocks/>
            </p:cNvSpPr>
            <p:nvPr/>
          </p:nvSpPr>
          <p:spPr bwMode="auto">
            <a:xfrm>
              <a:off x="1223957" y="4110068"/>
              <a:ext cx="39687" cy="26988"/>
            </a:xfrm>
            <a:custGeom>
              <a:avLst/>
              <a:gdLst>
                <a:gd name="T0" fmla="*/ 19 w 22"/>
                <a:gd name="T1" fmla="*/ 0 h 15"/>
                <a:gd name="T2" fmla="*/ 2 w 22"/>
                <a:gd name="T3" fmla="*/ 0 h 15"/>
                <a:gd name="T4" fmla="*/ 0 w 22"/>
                <a:gd name="T5" fmla="*/ 2 h 15"/>
                <a:gd name="T6" fmla="*/ 2 w 22"/>
                <a:gd name="T7" fmla="*/ 4 h 15"/>
                <a:gd name="T8" fmla="*/ 2 w 22"/>
                <a:gd name="T9" fmla="*/ 15 h 15"/>
                <a:gd name="T10" fmla="*/ 19 w 22"/>
                <a:gd name="T11" fmla="*/ 15 h 15"/>
                <a:gd name="T12" fmla="*/ 19 w 22"/>
                <a:gd name="T13" fmla="*/ 4 h 15"/>
                <a:gd name="T14" fmla="*/ 19 w 22"/>
                <a:gd name="T15" fmla="*/ 4 h 15"/>
                <a:gd name="T16" fmla="*/ 22 w 22"/>
                <a:gd name="T17" fmla="*/ 2 h 15"/>
                <a:gd name="T18" fmla="*/ 19 w 22"/>
                <a:gd name="T19"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15">
                  <a:moveTo>
                    <a:pt x="19" y="0"/>
                  </a:moveTo>
                  <a:cubicBezTo>
                    <a:pt x="2" y="0"/>
                    <a:pt x="2" y="0"/>
                    <a:pt x="2" y="0"/>
                  </a:cubicBezTo>
                  <a:cubicBezTo>
                    <a:pt x="1" y="0"/>
                    <a:pt x="0" y="1"/>
                    <a:pt x="0" y="2"/>
                  </a:cubicBezTo>
                  <a:cubicBezTo>
                    <a:pt x="0" y="3"/>
                    <a:pt x="1" y="4"/>
                    <a:pt x="2" y="4"/>
                  </a:cubicBezTo>
                  <a:cubicBezTo>
                    <a:pt x="2" y="15"/>
                    <a:pt x="2" y="15"/>
                    <a:pt x="2" y="15"/>
                  </a:cubicBezTo>
                  <a:cubicBezTo>
                    <a:pt x="19" y="15"/>
                    <a:pt x="19" y="15"/>
                    <a:pt x="19" y="15"/>
                  </a:cubicBezTo>
                  <a:cubicBezTo>
                    <a:pt x="19" y="4"/>
                    <a:pt x="19" y="4"/>
                    <a:pt x="19" y="4"/>
                  </a:cubicBezTo>
                  <a:cubicBezTo>
                    <a:pt x="19" y="4"/>
                    <a:pt x="19" y="4"/>
                    <a:pt x="19" y="4"/>
                  </a:cubicBezTo>
                  <a:cubicBezTo>
                    <a:pt x="21" y="4"/>
                    <a:pt x="22" y="3"/>
                    <a:pt x="22" y="2"/>
                  </a:cubicBezTo>
                  <a:cubicBezTo>
                    <a:pt x="22" y="1"/>
                    <a:pt x="21"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3" name="Freeform 164">
              <a:extLst>
                <a:ext uri="{FF2B5EF4-FFF2-40B4-BE49-F238E27FC236}">
                  <a16:creationId xmlns:a16="http://schemas.microsoft.com/office/drawing/2014/main" id="{5D10C75A-B174-4986-A14F-54E9C7D1A598}"/>
                </a:ext>
              </a:extLst>
            </p:cNvPr>
            <p:cNvSpPr>
              <a:spLocks/>
            </p:cNvSpPr>
            <p:nvPr/>
          </p:nvSpPr>
          <p:spPr bwMode="auto">
            <a:xfrm>
              <a:off x="1227132" y="4143406"/>
              <a:ext cx="30162" cy="39688"/>
            </a:xfrm>
            <a:custGeom>
              <a:avLst/>
              <a:gdLst>
                <a:gd name="T0" fmla="*/ 0 w 17"/>
                <a:gd name="T1" fmla="*/ 13 h 22"/>
                <a:gd name="T2" fmla="*/ 9 w 17"/>
                <a:gd name="T3" fmla="*/ 22 h 22"/>
                <a:gd name="T4" fmla="*/ 17 w 17"/>
                <a:gd name="T5" fmla="*/ 13 h 22"/>
                <a:gd name="T6" fmla="*/ 17 w 17"/>
                <a:gd name="T7" fmla="*/ 0 h 22"/>
                <a:gd name="T8" fmla="*/ 0 w 17"/>
                <a:gd name="T9" fmla="*/ 0 h 22"/>
                <a:gd name="T10" fmla="*/ 0 w 17"/>
                <a:gd name="T11" fmla="*/ 13 h 22"/>
              </a:gdLst>
              <a:ahLst/>
              <a:cxnLst>
                <a:cxn ang="0">
                  <a:pos x="T0" y="T1"/>
                </a:cxn>
                <a:cxn ang="0">
                  <a:pos x="T2" y="T3"/>
                </a:cxn>
                <a:cxn ang="0">
                  <a:pos x="T4" y="T5"/>
                </a:cxn>
                <a:cxn ang="0">
                  <a:pos x="T6" y="T7"/>
                </a:cxn>
                <a:cxn ang="0">
                  <a:pos x="T8" y="T9"/>
                </a:cxn>
                <a:cxn ang="0">
                  <a:pos x="T10" y="T11"/>
                </a:cxn>
              </a:cxnLst>
              <a:rect l="0" t="0" r="r" b="b"/>
              <a:pathLst>
                <a:path w="17" h="22">
                  <a:moveTo>
                    <a:pt x="0" y="13"/>
                  </a:moveTo>
                  <a:cubicBezTo>
                    <a:pt x="0" y="18"/>
                    <a:pt x="4" y="22"/>
                    <a:pt x="9" y="22"/>
                  </a:cubicBezTo>
                  <a:cubicBezTo>
                    <a:pt x="13" y="22"/>
                    <a:pt x="17" y="18"/>
                    <a:pt x="17" y="13"/>
                  </a:cubicBezTo>
                  <a:cubicBezTo>
                    <a:pt x="17" y="0"/>
                    <a:pt x="17" y="0"/>
                    <a:pt x="17" y="0"/>
                  </a:cubicBezTo>
                  <a:cubicBezTo>
                    <a:pt x="0" y="0"/>
                    <a:pt x="0" y="0"/>
                    <a:pt x="0" y="0"/>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04" name="Freeform 165">
            <a:extLst>
              <a:ext uri="{FF2B5EF4-FFF2-40B4-BE49-F238E27FC236}">
                <a16:creationId xmlns:a16="http://schemas.microsoft.com/office/drawing/2014/main" id="{3ADD57CE-F783-4348-BCD6-A7EB5261C77D}"/>
              </a:ext>
            </a:extLst>
          </p:cNvPr>
          <p:cNvSpPr>
            <a:spLocks/>
          </p:cNvSpPr>
          <p:nvPr/>
        </p:nvSpPr>
        <p:spPr bwMode="auto">
          <a:xfrm>
            <a:off x="5853204" y="4348122"/>
            <a:ext cx="296827" cy="300686"/>
          </a:xfrm>
          <a:custGeom>
            <a:avLst/>
            <a:gdLst>
              <a:gd name="T0" fmla="*/ 60 w 68"/>
              <a:gd name="T1" fmla="*/ 52 h 69"/>
              <a:gd name="T2" fmla="*/ 55 w 68"/>
              <a:gd name="T3" fmla="*/ 54 h 69"/>
              <a:gd name="T4" fmla="*/ 43 w 68"/>
              <a:gd name="T5" fmla="*/ 42 h 69"/>
              <a:gd name="T6" fmla="*/ 43 w 68"/>
              <a:gd name="T7" fmla="*/ 41 h 69"/>
              <a:gd name="T8" fmla="*/ 45 w 68"/>
              <a:gd name="T9" fmla="*/ 34 h 69"/>
              <a:gd name="T10" fmla="*/ 41 w 68"/>
              <a:gd name="T11" fmla="*/ 25 h 69"/>
              <a:gd name="T12" fmla="*/ 46 w 68"/>
              <a:gd name="T13" fmla="*/ 16 h 69"/>
              <a:gd name="T14" fmla="*/ 48 w 68"/>
              <a:gd name="T15" fmla="*/ 17 h 69"/>
              <a:gd name="T16" fmla="*/ 57 w 68"/>
              <a:gd name="T17" fmla="*/ 9 h 69"/>
              <a:gd name="T18" fmla="*/ 48 w 68"/>
              <a:gd name="T19" fmla="*/ 0 h 69"/>
              <a:gd name="T20" fmla="*/ 40 w 68"/>
              <a:gd name="T21" fmla="*/ 9 h 69"/>
              <a:gd name="T22" fmla="*/ 43 w 68"/>
              <a:gd name="T23" fmla="*/ 15 h 69"/>
              <a:gd name="T24" fmla="*/ 38 w 68"/>
              <a:gd name="T25" fmla="*/ 24 h 69"/>
              <a:gd name="T26" fmla="*/ 34 w 68"/>
              <a:gd name="T27" fmla="*/ 23 h 69"/>
              <a:gd name="T28" fmla="*/ 27 w 68"/>
              <a:gd name="T29" fmla="*/ 25 h 69"/>
              <a:gd name="T30" fmla="*/ 27 w 68"/>
              <a:gd name="T31" fmla="*/ 25 h 69"/>
              <a:gd name="T32" fmla="*/ 20 w 68"/>
              <a:gd name="T33" fmla="*/ 18 h 69"/>
              <a:gd name="T34" fmla="*/ 20 w 68"/>
              <a:gd name="T35" fmla="*/ 16 h 69"/>
              <a:gd name="T36" fmla="*/ 15 w 68"/>
              <a:gd name="T37" fmla="*/ 10 h 69"/>
              <a:gd name="T38" fmla="*/ 10 w 68"/>
              <a:gd name="T39" fmla="*/ 16 h 69"/>
              <a:gd name="T40" fmla="*/ 15 w 68"/>
              <a:gd name="T41" fmla="*/ 21 h 69"/>
              <a:gd name="T42" fmla="*/ 18 w 68"/>
              <a:gd name="T43" fmla="*/ 20 h 69"/>
              <a:gd name="T44" fmla="*/ 24 w 68"/>
              <a:gd name="T45" fmla="*/ 27 h 69"/>
              <a:gd name="T46" fmla="*/ 24 w 68"/>
              <a:gd name="T47" fmla="*/ 27 h 69"/>
              <a:gd name="T48" fmla="*/ 22 w 68"/>
              <a:gd name="T49" fmla="*/ 34 h 69"/>
              <a:gd name="T50" fmla="*/ 24 w 68"/>
              <a:gd name="T51" fmla="*/ 41 h 69"/>
              <a:gd name="T52" fmla="*/ 13 w 68"/>
              <a:gd name="T53" fmla="*/ 50 h 69"/>
              <a:gd name="T54" fmla="*/ 8 w 68"/>
              <a:gd name="T55" fmla="*/ 49 h 69"/>
              <a:gd name="T56" fmla="*/ 0 w 68"/>
              <a:gd name="T57" fmla="*/ 57 h 69"/>
              <a:gd name="T58" fmla="*/ 8 w 68"/>
              <a:gd name="T59" fmla="*/ 65 h 69"/>
              <a:gd name="T60" fmla="*/ 16 w 68"/>
              <a:gd name="T61" fmla="*/ 57 h 69"/>
              <a:gd name="T62" fmla="*/ 15 w 68"/>
              <a:gd name="T63" fmla="*/ 53 h 69"/>
              <a:gd name="T64" fmla="*/ 26 w 68"/>
              <a:gd name="T65" fmla="*/ 43 h 69"/>
              <a:gd name="T66" fmla="*/ 34 w 68"/>
              <a:gd name="T67" fmla="*/ 46 h 69"/>
              <a:gd name="T68" fmla="*/ 41 w 68"/>
              <a:gd name="T69" fmla="*/ 44 h 69"/>
              <a:gd name="T70" fmla="*/ 41 w 68"/>
              <a:gd name="T71" fmla="*/ 44 h 69"/>
              <a:gd name="T72" fmla="*/ 53 w 68"/>
              <a:gd name="T73" fmla="*/ 56 h 69"/>
              <a:gd name="T74" fmla="*/ 52 w 68"/>
              <a:gd name="T75" fmla="*/ 61 h 69"/>
              <a:gd name="T76" fmla="*/ 60 w 68"/>
              <a:gd name="T77" fmla="*/ 69 h 69"/>
              <a:gd name="T78" fmla="*/ 68 w 68"/>
              <a:gd name="T79" fmla="*/ 61 h 69"/>
              <a:gd name="T80" fmla="*/ 60 w 68"/>
              <a:gd name="T81" fmla="*/ 52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69">
                <a:moveTo>
                  <a:pt x="60" y="52"/>
                </a:moveTo>
                <a:cubicBezTo>
                  <a:pt x="58" y="52"/>
                  <a:pt x="57" y="53"/>
                  <a:pt x="55" y="54"/>
                </a:cubicBezTo>
                <a:cubicBezTo>
                  <a:pt x="43" y="42"/>
                  <a:pt x="43" y="42"/>
                  <a:pt x="43" y="42"/>
                </a:cubicBezTo>
                <a:cubicBezTo>
                  <a:pt x="43" y="42"/>
                  <a:pt x="43" y="42"/>
                  <a:pt x="43" y="41"/>
                </a:cubicBezTo>
                <a:cubicBezTo>
                  <a:pt x="45" y="39"/>
                  <a:pt x="45" y="37"/>
                  <a:pt x="45" y="34"/>
                </a:cubicBezTo>
                <a:cubicBezTo>
                  <a:pt x="45" y="31"/>
                  <a:pt x="44" y="27"/>
                  <a:pt x="41" y="25"/>
                </a:cubicBezTo>
                <a:cubicBezTo>
                  <a:pt x="46" y="16"/>
                  <a:pt x="46" y="16"/>
                  <a:pt x="46" y="16"/>
                </a:cubicBezTo>
                <a:cubicBezTo>
                  <a:pt x="47" y="17"/>
                  <a:pt x="47" y="17"/>
                  <a:pt x="48" y="17"/>
                </a:cubicBezTo>
                <a:cubicBezTo>
                  <a:pt x="53" y="17"/>
                  <a:pt x="57" y="13"/>
                  <a:pt x="57" y="9"/>
                </a:cubicBezTo>
                <a:cubicBezTo>
                  <a:pt x="57" y="4"/>
                  <a:pt x="53" y="0"/>
                  <a:pt x="48" y="0"/>
                </a:cubicBezTo>
                <a:cubicBezTo>
                  <a:pt x="44" y="0"/>
                  <a:pt x="40" y="4"/>
                  <a:pt x="40" y="9"/>
                </a:cubicBezTo>
                <a:cubicBezTo>
                  <a:pt x="40" y="11"/>
                  <a:pt x="41" y="13"/>
                  <a:pt x="43" y="15"/>
                </a:cubicBezTo>
                <a:cubicBezTo>
                  <a:pt x="38" y="24"/>
                  <a:pt x="38" y="24"/>
                  <a:pt x="38" y="24"/>
                </a:cubicBezTo>
                <a:cubicBezTo>
                  <a:pt x="37" y="23"/>
                  <a:pt x="35" y="23"/>
                  <a:pt x="34" y="23"/>
                </a:cubicBezTo>
                <a:cubicBezTo>
                  <a:pt x="31" y="23"/>
                  <a:pt x="29" y="24"/>
                  <a:pt x="27" y="25"/>
                </a:cubicBezTo>
                <a:cubicBezTo>
                  <a:pt x="27" y="25"/>
                  <a:pt x="27" y="25"/>
                  <a:pt x="27" y="25"/>
                </a:cubicBezTo>
                <a:cubicBezTo>
                  <a:pt x="20" y="18"/>
                  <a:pt x="20" y="18"/>
                  <a:pt x="20" y="18"/>
                </a:cubicBezTo>
                <a:cubicBezTo>
                  <a:pt x="20" y="17"/>
                  <a:pt x="20" y="17"/>
                  <a:pt x="20" y="16"/>
                </a:cubicBezTo>
                <a:cubicBezTo>
                  <a:pt x="20" y="13"/>
                  <a:pt x="18" y="10"/>
                  <a:pt x="15" y="10"/>
                </a:cubicBezTo>
                <a:cubicBezTo>
                  <a:pt x="12" y="10"/>
                  <a:pt x="10" y="13"/>
                  <a:pt x="10" y="16"/>
                </a:cubicBezTo>
                <a:cubicBezTo>
                  <a:pt x="10" y="19"/>
                  <a:pt x="12" y="21"/>
                  <a:pt x="15" y="21"/>
                </a:cubicBezTo>
                <a:cubicBezTo>
                  <a:pt x="16" y="21"/>
                  <a:pt x="17" y="21"/>
                  <a:pt x="18" y="20"/>
                </a:cubicBezTo>
                <a:cubicBezTo>
                  <a:pt x="24" y="27"/>
                  <a:pt x="24" y="27"/>
                  <a:pt x="24" y="27"/>
                </a:cubicBezTo>
                <a:cubicBezTo>
                  <a:pt x="24" y="27"/>
                  <a:pt x="24" y="27"/>
                  <a:pt x="24" y="27"/>
                </a:cubicBezTo>
                <a:cubicBezTo>
                  <a:pt x="23" y="29"/>
                  <a:pt x="22" y="32"/>
                  <a:pt x="22" y="34"/>
                </a:cubicBezTo>
                <a:cubicBezTo>
                  <a:pt x="22" y="37"/>
                  <a:pt x="23" y="39"/>
                  <a:pt x="24" y="41"/>
                </a:cubicBezTo>
                <a:cubicBezTo>
                  <a:pt x="13" y="50"/>
                  <a:pt x="13" y="50"/>
                  <a:pt x="13" y="50"/>
                </a:cubicBezTo>
                <a:cubicBezTo>
                  <a:pt x="11" y="49"/>
                  <a:pt x="10" y="49"/>
                  <a:pt x="8" y="49"/>
                </a:cubicBezTo>
                <a:cubicBezTo>
                  <a:pt x="3" y="49"/>
                  <a:pt x="0" y="53"/>
                  <a:pt x="0" y="57"/>
                </a:cubicBezTo>
                <a:cubicBezTo>
                  <a:pt x="0" y="62"/>
                  <a:pt x="3" y="65"/>
                  <a:pt x="8" y="65"/>
                </a:cubicBezTo>
                <a:cubicBezTo>
                  <a:pt x="12" y="65"/>
                  <a:pt x="16" y="62"/>
                  <a:pt x="16" y="57"/>
                </a:cubicBezTo>
                <a:cubicBezTo>
                  <a:pt x="16" y="56"/>
                  <a:pt x="16" y="54"/>
                  <a:pt x="15" y="53"/>
                </a:cubicBezTo>
                <a:cubicBezTo>
                  <a:pt x="26" y="43"/>
                  <a:pt x="26" y="43"/>
                  <a:pt x="26" y="43"/>
                </a:cubicBezTo>
                <a:cubicBezTo>
                  <a:pt x="28" y="45"/>
                  <a:pt x="31" y="46"/>
                  <a:pt x="34" y="46"/>
                </a:cubicBezTo>
                <a:cubicBezTo>
                  <a:pt x="36" y="46"/>
                  <a:pt x="39" y="45"/>
                  <a:pt x="41" y="44"/>
                </a:cubicBezTo>
                <a:cubicBezTo>
                  <a:pt x="41" y="44"/>
                  <a:pt x="41" y="44"/>
                  <a:pt x="41" y="44"/>
                </a:cubicBezTo>
                <a:cubicBezTo>
                  <a:pt x="53" y="56"/>
                  <a:pt x="53" y="56"/>
                  <a:pt x="53" y="56"/>
                </a:cubicBezTo>
                <a:cubicBezTo>
                  <a:pt x="52" y="57"/>
                  <a:pt x="52" y="59"/>
                  <a:pt x="52" y="61"/>
                </a:cubicBezTo>
                <a:cubicBezTo>
                  <a:pt x="52" y="65"/>
                  <a:pt x="55" y="69"/>
                  <a:pt x="60" y="69"/>
                </a:cubicBezTo>
                <a:cubicBezTo>
                  <a:pt x="64" y="69"/>
                  <a:pt x="68" y="65"/>
                  <a:pt x="68" y="61"/>
                </a:cubicBezTo>
                <a:cubicBezTo>
                  <a:pt x="68" y="56"/>
                  <a:pt x="64" y="52"/>
                  <a:pt x="60" y="5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5" name="Freeform 166">
            <a:extLst>
              <a:ext uri="{FF2B5EF4-FFF2-40B4-BE49-F238E27FC236}">
                <a16:creationId xmlns:a16="http://schemas.microsoft.com/office/drawing/2014/main" id="{39313E9B-265E-4392-BB81-98AB9EDC8CDD}"/>
              </a:ext>
            </a:extLst>
          </p:cNvPr>
          <p:cNvSpPr>
            <a:spLocks noEditPoints="1"/>
          </p:cNvSpPr>
          <p:nvPr/>
        </p:nvSpPr>
        <p:spPr bwMode="auto">
          <a:xfrm>
            <a:off x="6710480" y="4310119"/>
            <a:ext cx="321850" cy="330435"/>
          </a:xfrm>
          <a:custGeom>
            <a:avLst/>
            <a:gdLst>
              <a:gd name="T0" fmla="*/ 41 w 66"/>
              <a:gd name="T1" fmla="*/ 62 h 68"/>
              <a:gd name="T2" fmla="*/ 38 w 66"/>
              <a:gd name="T3" fmla="*/ 67 h 68"/>
              <a:gd name="T4" fmla="*/ 31 w 66"/>
              <a:gd name="T5" fmla="*/ 68 h 68"/>
              <a:gd name="T6" fmla="*/ 28 w 66"/>
              <a:gd name="T7" fmla="*/ 65 h 68"/>
              <a:gd name="T8" fmla="*/ 25 w 66"/>
              <a:gd name="T9" fmla="*/ 60 h 68"/>
              <a:gd name="T10" fmla="*/ 39 w 66"/>
              <a:gd name="T11" fmla="*/ 58 h 68"/>
              <a:gd name="T12" fmla="*/ 50 w 66"/>
              <a:gd name="T13" fmla="*/ 33 h 68"/>
              <a:gd name="T14" fmla="*/ 41 w 66"/>
              <a:gd name="T15" fmla="*/ 53 h 68"/>
              <a:gd name="T16" fmla="*/ 28 w 66"/>
              <a:gd name="T17" fmla="*/ 55 h 68"/>
              <a:gd name="T18" fmla="*/ 21 w 66"/>
              <a:gd name="T19" fmla="*/ 44 h 68"/>
              <a:gd name="T20" fmla="*/ 33 w 66"/>
              <a:gd name="T21" fmla="*/ 16 h 68"/>
              <a:gd name="T22" fmla="*/ 35 w 66"/>
              <a:gd name="T23" fmla="*/ 22 h 68"/>
              <a:gd name="T24" fmla="*/ 21 w 66"/>
              <a:gd name="T25" fmla="*/ 33 h 68"/>
              <a:gd name="T26" fmla="*/ 25 w 66"/>
              <a:gd name="T27" fmla="*/ 33 h 68"/>
              <a:gd name="T28" fmla="*/ 35 w 66"/>
              <a:gd name="T29" fmla="*/ 22 h 68"/>
              <a:gd name="T30" fmla="*/ 35 w 66"/>
              <a:gd name="T31" fmla="*/ 8 h 68"/>
              <a:gd name="T32" fmla="*/ 33 w 66"/>
              <a:gd name="T33" fmla="*/ 0 h 68"/>
              <a:gd name="T34" fmla="*/ 31 w 66"/>
              <a:gd name="T35" fmla="*/ 8 h 68"/>
              <a:gd name="T36" fmla="*/ 11 w 66"/>
              <a:gd name="T37" fmla="*/ 33 h 68"/>
              <a:gd name="T38" fmla="*/ 2 w 66"/>
              <a:gd name="T39" fmla="*/ 31 h 68"/>
              <a:gd name="T40" fmla="*/ 2 w 66"/>
              <a:gd name="T41" fmla="*/ 35 h 68"/>
              <a:gd name="T42" fmla="*/ 11 w 66"/>
              <a:gd name="T43" fmla="*/ 33 h 68"/>
              <a:gd name="T44" fmla="*/ 57 w 66"/>
              <a:gd name="T45" fmla="*/ 31 h 68"/>
              <a:gd name="T46" fmla="*/ 57 w 66"/>
              <a:gd name="T47" fmla="*/ 35 h 68"/>
              <a:gd name="T48" fmla="*/ 66 w 66"/>
              <a:gd name="T49" fmla="*/ 33 h 68"/>
              <a:gd name="T50" fmla="*/ 15 w 66"/>
              <a:gd name="T51" fmla="*/ 48 h 68"/>
              <a:gd name="T52" fmla="*/ 10 w 66"/>
              <a:gd name="T53" fmla="*/ 56 h 68"/>
              <a:gd name="T54" fmla="*/ 12 w 66"/>
              <a:gd name="T55" fmla="*/ 56 h 68"/>
              <a:gd name="T56" fmla="*/ 17 w 66"/>
              <a:gd name="T57" fmla="*/ 48 h 68"/>
              <a:gd name="T58" fmla="*/ 50 w 66"/>
              <a:gd name="T59" fmla="*/ 17 h 68"/>
              <a:gd name="T60" fmla="*/ 56 w 66"/>
              <a:gd name="T61" fmla="*/ 12 h 68"/>
              <a:gd name="T62" fmla="*/ 54 w 66"/>
              <a:gd name="T63" fmla="*/ 9 h 68"/>
              <a:gd name="T64" fmla="*/ 49 w 66"/>
              <a:gd name="T65" fmla="*/ 17 h 68"/>
              <a:gd name="T66" fmla="*/ 15 w 66"/>
              <a:gd name="T67" fmla="*/ 17 h 68"/>
              <a:gd name="T68" fmla="*/ 17 w 66"/>
              <a:gd name="T69" fmla="*/ 17 h 68"/>
              <a:gd name="T70" fmla="*/ 12 w 66"/>
              <a:gd name="T71" fmla="*/ 9 h 68"/>
              <a:gd name="T72" fmla="*/ 10 w 66"/>
              <a:gd name="T73" fmla="*/ 12 h 68"/>
              <a:gd name="T74" fmla="*/ 52 w 66"/>
              <a:gd name="T75" fmla="*/ 48 h 68"/>
              <a:gd name="T76" fmla="*/ 49 w 66"/>
              <a:gd name="T77" fmla="*/ 51 h 68"/>
              <a:gd name="T78" fmla="*/ 55 w 66"/>
              <a:gd name="T79" fmla="*/ 56 h 68"/>
              <a:gd name="T80" fmla="*/ 56 w 66"/>
              <a:gd name="T81" fmla="*/ 5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6" h="68">
                <a:moveTo>
                  <a:pt x="41" y="60"/>
                </a:moveTo>
                <a:cubicBezTo>
                  <a:pt x="41" y="62"/>
                  <a:pt x="41" y="62"/>
                  <a:pt x="41" y="62"/>
                </a:cubicBezTo>
                <a:cubicBezTo>
                  <a:pt x="41" y="63"/>
                  <a:pt x="40" y="65"/>
                  <a:pt x="38" y="65"/>
                </a:cubicBezTo>
                <a:cubicBezTo>
                  <a:pt x="38" y="67"/>
                  <a:pt x="38" y="67"/>
                  <a:pt x="38" y="67"/>
                </a:cubicBezTo>
                <a:cubicBezTo>
                  <a:pt x="37" y="68"/>
                  <a:pt x="37" y="68"/>
                  <a:pt x="36" y="68"/>
                </a:cubicBezTo>
                <a:cubicBezTo>
                  <a:pt x="31" y="68"/>
                  <a:pt x="31" y="68"/>
                  <a:pt x="31" y="68"/>
                </a:cubicBezTo>
                <a:cubicBezTo>
                  <a:pt x="30" y="68"/>
                  <a:pt x="29" y="68"/>
                  <a:pt x="28" y="67"/>
                </a:cubicBezTo>
                <a:cubicBezTo>
                  <a:pt x="28" y="65"/>
                  <a:pt x="28" y="65"/>
                  <a:pt x="28" y="65"/>
                </a:cubicBezTo>
                <a:cubicBezTo>
                  <a:pt x="26" y="65"/>
                  <a:pt x="25" y="63"/>
                  <a:pt x="25" y="62"/>
                </a:cubicBezTo>
                <a:cubicBezTo>
                  <a:pt x="25" y="60"/>
                  <a:pt x="25" y="60"/>
                  <a:pt x="25" y="60"/>
                </a:cubicBezTo>
                <a:cubicBezTo>
                  <a:pt x="25" y="59"/>
                  <a:pt x="26" y="58"/>
                  <a:pt x="27" y="58"/>
                </a:cubicBezTo>
                <a:cubicBezTo>
                  <a:pt x="39" y="58"/>
                  <a:pt x="39" y="58"/>
                  <a:pt x="39" y="58"/>
                </a:cubicBezTo>
                <a:cubicBezTo>
                  <a:pt x="40" y="58"/>
                  <a:pt x="41" y="59"/>
                  <a:pt x="41" y="60"/>
                </a:cubicBezTo>
                <a:close/>
                <a:moveTo>
                  <a:pt x="50" y="33"/>
                </a:moveTo>
                <a:cubicBezTo>
                  <a:pt x="50" y="37"/>
                  <a:pt x="48" y="41"/>
                  <a:pt x="45" y="44"/>
                </a:cubicBezTo>
                <a:cubicBezTo>
                  <a:pt x="43" y="47"/>
                  <a:pt x="42" y="50"/>
                  <a:pt x="41" y="53"/>
                </a:cubicBezTo>
                <a:cubicBezTo>
                  <a:pt x="41" y="54"/>
                  <a:pt x="40" y="55"/>
                  <a:pt x="38" y="55"/>
                </a:cubicBezTo>
                <a:cubicBezTo>
                  <a:pt x="28" y="55"/>
                  <a:pt x="28" y="55"/>
                  <a:pt x="28" y="55"/>
                </a:cubicBezTo>
                <a:cubicBezTo>
                  <a:pt x="26" y="55"/>
                  <a:pt x="25" y="54"/>
                  <a:pt x="25" y="53"/>
                </a:cubicBezTo>
                <a:cubicBezTo>
                  <a:pt x="25" y="50"/>
                  <a:pt x="23" y="47"/>
                  <a:pt x="21" y="44"/>
                </a:cubicBezTo>
                <a:cubicBezTo>
                  <a:pt x="18" y="41"/>
                  <a:pt x="16" y="37"/>
                  <a:pt x="16" y="33"/>
                </a:cubicBezTo>
                <a:cubicBezTo>
                  <a:pt x="16" y="23"/>
                  <a:pt x="24" y="16"/>
                  <a:pt x="33" y="16"/>
                </a:cubicBezTo>
                <a:cubicBezTo>
                  <a:pt x="42" y="16"/>
                  <a:pt x="50" y="23"/>
                  <a:pt x="50" y="33"/>
                </a:cubicBezTo>
                <a:close/>
                <a:moveTo>
                  <a:pt x="35" y="22"/>
                </a:moveTo>
                <a:cubicBezTo>
                  <a:pt x="35" y="21"/>
                  <a:pt x="34" y="21"/>
                  <a:pt x="33" y="21"/>
                </a:cubicBezTo>
                <a:cubicBezTo>
                  <a:pt x="26" y="21"/>
                  <a:pt x="21" y="26"/>
                  <a:pt x="21" y="33"/>
                </a:cubicBezTo>
                <a:cubicBezTo>
                  <a:pt x="21" y="34"/>
                  <a:pt x="22" y="35"/>
                  <a:pt x="23" y="35"/>
                </a:cubicBezTo>
                <a:cubicBezTo>
                  <a:pt x="24" y="35"/>
                  <a:pt x="25" y="34"/>
                  <a:pt x="25" y="33"/>
                </a:cubicBezTo>
                <a:cubicBezTo>
                  <a:pt x="25" y="28"/>
                  <a:pt x="28" y="24"/>
                  <a:pt x="33" y="24"/>
                </a:cubicBezTo>
                <a:cubicBezTo>
                  <a:pt x="34" y="24"/>
                  <a:pt x="35" y="23"/>
                  <a:pt x="35" y="22"/>
                </a:cubicBezTo>
                <a:close/>
                <a:moveTo>
                  <a:pt x="33" y="10"/>
                </a:moveTo>
                <a:cubicBezTo>
                  <a:pt x="34" y="10"/>
                  <a:pt x="35" y="9"/>
                  <a:pt x="35" y="8"/>
                </a:cubicBezTo>
                <a:cubicBezTo>
                  <a:pt x="35" y="2"/>
                  <a:pt x="35" y="2"/>
                  <a:pt x="35" y="2"/>
                </a:cubicBezTo>
                <a:cubicBezTo>
                  <a:pt x="35" y="1"/>
                  <a:pt x="34" y="0"/>
                  <a:pt x="33" y="0"/>
                </a:cubicBezTo>
                <a:cubicBezTo>
                  <a:pt x="32" y="0"/>
                  <a:pt x="31" y="1"/>
                  <a:pt x="31" y="2"/>
                </a:cubicBezTo>
                <a:cubicBezTo>
                  <a:pt x="31" y="8"/>
                  <a:pt x="31" y="8"/>
                  <a:pt x="31" y="8"/>
                </a:cubicBezTo>
                <a:cubicBezTo>
                  <a:pt x="31" y="9"/>
                  <a:pt x="32" y="10"/>
                  <a:pt x="33" y="10"/>
                </a:cubicBezTo>
                <a:close/>
                <a:moveTo>
                  <a:pt x="11" y="33"/>
                </a:moveTo>
                <a:cubicBezTo>
                  <a:pt x="11" y="32"/>
                  <a:pt x="10" y="31"/>
                  <a:pt x="9" y="31"/>
                </a:cubicBezTo>
                <a:cubicBezTo>
                  <a:pt x="2" y="31"/>
                  <a:pt x="2" y="31"/>
                  <a:pt x="2" y="31"/>
                </a:cubicBezTo>
                <a:cubicBezTo>
                  <a:pt x="1" y="31"/>
                  <a:pt x="0" y="32"/>
                  <a:pt x="0" y="33"/>
                </a:cubicBezTo>
                <a:cubicBezTo>
                  <a:pt x="0" y="34"/>
                  <a:pt x="1" y="35"/>
                  <a:pt x="2" y="35"/>
                </a:cubicBezTo>
                <a:cubicBezTo>
                  <a:pt x="9" y="35"/>
                  <a:pt x="9" y="35"/>
                  <a:pt x="9" y="35"/>
                </a:cubicBezTo>
                <a:cubicBezTo>
                  <a:pt x="10" y="35"/>
                  <a:pt x="11" y="34"/>
                  <a:pt x="11" y="33"/>
                </a:cubicBezTo>
                <a:close/>
                <a:moveTo>
                  <a:pt x="64" y="31"/>
                </a:moveTo>
                <a:cubicBezTo>
                  <a:pt x="57" y="31"/>
                  <a:pt x="57" y="31"/>
                  <a:pt x="57" y="31"/>
                </a:cubicBezTo>
                <a:cubicBezTo>
                  <a:pt x="56" y="31"/>
                  <a:pt x="56" y="32"/>
                  <a:pt x="56" y="33"/>
                </a:cubicBezTo>
                <a:cubicBezTo>
                  <a:pt x="56" y="34"/>
                  <a:pt x="56" y="35"/>
                  <a:pt x="57" y="35"/>
                </a:cubicBezTo>
                <a:cubicBezTo>
                  <a:pt x="64" y="35"/>
                  <a:pt x="64" y="35"/>
                  <a:pt x="64" y="35"/>
                </a:cubicBezTo>
                <a:cubicBezTo>
                  <a:pt x="65" y="35"/>
                  <a:pt x="66" y="34"/>
                  <a:pt x="66" y="33"/>
                </a:cubicBezTo>
                <a:cubicBezTo>
                  <a:pt x="66" y="32"/>
                  <a:pt x="65" y="31"/>
                  <a:pt x="64" y="31"/>
                </a:cubicBezTo>
                <a:close/>
                <a:moveTo>
                  <a:pt x="15" y="48"/>
                </a:moveTo>
                <a:cubicBezTo>
                  <a:pt x="10" y="53"/>
                  <a:pt x="10" y="53"/>
                  <a:pt x="10" y="53"/>
                </a:cubicBezTo>
                <a:cubicBezTo>
                  <a:pt x="9" y="54"/>
                  <a:pt x="9" y="55"/>
                  <a:pt x="10" y="56"/>
                </a:cubicBezTo>
                <a:cubicBezTo>
                  <a:pt x="10" y="56"/>
                  <a:pt x="11" y="56"/>
                  <a:pt x="11" y="56"/>
                </a:cubicBezTo>
                <a:cubicBezTo>
                  <a:pt x="12" y="56"/>
                  <a:pt x="12" y="56"/>
                  <a:pt x="12" y="56"/>
                </a:cubicBezTo>
                <a:cubicBezTo>
                  <a:pt x="17" y="51"/>
                  <a:pt x="17" y="51"/>
                  <a:pt x="17" y="51"/>
                </a:cubicBezTo>
                <a:cubicBezTo>
                  <a:pt x="18" y="50"/>
                  <a:pt x="18" y="49"/>
                  <a:pt x="17" y="48"/>
                </a:cubicBezTo>
                <a:cubicBezTo>
                  <a:pt x="16" y="48"/>
                  <a:pt x="15" y="48"/>
                  <a:pt x="15" y="48"/>
                </a:cubicBezTo>
                <a:close/>
                <a:moveTo>
                  <a:pt x="50" y="17"/>
                </a:moveTo>
                <a:cubicBezTo>
                  <a:pt x="51" y="17"/>
                  <a:pt x="51" y="17"/>
                  <a:pt x="52" y="17"/>
                </a:cubicBezTo>
                <a:cubicBezTo>
                  <a:pt x="56" y="12"/>
                  <a:pt x="56" y="12"/>
                  <a:pt x="56" y="12"/>
                </a:cubicBezTo>
                <a:cubicBezTo>
                  <a:pt x="57" y="11"/>
                  <a:pt x="57" y="10"/>
                  <a:pt x="56" y="9"/>
                </a:cubicBezTo>
                <a:cubicBezTo>
                  <a:pt x="56" y="9"/>
                  <a:pt x="54" y="9"/>
                  <a:pt x="54" y="9"/>
                </a:cubicBezTo>
                <a:cubicBezTo>
                  <a:pt x="49" y="14"/>
                  <a:pt x="49" y="14"/>
                  <a:pt x="49" y="14"/>
                </a:cubicBezTo>
                <a:cubicBezTo>
                  <a:pt x="48" y="15"/>
                  <a:pt x="48" y="16"/>
                  <a:pt x="49" y="17"/>
                </a:cubicBezTo>
                <a:cubicBezTo>
                  <a:pt x="49" y="17"/>
                  <a:pt x="50" y="17"/>
                  <a:pt x="50" y="17"/>
                </a:cubicBezTo>
                <a:close/>
                <a:moveTo>
                  <a:pt x="15" y="17"/>
                </a:moveTo>
                <a:cubicBezTo>
                  <a:pt x="15" y="17"/>
                  <a:pt x="15" y="17"/>
                  <a:pt x="16" y="17"/>
                </a:cubicBezTo>
                <a:cubicBezTo>
                  <a:pt x="16" y="17"/>
                  <a:pt x="17" y="17"/>
                  <a:pt x="17" y="17"/>
                </a:cubicBezTo>
                <a:cubicBezTo>
                  <a:pt x="18" y="16"/>
                  <a:pt x="18" y="15"/>
                  <a:pt x="17" y="14"/>
                </a:cubicBezTo>
                <a:cubicBezTo>
                  <a:pt x="12" y="9"/>
                  <a:pt x="12" y="9"/>
                  <a:pt x="12" y="9"/>
                </a:cubicBezTo>
                <a:cubicBezTo>
                  <a:pt x="12" y="9"/>
                  <a:pt x="11" y="9"/>
                  <a:pt x="10" y="9"/>
                </a:cubicBezTo>
                <a:cubicBezTo>
                  <a:pt x="9" y="10"/>
                  <a:pt x="9" y="11"/>
                  <a:pt x="10" y="12"/>
                </a:cubicBezTo>
                <a:lnTo>
                  <a:pt x="15" y="17"/>
                </a:lnTo>
                <a:close/>
                <a:moveTo>
                  <a:pt x="52" y="48"/>
                </a:moveTo>
                <a:cubicBezTo>
                  <a:pt x="51" y="48"/>
                  <a:pt x="50" y="48"/>
                  <a:pt x="49" y="48"/>
                </a:cubicBezTo>
                <a:cubicBezTo>
                  <a:pt x="48" y="49"/>
                  <a:pt x="48" y="50"/>
                  <a:pt x="49" y="51"/>
                </a:cubicBezTo>
                <a:cubicBezTo>
                  <a:pt x="54" y="56"/>
                  <a:pt x="54" y="56"/>
                  <a:pt x="54" y="56"/>
                </a:cubicBezTo>
                <a:cubicBezTo>
                  <a:pt x="54" y="56"/>
                  <a:pt x="55" y="56"/>
                  <a:pt x="55" y="56"/>
                </a:cubicBezTo>
                <a:cubicBezTo>
                  <a:pt x="55" y="56"/>
                  <a:pt x="56" y="56"/>
                  <a:pt x="56" y="56"/>
                </a:cubicBezTo>
                <a:cubicBezTo>
                  <a:pt x="57" y="55"/>
                  <a:pt x="57" y="54"/>
                  <a:pt x="56" y="53"/>
                </a:cubicBezTo>
                <a:lnTo>
                  <a:pt x="52" y="48"/>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06" name="Group 205">
            <a:extLst>
              <a:ext uri="{FF2B5EF4-FFF2-40B4-BE49-F238E27FC236}">
                <a16:creationId xmlns:a16="http://schemas.microsoft.com/office/drawing/2014/main" id="{F50965F2-4D87-403A-A4CE-B199DFCC4E26}"/>
              </a:ext>
            </a:extLst>
          </p:cNvPr>
          <p:cNvGrpSpPr/>
          <p:nvPr/>
        </p:nvGrpSpPr>
        <p:grpSpPr>
          <a:xfrm>
            <a:off x="506776" y="4339387"/>
            <a:ext cx="283803" cy="338874"/>
            <a:chOff x="466725" y="4395820"/>
            <a:chExt cx="106362" cy="127001"/>
          </a:xfrm>
          <a:solidFill>
            <a:schemeClr val="accent1"/>
          </a:solidFill>
        </p:grpSpPr>
        <p:sp>
          <p:nvSpPr>
            <p:cNvPr id="207" name="Freeform 167">
              <a:extLst>
                <a:ext uri="{FF2B5EF4-FFF2-40B4-BE49-F238E27FC236}">
                  <a16:creationId xmlns:a16="http://schemas.microsoft.com/office/drawing/2014/main" id="{0F6B89F2-798E-4216-AB6A-CBB796476A3E}"/>
                </a:ext>
              </a:extLst>
            </p:cNvPr>
            <p:cNvSpPr>
              <a:spLocks/>
            </p:cNvSpPr>
            <p:nvPr/>
          </p:nvSpPr>
          <p:spPr bwMode="auto">
            <a:xfrm>
              <a:off x="466725" y="4395820"/>
              <a:ext cx="106362" cy="14288"/>
            </a:xfrm>
            <a:custGeom>
              <a:avLst/>
              <a:gdLst>
                <a:gd name="T0" fmla="*/ 55 w 59"/>
                <a:gd name="T1" fmla="*/ 4 h 8"/>
                <a:gd name="T2" fmla="*/ 57 w 59"/>
                <a:gd name="T3" fmla="*/ 4 h 8"/>
                <a:gd name="T4" fmla="*/ 59 w 59"/>
                <a:gd name="T5" fmla="*/ 2 h 8"/>
                <a:gd name="T6" fmla="*/ 57 w 59"/>
                <a:gd name="T7" fmla="*/ 0 h 8"/>
                <a:gd name="T8" fmla="*/ 2 w 59"/>
                <a:gd name="T9" fmla="*/ 0 h 8"/>
                <a:gd name="T10" fmla="*/ 0 w 59"/>
                <a:gd name="T11" fmla="*/ 2 h 8"/>
                <a:gd name="T12" fmla="*/ 2 w 59"/>
                <a:gd name="T13" fmla="*/ 4 h 8"/>
                <a:gd name="T14" fmla="*/ 4 w 59"/>
                <a:gd name="T15" fmla="*/ 4 h 8"/>
                <a:gd name="T16" fmla="*/ 4 w 59"/>
                <a:gd name="T17" fmla="*/ 8 h 8"/>
                <a:gd name="T18" fmla="*/ 55 w 59"/>
                <a:gd name="T19" fmla="*/ 8 h 8"/>
                <a:gd name="T20" fmla="*/ 55 w 59"/>
                <a:gd name="T2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
                  <a:moveTo>
                    <a:pt x="55" y="4"/>
                  </a:moveTo>
                  <a:cubicBezTo>
                    <a:pt x="57" y="4"/>
                    <a:pt x="57" y="4"/>
                    <a:pt x="57" y="4"/>
                  </a:cubicBezTo>
                  <a:cubicBezTo>
                    <a:pt x="58" y="4"/>
                    <a:pt x="59" y="3"/>
                    <a:pt x="59" y="2"/>
                  </a:cubicBezTo>
                  <a:cubicBezTo>
                    <a:pt x="59" y="1"/>
                    <a:pt x="58" y="0"/>
                    <a:pt x="57" y="0"/>
                  </a:cubicBezTo>
                  <a:cubicBezTo>
                    <a:pt x="2" y="0"/>
                    <a:pt x="2" y="0"/>
                    <a:pt x="2" y="0"/>
                  </a:cubicBezTo>
                  <a:cubicBezTo>
                    <a:pt x="1" y="0"/>
                    <a:pt x="0" y="1"/>
                    <a:pt x="0" y="2"/>
                  </a:cubicBezTo>
                  <a:cubicBezTo>
                    <a:pt x="0" y="3"/>
                    <a:pt x="1" y="4"/>
                    <a:pt x="2" y="4"/>
                  </a:cubicBezTo>
                  <a:cubicBezTo>
                    <a:pt x="4" y="4"/>
                    <a:pt x="4" y="4"/>
                    <a:pt x="4" y="4"/>
                  </a:cubicBezTo>
                  <a:cubicBezTo>
                    <a:pt x="4" y="8"/>
                    <a:pt x="4" y="8"/>
                    <a:pt x="4" y="8"/>
                  </a:cubicBezTo>
                  <a:cubicBezTo>
                    <a:pt x="55" y="8"/>
                    <a:pt x="55" y="8"/>
                    <a:pt x="55" y="8"/>
                  </a:cubicBezTo>
                  <a:lnTo>
                    <a:pt x="5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8" name="Freeform 168">
              <a:extLst>
                <a:ext uri="{FF2B5EF4-FFF2-40B4-BE49-F238E27FC236}">
                  <a16:creationId xmlns:a16="http://schemas.microsoft.com/office/drawing/2014/main" id="{C06380E7-14F6-47E5-90EE-E00559E1498C}"/>
                </a:ext>
              </a:extLst>
            </p:cNvPr>
            <p:cNvSpPr>
              <a:spLocks/>
            </p:cNvSpPr>
            <p:nvPr/>
          </p:nvSpPr>
          <p:spPr bwMode="auto">
            <a:xfrm>
              <a:off x="466725" y="4506946"/>
              <a:ext cx="106362" cy="15875"/>
            </a:xfrm>
            <a:custGeom>
              <a:avLst/>
              <a:gdLst>
                <a:gd name="T0" fmla="*/ 4 w 59"/>
                <a:gd name="T1" fmla="*/ 4 h 9"/>
                <a:gd name="T2" fmla="*/ 2 w 59"/>
                <a:gd name="T3" fmla="*/ 4 h 9"/>
                <a:gd name="T4" fmla="*/ 0 w 59"/>
                <a:gd name="T5" fmla="*/ 6 h 9"/>
                <a:gd name="T6" fmla="*/ 2 w 59"/>
                <a:gd name="T7" fmla="*/ 9 h 9"/>
                <a:gd name="T8" fmla="*/ 57 w 59"/>
                <a:gd name="T9" fmla="*/ 9 h 9"/>
                <a:gd name="T10" fmla="*/ 59 w 59"/>
                <a:gd name="T11" fmla="*/ 6 h 9"/>
                <a:gd name="T12" fmla="*/ 57 w 59"/>
                <a:gd name="T13" fmla="*/ 4 h 9"/>
                <a:gd name="T14" fmla="*/ 55 w 59"/>
                <a:gd name="T15" fmla="*/ 4 h 9"/>
                <a:gd name="T16" fmla="*/ 55 w 59"/>
                <a:gd name="T17" fmla="*/ 0 h 9"/>
                <a:gd name="T18" fmla="*/ 4 w 59"/>
                <a:gd name="T19" fmla="*/ 0 h 9"/>
                <a:gd name="T20" fmla="*/ 4 w 59"/>
                <a:gd name="T21" fmla="*/ 4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9">
                  <a:moveTo>
                    <a:pt x="4" y="4"/>
                  </a:moveTo>
                  <a:cubicBezTo>
                    <a:pt x="2" y="4"/>
                    <a:pt x="2" y="4"/>
                    <a:pt x="2" y="4"/>
                  </a:cubicBezTo>
                  <a:cubicBezTo>
                    <a:pt x="1" y="4"/>
                    <a:pt x="0" y="5"/>
                    <a:pt x="0" y="6"/>
                  </a:cubicBezTo>
                  <a:cubicBezTo>
                    <a:pt x="0" y="8"/>
                    <a:pt x="1" y="9"/>
                    <a:pt x="2" y="9"/>
                  </a:cubicBezTo>
                  <a:cubicBezTo>
                    <a:pt x="57" y="9"/>
                    <a:pt x="57" y="9"/>
                    <a:pt x="57" y="9"/>
                  </a:cubicBezTo>
                  <a:cubicBezTo>
                    <a:pt x="58" y="9"/>
                    <a:pt x="59" y="8"/>
                    <a:pt x="59" y="6"/>
                  </a:cubicBezTo>
                  <a:cubicBezTo>
                    <a:pt x="59" y="5"/>
                    <a:pt x="58" y="4"/>
                    <a:pt x="57" y="4"/>
                  </a:cubicBezTo>
                  <a:cubicBezTo>
                    <a:pt x="55" y="4"/>
                    <a:pt x="55" y="4"/>
                    <a:pt x="55" y="4"/>
                  </a:cubicBezTo>
                  <a:cubicBezTo>
                    <a:pt x="55" y="0"/>
                    <a:pt x="55" y="0"/>
                    <a:pt x="55" y="0"/>
                  </a:cubicBezTo>
                  <a:cubicBezTo>
                    <a:pt x="4" y="0"/>
                    <a:pt x="4" y="0"/>
                    <a:pt x="4" y="0"/>
                  </a:cubicBezTo>
                  <a:lnTo>
                    <a:pt x="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9" name="Freeform 169">
              <a:extLst>
                <a:ext uri="{FF2B5EF4-FFF2-40B4-BE49-F238E27FC236}">
                  <a16:creationId xmlns:a16="http://schemas.microsoft.com/office/drawing/2014/main" id="{4319889B-8166-4EFE-ADAC-2975C05501BE}"/>
                </a:ext>
              </a:extLst>
            </p:cNvPr>
            <p:cNvSpPr>
              <a:spLocks/>
            </p:cNvSpPr>
            <p:nvPr/>
          </p:nvSpPr>
          <p:spPr bwMode="auto">
            <a:xfrm>
              <a:off x="466725" y="4410108"/>
              <a:ext cx="7937" cy="7938"/>
            </a:xfrm>
            <a:custGeom>
              <a:avLst/>
              <a:gdLst>
                <a:gd name="T0" fmla="*/ 2 w 4"/>
                <a:gd name="T1" fmla="*/ 0 h 5"/>
                <a:gd name="T2" fmla="*/ 0 w 4"/>
                <a:gd name="T3" fmla="*/ 2 h 5"/>
                <a:gd name="T4" fmla="*/ 2 w 4"/>
                <a:gd name="T5" fmla="*/ 5 h 5"/>
                <a:gd name="T6" fmla="*/ 4 w 4"/>
                <a:gd name="T7" fmla="*/ 5 h 5"/>
                <a:gd name="T8" fmla="*/ 4 w 4"/>
                <a:gd name="T9" fmla="*/ 0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0"/>
                    <a:pt x="0" y="1"/>
                    <a:pt x="0" y="2"/>
                  </a:cubicBezTo>
                  <a:cubicBezTo>
                    <a:pt x="0" y="4"/>
                    <a:pt x="1" y="5"/>
                    <a:pt x="2" y="5"/>
                  </a:cubicBezTo>
                  <a:cubicBezTo>
                    <a:pt x="4" y="5"/>
                    <a:pt x="4" y="5"/>
                    <a:pt x="4" y="5"/>
                  </a:cubicBezTo>
                  <a:cubicBezTo>
                    <a:pt x="4" y="0"/>
                    <a:pt x="4" y="0"/>
                    <a:pt x="4" y="0"/>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0" name="Freeform 170">
              <a:extLst>
                <a:ext uri="{FF2B5EF4-FFF2-40B4-BE49-F238E27FC236}">
                  <a16:creationId xmlns:a16="http://schemas.microsoft.com/office/drawing/2014/main" id="{9707278A-9F57-48B4-BE98-6D2450BA5C95}"/>
                </a:ext>
              </a:extLst>
            </p:cNvPr>
            <p:cNvSpPr>
              <a:spLocks/>
            </p:cNvSpPr>
            <p:nvPr/>
          </p:nvSpPr>
          <p:spPr bwMode="auto">
            <a:xfrm>
              <a:off x="565150" y="4410108"/>
              <a:ext cx="7937" cy="7938"/>
            </a:xfrm>
            <a:custGeom>
              <a:avLst/>
              <a:gdLst>
                <a:gd name="T0" fmla="*/ 2 w 4"/>
                <a:gd name="T1" fmla="*/ 5 h 5"/>
                <a:gd name="T2" fmla="*/ 4 w 4"/>
                <a:gd name="T3" fmla="*/ 2 h 5"/>
                <a:gd name="T4" fmla="*/ 2 w 4"/>
                <a:gd name="T5" fmla="*/ 0 h 5"/>
                <a:gd name="T6" fmla="*/ 0 w 4"/>
                <a:gd name="T7" fmla="*/ 0 h 5"/>
                <a:gd name="T8" fmla="*/ 0 w 4"/>
                <a:gd name="T9" fmla="*/ 5 h 5"/>
                <a:gd name="T10" fmla="*/ 2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2" y="5"/>
                  </a:moveTo>
                  <a:cubicBezTo>
                    <a:pt x="3" y="5"/>
                    <a:pt x="4" y="4"/>
                    <a:pt x="4" y="2"/>
                  </a:cubicBezTo>
                  <a:cubicBezTo>
                    <a:pt x="4" y="1"/>
                    <a:pt x="3" y="0"/>
                    <a:pt x="2" y="0"/>
                  </a:cubicBezTo>
                  <a:cubicBezTo>
                    <a:pt x="0" y="0"/>
                    <a:pt x="0" y="0"/>
                    <a:pt x="0" y="0"/>
                  </a:cubicBezTo>
                  <a:cubicBezTo>
                    <a:pt x="0" y="5"/>
                    <a:pt x="0" y="5"/>
                    <a:pt x="0" y="5"/>
                  </a:cubicBezTo>
                  <a:lnTo>
                    <a:pt x="2"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1" name="Freeform 171">
              <a:extLst>
                <a:ext uri="{FF2B5EF4-FFF2-40B4-BE49-F238E27FC236}">
                  <a16:creationId xmlns:a16="http://schemas.microsoft.com/office/drawing/2014/main" id="{FFF0B1EF-254C-4EAC-B3B4-60FF7227398B}"/>
                </a:ext>
              </a:extLst>
            </p:cNvPr>
            <p:cNvSpPr>
              <a:spLocks/>
            </p:cNvSpPr>
            <p:nvPr/>
          </p:nvSpPr>
          <p:spPr bwMode="auto">
            <a:xfrm>
              <a:off x="466725" y="4499009"/>
              <a:ext cx="7937" cy="7938"/>
            </a:xfrm>
            <a:custGeom>
              <a:avLst/>
              <a:gdLst>
                <a:gd name="T0" fmla="*/ 2 w 4"/>
                <a:gd name="T1" fmla="*/ 0 h 4"/>
                <a:gd name="T2" fmla="*/ 0 w 4"/>
                <a:gd name="T3" fmla="*/ 2 h 4"/>
                <a:gd name="T4" fmla="*/ 2 w 4"/>
                <a:gd name="T5" fmla="*/ 4 h 4"/>
                <a:gd name="T6" fmla="*/ 4 w 4"/>
                <a:gd name="T7" fmla="*/ 4 h 4"/>
                <a:gd name="T8" fmla="*/ 4 w 4"/>
                <a:gd name="T9" fmla="*/ 0 h 4"/>
                <a:gd name="T10" fmla="*/ 2 w 4"/>
                <a:gd name="T11" fmla="*/ 0 h 4"/>
              </a:gdLst>
              <a:ahLst/>
              <a:cxnLst>
                <a:cxn ang="0">
                  <a:pos x="T0" y="T1"/>
                </a:cxn>
                <a:cxn ang="0">
                  <a:pos x="T2" y="T3"/>
                </a:cxn>
                <a:cxn ang="0">
                  <a:pos x="T4" y="T5"/>
                </a:cxn>
                <a:cxn ang="0">
                  <a:pos x="T6" y="T7"/>
                </a:cxn>
                <a:cxn ang="0">
                  <a:pos x="T8" y="T9"/>
                </a:cxn>
                <a:cxn ang="0">
                  <a:pos x="T10" y="T11"/>
                </a:cxn>
              </a:cxnLst>
              <a:rect l="0" t="0" r="r" b="b"/>
              <a:pathLst>
                <a:path w="4" h="4">
                  <a:moveTo>
                    <a:pt x="2" y="0"/>
                  </a:moveTo>
                  <a:cubicBezTo>
                    <a:pt x="1" y="0"/>
                    <a:pt x="0" y="1"/>
                    <a:pt x="0" y="2"/>
                  </a:cubicBezTo>
                  <a:cubicBezTo>
                    <a:pt x="0" y="3"/>
                    <a:pt x="1" y="4"/>
                    <a:pt x="2" y="4"/>
                  </a:cubicBezTo>
                  <a:cubicBezTo>
                    <a:pt x="4" y="4"/>
                    <a:pt x="4" y="4"/>
                    <a:pt x="4" y="4"/>
                  </a:cubicBezTo>
                  <a:cubicBezTo>
                    <a:pt x="4" y="0"/>
                    <a:pt x="4" y="0"/>
                    <a:pt x="4" y="0"/>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2" name="Freeform 172">
              <a:extLst>
                <a:ext uri="{FF2B5EF4-FFF2-40B4-BE49-F238E27FC236}">
                  <a16:creationId xmlns:a16="http://schemas.microsoft.com/office/drawing/2014/main" id="{FB00C765-B9D0-48BD-B096-555E17CE1F77}"/>
                </a:ext>
              </a:extLst>
            </p:cNvPr>
            <p:cNvSpPr>
              <a:spLocks/>
            </p:cNvSpPr>
            <p:nvPr/>
          </p:nvSpPr>
          <p:spPr bwMode="auto">
            <a:xfrm>
              <a:off x="565150" y="4499009"/>
              <a:ext cx="7937" cy="7938"/>
            </a:xfrm>
            <a:custGeom>
              <a:avLst/>
              <a:gdLst>
                <a:gd name="T0" fmla="*/ 2 w 4"/>
                <a:gd name="T1" fmla="*/ 4 h 4"/>
                <a:gd name="T2" fmla="*/ 4 w 4"/>
                <a:gd name="T3" fmla="*/ 2 h 4"/>
                <a:gd name="T4" fmla="*/ 2 w 4"/>
                <a:gd name="T5" fmla="*/ 0 h 4"/>
                <a:gd name="T6" fmla="*/ 0 w 4"/>
                <a:gd name="T7" fmla="*/ 0 h 4"/>
                <a:gd name="T8" fmla="*/ 0 w 4"/>
                <a:gd name="T9" fmla="*/ 4 h 4"/>
                <a:gd name="T10" fmla="*/ 2 w 4"/>
                <a:gd name="T11" fmla="*/ 4 h 4"/>
              </a:gdLst>
              <a:ahLst/>
              <a:cxnLst>
                <a:cxn ang="0">
                  <a:pos x="T0" y="T1"/>
                </a:cxn>
                <a:cxn ang="0">
                  <a:pos x="T2" y="T3"/>
                </a:cxn>
                <a:cxn ang="0">
                  <a:pos x="T4" y="T5"/>
                </a:cxn>
                <a:cxn ang="0">
                  <a:pos x="T6" y="T7"/>
                </a:cxn>
                <a:cxn ang="0">
                  <a:pos x="T8" y="T9"/>
                </a:cxn>
                <a:cxn ang="0">
                  <a:pos x="T10" y="T11"/>
                </a:cxn>
              </a:cxnLst>
              <a:rect l="0" t="0" r="r" b="b"/>
              <a:pathLst>
                <a:path w="4" h="4">
                  <a:moveTo>
                    <a:pt x="2" y="4"/>
                  </a:moveTo>
                  <a:cubicBezTo>
                    <a:pt x="3" y="4"/>
                    <a:pt x="4" y="3"/>
                    <a:pt x="4" y="2"/>
                  </a:cubicBezTo>
                  <a:cubicBezTo>
                    <a:pt x="4" y="1"/>
                    <a:pt x="3" y="0"/>
                    <a:pt x="2" y="0"/>
                  </a:cubicBezTo>
                  <a:cubicBezTo>
                    <a:pt x="0" y="0"/>
                    <a:pt x="0" y="0"/>
                    <a:pt x="0" y="0"/>
                  </a:cubicBezTo>
                  <a:cubicBezTo>
                    <a:pt x="0" y="4"/>
                    <a:pt x="0" y="4"/>
                    <a:pt x="0" y="4"/>
                  </a:cubicBezTo>
                  <a:lnTo>
                    <a:pt x="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3" name="Freeform 173">
              <a:extLst>
                <a:ext uri="{FF2B5EF4-FFF2-40B4-BE49-F238E27FC236}">
                  <a16:creationId xmlns:a16="http://schemas.microsoft.com/office/drawing/2014/main" id="{63651EC4-9123-4EDA-866A-CCCCE1E68050}"/>
                </a:ext>
              </a:extLst>
            </p:cNvPr>
            <p:cNvSpPr>
              <a:spLocks/>
            </p:cNvSpPr>
            <p:nvPr/>
          </p:nvSpPr>
          <p:spPr bwMode="auto">
            <a:xfrm>
              <a:off x="496888" y="4440271"/>
              <a:ext cx="12700" cy="14288"/>
            </a:xfrm>
            <a:custGeom>
              <a:avLst/>
              <a:gdLst>
                <a:gd name="T0" fmla="*/ 0 w 7"/>
                <a:gd name="T1" fmla="*/ 8 h 8"/>
                <a:gd name="T2" fmla="*/ 5 w 7"/>
                <a:gd name="T3" fmla="*/ 8 h 8"/>
                <a:gd name="T4" fmla="*/ 7 w 7"/>
                <a:gd name="T5" fmla="*/ 5 h 8"/>
                <a:gd name="T6" fmla="*/ 4 w 7"/>
                <a:gd name="T7" fmla="*/ 0 h 8"/>
                <a:gd name="T8" fmla="*/ 0 w 7"/>
                <a:gd name="T9" fmla="*/ 8 h 8"/>
              </a:gdLst>
              <a:ahLst/>
              <a:cxnLst>
                <a:cxn ang="0">
                  <a:pos x="T0" y="T1"/>
                </a:cxn>
                <a:cxn ang="0">
                  <a:pos x="T2" y="T3"/>
                </a:cxn>
                <a:cxn ang="0">
                  <a:pos x="T4" y="T5"/>
                </a:cxn>
                <a:cxn ang="0">
                  <a:pos x="T6" y="T7"/>
                </a:cxn>
                <a:cxn ang="0">
                  <a:pos x="T8" y="T9"/>
                </a:cxn>
              </a:cxnLst>
              <a:rect l="0" t="0" r="r" b="b"/>
              <a:pathLst>
                <a:path w="7" h="8">
                  <a:moveTo>
                    <a:pt x="0" y="8"/>
                  </a:moveTo>
                  <a:cubicBezTo>
                    <a:pt x="5" y="8"/>
                    <a:pt x="5" y="8"/>
                    <a:pt x="5" y="8"/>
                  </a:cubicBezTo>
                  <a:cubicBezTo>
                    <a:pt x="6" y="7"/>
                    <a:pt x="6" y="6"/>
                    <a:pt x="7" y="5"/>
                  </a:cubicBezTo>
                  <a:cubicBezTo>
                    <a:pt x="4" y="0"/>
                    <a:pt x="4" y="0"/>
                    <a:pt x="4" y="0"/>
                  </a:cubicBezTo>
                  <a:cubicBezTo>
                    <a:pt x="2" y="2"/>
                    <a:pt x="0" y="5"/>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4" name="Freeform 174">
              <a:extLst>
                <a:ext uri="{FF2B5EF4-FFF2-40B4-BE49-F238E27FC236}">
                  <a16:creationId xmlns:a16="http://schemas.microsoft.com/office/drawing/2014/main" id="{312310BB-175D-47D5-AEC6-FA244DE69308}"/>
                </a:ext>
              </a:extLst>
            </p:cNvPr>
            <p:cNvSpPr>
              <a:spLocks/>
            </p:cNvSpPr>
            <p:nvPr/>
          </p:nvSpPr>
          <p:spPr bwMode="auto">
            <a:xfrm>
              <a:off x="511175" y="4472021"/>
              <a:ext cx="17462" cy="9525"/>
            </a:xfrm>
            <a:custGeom>
              <a:avLst/>
              <a:gdLst>
                <a:gd name="T0" fmla="*/ 5 w 9"/>
                <a:gd name="T1" fmla="*/ 0 h 5"/>
                <a:gd name="T2" fmla="*/ 3 w 9"/>
                <a:gd name="T3" fmla="*/ 0 h 5"/>
                <a:gd name="T4" fmla="*/ 0 w 9"/>
                <a:gd name="T5" fmla="*/ 5 h 5"/>
                <a:gd name="T6" fmla="*/ 5 w 9"/>
                <a:gd name="T7" fmla="*/ 5 h 5"/>
                <a:gd name="T8" fmla="*/ 9 w 9"/>
                <a:gd name="T9" fmla="*/ 5 h 5"/>
                <a:gd name="T10" fmla="*/ 6 w 9"/>
                <a:gd name="T11" fmla="*/ 0 h 5"/>
                <a:gd name="T12" fmla="*/ 5 w 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9" h="5">
                  <a:moveTo>
                    <a:pt x="5" y="0"/>
                  </a:moveTo>
                  <a:cubicBezTo>
                    <a:pt x="4" y="0"/>
                    <a:pt x="3" y="0"/>
                    <a:pt x="3" y="0"/>
                  </a:cubicBezTo>
                  <a:cubicBezTo>
                    <a:pt x="0" y="5"/>
                    <a:pt x="0" y="5"/>
                    <a:pt x="0" y="5"/>
                  </a:cubicBezTo>
                  <a:cubicBezTo>
                    <a:pt x="1" y="5"/>
                    <a:pt x="3" y="5"/>
                    <a:pt x="5" y="5"/>
                  </a:cubicBezTo>
                  <a:cubicBezTo>
                    <a:pt x="6" y="5"/>
                    <a:pt x="8" y="5"/>
                    <a:pt x="9" y="5"/>
                  </a:cubicBezTo>
                  <a:cubicBezTo>
                    <a:pt x="6" y="0"/>
                    <a:pt x="6" y="0"/>
                    <a:pt x="6" y="0"/>
                  </a:cubicBezTo>
                  <a:cubicBezTo>
                    <a:pt x="6" y="0"/>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5" name="Oval 175">
              <a:extLst>
                <a:ext uri="{FF2B5EF4-FFF2-40B4-BE49-F238E27FC236}">
                  <a16:creationId xmlns:a16="http://schemas.microsoft.com/office/drawing/2014/main" id="{A6E2ED50-F445-42DE-8F98-07B01A06117A}"/>
                </a:ext>
              </a:extLst>
            </p:cNvPr>
            <p:cNvSpPr>
              <a:spLocks noChangeArrowheads="1"/>
            </p:cNvSpPr>
            <p:nvPr/>
          </p:nvSpPr>
          <p:spPr bwMode="auto">
            <a:xfrm>
              <a:off x="514350" y="4452971"/>
              <a:ext cx="12700" cy="127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6" name="Freeform 176">
              <a:extLst>
                <a:ext uri="{FF2B5EF4-FFF2-40B4-BE49-F238E27FC236}">
                  <a16:creationId xmlns:a16="http://schemas.microsoft.com/office/drawing/2014/main" id="{74104F8C-F5CE-4717-B01C-B4423187661C}"/>
                </a:ext>
              </a:extLst>
            </p:cNvPr>
            <p:cNvSpPr>
              <a:spLocks/>
            </p:cNvSpPr>
            <p:nvPr/>
          </p:nvSpPr>
          <p:spPr bwMode="auto">
            <a:xfrm>
              <a:off x="530225" y="4440271"/>
              <a:ext cx="12700" cy="14288"/>
            </a:xfrm>
            <a:custGeom>
              <a:avLst/>
              <a:gdLst>
                <a:gd name="T0" fmla="*/ 3 w 7"/>
                <a:gd name="T1" fmla="*/ 0 h 8"/>
                <a:gd name="T2" fmla="*/ 0 w 7"/>
                <a:gd name="T3" fmla="*/ 5 h 8"/>
                <a:gd name="T4" fmla="*/ 2 w 7"/>
                <a:gd name="T5" fmla="*/ 8 h 8"/>
                <a:gd name="T6" fmla="*/ 7 w 7"/>
                <a:gd name="T7" fmla="*/ 8 h 8"/>
                <a:gd name="T8" fmla="*/ 3 w 7"/>
                <a:gd name="T9" fmla="*/ 0 h 8"/>
              </a:gdLst>
              <a:ahLst/>
              <a:cxnLst>
                <a:cxn ang="0">
                  <a:pos x="T0" y="T1"/>
                </a:cxn>
                <a:cxn ang="0">
                  <a:pos x="T2" y="T3"/>
                </a:cxn>
                <a:cxn ang="0">
                  <a:pos x="T4" y="T5"/>
                </a:cxn>
                <a:cxn ang="0">
                  <a:pos x="T6" y="T7"/>
                </a:cxn>
                <a:cxn ang="0">
                  <a:pos x="T8" y="T9"/>
                </a:cxn>
              </a:cxnLst>
              <a:rect l="0" t="0" r="r" b="b"/>
              <a:pathLst>
                <a:path w="7" h="8">
                  <a:moveTo>
                    <a:pt x="3" y="0"/>
                  </a:moveTo>
                  <a:cubicBezTo>
                    <a:pt x="0" y="5"/>
                    <a:pt x="0" y="5"/>
                    <a:pt x="0" y="5"/>
                  </a:cubicBezTo>
                  <a:cubicBezTo>
                    <a:pt x="1" y="6"/>
                    <a:pt x="1" y="7"/>
                    <a:pt x="2" y="8"/>
                  </a:cubicBezTo>
                  <a:cubicBezTo>
                    <a:pt x="7" y="8"/>
                    <a:pt x="7" y="8"/>
                    <a:pt x="7" y="8"/>
                  </a:cubicBezTo>
                  <a:cubicBezTo>
                    <a:pt x="7" y="5"/>
                    <a:pt x="5"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7" name="Freeform 177">
              <a:extLst>
                <a:ext uri="{FF2B5EF4-FFF2-40B4-BE49-F238E27FC236}">
                  <a16:creationId xmlns:a16="http://schemas.microsoft.com/office/drawing/2014/main" id="{BB3CEF70-CF43-4286-9049-1FF53B52BD25}"/>
                </a:ext>
              </a:extLst>
            </p:cNvPr>
            <p:cNvSpPr>
              <a:spLocks noEditPoints="1"/>
            </p:cNvSpPr>
            <p:nvPr/>
          </p:nvSpPr>
          <p:spPr bwMode="auto">
            <a:xfrm>
              <a:off x="474663" y="4418045"/>
              <a:ext cx="90487" cy="80963"/>
            </a:xfrm>
            <a:custGeom>
              <a:avLst/>
              <a:gdLst>
                <a:gd name="T0" fmla="*/ 0 w 51"/>
                <a:gd name="T1" fmla="*/ 0 h 45"/>
                <a:gd name="T2" fmla="*/ 0 w 51"/>
                <a:gd name="T3" fmla="*/ 45 h 45"/>
                <a:gd name="T4" fmla="*/ 51 w 51"/>
                <a:gd name="T5" fmla="*/ 45 h 45"/>
                <a:gd name="T6" fmla="*/ 51 w 51"/>
                <a:gd name="T7" fmla="*/ 0 h 45"/>
                <a:gd name="T8" fmla="*/ 0 w 51"/>
                <a:gd name="T9" fmla="*/ 0 h 45"/>
                <a:gd name="T10" fmla="*/ 41 w 51"/>
                <a:gd name="T11" fmla="*/ 24 h 45"/>
                <a:gd name="T12" fmla="*/ 33 w 51"/>
                <a:gd name="T13" fmla="*/ 24 h 45"/>
                <a:gd name="T14" fmla="*/ 31 w 51"/>
                <a:gd name="T15" fmla="*/ 28 h 45"/>
                <a:gd name="T16" fmla="*/ 35 w 51"/>
                <a:gd name="T17" fmla="*/ 34 h 45"/>
                <a:gd name="T18" fmla="*/ 34 w 51"/>
                <a:gd name="T19" fmla="*/ 37 h 45"/>
                <a:gd name="T20" fmla="*/ 26 w 51"/>
                <a:gd name="T21" fmla="*/ 40 h 45"/>
                <a:gd name="T22" fmla="*/ 17 w 51"/>
                <a:gd name="T23" fmla="*/ 37 h 45"/>
                <a:gd name="T24" fmla="*/ 16 w 51"/>
                <a:gd name="T25" fmla="*/ 34 h 45"/>
                <a:gd name="T26" fmla="*/ 20 w 51"/>
                <a:gd name="T27" fmla="*/ 28 h 45"/>
                <a:gd name="T28" fmla="*/ 18 w 51"/>
                <a:gd name="T29" fmla="*/ 24 h 45"/>
                <a:gd name="T30" fmla="*/ 10 w 51"/>
                <a:gd name="T31" fmla="*/ 24 h 45"/>
                <a:gd name="T32" fmla="*/ 8 w 51"/>
                <a:gd name="T33" fmla="*/ 22 h 45"/>
                <a:gd name="T34" fmla="*/ 17 w 51"/>
                <a:gd name="T35" fmla="*/ 7 h 45"/>
                <a:gd name="T36" fmla="*/ 19 w 51"/>
                <a:gd name="T37" fmla="*/ 7 h 45"/>
                <a:gd name="T38" fmla="*/ 20 w 51"/>
                <a:gd name="T39" fmla="*/ 8 h 45"/>
                <a:gd name="T40" fmla="*/ 24 w 51"/>
                <a:gd name="T41" fmla="*/ 15 h 45"/>
                <a:gd name="T42" fmla="*/ 26 w 51"/>
                <a:gd name="T43" fmla="*/ 15 h 45"/>
                <a:gd name="T44" fmla="*/ 27 w 51"/>
                <a:gd name="T45" fmla="*/ 15 h 45"/>
                <a:gd name="T46" fmla="*/ 31 w 51"/>
                <a:gd name="T47" fmla="*/ 8 h 45"/>
                <a:gd name="T48" fmla="*/ 33 w 51"/>
                <a:gd name="T49" fmla="*/ 7 h 45"/>
                <a:gd name="T50" fmla="*/ 34 w 51"/>
                <a:gd name="T51" fmla="*/ 7 h 45"/>
                <a:gd name="T52" fmla="*/ 43 w 51"/>
                <a:gd name="T53" fmla="*/ 22 h 45"/>
                <a:gd name="T54" fmla="*/ 41 w 51"/>
                <a:gd name="T55" fmla="*/ 2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1" h="45">
                  <a:moveTo>
                    <a:pt x="0" y="0"/>
                  </a:moveTo>
                  <a:cubicBezTo>
                    <a:pt x="0" y="45"/>
                    <a:pt x="0" y="45"/>
                    <a:pt x="0" y="45"/>
                  </a:cubicBezTo>
                  <a:cubicBezTo>
                    <a:pt x="51" y="45"/>
                    <a:pt x="51" y="45"/>
                    <a:pt x="51" y="45"/>
                  </a:cubicBezTo>
                  <a:cubicBezTo>
                    <a:pt x="51" y="0"/>
                    <a:pt x="51" y="0"/>
                    <a:pt x="51" y="0"/>
                  </a:cubicBezTo>
                  <a:lnTo>
                    <a:pt x="0" y="0"/>
                  </a:lnTo>
                  <a:close/>
                  <a:moveTo>
                    <a:pt x="41" y="24"/>
                  </a:moveTo>
                  <a:cubicBezTo>
                    <a:pt x="33" y="24"/>
                    <a:pt x="33" y="24"/>
                    <a:pt x="33" y="24"/>
                  </a:cubicBezTo>
                  <a:cubicBezTo>
                    <a:pt x="32" y="26"/>
                    <a:pt x="32" y="27"/>
                    <a:pt x="31" y="28"/>
                  </a:cubicBezTo>
                  <a:cubicBezTo>
                    <a:pt x="35" y="34"/>
                    <a:pt x="35" y="34"/>
                    <a:pt x="35" y="34"/>
                  </a:cubicBezTo>
                  <a:cubicBezTo>
                    <a:pt x="35" y="35"/>
                    <a:pt x="35" y="37"/>
                    <a:pt x="34" y="37"/>
                  </a:cubicBezTo>
                  <a:cubicBezTo>
                    <a:pt x="32" y="39"/>
                    <a:pt x="29" y="40"/>
                    <a:pt x="26" y="40"/>
                  </a:cubicBezTo>
                  <a:cubicBezTo>
                    <a:pt x="23" y="40"/>
                    <a:pt x="20" y="39"/>
                    <a:pt x="17" y="37"/>
                  </a:cubicBezTo>
                  <a:cubicBezTo>
                    <a:pt x="16" y="37"/>
                    <a:pt x="16" y="35"/>
                    <a:pt x="16" y="34"/>
                  </a:cubicBezTo>
                  <a:cubicBezTo>
                    <a:pt x="20" y="28"/>
                    <a:pt x="20" y="28"/>
                    <a:pt x="20" y="28"/>
                  </a:cubicBezTo>
                  <a:cubicBezTo>
                    <a:pt x="19" y="27"/>
                    <a:pt x="19" y="26"/>
                    <a:pt x="18" y="24"/>
                  </a:cubicBezTo>
                  <a:cubicBezTo>
                    <a:pt x="10" y="24"/>
                    <a:pt x="10" y="24"/>
                    <a:pt x="10" y="24"/>
                  </a:cubicBezTo>
                  <a:cubicBezTo>
                    <a:pt x="9" y="24"/>
                    <a:pt x="8" y="23"/>
                    <a:pt x="8" y="22"/>
                  </a:cubicBezTo>
                  <a:cubicBezTo>
                    <a:pt x="8" y="16"/>
                    <a:pt x="12" y="11"/>
                    <a:pt x="17" y="7"/>
                  </a:cubicBezTo>
                  <a:cubicBezTo>
                    <a:pt x="17" y="7"/>
                    <a:pt x="18" y="7"/>
                    <a:pt x="19" y="7"/>
                  </a:cubicBezTo>
                  <a:cubicBezTo>
                    <a:pt x="19" y="7"/>
                    <a:pt x="20" y="8"/>
                    <a:pt x="20" y="8"/>
                  </a:cubicBezTo>
                  <a:cubicBezTo>
                    <a:pt x="24" y="15"/>
                    <a:pt x="24" y="15"/>
                    <a:pt x="24" y="15"/>
                  </a:cubicBezTo>
                  <a:cubicBezTo>
                    <a:pt x="24" y="15"/>
                    <a:pt x="25" y="15"/>
                    <a:pt x="26" y="15"/>
                  </a:cubicBezTo>
                  <a:cubicBezTo>
                    <a:pt x="26" y="15"/>
                    <a:pt x="27" y="15"/>
                    <a:pt x="27" y="15"/>
                  </a:cubicBezTo>
                  <a:cubicBezTo>
                    <a:pt x="31" y="8"/>
                    <a:pt x="31" y="8"/>
                    <a:pt x="31" y="8"/>
                  </a:cubicBezTo>
                  <a:cubicBezTo>
                    <a:pt x="32" y="8"/>
                    <a:pt x="32" y="7"/>
                    <a:pt x="33" y="7"/>
                  </a:cubicBezTo>
                  <a:cubicBezTo>
                    <a:pt x="33" y="7"/>
                    <a:pt x="34" y="7"/>
                    <a:pt x="34" y="7"/>
                  </a:cubicBezTo>
                  <a:cubicBezTo>
                    <a:pt x="39" y="11"/>
                    <a:pt x="43" y="16"/>
                    <a:pt x="43" y="22"/>
                  </a:cubicBezTo>
                  <a:cubicBezTo>
                    <a:pt x="43" y="23"/>
                    <a:pt x="42" y="24"/>
                    <a:pt x="4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18" name="Freeform 178">
            <a:extLst>
              <a:ext uri="{FF2B5EF4-FFF2-40B4-BE49-F238E27FC236}">
                <a16:creationId xmlns:a16="http://schemas.microsoft.com/office/drawing/2014/main" id="{5DB0708B-70A1-4E09-AF13-D9671759380A}"/>
              </a:ext>
            </a:extLst>
          </p:cNvPr>
          <p:cNvSpPr>
            <a:spLocks noEditPoints="1"/>
          </p:cNvSpPr>
          <p:nvPr/>
        </p:nvSpPr>
        <p:spPr bwMode="auto">
          <a:xfrm>
            <a:off x="10295060" y="2552201"/>
            <a:ext cx="320673" cy="262017"/>
          </a:xfrm>
          <a:custGeom>
            <a:avLst/>
            <a:gdLst>
              <a:gd name="T0" fmla="*/ 71 w 73"/>
              <a:gd name="T1" fmla="*/ 0 h 60"/>
              <a:gd name="T2" fmla="*/ 24 w 73"/>
              <a:gd name="T3" fmla="*/ 0 h 60"/>
              <a:gd name="T4" fmla="*/ 23 w 73"/>
              <a:gd name="T5" fmla="*/ 15 h 60"/>
              <a:gd name="T6" fmla="*/ 14 w 73"/>
              <a:gd name="T7" fmla="*/ 15 h 60"/>
              <a:gd name="T8" fmla="*/ 5 w 73"/>
              <a:gd name="T9" fmla="*/ 24 h 60"/>
              <a:gd name="T10" fmla="*/ 3 w 73"/>
              <a:gd name="T11" fmla="*/ 29 h 60"/>
              <a:gd name="T12" fmla="*/ 1 w 73"/>
              <a:gd name="T13" fmla="*/ 46 h 60"/>
              <a:gd name="T14" fmla="*/ 1 w 73"/>
              <a:gd name="T15" fmla="*/ 49 h 60"/>
              <a:gd name="T16" fmla="*/ 8 w 73"/>
              <a:gd name="T17" fmla="*/ 50 h 60"/>
              <a:gd name="T18" fmla="*/ 18 w 73"/>
              <a:gd name="T19" fmla="*/ 60 h 60"/>
              <a:gd name="T20" fmla="*/ 28 w 73"/>
              <a:gd name="T21" fmla="*/ 50 h 60"/>
              <a:gd name="T22" fmla="*/ 46 w 73"/>
              <a:gd name="T23" fmla="*/ 57 h 60"/>
              <a:gd name="T24" fmla="*/ 60 w 73"/>
              <a:gd name="T25" fmla="*/ 57 h 60"/>
              <a:gd name="T26" fmla="*/ 71 w 73"/>
              <a:gd name="T27" fmla="*/ 50 h 60"/>
              <a:gd name="T28" fmla="*/ 73 w 73"/>
              <a:gd name="T29" fmla="*/ 47 h 60"/>
              <a:gd name="T30" fmla="*/ 72 w 73"/>
              <a:gd name="T31" fmla="*/ 0 h 60"/>
              <a:gd name="T32" fmla="*/ 18 w 73"/>
              <a:gd name="T33" fmla="*/ 55 h 60"/>
              <a:gd name="T34" fmla="*/ 13 w 73"/>
              <a:gd name="T35" fmla="*/ 50 h 60"/>
              <a:gd name="T36" fmla="*/ 18 w 73"/>
              <a:gd name="T37" fmla="*/ 45 h 60"/>
              <a:gd name="T38" fmla="*/ 23 w 73"/>
              <a:gd name="T39" fmla="*/ 50 h 60"/>
              <a:gd name="T40" fmla="*/ 8 w 73"/>
              <a:gd name="T41" fmla="*/ 30 h 60"/>
              <a:gd name="T42" fmla="*/ 8 w 73"/>
              <a:gd name="T43" fmla="*/ 28 h 60"/>
              <a:gd name="T44" fmla="*/ 17 w 73"/>
              <a:gd name="T45" fmla="*/ 20 h 60"/>
              <a:gd name="T46" fmla="*/ 23 w 73"/>
              <a:gd name="T47" fmla="*/ 30 h 60"/>
              <a:gd name="T48" fmla="*/ 57 w 73"/>
              <a:gd name="T49" fmla="*/ 53 h 60"/>
              <a:gd name="T50" fmla="*/ 50 w 73"/>
              <a:gd name="T51" fmla="*/ 53 h 60"/>
              <a:gd name="T52" fmla="*/ 50 w 73"/>
              <a:gd name="T53" fmla="*/ 46 h 60"/>
              <a:gd name="T54" fmla="*/ 57 w 73"/>
              <a:gd name="T55" fmla="*/ 46 h 60"/>
              <a:gd name="T56" fmla="*/ 57 w 73"/>
              <a:gd name="T57" fmla="*/ 53 h 60"/>
              <a:gd name="T58" fmla="*/ 52 w 73"/>
              <a:gd name="T59" fmla="*/ 24 h 60"/>
              <a:gd name="T60" fmla="*/ 44 w 73"/>
              <a:gd name="T61" fmla="*/ 32 h 60"/>
              <a:gd name="T62" fmla="*/ 36 w 73"/>
              <a:gd name="T63" fmla="*/ 24 h 60"/>
              <a:gd name="T64" fmla="*/ 44 w 73"/>
              <a:gd name="T65" fmla="*/ 16 h 60"/>
              <a:gd name="T66" fmla="*/ 52 w 73"/>
              <a:gd name="T67" fmla="*/ 8 h 60"/>
              <a:gd name="T68" fmla="*/ 60 w 73"/>
              <a:gd name="T69" fmla="*/ 1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3" h="60">
                <a:moveTo>
                  <a:pt x="72" y="0"/>
                </a:moveTo>
                <a:cubicBezTo>
                  <a:pt x="72" y="0"/>
                  <a:pt x="71" y="0"/>
                  <a:pt x="71" y="0"/>
                </a:cubicBezTo>
                <a:cubicBezTo>
                  <a:pt x="25" y="0"/>
                  <a:pt x="25" y="0"/>
                  <a:pt x="25" y="0"/>
                </a:cubicBezTo>
                <a:cubicBezTo>
                  <a:pt x="25" y="0"/>
                  <a:pt x="24" y="0"/>
                  <a:pt x="24" y="0"/>
                </a:cubicBezTo>
                <a:cubicBezTo>
                  <a:pt x="23" y="1"/>
                  <a:pt x="23" y="1"/>
                  <a:pt x="23" y="2"/>
                </a:cubicBezTo>
                <a:cubicBezTo>
                  <a:pt x="23" y="15"/>
                  <a:pt x="23" y="15"/>
                  <a:pt x="23" y="15"/>
                </a:cubicBezTo>
                <a:cubicBezTo>
                  <a:pt x="17" y="15"/>
                  <a:pt x="17" y="15"/>
                  <a:pt x="17" y="15"/>
                </a:cubicBezTo>
                <a:cubicBezTo>
                  <a:pt x="16" y="15"/>
                  <a:pt x="15" y="15"/>
                  <a:pt x="14" y="15"/>
                </a:cubicBezTo>
                <a:cubicBezTo>
                  <a:pt x="13" y="16"/>
                  <a:pt x="13" y="16"/>
                  <a:pt x="12" y="16"/>
                </a:cubicBezTo>
                <a:cubicBezTo>
                  <a:pt x="5" y="24"/>
                  <a:pt x="5" y="24"/>
                  <a:pt x="5" y="24"/>
                </a:cubicBezTo>
                <a:cubicBezTo>
                  <a:pt x="4" y="25"/>
                  <a:pt x="4" y="25"/>
                  <a:pt x="3" y="26"/>
                </a:cubicBezTo>
                <a:cubicBezTo>
                  <a:pt x="3" y="27"/>
                  <a:pt x="3" y="28"/>
                  <a:pt x="3" y="29"/>
                </a:cubicBezTo>
                <a:cubicBezTo>
                  <a:pt x="3" y="45"/>
                  <a:pt x="3" y="45"/>
                  <a:pt x="3" y="45"/>
                </a:cubicBezTo>
                <a:cubicBezTo>
                  <a:pt x="2" y="45"/>
                  <a:pt x="1" y="45"/>
                  <a:pt x="1" y="46"/>
                </a:cubicBezTo>
                <a:cubicBezTo>
                  <a:pt x="1" y="46"/>
                  <a:pt x="0" y="47"/>
                  <a:pt x="0" y="47"/>
                </a:cubicBezTo>
                <a:cubicBezTo>
                  <a:pt x="0" y="48"/>
                  <a:pt x="1" y="49"/>
                  <a:pt x="1" y="49"/>
                </a:cubicBezTo>
                <a:cubicBezTo>
                  <a:pt x="1" y="50"/>
                  <a:pt x="2" y="50"/>
                  <a:pt x="3" y="50"/>
                </a:cubicBezTo>
                <a:cubicBezTo>
                  <a:pt x="8" y="50"/>
                  <a:pt x="8" y="50"/>
                  <a:pt x="8" y="50"/>
                </a:cubicBezTo>
                <a:cubicBezTo>
                  <a:pt x="8" y="53"/>
                  <a:pt x="9" y="55"/>
                  <a:pt x="11" y="57"/>
                </a:cubicBezTo>
                <a:cubicBezTo>
                  <a:pt x="13" y="59"/>
                  <a:pt x="15" y="60"/>
                  <a:pt x="18" y="60"/>
                </a:cubicBezTo>
                <a:cubicBezTo>
                  <a:pt x="21" y="60"/>
                  <a:pt x="23" y="59"/>
                  <a:pt x="25" y="57"/>
                </a:cubicBezTo>
                <a:cubicBezTo>
                  <a:pt x="27" y="55"/>
                  <a:pt x="28" y="53"/>
                  <a:pt x="28" y="50"/>
                </a:cubicBezTo>
                <a:cubicBezTo>
                  <a:pt x="43" y="50"/>
                  <a:pt x="43" y="50"/>
                  <a:pt x="43" y="50"/>
                </a:cubicBezTo>
                <a:cubicBezTo>
                  <a:pt x="43" y="53"/>
                  <a:pt x="44" y="55"/>
                  <a:pt x="46" y="57"/>
                </a:cubicBezTo>
                <a:cubicBezTo>
                  <a:pt x="48" y="59"/>
                  <a:pt x="50" y="60"/>
                  <a:pt x="53" y="60"/>
                </a:cubicBezTo>
                <a:cubicBezTo>
                  <a:pt x="56" y="60"/>
                  <a:pt x="58" y="59"/>
                  <a:pt x="60" y="57"/>
                </a:cubicBezTo>
                <a:cubicBezTo>
                  <a:pt x="62" y="55"/>
                  <a:pt x="63" y="53"/>
                  <a:pt x="63" y="50"/>
                </a:cubicBezTo>
                <a:cubicBezTo>
                  <a:pt x="71" y="50"/>
                  <a:pt x="71" y="50"/>
                  <a:pt x="71" y="50"/>
                </a:cubicBezTo>
                <a:cubicBezTo>
                  <a:pt x="71" y="50"/>
                  <a:pt x="72" y="50"/>
                  <a:pt x="72" y="49"/>
                </a:cubicBezTo>
                <a:cubicBezTo>
                  <a:pt x="73" y="49"/>
                  <a:pt x="73" y="48"/>
                  <a:pt x="73" y="47"/>
                </a:cubicBezTo>
                <a:cubicBezTo>
                  <a:pt x="73" y="2"/>
                  <a:pt x="73" y="2"/>
                  <a:pt x="73" y="2"/>
                </a:cubicBezTo>
                <a:cubicBezTo>
                  <a:pt x="73" y="1"/>
                  <a:pt x="73" y="1"/>
                  <a:pt x="72" y="0"/>
                </a:cubicBezTo>
                <a:close/>
                <a:moveTo>
                  <a:pt x="21" y="53"/>
                </a:moveTo>
                <a:cubicBezTo>
                  <a:pt x="20" y="54"/>
                  <a:pt x="19" y="55"/>
                  <a:pt x="18" y="55"/>
                </a:cubicBezTo>
                <a:cubicBezTo>
                  <a:pt x="16" y="55"/>
                  <a:pt x="15" y="54"/>
                  <a:pt x="14" y="53"/>
                </a:cubicBezTo>
                <a:cubicBezTo>
                  <a:pt x="13" y="53"/>
                  <a:pt x="13" y="51"/>
                  <a:pt x="13" y="50"/>
                </a:cubicBezTo>
                <a:cubicBezTo>
                  <a:pt x="13" y="49"/>
                  <a:pt x="13" y="47"/>
                  <a:pt x="14" y="46"/>
                </a:cubicBezTo>
                <a:cubicBezTo>
                  <a:pt x="15" y="45"/>
                  <a:pt x="16" y="45"/>
                  <a:pt x="18" y="45"/>
                </a:cubicBezTo>
                <a:cubicBezTo>
                  <a:pt x="19" y="45"/>
                  <a:pt x="20" y="45"/>
                  <a:pt x="21" y="46"/>
                </a:cubicBezTo>
                <a:cubicBezTo>
                  <a:pt x="22" y="47"/>
                  <a:pt x="23" y="49"/>
                  <a:pt x="23" y="50"/>
                </a:cubicBezTo>
                <a:cubicBezTo>
                  <a:pt x="23" y="51"/>
                  <a:pt x="22" y="53"/>
                  <a:pt x="21" y="53"/>
                </a:cubicBezTo>
                <a:close/>
                <a:moveTo>
                  <a:pt x="8" y="30"/>
                </a:moveTo>
                <a:cubicBezTo>
                  <a:pt x="8" y="29"/>
                  <a:pt x="8" y="29"/>
                  <a:pt x="8" y="29"/>
                </a:cubicBezTo>
                <a:cubicBezTo>
                  <a:pt x="8" y="28"/>
                  <a:pt x="8" y="28"/>
                  <a:pt x="8" y="28"/>
                </a:cubicBezTo>
                <a:cubicBezTo>
                  <a:pt x="16" y="20"/>
                  <a:pt x="16" y="20"/>
                  <a:pt x="16" y="20"/>
                </a:cubicBezTo>
                <a:cubicBezTo>
                  <a:pt x="16" y="20"/>
                  <a:pt x="16" y="20"/>
                  <a:pt x="17" y="20"/>
                </a:cubicBezTo>
                <a:cubicBezTo>
                  <a:pt x="23" y="20"/>
                  <a:pt x="23" y="20"/>
                  <a:pt x="23" y="20"/>
                </a:cubicBezTo>
                <a:cubicBezTo>
                  <a:pt x="23" y="30"/>
                  <a:pt x="23" y="30"/>
                  <a:pt x="23" y="30"/>
                </a:cubicBezTo>
                <a:lnTo>
                  <a:pt x="8" y="30"/>
                </a:lnTo>
                <a:close/>
                <a:moveTo>
                  <a:pt x="57" y="53"/>
                </a:moveTo>
                <a:cubicBezTo>
                  <a:pt x="56" y="54"/>
                  <a:pt x="54" y="55"/>
                  <a:pt x="53" y="55"/>
                </a:cubicBezTo>
                <a:cubicBezTo>
                  <a:pt x="52" y="55"/>
                  <a:pt x="51" y="54"/>
                  <a:pt x="50" y="53"/>
                </a:cubicBezTo>
                <a:cubicBezTo>
                  <a:pt x="49" y="53"/>
                  <a:pt x="48" y="51"/>
                  <a:pt x="48" y="50"/>
                </a:cubicBezTo>
                <a:cubicBezTo>
                  <a:pt x="48" y="49"/>
                  <a:pt x="49" y="47"/>
                  <a:pt x="50" y="46"/>
                </a:cubicBezTo>
                <a:cubicBezTo>
                  <a:pt x="51" y="45"/>
                  <a:pt x="52" y="45"/>
                  <a:pt x="53" y="45"/>
                </a:cubicBezTo>
                <a:cubicBezTo>
                  <a:pt x="54" y="45"/>
                  <a:pt x="56" y="45"/>
                  <a:pt x="57" y="46"/>
                </a:cubicBezTo>
                <a:cubicBezTo>
                  <a:pt x="58" y="47"/>
                  <a:pt x="58" y="49"/>
                  <a:pt x="58" y="50"/>
                </a:cubicBezTo>
                <a:cubicBezTo>
                  <a:pt x="58" y="51"/>
                  <a:pt x="58" y="53"/>
                  <a:pt x="57" y="53"/>
                </a:cubicBezTo>
                <a:close/>
                <a:moveTo>
                  <a:pt x="60" y="24"/>
                </a:moveTo>
                <a:cubicBezTo>
                  <a:pt x="52" y="24"/>
                  <a:pt x="52" y="24"/>
                  <a:pt x="52" y="24"/>
                </a:cubicBezTo>
                <a:cubicBezTo>
                  <a:pt x="52" y="32"/>
                  <a:pt x="52" y="32"/>
                  <a:pt x="52" y="32"/>
                </a:cubicBezTo>
                <a:cubicBezTo>
                  <a:pt x="44" y="32"/>
                  <a:pt x="44" y="32"/>
                  <a:pt x="44" y="32"/>
                </a:cubicBezTo>
                <a:cubicBezTo>
                  <a:pt x="44" y="24"/>
                  <a:pt x="44" y="24"/>
                  <a:pt x="44" y="24"/>
                </a:cubicBezTo>
                <a:cubicBezTo>
                  <a:pt x="36" y="24"/>
                  <a:pt x="36" y="24"/>
                  <a:pt x="36" y="24"/>
                </a:cubicBezTo>
                <a:cubicBezTo>
                  <a:pt x="36" y="16"/>
                  <a:pt x="36" y="16"/>
                  <a:pt x="36" y="16"/>
                </a:cubicBezTo>
                <a:cubicBezTo>
                  <a:pt x="44" y="16"/>
                  <a:pt x="44" y="16"/>
                  <a:pt x="44" y="16"/>
                </a:cubicBezTo>
                <a:cubicBezTo>
                  <a:pt x="44" y="8"/>
                  <a:pt x="44" y="8"/>
                  <a:pt x="44" y="8"/>
                </a:cubicBezTo>
                <a:cubicBezTo>
                  <a:pt x="52" y="8"/>
                  <a:pt x="52" y="8"/>
                  <a:pt x="52" y="8"/>
                </a:cubicBezTo>
                <a:cubicBezTo>
                  <a:pt x="52" y="16"/>
                  <a:pt x="52" y="16"/>
                  <a:pt x="52" y="16"/>
                </a:cubicBezTo>
                <a:cubicBezTo>
                  <a:pt x="60" y="16"/>
                  <a:pt x="60" y="16"/>
                  <a:pt x="60" y="16"/>
                </a:cubicBezTo>
                <a:lnTo>
                  <a:pt x="60" y="2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19" name="Group 218">
            <a:extLst>
              <a:ext uri="{FF2B5EF4-FFF2-40B4-BE49-F238E27FC236}">
                <a16:creationId xmlns:a16="http://schemas.microsoft.com/office/drawing/2014/main" id="{B2E548A1-FAAC-4674-8896-6B7753DAF8EF}"/>
              </a:ext>
            </a:extLst>
          </p:cNvPr>
          <p:cNvGrpSpPr/>
          <p:nvPr/>
        </p:nvGrpSpPr>
        <p:grpSpPr>
          <a:xfrm>
            <a:off x="7635927" y="3433918"/>
            <a:ext cx="234583" cy="296900"/>
            <a:chOff x="812798" y="4395820"/>
            <a:chExt cx="101599" cy="128589"/>
          </a:xfrm>
          <a:solidFill>
            <a:schemeClr val="accent1"/>
          </a:solidFill>
        </p:grpSpPr>
        <p:sp>
          <p:nvSpPr>
            <p:cNvPr id="220" name="Freeform 179">
              <a:extLst>
                <a:ext uri="{FF2B5EF4-FFF2-40B4-BE49-F238E27FC236}">
                  <a16:creationId xmlns:a16="http://schemas.microsoft.com/office/drawing/2014/main" id="{B71254AA-01AD-4DBD-A007-F44B24406E11}"/>
                </a:ext>
              </a:extLst>
            </p:cNvPr>
            <p:cNvSpPr>
              <a:spLocks noEditPoints="1"/>
            </p:cNvSpPr>
            <p:nvPr/>
          </p:nvSpPr>
          <p:spPr bwMode="auto">
            <a:xfrm>
              <a:off x="812798" y="4395820"/>
              <a:ext cx="101599" cy="128589"/>
            </a:xfrm>
            <a:custGeom>
              <a:avLst/>
              <a:gdLst>
                <a:gd name="T0" fmla="*/ 49 w 57"/>
                <a:gd name="T1" fmla="*/ 5 h 72"/>
                <a:gd name="T2" fmla="*/ 42 w 57"/>
                <a:gd name="T3" fmla="*/ 5 h 72"/>
                <a:gd name="T4" fmla="*/ 36 w 57"/>
                <a:gd name="T5" fmla="*/ 0 h 72"/>
                <a:gd name="T6" fmla="*/ 1 w 57"/>
                <a:gd name="T7" fmla="*/ 0 h 72"/>
                <a:gd name="T8" fmla="*/ 0 w 57"/>
                <a:gd name="T9" fmla="*/ 1 h 72"/>
                <a:gd name="T10" fmla="*/ 0 w 57"/>
                <a:gd name="T11" fmla="*/ 71 h 72"/>
                <a:gd name="T12" fmla="*/ 1 w 57"/>
                <a:gd name="T13" fmla="*/ 72 h 72"/>
                <a:gd name="T14" fmla="*/ 8 w 57"/>
                <a:gd name="T15" fmla="*/ 72 h 72"/>
                <a:gd name="T16" fmla="*/ 9 w 57"/>
                <a:gd name="T17" fmla="*/ 71 h 72"/>
                <a:gd name="T18" fmla="*/ 9 w 57"/>
                <a:gd name="T19" fmla="*/ 3 h 72"/>
                <a:gd name="T20" fmla="*/ 31 w 57"/>
                <a:gd name="T21" fmla="*/ 3 h 72"/>
                <a:gd name="T22" fmla="*/ 30 w 57"/>
                <a:gd name="T23" fmla="*/ 5 h 72"/>
                <a:gd name="T24" fmla="*/ 24 w 57"/>
                <a:gd name="T25" fmla="*/ 5 h 72"/>
                <a:gd name="T26" fmla="*/ 15 w 57"/>
                <a:gd name="T27" fmla="*/ 14 h 72"/>
                <a:gd name="T28" fmla="*/ 15 w 57"/>
                <a:gd name="T29" fmla="*/ 44 h 72"/>
                <a:gd name="T30" fmla="*/ 26 w 57"/>
                <a:gd name="T31" fmla="*/ 55 h 72"/>
                <a:gd name="T32" fmla="*/ 46 w 57"/>
                <a:gd name="T33" fmla="*/ 55 h 72"/>
                <a:gd name="T34" fmla="*/ 57 w 57"/>
                <a:gd name="T35" fmla="*/ 44 h 72"/>
                <a:gd name="T36" fmla="*/ 57 w 57"/>
                <a:gd name="T37" fmla="*/ 14 h 72"/>
                <a:gd name="T38" fmla="*/ 49 w 57"/>
                <a:gd name="T39" fmla="*/ 5 h 72"/>
                <a:gd name="T40" fmla="*/ 36 w 57"/>
                <a:gd name="T41" fmla="*/ 3 h 72"/>
                <a:gd name="T42" fmla="*/ 40 w 57"/>
                <a:gd name="T43" fmla="*/ 5 h 72"/>
                <a:gd name="T44" fmla="*/ 33 w 57"/>
                <a:gd name="T45" fmla="*/ 5 h 72"/>
                <a:gd name="T46" fmla="*/ 36 w 57"/>
                <a:gd name="T47" fmla="*/ 3 h 72"/>
                <a:gd name="T48" fmla="*/ 40 w 57"/>
                <a:gd name="T49" fmla="*/ 47 h 72"/>
                <a:gd name="T50" fmla="*/ 27 w 57"/>
                <a:gd name="T51" fmla="*/ 47 h 72"/>
                <a:gd name="T52" fmla="*/ 27 w 57"/>
                <a:gd name="T53" fmla="*/ 45 h 72"/>
                <a:gd name="T54" fmla="*/ 40 w 57"/>
                <a:gd name="T55" fmla="*/ 45 h 72"/>
                <a:gd name="T56" fmla="*/ 40 w 57"/>
                <a:gd name="T57" fmla="*/ 47 h 72"/>
                <a:gd name="T58" fmla="*/ 45 w 57"/>
                <a:gd name="T59" fmla="*/ 41 h 72"/>
                <a:gd name="T60" fmla="*/ 27 w 57"/>
                <a:gd name="T61" fmla="*/ 41 h 72"/>
                <a:gd name="T62" fmla="*/ 27 w 57"/>
                <a:gd name="T63" fmla="*/ 39 h 72"/>
                <a:gd name="T64" fmla="*/ 45 w 57"/>
                <a:gd name="T65" fmla="*/ 39 h 72"/>
                <a:gd name="T66" fmla="*/ 45 w 57"/>
                <a:gd name="T67" fmla="*/ 41 h 72"/>
                <a:gd name="T68" fmla="*/ 45 w 57"/>
                <a:gd name="T69" fmla="*/ 26 h 72"/>
                <a:gd name="T70" fmla="*/ 39 w 57"/>
                <a:gd name="T71" fmla="*/ 26 h 72"/>
                <a:gd name="T72" fmla="*/ 39 w 57"/>
                <a:gd name="T73" fmla="*/ 31 h 72"/>
                <a:gd name="T74" fmla="*/ 33 w 57"/>
                <a:gd name="T75" fmla="*/ 31 h 72"/>
                <a:gd name="T76" fmla="*/ 33 w 57"/>
                <a:gd name="T77" fmla="*/ 26 h 72"/>
                <a:gd name="T78" fmla="*/ 27 w 57"/>
                <a:gd name="T79" fmla="*/ 26 h 72"/>
                <a:gd name="T80" fmla="*/ 27 w 57"/>
                <a:gd name="T81" fmla="*/ 20 h 72"/>
                <a:gd name="T82" fmla="*/ 33 w 57"/>
                <a:gd name="T83" fmla="*/ 20 h 72"/>
                <a:gd name="T84" fmla="*/ 33 w 57"/>
                <a:gd name="T85" fmla="*/ 14 h 72"/>
                <a:gd name="T86" fmla="*/ 39 w 57"/>
                <a:gd name="T87" fmla="*/ 14 h 72"/>
                <a:gd name="T88" fmla="*/ 39 w 57"/>
                <a:gd name="T89" fmla="*/ 20 h 72"/>
                <a:gd name="T90" fmla="*/ 45 w 57"/>
                <a:gd name="T91" fmla="*/ 20 h 72"/>
                <a:gd name="T92" fmla="*/ 45 w 57"/>
                <a:gd name="T93" fmla="*/ 2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7" h="72">
                  <a:moveTo>
                    <a:pt x="49" y="5"/>
                  </a:moveTo>
                  <a:cubicBezTo>
                    <a:pt x="42" y="5"/>
                    <a:pt x="42" y="5"/>
                    <a:pt x="42" y="5"/>
                  </a:cubicBezTo>
                  <a:cubicBezTo>
                    <a:pt x="42" y="2"/>
                    <a:pt x="39" y="0"/>
                    <a:pt x="36" y="0"/>
                  </a:cubicBezTo>
                  <a:cubicBezTo>
                    <a:pt x="1" y="0"/>
                    <a:pt x="1" y="0"/>
                    <a:pt x="1" y="0"/>
                  </a:cubicBezTo>
                  <a:cubicBezTo>
                    <a:pt x="1" y="0"/>
                    <a:pt x="0" y="1"/>
                    <a:pt x="0" y="1"/>
                  </a:cubicBezTo>
                  <a:cubicBezTo>
                    <a:pt x="0" y="71"/>
                    <a:pt x="0" y="71"/>
                    <a:pt x="0" y="71"/>
                  </a:cubicBezTo>
                  <a:cubicBezTo>
                    <a:pt x="0" y="72"/>
                    <a:pt x="1" y="72"/>
                    <a:pt x="1" y="72"/>
                  </a:cubicBezTo>
                  <a:cubicBezTo>
                    <a:pt x="8" y="72"/>
                    <a:pt x="8" y="72"/>
                    <a:pt x="8" y="72"/>
                  </a:cubicBezTo>
                  <a:cubicBezTo>
                    <a:pt x="8" y="72"/>
                    <a:pt x="9" y="72"/>
                    <a:pt x="9" y="71"/>
                  </a:cubicBezTo>
                  <a:cubicBezTo>
                    <a:pt x="9" y="3"/>
                    <a:pt x="9" y="3"/>
                    <a:pt x="9" y="3"/>
                  </a:cubicBezTo>
                  <a:cubicBezTo>
                    <a:pt x="31" y="3"/>
                    <a:pt x="31" y="3"/>
                    <a:pt x="31" y="3"/>
                  </a:cubicBezTo>
                  <a:cubicBezTo>
                    <a:pt x="31" y="3"/>
                    <a:pt x="30" y="4"/>
                    <a:pt x="30" y="5"/>
                  </a:cubicBezTo>
                  <a:cubicBezTo>
                    <a:pt x="24" y="5"/>
                    <a:pt x="24" y="5"/>
                    <a:pt x="24" y="5"/>
                  </a:cubicBezTo>
                  <a:cubicBezTo>
                    <a:pt x="19" y="5"/>
                    <a:pt x="15" y="9"/>
                    <a:pt x="15" y="14"/>
                  </a:cubicBezTo>
                  <a:cubicBezTo>
                    <a:pt x="15" y="44"/>
                    <a:pt x="15" y="44"/>
                    <a:pt x="15" y="44"/>
                  </a:cubicBezTo>
                  <a:cubicBezTo>
                    <a:pt x="15" y="50"/>
                    <a:pt x="20" y="55"/>
                    <a:pt x="26" y="55"/>
                  </a:cubicBezTo>
                  <a:cubicBezTo>
                    <a:pt x="46" y="55"/>
                    <a:pt x="46" y="55"/>
                    <a:pt x="46" y="55"/>
                  </a:cubicBezTo>
                  <a:cubicBezTo>
                    <a:pt x="52" y="55"/>
                    <a:pt x="57" y="50"/>
                    <a:pt x="57" y="44"/>
                  </a:cubicBezTo>
                  <a:cubicBezTo>
                    <a:pt x="57" y="14"/>
                    <a:pt x="57" y="14"/>
                    <a:pt x="57" y="14"/>
                  </a:cubicBezTo>
                  <a:cubicBezTo>
                    <a:pt x="57" y="9"/>
                    <a:pt x="53" y="5"/>
                    <a:pt x="49" y="5"/>
                  </a:cubicBezTo>
                  <a:close/>
                  <a:moveTo>
                    <a:pt x="36" y="3"/>
                  </a:moveTo>
                  <a:cubicBezTo>
                    <a:pt x="38" y="3"/>
                    <a:pt x="39" y="4"/>
                    <a:pt x="40" y="5"/>
                  </a:cubicBezTo>
                  <a:cubicBezTo>
                    <a:pt x="33" y="5"/>
                    <a:pt x="33" y="5"/>
                    <a:pt x="33" y="5"/>
                  </a:cubicBezTo>
                  <a:cubicBezTo>
                    <a:pt x="33" y="4"/>
                    <a:pt x="35" y="3"/>
                    <a:pt x="36" y="3"/>
                  </a:cubicBezTo>
                  <a:close/>
                  <a:moveTo>
                    <a:pt x="40" y="47"/>
                  </a:moveTo>
                  <a:cubicBezTo>
                    <a:pt x="27" y="47"/>
                    <a:pt x="27" y="47"/>
                    <a:pt x="27" y="47"/>
                  </a:cubicBezTo>
                  <a:cubicBezTo>
                    <a:pt x="27" y="45"/>
                    <a:pt x="27" y="45"/>
                    <a:pt x="27" y="45"/>
                  </a:cubicBezTo>
                  <a:cubicBezTo>
                    <a:pt x="40" y="45"/>
                    <a:pt x="40" y="45"/>
                    <a:pt x="40" y="45"/>
                  </a:cubicBezTo>
                  <a:lnTo>
                    <a:pt x="40" y="47"/>
                  </a:lnTo>
                  <a:close/>
                  <a:moveTo>
                    <a:pt x="45" y="41"/>
                  </a:moveTo>
                  <a:cubicBezTo>
                    <a:pt x="27" y="41"/>
                    <a:pt x="27" y="41"/>
                    <a:pt x="27" y="41"/>
                  </a:cubicBezTo>
                  <a:cubicBezTo>
                    <a:pt x="27" y="39"/>
                    <a:pt x="27" y="39"/>
                    <a:pt x="27" y="39"/>
                  </a:cubicBezTo>
                  <a:cubicBezTo>
                    <a:pt x="45" y="39"/>
                    <a:pt x="45" y="39"/>
                    <a:pt x="45" y="39"/>
                  </a:cubicBezTo>
                  <a:lnTo>
                    <a:pt x="45" y="41"/>
                  </a:lnTo>
                  <a:close/>
                  <a:moveTo>
                    <a:pt x="45" y="26"/>
                  </a:moveTo>
                  <a:cubicBezTo>
                    <a:pt x="39" y="26"/>
                    <a:pt x="39" y="26"/>
                    <a:pt x="39" y="26"/>
                  </a:cubicBezTo>
                  <a:cubicBezTo>
                    <a:pt x="39" y="31"/>
                    <a:pt x="39" y="31"/>
                    <a:pt x="39" y="31"/>
                  </a:cubicBezTo>
                  <a:cubicBezTo>
                    <a:pt x="33" y="31"/>
                    <a:pt x="33" y="31"/>
                    <a:pt x="33" y="31"/>
                  </a:cubicBezTo>
                  <a:cubicBezTo>
                    <a:pt x="33" y="26"/>
                    <a:pt x="33" y="26"/>
                    <a:pt x="33" y="26"/>
                  </a:cubicBezTo>
                  <a:cubicBezTo>
                    <a:pt x="27" y="26"/>
                    <a:pt x="27" y="26"/>
                    <a:pt x="27" y="26"/>
                  </a:cubicBezTo>
                  <a:cubicBezTo>
                    <a:pt x="27" y="20"/>
                    <a:pt x="27" y="20"/>
                    <a:pt x="27" y="20"/>
                  </a:cubicBezTo>
                  <a:cubicBezTo>
                    <a:pt x="33" y="20"/>
                    <a:pt x="33" y="20"/>
                    <a:pt x="33" y="20"/>
                  </a:cubicBezTo>
                  <a:cubicBezTo>
                    <a:pt x="33" y="14"/>
                    <a:pt x="33" y="14"/>
                    <a:pt x="33" y="14"/>
                  </a:cubicBezTo>
                  <a:cubicBezTo>
                    <a:pt x="39" y="14"/>
                    <a:pt x="39" y="14"/>
                    <a:pt x="39" y="14"/>
                  </a:cubicBezTo>
                  <a:cubicBezTo>
                    <a:pt x="39" y="20"/>
                    <a:pt x="39" y="20"/>
                    <a:pt x="39" y="20"/>
                  </a:cubicBezTo>
                  <a:cubicBezTo>
                    <a:pt x="45" y="20"/>
                    <a:pt x="45" y="20"/>
                    <a:pt x="45" y="20"/>
                  </a:cubicBezTo>
                  <a:lnTo>
                    <a:pt x="4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1" name="Freeform 180">
              <a:extLst>
                <a:ext uri="{FF2B5EF4-FFF2-40B4-BE49-F238E27FC236}">
                  <a16:creationId xmlns:a16="http://schemas.microsoft.com/office/drawing/2014/main" id="{DC21895A-D7AE-40D0-A599-CCEC4FC21691}"/>
                </a:ext>
              </a:extLst>
            </p:cNvPr>
            <p:cNvSpPr>
              <a:spLocks/>
            </p:cNvSpPr>
            <p:nvPr/>
          </p:nvSpPr>
          <p:spPr bwMode="auto">
            <a:xfrm>
              <a:off x="858835" y="4497421"/>
              <a:ext cx="36512" cy="26988"/>
            </a:xfrm>
            <a:custGeom>
              <a:avLst/>
              <a:gdLst>
                <a:gd name="T0" fmla="*/ 19 w 20"/>
                <a:gd name="T1" fmla="*/ 0 h 15"/>
                <a:gd name="T2" fmla="*/ 1 w 20"/>
                <a:gd name="T3" fmla="*/ 0 h 15"/>
                <a:gd name="T4" fmla="*/ 0 w 20"/>
                <a:gd name="T5" fmla="*/ 2 h 15"/>
                <a:gd name="T6" fmla="*/ 0 w 20"/>
                <a:gd name="T7" fmla="*/ 8 h 15"/>
                <a:gd name="T8" fmla="*/ 1 w 20"/>
                <a:gd name="T9" fmla="*/ 9 h 15"/>
                <a:gd name="T10" fmla="*/ 9 w 20"/>
                <a:gd name="T11" fmla="*/ 9 h 15"/>
                <a:gd name="T12" fmla="*/ 9 w 20"/>
                <a:gd name="T13" fmla="*/ 15 h 15"/>
                <a:gd name="T14" fmla="*/ 11 w 20"/>
                <a:gd name="T15" fmla="*/ 15 h 15"/>
                <a:gd name="T16" fmla="*/ 11 w 20"/>
                <a:gd name="T17" fmla="*/ 9 h 15"/>
                <a:gd name="T18" fmla="*/ 19 w 20"/>
                <a:gd name="T19" fmla="*/ 9 h 15"/>
                <a:gd name="T20" fmla="*/ 20 w 20"/>
                <a:gd name="T21" fmla="*/ 8 h 15"/>
                <a:gd name="T22" fmla="*/ 20 w 20"/>
                <a:gd name="T23" fmla="*/ 2 h 15"/>
                <a:gd name="T24" fmla="*/ 19 w 20"/>
                <a:gd name="T25"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15">
                  <a:moveTo>
                    <a:pt x="19" y="0"/>
                  </a:moveTo>
                  <a:cubicBezTo>
                    <a:pt x="1" y="0"/>
                    <a:pt x="1" y="0"/>
                    <a:pt x="1" y="0"/>
                  </a:cubicBezTo>
                  <a:cubicBezTo>
                    <a:pt x="1" y="0"/>
                    <a:pt x="0" y="1"/>
                    <a:pt x="0" y="2"/>
                  </a:cubicBezTo>
                  <a:cubicBezTo>
                    <a:pt x="0" y="8"/>
                    <a:pt x="0" y="8"/>
                    <a:pt x="0" y="8"/>
                  </a:cubicBezTo>
                  <a:cubicBezTo>
                    <a:pt x="0" y="8"/>
                    <a:pt x="1" y="9"/>
                    <a:pt x="1" y="9"/>
                  </a:cubicBezTo>
                  <a:cubicBezTo>
                    <a:pt x="9" y="9"/>
                    <a:pt x="9" y="9"/>
                    <a:pt x="9" y="9"/>
                  </a:cubicBezTo>
                  <a:cubicBezTo>
                    <a:pt x="9" y="15"/>
                    <a:pt x="9" y="15"/>
                    <a:pt x="9" y="15"/>
                  </a:cubicBezTo>
                  <a:cubicBezTo>
                    <a:pt x="11" y="15"/>
                    <a:pt x="11" y="15"/>
                    <a:pt x="11" y="15"/>
                  </a:cubicBezTo>
                  <a:cubicBezTo>
                    <a:pt x="11" y="9"/>
                    <a:pt x="11" y="9"/>
                    <a:pt x="11" y="9"/>
                  </a:cubicBezTo>
                  <a:cubicBezTo>
                    <a:pt x="19" y="9"/>
                    <a:pt x="19" y="9"/>
                    <a:pt x="19" y="9"/>
                  </a:cubicBezTo>
                  <a:cubicBezTo>
                    <a:pt x="20" y="9"/>
                    <a:pt x="20" y="8"/>
                    <a:pt x="20" y="8"/>
                  </a:cubicBezTo>
                  <a:cubicBezTo>
                    <a:pt x="20" y="2"/>
                    <a:pt x="20" y="2"/>
                    <a:pt x="20" y="2"/>
                  </a:cubicBezTo>
                  <a:cubicBezTo>
                    <a:pt x="20" y="1"/>
                    <a:pt x="20" y="0"/>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22" name="Group 221">
            <a:extLst>
              <a:ext uri="{FF2B5EF4-FFF2-40B4-BE49-F238E27FC236}">
                <a16:creationId xmlns:a16="http://schemas.microsoft.com/office/drawing/2014/main" id="{44EA237F-1720-48C8-BE23-52AE7C9E5CBC}"/>
              </a:ext>
            </a:extLst>
          </p:cNvPr>
          <p:cNvGrpSpPr/>
          <p:nvPr/>
        </p:nvGrpSpPr>
        <p:grpSpPr>
          <a:xfrm>
            <a:off x="1426378" y="4337001"/>
            <a:ext cx="211287" cy="381245"/>
            <a:chOff x="1174745" y="4394233"/>
            <a:chExt cx="73024" cy="131764"/>
          </a:xfrm>
          <a:solidFill>
            <a:schemeClr val="accent1"/>
          </a:solidFill>
        </p:grpSpPr>
        <p:sp>
          <p:nvSpPr>
            <p:cNvPr id="223" name="Freeform 181">
              <a:extLst>
                <a:ext uri="{FF2B5EF4-FFF2-40B4-BE49-F238E27FC236}">
                  <a16:creationId xmlns:a16="http://schemas.microsoft.com/office/drawing/2014/main" id="{6779E340-E612-4191-87DE-9EAAFC69F5CA}"/>
                </a:ext>
              </a:extLst>
            </p:cNvPr>
            <p:cNvSpPr>
              <a:spLocks noEditPoints="1"/>
            </p:cNvSpPr>
            <p:nvPr/>
          </p:nvSpPr>
          <p:spPr bwMode="auto">
            <a:xfrm>
              <a:off x="1174745" y="4394233"/>
              <a:ext cx="73024" cy="131764"/>
            </a:xfrm>
            <a:custGeom>
              <a:avLst/>
              <a:gdLst>
                <a:gd name="T0" fmla="*/ 32 w 40"/>
                <a:gd name="T1" fmla="*/ 0 h 74"/>
                <a:gd name="T2" fmla="*/ 7 w 40"/>
                <a:gd name="T3" fmla="*/ 0 h 74"/>
                <a:gd name="T4" fmla="*/ 0 w 40"/>
                <a:gd name="T5" fmla="*/ 8 h 74"/>
                <a:gd name="T6" fmla="*/ 0 w 40"/>
                <a:gd name="T7" fmla="*/ 66 h 74"/>
                <a:gd name="T8" fmla="*/ 7 w 40"/>
                <a:gd name="T9" fmla="*/ 74 h 74"/>
                <a:gd name="T10" fmla="*/ 32 w 40"/>
                <a:gd name="T11" fmla="*/ 74 h 74"/>
                <a:gd name="T12" fmla="*/ 40 w 40"/>
                <a:gd name="T13" fmla="*/ 66 h 74"/>
                <a:gd name="T14" fmla="*/ 40 w 40"/>
                <a:gd name="T15" fmla="*/ 8 h 74"/>
                <a:gd name="T16" fmla="*/ 32 w 40"/>
                <a:gd name="T17" fmla="*/ 0 h 74"/>
                <a:gd name="T18" fmla="*/ 16 w 40"/>
                <a:gd name="T19" fmla="*/ 5 h 74"/>
                <a:gd name="T20" fmla="*/ 24 w 40"/>
                <a:gd name="T21" fmla="*/ 5 h 74"/>
                <a:gd name="T22" fmla="*/ 25 w 40"/>
                <a:gd name="T23" fmla="*/ 6 h 74"/>
                <a:gd name="T24" fmla="*/ 24 w 40"/>
                <a:gd name="T25" fmla="*/ 7 h 74"/>
                <a:gd name="T26" fmla="*/ 16 w 40"/>
                <a:gd name="T27" fmla="*/ 7 h 74"/>
                <a:gd name="T28" fmla="*/ 15 w 40"/>
                <a:gd name="T29" fmla="*/ 6 h 74"/>
                <a:gd name="T30" fmla="*/ 16 w 40"/>
                <a:gd name="T31" fmla="*/ 5 h 74"/>
                <a:gd name="T32" fmla="*/ 12 w 40"/>
                <a:gd name="T33" fmla="*/ 5 h 74"/>
                <a:gd name="T34" fmla="*/ 14 w 40"/>
                <a:gd name="T35" fmla="*/ 5 h 74"/>
                <a:gd name="T36" fmla="*/ 14 w 40"/>
                <a:gd name="T37" fmla="*/ 6 h 74"/>
                <a:gd name="T38" fmla="*/ 14 w 40"/>
                <a:gd name="T39" fmla="*/ 7 h 74"/>
                <a:gd name="T40" fmla="*/ 13 w 40"/>
                <a:gd name="T41" fmla="*/ 7 h 74"/>
                <a:gd name="T42" fmla="*/ 12 w 40"/>
                <a:gd name="T43" fmla="*/ 7 h 74"/>
                <a:gd name="T44" fmla="*/ 12 w 40"/>
                <a:gd name="T45" fmla="*/ 6 h 74"/>
                <a:gd name="T46" fmla="*/ 12 w 40"/>
                <a:gd name="T47" fmla="*/ 5 h 74"/>
                <a:gd name="T48" fmla="*/ 20 w 40"/>
                <a:gd name="T49" fmla="*/ 72 h 74"/>
                <a:gd name="T50" fmla="*/ 16 w 40"/>
                <a:gd name="T51" fmla="*/ 68 h 74"/>
                <a:gd name="T52" fmla="*/ 20 w 40"/>
                <a:gd name="T53" fmla="*/ 65 h 74"/>
                <a:gd name="T54" fmla="*/ 23 w 40"/>
                <a:gd name="T55" fmla="*/ 68 h 74"/>
                <a:gd name="T56" fmla="*/ 20 w 40"/>
                <a:gd name="T57" fmla="*/ 72 h 74"/>
                <a:gd name="T58" fmla="*/ 37 w 40"/>
                <a:gd name="T59" fmla="*/ 62 h 74"/>
                <a:gd name="T60" fmla="*/ 4 w 40"/>
                <a:gd name="T61" fmla="*/ 62 h 74"/>
                <a:gd name="T62" fmla="*/ 4 w 40"/>
                <a:gd name="T63" fmla="*/ 11 h 74"/>
                <a:gd name="T64" fmla="*/ 37 w 40"/>
                <a:gd name="T65" fmla="*/ 11 h 74"/>
                <a:gd name="T66" fmla="*/ 37 w 40"/>
                <a:gd name="T67" fmla="*/ 6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0" h="74">
                  <a:moveTo>
                    <a:pt x="32" y="0"/>
                  </a:moveTo>
                  <a:cubicBezTo>
                    <a:pt x="7" y="0"/>
                    <a:pt x="7" y="0"/>
                    <a:pt x="7" y="0"/>
                  </a:cubicBezTo>
                  <a:cubicBezTo>
                    <a:pt x="3" y="0"/>
                    <a:pt x="0" y="4"/>
                    <a:pt x="0" y="8"/>
                  </a:cubicBezTo>
                  <a:cubicBezTo>
                    <a:pt x="0" y="66"/>
                    <a:pt x="0" y="66"/>
                    <a:pt x="0" y="66"/>
                  </a:cubicBezTo>
                  <a:cubicBezTo>
                    <a:pt x="0" y="70"/>
                    <a:pt x="3" y="74"/>
                    <a:pt x="7" y="74"/>
                  </a:cubicBezTo>
                  <a:cubicBezTo>
                    <a:pt x="32" y="74"/>
                    <a:pt x="32" y="74"/>
                    <a:pt x="32" y="74"/>
                  </a:cubicBezTo>
                  <a:cubicBezTo>
                    <a:pt x="37" y="74"/>
                    <a:pt x="40" y="70"/>
                    <a:pt x="40" y="66"/>
                  </a:cubicBezTo>
                  <a:cubicBezTo>
                    <a:pt x="40" y="8"/>
                    <a:pt x="40" y="8"/>
                    <a:pt x="40" y="8"/>
                  </a:cubicBezTo>
                  <a:cubicBezTo>
                    <a:pt x="40" y="4"/>
                    <a:pt x="37" y="0"/>
                    <a:pt x="32" y="0"/>
                  </a:cubicBezTo>
                  <a:close/>
                  <a:moveTo>
                    <a:pt x="16" y="5"/>
                  </a:moveTo>
                  <a:cubicBezTo>
                    <a:pt x="24" y="5"/>
                    <a:pt x="24" y="5"/>
                    <a:pt x="24" y="5"/>
                  </a:cubicBezTo>
                  <a:cubicBezTo>
                    <a:pt x="24" y="5"/>
                    <a:pt x="25" y="5"/>
                    <a:pt x="25" y="6"/>
                  </a:cubicBezTo>
                  <a:cubicBezTo>
                    <a:pt x="25" y="7"/>
                    <a:pt x="24" y="7"/>
                    <a:pt x="24" y="7"/>
                  </a:cubicBezTo>
                  <a:cubicBezTo>
                    <a:pt x="16" y="7"/>
                    <a:pt x="16" y="7"/>
                    <a:pt x="16" y="7"/>
                  </a:cubicBezTo>
                  <a:cubicBezTo>
                    <a:pt x="16" y="7"/>
                    <a:pt x="15" y="7"/>
                    <a:pt x="15" y="6"/>
                  </a:cubicBezTo>
                  <a:cubicBezTo>
                    <a:pt x="15" y="5"/>
                    <a:pt x="16" y="5"/>
                    <a:pt x="16" y="5"/>
                  </a:cubicBezTo>
                  <a:close/>
                  <a:moveTo>
                    <a:pt x="12" y="5"/>
                  </a:moveTo>
                  <a:cubicBezTo>
                    <a:pt x="12" y="5"/>
                    <a:pt x="13" y="5"/>
                    <a:pt x="14" y="5"/>
                  </a:cubicBezTo>
                  <a:cubicBezTo>
                    <a:pt x="14" y="5"/>
                    <a:pt x="14" y="6"/>
                    <a:pt x="14" y="6"/>
                  </a:cubicBezTo>
                  <a:cubicBezTo>
                    <a:pt x="14" y="6"/>
                    <a:pt x="14" y="7"/>
                    <a:pt x="14" y="7"/>
                  </a:cubicBezTo>
                  <a:cubicBezTo>
                    <a:pt x="13" y="7"/>
                    <a:pt x="13" y="7"/>
                    <a:pt x="13" y="7"/>
                  </a:cubicBezTo>
                  <a:cubicBezTo>
                    <a:pt x="13" y="7"/>
                    <a:pt x="12" y="7"/>
                    <a:pt x="12" y="7"/>
                  </a:cubicBezTo>
                  <a:cubicBezTo>
                    <a:pt x="12" y="7"/>
                    <a:pt x="12" y="6"/>
                    <a:pt x="12" y="6"/>
                  </a:cubicBezTo>
                  <a:cubicBezTo>
                    <a:pt x="12" y="6"/>
                    <a:pt x="12" y="5"/>
                    <a:pt x="12" y="5"/>
                  </a:cubicBezTo>
                  <a:close/>
                  <a:moveTo>
                    <a:pt x="20" y="72"/>
                  </a:moveTo>
                  <a:cubicBezTo>
                    <a:pt x="18" y="72"/>
                    <a:pt x="16" y="70"/>
                    <a:pt x="16" y="68"/>
                  </a:cubicBezTo>
                  <a:cubicBezTo>
                    <a:pt x="16" y="66"/>
                    <a:pt x="18" y="65"/>
                    <a:pt x="20" y="65"/>
                  </a:cubicBezTo>
                  <a:cubicBezTo>
                    <a:pt x="22" y="65"/>
                    <a:pt x="23" y="66"/>
                    <a:pt x="23" y="68"/>
                  </a:cubicBezTo>
                  <a:cubicBezTo>
                    <a:pt x="23" y="70"/>
                    <a:pt x="22" y="72"/>
                    <a:pt x="20" y="72"/>
                  </a:cubicBezTo>
                  <a:close/>
                  <a:moveTo>
                    <a:pt x="37" y="62"/>
                  </a:moveTo>
                  <a:cubicBezTo>
                    <a:pt x="4" y="62"/>
                    <a:pt x="4" y="62"/>
                    <a:pt x="4" y="62"/>
                  </a:cubicBezTo>
                  <a:cubicBezTo>
                    <a:pt x="4" y="11"/>
                    <a:pt x="4" y="11"/>
                    <a:pt x="4" y="11"/>
                  </a:cubicBezTo>
                  <a:cubicBezTo>
                    <a:pt x="37" y="11"/>
                    <a:pt x="37" y="11"/>
                    <a:pt x="37" y="11"/>
                  </a:cubicBezTo>
                  <a:lnTo>
                    <a:pt x="3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4" name="Freeform 182">
              <a:extLst>
                <a:ext uri="{FF2B5EF4-FFF2-40B4-BE49-F238E27FC236}">
                  <a16:creationId xmlns:a16="http://schemas.microsoft.com/office/drawing/2014/main" id="{599DB75A-03CB-47E7-8173-921F7D29ECCE}"/>
                </a:ext>
              </a:extLst>
            </p:cNvPr>
            <p:cNvSpPr>
              <a:spLocks/>
            </p:cNvSpPr>
            <p:nvPr/>
          </p:nvSpPr>
          <p:spPr bwMode="auto">
            <a:xfrm>
              <a:off x="1193795" y="4437096"/>
              <a:ext cx="36512" cy="38100"/>
            </a:xfrm>
            <a:custGeom>
              <a:avLst/>
              <a:gdLst>
                <a:gd name="T0" fmla="*/ 0 w 23"/>
                <a:gd name="T1" fmla="*/ 8 h 24"/>
                <a:gd name="T2" fmla="*/ 7 w 23"/>
                <a:gd name="T3" fmla="*/ 8 h 24"/>
                <a:gd name="T4" fmla="*/ 7 w 23"/>
                <a:gd name="T5" fmla="*/ 0 h 24"/>
                <a:gd name="T6" fmla="*/ 15 w 23"/>
                <a:gd name="T7" fmla="*/ 0 h 24"/>
                <a:gd name="T8" fmla="*/ 15 w 23"/>
                <a:gd name="T9" fmla="*/ 8 h 24"/>
                <a:gd name="T10" fmla="*/ 23 w 23"/>
                <a:gd name="T11" fmla="*/ 8 h 24"/>
                <a:gd name="T12" fmla="*/ 23 w 23"/>
                <a:gd name="T13" fmla="*/ 16 h 24"/>
                <a:gd name="T14" fmla="*/ 15 w 23"/>
                <a:gd name="T15" fmla="*/ 16 h 24"/>
                <a:gd name="T16" fmla="*/ 15 w 23"/>
                <a:gd name="T17" fmla="*/ 24 h 24"/>
                <a:gd name="T18" fmla="*/ 7 w 23"/>
                <a:gd name="T19" fmla="*/ 24 h 24"/>
                <a:gd name="T20" fmla="*/ 7 w 23"/>
                <a:gd name="T21" fmla="*/ 16 h 24"/>
                <a:gd name="T22" fmla="*/ 0 w 23"/>
                <a:gd name="T23" fmla="*/ 16 h 24"/>
                <a:gd name="T24" fmla="*/ 0 w 23"/>
                <a:gd name="T2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 h="24">
                  <a:moveTo>
                    <a:pt x="0" y="8"/>
                  </a:moveTo>
                  <a:lnTo>
                    <a:pt x="7" y="8"/>
                  </a:lnTo>
                  <a:lnTo>
                    <a:pt x="7" y="0"/>
                  </a:lnTo>
                  <a:lnTo>
                    <a:pt x="15" y="0"/>
                  </a:lnTo>
                  <a:lnTo>
                    <a:pt x="15" y="8"/>
                  </a:lnTo>
                  <a:lnTo>
                    <a:pt x="23" y="8"/>
                  </a:lnTo>
                  <a:lnTo>
                    <a:pt x="23" y="16"/>
                  </a:lnTo>
                  <a:lnTo>
                    <a:pt x="15" y="16"/>
                  </a:lnTo>
                  <a:lnTo>
                    <a:pt x="15" y="24"/>
                  </a:lnTo>
                  <a:lnTo>
                    <a:pt x="7" y="24"/>
                  </a:lnTo>
                  <a:lnTo>
                    <a:pt x="7" y="16"/>
                  </a:lnTo>
                  <a:lnTo>
                    <a:pt x="0" y="16"/>
                  </a:lnTo>
                  <a:lnTo>
                    <a:pt x="0"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25" name="Group 224">
            <a:extLst>
              <a:ext uri="{FF2B5EF4-FFF2-40B4-BE49-F238E27FC236}">
                <a16:creationId xmlns:a16="http://schemas.microsoft.com/office/drawing/2014/main" id="{C075E72D-AEF0-4C95-A53A-EACB8085E50E}"/>
              </a:ext>
            </a:extLst>
          </p:cNvPr>
          <p:cNvGrpSpPr/>
          <p:nvPr/>
        </p:nvGrpSpPr>
        <p:grpSpPr>
          <a:xfrm>
            <a:off x="2268770" y="4404911"/>
            <a:ext cx="260829" cy="260831"/>
            <a:chOff x="1838315" y="4398995"/>
            <a:chExt cx="125412" cy="125413"/>
          </a:xfrm>
          <a:solidFill>
            <a:schemeClr val="accent1"/>
          </a:solidFill>
        </p:grpSpPr>
        <p:sp>
          <p:nvSpPr>
            <p:cNvPr id="226" name="Freeform 183">
              <a:extLst>
                <a:ext uri="{FF2B5EF4-FFF2-40B4-BE49-F238E27FC236}">
                  <a16:creationId xmlns:a16="http://schemas.microsoft.com/office/drawing/2014/main" id="{E8BCC6AF-5BB8-4FB6-B239-DE78ECF23E8F}"/>
                </a:ext>
              </a:extLst>
            </p:cNvPr>
            <p:cNvSpPr>
              <a:spLocks noEditPoints="1"/>
            </p:cNvSpPr>
            <p:nvPr/>
          </p:nvSpPr>
          <p:spPr bwMode="auto">
            <a:xfrm>
              <a:off x="1838315" y="4398995"/>
              <a:ext cx="125412" cy="63501"/>
            </a:xfrm>
            <a:custGeom>
              <a:avLst/>
              <a:gdLst>
                <a:gd name="T0" fmla="*/ 35 w 70"/>
                <a:gd name="T1" fmla="*/ 0 h 35"/>
                <a:gd name="T2" fmla="*/ 0 w 70"/>
                <a:gd name="T3" fmla="*/ 35 h 35"/>
                <a:gd name="T4" fmla="*/ 70 w 70"/>
                <a:gd name="T5" fmla="*/ 35 h 35"/>
                <a:gd name="T6" fmla="*/ 35 w 70"/>
                <a:gd name="T7" fmla="*/ 0 h 35"/>
                <a:gd name="T8" fmla="*/ 45 w 70"/>
                <a:gd name="T9" fmla="*/ 21 h 35"/>
                <a:gd name="T10" fmla="*/ 38 w 70"/>
                <a:gd name="T11" fmla="*/ 21 h 35"/>
                <a:gd name="T12" fmla="*/ 38 w 70"/>
                <a:gd name="T13" fmla="*/ 28 h 35"/>
                <a:gd name="T14" fmla="*/ 31 w 70"/>
                <a:gd name="T15" fmla="*/ 28 h 35"/>
                <a:gd name="T16" fmla="*/ 31 w 70"/>
                <a:gd name="T17" fmla="*/ 21 h 35"/>
                <a:gd name="T18" fmla="*/ 24 w 70"/>
                <a:gd name="T19" fmla="*/ 21 h 35"/>
                <a:gd name="T20" fmla="*/ 24 w 70"/>
                <a:gd name="T21" fmla="*/ 14 h 35"/>
                <a:gd name="T22" fmla="*/ 31 w 70"/>
                <a:gd name="T23" fmla="*/ 14 h 35"/>
                <a:gd name="T24" fmla="*/ 31 w 70"/>
                <a:gd name="T25" fmla="*/ 7 h 35"/>
                <a:gd name="T26" fmla="*/ 38 w 70"/>
                <a:gd name="T27" fmla="*/ 7 h 35"/>
                <a:gd name="T28" fmla="*/ 38 w 70"/>
                <a:gd name="T29" fmla="*/ 14 h 35"/>
                <a:gd name="T30" fmla="*/ 45 w 70"/>
                <a:gd name="T31" fmla="*/ 14 h 35"/>
                <a:gd name="T32" fmla="*/ 45 w 70"/>
                <a:gd name="T33" fmla="*/ 2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35">
                  <a:moveTo>
                    <a:pt x="35" y="0"/>
                  </a:moveTo>
                  <a:cubicBezTo>
                    <a:pt x="15" y="0"/>
                    <a:pt x="0" y="16"/>
                    <a:pt x="0" y="35"/>
                  </a:cubicBezTo>
                  <a:cubicBezTo>
                    <a:pt x="70" y="35"/>
                    <a:pt x="70" y="35"/>
                    <a:pt x="70" y="35"/>
                  </a:cubicBezTo>
                  <a:cubicBezTo>
                    <a:pt x="70" y="16"/>
                    <a:pt x="54" y="0"/>
                    <a:pt x="35" y="0"/>
                  </a:cubicBezTo>
                  <a:close/>
                  <a:moveTo>
                    <a:pt x="45" y="21"/>
                  </a:moveTo>
                  <a:cubicBezTo>
                    <a:pt x="38" y="21"/>
                    <a:pt x="38" y="21"/>
                    <a:pt x="38" y="21"/>
                  </a:cubicBezTo>
                  <a:cubicBezTo>
                    <a:pt x="38" y="28"/>
                    <a:pt x="38" y="28"/>
                    <a:pt x="38" y="28"/>
                  </a:cubicBezTo>
                  <a:cubicBezTo>
                    <a:pt x="31" y="28"/>
                    <a:pt x="31" y="28"/>
                    <a:pt x="31" y="28"/>
                  </a:cubicBezTo>
                  <a:cubicBezTo>
                    <a:pt x="31" y="21"/>
                    <a:pt x="31" y="21"/>
                    <a:pt x="31" y="21"/>
                  </a:cubicBezTo>
                  <a:cubicBezTo>
                    <a:pt x="24" y="21"/>
                    <a:pt x="24" y="21"/>
                    <a:pt x="24" y="21"/>
                  </a:cubicBezTo>
                  <a:cubicBezTo>
                    <a:pt x="24" y="14"/>
                    <a:pt x="24" y="14"/>
                    <a:pt x="24" y="14"/>
                  </a:cubicBezTo>
                  <a:cubicBezTo>
                    <a:pt x="31" y="14"/>
                    <a:pt x="31" y="14"/>
                    <a:pt x="31" y="14"/>
                  </a:cubicBezTo>
                  <a:cubicBezTo>
                    <a:pt x="31" y="7"/>
                    <a:pt x="31" y="7"/>
                    <a:pt x="31" y="7"/>
                  </a:cubicBezTo>
                  <a:cubicBezTo>
                    <a:pt x="38" y="7"/>
                    <a:pt x="38" y="7"/>
                    <a:pt x="38" y="7"/>
                  </a:cubicBezTo>
                  <a:cubicBezTo>
                    <a:pt x="38" y="14"/>
                    <a:pt x="38" y="14"/>
                    <a:pt x="38" y="14"/>
                  </a:cubicBezTo>
                  <a:cubicBezTo>
                    <a:pt x="45" y="14"/>
                    <a:pt x="45" y="14"/>
                    <a:pt x="45" y="14"/>
                  </a:cubicBezTo>
                  <a:lnTo>
                    <a:pt x="45"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7" name="Freeform 184">
              <a:extLst>
                <a:ext uri="{FF2B5EF4-FFF2-40B4-BE49-F238E27FC236}">
                  <a16:creationId xmlns:a16="http://schemas.microsoft.com/office/drawing/2014/main" id="{6877ED37-11E8-46BF-AD64-236B8A1C1A59}"/>
                </a:ext>
              </a:extLst>
            </p:cNvPr>
            <p:cNvSpPr>
              <a:spLocks/>
            </p:cNvSpPr>
            <p:nvPr/>
          </p:nvSpPr>
          <p:spPr bwMode="auto">
            <a:xfrm>
              <a:off x="1893877" y="4467258"/>
              <a:ext cx="38100" cy="57150"/>
            </a:xfrm>
            <a:custGeom>
              <a:avLst/>
              <a:gdLst>
                <a:gd name="T0" fmla="*/ 14 w 21"/>
                <a:gd name="T1" fmla="*/ 18 h 32"/>
                <a:gd name="T2" fmla="*/ 14 w 21"/>
                <a:gd name="T3" fmla="*/ 21 h 32"/>
                <a:gd name="T4" fmla="*/ 11 w 21"/>
                <a:gd name="T5" fmla="*/ 25 h 32"/>
                <a:gd name="T6" fmla="*/ 7 w 21"/>
                <a:gd name="T7" fmla="*/ 21 h 32"/>
                <a:gd name="T8" fmla="*/ 7 w 21"/>
                <a:gd name="T9" fmla="*/ 0 h 32"/>
                <a:gd name="T10" fmla="*/ 0 w 21"/>
                <a:gd name="T11" fmla="*/ 0 h 32"/>
                <a:gd name="T12" fmla="*/ 0 w 21"/>
                <a:gd name="T13" fmla="*/ 21 h 32"/>
                <a:gd name="T14" fmla="*/ 11 w 21"/>
                <a:gd name="T15" fmla="*/ 32 h 32"/>
                <a:gd name="T16" fmla="*/ 21 w 21"/>
                <a:gd name="T17" fmla="*/ 21 h 32"/>
                <a:gd name="T18" fmla="*/ 21 w 21"/>
                <a:gd name="T19" fmla="*/ 18 h 32"/>
                <a:gd name="T20" fmla="*/ 14 w 21"/>
                <a:gd name="T21"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32">
                  <a:moveTo>
                    <a:pt x="14" y="18"/>
                  </a:moveTo>
                  <a:cubicBezTo>
                    <a:pt x="14" y="21"/>
                    <a:pt x="14" y="21"/>
                    <a:pt x="14" y="21"/>
                  </a:cubicBezTo>
                  <a:cubicBezTo>
                    <a:pt x="14" y="23"/>
                    <a:pt x="13" y="25"/>
                    <a:pt x="11" y="25"/>
                  </a:cubicBezTo>
                  <a:cubicBezTo>
                    <a:pt x="9" y="25"/>
                    <a:pt x="7" y="23"/>
                    <a:pt x="7" y="21"/>
                  </a:cubicBezTo>
                  <a:cubicBezTo>
                    <a:pt x="7" y="0"/>
                    <a:pt x="7" y="0"/>
                    <a:pt x="7" y="0"/>
                  </a:cubicBezTo>
                  <a:cubicBezTo>
                    <a:pt x="0" y="0"/>
                    <a:pt x="0" y="0"/>
                    <a:pt x="0" y="0"/>
                  </a:cubicBezTo>
                  <a:cubicBezTo>
                    <a:pt x="0" y="21"/>
                    <a:pt x="0" y="21"/>
                    <a:pt x="0" y="21"/>
                  </a:cubicBezTo>
                  <a:cubicBezTo>
                    <a:pt x="0" y="27"/>
                    <a:pt x="5" y="32"/>
                    <a:pt x="11" y="32"/>
                  </a:cubicBezTo>
                  <a:cubicBezTo>
                    <a:pt x="16" y="32"/>
                    <a:pt x="21" y="27"/>
                    <a:pt x="21" y="21"/>
                  </a:cubicBezTo>
                  <a:cubicBezTo>
                    <a:pt x="21" y="18"/>
                    <a:pt x="21" y="18"/>
                    <a:pt x="21" y="18"/>
                  </a:cubicBezTo>
                  <a:lnTo>
                    <a:pt x="14"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28" name="Group 227">
            <a:extLst>
              <a:ext uri="{FF2B5EF4-FFF2-40B4-BE49-F238E27FC236}">
                <a16:creationId xmlns:a16="http://schemas.microsoft.com/office/drawing/2014/main" id="{B16DC968-5A3C-4020-AD02-2CDDA2E2F182}"/>
              </a:ext>
            </a:extLst>
          </p:cNvPr>
          <p:cNvGrpSpPr/>
          <p:nvPr/>
        </p:nvGrpSpPr>
        <p:grpSpPr>
          <a:xfrm>
            <a:off x="8520820" y="3501212"/>
            <a:ext cx="301343" cy="161835"/>
            <a:chOff x="433388" y="4914937"/>
            <a:chExt cx="171449" cy="92076"/>
          </a:xfrm>
          <a:solidFill>
            <a:schemeClr val="accent1"/>
          </a:solidFill>
        </p:grpSpPr>
        <p:sp>
          <p:nvSpPr>
            <p:cNvPr id="229" name="Freeform 185">
              <a:extLst>
                <a:ext uri="{FF2B5EF4-FFF2-40B4-BE49-F238E27FC236}">
                  <a16:creationId xmlns:a16="http://schemas.microsoft.com/office/drawing/2014/main" id="{A6DC9BB4-801F-41B4-BE79-C7CEBA7835F5}"/>
                </a:ext>
              </a:extLst>
            </p:cNvPr>
            <p:cNvSpPr>
              <a:spLocks noEditPoints="1"/>
            </p:cNvSpPr>
            <p:nvPr/>
          </p:nvSpPr>
          <p:spPr bwMode="auto">
            <a:xfrm>
              <a:off x="433388" y="4914937"/>
              <a:ext cx="171449" cy="92076"/>
            </a:xfrm>
            <a:custGeom>
              <a:avLst/>
              <a:gdLst>
                <a:gd name="T0" fmla="*/ 108 w 108"/>
                <a:gd name="T1" fmla="*/ 18 h 58"/>
                <a:gd name="T2" fmla="*/ 80 w 108"/>
                <a:gd name="T3" fmla="*/ 0 h 58"/>
                <a:gd name="T4" fmla="*/ 80 w 108"/>
                <a:gd name="T5" fmla="*/ 12 h 58"/>
                <a:gd name="T6" fmla="*/ 29 w 108"/>
                <a:gd name="T7" fmla="*/ 12 h 58"/>
                <a:gd name="T8" fmla="*/ 29 w 108"/>
                <a:gd name="T9" fmla="*/ 23 h 58"/>
                <a:gd name="T10" fmla="*/ 0 w 108"/>
                <a:gd name="T11" fmla="*/ 41 h 58"/>
                <a:gd name="T12" fmla="*/ 29 w 108"/>
                <a:gd name="T13" fmla="*/ 58 h 58"/>
                <a:gd name="T14" fmla="*/ 29 w 108"/>
                <a:gd name="T15" fmla="*/ 47 h 58"/>
                <a:gd name="T16" fmla="*/ 80 w 108"/>
                <a:gd name="T17" fmla="*/ 47 h 58"/>
                <a:gd name="T18" fmla="*/ 80 w 108"/>
                <a:gd name="T19" fmla="*/ 36 h 58"/>
                <a:gd name="T20" fmla="*/ 29 w 108"/>
                <a:gd name="T21" fmla="*/ 36 h 58"/>
                <a:gd name="T22" fmla="*/ 29 w 108"/>
                <a:gd name="T23" fmla="*/ 23 h 58"/>
                <a:gd name="T24" fmla="*/ 80 w 108"/>
                <a:gd name="T25" fmla="*/ 23 h 58"/>
                <a:gd name="T26" fmla="*/ 80 w 108"/>
                <a:gd name="T27" fmla="*/ 35 h 58"/>
                <a:gd name="T28" fmla="*/ 108 w 108"/>
                <a:gd name="T29" fmla="*/ 18 h 58"/>
                <a:gd name="T30" fmla="*/ 108 w 108"/>
                <a:gd name="T31" fmla="*/ 18 h 58"/>
                <a:gd name="T32" fmla="*/ 108 w 108"/>
                <a:gd name="T3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58">
                  <a:moveTo>
                    <a:pt x="108" y="18"/>
                  </a:moveTo>
                  <a:lnTo>
                    <a:pt x="80" y="0"/>
                  </a:lnTo>
                  <a:lnTo>
                    <a:pt x="80" y="12"/>
                  </a:lnTo>
                  <a:lnTo>
                    <a:pt x="29" y="12"/>
                  </a:lnTo>
                  <a:lnTo>
                    <a:pt x="29" y="23"/>
                  </a:lnTo>
                  <a:lnTo>
                    <a:pt x="0" y="41"/>
                  </a:lnTo>
                  <a:lnTo>
                    <a:pt x="29" y="58"/>
                  </a:lnTo>
                  <a:lnTo>
                    <a:pt x="29" y="47"/>
                  </a:lnTo>
                  <a:lnTo>
                    <a:pt x="80" y="47"/>
                  </a:lnTo>
                  <a:lnTo>
                    <a:pt x="80" y="36"/>
                  </a:lnTo>
                  <a:lnTo>
                    <a:pt x="29" y="36"/>
                  </a:lnTo>
                  <a:lnTo>
                    <a:pt x="29" y="23"/>
                  </a:lnTo>
                  <a:lnTo>
                    <a:pt x="80" y="23"/>
                  </a:lnTo>
                  <a:lnTo>
                    <a:pt x="80" y="35"/>
                  </a:lnTo>
                  <a:lnTo>
                    <a:pt x="108" y="18"/>
                  </a:lnTo>
                  <a:close/>
                  <a:moveTo>
                    <a:pt x="108" y="18"/>
                  </a:moveTo>
                  <a:lnTo>
                    <a:pt x="108"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0" name="Freeform 186">
              <a:extLst>
                <a:ext uri="{FF2B5EF4-FFF2-40B4-BE49-F238E27FC236}">
                  <a16:creationId xmlns:a16="http://schemas.microsoft.com/office/drawing/2014/main" id="{129FD0EA-25C1-4115-96B0-A6574847B87C}"/>
                </a:ext>
              </a:extLst>
            </p:cNvPr>
            <p:cNvSpPr>
              <a:spLocks noEditPoints="1"/>
            </p:cNvSpPr>
            <p:nvPr/>
          </p:nvSpPr>
          <p:spPr bwMode="auto">
            <a:xfrm>
              <a:off x="433388" y="4914937"/>
              <a:ext cx="171449" cy="92076"/>
            </a:xfrm>
            <a:custGeom>
              <a:avLst/>
              <a:gdLst>
                <a:gd name="T0" fmla="*/ 108 w 108"/>
                <a:gd name="T1" fmla="*/ 18 h 58"/>
                <a:gd name="T2" fmla="*/ 80 w 108"/>
                <a:gd name="T3" fmla="*/ 0 h 58"/>
                <a:gd name="T4" fmla="*/ 80 w 108"/>
                <a:gd name="T5" fmla="*/ 12 h 58"/>
                <a:gd name="T6" fmla="*/ 29 w 108"/>
                <a:gd name="T7" fmla="*/ 12 h 58"/>
                <a:gd name="T8" fmla="*/ 29 w 108"/>
                <a:gd name="T9" fmla="*/ 23 h 58"/>
                <a:gd name="T10" fmla="*/ 0 w 108"/>
                <a:gd name="T11" fmla="*/ 41 h 58"/>
                <a:gd name="T12" fmla="*/ 29 w 108"/>
                <a:gd name="T13" fmla="*/ 58 h 58"/>
                <a:gd name="T14" fmla="*/ 29 w 108"/>
                <a:gd name="T15" fmla="*/ 47 h 58"/>
                <a:gd name="T16" fmla="*/ 80 w 108"/>
                <a:gd name="T17" fmla="*/ 47 h 58"/>
                <a:gd name="T18" fmla="*/ 80 w 108"/>
                <a:gd name="T19" fmla="*/ 36 h 58"/>
                <a:gd name="T20" fmla="*/ 29 w 108"/>
                <a:gd name="T21" fmla="*/ 36 h 58"/>
                <a:gd name="T22" fmla="*/ 29 w 108"/>
                <a:gd name="T23" fmla="*/ 23 h 58"/>
                <a:gd name="T24" fmla="*/ 80 w 108"/>
                <a:gd name="T25" fmla="*/ 23 h 58"/>
                <a:gd name="T26" fmla="*/ 80 w 108"/>
                <a:gd name="T27" fmla="*/ 35 h 58"/>
                <a:gd name="T28" fmla="*/ 108 w 108"/>
                <a:gd name="T29" fmla="*/ 18 h 58"/>
                <a:gd name="T30" fmla="*/ 108 w 108"/>
                <a:gd name="T31" fmla="*/ 18 h 58"/>
                <a:gd name="T32" fmla="*/ 108 w 108"/>
                <a:gd name="T3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8" h="58">
                  <a:moveTo>
                    <a:pt x="108" y="18"/>
                  </a:moveTo>
                  <a:lnTo>
                    <a:pt x="80" y="0"/>
                  </a:lnTo>
                  <a:lnTo>
                    <a:pt x="80" y="12"/>
                  </a:lnTo>
                  <a:lnTo>
                    <a:pt x="29" y="12"/>
                  </a:lnTo>
                  <a:lnTo>
                    <a:pt x="29" y="23"/>
                  </a:lnTo>
                  <a:lnTo>
                    <a:pt x="0" y="41"/>
                  </a:lnTo>
                  <a:lnTo>
                    <a:pt x="29" y="58"/>
                  </a:lnTo>
                  <a:lnTo>
                    <a:pt x="29" y="47"/>
                  </a:lnTo>
                  <a:lnTo>
                    <a:pt x="80" y="47"/>
                  </a:lnTo>
                  <a:lnTo>
                    <a:pt x="80" y="36"/>
                  </a:lnTo>
                  <a:lnTo>
                    <a:pt x="29" y="36"/>
                  </a:lnTo>
                  <a:lnTo>
                    <a:pt x="29" y="23"/>
                  </a:lnTo>
                  <a:lnTo>
                    <a:pt x="80" y="23"/>
                  </a:lnTo>
                  <a:lnTo>
                    <a:pt x="80" y="35"/>
                  </a:lnTo>
                  <a:lnTo>
                    <a:pt x="108" y="18"/>
                  </a:lnTo>
                  <a:moveTo>
                    <a:pt x="108" y="18"/>
                  </a:moveTo>
                  <a:lnTo>
                    <a:pt x="108" y="1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31" name="Freeform 187">
            <a:extLst>
              <a:ext uri="{FF2B5EF4-FFF2-40B4-BE49-F238E27FC236}">
                <a16:creationId xmlns:a16="http://schemas.microsoft.com/office/drawing/2014/main" id="{36694BD7-7608-4B2D-B123-CB017DF3C821}"/>
              </a:ext>
            </a:extLst>
          </p:cNvPr>
          <p:cNvSpPr>
            <a:spLocks noEditPoints="1"/>
          </p:cNvSpPr>
          <p:nvPr/>
        </p:nvSpPr>
        <p:spPr bwMode="auto">
          <a:xfrm>
            <a:off x="7619688" y="5279393"/>
            <a:ext cx="342174" cy="326338"/>
          </a:xfrm>
          <a:custGeom>
            <a:avLst/>
            <a:gdLst>
              <a:gd name="T0" fmla="*/ 51 w 96"/>
              <a:gd name="T1" fmla="*/ 0 h 91"/>
              <a:gd name="T2" fmla="*/ 23 w 96"/>
              <a:gd name="T3" fmla="*/ 9 h 91"/>
              <a:gd name="T4" fmla="*/ 7 w 96"/>
              <a:gd name="T5" fmla="*/ 33 h 91"/>
              <a:gd name="T6" fmla="*/ 7 w 96"/>
              <a:gd name="T7" fmla="*/ 35 h 91"/>
              <a:gd name="T8" fmla="*/ 0 w 96"/>
              <a:gd name="T9" fmla="*/ 35 h 91"/>
              <a:gd name="T10" fmla="*/ 12 w 96"/>
              <a:gd name="T11" fmla="*/ 54 h 91"/>
              <a:gd name="T12" fmla="*/ 24 w 96"/>
              <a:gd name="T13" fmla="*/ 35 h 91"/>
              <a:gd name="T14" fmla="*/ 17 w 96"/>
              <a:gd name="T15" fmla="*/ 35 h 91"/>
              <a:gd name="T16" fmla="*/ 51 w 96"/>
              <a:gd name="T17" fmla="*/ 10 h 91"/>
              <a:gd name="T18" fmla="*/ 86 w 96"/>
              <a:gd name="T19" fmla="*/ 45 h 91"/>
              <a:gd name="T20" fmla="*/ 51 w 96"/>
              <a:gd name="T21" fmla="*/ 80 h 91"/>
              <a:gd name="T22" fmla="*/ 25 w 96"/>
              <a:gd name="T23" fmla="*/ 69 h 91"/>
              <a:gd name="T24" fmla="*/ 17 w 96"/>
              <a:gd name="T25" fmla="*/ 76 h 91"/>
              <a:gd name="T26" fmla="*/ 51 w 96"/>
              <a:gd name="T27" fmla="*/ 91 h 91"/>
              <a:gd name="T28" fmla="*/ 96 w 96"/>
              <a:gd name="T29" fmla="*/ 45 h 91"/>
              <a:gd name="T30" fmla="*/ 51 w 96"/>
              <a:gd name="T31" fmla="*/ 0 h 91"/>
              <a:gd name="T32" fmla="*/ 51 w 96"/>
              <a:gd name="T33" fmla="*/ 0 h 91"/>
              <a:gd name="T34" fmla="*/ 51 w 96"/>
              <a:gd name="T35"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91">
                <a:moveTo>
                  <a:pt x="51" y="0"/>
                </a:moveTo>
                <a:cubicBezTo>
                  <a:pt x="41" y="0"/>
                  <a:pt x="31" y="3"/>
                  <a:pt x="23" y="9"/>
                </a:cubicBezTo>
                <a:cubicBezTo>
                  <a:pt x="16" y="15"/>
                  <a:pt x="10" y="24"/>
                  <a:pt x="7" y="33"/>
                </a:cubicBezTo>
                <a:cubicBezTo>
                  <a:pt x="7" y="34"/>
                  <a:pt x="7" y="34"/>
                  <a:pt x="7" y="35"/>
                </a:cubicBezTo>
                <a:cubicBezTo>
                  <a:pt x="0" y="35"/>
                  <a:pt x="0" y="35"/>
                  <a:pt x="0" y="35"/>
                </a:cubicBezTo>
                <a:cubicBezTo>
                  <a:pt x="12" y="54"/>
                  <a:pt x="12" y="54"/>
                  <a:pt x="12" y="54"/>
                </a:cubicBezTo>
                <a:cubicBezTo>
                  <a:pt x="24" y="35"/>
                  <a:pt x="24" y="35"/>
                  <a:pt x="24" y="35"/>
                </a:cubicBezTo>
                <a:cubicBezTo>
                  <a:pt x="17" y="35"/>
                  <a:pt x="17" y="35"/>
                  <a:pt x="17" y="35"/>
                </a:cubicBezTo>
                <a:cubicBezTo>
                  <a:pt x="22" y="21"/>
                  <a:pt x="36" y="10"/>
                  <a:pt x="51" y="10"/>
                </a:cubicBezTo>
                <a:cubicBezTo>
                  <a:pt x="70" y="10"/>
                  <a:pt x="86" y="26"/>
                  <a:pt x="86" y="45"/>
                </a:cubicBezTo>
                <a:cubicBezTo>
                  <a:pt x="86" y="65"/>
                  <a:pt x="70" y="80"/>
                  <a:pt x="51" y="80"/>
                </a:cubicBezTo>
                <a:cubicBezTo>
                  <a:pt x="41" y="80"/>
                  <a:pt x="31" y="76"/>
                  <a:pt x="25" y="69"/>
                </a:cubicBezTo>
                <a:cubicBezTo>
                  <a:pt x="17" y="76"/>
                  <a:pt x="17" y="76"/>
                  <a:pt x="17" y="76"/>
                </a:cubicBezTo>
                <a:cubicBezTo>
                  <a:pt x="26" y="85"/>
                  <a:pt x="38" y="91"/>
                  <a:pt x="51" y="91"/>
                </a:cubicBezTo>
                <a:cubicBezTo>
                  <a:pt x="76" y="91"/>
                  <a:pt x="96" y="70"/>
                  <a:pt x="96" y="45"/>
                </a:cubicBezTo>
                <a:cubicBezTo>
                  <a:pt x="96" y="20"/>
                  <a:pt x="76" y="0"/>
                  <a:pt x="51" y="0"/>
                </a:cubicBezTo>
                <a:close/>
                <a:moveTo>
                  <a:pt x="51" y="0"/>
                </a:moveTo>
                <a:cubicBezTo>
                  <a:pt x="51" y="0"/>
                  <a:pt x="51" y="0"/>
                  <a:pt x="51" y="0"/>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32" name="Group 231">
            <a:extLst>
              <a:ext uri="{FF2B5EF4-FFF2-40B4-BE49-F238E27FC236}">
                <a16:creationId xmlns:a16="http://schemas.microsoft.com/office/drawing/2014/main" id="{DF2CE75F-FA0A-437E-A73D-B8629E7D8588}"/>
              </a:ext>
            </a:extLst>
          </p:cNvPr>
          <p:cNvGrpSpPr/>
          <p:nvPr/>
        </p:nvGrpSpPr>
        <p:grpSpPr>
          <a:xfrm>
            <a:off x="1317134" y="5215010"/>
            <a:ext cx="408620" cy="404945"/>
            <a:chOff x="1471605" y="5554705"/>
            <a:chExt cx="176211" cy="174626"/>
          </a:xfrm>
          <a:solidFill>
            <a:schemeClr val="accent1"/>
          </a:solidFill>
        </p:grpSpPr>
        <p:sp>
          <p:nvSpPr>
            <p:cNvPr id="233" name="Freeform 190">
              <a:extLst>
                <a:ext uri="{FF2B5EF4-FFF2-40B4-BE49-F238E27FC236}">
                  <a16:creationId xmlns:a16="http://schemas.microsoft.com/office/drawing/2014/main" id="{1AA35CD0-8F8B-4A81-9CE1-35C1C82B4EAC}"/>
                </a:ext>
              </a:extLst>
            </p:cNvPr>
            <p:cNvSpPr>
              <a:spLocks noEditPoints="1"/>
            </p:cNvSpPr>
            <p:nvPr/>
          </p:nvSpPr>
          <p:spPr bwMode="auto">
            <a:xfrm>
              <a:off x="1582729" y="5624555"/>
              <a:ext cx="65087" cy="88901"/>
            </a:xfrm>
            <a:custGeom>
              <a:avLst/>
              <a:gdLst>
                <a:gd name="T0" fmla="*/ 25 w 36"/>
                <a:gd name="T1" fmla="*/ 0 h 49"/>
                <a:gd name="T2" fmla="*/ 13 w 36"/>
                <a:gd name="T3" fmla="*/ 19 h 49"/>
                <a:gd name="T4" fmla="*/ 18 w 36"/>
                <a:gd name="T5" fmla="*/ 19 h 49"/>
                <a:gd name="T6" fmla="*/ 0 w 36"/>
                <a:gd name="T7" fmla="*/ 40 h 49"/>
                <a:gd name="T8" fmla="*/ 4 w 36"/>
                <a:gd name="T9" fmla="*/ 49 h 49"/>
                <a:gd name="T10" fmla="*/ 29 w 36"/>
                <a:gd name="T11" fmla="*/ 19 h 49"/>
                <a:gd name="T12" fmla="*/ 36 w 36"/>
                <a:gd name="T13" fmla="*/ 19 h 49"/>
                <a:gd name="T14" fmla="*/ 25 w 36"/>
                <a:gd name="T15" fmla="*/ 0 h 49"/>
                <a:gd name="T16" fmla="*/ 25 w 36"/>
                <a:gd name="T17" fmla="*/ 0 h 49"/>
                <a:gd name="T18" fmla="*/ 25 w 36"/>
                <a:gd name="T19"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49">
                  <a:moveTo>
                    <a:pt x="25" y="0"/>
                  </a:moveTo>
                  <a:cubicBezTo>
                    <a:pt x="13" y="19"/>
                    <a:pt x="13" y="19"/>
                    <a:pt x="13" y="19"/>
                  </a:cubicBezTo>
                  <a:cubicBezTo>
                    <a:pt x="18" y="19"/>
                    <a:pt x="18" y="19"/>
                    <a:pt x="18" y="19"/>
                  </a:cubicBezTo>
                  <a:cubicBezTo>
                    <a:pt x="15" y="28"/>
                    <a:pt x="9" y="36"/>
                    <a:pt x="0" y="40"/>
                  </a:cubicBezTo>
                  <a:cubicBezTo>
                    <a:pt x="4" y="49"/>
                    <a:pt x="4" y="49"/>
                    <a:pt x="4" y="49"/>
                  </a:cubicBezTo>
                  <a:cubicBezTo>
                    <a:pt x="17" y="44"/>
                    <a:pt x="26" y="32"/>
                    <a:pt x="29" y="19"/>
                  </a:cubicBezTo>
                  <a:cubicBezTo>
                    <a:pt x="36" y="19"/>
                    <a:pt x="36" y="19"/>
                    <a:pt x="36" y="19"/>
                  </a:cubicBezTo>
                  <a:lnTo>
                    <a:pt x="25" y="0"/>
                  </a:lnTo>
                  <a:close/>
                  <a:moveTo>
                    <a:pt x="25" y="0"/>
                  </a:moveTo>
                  <a:cubicBezTo>
                    <a:pt x="25" y="0"/>
                    <a:pt x="25" y="0"/>
                    <a:pt x="2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234" name="Group 233">
              <a:extLst>
                <a:ext uri="{FF2B5EF4-FFF2-40B4-BE49-F238E27FC236}">
                  <a16:creationId xmlns:a16="http://schemas.microsoft.com/office/drawing/2014/main" id="{1DE75901-DB82-48B8-8F6C-C4430C18E224}"/>
                </a:ext>
              </a:extLst>
            </p:cNvPr>
            <p:cNvGrpSpPr/>
            <p:nvPr/>
          </p:nvGrpSpPr>
          <p:grpSpPr>
            <a:xfrm>
              <a:off x="1471605" y="5554705"/>
              <a:ext cx="158749" cy="174626"/>
              <a:chOff x="1471605" y="5554705"/>
              <a:chExt cx="158749" cy="174626"/>
            </a:xfrm>
            <a:grpFill/>
          </p:grpSpPr>
          <p:sp>
            <p:nvSpPr>
              <p:cNvPr id="235" name="Freeform 188">
                <a:extLst>
                  <a:ext uri="{FF2B5EF4-FFF2-40B4-BE49-F238E27FC236}">
                    <a16:creationId xmlns:a16="http://schemas.microsoft.com/office/drawing/2014/main" id="{5FE5F809-7783-4A67-B1B0-43FA798BBCBF}"/>
                  </a:ext>
                </a:extLst>
              </p:cNvPr>
              <p:cNvSpPr>
                <a:spLocks noEditPoints="1"/>
              </p:cNvSpPr>
              <p:nvPr/>
            </p:nvSpPr>
            <p:spPr bwMode="auto">
              <a:xfrm>
                <a:off x="1471605" y="5570580"/>
                <a:ext cx="65087" cy="88901"/>
              </a:xfrm>
              <a:custGeom>
                <a:avLst/>
                <a:gdLst>
                  <a:gd name="T0" fmla="*/ 22 w 36"/>
                  <a:gd name="T1" fmla="*/ 30 h 49"/>
                  <a:gd name="T2" fmla="*/ 17 w 36"/>
                  <a:gd name="T3" fmla="*/ 30 h 49"/>
                  <a:gd name="T4" fmla="*/ 36 w 36"/>
                  <a:gd name="T5" fmla="*/ 9 h 49"/>
                  <a:gd name="T6" fmla="*/ 31 w 36"/>
                  <a:gd name="T7" fmla="*/ 0 h 49"/>
                  <a:gd name="T8" fmla="*/ 6 w 36"/>
                  <a:gd name="T9" fmla="*/ 30 h 49"/>
                  <a:gd name="T10" fmla="*/ 0 w 36"/>
                  <a:gd name="T11" fmla="*/ 30 h 49"/>
                  <a:gd name="T12" fmla="*/ 11 w 36"/>
                  <a:gd name="T13" fmla="*/ 49 h 49"/>
                  <a:gd name="T14" fmla="*/ 22 w 36"/>
                  <a:gd name="T15" fmla="*/ 30 h 49"/>
                  <a:gd name="T16" fmla="*/ 22 w 36"/>
                  <a:gd name="T17" fmla="*/ 30 h 49"/>
                  <a:gd name="T18" fmla="*/ 22 w 36"/>
                  <a:gd name="T19"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49">
                    <a:moveTo>
                      <a:pt x="22" y="30"/>
                    </a:moveTo>
                    <a:cubicBezTo>
                      <a:pt x="17" y="30"/>
                      <a:pt x="17" y="30"/>
                      <a:pt x="17" y="30"/>
                    </a:cubicBezTo>
                    <a:cubicBezTo>
                      <a:pt x="20" y="21"/>
                      <a:pt x="27" y="13"/>
                      <a:pt x="36" y="9"/>
                    </a:cubicBezTo>
                    <a:cubicBezTo>
                      <a:pt x="31" y="0"/>
                      <a:pt x="31" y="0"/>
                      <a:pt x="31" y="0"/>
                    </a:cubicBezTo>
                    <a:cubicBezTo>
                      <a:pt x="19" y="5"/>
                      <a:pt x="9" y="17"/>
                      <a:pt x="6" y="30"/>
                    </a:cubicBezTo>
                    <a:cubicBezTo>
                      <a:pt x="0" y="30"/>
                      <a:pt x="0" y="30"/>
                      <a:pt x="0" y="30"/>
                    </a:cubicBezTo>
                    <a:cubicBezTo>
                      <a:pt x="11" y="49"/>
                      <a:pt x="11" y="49"/>
                      <a:pt x="11" y="49"/>
                    </a:cubicBezTo>
                    <a:lnTo>
                      <a:pt x="22" y="30"/>
                    </a:lnTo>
                    <a:close/>
                    <a:moveTo>
                      <a:pt x="22" y="30"/>
                    </a:moveTo>
                    <a:cubicBezTo>
                      <a:pt x="22" y="30"/>
                      <a:pt x="22" y="30"/>
                      <a:pt x="22" y="3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6" name="Freeform 189">
                <a:extLst>
                  <a:ext uri="{FF2B5EF4-FFF2-40B4-BE49-F238E27FC236}">
                    <a16:creationId xmlns:a16="http://schemas.microsoft.com/office/drawing/2014/main" id="{93A00FC9-7E25-4288-AD72-8BD9EC1C58C9}"/>
                  </a:ext>
                </a:extLst>
              </p:cNvPr>
              <p:cNvSpPr>
                <a:spLocks noEditPoints="1"/>
              </p:cNvSpPr>
              <p:nvPr/>
            </p:nvSpPr>
            <p:spPr bwMode="auto">
              <a:xfrm>
                <a:off x="1541455" y="5554705"/>
                <a:ext cx="88899" cy="63501"/>
              </a:xfrm>
              <a:custGeom>
                <a:avLst/>
                <a:gdLst>
                  <a:gd name="T0" fmla="*/ 19 w 49"/>
                  <a:gd name="T1" fmla="*/ 17 h 35"/>
                  <a:gd name="T2" fmla="*/ 40 w 49"/>
                  <a:gd name="T3" fmla="*/ 35 h 35"/>
                  <a:gd name="T4" fmla="*/ 49 w 49"/>
                  <a:gd name="T5" fmla="*/ 31 h 35"/>
                  <a:gd name="T6" fmla="*/ 19 w 49"/>
                  <a:gd name="T7" fmla="*/ 6 h 35"/>
                  <a:gd name="T8" fmla="*/ 19 w 49"/>
                  <a:gd name="T9" fmla="*/ 0 h 35"/>
                  <a:gd name="T10" fmla="*/ 0 w 49"/>
                  <a:gd name="T11" fmla="*/ 11 h 35"/>
                  <a:gd name="T12" fmla="*/ 19 w 49"/>
                  <a:gd name="T13" fmla="*/ 22 h 35"/>
                  <a:gd name="T14" fmla="*/ 19 w 49"/>
                  <a:gd name="T15" fmla="*/ 17 h 35"/>
                  <a:gd name="T16" fmla="*/ 19 w 49"/>
                  <a:gd name="T17" fmla="*/ 17 h 35"/>
                  <a:gd name="T18" fmla="*/ 19 w 49"/>
                  <a:gd name="T19"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35">
                    <a:moveTo>
                      <a:pt x="19" y="17"/>
                    </a:moveTo>
                    <a:cubicBezTo>
                      <a:pt x="28" y="20"/>
                      <a:pt x="36" y="27"/>
                      <a:pt x="40" y="35"/>
                    </a:cubicBezTo>
                    <a:cubicBezTo>
                      <a:pt x="49" y="31"/>
                      <a:pt x="49" y="31"/>
                      <a:pt x="49" y="31"/>
                    </a:cubicBezTo>
                    <a:cubicBezTo>
                      <a:pt x="44" y="19"/>
                      <a:pt x="32" y="9"/>
                      <a:pt x="19" y="6"/>
                    </a:cubicBezTo>
                    <a:cubicBezTo>
                      <a:pt x="19" y="0"/>
                      <a:pt x="19" y="0"/>
                      <a:pt x="19" y="0"/>
                    </a:cubicBezTo>
                    <a:cubicBezTo>
                      <a:pt x="0" y="11"/>
                      <a:pt x="0" y="11"/>
                      <a:pt x="0" y="11"/>
                    </a:cubicBezTo>
                    <a:cubicBezTo>
                      <a:pt x="19" y="22"/>
                      <a:pt x="19" y="22"/>
                      <a:pt x="19" y="22"/>
                    </a:cubicBezTo>
                    <a:lnTo>
                      <a:pt x="19" y="17"/>
                    </a:lnTo>
                    <a:close/>
                    <a:moveTo>
                      <a:pt x="19" y="17"/>
                    </a:moveTo>
                    <a:cubicBezTo>
                      <a:pt x="19" y="17"/>
                      <a:pt x="19" y="17"/>
                      <a:pt x="19"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7" name="Freeform 191">
                <a:extLst>
                  <a:ext uri="{FF2B5EF4-FFF2-40B4-BE49-F238E27FC236}">
                    <a16:creationId xmlns:a16="http://schemas.microsoft.com/office/drawing/2014/main" id="{1C1BF4DF-1560-48C3-9884-1E943735CF55}"/>
                  </a:ext>
                </a:extLst>
              </p:cNvPr>
              <p:cNvSpPr>
                <a:spLocks noEditPoints="1"/>
              </p:cNvSpPr>
              <p:nvPr/>
            </p:nvSpPr>
            <p:spPr bwMode="auto">
              <a:xfrm>
                <a:off x="1487480" y="5665830"/>
                <a:ext cx="88899" cy="63501"/>
              </a:xfrm>
              <a:custGeom>
                <a:avLst/>
                <a:gdLst>
                  <a:gd name="T0" fmla="*/ 31 w 49"/>
                  <a:gd name="T1" fmla="*/ 18 h 35"/>
                  <a:gd name="T2" fmla="*/ 10 w 49"/>
                  <a:gd name="T3" fmla="*/ 0 h 35"/>
                  <a:gd name="T4" fmla="*/ 0 w 49"/>
                  <a:gd name="T5" fmla="*/ 4 h 35"/>
                  <a:gd name="T6" fmla="*/ 31 w 49"/>
                  <a:gd name="T7" fmla="*/ 29 h 35"/>
                  <a:gd name="T8" fmla="*/ 31 w 49"/>
                  <a:gd name="T9" fmla="*/ 35 h 35"/>
                  <a:gd name="T10" fmla="*/ 49 w 49"/>
                  <a:gd name="T11" fmla="*/ 24 h 35"/>
                  <a:gd name="T12" fmla="*/ 31 w 49"/>
                  <a:gd name="T13" fmla="*/ 13 h 35"/>
                  <a:gd name="T14" fmla="*/ 31 w 49"/>
                  <a:gd name="T15" fmla="*/ 18 h 35"/>
                  <a:gd name="T16" fmla="*/ 31 w 49"/>
                  <a:gd name="T17" fmla="*/ 18 h 35"/>
                  <a:gd name="T18" fmla="*/ 31 w 49"/>
                  <a:gd name="T19"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35">
                    <a:moveTo>
                      <a:pt x="31" y="18"/>
                    </a:moveTo>
                    <a:cubicBezTo>
                      <a:pt x="21" y="15"/>
                      <a:pt x="14" y="8"/>
                      <a:pt x="10" y="0"/>
                    </a:cubicBezTo>
                    <a:cubicBezTo>
                      <a:pt x="0" y="4"/>
                      <a:pt x="0" y="4"/>
                      <a:pt x="0" y="4"/>
                    </a:cubicBezTo>
                    <a:cubicBezTo>
                      <a:pt x="5" y="17"/>
                      <a:pt x="17" y="26"/>
                      <a:pt x="31" y="29"/>
                    </a:cubicBezTo>
                    <a:cubicBezTo>
                      <a:pt x="31" y="35"/>
                      <a:pt x="31" y="35"/>
                      <a:pt x="31" y="35"/>
                    </a:cubicBezTo>
                    <a:cubicBezTo>
                      <a:pt x="49" y="24"/>
                      <a:pt x="49" y="24"/>
                      <a:pt x="49" y="24"/>
                    </a:cubicBezTo>
                    <a:cubicBezTo>
                      <a:pt x="31" y="13"/>
                      <a:pt x="31" y="13"/>
                      <a:pt x="31" y="13"/>
                    </a:cubicBezTo>
                    <a:lnTo>
                      <a:pt x="31" y="18"/>
                    </a:lnTo>
                    <a:close/>
                    <a:moveTo>
                      <a:pt x="31" y="18"/>
                    </a:moveTo>
                    <a:cubicBezTo>
                      <a:pt x="31" y="18"/>
                      <a:pt x="31" y="18"/>
                      <a:pt x="31" y="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238" name="Group 237">
            <a:extLst>
              <a:ext uri="{FF2B5EF4-FFF2-40B4-BE49-F238E27FC236}">
                <a16:creationId xmlns:a16="http://schemas.microsoft.com/office/drawing/2014/main" id="{3FF65223-2145-4653-9DEE-730F704E745E}"/>
              </a:ext>
            </a:extLst>
          </p:cNvPr>
          <p:cNvGrpSpPr/>
          <p:nvPr/>
        </p:nvGrpSpPr>
        <p:grpSpPr>
          <a:xfrm>
            <a:off x="11186852" y="2502229"/>
            <a:ext cx="368162" cy="332330"/>
            <a:chOff x="1808153" y="5556292"/>
            <a:chExt cx="179386" cy="161927"/>
          </a:xfrm>
          <a:solidFill>
            <a:schemeClr val="accent1"/>
          </a:solidFill>
        </p:grpSpPr>
        <p:sp>
          <p:nvSpPr>
            <p:cNvPr id="239" name="Freeform 192">
              <a:extLst>
                <a:ext uri="{FF2B5EF4-FFF2-40B4-BE49-F238E27FC236}">
                  <a16:creationId xmlns:a16="http://schemas.microsoft.com/office/drawing/2014/main" id="{FEE08DFF-A0A8-4611-AD56-60E0A5059F94}"/>
                </a:ext>
              </a:extLst>
            </p:cNvPr>
            <p:cNvSpPr>
              <a:spLocks noEditPoints="1"/>
            </p:cNvSpPr>
            <p:nvPr/>
          </p:nvSpPr>
          <p:spPr bwMode="auto">
            <a:xfrm>
              <a:off x="1808153" y="5556292"/>
              <a:ext cx="165099" cy="98426"/>
            </a:xfrm>
            <a:custGeom>
              <a:avLst/>
              <a:gdLst>
                <a:gd name="T0" fmla="*/ 23 w 92"/>
                <a:gd name="T1" fmla="*/ 36 h 54"/>
                <a:gd name="T2" fmla="*/ 18 w 92"/>
                <a:gd name="T3" fmla="*/ 36 h 54"/>
                <a:gd name="T4" fmla="*/ 51 w 92"/>
                <a:gd name="T5" fmla="*/ 11 h 54"/>
                <a:gd name="T6" fmla="*/ 72 w 92"/>
                <a:gd name="T7" fmla="*/ 18 h 54"/>
                <a:gd name="T8" fmla="*/ 80 w 92"/>
                <a:gd name="T9" fmla="*/ 28 h 54"/>
                <a:gd name="T10" fmla="*/ 92 w 92"/>
                <a:gd name="T11" fmla="*/ 28 h 54"/>
                <a:gd name="T12" fmla="*/ 78 w 92"/>
                <a:gd name="T13" fmla="*/ 10 h 54"/>
                <a:gd name="T14" fmla="*/ 51 w 92"/>
                <a:gd name="T15" fmla="*/ 0 h 54"/>
                <a:gd name="T16" fmla="*/ 7 w 92"/>
                <a:gd name="T17" fmla="*/ 36 h 54"/>
                <a:gd name="T18" fmla="*/ 0 w 92"/>
                <a:gd name="T19" fmla="*/ 36 h 54"/>
                <a:gd name="T20" fmla="*/ 12 w 92"/>
                <a:gd name="T21" fmla="*/ 54 h 54"/>
                <a:gd name="T22" fmla="*/ 23 w 92"/>
                <a:gd name="T23" fmla="*/ 36 h 54"/>
                <a:gd name="T24" fmla="*/ 23 w 92"/>
                <a:gd name="T25" fmla="*/ 36 h 54"/>
                <a:gd name="T26" fmla="*/ 23 w 92"/>
                <a:gd name="T27" fmla="*/ 3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54">
                  <a:moveTo>
                    <a:pt x="23" y="36"/>
                  </a:moveTo>
                  <a:cubicBezTo>
                    <a:pt x="18" y="36"/>
                    <a:pt x="18" y="36"/>
                    <a:pt x="18" y="36"/>
                  </a:cubicBezTo>
                  <a:cubicBezTo>
                    <a:pt x="22" y="21"/>
                    <a:pt x="35" y="11"/>
                    <a:pt x="51" y="11"/>
                  </a:cubicBezTo>
                  <a:cubicBezTo>
                    <a:pt x="58" y="11"/>
                    <a:pt x="66" y="14"/>
                    <a:pt x="72" y="18"/>
                  </a:cubicBezTo>
                  <a:cubicBezTo>
                    <a:pt x="75" y="21"/>
                    <a:pt x="78" y="24"/>
                    <a:pt x="80" y="28"/>
                  </a:cubicBezTo>
                  <a:cubicBezTo>
                    <a:pt x="92" y="28"/>
                    <a:pt x="92" y="28"/>
                    <a:pt x="92" y="28"/>
                  </a:cubicBezTo>
                  <a:cubicBezTo>
                    <a:pt x="89" y="21"/>
                    <a:pt x="84" y="15"/>
                    <a:pt x="78" y="10"/>
                  </a:cubicBezTo>
                  <a:cubicBezTo>
                    <a:pt x="71" y="4"/>
                    <a:pt x="61" y="0"/>
                    <a:pt x="51" y="0"/>
                  </a:cubicBezTo>
                  <a:cubicBezTo>
                    <a:pt x="29" y="0"/>
                    <a:pt x="11" y="15"/>
                    <a:pt x="7" y="36"/>
                  </a:cubicBezTo>
                  <a:cubicBezTo>
                    <a:pt x="0" y="36"/>
                    <a:pt x="0" y="36"/>
                    <a:pt x="0" y="36"/>
                  </a:cubicBezTo>
                  <a:cubicBezTo>
                    <a:pt x="12" y="54"/>
                    <a:pt x="12" y="54"/>
                    <a:pt x="12" y="54"/>
                  </a:cubicBezTo>
                  <a:lnTo>
                    <a:pt x="23" y="36"/>
                  </a:lnTo>
                  <a:close/>
                  <a:moveTo>
                    <a:pt x="23" y="36"/>
                  </a:moveTo>
                  <a:cubicBezTo>
                    <a:pt x="23" y="36"/>
                    <a:pt x="23" y="36"/>
                    <a:pt x="23"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0" name="Freeform 193">
              <a:extLst>
                <a:ext uri="{FF2B5EF4-FFF2-40B4-BE49-F238E27FC236}">
                  <a16:creationId xmlns:a16="http://schemas.microsoft.com/office/drawing/2014/main" id="{94F2B33F-8A2F-4AA6-B1F1-95687CA44E6A}"/>
                </a:ext>
              </a:extLst>
            </p:cNvPr>
            <p:cNvSpPr>
              <a:spLocks noEditPoints="1"/>
            </p:cNvSpPr>
            <p:nvPr/>
          </p:nvSpPr>
          <p:spPr bwMode="auto">
            <a:xfrm>
              <a:off x="1822440" y="5619793"/>
              <a:ext cx="165099" cy="98426"/>
            </a:xfrm>
            <a:custGeom>
              <a:avLst/>
              <a:gdLst>
                <a:gd name="T0" fmla="*/ 81 w 92"/>
                <a:gd name="T1" fmla="*/ 0 h 55"/>
                <a:gd name="T2" fmla="*/ 69 w 92"/>
                <a:gd name="T3" fmla="*/ 19 h 55"/>
                <a:gd name="T4" fmla="*/ 74 w 92"/>
                <a:gd name="T5" fmla="*/ 19 h 55"/>
                <a:gd name="T6" fmla="*/ 42 w 92"/>
                <a:gd name="T7" fmla="*/ 44 h 55"/>
                <a:gd name="T8" fmla="*/ 21 w 92"/>
                <a:gd name="T9" fmla="*/ 36 h 55"/>
                <a:gd name="T10" fmla="*/ 13 w 92"/>
                <a:gd name="T11" fmla="*/ 27 h 55"/>
                <a:gd name="T12" fmla="*/ 0 w 92"/>
                <a:gd name="T13" fmla="*/ 27 h 55"/>
                <a:gd name="T14" fmla="*/ 14 w 92"/>
                <a:gd name="T15" fmla="*/ 45 h 55"/>
                <a:gd name="T16" fmla="*/ 42 w 92"/>
                <a:gd name="T17" fmla="*/ 55 h 55"/>
                <a:gd name="T18" fmla="*/ 85 w 92"/>
                <a:gd name="T19" fmla="*/ 19 h 55"/>
                <a:gd name="T20" fmla="*/ 92 w 92"/>
                <a:gd name="T21" fmla="*/ 19 h 55"/>
                <a:gd name="T22" fmla="*/ 81 w 92"/>
                <a:gd name="T23" fmla="*/ 0 h 55"/>
                <a:gd name="T24" fmla="*/ 81 w 92"/>
                <a:gd name="T25" fmla="*/ 0 h 55"/>
                <a:gd name="T26" fmla="*/ 81 w 92"/>
                <a:gd name="T2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 h="55">
                  <a:moveTo>
                    <a:pt x="81" y="0"/>
                  </a:moveTo>
                  <a:cubicBezTo>
                    <a:pt x="69" y="19"/>
                    <a:pt x="69" y="19"/>
                    <a:pt x="69" y="19"/>
                  </a:cubicBezTo>
                  <a:cubicBezTo>
                    <a:pt x="74" y="19"/>
                    <a:pt x="74" y="19"/>
                    <a:pt x="74" y="19"/>
                  </a:cubicBezTo>
                  <a:cubicBezTo>
                    <a:pt x="70" y="33"/>
                    <a:pt x="57" y="44"/>
                    <a:pt x="42" y="44"/>
                  </a:cubicBezTo>
                  <a:cubicBezTo>
                    <a:pt x="34" y="44"/>
                    <a:pt x="27" y="41"/>
                    <a:pt x="21" y="36"/>
                  </a:cubicBezTo>
                  <a:cubicBezTo>
                    <a:pt x="17" y="34"/>
                    <a:pt x="15" y="30"/>
                    <a:pt x="13" y="27"/>
                  </a:cubicBezTo>
                  <a:cubicBezTo>
                    <a:pt x="0" y="27"/>
                    <a:pt x="0" y="27"/>
                    <a:pt x="0" y="27"/>
                  </a:cubicBezTo>
                  <a:cubicBezTo>
                    <a:pt x="3" y="34"/>
                    <a:pt x="8" y="40"/>
                    <a:pt x="14" y="45"/>
                  </a:cubicBezTo>
                  <a:cubicBezTo>
                    <a:pt x="22" y="51"/>
                    <a:pt x="32" y="55"/>
                    <a:pt x="42" y="55"/>
                  </a:cubicBezTo>
                  <a:cubicBezTo>
                    <a:pt x="63" y="55"/>
                    <a:pt x="81" y="39"/>
                    <a:pt x="85" y="19"/>
                  </a:cubicBezTo>
                  <a:cubicBezTo>
                    <a:pt x="92" y="19"/>
                    <a:pt x="92" y="19"/>
                    <a:pt x="92" y="19"/>
                  </a:cubicBezTo>
                  <a:lnTo>
                    <a:pt x="81" y="0"/>
                  </a:lnTo>
                  <a:close/>
                  <a:moveTo>
                    <a:pt x="81" y="0"/>
                  </a:moveTo>
                  <a:cubicBezTo>
                    <a:pt x="81" y="0"/>
                    <a:pt x="81" y="0"/>
                    <a:pt x="81"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41" name="Freeform 194">
            <a:extLst>
              <a:ext uri="{FF2B5EF4-FFF2-40B4-BE49-F238E27FC236}">
                <a16:creationId xmlns:a16="http://schemas.microsoft.com/office/drawing/2014/main" id="{FB152300-DE40-4B9C-AF43-F447AB2AF216}"/>
              </a:ext>
            </a:extLst>
          </p:cNvPr>
          <p:cNvSpPr>
            <a:spLocks noEditPoints="1"/>
          </p:cNvSpPr>
          <p:nvPr/>
        </p:nvSpPr>
        <p:spPr bwMode="auto">
          <a:xfrm>
            <a:off x="10315106" y="5278889"/>
            <a:ext cx="280581" cy="283159"/>
          </a:xfrm>
          <a:custGeom>
            <a:avLst/>
            <a:gdLst>
              <a:gd name="T0" fmla="*/ 94 w 109"/>
              <a:gd name="T1" fmla="*/ 23 h 110"/>
              <a:gd name="T2" fmla="*/ 102 w 109"/>
              <a:gd name="T3" fmla="*/ 31 h 110"/>
              <a:gd name="T4" fmla="*/ 109 w 109"/>
              <a:gd name="T5" fmla="*/ 0 h 110"/>
              <a:gd name="T6" fmla="*/ 80 w 109"/>
              <a:gd name="T7" fmla="*/ 7 h 110"/>
              <a:gd name="T8" fmla="*/ 86 w 109"/>
              <a:gd name="T9" fmla="*/ 15 h 110"/>
              <a:gd name="T10" fmla="*/ 55 w 109"/>
              <a:gd name="T11" fmla="*/ 46 h 110"/>
              <a:gd name="T12" fmla="*/ 23 w 109"/>
              <a:gd name="T13" fmla="*/ 15 h 110"/>
              <a:gd name="T14" fmla="*/ 31 w 109"/>
              <a:gd name="T15" fmla="*/ 7 h 110"/>
              <a:gd name="T16" fmla="*/ 0 w 109"/>
              <a:gd name="T17" fmla="*/ 0 h 110"/>
              <a:gd name="T18" fmla="*/ 8 w 109"/>
              <a:gd name="T19" fmla="*/ 31 h 110"/>
              <a:gd name="T20" fmla="*/ 15 w 109"/>
              <a:gd name="T21" fmla="*/ 23 h 110"/>
              <a:gd name="T22" fmla="*/ 49 w 109"/>
              <a:gd name="T23" fmla="*/ 57 h 110"/>
              <a:gd name="T24" fmla="*/ 49 w 109"/>
              <a:gd name="T25" fmla="*/ 110 h 110"/>
              <a:gd name="T26" fmla="*/ 60 w 109"/>
              <a:gd name="T27" fmla="*/ 110 h 110"/>
              <a:gd name="T28" fmla="*/ 60 w 109"/>
              <a:gd name="T29" fmla="*/ 57 h 110"/>
              <a:gd name="T30" fmla="*/ 94 w 109"/>
              <a:gd name="T31" fmla="*/ 23 h 110"/>
              <a:gd name="T32" fmla="*/ 94 w 109"/>
              <a:gd name="T33" fmla="*/ 23 h 110"/>
              <a:gd name="T34" fmla="*/ 94 w 109"/>
              <a:gd name="T35" fmla="*/ 2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9" h="110">
                <a:moveTo>
                  <a:pt x="94" y="23"/>
                </a:moveTo>
                <a:lnTo>
                  <a:pt x="102" y="31"/>
                </a:lnTo>
                <a:lnTo>
                  <a:pt x="109" y="0"/>
                </a:lnTo>
                <a:lnTo>
                  <a:pt x="80" y="7"/>
                </a:lnTo>
                <a:lnTo>
                  <a:pt x="86" y="15"/>
                </a:lnTo>
                <a:lnTo>
                  <a:pt x="55" y="46"/>
                </a:lnTo>
                <a:lnTo>
                  <a:pt x="23" y="15"/>
                </a:lnTo>
                <a:lnTo>
                  <a:pt x="31" y="7"/>
                </a:lnTo>
                <a:lnTo>
                  <a:pt x="0" y="0"/>
                </a:lnTo>
                <a:lnTo>
                  <a:pt x="8" y="31"/>
                </a:lnTo>
                <a:lnTo>
                  <a:pt x="15" y="23"/>
                </a:lnTo>
                <a:lnTo>
                  <a:pt x="49" y="57"/>
                </a:lnTo>
                <a:lnTo>
                  <a:pt x="49" y="110"/>
                </a:lnTo>
                <a:lnTo>
                  <a:pt x="60" y="110"/>
                </a:lnTo>
                <a:lnTo>
                  <a:pt x="60" y="57"/>
                </a:lnTo>
                <a:lnTo>
                  <a:pt x="94" y="23"/>
                </a:lnTo>
                <a:close/>
                <a:moveTo>
                  <a:pt x="94" y="23"/>
                </a:moveTo>
                <a:lnTo>
                  <a:pt x="94" y="23"/>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2" name="Freeform 195">
            <a:extLst>
              <a:ext uri="{FF2B5EF4-FFF2-40B4-BE49-F238E27FC236}">
                <a16:creationId xmlns:a16="http://schemas.microsoft.com/office/drawing/2014/main" id="{C5223ECD-E74A-43E1-91F3-26063DD1FC4A}"/>
              </a:ext>
            </a:extLst>
          </p:cNvPr>
          <p:cNvSpPr>
            <a:spLocks noEditPoints="1"/>
          </p:cNvSpPr>
          <p:nvPr/>
        </p:nvSpPr>
        <p:spPr bwMode="auto">
          <a:xfrm>
            <a:off x="485490" y="5278889"/>
            <a:ext cx="280581" cy="283159"/>
          </a:xfrm>
          <a:custGeom>
            <a:avLst/>
            <a:gdLst>
              <a:gd name="T0" fmla="*/ 94 w 109"/>
              <a:gd name="T1" fmla="*/ 23 h 110"/>
              <a:gd name="T2" fmla="*/ 102 w 109"/>
              <a:gd name="T3" fmla="*/ 31 h 110"/>
              <a:gd name="T4" fmla="*/ 109 w 109"/>
              <a:gd name="T5" fmla="*/ 0 h 110"/>
              <a:gd name="T6" fmla="*/ 80 w 109"/>
              <a:gd name="T7" fmla="*/ 7 h 110"/>
              <a:gd name="T8" fmla="*/ 86 w 109"/>
              <a:gd name="T9" fmla="*/ 15 h 110"/>
              <a:gd name="T10" fmla="*/ 55 w 109"/>
              <a:gd name="T11" fmla="*/ 46 h 110"/>
              <a:gd name="T12" fmla="*/ 23 w 109"/>
              <a:gd name="T13" fmla="*/ 15 h 110"/>
              <a:gd name="T14" fmla="*/ 31 w 109"/>
              <a:gd name="T15" fmla="*/ 7 h 110"/>
              <a:gd name="T16" fmla="*/ 0 w 109"/>
              <a:gd name="T17" fmla="*/ 0 h 110"/>
              <a:gd name="T18" fmla="*/ 8 w 109"/>
              <a:gd name="T19" fmla="*/ 31 h 110"/>
              <a:gd name="T20" fmla="*/ 15 w 109"/>
              <a:gd name="T21" fmla="*/ 23 h 110"/>
              <a:gd name="T22" fmla="*/ 49 w 109"/>
              <a:gd name="T23" fmla="*/ 57 h 110"/>
              <a:gd name="T24" fmla="*/ 49 w 109"/>
              <a:gd name="T25" fmla="*/ 110 h 110"/>
              <a:gd name="T26" fmla="*/ 60 w 109"/>
              <a:gd name="T27" fmla="*/ 110 h 110"/>
              <a:gd name="T28" fmla="*/ 60 w 109"/>
              <a:gd name="T29" fmla="*/ 57 h 110"/>
              <a:gd name="T30" fmla="*/ 94 w 109"/>
              <a:gd name="T31" fmla="*/ 23 h 110"/>
              <a:gd name="T32" fmla="*/ 94 w 109"/>
              <a:gd name="T33" fmla="*/ 23 h 110"/>
              <a:gd name="T34" fmla="*/ 94 w 109"/>
              <a:gd name="T35" fmla="*/ 2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9" h="110">
                <a:moveTo>
                  <a:pt x="94" y="23"/>
                </a:moveTo>
                <a:lnTo>
                  <a:pt x="102" y="31"/>
                </a:lnTo>
                <a:lnTo>
                  <a:pt x="109" y="0"/>
                </a:lnTo>
                <a:lnTo>
                  <a:pt x="80" y="7"/>
                </a:lnTo>
                <a:lnTo>
                  <a:pt x="86" y="15"/>
                </a:lnTo>
                <a:lnTo>
                  <a:pt x="55" y="46"/>
                </a:lnTo>
                <a:lnTo>
                  <a:pt x="23" y="15"/>
                </a:lnTo>
                <a:lnTo>
                  <a:pt x="31" y="7"/>
                </a:lnTo>
                <a:lnTo>
                  <a:pt x="0" y="0"/>
                </a:lnTo>
                <a:lnTo>
                  <a:pt x="8" y="31"/>
                </a:lnTo>
                <a:lnTo>
                  <a:pt x="15" y="23"/>
                </a:lnTo>
                <a:lnTo>
                  <a:pt x="49" y="57"/>
                </a:lnTo>
                <a:lnTo>
                  <a:pt x="49" y="110"/>
                </a:lnTo>
                <a:lnTo>
                  <a:pt x="60" y="110"/>
                </a:lnTo>
                <a:lnTo>
                  <a:pt x="60" y="57"/>
                </a:lnTo>
                <a:lnTo>
                  <a:pt x="94" y="23"/>
                </a:lnTo>
                <a:moveTo>
                  <a:pt x="94" y="23"/>
                </a:moveTo>
                <a:lnTo>
                  <a:pt x="94" y="23"/>
                </a:ln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3" name="Freeform 196">
            <a:extLst>
              <a:ext uri="{FF2B5EF4-FFF2-40B4-BE49-F238E27FC236}">
                <a16:creationId xmlns:a16="http://schemas.microsoft.com/office/drawing/2014/main" id="{D1ADB8FB-B815-4592-B484-52827CC13227}"/>
              </a:ext>
            </a:extLst>
          </p:cNvPr>
          <p:cNvSpPr>
            <a:spLocks noEditPoints="1"/>
          </p:cNvSpPr>
          <p:nvPr/>
        </p:nvSpPr>
        <p:spPr bwMode="auto">
          <a:xfrm>
            <a:off x="11186852" y="1595510"/>
            <a:ext cx="341621" cy="338404"/>
          </a:xfrm>
          <a:custGeom>
            <a:avLst/>
            <a:gdLst>
              <a:gd name="T0" fmla="*/ 89 w 106"/>
              <a:gd name="T1" fmla="*/ 81 h 105"/>
              <a:gd name="T2" fmla="*/ 61 w 106"/>
              <a:gd name="T3" fmla="*/ 53 h 105"/>
              <a:gd name="T4" fmla="*/ 89 w 106"/>
              <a:gd name="T5" fmla="*/ 25 h 105"/>
              <a:gd name="T6" fmla="*/ 98 w 106"/>
              <a:gd name="T7" fmla="*/ 33 h 105"/>
              <a:gd name="T8" fmla="*/ 106 w 106"/>
              <a:gd name="T9" fmla="*/ 0 h 105"/>
              <a:gd name="T10" fmla="*/ 72 w 106"/>
              <a:gd name="T11" fmla="*/ 8 h 105"/>
              <a:gd name="T12" fmla="*/ 81 w 106"/>
              <a:gd name="T13" fmla="*/ 17 h 105"/>
              <a:gd name="T14" fmla="*/ 53 w 106"/>
              <a:gd name="T15" fmla="*/ 45 h 105"/>
              <a:gd name="T16" fmla="*/ 25 w 106"/>
              <a:gd name="T17" fmla="*/ 17 h 105"/>
              <a:gd name="T18" fmla="*/ 34 w 106"/>
              <a:gd name="T19" fmla="*/ 8 h 105"/>
              <a:gd name="T20" fmla="*/ 0 w 106"/>
              <a:gd name="T21" fmla="*/ 0 h 105"/>
              <a:gd name="T22" fmla="*/ 8 w 106"/>
              <a:gd name="T23" fmla="*/ 33 h 105"/>
              <a:gd name="T24" fmla="*/ 17 w 106"/>
              <a:gd name="T25" fmla="*/ 25 h 105"/>
              <a:gd name="T26" fmla="*/ 45 w 106"/>
              <a:gd name="T27" fmla="*/ 53 h 105"/>
              <a:gd name="T28" fmla="*/ 17 w 106"/>
              <a:gd name="T29" fmla="*/ 81 h 105"/>
              <a:gd name="T30" fmla="*/ 8 w 106"/>
              <a:gd name="T31" fmla="*/ 72 h 105"/>
              <a:gd name="T32" fmla="*/ 0 w 106"/>
              <a:gd name="T33" fmla="*/ 105 h 105"/>
              <a:gd name="T34" fmla="*/ 34 w 106"/>
              <a:gd name="T35" fmla="*/ 98 h 105"/>
              <a:gd name="T36" fmla="*/ 25 w 106"/>
              <a:gd name="T37" fmla="*/ 89 h 105"/>
              <a:gd name="T38" fmla="*/ 53 w 106"/>
              <a:gd name="T39" fmla="*/ 61 h 105"/>
              <a:gd name="T40" fmla="*/ 81 w 106"/>
              <a:gd name="T41" fmla="*/ 89 h 105"/>
              <a:gd name="T42" fmla="*/ 72 w 106"/>
              <a:gd name="T43" fmla="*/ 98 h 105"/>
              <a:gd name="T44" fmla="*/ 106 w 106"/>
              <a:gd name="T45" fmla="*/ 105 h 105"/>
              <a:gd name="T46" fmla="*/ 98 w 106"/>
              <a:gd name="T47" fmla="*/ 72 h 105"/>
              <a:gd name="T48" fmla="*/ 89 w 106"/>
              <a:gd name="T49" fmla="*/ 81 h 105"/>
              <a:gd name="T50" fmla="*/ 89 w 106"/>
              <a:gd name="T51" fmla="*/ 81 h 105"/>
              <a:gd name="T52" fmla="*/ 89 w 106"/>
              <a:gd name="T53" fmla="*/ 8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05">
                <a:moveTo>
                  <a:pt x="89" y="81"/>
                </a:moveTo>
                <a:lnTo>
                  <a:pt x="61" y="53"/>
                </a:lnTo>
                <a:lnTo>
                  <a:pt x="89" y="25"/>
                </a:lnTo>
                <a:lnTo>
                  <a:pt x="98" y="33"/>
                </a:lnTo>
                <a:lnTo>
                  <a:pt x="106" y="0"/>
                </a:lnTo>
                <a:lnTo>
                  <a:pt x="72" y="8"/>
                </a:lnTo>
                <a:lnTo>
                  <a:pt x="81" y="17"/>
                </a:lnTo>
                <a:lnTo>
                  <a:pt x="53" y="45"/>
                </a:lnTo>
                <a:lnTo>
                  <a:pt x="25" y="17"/>
                </a:lnTo>
                <a:lnTo>
                  <a:pt x="34" y="8"/>
                </a:lnTo>
                <a:lnTo>
                  <a:pt x="0" y="0"/>
                </a:lnTo>
                <a:lnTo>
                  <a:pt x="8" y="33"/>
                </a:lnTo>
                <a:lnTo>
                  <a:pt x="17" y="25"/>
                </a:lnTo>
                <a:lnTo>
                  <a:pt x="45" y="53"/>
                </a:lnTo>
                <a:lnTo>
                  <a:pt x="17" y="81"/>
                </a:lnTo>
                <a:lnTo>
                  <a:pt x="8" y="72"/>
                </a:lnTo>
                <a:lnTo>
                  <a:pt x="0" y="105"/>
                </a:lnTo>
                <a:lnTo>
                  <a:pt x="34" y="98"/>
                </a:lnTo>
                <a:lnTo>
                  <a:pt x="25" y="89"/>
                </a:lnTo>
                <a:lnTo>
                  <a:pt x="53" y="61"/>
                </a:lnTo>
                <a:lnTo>
                  <a:pt x="81" y="89"/>
                </a:lnTo>
                <a:lnTo>
                  <a:pt x="72" y="98"/>
                </a:lnTo>
                <a:lnTo>
                  <a:pt x="106" y="105"/>
                </a:lnTo>
                <a:lnTo>
                  <a:pt x="98" y="72"/>
                </a:lnTo>
                <a:lnTo>
                  <a:pt x="89" y="81"/>
                </a:lnTo>
                <a:close/>
                <a:moveTo>
                  <a:pt x="89" y="81"/>
                </a:moveTo>
                <a:lnTo>
                  <a:pt x="89" y="8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4" name="Freeform 197">
            <a:extLst>
              <a:ext uri="{FF2B5EF4-FFF2-40B4-BE49-F238E27FC236}">
                <a16:creationId xmlns:a16="http://schemas.microsoft.com/office/drawing/2014/main" id="{BBCDB6F4-7688-4DB7-B452-D902EC5E48FB}"/>
              </a:ext>
            </a:extLst>
          </p:cNvPr>
          <p:cNvSpPr>
            <a:spLocks noEditPoints="1"/>
          </p:cNvSpPr>
          <p:nvPr/>
        </p:nvSpPr>
        <p:spPr bwMode="auto">
          <a:xfrm>
            <a:off x="1844030" y="5025744"/>
            <a:ext cx="168274" cy="166689"/>
          </a:xfrm>
          <a:custGeom>
            <a:avLst/>
            <a:gdLst>
              <a:gd name="T0" fmla="*/ 89 w 106"/>
              <a:gd name="T1" fmla="*/ 81 h 105"/>
              <a:gd name="T2" fmla="*/ 61 w 106"/>
              <a:gd name="T3" fmla="*/ 53 h 105"/>
              <a:gd name="T4" fmla="*/ 89 w 106"/>
              <a:gd name="T5" fmla="*/ 25 h 105"/>
              <a:gd name="T6" fmla="*/ 98 w 106"/>
              <a:gd name="T7" fmla="*/ 33 h 105"/>
              <a:gd name="T8" fmla="*/ 106 w 106"/>
              <a:gd name="T9" fmla="*/ 0 h 105"/>
              <a:gd name="T10" fmla="*/ 72 w 106"/>
              <a:gd name="T11" fmla="*/ 8 h 105"/>
              <a:gd name="T12" fmla="*/ 81 w 106"/>
              <a:gd name="T13" fmla="*/ 17 h 105"/>
              <a:gd name="T14" fmla="*/ 53 w 106"/>
              <a:gd name="T15" fmla="*/ 45 h 105"/>
              <a:gd name="T16" fmla="*/ 25 w 106"/>
              <a:gd name="T17" fmla="*/ 17 h 105"/>
              <a:gd name="T18" fmla="*/ 34 w 106"/>
              <a:gd name="T19" fmla="*/ 8 h 105"/>
              <a:gd name="T20" fmla="*/ 0 w 106"/>
              <a:gd name="T21" fmla="*/ 0 h 105"/>
              <a:gd name="T22" fmla="*/ 8 w 106"/>
              <a:gd name="T23" fmla="*/ 33 h 105"/>
              <a:gd name="T24" fmla="*/ 17 w 106"/>
              <a:gd name="T25" fmla="*/ 25 h 105"/>
              <a:gd name="T26" fmla="*/ 45 w 106"/>
              <a:gd name="T27" fmla="*/ 53 h 105"/>
              <a:gd name="T28" fmla="*/ 17 w 106"/>
              <a:gd name="T29" fmla="*/ 81 h 105"/>
              <a:gd name="T30" fmla="*/ 8 w 106"/>
              <a:gd name="T31" fmla="*/ 72 h 105"/>
              <a:gd name="T32" fmla="*/ 0 w 106"/>
              <a:gd name="T33" fmla="*/ 105 h 105"/>
              <a:gd name="T34" fmla="*/ 34 w 106"/>
              <a:gd name="T35" fmla="*/ 98 h 105"/>
              <a:gd name="T36" fmla="*/ 25 w 106"/>
              <a:gd name="T37" fmla="*/ 89 h 105"/>
              <a:gd name="T38" fmla="*/ 53 w 106"/>
              <a:gd name="T39" fmla="*/ 61 h 105"/>
              <a:gd name="T40" fmla="*/ 81 w 106"/>
              <a:gd name="T41" fmla="*/ 89 h 105"/>
              <a:gd name="T42" fmla="*/ 72 w 106"/>
              <a:gd name="T43" fmla="*/ 98 h 105"/>
              <a:gd name="T44" fmla="*/ 106 w 106"/>
              <a:gd name="T45" fmla="*/ 105 h 105"/>
              <a:gd name="T46" fmla="*/ 98 w 106"/>
              <a:gd name="T47" fmla="*/ 72 h 105"/>
              <a:gd name="T48" fmla="*/ 89 w 106"/>
              <a:gd name="T49" fmla="*/ 81 h 105"/>
              <a:gd name="T50" fmla="*/ 89 w 106"/>
              <a:gd name="T51" fmla="*/ 81 h 105"/>
              <a:gd name="T52" fmla="*/ 89 w 106"/>
              <a:gd name="T53" fmla="*/ 8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 h="105">
                <a:moveTo>
                  <a:pt x="89" y="81"/>
                </a:moveTo>
                <a:lnTo>
                  <a:pt x="61" y="53"/>
                </a:lnTo>
                <a:lnTo>
                  <a:pt x="89" y="25"/>
                </a:lnTo>
                <a:lnTo>
                  <a:pt x="98" y="33"/>
                </a:lnTo>
                <a:lnTo>
                  <a:pt x="106" y="0"/>
                </a:lnTo>
                <a:lnTo>
                  <a:pt x="72" y="8"/>
                </a:lnTo>
                <a:lnTo>
                  <a:pt x="81" y="17"/>
                </a:lnTo>
                <a:lnTo>
                  <a:pt x="53" y="45"/>
                </a:lnTo>
                <a:lnTo>
                  <a:pt x="25" y="17"/>
                </a:lnTo>
                <a:lnTo>
                  <a:pt x="34" y="8"/>
                </a:lnTo>
                <a:lnTo>
                  <a:pt x="0" y="0"/>
                </a:lnTo>
                <a:lnTo>
                  <a:pt x="8" y="33"/>
                </a:lnTo>
                <a:lnTo>
                  <a:pt x="17" y="25"/>
                </a:lnTo>
                <a:lnTo>
                  <a:pt x="45" y="53"/>
                </a:lnTo>
                <a:lnTo>
                  <a:pt x="17" y="81"/>
                </a:lnTo>
                <a:lnTo>
                  <a:pt x="8" y="72"/>
                </a:lnTo>
                <a:lnTo>
                  <a:pt x="0" y="105"/>
                </a:lnTo>
                <a:lnTo>
                  <a:pt x="34" y="98"/>
                </a:lnTo>
                <a:lnTo>
                  <a:pt x="25" y="89"/>
                </a:lnTo>
                <a:lnTo>
                  <a:pt x="53" y="61"/>
                </a:lnTo>
                <a:lnTo>
                  <a:pt x="81" y="89"/>
                </a:lnTo>
                <a:lnTo>
                  <a:pt x="72" y="98"/>
                </a:lnTo>
                <a:lnTo>
                  <a:pt x="106" y="105"/>
                </a:lnTo>
                <a:lnTo>
                  <a:pt x="98" y="72"/>
                </a:lnTo>
                <a:lnTo>
                  <a:pt x="89" y="81"/>
                </a:lnTo>
                <a:moveTo>
                  <a:pt x="89" y="81"/>
                </a:moveTo>
                <a:lnTo>
                  <a:pt x="89" y="8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245" name="Group 244">
            <a:extLst>
              <a:ext uri="{FF2B5EF4-FFF2-40B4-BE49-F238E27FC236}">
                <a16:creationId xmlns:a16="http://schemas.microsoft.com/office/drawing/2014/main" id="{FB450E05-1877-4E09-AD4F-147717E536A0}"/>
              </a:ext>
            </a:extLst>
          </p:cNvPr>
          <p:cNvGrpSpPr/>
          <p:nvPr/>
        </p:nvGrpSpPr>
        <p:grpSpPr>
          <a:xfrm>
            <a:off x="9312080" y="5346562"/>
            <a:ext cx="504821" cy="203874"/>
            <a:chOff x="1473193" y="5264190"/>
            <a:chExt cx="165099" cy="66676"/>
          </a:xfrm>
          <a:solidFill>
            <a:schemeClr val="accent1"/>
          </a:solidFill>
        </p:grpSpPr>
        <p:sp>
          <p:nvSpPr>
            <p:cNvPr id="246" name="Freeform 198">
              <a:extLst>
                <a:ext uri="{FF2B5EF4-FFF2-40B4-BE49-F238E27FC236}">
                  <a16:creationId xmlns:a16="http://schemas.microsoft.com/office/drawing/2014/main" id="{0552E6F8-6BA3-41AF-B016-C68306C807A3}"/>
                </a:ext>
              </a:extLst>
            </p:cNvPr>
            <p:cNvSpPr>
              <a:spLocks noEditPoints="1"/>
            </p:cNvSpPr>
            <p:nvPr/>
          </p:nvSpPr>
          <p:spPr bwMode="auto">
            <a:xfrm>
              <a:off x="1473193" y="5264190"/>
              <a:ext cx="165099" cy="66676"/>
            </a:xfrm>
            <a:custGeom>
              <a:avLst/>
              <a:gdLst>
                <a:gd name="T0" fmla="*/ 35 w 104"/>
                <a:gd name="T1" fmla="*/ 30 h 42"/>
                <a:gd name="T2" fmla="*/ 69 w 104"/>
                <a:gd name="T3" fmla="*/ 30 h 42"/>
                <a:gd name="T4" fmla="*/ 69 w 104"/>
                <a:gd name="T5" fmla="*/ 42 h 42"/>
                <a:gd name="T6" fmla="*/ 104 w 104"/>
                <a:gd name="T7" fmla="*/ 22 h 42"/>
                <a:gd name="T8" fmla="*/ 69 w 104"/>
                <a:gd name="T9" fmla="*/ 0 h 42"/>
                <a:gd name="T10" fmla="*/ 69 w 104"/>
                <a:gd name="T11" fmla="*/ 13 h 42"/>
                <a:gd name="T12" fmla="*/ 35 w 104"/>
                <a:gd name="T13" fmla="*/ 13 h 42"/>
                <a:gd name="T14" fmla="*/ 35 w 104"/>
                <a:gd name="T15" fmla="*/ 0 h 42"/>
                <a:gd name="T16" fmla="*/ 0 w 104"/>
                <a:gd name="T17" fmla="*/ 22 h 42"/>
                <a:gd name="T18" fmla="*/ 35 w 104"/>
                <a:gd name="T19" fmla="*/ 42 h 42"/>
                <a:gd name="T20" fmla="*/ 35 w 104"/>
                <a:gd name="T21" fmla="*/ 30 h 42"/>
                <a:gd name="T22" fmla="*/ 35 w 104"/>
                <a:gd name="T23" fmla="*/ 30 h 42"/>
                <a:gd name="T24" fmla="*/ 35 w 104"/>
                <a:gd name="T25" fmla="*/ 3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2">
                  <a:moveTo>
                    <a:pt x="35" y="30"/>
                  </a:moveTo>
                  <a:lnTo>
                    <a:pt x="69" y="30"/>
                  </a:lnTo>
                  <a:lnTo>
                    <a:pt x="69" y="42"/>
                  </a:lnTo>
                  <a:lnTo>
                    <a:pt x="104" y="22"/>
                  </a:lnTo>
                  <a:lnTo>
                    <a:pt x="69" y="0"/>
                  </a:lnTo>
                  <a:lnTo>
                    <a:pt x="69" y="13"/>
                  </a:lnTo>
                  <a:lnTo>
                    <a:pt x="35" y="13"/>
                  </a:lnTo>
                  <a:lnTo>
                    <a:pt x="35" y="0"/>
                  </a:lnTo>
                  <a:lnTo>
                    <a:pt x="0" y="22"/>
                  </a:lnTo>
                  <a:lnTo>
                    <a:pt x="35" y="42"/>
                  </a:lnTo>
                  <a:lnTo>
                    <a:pt x="35" y="30"/>
                  </a:lnTo>
                  <a:close/>
                  <a:moveTo>
                    <a:pt x="35" y="30"/>
                  </a:moveTo>
                  <a:lnTo>
                    <a:pt x="3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7" name="Freeform 199">
              <a:extLst>
                <a:ext uri="{FF2B5EF4-FFF2-40B4-BE49-F238E27FC236}">
                  <a16:creationId xmlns:a16="http://schemas.microsoft.com/office/drawing/2014/main" id="{23E5C62F-CB5A-4C49-83A9-3F4A7276B6A1}"/>
                </a:ext>
              </a:extLst>
            </p:cNvPr>
            <p:cNvSpPr>
              <a:spLocks noEditPoints="1"/>
            </p:cNvSpPr>
            <p:nvPr/>
          </p:nvSpPr>
          <p:spPr bwMode="auto">
            <a:xfrm>
              <a:off x="1473193" y="5264190"/>
              <a:ext cx="165099" cy="66676"/>
            </a:xfrm>
            <a:custGeom>
              <a:avLst/>
              <a:gdLst>
                <a:gd name="T0" fmla="*/ 35 w 104"/>
                <a:gd name="T1" fmla="*/ 30 h 42"/>
                <a:gd name="T2" fmla="*/ 69 w 104"/>
                <a:gd name="T3" fmla="*/ 30 h 42"/>
                <a:gd name="T4" fmla="*/ 69 w 104"/>
                <a:gd name="T5" fmla="*/ 42 h 42"/>
                <a:gd name="T6" fmla="*/ 104 w 104"/>
                <a:gd name="T7" fmla="*/ 22 h 42"/>
                <a:gd name="T8" fmla="*/ 69 w 104"/>
                <a:gd name="T9" fmla="*/ 0 h 42"/>
                <a:gd name="T10" fmla="*/ 69 w 104"/>
                <a:gd name="T11" fmla="*/ 13 h 42"/>
                <a:gd name="T12" fmla="*/ 35 w 104"/>
                <a:gd name="T13" fmla="*/ 13 h 42"/>
                <a:gd name="T14" fmla="*/ 35 w 104"/>
                <a:gd name="T15" fmla="*/ 0 h 42"/>
                <a:gd name="T16" fmla="*/ 0 w 104"/>
                <a:gd name="T17" fmla="*/ 22 h 42"/>
                <a:gd name="T18" fmla="*/ 35 w 104"/>
                <a:gd name="T19" fmla="*/ 42 h 42"/>
                <a:gd name="T20" fmla="*/ 35 w 104"/>
                <a:gd name="T21" fmla="*/ 30 h 42"/>
                <a:gd name="T22" fmla="*/ 35 w 104"/>
                <a:gd name="T23" fmla="*/ 30 h 42"/>
                <a:gd name="T24" fmla="*/ 35 w 104"/>
                <a:gd name="T25" fmla="*/ 3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42">
                  <a:moveTo>
                    <a:pt x="35" y="30"/>
                  </a:moveTo>
                  <a:lnTo>
                    <a:pt x="69" y="30"/>
                  </a:lnTo>
                  <a:lnTo>
                    <a:pt x="69" y="42"/>
                  </a:lnTo>
                  <a:lnTo>
                    <a:pt x="104" y="22"/>
                  </a:lnTo>
                  <a:lnTo>
                    <a:pt x="69" y="0"/>
                  </a:lnTo>
                  <a:lnTo>
                    <a:pt x="69" y="13"/>
                  </a:lnTo>
                  <a:lnTo>
                    <a:pt x="35" y="13"/>
                  </a:lnTo>
                  <a:lnTo>
                    <a:pt x="35" y="0"/>
                  </a:lnTo>
                  <a:lnTo>
                    <a:pt x="0" y="22"/>
                  </a:lnTo>
                  <a:lnTo>
                    <a:pt x="35" y="42"/>
                  </a:lnTo>
                  <a:lnTo>
                    <a:pt x="35" y="30"/>
                  </a:lnTo>
                  <a:moveTo>
                    <a:pt x="35" y="30"/>
                  </a:moveTo>
                  <a:lnTo>
                    <a:pt x="35" y="3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48" name="Group 247">
            <a:extLst>
              <a:ext uri="{FF2B5EF4-FFF2-40B4-BE49-F238E27FC236}">
                <a16:creationId xmlns:a16="http://schemas.microsoft.com/office/drawing/2014/main" id="{C00F6749-B6A4-4BEA-A0F0-B76D2A3D63AD}"/>
              </a:ext>
            </a:extLst>
          </p:cNvPr>
          <p:cNvGrpSpPr/>
          <p:nvPr/>
        </p:nvGrpSpPr>
        <p:grpSpPr>
          <a:xfrm>
            <a:off x="11221347" y="4191198"/>
            <a:ext cx="384129" cy="384136"/>
            <a:chOff x="1811328" y="5210214"/>
            <a:chExt cx="168274" cy="168277"/>
          </a:xfrm>
          <a:solidFill>
            <a:schemeClr val="accent1"/>
          </a:solidFill>
        </p:grpSpPr>
        <p:sp>
          <p:nvSpPr>
            <p:cNvPr id="249" name="Rectangle 200">
              <a:extLst>
                <a:ext uri="{FF2B5EF4-FFF2-40B4-BE49-F238E27FC236}">
                  <a16:creationId xmlns:a16="http://schemas.microsoft.com/office/drawing/2014/main" id="{3AB016D7-B575-4A43-8C5A-CFAC83EFD734}"/>
                </a:ext>
              </a:extLst>
            </p:cNvPr>
            <p:cNvSpPr>
              <a:spLocks noChangeArrowheads="1"/>
            </p:cNvSpPr>
            <p:nvPr/>
          </p:nvSpPr>
          <p:spPr bwMode="auto">
            <a:xfrm>
              <a:off x="1811328" y="5361028"/>
              <a:ext cx="168274" cy="174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0" name="Freeform 201">
              <a:extLst>
                <a:ext uri="{FF2B5EF4-FFF2-40B4-BE49-F238E27FC236}">
                  <a16:creationId xmlns:a16="http://schemas.microsoft.com/office/drawing/2014/main" id="{739AA5CF-DFA4-45D5-8B56-D57690378381}"/>
                </a:ext>
              </a:extLst>
            </p:cNvPr>
            <p:cNvSpPr>
              <a:spLocks noEditPoints="1"/>
            </p:cNvSpPr>
            <p:nvPr/>
          </p:nvSpPr>
          <p:spPr bwMode="auto">
            <a:xfrm>
              <a:off x="1866890" y="5210214"/>
              <a:ext cx="57150" cy="139701"/>
            </a:xfrm>
            <a:custGeom>
              <a:avLst/>
              <a:gdLst>
                <a:gd name="T0" fmla="*/ 18 w 36"/>
                <a:gd name="T1" fmla="*/ 88 h 88"/>
                <a:gd name="T2" fmla="*/ 36 w 36"/>
                <a:gd name="T3" fmla="*/ 58 h 88"/>
                <a:gd name="T4" fmla="*/ 24 w 36"/>
                <a:gd name="T5" fmla="*/ 58 h 88"/>
                <a:gd name="T6" fmla="*/ 24 w 36"/>
                <a:gd name="T7" fmla="*/ 0 h 88"/>
                <a:gd name="T8" fmla="*/ 13 w 36"/>
                <a:gd name="T9" fmla="*/ 0 h 88"/>
                <a:gd name="T10" fmla="*/ 13 w 36"/>
                <a:gd name="T11" fmla="*/ 58 h 88"/>
                <a:gd name="T12" fmla="*/ 0 w 36"/>
                <a:gd name="T13" fmla="*/ 58 h 88"/>
                <a:gd name="T14" fmla="*/ 18 w 36"/>
                <a:gd name="T15" fmla="*/ 88 h 88"/>
                <a:gd name="T16" fmla="*/ 18 w 36"/>
                <a:gd name="T17" fmla="*/ 88 h 88"/>
                <a:gd name="T18" fmla="*/ 18 w 36"/>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88">
                  <a:moveTo>
                    <a:pt x="18" y="88"/>
                  </a:moveTo>
                  <a:lnTo>
                    <a:pt x="36" y="58"/>
                  </a:lnTo>
                  <a:lnTo>
                    <a:pt x="24" y="58"/>
                  </a:lnTo>
                  <a:lnTo>
                    <a:pt x="24" y="0"/>
                  </a:lnTo>
                  <a:lnTo>
                    <a:pt x="13" y="0"/>
                  </a:lnTo>
                  <a:lnTo>
                    <a:pt x="13" y="58"/>
                  </a:lnTo>
                  <a:lnTo>
                    <a:pt x="0" y="58"/>
                  </a:lnTo>
                  <a:lnTo>
                    <a:pt x="18" y="88"/>
                  </a:lnTo>
                  <a:close/>
                  <a:moveTo>
                    <a:pt x="18" y="88"/>
                  </a:moveTo>
                  <a:lnTo>
                    <a:pt x="18"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1" name="Freeform 202">
              <a:extLst>
                <a:ext uri="{FF2B5EF4-FFF2-40B4-BE49-F238E27FC236}">
                  <a16:creationId xmlns:a16="http://schemas.microsoft.com/office/drawing/2014/main" id="{0B5738E2-430B-47A2-8448-158FE2F87DC9}"/>
                </a:ext>
              </a:extLst>
            </p:cNvPr>
            <p:cNvSpPr>
              <a:spLocks noEditPoints="1"/>
            </p:cNvSpPr>
            <p:nvPr/>
          </p:nvSpPr>
          <p:spPr bwMode="auto">
            <a:xfrm>
              <a:off x="1866890" y="5210214"/>
              <a:ext cx="57150" cy="139701"/>
            </a:xfrm>
            <a:custGeom>
              <a:avLst/>
              <a:gdLst>
                <a:gd name="T0" fmla="*/ 18 w 36"/>
                <a:gd name="T1" fmla="*/ 88 h 88"/>
                <a:gd name="T2" fmla="*/ 36 w 36"/>
                <a:gd name="T3" fmla="*/ 58 h 88"/>
                <a:gd name="T4" fmla="*/ 24 w 36"/>
                <a:gd name="T5" fmla="*/ 58 h 88"/>
                <a:gd name="T6" fmla="*/ 24 w 36"/>
                <a:gd name="T7" fmla="*/ 0 h 88"/>
                <a:gd name="T8" fmla="*/ 13 w 36"/>
                <a:gd name="T9" fmla="*/ 0 h 88"/>
                <a:gd name="T10" fmla="*/ 13 w 36"/>
                <a:gd name="T11" fmla="*/ 58 h 88"/>
                <a:gd name="T12" fmla="*/ 0 w 36"/>
                <a:gd name="T13" fmla="*/ 58 h 88"/>
                <a:gd name="T14" fmla="*/ 18 w 36"/>
                <a:gd name="T15" fmla="*/ 88 h 88"/>
                <a:gd name="T16" fmla="*/ 18 w 36"/>
                <a:gd name="T17" fmla="*/ 88 h 88"/>
                <a:gd name="T18" fmla="*/ 18 w 36"/>
                <a:gd name="T19" fmla="*/ 8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88">
                  <a:moveTo>
                    <a:pt x="18" y="88"/>
                  </a:moveTo>
                  <a:lnTo>
                    <a:pt x="36" y="58"/>
                  </a:lnTo>
                  <a:lnTo>
                    <a:pt x="24" y="58"/>
                  </a:lnTo>
                  <a:lnTo>
                    <a:pt x="24" y="0"/>
                  </a:lnTo>
                  <a:lnTo>
                    <a:pt x="13" y="0"/>
                  </a:lnTo>
                  <a:lnTo>
                    <a:pt x="13" y="58"/>
                  </a:lnTo>
                  <a:lnTo>
                    <a:pt x="0" y="58"/>
                  </a:lnTo>
                  <a:lnTo>
                    <a:pt x="18" y="88"/>
                  </a:lnTo>
                  <a:moveTo>
                    <a:pt x="18" y="88"/>
                  </a:moveTo>
                  <a:lnTo>
                    <a:pt x="18" y="8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52" name="Group 251">
            <a:extLst>
              <a:ext uri="{FF2B5EF4-FFF2-40B4-BE49-F238E27FC236}">
                <a16:creationId xmlns:a16="http://schemas.microsoft.com/office/drawing/2014/main" id="{E330FDE8-D22B-4190-9770-7DF21FC66A17}"/>
              </a:ext>
            </a:extLst>
          </p:cNvPr>
          <p:cNvGrpSpPr/>
          <p:nvPr/>
        </p:nvGrpSpPr>
        <p:grpSpPr>
          <a:xfrm>
            <a:off x="4955302" y="5287201"/>
            <a:ext cx="321484" cy="318530"/>
            <a:chOff x="430213" y="5211763"/>
            <a:chExt cx="168274" cy="166728"/>
          </a:xfrm>
          <a:solidFill>
            <a:schemeClr val="accent1"/>
          </a:solidFill>
        </p:grpSpPr>
        <p:sp>
          <p:nvSpPr>
            <p:cNvPr id="253" name="Freeform 203">
              <a:extLst>
                <a:ext uri="{FF2B5EF4-FFF2-40B4-BE49-F238E27FC236}">
                  <a16:creationId xmlns:a16="http://schemas.microsoft.com/office/drawing/2014/main" id="{F20F8DA0-2C25-4A30-BF52-1F44FF0D4258}"/>
                </a:ext>
              </a:extLst>
            </p:cNvPr>
            <p:cNvSpPr>
              <a:spLocks noEditPoints="1"/>
            </p:cNvSpPr>
            <p:nvPr/>
          </p:nvSpPr>
          <p:spPr bwMode="auto">
            <a:xfrm>
              <a:off x="430213" y="5211802"/>
              <a:ext cx="74612" cy="166689"/>
            </a:xfrm>
            <a:custGeom>
              <a:avLst/>
              <a:gdLst>
                <a:gd name="T0" fmla="*/ 36 w 47"/>
                <a:gd name="T1" fmla="*/ 48 h 105"/>
                <a:gd name="T2" fmla="*/ 24 w 47"/>
                <a:gd name="T3" fmla="*/ 48 h 105"/>
                <a:gd name="T4" fmla="*/ 24 w 47"/>
                <a:gd name="T5" fmla="*/ 39 h 105"/>
                <a:gd name="T6" fmla="*/ 0 w 47"/>
                <a:gd name="T7" fmla="*/ 52 h 105"/>
                <a:gd name="T8" fmla="*/ 24 w 47"/>
                <a:gd name="T9" fmla="*/ 67 h 105"/>
                <a:gd name="T10" fmla="*/ 24 w 47"/>
                <a:gd name="T11" fmla="*/ 59 h 105"/>
                <a:gd name="T12" fmla="*/ 36 w 47"/>
                <a:gd name="T13" fmla="*/ 59 h 105"/>
                <a:gd name="T14" fmla="*/ 36 w 47"/>
                <a:gd name="T15" fmla="*/ 105 h 105"/>
                <a:gd name="T16" fmla="*/ 47 w 47"/>
                <a:gd name="T17" fmla="*/ 105 h 105"/>
                <a:gd name="T18" fmla="*/ 47 w 47"/>
                <a:gd name="T19" fmla="*/ 0 h 105"/>
                <a:gd name="T20" fmla="*/ 36 w 47"/>
                <a:gd name="T21" fmla="*/ 0 h 105"/>
                <a:gd name="T22" fmla="*/ 36 w 47"/>
                <a:gd name="T23" fmla="*/ 48 h 105"/>
                <a:gd name="T24" fmla="*/ 36 w 47"/>
                <a:gd name="T25" fmla="*/ 48 h 105"/>
                <a:gd name="T26" fmla="*/ 36 w 47"/>
                <a:gd name="T27" fmla="*/ 4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105">
                  <a:moveTo>
                    <a:pt x="36" y="48"/>
                  </a:moveTo>
                  <a:lnTo>
                    <a:pt x="24" y="48"/>
                  </a:lnTo>
                  <a:lnTo>
                    <a:pt x="24" y="39"/>
                  </a:lnTo>
                  <a:lnTo>
                    <a:pt x="0" y="52"/>
                  </a:lnTo>
                  <a:lnTo>
                    <a:pt x="24" y="67"/>
                  </a:lnTo>
                  <a:lnTo>
                    <a:pt x="24" y="59"/>
                  </a:lnTo>
                  <a:lnTo>
                    <a:pt x="36" y="59"/>
                  </a:lnTo>
                  <a:lnTo>
                    <a:pt x="36" y="105"/>
                  </a:lnTo>
                  <a:lnTo>
                    <a:pt x="47" y="105"/>
                  </a:lnTo>
                  <a:lnTo>
                    <a:pt x="47" y="0"/>
                  </a:lnTo>
                  <a:lnTo>
                    <a:pt x="36" y="0"/>
                  </a:lnTo>
                  <a:lnTo>
                    <a:pt x="36" y="48"/>
                  </a:lnTo>
                  <a:close/>
                  <a:moveTo>
                    <a:pt x="36" y="48"/>
                  </a:moveTo>
                  <a:lnTo>
                    <a:pt x="36"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4" name="Freeform 204">
              <a:extLst>
                <a:ext uri="{FF2B5EF4-FFF2-40B4-BE49-F238E27FC236}">
                  <a16:creationId xmlns:a16="http://schemas.microsoft.com/office/drawing/2014/main" id="{71670F48-99A7-4FC3-A487-8DBD33D0FFD6}"/>
                </a:ext>
              </a:extLst>
            </p:cNvPr>
            <p:cNvSpPr>
              <a:spLocks noEditPoints="1"/>
            </p:cNvSpPr>
            <p:nvPr/>
          </p:nvSpPr>
          <p:spPr bwMode="auto">
            <a:xfrm>
              <a:off x="430213" y="5211802"/>
              <a:ext cx="74612" cy="166689"/>
            </a:xfrm>
            <a:custGeom>
              <a:avLst/>
              <a:gdLst>
                <a:gd name="T0" fmla="*/ 36 w 47"/>
                <a:gd name="T1" fmla="*/ 48 h 105"/>
                <a:gd name="T2" fmla="*/ 24 w 47"/>
                <a:gd name="T3" fmla="*/ 48 h 105"/>
                <a:gd name="T4" fmla="*/ 24 w 47"/>
                <a:gd name="T5" fmla="*/ 39 h 105"/>
                <a:gd name="T6" fmla="*/ 0 w 47"/>
                <a:gd name="T7" fmla="*/ 52 h 105"/>
                <a:gd name="T8" fmla="*/ 24 w 47"/>
                <a:gd name="T9" fmla="*/ 67 h 105"/>
                <a:gd name="T10" fmla="*/ 24 w 47"/>
                <a:gd name="T11" fmla="*/ 59 h 105"/>
                <a:gd name="T12" fmla="*/ 36 w 47"/>
                <a:gd name="T13" fmla="*/ 59 h 105"/>
                <a:gd name="T14" fmla="*/ 36 w 47"/>
                <a:gd name="T15" fmla="*/ 105 h 105"/>
                <a:gd name="T16" fmla="*/ 47 w 47"/>
                <a:gd name="T17" fmla="*/ 105 h 105"/>
                <a:gd name="T18" fmla="*/ 47 w 47"/>
                <a:gd name="T19" fmla="*/ 0 h 105"/>
                <a:gd name="T20" fmla="*/ 36 w 47"/>
                <a:gd name="T21" fmla="*/ 0 h 105"/>
                <a:gd name="T22" fmla="*/ 36 w 47"/>
                <a:gd name="T23" fmla="*/ 48 h 105"/>
                <a:gd name="T24" fmla="*/ 36 w 47"/>
                <a:gd name="T25" fmla="*/ 48 h 105"/>
                <a:gd name="T26" fmla="*/ 36 w 47"/>
                <a:gd name="T27" fmla="*/ 4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105">
                  <a:moveTo>
                    <a:pt x="36" y="48"/>
                  </a:moveTo>
                  <a:lnTo>
                    <a:pt x="24" y="48"/>
                  </a:lnTo>
                  <a:lnTo>
                    <a:pt x="24" y="39"/>
                  </a:lnTo>
                  <a:lnTo>
                    <a:pt x="0" y="52"/>
                  </a:lnTo>
                  <a:lnTo>
                    <a:pt x="24" y="67"/>
                  </a:lnTo>
                  <a:lnTo>
                    <a:pt x="24" y="59"/>
                  </a:lnTo>
                  <a:lnTo>
                    <a:pt x="36" y="59"/>
                  </a:lnTo>
                  <a:lnTo>
                    <a:pt x="36" y="105"/>
                  </a:lnTo>
                  <a:lnTo>
                    <a:pt x="47" y="105"/>
                  </a:lnTo>
                  <a:lnTo>
                    <a:pt x="47" y="0"/>
                  </a:lnTo>
                  <a:lnTo>
                    <a:pt x="36" y="0"/>
                  </a:lnTo>
                  <a:lnTo>
                    <a:pt x="36" y="48"/>
                  </a:lnTo>
                  <a:moveTo>
                    <a:pt x="36" y="48"/>
                  </a:moveTo>
                  <a:lnTo>
                    <a:pt x="36" y="4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5" name="Freeform 206">
              <a:extLst>
                <a:ext uri="{FF2B5EF4-FFF2-40B4-BE49-F238E27FC236}">
                  <a16:creationId xmlns:a16="http://schemas.microsoft.com/office/drawing/2014/main" id="{C9848FF2-CDFC-4D39-BAFE-47DA19879959}"/>
                </a:ext>
              </a:extLst>
            </p:cNvPr>
            <p:cNvSpPr>
              <a:spLocks noEditPoints="1"/>
            </p:cNvSpPr>
            <p:nvPr/>
          </p:nvSpPr>
          <p:spPr bwMode="auto">
            <a:xfrm>
              <a:off x="523875" y="5211763"/>
              <a:ext cx="74612" cy="166688"/>
            </a:xfrm>
            <a:custGeom>
              <a:avLst/>
              <a:gdLst>
                <a:gd name="T0" fmla="*/ 47 w 47"/>
                <a:gd name="T1" fmla="*/ 52 h 105"/>
                <a:gd name="T2" fmla="*/ 23 w 47"/>
                <a:gd name="T3" fmla="*/ 39 h 105"/>
                <a:gd name="T4" fmla="*/ 23 w 47"/>
                <a:gd name="T5" fmla="*/ 48 h 105"/>
                <a:gd name="T6" fmla="*/ 12 w 47"/>
                <a:gd name="T7" fmla="*/ 48 h 105"/>
                <a:gd name="T8" fmla="*/ 12 w 47"/>
                <a:gd name="T9" fmla="*/ 0 h 105"/>
                <a:gd name="T10" fmla="*/ 0 w 47"/>
                <a:gd name="T11" fmla="*/ 0 h 105"/>
                <a:gd name="T12" fmla="*/ 0 w 47"/>
                <a:gd name="T13" fmla="*/ 105 h 105"/>
                <a:gd name="T14" fmla="*/ 12 w 47"/>
                <a:gd name="T15" fmla="*/ 105 h 105"/>
                <a:gd name="T16" fmla="*/ 12 w 47"/>
                <a:gd name="T17" fmla="*/ 59 h 105"/>
                <a:gd name="T18" fmla="*/ 23 w 47"/>
                <a:gd name="T19" fmla="*/ 59 h 105"/>
                <a:gd name="T20" fmla="*/ 23 w 47"/>
                <a:gd name="T21" fmla="*/ 67 h 105"/>
                <a:gd name="T22" fmla="*/ 47 w 47"/>
                <a:gd name="T23" fmla="*/ 52 h 105"/>
                <a:gd name="T24" fmla="*/ 47 w 47"/>
                <a:gd name="T25" fmla="*/ 52 h 105"/>
                <a:gd name="T26" fmla="*/ 47 w 47"/>
                <a:gd name="T27" fmla="*/ 5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105">
                  <a:moveTo>
                    <a:pt x="47" y="52"/>
                  </a:moveTo>
                  <a:lnTo>
                    <a:pt x="23" y="39"/>
                  </a:lnTo>
                  <a:lnTo>
                    <a:pt x="23" y="48"/>
                  </a:lnTo>
                  <a:lnTo>
                    <a:pt x="12" y="48"/>
                  </a:lnTo>
                  <a:lnTo>
                    <a:pt x="12" y="0"/>
                  </a:lnTo>
                  <a:lnTo>
                    <a:pt x="0" y="0"/>
                  </a:lnTo>
                  <a:lnTo>
                    <a:pt x="0" y="105"/>
                  </a:lnTo>
                  <a:lnTo>
                    <a:pt x="12" y="105"/>
                  </a:lnTo>
                  <a:lnTo>
                    <a:pt x="12" y="59"/>
                  </a:lnTo>
                  <a:lnTo>
                    <a:pt x="23" y="59"/>
                  </a:lnTo>
                  <a:lnTo>
                    <a:pt x="23" y="67"/>
                  </a:lnTo>
                  <a:lnTo>
                    <a:pt x="47" y="52"/>
                  </a:lnTo>
                  <a:close/>
                  <a:moveTo>
                    <a:pt x="47" y="52"/>
                  </a:moveTo>
                  <a:lnTo>
                    <a:pt x="47"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6" name="Freeform 207">
              <a:extLst>
                <a:ext uri="{FF2B5EF4-FFF2-40B4-BE49-F238E27FC236}">
                  <a16:creationId xmlns:a16="http://schemas.microsoft.com/office/drawing/2014/main" id="{41C4DE37-E119-45CE-84DB-C0502502CC64}"/>
                </a:ext>
              </a:extLst>
            </p:cNvPr>
            <p:cNvSpPr>
              <a:spLocks noEditPoints="1"/>
            </p:cNvSpPr>
            <p:nvPr/>
          </p:nvSpPr>
          <p:spPr bwMode="auto">
            <a:xfrm>
              <a:off x="523875" y="5211763"/>
              <a:ext cx="74612" cy="166688"/>
            </a:xfrm>
            <a:custGeom>
              <a:avLst/>
              <a:gdLst>
                <a:gd name="T0" fmla="*/ 47 w 47"/>
                <a:gd name="T1" fmla="*/ 52 h 105"/>
                <a:gd name="T2" fmla="*/ 23 w 47"/>
                <a:gd name="T3" fmla="*/ 39 h 105"/>
                <a:gd name="T4" fmla="*/ 23 w 47"/>
                <a:gd name="T5" fmla="*/ 48 h 105"/>
                <a:gd name="T6" fmla="*/ 12 w 47"/>
                <a:gd name="T7" fmla="*/ 48 h 105"/>
                <a:gd name="T8" fmla="*/ 12 w 47"/>
                <a:gd name="T9" fmla="*/ 0 h 105"/>
                <a:gd name="T10" fmla="*/ 0 w 47"/>
                <a:gd name="T11" fmla="*/ 0 h 105"/>
                <a:gd name="T12" fmla="*/ 0 w 47"/>
                <a:gd name="T13" fmla="*/ 105 h 105"/>
                <a:gd name="T14" fmla="*/ 12 w 47"/>
                <a:gd name="T15" fmla="*/ 105 h 105"/>
                <a:gd name="T16" fmla="*/ 12 w 47"/>
                <a:gd name="T17" fmla="*/ 59 h 105"/>
                <a:gd name="T18" fmla="*/ 23 w 47"/>
                <a:gd name="T19" fmla="*/ 59 h 105"/>
                <a:gd name="T20" fmla="*/ 23 w 47"/>
                <a:gd name="T21" fmla="*/ 67 h 105"/>
                <a:gd name="T22" fmla="*/ 47 w 47"/>
                <a:gd name="T23" fmla="*/ 52 h 105"/>
                <a:gd name="T24" fmla="*/ 47 w 47"/>
                <a:gd name="T25" fmla="*/ 52 h 105"/>
                <a:gd name="T26" fmla="*/ 47 w 47"/>
                <a:gd name="T27" fmla="*/ 5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105">
                  <a:moveTo>
                    <a:pt x="47" y="52"/>
                  </a:moveTo>
                  <a:lnTo>
                    <a:pt x="23" y="39"/>
                  </a:lnTo>
                  <a:lnTo>
                    <a:pt x="23" y="48"/>
                  </a:lnTo>
                  <a:lnTo>
                    <a:pt x="12" y="48"/>
                  </a:lnTo>
                  <a:lnTo>
                    <a:pt x="12" y="0"/>
                  </a:lnTo>
                  <a:lnTo>
                    <a:pt x="0" y="0"/>
                  </a:lnTo>
                  <a:lnTo>
                    <a:pt x="0" y="105"/>
                  </a:lnTo>
                  <a:lnTo>
                    <a:pt x="12" y="105"/>
                  </a:lnTo>
                  <a:lnTo>
                    <a:pt x="12" y="59"/>
                  </a:lnTo>
                  <a:lnTo>
                    <a:pt x="23" y="59"/>
                  </a:lnTo>
                  <a:lnTo>
                    <a:pt x="23" y="67"/>
                  </a:lnTo>
                  <a:lnTo>
                    <a:pt x="47" y="52"/>
                  </a:lnTo>
                  <a:moveTo>
                    <a:pt x="47" y="52"/>
                  </a:moveTo>
                  <a:lnTo>
                    <a:pt x="47" y="52"/>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57" name="Group 256">
            <a:extLst>
              <a:ext uri="{FF2B5EF4-FFF2-40B4-BE49-F238E27FC236}">
                <a16:creationId xmlns:a16="http://schemas.microsoft.com/office/drawing/2014/main" id="{9F76488D-E688-4A9B-BC18-BE637FDD9299}"/>
              </a:ext>
            </a:extLst>
          </p:cNvPr>
          <p:cNvGrpSpPr/>
          <p:nvPr/>
        </p:nvGrpSpPr>
        <p:grpSpPr>
          <a:xfrm>
            <a:off x="10285533" y="4230640"/>
            <a:ext cx="325235" cy="325235"/>
            <a:chOff x="1466850" y="4865688"/>
            <a:chExt cx="169863" cy="169863"/>
          </a:xfrm>
          <a:solidFill>
            <a:schemeClr val="accent1"/>
          </a:solidFill>
        </p:grpSpPr>
        <p:sp>
          <p:nvSpPr>
            <p:cNvPr id="258" name="Freeform 208">
              <a:extLst>
                <a:ext uri="{FF2B5EF4-FFF2-40B4-BE49-F238E27FC236}">
                  <a16:creationId xmlns:a16="http://schemas.microsoft.com/office/drawing/2014/main" id="{586B7C54-B547-4057-9613-A27CFE7B6555}"/>
                </a:ext>
              </a:extLst>
            </p:cNvPr>
            <p:cNvSpPr>
              <a:spLocks noEditPoints="1"/>
            </p:cNvSpPr>
            <p:nvPr/>
          </p:nvSpPr>
          <p:spPr bwMode="auto">
            <a:xfrm>
              <a:off x="1570038" y="4865688"/>
              <a:ext cx="66675" cy="66675"/>
            </a:xfrm>
            <a:custGeom>
              <a:avLst/>
              <a:gdLst>
                <a:gd name="T0" fmla="*/ 25 w 42"/>
                <a:gd name="T1" fmla="*/ 25 h 42"/>
                <a:gd name="T2" fmla="*/ 42 w 42"/>
                <a:gd name="T3" fmla="*/ 8 h 42"/>
                <a:gd name="T4" fmla="*/ 34 w 42"/>
                <a:gd name="T5" fmla="*/ 0 h 42"/>
                <a:gd name="T6" fmla="*/ 17 w 42"/>
                <a:gd name="T7" fmla="*/ 17 h 42"/>
                <a:gd name="T8" fmla="*/ 8 w 42"/>
                <a:gd name="T9" fmla="*/ 9 h 42"/>
                <a:gd name="T10" fmla="*/ 0 w 42"/>
                <a:gd name="T11" fmla="*/ 42 h 42"/>
                <a:gd name="T12" fmla="*/ 34 w 42"/>
                <a:gd name="T13" fmla="*/ 34 h 42"/>
                <a:gd name="T14" fmla="*/ 25 w 42"/>
                <a:gd name="T15" fmla="*/ 25 h 42"/>
                <a:gd name="T16" fmla="*/ 25 w 42"/>
                <a:gd name="T17" fmla="*/ 25 h 42"/>
                <a:gd name="T18" fmla="*/ 25 w 42"/>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2">
                  <a:moveTo>
                    <a:pt x="25" y="25"/>
                  </a:moveTo>
                  <a:lnTo>
                    <a:pt x="42" y="8"/>
                  </a:lnTo>
                  <a:lnTo>
                    <a:pt x="34" y="0"/>
                  </a:lnTo>
                  <a:lnTo>
                    <a:pt x="17" y="17"/>
                  </a:lnTo>
                  <a:lnTo>
                    <a:pt x="8" y="9"/>
                  </a:lnTo>
                  <a:lnTo>
                    <a:pt x="0" y="42"/>
                  </a:lnTo>
                  <a:lnTo>
                    <a:pt x="34" y="34"/>
                  </a:lnTo>
                  <a:lnTo>
                    <a:pt x="25" y="25"/>
                  </a:lnTo>
                  <a:close/>
                  <a:moveTo>
                    <a:pt x="25" y="25"/>
                  </a:moveTo>
                  <a:lnTo>
                    <a:pt x="25"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9" name="Freeform 209">
              <a:extLst>
                <a:ext uri="{FF2B5EF4-FFF2-40B4-BE49-F238E27FC236}">
                  <a16:creationId xmlns:a16="http://schemas.microsoft.com/office/drawing/2014/main" id="{9D2F16DD-4FE1-40E3-8856-4E1C3C178C4A}"/>
                </a:ext>
              </a:extLst>
            </p:cNvPr>
            <p:cNvSpPr>
              <a:spLocks noEditPoints="1"/>
            </p:cNvSpPr>
            <p:nvPr/>
          </p:nvSpPr>
          <p:spPr bwMode="auto">
            <a:xfrm>
              <a:off x="1570038" y="4865688"/>
              <a:ext cx="66675" cy="66675"/>
            </a:xfrm>
            <a:custGeom>
              <a:avLst/>
              <a:gdLst>
                <a:gd name="T0" fmla="*/ 25 w 42"/>
                <a:gd name="T1" fmla="*/ 25 h 42"/>
                <a:gd name="T2" fmla="*/ 42 w 42"/>
                <a:gd name="T3" fmla="*/ 8 h 42"/>
                <a:gd name="T4" fmla="*/ 34 w 42"/>
                <a:gd name="T5" fmla="*/ 0 h 42"/>
                <a:gd name="T6" fmla="*/ 17 w 42"/>
                <a:gd name="T7" fmla="*/ 17 h 42"/>
                <a:gd name="T8" fmla="*/ 8 w 42"/>
                <a:gd name="T9" fmla="*/ 9 h 42"/>
                <a:gd name="T10" fmla="*/ 0 w 42"/>
                <a:gd name="T11" fmla="*/ 42 h 42"/>
                <a:gd name="T12" fmla="*/ 34 w 42"/>
                <a:gd name="T13" fmla="*/ 34 h 42"/>
                <a:gd name="T14" fmla="*/ 25 w 42"/>
                <a:gd name="T15" fmla="*/ 25 h 42"/>
                <a:gd name="T16" fmla="*/ 25 w 42"/>
                <a:gd name="T17" fmla="*/ 25 h 42"/>
                <a:gd name="T18" fmla="*/ 25 w 42"/>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2">
                  <a:moveTo>
                    <a:pt x="25" y="25"/>
                  </a:moveTo>
                  <a:lnTo>
                    <a:pt x="42" y="8"/>
                  </a:lnTo>
                  <a:lnTo>
                    <a:pt x="34" y="0"/>
                  </a:lnTo>
                  <a:lnTo>
                    <a:pt x="17" y="17"/>
                  </a:lnTo>
                  <a:lnTo>
                    <a:pt x="8" y="9"/>
                  </a:lnTo>
                  <a:lnTo>
                    <a:pt x="0" y="42"/>
                  </a:lnTo>
                  <a:lnTo>
                    <a:pt x="34" y="34"/>
                  </a:lnTo>
                  <a:lnTo>
                    <a:pt x="25" y="25"/>
                  </a:lnTo>
                  <a:moveTo>
                    <a:pt x="25" y="25"/>
                  </a:moveTo>
                  <a:lnTo>
                    <a:pt x="25" y="2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0" name="Freeform 210">
              <a:extLst>
                <a:ext uri="{FF2B5EF4-FFF2-40B4-BE49-F238E27FC236}">
                  <a16:creationId xmlns:a16="http://schemas.microsoft.com/office/drawing/2014/main" id="{3856D388-2C6F-45E1-B41A-B13A071B822F}"/>
                </a:ext>
              </a:extLst>
            </p:cNvPr>
            <p:cNvSpPr>
              <a:spLocks noEditPoints="1"/>
            </p:cNvSpPr>
            <p:nvPr/>
          </p:nvSpPr>
          <p:spPr bwMode="auto">
            <a:xfrm>
              <a:off x="1466850" y="4865688"/>
              <a:ext cx="66675" cy="66675"/>
            </a:xfrm>
            <a:custGeom>
              <a:avLst/>
              <a:gdLst>
                <a:gd name="T0" fmla="*/ 25 w 42"/>
                <a:gd name="T1" fmla="*/ 17 h 42"/>
                <a:gd name="T2" fmla="*/ 8 w 42"/>
                <a:gd name="T3" fmla="*/ 0 h 42"/>
                <a:gd name="T4" fmla="*/ 0 w 42"/>
                <a:gd name="T5" fmla="*/ 8 h 42"/>
                <a:gd name="T6" fmla="*/ 17 w 42"/>
                <a:gd name="T7" fmla="*/ 25 h 42"/>
                <a:gd name="T8" fmla="*/ 8 w 42"/>
                <a:gd name="T9" fmla="*/ 34 h 42"/>
                <a:gd name="T10" fmla="*/ 42 w 42"/>
                <a:gd name="T11" fmla="*/ 42 h 42"/>
                <a:gd name="T12" fmla="*/ 34 w 42"/>
                <a:gd name="T13" fmla="*/ 9 h 42"/>
                <a:gd name="T14" fmla="*/ 25 w 42"/>
                <a:gd name="T15" fmla="*/ 17 h 42"/>
                <a:gd name="T16" fmla="*/ 25 w 42"/>
                <a:gd name="T17" fmla="*/ 17 h 42"/>
                <a:gd name="T18" fmla="*/ 25 w 42"/>
                <a:gd name="T19" fmla="*/ 1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2">
                  <a:moveTo>
                    <a:pt x="25" y="17"/>
                  </a:moveTo>
                  <a:lnTo>
                    <a:pt x="8" y="0"/>
                  </a:lnTo>
                  <a:lnTo>
                    <a:pt x="0" y="8"/>
                  </a:lnTo>
                  <a:lnTo>
                    <a:pt x="17" y="25"/>
                  </a:lnTo>
                  <a:lnTo>
                    <a:pt x="8" y="34"/>
                  </a:lnTo>
                  <a:lnTo>
                    <a:pt x="42" y="42"/>
                  </a:lnTo>
                  <a:lnTo>
                    <a:pt x="34" y="9"/>
                  </a:lnTo>
                  <a:lnTo>
                    <a:pt x="25" y="17"/>
                  </a:lnTo>
                  <a:close/>
                  <a:moveTo>
                    <a:pt x="25" y="17"/>
                  </a:moveTo>
                  <a:lnTo>
                    <a:pt x="25"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1" name="Freeform 211">
              <a:extLst>
                <a:ext uri="{FF2B5EF4-FFF2-40B4-BE49-F238E27FC236}">
                  <a16:creationId xmlns:a16="http://schemas.microsoft.com/office/drawing/2014/main" id="{4AC56DD5-D73B-43B6-8190-90279DF6C479}"/>
                </a:ext>
              </a:extLst>
            </p:cNvPr>
            <p:cNvSpPr>
              <a:spLocks noEditPoints="1"/>
            </p:cNvSpPr>
            <p:nvPr/>
          </p:nvSpPr>
          <p:spPr bwMode="auto">
            <a:xfrm>
              <a:off x="1466850" y="4865688"/>
              <a:ext cx="66675" cy="66675"/>
            </a:xfrm>
            <a:custGeom>
              <a:avLst/>
              <a:gdLst>
                <a:gd name="T0" fmla="*/ 25 w 42"/>
                <a:gd name="T1" fmla="*/ 17 h 42"/>
                <a:gd name="T2" fmla="*/ 8 w 42"/>
                <a:gd name="T3" fmla="*/ 0 h 42"/>
                <a:gd name="T4" fmla="*/ 0 w 42"/>
                <a:gd name="T5" fmla="*/ 8 h 42"/>
                <a:gd name="T6" fmla="*/ 17 w 42"/>
                <a:gd name="T7" fmla="*/ 25 h 42"/>
                <a:gd name="T8" fmla="*/ 8 w 42"/>
                <a:gd name="T9" fmla="*/ 34 h 42"/>
                <a:gd name="T10" fmla="*/ 42 w 42"/>
                <a:gd name="T11" fmla="*/ 42 h 42"/>
                <a:gd name="T12" fmla="*/ 34 w 42"/>
                <a:gd name="T13" fmla="*/ 9 h 42"/>
                <a:gd name="T14" fmla="*/ 25 w 42"/>
                <a:gd name="T15" fmla="*/ 17 h 42"/>
                <a:gd name="T16" fmla="*/ 25 w 42"/>
                <a:gd name="T17" fmla="*/ 17 h 42"/>
                <a:gd name="T18" fmla="*/ 25 w 42"/>
                <a:gd name="T19" fmla="*/ 1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2">
                  <a:moveTo>
                    <a:pt x="25" y="17"/>
                  </a:moveTo>
                  <a:lnTo>
                    <a:pt x="8" y="0"/>
                  </a:lnTo>
                  <a:lnTo>
                    <a:pt x="0" y="8"/>
                  </a:lnTo>
                  <a:lnTo>
                    <a:pt x="17" y="25"/>
                  </a:lnTo>
                  <a:lnTo>
                    <a:pt x="8" y="34"/>
                  </a:lnTo>
                  <a:lnTo>
                    <a:pt x="42" y="42"/>
                  </a:lnTo>
                  <a:lnTo>
                    <a:pt x="34" y="9"/>
                  </a:lnTo>
                  <a:lnTo>
                    <a:pt x="25" y="17"/>
                  </a:lnTo>
                  <a:moveTo>
                    <a:pt x="25" y="17"/>
                  </a:moveTo>
                  <a:lnTo>
                    <a:pt x="25"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2" name="Freeform 212">
              <a:extLst>
                <a:ext uri="{FF2B5EF4-FFF2-40B4-BE49-F238E27FC236}">
                  <a16:creationId xmlns:a16="http://schemas.microsoft.com/office/drawing/2014/main" id="{813BA6D4-5799-4F2F-BF00-09A14477561E}"/>
                </a:ext>
              </a:extLst>
            </p:cNvPr>
            <p:cNvSpPr>
              <a:spLocks noEditPoints="1"/>
            </p:cNvSpPr>
            <p:nvPr/>
          </p:nvSpPr>
          <p:spPr bwMode="auto">
            <a:xfrm>
              <a:off x="1570038" y="4970463"/>
              <a:ext cx="66675" cy="65088"/>
            </a:xfrm>
            <a:custGeom>
              <a:avLst/>
              <a:gdLst>
                <a:gd name="T0" fmla="*/ 34 w 42"/>
                <a:gd name="T1" fmla="*/ 8 h 41"/>
                <a:gd name="T2" fmla="*/ 0 w 42"/>
                <a:gd name="T3" fmla="*/ 0 h 41"/>
                <a:gd name="T4" fmla="*/ 8 w 42"/>
                <a:gd name="T5" fmla="*/ 32 h 41"/>
                <a:gd name="T6" fmla="*/ 17 w 42"/>
                <a:gd name="T7" fmla="*/ 25 h 41"/>
                <a:gd name="T8" fmla="*/ 34 w 42"/>
                <a:gd name="T9" fmla="*/ 41 h 41"/>
                <a:gd name="T10" fmla="*/ 42 w 42"/>
                <a:gd name="T11" fmla="*/ 34 h 41"/>
                <a:gd name="T12" fmla="*/ 25 w 42"/>
                <a:gd name="T13" fmla="*/ 17 h 41"/>
                <a:gd name="T14" fmla="*/ 34 w 42"/>
                <a:gd name="T15" fmla="*/ 8 h 41"/>
                <a:gd name="T16" fmla="*/ 34 w 42"/>
                <a:gd name="T17" fmla="*/ 8 h 41"/>
                <a:gd name="T18" fmla="*/ 34 w 42"/>
                <a:gd name="T19"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1">
                  <a:moveTo>
                    <a:pt x="34" y="8"/>
                  </a:moveTo>
                  <a:lnTo>
                    <a:pt x="0" y="0"/>
                  </a:lnTo>
                  <a:lnTo>
                    <a:pt x="8" y="32"/>
                  </a:lnTo>
                  <a:lnTo>
                    <a:pt x="17" y="25"/>
                  </a:lnTo>
                  <a:lnTo>
                    <a:pt x="34" y="41"/>
                  </a:lnTo>
                  <a:lnTo>
                    <a:pt x="42" y="34"/>
                  </a:lnTo>
                  <a:lnTo>
                    <a:pt x="25" y="17"/>
                  </a:lnTo>
                  <a:lnTo>
                    <a:pt x="34" y="8"/>
                  </a:lnTo>
                  <a:close/>
                  <a:moveTo>
                    <a:pt x="34" y="8"/>
                  </a:moveTo>
                  <a:lnTo>
                    <a:pt x="34"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3" name="Freeform 213">
              <a:extLst>
                <a:ext uri="{FF2B5EF4-FFF2-40B4-BE49-F238E27FC236}">
                  <a16:creationId xmlns:a16="http://schemas.microsoft.com/office/drawing/2014/main" id="{13486027-1A69-46E1-B238-EE836D2629D4}"/>
                </a:ext>
              </a:extLst>
            </p:cNvPr>
            <p:cNvSpPr>
              <a:spLocks noEditPoints="1"/>
            </p:cNvSpPr>
            <p:nvPr/>
          </p:nvSpPr>
          <p:spPr bwMode="auto">
            <a:xfrm>
              <a:off x="1570038" y="4970463"/>
              <a:ext cx="66675" cy="65088"/>
            </a:xfrm>
            <a:custGeom>
              <a:avLst/>
              <a:gdLst>
                <a:gd name="T0" fmla="*/ 34 w 42"/>
                <a:gd name="T1" fmla="*/ 8 h 41"/>
                <a:gd name="T2" fmla="*/ 0 w 42"/>
                <a:gd name="T3" fmla="*/ 0 h 41"/>
                <a:gd name="T4" fmla="*/ 8 w 42"/>
                <a:gd name="T5" fmla="*/ 32 h 41"/>
                <a:gd name="T6" fmla="*/ 17 w 42"/>
                <a:gd name="T7" fmla="*/ 25 h 41"/>
                <a:gd name="T8" fmla="*/ 34 w 42"/>
                <a:gd name="T9" fmla="*/ 41 h 41"/>
                <a:gd name="T10" fmla="*/ 42 w 42"/>
                <a:gd name="T11" fmla="*/ 34 h 41"/>
                <a:gd name="T12" fmla="*/ 25 w 42"/>
                <a:gd name="T13" fmla="*/ 17 h 41"/>
                <a:gd name="T14" fmla="*/ 34 w 42"/>
                <a:gd name="T15" fmla="*/ 8 h 41"/>
                <a:gd name="T16" fmla="*/ 34 w 42"/>
                <a:gd name="T17" fmla="*/ 8 h 41"/>
                <a:gd name="T18" fmla="*/ 34 w 42"/>
                <a:gd name="T19"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1">
                  <a:moveTo>
                    <a:pt x="34" y="8"/>
                  </a:moveTo>
                  <a:lnTo>
                    <a:pt x="0" y="0"/>
                  </a:lnTo>
                  <a:lnTo>
                    <a:pt x="8" y="32"/>
                  </a:lnTo>
                  <a:lnTo>
                    <a:pt x="17" y="25"/>
                  </a:lnTo>
                  <a:lnTo>
                    <a:pt x="34" y="41"/>
                  </a:lnTo>
                  <a:lnTo>
                    <a:pt x="42" y="34"/>
                  </a:lnTo>
                  <a:lnTo>
                    <a:pt x="25" y="17"/>
                  </a:lnTo>
                  <a:lnTo>
                    <a:pt x="34" y="8"/>
                  </a:lnTo>
                  <a:moveTo>
                    <a:pt x="34" y="8"/>
                  </a:moveTo>
                  <a:lnTo>
                    <a:pt x="34" y="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4" name="Freeform 214">
              <a:extLst>
                <a:ext uri="{FF2B5EF4-FFF2-40B4-BE49-F238E27FC236}">
                  <a16:creationId xmlns:a16="http://schemas.microsoft.com/office/drawing/2014/main" id="{F4D41730-2910-4FE5-B74D-BCBFB8115C97}"/>
                </a:ext>
              </a:extLst>
            </p:cNvPr>
            <p:cNvSpPr>
              <a:spLocks noEditPoints="1"/>
            </p:cNvSpPr>
            <p:nvPr/>
          </p:nvSpPr>
          <p:spPr bwMode="auto">
            <a:xfrm>
              <a:off x="1466850" y="4970463"/>
              <a:ext cx="66675" cy="65088"/>
            </a:xfrm>
            <a:custGeom>
              <a:avLst/>
              <a:gdLst>
                <a:gd name="T0" fmla="*/ 17 w 42"/>
                <a:gd name="T1" fmla="*/ 17 h 41"/>
                <a:gd name="T2" fmla="*/ 0 w 42"/>
                <a:gd name="T3" fmla="*/ 34 h 41"/>
                <a:gd name="T4" fmla="*/ 8 w 42"/>
                <a:gd name="T5" fmla="*/ 41 h 41"/>
                <a:gd name="T6" fmla="*/ 25 w 42"/>
                <a:gd name="T7" fmla="*/ 25 h 41"/>
                <a:gd name="T8" fmla="*/ 34 w 42"/>
                <a:gd name="T9" fmla="*/ 32 h 41"/>
                <a:gd name="T10" fmla="*/ 42 w 42"/>
                <a:gd name="T11" fmla="*/ 0 h 41"/>
                <a:gd name="T12" fmla="*/ 8 w 42"/>
                <a:gd name="T13" fmla="*/ 8 h 41"/>
                <a:gd name="T14" fmla="*/ 17 w 42"/>
                <a:gd name="T15" fmla="*/ 17 h 41"/>
                <a:gd name="T16" fmla="*/ 17 w 42"/>
                <a:gd name="T17" fmla="*/ 17 h 41"/>
                <a:gd name="T18" fmla="*/ 17 w 42"/>
                <a:gd name="T19" fmla="*/ 1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1">
                  <a:moveTo>
                    <a:pt x="17" y="17"/>
                  </a:moveTo>
                  <a:lnTo>
                    <a:pt x="0" y="34"/>
                  </a:lnTo>
                  <a:lnTo>
                    <a:pt x="8" y="41"/>
                  </a:lnTo>
                  <a:lnTo>
                    <a:pt x="25" y="25"/>
                  </a:lnTo>
                  <a:lnTo>
                    <a:pt x="34" y="32"/>
                  </a:lnTo>
                  <a:lnTo>
                    <a:pt x="42" y="0"/>
                  </a:lnTo>
                  <a:lnTo>
                    <a:pt x="8" y="8"/>
                  </a:lnTo>
                  <a:lnTo>
                    <a:pt x="17" y="17"/>
                  </a:lnTo>
                  <a:close/>
                  <a:moveTo>
                    <a:pt x="17" y="17"/>
                  </a:moveTo>
                  <a:lnTo>
                    <a:pt x="1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5" name="Freeform 215">
              <a:extLst>
                <a:ext uri="{FF2B5EF4-FFF2-40B4-BE49-F238E27FC236}">
                  <a16:creationId xmlns:a16="http://schemas.microsoft.com/office/drawing/2014/main" id="{7E92BCEE-9A4A-4187-B421-214EB9473C2F}"/>
                </a:ext>
              </a:extLst>
            </p:cNvPr>
            <p:cNvSpPr>
              <a:spLocks noEditPoints="1"/>
            </p:cNvSpPr>
            <p:nvPr/>
          </p:nvSpPr>
          <p:spPr bwMode="auto">
            <a:xfrm>
              <a:off x="1466850" y="4970463"/>
              <a:ext cx="66675" cy="65088"/>
            </a:xfrm>
            <a:custGeom>
              <a:avLst/>
              <a:gdLst>
                <a:gd name="T0" fmla="*/ 17 w 42"/>
                <a:gd name="T1" fmla="*/ 17 h 41"/>
                <a:gd name="T2" fmla="*/ 0 w 42"/>
                <a:gd name="T3" fmla="*/ 34 h 41"/>
                <a:gd name="T4" fmla="*/ 8 w 42"/>
                <a:gd name="T5" fmla="*/ 41 h 41"/>
                <a:gd name="T6" fmla="*/ 25 w 42"/>
                <a:gd name="T7" fmla="*/ 25 h 41"/>
                <a:gd name="T8" fmla="*/ 34 w 42"/>
                <a:gd name="T9" fmla="*/ 32 h 41"/>
                <a:gd name="T10" fmla="*/ 42 w 42"/>
                <a:gd name="T11" fmla="*/ 0 h 41"/>
                <a:gd name="T12" fmla="*/ 8 w 42"/>
                <a:gd name="T13" fmla="*/ 8 h 41"/>
                <a:gd name="T14" fmla="*/ 17 w 42"/>
                <a:gd name="T15" fmla="*/ 17 h 41"/>
                <a:gd name="T16" fmla="*/ 17 w 42"/>
                <a:gd name="T17" fmla="*/ 17 h 41"/>
                <a:gd name="T18" fmla="*/ 17 w 42"/>
                <a:gd name="T19" fmla="*/ 1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1">
                  <a:moveTo>
                    <a:pt x="17" y="17"/>
                  </a:moveTo>
                  <a:lnTo>
                    <a:pt x="0" y="34"/>
                  </a:lnTo>
                  <a:lnTo>
                    <a:pt x="8" y="41"/>
                  </a:lnTo>
                  <a:lnTo>
                    <a:pt x="25" y="25"/>
                  </a:lnTo>
                  <a:lnTo>
                    <a:pt x="34" y="32"/>
                  </a:lnTo>
                  <a:lnTo>
                    <a:pt x="42" y="0"/>
                  </a:lnTo>
                  <a:lnTo>
                    <a:pt x="8" y="8"/>
                  </a:lnTo>
                  <a:lnTo>
                    <a:pt x="17" y="17"/>
                  </a:lnTo>
                  <a:moveTo>
                    <a:pt x="17" y="17"/>
                  </a:moveTo>
                  <a:lnTo>
                    <a:pt x="17" y="17"/>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66" name="Freeform 216">
            <a:extLst>
              <a:ext uri="{FF2B5EF4-FFF2-40B4-BE49-F238E27FC236}">
                <a16:creationId xmlns:a16="http://schemas.microsoft.com/office/drawing/2014/main" id="{DD38BF92-9AC3-47F6-B767-905C8123AC43}"/>
              </a:ext>
            </a:extLst>
          </p:cNvPr>
          <p:cNvSpPr>
            <a:spLocks noEditPoints="1"/>
          </p:cNvSpPr>
          <p:nvPr/>
        </p:nvSpPr>
        <p:spPr bwMode="auto">
          <a:xfrm>
            <a:off x="5879513" y="5313371"/>
            <a:ext cx="269731" cy="269733"/>
          </a:xfrm>
          <a:custGeom>
            <a:avLst/>
            <a:gdLst>
              <a:gd name="T0" fmla="*/ 44 w 107"/>
              <a:gd name="T1" fmla="*/ 35 h 107"/>
              <a:gd name="T2" fmla="*/ 9 w 107"/>
              <a:gd name="T3" fmla="*/ 0 h 107"/>
              <a:gd name="T4" fmla="*/ 0 w 107"/>
              <a:gd name="T5" fmla="*/ 9 h 107"/>
              <a:gd name="T6" fmla="*/ 35 w 107"/>
              <a:gd name="T7" fmla="*/ 44 h 107"/>
              <a:gd name="T8" fmla="*/ 44 w 107"/>
              <a:gd name="T9" fmla="*/ 35 h 107"/>
              <a:gd name="T10" fmla="*/ 70 w 107"/>
              <a:gd name="T11" fmla="*/ 0 h 107"/>
              <a:gd name="T12" fmla="*/ 84 w 107"/>
              <a:gd name="T13" fmla="*/ 14 h 107"/>
              <a:gd name="T14" fmla="*/ 0 w 107"/>
              <a:gd name="T15" fmla="*/ 98 h 107"/>
              <a:gd name="T16" fmla="*/ 9 w 107"/>
              <a:gd name="T17" fmla="*/ 107 h 107"/>
              <a:gd name="T18" fmla="*/ 94 w 107"/>
              <a:gd name="T19" fmla="*/ 24 h 107"/>
              <a:gd name="T20" fmla="*/ 107 w 107"/>
              <a:gd name="T21" fmla="*/ 38 h 107"/>
              <a:gd name="T22" fmla="*/ 107 w 107"/>
              <a:gd name="T23" fmla="*/ 0 h 107"/>
              <a:gd name="T24" fmla="*/ 70 w 107"/>
              <a:gd name="T25" fmla="*/ 0 h 107"/>
              <a:gd name="T26" fmla="*/ 73 w 107"/>
              <a:gd name="T27" fmla="*/ 64 h 107"/>
              <a:gd name="T28" fmla="*/ 62 w 107"/>
              <a:gd name="T29" fmla="*/ 73 h 107"/>
              <a:gd name="T30" fmla="*/ 84 w 107"/>
              <a:gd name="T31" fmla="*/ 93 h 107"/>
              <a:gd name="T32" fmla="*/ 70 w 107"/>
              <a:gd name="T33" fmla="*/ 107 h 107"/>
              <a:gd name="T34" fmla="*/ 107 w 107"/>
              <a:gd name="T35" fmla="*/ 107 h 107"/>
              <a:gd name="T36" fmla="*/ 107 w 107"/>
              <a:gd name="T37" fmla="*/ 69 h 107"/>
              <a:gd name="T38" fmla="*/ 94 w 107"/>
              <a:gd name="T39" fmla="*/ 83 h 107"/>
              <a:gd name="T40" fmla="*/ 73 w 107"/>
              <a:gd name="T41" fmla="*/ 6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44" y="35"/>
                </a:moveTo>
                <a:lnTo>
                  <a:pt x="9" y="0"/>
                </a:lnTo>
                <a:lnTo>
                  <a:pt x="0" y="9"/>
                </a:lnTo>
                <a:lnTo>
                  <a:pt x="35" y="44"/>
                </a:lnTo>
                <a:lnTo>
                  <a:pt x="44" y="35"/>
                </a:lnTo>
                <a:close/>
                <a:moveTo>
                  <a:pt x="70" y="0"/>
                </a:moveTo>
                <a:lnTo>
                  <a:pt x="84" y="14"/>
                </a:lnTo>
                <a:lnTo>
                  <a:pt x="0" y="98"/>
                </a:lnTo>
                <a:lnTo>
                  <a:pt x="9" y="107"/>
                </a:lnTo>
                <a:lnTo>
                  <a:pt x="94" y="24"/>
                </a:lnTo>
                <a:lnTo>
                  <a:pt x="107" y="38"/>
                </a:lnTo>
                <a:lnTo>
                  <a:pt x="107" y="0"/>
                </a:lnTo>
                <a:lnTo>
                  <a:pt x="70" y="0"/>
                </a:lnTo>
                <a:close/>
                <a:moveTo>
                  <a:pt x="73" y="64"/>
                </a:moveTo>
                <a:lnTo>
                  <a:pt x="62" y="73"/>
                </a:lnTo>
                <a:lnTo>
                  <a:pt x="84" y="93"/>
                </a:lnTo>
                <a:lnTo>
                  <a:pt x="70" y="107"/>
                </a:lnTo>
                <a:lnTo>
                  <a:pt x="107" y="107"/>
                </a:lnTo>
                <a:lnTo>
                  <a:pt x="107" y="69"/>
                </a:lnTo>
                <a:lnTo>
                  <a:pt x="94" y="83"/>
                </a:lnTo>
                <a:lnTo>
                  <a:pt x="73" y="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67" name="Group 266">
            <a:extLst>
              <a:ext uri="{FF2B5EF4-FFF2-40B4-BE49-F238E27FC236}">
                <a16:creationId xmlns:a16="http://schemas.microsoft.com/office/drawing/2014/main" id="{D3176AEB-717C-496D-87CD-D7210C6034BF}"/>
              </a:ext>
            </a:extLst>
          </p:cNvPr>
          <p:cNvGrpSpPr/>
          <p:nvPr/>
        </p:nvGrpSpPr>
        <p:grpSpPr>
          <a:xfrm>
            <a:off x="8452945" y="5366704"/>
            <a:ext cx="437739" cy="181703"/>
            <a:chOff x="1125538" y="5275263"/>
            <a:chExt cx="168275" cy="69850"/>
          </a:xfrm>
          <a:solidFill>
            <a:schemeClr val="accent1"/>
          </a:solidFill>
        </p:grpSpPr>
        <p:sp>
          <p:nvSpPr>
            <p:cNvPr id="268" name="Freeform 217">
              <a:extLst>
                <a:ext uri="{FF2B5EF4-FFF2-40B4-BE49-F238E27FC236}">
                  <a16:creationId xmlns:a16="http://schemas.microsoft.com/office/drawing/2014/main" id="{4F56E7B5-C69B-4158-9226-BA227DEF35E6}"/>
                </a:ext>
              </a:extLst>
            </p:cNvPr>
            <p:cNvSpPr>
              <a:spLocks noEditPoints="1"/>
            </p:cNvSpPr>
            <p:nvPr/>
          </p:nvSpPr>
          <p:spPr bwMode="auto">
            <a:xfrm>
              <a:off x="1125538" y="5275263"/>
              <a:ext cx="168275" cy="69850"/>
            </a:xfrm>
            <a:custGeom>
              <a:avLst/>
              <a:gdLst>
                <a:gd name="T0" fmla="*/ 106 w 106"/>
                <a:gd name="T1" fmla="*/ 21 h 44"/>
                <a:gd name="T2" fmla="*/ 71 w 106"/>
                <a:gd name="T3" fmla="*/ 0 h 44"/>
                <a:gd name="T4" fmla="*/ 71 w 106"/>
                <a:gd name="T5" fmla="*/ 15 h 44"/>
                <a:gd name="T6" fmla="*/ 0 w 106"/>
                <a:gd name="T7" fmla="*/ 15 h 44"/>
                <a:gd name="T8" fmla="*/ 0 w 106"/>
                <a:gd name="T9" fmla="*/ 28 h 44"/>
                <a:gd name="T10" fmla="*/ 71 w 106"/>
                <a:gd name="T11" fmla="*/ 28 h 44"/>
                <a:gd name="T12" fmla="*/ 71 w 106"/>
                <a:gd name="T13" fmla="*/ 44 h 44"/>
                <a:gd name="T14" fmla="*/ 106 w 106"/>
                <a:gd name="T15" fmla="*/ 21 h 44"/>
                <a:gd name="T16" fmla="*/ 106 w 106"/>
                <a:gd name="T17" fmla="*/ 21 h 44"/>
                <a:gd name="T18" fmla="*/ 106 w 106"/>
                <a:gd name="T19"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44">
                  <a:moveTo>
                    <a:pt x="106" y="21"/>
                  </a:moveTo>
                  <a:lnTo>
                    <a:pt x="71" y="0"/>
                  </a:lnTo>
                  <a:lnTo>
                    <a:pt x="71" y="15"/>
                  </a:lnTo>
                  <a:lnTo>
                    <a:pt x="0" y="15"/>
                  </a:lnTo>
                  <a:lnTo>
                    <a:pt x="0" y="28"/>
                  </a:lnTo>
                  <a:lnTo>
                    <a:pt x="71" y="28"/>
                  </a:lnTo>
                  <a:lnTo>
                    <a:pt x="71" y="44"/>
                  </a:lnTo>
                  <a:lnTo>
                    <a:pt x="106" y="21"/>
                  </a:lnTo>
                  <a:close/>
                  <a:moveTo>
                    <a:pt x="106" y="21"/>
                  </a:moveTo>
                  <a:lnTo>
                    <a:pt x="106"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9" name="Freeform 218">
              <a:extLst>
                <a:ext uri="{FF2B5EF4-FFF2-40B4-BE49-F238E27FC236}">
                  <a16:creationId xmlns:a16="http://schemas.microsoft.com/office/drawing/2014/main" id="{7F41CD30-7D09-4D1F-86C5-DE236373E1DA}"/>
                </a:ext>
              </a:extLst>
            </p:cNvPr>
            <p:cNvSpPr>
              <a:spLocks noEditPoints="1"/>
            </p:cNvSpPr>
            <p:nvPr/>
          </p:nvSpPr>
          <p:spPr bwMode="auto">
            <a:xfrm>
              <a:off x="1125538" y="5275263"/>
              <a:ext cx="168275" cy="69850"/>
            </a:xfrm>
            <a:custGeom>
              <a:avLst/>
              <a:gdLst>
                <a:gd name="T0" fmla="*/ 106 w 106"/>
                <a:gd name="T1" fmla="*/ 21 h 44"/>
                <a:gd name="T2" fmla="*/ 71 w 106"/>
                <a:gd name="T3" fmla="*/ 0 h 44"/>
                <a:gd name="T4" fmla="*/ 71 w 106"/>
                <a:gd name="T5" fmla="*/ 15 h 44"/>
                <a:gd name="T6" fmla="*/ 0 w 106"/>
                <a:gd name="T7" fmla="*/ 15 h 44"/>
                <a:gd name="T8" fmla="*/ 0 w 106"/>
                <a:gd name="T9" fmla="*/ 28 h 44"/>
                <a:gd name="T10" fmla="*/ 71 w 106"/>
                <a:gd name="T11" fmla="*/ 28 h 44"/>
                <a:gd name="T12" fmla="*/ 71 w 106"/>
                <a:gd name="T13" fmla="*/ 44 h 44"/>
                <a:gd name="T14" fmla="*/ 106 w 106"/>
                <a:gd name="T15" fmla="*/ 21 h 44"/>
                <a:gd name="T16" fmla="*/ 106 w 106"/>
                <a:gd name="T17" fmla="*/ 21 h 44"/>
                <a:gd name="T18" fmla="*/ 106 w 106"/>
                <a:gd name="T19"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44">
                  <a:moveTo>
                    <a:pt x="106" y="21"/>
                  </a:moveTo>
                  <a:lnTo>
                    <a:pt x="71" y="0"/>
                  </a:lnTo>
                  <a:lnTo>
                    <a:pt x="71" y="15"/>
                  </a:lnTo>
                  <a:lnTo>
                    <a:pt x="0" y="15"/>
                  </a:lnTo>
                  <a:lnTo>
                    <a:pt x="0" y="28"/>
                  </a:lnTo>
                  <a:lnTo>
                    <a:pt x="71" y="28"/>
                  </a:lnTo>
                  <a:lnTo>
                    <a:pt x="71" y="44"/>
                  </a:lnTo>
                  <a:lnTo>
                    <a:pt x="106" y="21"/>
                  </a:lnTo>
                  <a:moveTo>
                    <a:pt x="106" y="21"/>
                  </a:moveTo>
                  <a:lnTo>
                    <a:pt x="106" y="21"/>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70" name="Freeform 219">
            <a:extLst>
              <a:ext uri="{FF2B5EF4-FFF2-40B4-BE49-F238E27FC236}">
                <a16:creationId xmlns:a16="http://schemas.microsoft.com/office/drawing/2014/main" id="{DC81B2CE-F776-4652-AFDE-BCC0934FFD64}"/>
              </a:ext>
            </a:extLst>
          </p:cNvPr>
          <p:cNvSpPr>
            <a:spLocks noEditPoints="1"/>
          </p:cNvSpPr>
          <p:nvPr/>
        </p:nvSpPr>
        <p:spPr bwMode="auto">
          <a:xfrm>
            <a:off x="2237117" y="5244099"/>
            <a:ext cx="356298" cy="353060"/>
          </a:xfrm>
          <a:custGeom>
            <a:avLst/>
            <a:gdLst>
              <a:gd name="T0" fmla="*/ 110 w 110"/>
              <a:gd name="T1" fmla="*/ 60 h 109"/>
              <a:gd name="T2" fmla="*/ 110 w 110"/>
              <a:gd name="T3" fmla="*/ 49 h 109"/>
              <a:gd name="T4" fmla="*/ 62 w 110"/>
              <a:gd name="T5" fmla="*/ 49 h 109"/>
              <a:gd name="T6" fmla="*/ 62 w 110"/>
              <a:gd name="T7" fmla="*/ 24 h 109"/>
              <a:gd name="T8" fmla="*/ 71 w 110"/>
              <a:gd name="T9" fmla="*/ 24 h 109"/>
              <a:gd name="T10" fmla="*/ 55 w 110"/>
              <a:gd name="T11" fmla="*/ 0 h 109"/>
              <a:gd name="T12" fmla="*/ 41 w 110"/>
              <a:gd name="T13" fmla="*/ 24 h 109"/>
              <a:gd name="T14" fmla="*/ 49 w 110"/>
              <a:gd name="T15" fmla="*/ 24 h 109"/>
              <a:gd name="T16" fmla="*/ 49 w 110"/>
              <a:gd name="T17" fmla="*/ 49 h 109"/>
              <a:gd name="T18" fmla="*/ 0 w 110"/>
              <a:gd name="T19" fmla="*/ 49 h 109"/>
              <a:gd name="T20" fmla="*/ 0 w 110"/>
              <a:gd name="T21" fmla="*/ 60 h 109"/>
              <a:gd name="T22" fmla="*/ 49 w 110"/>
              <a:gd name="T23" fmla="*/ 60 h 109"/>
              <a:gd name="T24" fmla="*/ 49 w 110"/>
              <a:gd name="T25" fmla="*/ 85 h 109"/>
              <a:gd name="T26" fmla="*/ 41 w 110"/>
              <a:gd name="T27" fmla="*/ 85 h 109"/>
              <a:gd name="T28" fmla="*/ 56 w 110"/>
              <a:gd name="T29" fmla="*/ 109 h 109"/>
              <a:gd name="T30" fmla="*/ 71 w 110"/>
              <a:gd name="T31" fmla="*/ 85 h 109"/>
              <a:gd name="T32" fmla="*/ 62 w 110"/>
              <a:gd name="T33" fmla="*/ 85 h 109"/>
              <a:gd name="T34" fmla="*/ 62 w 110"/>
              <a:gd name="T35" fmla="*/ 60 h 109"/>
              <a:gd name="T36" fmla="*/ 110 w 110"/>
              <a:gd name="T37" fmla="*/ 60 h 109"/>
              <a:gd name="T38" fmla="*/ 110 w 110"/>
              <a:gd name="T39" fmla="*/ 60 h 109"/>
              <a:gd name="T40" fmla="*/ 110 w 110"/>
              <a:gd name="T41" fmla="*/ 6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 h="109">
                <a:moveTo>
                  <a:pt x="110" y="60"/>
                </a:moveTo>
                <a:lnTo>
                  <a:pt x="110" y="49"/>
                </a:lnTo>
                <a:lnTo>
                  <a:pt x="62" y="49"/>
                </a:lnTo>
                <a:lnTo>
                  <a:pt x="62" y="24"/>
                </a:lnTo>
                <a:lnTo>
                  <a:pt x="71" y="24"/>
                </a:lnTo>
                <a:lnTo>
                  <a:pt x="55" y="0"/>
                </a:lnTo>
                <a:lnTo>
                  <a:pt x="41" y="24"/>
                </a:lnTo>
                <a:lnTo>
                  <a:pt x="49" y="24"/>
                </a:lnTo>
                <a:lnTo>
                  <a:pt x="49" y="49"/>
                </a:lnTo>
                <a:lnTo>
                  <a:pt x="0" y="49"/>
                </a:lnTo>
                <a:lnTo>
                  <a:pt x="0" y="60"/>
                </a:lnTo>
                <a:lnTo>
                  <a:pt x="49" y="60"/>
                </a:lnTo>
                <a:lnTo>
                  <a:pt x="49" y="85"/>
                </a:lnTo>
                <a:lnTo>
                  <a:pt x="41" y="85"/>
                </a:lnTo>
                <a:lnTo>
                  <a:pt x="56" y="109"/>
                </a:lnTo>
                <a:lnTo>
                  <a:pt x="71" y="85"/>
                </a:lnTo>
                <a:lnTo>
                  <a:pt x="62" y="85"/>
                </a:lnTo>
                <a:lnTo>
                  <a:pt x="62" y="60"/>
                </a:lnTo>
                <a:lnTo>
                  <a:pt x="110" y="60"/>
                </a:lnTo>
                <a:close/>
                <a:moveTo>
                  <a:pt x="110" y="60"/>
                </a:moveTo>
                <a:lnTo>
                  <a:pt x="110" y="6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71" name="Freeform 220">
            <a:extLst>
              <a:ext uri="{FF2B5EF4-FFF2-40B4-BE49-F238E27FC236}">
                <a16:creationId xmlns:a16="http://schemas.microsoft.com/office/drawing/2014/main" id="{24AB56CF-F461-4684-8B75-3D3FAA4A25DF}"/>
              </a:ext>
            </a:extLst>
          </p:cNvPr>
          <p:cNvSpPr>
            <a:spLocks noEditPoints="1"/>
          </p:cNvSpPr>
          <p:nvPr/>
        </p:nvSpPr>
        <p:spPr bwMode="auto">
          <a:xfrm>
            <a:off x="464503" y="5716270"/>
            <a:ext cx="174625" cy="173038"/>
          </a:xfrm>
          <a:custGeom>
            <a:avLst/>
            <a:gdLst>
              <a:gd name="T0" fmla="*/ 110 w 110"/>
              <a:gd name="T1" fmla="*/ 60 h 109"/>
              <a:gd name="T2" fmla="*/ 110 w 110"/>
              <a:gd name="T3" fmla="*/ 49 h 109"/>
              <a:gd name="T4" fmla="*/ 62 w 110"/>
              <a:gd name="T5" fmla="*/ 49 h 109"/>
              <a:gd name="T6" fmla="*/ 62 w 110"/>
              <a:gd name="T7" fmla="*/ 24 h 109"/>
              <a:gd name="T8" fmla="*/ 71 w 110"/>
              <a:gd name="T9" fmla="*/ 24 h 109"/>
              <a:gd name="T10" fmla="*/ 55 w 110"/>
              <a:gd name="T11" fmla="*/ 0 h 109"/>
              <a:gd name="T12" fmla="*/ 41 w 110"/>
              <a:gd name="T13" fmla="*/ 24 h 109"/>
              <a:gd name="T14" fmla="*/ 49 w 110"/>
              <a:gd name="T15" fmla="*/ 24 h 109"/>
              <a:gd name="T16" fmla="*/ 49 w 110"/>
              <a:gd name="T17" fmla="*/ 49 h 109"/>
              <a:gd name="T18" fmla="*/ 0 w 110"/>
              <a:gd name="T19" fmla="*/ 49 h 109"/>
              <a:gd name="T20" fmla="*/ 0 w 110"/>
              <a:gd name="T21" fmla="*/ 60 h 109"/>
              <a:gd name="T22" fmla="*/ 49 w 110"/>
              <a:gd name="T23" fmla="*/ 60 h 109"/>
              <a:gd name="T24" fmla="*/ 49 w 110"/>
              <a:gd name="T25" fmla="*/ 85 h 109"/>
              <a:gd name="T26" fmla="*/ 41 w 110"/>
              <a:gd name="T27" fmla="*/ 85 h 109"/>
              <a:gd name="T28" fmla="*/ 56 w 110"/>
              <a:gd name="T29" fmla="*/ 109 h 109"/>
              <a:gd name="T30" fmla="*/ 71 w 110"/>
              <a:gd name="T31" fmla="*/ 85 h 109"/>
              <a:gd name="T32" fmla="*/ 62 w 110"/>
              <a:gd name="T33" fmla="*/ 85 h 109"/>
              <a:gd name="T34" fmla="*/ 62 w 110"/>
              <a:gd name="T35" fmla="*/ 60 h 109"/>
              <a:gd name="T36" fmla="*/ 110 w 110"/>
              <a:gd name="T37" fmla="*/ 60 h 109"/>
              <a:gd name="T38" fmla="*/ 110 w 110"/>
              <a:gd name="T39" fmla="*/ 60 h 109"/>
              <a:gd name="T40" fmla="*/ 110 w 110"/>
              <a:gd name="T41" fmla="*/ 6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0" h="109">
                <a:moveTo>
                  <a:pt x="110" y="60"/>
                </a:moveTo>
                <a:lnTo>
                  <a:pt x="110" y="49"/>
                </a:lnTo>
                <a:lnTo>
                  <a:pt x="62" y="49"/>
                </a:lnTo>
                <a:lnTo>
                  <a:pt x="62" y="24"/>
                </a:lnTo>
                <a:lnTo>
                  <a:pt x="71" y="24"/>
                </a:lnTo>
                <a:lnTo>
                  <a:pt x="55" y="0"/>
                </a:lnTo>
                <a:lnTo>
                  <a:pt x="41" y="24"/>
                </a:lnTo>
                <a:lnTo>
                  <a:pt x="49" y="24"/>
                </a:lnTo>
                <a:lnTo>
                  <a:pt x="49" y="49"/>
                </a:lnTo>
                <a:lnTo>
                  <a:pt x="0" y="49"/>
                </a:lnTo>
                <a:lnTo>
                  <a:pt x="0" y="60"/>
                </a:lnTo>
                <a:lnTo>
                  <a:pt x="49" y="60"/>
                </a:lnTo>
                <a:lnTo>
                  <a:pt x="49" y="85"/>
                </a:lnTo>
                <a:lnTo>
                  <a:pt x="41" y="85"/>
                </a:lnTo>
                <a:lnTo>
                  <a:pt x="56" y="109"/>
                </a:lnTo>
                <a:lnTo>
                  <a:pt x="71" y="85"/>
                </a:lnTo>
                <a:lnTo>
                  <a:pt x="62" y="85"/>
                </a:lnTo>
                <a:lnTo>
                  <a:pt x="62" y="60"/>
                </a:lnTo>
                <a:lnTo>
                  <a:pt x="110" y="60"/>
                </a:lnTo>
                <a:moveTo>
                  <a:pt x="110" y="60"/>
                </a:moveTo>
                <a:lnTo>
                  <a:pt x="110" y="6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272" name="Group 271">
            <a:extLst>
              <a:ext uri="{FF2B5EF4-FFF2-40B4-BE49-F238E27FC236}">
                <a16:creationId xmlns:a16="http://schemas.microsoft.com/office/drawing/2014/main" id="{B517724A-F33F-4B6F-9EC6-D46F5D9AD3BC}"/>
              </a:ext>
            </a:extLst>
          </p:cNvPr>
          <p:cNvGrpSpPr/>
          <p:nvPr/>
        </p:nvGrpSpPr>
        <p:grpSpPr>
          <a:xfrm>
            <a:off x="3160185" y="5293177"/>
            <a:ext cx="412122" cy="234950"/>
            <a:chOff x="779463" y="5594350"/>
            <a:chExt cx="169862" cy="96838"/>
          </a:xfrm>
          <a:solidFill>
            <a:schemeClr val="accent1"/>
          </a:solidFill>
        </p:grpSpPr>
        <p:sp>
          <p:nvSpPr>
            <p:cNvPr id="273" name="Freeform 221">
              <a:extLst>
                <a:ext uri="{FF2B5EF4-FFF2-40B4-BE49-F238E27FC236}">
                  <a16:creationId xmlns:a16="http://schemas.microsoft.com/office/drawing/2014/main" id="{FB4AB201-538A-4E35-B46B-0D7E648693E2}"/>
                </a:ext>
              </a:extLst>
            </p:cNvPr>
            <p:cNvSpPr>
              <a:spLocks noEditPoints="1"/>
            </p:cNvSpPr>
            <p:nvPr/>
          </p:nvSpPr>
          <p:spPr bwMode="auto">
            <a:xfrm>
              <a:off x="779463" y="5594350"/>
              <a:ext cx="76200" cy="96838"/>
            </a:xfrm>
            <a:custGeom>
              <a:avLst/>
              <a:gdLst>
                <a:gd name="T0" fmla="*/ 30 w 48"/>
                <a:gd name="T1" fmla="*/ 25 h 61"/>
                <a:gd name="T2" fmla="*/ 11 w 48"/>
                <a:gd name="T3" fmla="*/ 25 h 61"/>
                <a:gd name="T4" fmla="*/ 11 w 48"/>
                <a:gd name="T5" fmla="*/ 0 h 61"/>
                <a:gd name="T6" fmla="*/ 0 w 48"/>
                <a:gd name="T7" fmla="*/ 0 h 61"/>
                <a:gd name="T8" fmla="*/ 0 w 48"/>
                <a:gd name="T9" fmla="*/ 61 h 61"/>
                <a:gd name="T10" fmla="*/ 11 w 48"/>
                <a:gd name="T11" fmla="*/ 61 h 61"/>
                <a:gd name="T12" fmla="*/ 11 w 48"/>
                <a:gd name="T13" fmla="*/ 36 h 61"/>
                <a:gd name="T14" fmla="*/ 30 w 48"/>
                <a:gd name="T15" fmla="*/ 36 h 61"/>
                <a:gd name="T16" fmla="*/ 30 w 48"/>
                <a:gd name="T17" fmla="*/ 45 h 61"/>
                <a:gd name="T18" fmla="*/ 48 w 48"/>
                <a:gd name="T19" fmla="*/ 31 h 61"/>
                <a:gd name="T20" fmla="*/ 30 w 48"/>
                <a:gd name="T21" fmla="*/ 16 h 61"/>
                <a:gd name="T22" fmla="*/ 30 w 48"/>
                <a:gd name="T23" fmla="*/ 25 h 61"/>
                <a:gd name="T24" fmla="*/ 30 w 48"/>
                <a:gd name="T25" fmla="*/ 25 h 61"/>
                <a:gd name="T26" fmla="*/ 30 w 48"/>
                <a:gd name="T27"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1">
                  <a:moveTo>
                    <a:pt x="30" y="25"/>
                  </a:moveTo>
                  <a:lnTo>
                    <a:pt x="11" y="25"/>
                  </a:lnTo>
                  <a:lnTo>
                    <a:pt x="11" y="0"/>
                  </a:lnTo>
                  <a:lnTo>
                    <a:pt x="0" y="0"/>
                  </a:lnTo>
                  <a:lnTo>
                    <a:pt x="0" y="61"/>
                  </a:lnTo>
                  <a:lnTo>
                    <a:pt x="11" y="61"/>
                  </a:lnTo>
                  <a:lnTo>
                    <a:pt x="11" y="36"/>
                  </a:lnTo>
                  <a:lnTo>
                    <a:pt x="30" y="36"/>
                  </a:lnTo>
                  <a:lnTo>
                    <a:pt x="30" y="45"/>
                  </a:lnTo>
                  <a:lnTo>
                    <a:pt x="48" y="31"/>
                  </a:lnTo>
                  <a:lnTo>
                    <a:pt x="30" y="16"/>
                  </a:lnTo>
                  <a:lnTo>
                    <a:pt x="30" y="25"/>
                  </a:lnTo>
                  <a:close/>
                  <a:moveTo>
                    <a:pt x="30" y="25"/>
                  </a:moveTo>
                  <a:lnTo>
                    <a:pt x="30" y="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4" name="Freeform 222">
              <a:extLst>
                <a:ext uri="{FF2B5EF4-FFF2-40B4-BE49-F238E27FC236}">
                  <a16:creationId xmlns:a16="http://schemas.microsoft.com/office/drawing/2014/main" id="{5AD64F92-C713-45F9-8D76-E34BE81C80B3}"/>
                </a:ext>
              </a:extLst>
            </p:cNvPr>
            <p:cNvSpPr>
              <a:spLocks noEditPoints="1"/>
            </p:cNvSpPr>
            <p:nvPr/>
          </p:nvSpPr>
          <p:spPr bwMode="auto">
            <a:xfrm>
              <a:off x="779463" y="5594350"/>
              <a:ext cx="76200" cy="96838"/>
            </a:xfrm>
            <a:custGeom>
              <a:avLst/>
              <a:gdLst>
                <a:gd name="T0" fmla="*/ 30 w 48"/>
                <a:gd name="T1" fmla="*/ 25 h 61"/>
                <a:gd name="T2" fmla="*/ 11 w 48"/>
                <a:gd name="T3" fmla="*/ 25 h 61"/>
                <a:gd name="T4" fmla="*/ 11 w 48"/>
                <a:gd name="T5" fmla="*/ 0 h 61"/>
                <a:gd name="T6" fmla="*/ 0 w 48"/>
                <a:gd name="T7" fmla="*/ 0 h 61"/>
                <a:gd name="T8" fmla="*/ 0 w 48"/>
                <a:gd name="T9" fmla="*/ 61 h 61"/>
                <a:gd name="T10" fmla="*/ 11 w 48"/>
                <a:gd name="T11" fmla="*/ 61 h 61"/>
                <a:gd name="T12" fmla="*/ 11 w 48"/>
                <a:gd name="T13" fmla="*/ 36 h 61"/>
                <a:gd name="T14" fmla="*/ 30 w 48"/>
                <a:gd name="T15" fmla="*/ 36 h 61"/>
                <a:gd name="T16" fmla="*/ 30 w 48"/>
                <a:gd name="T17" fmla="*/ 45 h 61"/>
                <a:gd name="T18" fmla="*/ 48 w 48"/>
                <a:gd name="T19" fmla="*/ 31 h 61"/>
                <a:gd name="T20" fmla="*/ 30 w 48"/>
                <a:gd name="T21" fmla="*/ 16 h 61"/>
                <a:gd name="T22" fmla="*/ 30 w 48"/>
                <a:gd name="T23" fmla="*/ 25 h 61"/>
                <a:gd name="T24" fmla="*/ 30 w 48"/>
                <a:gd name="T25" fmla="*/ 25 h 61"/>
                <a:gd name="T26" fmla="*/ 30 w 48"/>
                <a:gd name="T27"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1">
                  <a:moveTo>
                    <a:pt x="30" y="25"/>
                  </a:moveTo>
                  <a:lnTo>
                    <a:pt x="11" y="25"/>
                  </a:lnTo>
                  <a:lnTo>
                    <a:pt x="11" y="0"/>
                  </a:lnTo>
                  <a:lnTo>
                    <a:pt x="0" y="0"/>
                  </a:lnTo>
                  <a:lnTo>
                    <a:pt x="0" y="61"/>
                  </a:lnTo>
                  <a:lnTo>
                    <a:pt x="11" y="61"/>
                  </a:lnTo>
                  <a:lnTo>
                    <a:pt x="11" y="36"/>
                  </a:lnTo>
                  <a:lnTo>
                    <a:pt x="30" y="36"/>
                  </a:lnTo>
                  <a:lnTo>
                    <a:pt x="30" y="45"/>
                  </a:lnTo>
                  <a:lnTo>
                    <a:pt x="48" y="31"/>
                  </a:lnTo>
                  <a:lnTo>
                    <a:pt x="30" y="16"/>
                  </a:lnTo>
                  <a:lnTo>
                    <a:pt x="30" y="25"/>
                  </a:lnTo>
                  <a:moveTo>
                    <a:pt x="30" y="25"/>
                  </a:moveTo>
                  <a:lnTo>
                    <a:pt x="30" y="25"/>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5" name="Freeform 223">
              <a:extLst>
                <a:ext uri="{FF2B5EF4-FFF2-40B4-BE49-F238E27FC236}">
                  <a16:creationId xmlns:a16="http://schemas.microsoft.com/office/drawing/2014/main" id="{740F42A5-80DE-4E79-81B1-C521CC6A83B9}"/>
                </a:ext>
              </a:extLst>
            </p:cNvPr>
            <p:cNvSpPr>
              <a:spLocks noEditPoints="1"/>
            </p:cNvSpPr>
            <p:nvPr/>
          </p:nvSpPr>
          <p:spPr bwMode="auto">
            <a:xfrm>
              <a:off x="873125" y="5594350"/>
              <a:ext cx="76200" cy="96838"/>
            </a:xfrm>
            <a:custGeom>
              <a:avLst/>
              <a:gdLst>
                <a:gd name="T0" fmla="*/ 36 w 48"/>
                <a:gd name="T1" fmla="*/ 0 h 61"/>
                <a:gd name="T2" fmla="*/ 36 w 48"/>
                <a:gd name="T3" fmla="*/ 25 h 61"/>
                <a:gd name="T4" fmla="*/ 18 w 48"/>
                <a:gd name="T5" fmla="*/ 25 h 61"/>
                <a:gd name="T6" fmla="*/ 18 w 48"/>
                <a:gd name="T7" fmla="*/ 16 h 61"/>
                <a:gd name="T8" fmla="*/ 0 w 48"/>
                <a:gd name="T9" fmla="*/ 31 h 61"/>
                <a:gd name="T10" fmla="*/ 18 w 48"/>
                <a:gd name="T11" fmla="*/ 45 h 61"/>
                <a:gd name="T12" fmla="*/ 18 w 48"/>
                <a:gd name="T13" fmla="*/ 36 h 61"/>
                <a:gd name="T14" fmla="*/ 36 w 48"/>
                <a:gd name="T15" fmla="*/ 36 h 61"/>
                <a:gd name="T16" fmla="*/ 36 w 48"/>
                <a:gd name="T17" fmla="*/ 61 h 61"/>
                <a:gd name="T18" fmla="*/ 48 w 48"/>
                <a:gd name="T19" fmla="*/ 61 h 61"/>
                <a:gd name="T20" fmla="*/ 48 w 48"/>
                <a:gd name="T21" fmla="*/ 0 h 61"/>
                <a:gd name="T22" fmla="*/ 36 w 48"/>
                <a:gd name="T23" fmla="*/ 0 h 61"/>
                <a:gd name="T24" fmla="*/ 36 w 48"/>
                <a:gd name="T25" fmla="*/ 0 h 61"/>
                <a:gd name="T26" fmla="*/ 36 w 48"/>
                <a:gd name="T2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1">
                  <a:moveTo>
                    <a:pt x="36" y="0"/>
                  </a:moveTo>
                  <a:lnTo>
                    <a:pt x="36" y="25"/>
                  </a:lnTo>
                  <a:lnTo>
                    <a:pt x="18" y="25"/>
                  </a:lnTo>
                  <a:lnTo>
                    <a:pt x="18" y="16"/>
                  </a:lnTo>
                  <a:lnTo>
                    <a:pt x="0" y="31"/>
                  </a:lnTo>
                  <a:lnTo>
                    <a:pt x="18" y="45"/>
                  </a:lnTo>
                  <a:lnTo>
                    <a:pt x="18" y="36"/>
                  </a:lnTo>
                  <a:lnTo>
                    <a:pt x="36" y="36"/>
                  </a:lnTo>
                  <a:lnTo>
                    <a:pt x="36" y="61"/>
                  </a:lnTo>
                  <a:lnTo>
                    <a:pt x="48" y="61"/>
                  </a:lnTo>
                  <a:lnTo>
                    <a:pt x="48" y="0"/>
                  </a:lnTo>
                  <a:lnTo>
                    <a:pt x="36" y="0"/>
                  </a:lnTo>
                  <a:close/>
                  <a:moveTo>
                    <a:pt x="36" y="0"/>
                  </a:moveTo>
                  <a:lnTo>
                    <a:pt x="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6" name="Freeform 224">
              <a:extLst>
                <a:ext uri="{FF2B5EF4-FFF2-40B4-BE49-F238E27FC236}">
                  <a16:creationId xmlns:a16="http://schemas.microsoft.com/office/drawing/2014/main" id="{9101A095-0095-408F-8A00-AC7064703FCC}"/>
                </a:ext>
              </a:extLst>
            </p:cNvPr>
            <p:cNvSpPr>
              <a:spLocks noEditPoints="1"/>
            </p:cNvSpPr>
            <p:nvPr/>
          </p:nvSpPr>
          <p:spPr bwMode="auto">
            <a:xfrm>
              <a:off x="873125" y="5594350"/>
              <a:ext cx="76200" cy="96838"/>
            </a:xfrm>
            <a:custGeom>
              <a:avLst/>
              <a:gdLst>
                <a:gd name="T0" fmla="*/ 36 w 48"/>
                <a:gd name="T1" fmla="*/ 0 h 61"/>
                <a:gd name="T2" fmla="*/ 36 w 48"/>
                <a:gd name="T3" fmla="*/ 25 h 61"/>
                <a:gd name="T4" fmla="*/ 18 w 48"/>
                <a:gd name="T5" fmla="*/ 25 h 61"/>
                <a:gd name="T6" fmla="*/ 18 w 48"/>
                <a:gd name="T7" fmla="*/ 16 h 61"/>
                <a:gd name="T8" fmla="*/ 0 w 48"/>
                <a:gd name="T9" fmla="*/ 31 h 61"/>
                <a:gd name="T10" fmla="*/ 18 w 48"/>
                <a:gd name="T11" fmla="*/ 45 h 61"/>
                <a:gd name="T12" fmla="*/ 18 w 48"/>
                <a:gd name="T13" fmla="*/ 36 h 61"/>
                <a:gd name="T14" fmla="*/ 36 w 48"/>
                <a:gd name="T15" fmla="*/ 36 h 61"/>
                <a:gd name="T16" fmla="*/ 36 w 48"/>
                <a:gd name="T17" fmla="*/ 61 h 61"/>
                <a:gd name="T18" fmla="*/ 48 w 48"/>
                <a:gd name="T19" fmla="*/ 61 h 61"/>
                <a:gd name="T20" fmla="*/ 48 w 48"/>
                <a:gd name="T21" fmla="*/ 0 h 61"/>
                <a:gd name="T22" fmla="*/ 36 w 48"/>
                <a:gd name="T23" fmla="*/ 0 h 61"/>
                <a:gd name="T24" fmla="*/ 36 w 48"/>
                <a:gd name="T25" fmla="*/ 0 h 61"/>
                <a:gd name="T26" fmla="*/ 36 w 48"/>
                <a:gd name="T27"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1">
                  <a:moveTo>
                    <a:pt x="36" y="0"/>
                  </a:moveTo>
                  <a:lnTo>
                    <a:pt x="36" y="25"/>
                  </a:lnTo>
                  <a:lnTo>
                    <a:pt x="18" y="25"/>
                  </a:lnTo>
                  <a:lnTo>
                    <a:pt x="18" y="16"/>
                  </a:lnTo>
                  <a:lnTo>
                    <a:pt x="0" y="31"/>
                  </a:lnTo>
                  <a:lnTo>
                    <a:pt x="18" y="45"/>
                  </a:lnTo>
                  <a:lnTo>
                    <a:pt x="18" y="36"/>
                  </a:lnTo>
                  <a:lnTo>
                    <a:pt x="36" y="36"/>
                  </a:lnTo>
                  <a:lnTo>
                    <a:pt x="36" y="61"/>
                  </a:lnTo>
                  <a:lnTo>
                    <a:pt x="48" y="61"/>
                  </a:lnTo>
                  <a:lnTo>
                    <a:pt x="48" y="0"/>
                  </a:lnTo>
                  <a:lnTo>
                    <a:pt x="36" y="0"/>
                  </a:lnTo>
                  <a:moveTo>
                    <a:pt x="36" y="0"/>
                  </a:moveTo>
                  <a:lnTo>
                    <a:pt x="36"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77" name="Group 276">
            <a:extLst>
              <a:ext uri="{FF2B5EF4-FFF2-40B4-BE49-F238E27FC236}">
                <a16:creationId xmlns:a16="http://schemas.microsoft.com/office/drawing/2014/main" id="{D5E3178D-3042-4271-BCF6-3E4E92BA8CF6}"/>
              </a:ext>
            </a:extLst>
          </p:cNvPr>
          <p:cNvGrpSpPr/>
          <p:nvPr/>
        </p:nvGrpSpPr>
        <p:grpSpPr>
          <a:xfrm>
            <a:off x="11186629" y="3322858"/>
            <a:ext cx="404661" cy="394106"/>
            <a:chOff x="423863" y="5894388"/>
            <a:chExt cx="182562" cy="177800"/>
          </a:xfrm>
          <a:solidFill>
            <a:schemeClr val="accent1"/>
          </a:solidFill>
        </p:grpSpPr>
        <p:sp>
          <p:nvSpPr>
            <p:cNvPr id="278" name="Freeform 225">
              <a:extLst>
                <a:ext uri="{FF2B5EF4-FFF2-40B4-BE49-F238E27FC236}">
                  <a16:creationId xmlns:a16="http://schemas.microsoft.com/office/drawing/2014/main" id="{2406EDF7-3C65-4937-A96F-C1C2B4C40970}"/>
                </a:ext>
              </a:extLst>
            </p:cNvPr>
            <p:cNvSpPr>
              <a:spLocks/>
            </p:cNvSpPr>
            <p:nvPr/>
          </p:nvSpPr>
          <p:spPr bwMode="auto">
            <a:xfrm>
              <a:off x="454025" y="5894388"/>
              <a:ext cx="130175" cy="55563"/>
            </a:xfrm>
            <a:custGeom>
              <a:avLst/>
              <a:gdLst>
                <a:gd name="T0" fmla="*/ 54 w 72"/>
                <a:gd name="T1" fmla="*/ 31 h 31"/>
                <a:gd name="T2" fmla="*/ 72 w 72"/>
                <a:gd name="T3" fmla="*/ 31 h 31"/>
                <a:gd name="T4" fmla="*/ 63 w 72"/>
                <a:gd name="T5" fmla="*/ 16 h 31"/>
                <a:gd name="T6" fmla="*/ 55 w 72"/>
                <a:gd name="T7" fmla="*/ 0 h 31"/>
                <a:gd name="T8" fmla="*/ 48 w 72"/>
                <a:gd name="T9" fmla="*/ 11 h 31"/>
                <a:gd name="T10" fmla="*/ 0 w 72"/>
                <a:gd name="T11" fmla="*/ 26 h 31"/>
                <a:gd name="T12" fmla="*/ 9 w 72"/>
                <a:gd name="T13" fmla="*/ 31 h 31"/>
                <a:gd name="T14" fmla="*/ 42 w 72"/>
                <a:gd name="T15" fmla="*/ 20 h 31"/>
                <a:gd name="T16" fmla="*/ 36 w 72"/>
                <a:gd name="T17" fmla="*/ 30 h 31"/>
                <a:gd name="T18" fmla="*/ 54 w 72"/>
                <a:gd name="T19"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31">
                  <a:moveTo>
                    <a:pt x="54" y="31"/>
                  </a:moveTo>
                  <a:cubicBezTo>
                    <a:pt x="72" y="31"/>
                    <a:pt x="72" y="31"/>
                    <a:pt x="72" y="31"/>
                  </a:cubicBezTo>
                  <a:cubicBezTo>
                    <a:pt x="63" y="16"/>
                    <a:pt x="63" y="16"/>
                    <a:pt x="63" y="16"/>
                  </a:cubicBezTo>
                  <a:cubicBezTo>
                    <a:pt x="55" y="0"/>
                    <a:pt x="55" y="0"/>
                    <a:pt x="55" y="0"/>
                  </a:cubicBezTo>
                  <a:cubicBezTo>
                    <a:pt x="48" y="11"/>
                    <a:pt x="48" y="11"/>
                    <a:pt x="48" y="11"/>
                  </a:cubicBezTo>
                  <a:cubicBezTo>
                    <a:pt x="31" y="3"/>
                    <a:pt x="10" y="9"/>
                    <a:pt x="0" y="26"/>
                  </a:cubicBezTo>
                  <a:cubicBezTo>
                    <a:pt x="9" y="31"/>
                    <a:pt x="9" y="31"/>
                    <a:pt x="9" y="31"/>
                  </a:cubicBezTo>
                  <a:cubicBezTo>
                    <a:pt x="16" y="20"/>
                    <a:pt x="30" y="15"/>
                    <a:pt x="42" y="20"/>
                  </a:cubicBezTo>
                  <a:cubicBezTo>
                    <a:pt x="36" y="30"/>
                    <a:pt x="36" y="30"/>
                    <a:pt x="36" y="30"/>
                  </a:cubicBezTo>
                  <a:lnTo>
                    <a:pt x="54"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9" name="Freeform 226">
              <a:extLst>
                <a:ext uri="{FF2B5EF4-FFF2-40B4-BE49-F238E27FC236}">
                  <a16:creationId xmlns:a16="http://schemas.microsoft.com/office/drawing/2014/main" id="{5E284878-8281-4F18-A30F-B1A425B2FD1A}"/>
                </a:ext>
              </a:extLst>
            </p:cNvPr>
            <p:cNvSpPr>
              <a:spLocks/>
            </p:cNvSpPr>
            <p:nvPr/>
          </p:nvSpPr>
          <p:spPr bwMode="auto">
            <a:xfrm>
              <a:off x="522288" y="5959475"/>
              <a:ext cx="84137" cy="107950"/>
            </a:xfrm>
            <a:custGeom>
              <a:avLst/>
              <a:gdLst>
                <a:gd name="T0" fmla="*/ 44 w 47"/>
                <a:gd name="T1" fmla="*/ 29 h 60"/>
                <a:gd name="T2" fmla="*/ 41 w 47"/>
                <a:gd name="T3" fmla="*/ 0 h 60"/>
                <a:gd name="T4" fmla="*/ 31 w 47"/>
                <a:gd name="T5" fmla="*/ 5 h 60"/>
                <a:gd name="T6" fmla="*/ 34 w 47"/>
                <a:gd name="T7" fmla="*/ 26 h 60"/>
                <a:gd name="T8" fmla="*/ 25 w 47"/>
                <a:gd name="T9" fmla="*/ 39 h 60"/>
                <a:gd name="T10" fmla="*/ 19 w 47"/>
                <a:gd name="T11" fmla="*/ 29 h 60"/>
                <a:gd name="T12" fmla="*/ 9 w 47"/>
                <a:gd name="T13" fmla="*/ 44 h 60"/>
                <a:gd name="T14" fmla="*/ 0 w 47"/>
                <a:gd name="T15" fmla="*/ 59 h 60"/>
                <a:gd name="T16" fmla="*/ 18 w 47"/>
                <a:gd name="T17" fmla="*/ 60 h 60"/>
                <a:gd name="T18" fmla="*/ 36 w 47"/>
                <a:gd name="T19" fmla="*/ 60 h 60"/>
                <a:gd name="T20" fmla="*/ 30 w 47"/>
                <a:gd name="T21" fmla="*/ 49 h 60"/>
                <a:gd name="T22" fmla="*/ 44 w 47"/>
                <a:gd name="T23" fmla="*/ 2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60">
                  <a:moveTo>
                    <a:pt x="44" y="29"/>
                  </a:moveTo>
                  <a:cubicBezTo>
                    <a:pt x="47" y="19"/>
                    <a:pt x="46" y="9"/>
                    <a:pt x="41" y="0"/>
                  </a:cubicBezTo>
                  <a:cubicBezTo>
                    <a:pt x="31" y="5"/>
                    <a:pt x="31" y="5"/>
                    <a:pt x="31" y="5"/>
                  </a:cubicBezTo>
                  <a:cubicBezTo>
                    <a:pt x="35" y="12"/>
                    <a:pt x="36" y="19"/>
                    <a:pt x="34" y="26"/>
                  </a:cubicBezTo>
                  <a:cubicBezTo>
                    <a:pt x="32" y="31"/>
                    <a:pt x="29" y="36"/>
                    <a:pt x="25" y="39"/>
                  </a:cubicBezTo>
                  <a:cubicBezTo>
                    <a:pt x="19" y="29"/>
                    <a:pt x="19" y="29"/>
                    <a:pt x="19" y="29"/>
                  </a:cubicBezTo>
                  <a:cubicBezTo>
                    <a:pt x="9" y="44"/>
                    <a:pt x="9" y="44"/>
                    <a:pt x="9" y="44"/>
                  </a:cubicBezTo>
                  <a:cubicBezTo>
                    <a:pt x="0" y="59"/>
                    <a:pt x="0" y="59"/>
                    <a:pt x="0" y="59"/>
                  </a:cubicBezTo>
                  <a:cubicBezTo>
                    <a:pt x="18" y="60"/>
                    <a:pt x="18" y="60"/>
                    <a:pt x="18" y="60"/>
                  </a:cubicBezTo>
                  <a:cubicBezTo>
                    <a:pt x="36" y="60"/>
                    <a:pt x="36" y="60"/>
                    <a:pt x="36" y="60"/>
                  </a:cubicBezTo>
                  <a:cubicBezTo>
                    <a:pt x="30" y="49"/>
                    <a:pt x="30" y="49"/>
                    <a:pt x="30" y="49"/>
                  </a:cubicBezTo>
                  <a:cubicBezTo>
                    <a:pt x="36" y="44"/>
                    <a:pt x="41" y="37"/>
                    <a:pt x="4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0" name="Freeform 227">
              <a:extLst>
                <a:ext uri="{FF2B5EF4-FFF2-40B4-BE49-F238E27FC236}">
                  <a16:creationId xmlns:a16="http://schemas.microsoft.com/office/drawing/2014/main" id="{46F2835E-335E-42BE-AF54-573925E0ADE6}"/>
                </a:ext>
              </a:extLst>
            </p:cNvPr>
            <p:cNvSpPr>
              <a:spLocks/>
            </p:cNvSpPr>
            <p:nvPr/>
          </p:nvSpPr>
          <p:spPr bwMode="auto">
            <a:xfrm>
              <a:off x="423863" y="5956300"/>
              <a:ext cx="87312" cy="115888"/>
            </a:xfrm>
            <a:custGeom>
              <a:avLst/>
              <a:gdLst>
                <a:gd name="T0" fmla="*/ 30 w 49"/>
                <a:gd name="T1" fmla="*/ 46 h 65"/>
                <a:gd name="T2" fmla="*/ 23 w 49"/>
                <a:gd name="T3" fmla="*/ 31 h 65"/>
                <a:gd name="T4" fmla="*/ 36 w 49"/>
                <a:gd name="T5" fmla="*/ 32 h 65"/>
                <a:gd name="T6" fmla="*/ 27 w 49"/>
                <a:gd name="T7" fmla="*/ 16 h 65"/>
                <a:gd name="T8" fmla="*/ 19 w 49"/>
                <a:gd name="T9" fmla="*/ 0 h 65"/>
                <a:gd name="T10" fmla="*/ 9 w 49"/>
                <a:gd name="T11" fmla="*/ 15 h 65"/>
                <a:gd name="T12" fmla="*/ 0 w 49"/>
                <a:gd name="T13" fmla="*/ 30 h 65"/>
                <a:gd name="T14" fmla="*/ 13 w 49"/>
                <a:gd name="T15" fmla="*/ 31 h 65"/>
                <a:gd name="T16" fmla="*/ 23 w 49"/>
                <a:gd name="T17" fmla="*/ 53 h 65"/>
                <a:gd name="T18" fmla="*/ 49 w 49"/>
                <a:gd name="T19" fmla="*/ 65 h 65"/>
                <a:gd name="T20" fmla="*/ 49 w 49"/>
                <a:gd name="T21" fmla="*/ 55 h 65"/>
                <a:gd name="T22" fmla="*/ 30 w 49"/>
                <a:gd name="T23" fmla="*/ 4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65">
                  <a:moveTo>
                    <a:pt x="30" y="46"/>
                  </a:moveTo>
                  <a:cubicBezTo>
                    <a:pt x="27" y="42"/>
                    <a:pt x="24" y="37"/>
                    <a:pt x="23" y="31"/>
                  </a:cubicBezTo>
                  <a:cubicBezTo>
                    <a:pt x="36" y="32"/>
                    <a:pt x="36" y="32"/>
                    <a:pt x="36" y="32"/>
                  </a:cubicBezTo>
                  <a:cubicBezTo>
                    <a:pt x="27" y="16"/>
                    <a:pt x="27" y="16"/>
                    <a:pt x="27" y="16"/>
                  </a:cubicBezTo>
                  <a:cubicBezTo>
                    <a:pt x="19" y="0"/>
                    <a:pt x="19" y="0"/>
                    <a:pt x="19" y="0"/>
                  </a:cubicBezTo>
                  <a:cubicBezTo>
                    <a:pt x="9" y="15"/>
                    <a:pt x="9" y="15"/>
                    <a:pt x="9" y="15"/>
                  </a:cubicBezTo>
                  <a:cubicBezTo>
                    <a:pt x="0" y="30"/>
                    <a:pt x="0" y="30"/>
                    <a:pt x="0" y="30"/>
                  </a:cubicBezTo>
                  <a:cubicBezTo>
                    <a:pt x="13" y="31"/>
                    <a:pt x="13" y="31"/>
                    <a:pt x="13" y="31"/>
                  </a:cubicBezTo>
                  <a:cubicBezTo>
                    <a:pt x="13" y="39"/>
                    <a:pt x="17" y="47"/>
                    <a:pt x="23" y="53"/>
                  </a:cubicBezTo>
                  <a:cubicBezTo>
                    <a:pt x="29" y="60"/>
                    <a:pt x="39" y="65"/>
                    <a:pt x="49" y="65"/>
                  </a:cubicBezTo>
                  <a:cubicBezTo>
                    <a:pt x="49" y="55"/>
                    <a:pt x="49" y="55"/>
                    <a:pt x="49" y="55"/>
                  </a:cubicBezTo>
                  <a:cubicBezTo>
                    <a:pt x="42" y="54"/>
                    <a:pt x="35" y="51"/>
                    <a:pt x="30"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81" name="Group 280">
            <a:extLst>
              <a:ext uri="{FF2B5EF4-FFF2-40B4-BE49-F238E27FC236}">
                <a16:creationId xmlns:a16="http://schemas.microsoft.com/office/drawing/2014/main" id="{794B6C1B-C81E-4CA6-B288-C5DCCD1F2F60}"/>
              </a:ext>
            </a:extLst>
          </p:cNvPr>
          <p:cNvGrpSpPr/>
          <p:nvPr/>
        </p:nvGrpSpPr>
        <p:grpSpPr>
          <a:xfrm>
            <a:off x="6710480" y="5271924"/>
            <a:ext cx="348712" cy="300906"/>
            <a:chOff x="755650" y="4862513"/>
            <a:chExt cx="196850" cy="169863"/>
          </a:xfrm>
          <a:solidFill>
            <a:schemeClr val="accent1"/>
          </a:solidFill>
        </p:grpSpPr>
        <p:sp>
          <p:nvSpPr>
            <p:cNvPr id="282" name="Freeform 228">
              <a:extLst>
                <a:ext uri="{FF2B5EF4-FFF2-40B4-BE49-F238E27FC236}">
                  <a16:creationId xmlns:a16="http://schemas.microsoft.com/office/drawing/2014/main" id="{6B1807EA-71D0-4EBD-8257-72B14E41B7B5}"/>
                </a:ext>
              </a:extLst>
            </p:cNvPr>
            <p:cNvSpPr>
              <a:spLocks/>
            </p:cNvSpPr>
            <p:nvPr/>
          </p:nvSpPr>
          <p:spPr bwMode="auto">
            <a:xfrm>
              <a:off x="755650" y="4983163"/>
              <a:ext cx="57150" cy="49213"/>
            </a:xfrm>
            <a:custGeom>
              <a:avLst/>
              <a:gdLst>
                <a:gd name="T0" fmla="*/ 0 w 36"/>
                <a:gd name="T1" fmla="*/ 31 h 31"/>
                <a:gd name="T2" fmla="*/ 36 w 36"/>
                <a:gd name="T3" fmla="*/ 31 h 31"/>
                <a:gd name="T4" fmla="*/ 19 w 36"/>
                <a:gd name="T5" fmla="*/ 0 h 31"/>
                <a:gd name="T6" fmla="*/ 0 w 36"/>
                <a:gd name="T7" fmla="*/ 31 h 31"/>
              </a:gdLst>
              <a:ahLst/>
              <a:cxnLst>
                <a:cxn ang="0">
                  <a:pos x="T0" y="T1"/>
                </a:cxn>
                <a:cxn ang="0">
                  <a:pos x="T2" y="T3"/>
                </a:cxn>
                <a:cxn ang="0">
                  <a:pos x="T4" y="T5"/>
                </a:cxn>
                <a:cxn ang="0">
                  <a:pos x="T6" y="T7"/>
                </a:cxn>
              </a:cxnLst>
              <a:rect l="0" t="0" r="r" b="b"/>
              <a:pathLst>
                <a:path w="36" h="31">
                  <a:moveTo>
                    <a:pt x="0" y="31"/>
                  </a:moveTo>
                  <a:lnTo>
                    <a:pt x="36" y="31"/>
                  </a:lnTo>
                  <a:lnTo>
                    <a:pt x="19" y="0"/>
                  </a:lnTo>
                  <a:lnTo>
                    <a:pt x="0"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3" name="Freeform 229">
              <a:extLst>
                <a:ext uri="{FF2B5EF4-FFF2-40B4-BE49-F238E27FC236}">
                  <a16:creationId xmlns:a16="http://schemas.microsoft.com/office/drawing/2014/main" id="{D8B2F914-6165-4BAF-8B24-C78053B99EBC}"/>
                </a:ext>
              </a:extLst>
            </p:cNvPr>
            <p:cNvSpPr>
              <a:spLocks/>
            </p:cNvSpPr>
            <p:nvPr/>
          </p:nvSpPr>
          <p:spPr bwMode="auto">
            <a:xfrm>
              <a:off x="896938" y="4983163"/>
              <a:ext cx="55562" cy="49213"/>
            </a:xfrm>
            <a:custGeom>
              <a:avLst/>
              <a:gdLst>
                <a:gd name="T0" fmla="*/ 17 w 35"/>
                <a:gd name="T1" fmla="*/ 0 h 31"/>
                <a:gd name="T2" fmla="*/ 0 w 35"/>
                <a:gd name="T3" fmla="*/ 31 h 31"/>
                <a:gd name="T4" fmla="*/ 35 w 35"/>
                <a:gd name="T5" fmla="*/ 31 h 31"/>
                <a:gd name="T6" fmla="*/ 17 w 35"/>
                <a:gd name="T7" fmla="*/ 0 h 31"/>
              </a:gdLst>
              <a:ahLst/>
              <a:cxnLst>
                <a:cxn ang="0">
                  <a:pos x="T0" y="T1"/>
                </a:cxn>
                <a:cxn ang="0">
                  <a:pos x="T2" y="T3"/>
                </a:cxn>
                <a:cxn ang="0">
                  <a:pos x="T4" y="T5"/>
                </a:cxn>
                <a:cxn ang="0">
                  <a:pos x="T6" y="T7"/>
                </a:cxn>
              </a:cxnLst>
              <a:rect l="0" t="0" r="r" b="b"/>
              <a:pathLst>
                <a:path w="35" h="31">
                  <a:moveTo>
                    <a:pt x="17" y="0"/>
                  </a:moveTo>
                  <a:lnTo>
                    <a:pt x="0" y="31"/>
                  </a:lnTo>
                  <a:lnTo>
                    <a:pt x="35" y="31"/>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4" name="Freeform 230">
              <a:extLst>
                <a:ext uri="{FF2B5EF4-FFF2-40B4-BE49-F238E27FC236}">
                  <a16:creationId xmlns:a16="http://schemas.microsoft.com/office/drawing/2014/main" id="{A619E49B-B13B-4ED5-8216-042ED7421DC4}"/>
                </a:ext>
              </a:extLst>
            </p:cNvPr>
            <p:cNvSpPr>
              <a:spLocks/>
            </p:cNvSpPr>
            <p:nvPr/>
          </p:nvSpPr>
          <p:spPr bwMode="auto">
            <a:xfrm>
              <a:off x="792163" y="4862513"/>
              <a:ext cx="123825" cy="155575"/>
            </a:xfrm>
            <a:custGeom>
              <a:avLst/>
              <a:gdLst>
                <a:gd name="T0" fmla="*/ 0 w 78"/>
                <a:gd name="T1" fmla="*/ 85 h 98"/>
                <a:gd name="T2" fmla="*/ 8 w 78"/>
                <a:gd name="T3" fmla="*/ 98 h 98"/>
                <a:gd name="T4" fmla="*/ 40 w 78"/>
                <a:gd name="T5" fmla="*/ 80 h 98"/>
                <a:gd name="T6" fmla="*/ 70 w 78"/>
                <a:gd name="T7" fmla="*/ 98 h 98"/>
                <a:gd name="T8" fmla="*/ 78 w 78"/>
                <a:gd name="T9" fmla="*/ 85 h 98"/>
                <a:gd name="T10" fmla="*/ 46 w 78"/>
                <a:gd name="T11" fmla="*/ 67 h 98"/>
                <a:gd name="T12" fmla="*/ 46 w 78"/>
                <a:gd name="T13" fmla="*/ 30 h 98"/>
                <a:gd name="T14" fmla="*/ 57 w 78"/>
                <a:gd name="T15" fmla="*/ 30 h 98"/>
                <a:gd name="T16" fmla="*/ 40 w 78"/>
                <a:gd name="T17" fmla="*/ 0 h 98"/>
                <a:gd name="T18" fmla="*/ 22 w 78"/>
                <a:gd name="T19" fmla="*/ 30 h 98"/>
                <a:gd name="T20" fmla="*/ 32 w 78"/>
                <a:gd name="T21" fmla="*/ 30 h 98"/>
                <a:gd name="T22" fmla="*/ 32 w 78"/>
                <a:gd name="T23" fmla="*/ 67 h 98"/>
                <a:gd name="T24" fmla="*/ 0 w 78"/>
                <a:gd name="T25" fmla="*/ 8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8">
                  <a:moveTo>
                    <a:pt x="0" y="85"/>
                  </a:moveTo>
                  <a:lnTo>
                    <a:pt x="8" y="98"/>
                  </a:lnTo>
                  <a:lnTo>
                    <a:pt x="40" y="80"/>
                  </a:lnTo>
                  <a:lnTo>
                    <a:pt x="70" y="98"/>
                  </a:lnTo>
                  <a:lnTo>
                    <a:pt x="78" y="85"/>
                  </a:lnTo>
                  <a:lnTo>
                    <a:pt x="46" y="67"/>
                  </a:lnTo>
                  <a:lnTo>
                    <a:pt x="46" y="30"/>
                  </a:lnTo>
                  <a:lnTo>
                    <a:pt x="57" y="30"/>
                  </a:lnTo>
                  <a:lnTo>
                    <a:pt x="40" y="0"/>
                  </a:lnTo>
                  <a:lnTo>
                    <a:pt x="22" y="30"/>
                  </a:lnTo>
                  <a:lnTo>
                    <a:pt x="32" y="30"/>
                  </a:lnTo>
                  <a:lnTo>
                    <a:pt x="32" y="67"/>
                  </a:lnTo>
                  <a:lnTo>
                    <a:pt x="0" y="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85" name="Group 284">
            <a:extLst>
              <a:ext uri="{FF2B5EF4-FFF2-40B4-BE49-F238E27FC236}">
                <a16:creationId xmlns:a16="http://schemas.microsoft.com/office/drawing/2014/main" id="{CCB7A88C-8B40-4497-AA1F-135BAEB8EEB9}"/>
              </a:ext>
            </a:extLst>
          </p:cNvPr>
          <p:cNvGrpSpPr/>
          <p:nvPr/>
        </p:nvGrpSpPr>
        <p:grpSpPr>
          <a:xfrm>
            <a:off x="7590020" y="1568141"/>
            <a:ext cx="379148" cy="379148"/>
            <a:chOff x="1495425" y="692150"/>
            <a:chExt cx="122238" cy="122238"/>
          </a:xfrm>
          <a:solidFill>
            <a:schemeClr val="accent1"/>
          </a:solidFill>
        </p:grpSpPr>
        <p:sp>
          <p:nvSpPr>
            <p:cNvPr id="286" name="Freeform 231">
              <a:extLst>
                <a:ext uri="{FF2B5EF4-FFF2-40B4-BE49-F238E27FC236}">
                  <a16:creationId xmlns:a16="http://schemas.microsoft.com/office/drawing/2014/main" id="{372BB4F5-815D-436B-95BB-BFB80CA5B479}"/>
                </a:ext>
              </a:extLst>
            </p:cNvPr>
            <p:cNvSpPr>
              <a:spLocks noEditPoints="1"/>
            </p:cNvSpPr>
            <p:nvPr/>
          </p:nvSpPr>
          <p:spPr bwMode="auto">
            <a:xfrm>
              <a:off x="1495425" y="692150"/>
              <a:ext cx="65087" cy="122238"/>
            </a:xfrm>
            <a:custGeom>
              <a:avLst/>
              <a:gdLst>
                <a:gd name="T0" fmla="*/ 13 w 41"/>
                <a:gd name="T1" fmla="*/ 68 h 77"/>
                <a:gd name="T2" fmla="*/ 13 w 41"/>
                <a:gd name="T3" fmla="*/ 77 h 77"/>
                <a:gd name="T4" fmla="*/ 27 w 41"/>
                <a:gd name="T5" fmla="*/ 77 h 77"/>
                <a:gd name="T6" fmla="*/ 27 w 41"/>
                <a:gd name="T7" fmla="*/ 68 h 77"/>
                <a:gd name="T8" fmla="*/ 13 w 41"/>
                <a:gd name="T9" fmla="*/ 68 h 77"/>
                <a:gd name="T10" fmla="*/ 0 w 41"/>
                <a:gd name="T11" fmla="*/ 0 h 77"/>
                <a:gd name="T12" fmla="*/ 0 w 41"/>
                <a:gd name="T13" fmla="*/ 77 h 77"/>
                <a:gd name="T14" fmla="*/ 9 w 41"/>
                <a:gd name="T15" fmla="*/ 77 h 77"/>
                <a:gd name="T16" fmla="*/ 9 w 41"/>
                <a:gd name="T17" fmla="*/ 63 h 77"/>
                <a:gd name="T18" fmla="*/ 31 w 41"/>
                <a:gd name="T19" fmla="*/ 63 h 77"/>
                <a:gd name="T20" fmla="*/ 31 w 41"/>
                <a:gd name="T21" fmla="*/ 77 h 77"/>
                <a:gd name="T22" fmla="*/ 41 w 41"/>
                <a:gd name="T23" fmla="*/ 77 h 77"/>
                <a:gd name="T24" fmla="*/ 41 w 41"/>
                <a:gd name="T25" fmla="*/ 0 h 77"/>
                <a:gd name="T26" fmla="*/ 0 w 41"/>
                <a:gd name="T27" fmla="*/ 0 h 77"/>
                <a:gd name="T28" fmla="*/ 13 w 41"/>
                <a:gd name="T29" fmla="*/ 18 h 77"/>
                <a:gd name="T30" fmla="*/ 18 w 41"/>
                <a:gd name="T31" fmla="*/ 18 h 77"/>
                <a:gd name="T32" fmla="*/ 18 w 41"/>
                <a:gd name="T33" fmla="*/ 13 h 77"/>
                <a:gd name="T34" fmla="*/ 22 w 41"/>
                <a:gd name="T35" fmla="*/ 13 h 77"/>
                <a:gd name="T36" fmla="*/ 22 w 41"/>
                <a:gd name="T37" fmla="*/ 18 h 77"/>
                <a:gd name="T38" fmla="*/ 27 w 41"/>
                <a:gd name="T39" fmla="*/ 18 h 77"/>
                <a:gd name="T40" fmla="*/ 27 w 41"/>
                <a:gd name="T41" fmla="*/ 22 h 77"/>
                <a:gd name="T42" fmla="*/ 22 w 41"/>
                <a:gd name="T43" fmla="*/ 22 h 77"/>
                <a:gd name="T44" fmla="*/ 22 w 41"/>
                <a:gd name="T45" fmla="*/ 27 h 77"/>
                <a:gd name="T46" fmla="*/ 18 w 41"/>
                <a:gd name="T47" fmla="*/ 27 h 77"/>
                <a:gd name="T48" fmla="*/ 18 w 41"/>
                <a:gd name="T49" fmla="*/ 22 h 77"/>
                <a:gd name="T50" fmla="*/ 13 w 41"/>
                <a:gd name="T51" fmla="*/ 22 h 77"/>
                <a:gd name="T52" fmla="*/ 13 w 41"/>
                <a:gd name="T53" fmla="*/ 18 h 77"/>
                <a:gd name="T54" fmla="*/ 31 w 41"/>
                <a:gd name="T55" fmla="*/ 59 h 77"/>
                <a:gd name="T56" fmla="*/ 9 w 41"/>
                <a:gd name="T57" fmla="*/ 59 h 77"/>
                <a:gd name="T58" fmla="*/ 9 w 41"/>
                <a:gd name="T59" fmla="*/ 54 h 77"/>
                <a:gd name="T60" fmla="*/ 31 w 41"/>
                <a:gd name="T61" fmla="*/ 54 h 77"/>
                <a:gd name="T62" fmla="*/ 31 w 41"/>
                <a:gd name="T63" fmla="*/ 59 h 77"/>
                <a:gd name="T64" fmla="*/ 31 w 41"/>
                <a:gd name="T65" fmla="*/ 50 h 77"/>
                <a:gd name="T66" fmla="*/ 9 w 41"/>
                <a:gd name="T67" fmla="*/ 50 h 77"/>
                <a:gd name="T68" fmla="*/ 9 w 41"/>
                <a:gd name="T69" fmla="*/ 45 h 77"/>
                <a:gd name="T70" fmla="*/ 31 w 41"/>
                <a:gd name="T71" fmla="*/ 45 h 77"/>
                <a:gd name="T72" fmla="*/ 31 w 41"/>
                <a:gd name="T73" fmla="*/ 50 h 77"/>
                <a:gd name="T74" fmla="*/ 31 w 41"/>
                <a:gd name="T75" fmla="*/ 40 h 77"/>
                <a:gd name="T76" fmla="*/ 9 w 41"/>
                <a:gd name="T77" fmla="*/ 40 h 77"/>
                <a:gd name="T78" fmla="*/ 9 w 41"/>
                <a:gd name="T79" fmla="*/ 36 h 77"/>
                <a:gd name="T80" fmla="*/ 31 w 41"/>
                <a:gd name="T81" fmla="*/ 36 h 77"/>
                <a:gd name="T82" fmla="*/ 31 w 41"/>
                <a:gd name="T83" fmla="*/ 4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1" h="77">
                  <a:moveTo>
                    <a:pt x="13" y="68"/>
                  </a:moveTo>
                  <a:lnTo>
                    <a:pt x="13" y="77"/>
                  </a:lnTo>
                  <a:lnTo>
                    <a:pt x="27" y="77"/>
                  </a:lnTo>
                  <a:lnTo>
                    <a:pt x="27" y="68"/>
                  </a:lnTo>
                  <a:lnTo>
                    <a:pt x="13" y="68"/>
                  </a:lnTo>
                  <a:close/>
                  <a:moveTo>
                    <a:pt x="0" y="0"/>
                  </a:moveTo>
                  <a:lnTo>
                    <a:pt x="0" y="77"/>
                  </a:lnTo>
                  <a:lnTo>
                    <a:pt x="9" y="77"/>
                  </a:lnTo>
                  <a:lnTo>
                    <a:pt x="9" y="63"/>
                  </a:lnTo>
                  <a:lnTo>
                    <a:pt x="31" y="63"/>
                  </a:lnTo>
                  <a:lnTo>
                    <a:pt x="31" y="77"/>
                  </a:lnTo>
                  <a:lnTo>
                    <a:pt x="41" y="77"/>
                  </a:lnTo>
                  <a:lnTo>
                    <a:pt x="41" y="0"/>
                  </a:lnTo>
                  <a:lnTo>
                    <a:pt x="0" y="0"/>
                  </a:lnTo>
                  <a:close/>
                  <a:moveTo>
                    <a:pt x="13" y="18"/>
                  </a:moveTo>
                  <a:lnTo>
                    <a:pt x="18" y="18"/>
                  </a:lnTo>
                  <a:lnTo>
                    <a:pt x="18" y="13"/>
                  </a:lnTo>
                  <a:lnTo>
                    <a:pt x="22" y="13"/>
                  </a:lnTo>
                  <a:lnTo>
                    <a:pt x="22" y="18"/>
                  </a:lnTo>
                  <a:lnTo>
                    <a:pt x="27" y="18"/>
                  </a:lnTo>
                  <a:lnTo>
                    <a:pt x="27" y="22"/>
                  </a:lnTo>
                  <a:lnTo>
                    <a:pt x="22" y="22"/>
                  </a:lnTo>
                  <a:lnTo>
                    <a:pt x="22" y="27"/>
                  </a:lnTo>
                  <a:lnTo>
                    <a:pt x="18" y="27"/>
                  </a:lnTo>
                  <a:lnTo>
                    <a:pt x="18" y="22"/>
                  </a:lnTo>
                  <a:lnTo>
                    <a:pt x="13" y="22"/>
                  </a:lnTo>
                  <a:lnTo>
                    <a:pt x="13" y="18"/>
                  </a:lnTo>
                  <a:close/>
                  <a:moveTo>
                    <a:pt x="31" y="59"/>
                  </a:moveTo>
                  <a:lnTo>
                    <a:pt x="9" y="59"/>
                  </a:lnTo>
                  <a:lnTo>
                    <a:pt x="9" y="54"/>
                  </a:lnTo>
                  <a:lnTo>
                    <a:pt x="31" y="54"/>
                  </a:lnTo>
                  <a:lnTo>
                    <a:pt x="31" y="59"/>
                  </a:lnTo>
                  <a:close/>
                  <a:moveTo>
                    <a:pt x="31" y="50"/>
                  </a:moveTo>
                  <a:lnTo>
                    <a:pt x="9" y="50"/>
                  </a:lnTo>
                  <a:lnTo>
                    <a:pt x="9" y="45"/>
                  </a:lnTo>
                  <a:lnTo>
                    <a:pt x="31" y="45"/>
                  </a:lnTo>
                  <a:lnTo>
                    <a:pt x="31" y="50"/>
                  </a:lnTo>
                  <a:close/>
                  <a:moveTo>
                    <a:pt x="31" y="40"/>
                  </a:moveTo>
                  <a:lnTo>
                    <a:pt x="9" y="40"/>
                  </a:lnTo>
                  <a:lnTo>
                    <a:pt x="9" y="36"/>
                  </a:lnTo>
                  <a:lnTo>
                    <a:pt x="31" y="36"/>
                  </a:lnTo>
                  <a:lnTo>
                    <a:pt x="31" y="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7" name="Freeform 232">
              <a:extLst>
                <a:ext uri="{FF2B5EF4-FFF2-40B4-BE49-F238E27FC236}">
                  <a16:creationId xmlns:a16="http://schemas.microsoft.com/office/drawing/2014/main" id="{05B16C1D-4B42-488D-81B1-9A4701B3D018}"/>
                </a:ext>
              </a:extLst>
            </p:cNvPr>
            <p:cNvSpPr>
              <a:spLocks noEditPoints="1"/>
            </p:cNvSpPr>
            <p:nvPr/>
          </p:nvSpPr>
          <p:spPr bwMode="auto">
            <a:xfrm>
              <a:off x="1566863" y="749300"/>
              <a:ext cx="50800" cy="65088"/>
            </a:xfrm>
            <a:custGeom>
              <a:avLst/>
              <a:gdLst>
                <a:gd name="T0" fmla="*/ 0 w 32"/>
                <a:gd name="T1" fmla="*/ 0 h 41"/>
                <a:gd name="T2" fmla="*/ 0 w 32"/>
                <a:gd name="T3" fmla="*/ 41 h 41"/>
                <a:gd name="T4" fmla="*/ 32 w 32"/>
                <a:gd name="T5" fmla="*/ 41 h 41"/>
                <a:gd name="T6" fmla="*/ 32 w 32"/>
                <a:gd name="T7" fmla="*/ 0 h 41"/>
                <a:gd name="T8" fmla="*/ 0 w 32"/>
                <a:gd name="T9" fmla="*/ 0 h 41"/>
                <a:gd name="T10" fmla="*/ 14 w 32"/>
                <a:gd name="T11" fmla="*/ 32 h 41"/>
                <a:gd name="T12" fmla="*/ 5 w 32"/>
                <a:gd name="T13" fmla="*/ 32 h 41"/>
                <a:gd name="T14" fmla="*/ 5 w 32"/>
                <a:gd name="T15" fmla="*/ 27 h 41"/>
                <a:gd name="T16" fmla="*/ 14 w 32"/>
                <a:gd name="T17" fmla="*/ 27 h 41"/>
                <a:gd name="T18" fmla="*/ 14 w 32"/>
                <a:gd name="T19" fmla="*/ 32 h 41"/>
                <a:gd name="T20" fmla="*/ 14 w 32"/>
                <a:gd name="T21" fmla="*/ 23 h 41"/>
                <a:gd name="T22" fmla="*/ 5 w 32"/>
                <a:gd name="T23" fmla="*/ 23 h 41"/>
                <a:gd name="T24" fmla="*/ 5 w 32"/>
                <a:gd name="T25" fmla="*/ 18 h 41"/>
                <a:gd name="T26" fmla="*/ 14 w 32"/>
                <a:gd name="T27" fmla="*/ 18 h 41"/>
                <a:gd name="T28" fmla="*/ 14 w 32"/>
                <a:gd name="T29" fmla="*/ 23 h 41"/>
                <a:gd name="T30" fmla="*/ 14 w 32"/>
                <a:gd name="T31" fmla="*/ 14 h 41"/>
                <a:gd name="T32" fmla="*/ 5 w 32"/>
                <a:gd name="T33" fmla="*/ 14 h 41"/>
                <a:gd name="T34" fmla="*/ 5 w 32"/>
                <a:gd name="T35" fmla="*/ 9 h 41"/>
                <a:gd name="T36" fmla="*/ 14 w 32"/>
                <a:gd name="T37" fmla="*/ 9 h 41"/>
                <a:gd name="T38" fmla="*/ 14 w 32"/>
                <a:gd name="T39" fmla="*/ 14 h 41"/>
                <a:gd name="T40" fmla="*/ 27 w 32"/>
                <a:gd name="T41" fmla="*/ 32 h 41"/>
                <a:gd name="T42" fmla="*/ 18 w 32"/>
                <a:gd name="T43" fmla="*/ 32 h 41"/>
                <a:gd name="T44" fmla="*/ 18 w 32"/>
                <a:gd name="T45" fmla="*/ 27 h 41"/>
                <a:gd name="T46" fmla="*/ 27 w 32"/>
                <a:gd name="T47" fmla="*/ 27 h 41"/>
                <a:gd name="T48" fmla="*/ 27 w 32"/>
                <a:gd name="T49" fmla="*/ 32 h 41"/>
                <a:gd name="T50" fmla="*/ 27 w 32"/>
                <a:gd name="T51" fmla="*/ 23 h 41"/>
                <a:gd name="T52" fmla="*/ 18 w 32"/>
                <a:gd name="T53" fmla="*/ 23 h 41"/>
                <a:gd name="T54" fmla="*/ 18 w 32"/>
                <a:gd name="T55" fmla="*/ 18 h 41"/>
                <a:gd name="T56" fmla="*/ 27 w 32"/>
                <a:gd name="T57" fmla="*/ 18 h 41"/>
                <a:gd name="T58" fmla="*/ 27 w 32"/>
                <a:gd name="T59" fmla="*/ 23 h 41"/>
                <a:gd name="T60" fmla="*/ 27 w 32"/>
                <a:gd name="T61" fmla="*/ 14 h 41"/>
                <a:gd name="T62" fmla="*/ 18 w 32"/>
                <a:gd name="T63" fmla="*/ 14 h 41"/>
                <a:gd name="T64" fmla="*/ 18 w 32"/>
                <a:gd name="T65" fmla="*/ 9 h 41"/>
                <a:gd name="T66" fmla="*/ 27 w 32"/>
                <a:gd name="T67" fmla="*/ 9 h 41"/>
                <a:gd name="T68" fmla="*/ 27 w 32"/>
                <a:gd name="T69" fmla="*/ 1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2" h="41">
                  <a:moveTo>
                    <a:pt x="0" y="0"/>
                  </a:moveTo>
                  <a:lnTo>
                    <a:pt x="0" y="41"/>
                  </a:lnTo>
                  <a:lnTo>
                    <a:pt x="32" y="41"/>
                  </a:lnTo>
                  <a:lnTo>
                    <a:pt x="32" y="0"/>
                  </a:lnTo>
                  <a:lnTo>
                    <a:pt x="0" y="0"/>
                  </a:lnTo>
                  <a:close/>
                  <a:moveTo>
                    <a:pt x="14" y="32"/>
                  </a:moveTo>
                  <a:lnTo>
                    <a:pt x="5" y="32"/>
                  </a:lnTo>
                  <a:lnTo>
                    <a:pt x="5" y="27"/>
                  </a:lnTo>
                  <a:lnTo>
                    <a:pt x="14" y="27"/>
                  </a:lnTo>
                  <a:lnTo>
                    <a:pt x="14" y="32"/>
                  </a:lnTo>
                  <a:close/>
                  <a:moveTo>
                    <a:pt x="14" y="23"/>
                  </a:moveTo>
                  <a:lnTo>
                    <a:pt x="5" y="23"/>
                  </a:lnTo>
                  <a:lnTo>
                    <a:pt x="5" y="18"/>
                  </a:lnTo>
                  <a:lnTo>
                    <a:pt x="14" y="18"/>
                  </a:lnTo>
                  <a:lnTo>
                    <a:pt x="14" y="23"/>
                  </a:lnTo>
                  <a:close/>
                  <a:moveTo>
                    <a:pt x="14" y="14"/>
                  </a:moveTo>
                  <a:lnTo>
                    <a:pt x="5" y="14"/>
                  </a:lnTo>
                  <a:lnTo>
                    <a:pt x="5" y="9"/>
                  </a:lnTo>
                  <a:lnTo>
                    <a:pt x="14" y="9"/>
                  </a:lnTo>
                  <a:lnTo>
                    <a:pt x="14" y="14"/>
                  </a:lnTo>
                  <a:close/>
                  <a:moveTo>
                    <a:pt x="27" y="32"/>
                  </a:moveTo>
                  <a:lnTo>
                    <a:pt x="18" y="32"/>
                  </a:lnTo>
                  <a:lnTo>
                    <a:pt x="18" y="27"/>
                  </a:lnTo>
                  <a:lnTo>
                    <a:pt x="27" y="27"/>
                  </a:lnTo>
                  <a:lnTo>
                    <a:pt x="27" y="32"/>
                  </a:lnTo>
                  <a:close/>
                  <a:moveTo>
                    <a:pt x="27" y="23"/>
                  </a:moveTo>
                  <a:lnTo>
                    <a:pt x="18" y="23"/>
                  </a:lnTo>
                  <a:lnTo>
                    <a:pt x="18" y="18"/>
                  </a:lnTo>
                  <a:lnTo>
                    <a:pt x="27" y="18"/>
                  </a:lnTo>
                  <a:lnTo>
                    <a:pt x="27" y="23"/>
                  </a:lnTo>
                  <a:close/>
                  <a:moveTo>
                    <a:pt x="27" y="14"/>
                  </a:moveTo>
                  <a:lnTo>
                    <a:pt x="18" y="14"/>
                  </a:lnTo>
                  <a:lnTo>
                    <a:pt x="18" y="9"/>
                  </a:lnTo>
                  <a:lnTo>
                    <a:pt x="27" y="9"/>
                  </a:lnTo>
                  <a:lnTo>
                    <a:pt x="27"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88" name="Group 287">
            <a:extLst>
              <a:ext uri="{FF2B5EF4-FFF2-40B4-BE49-F238E27FC236}">
                <a16:creationId xmlns:a16="http://schemas.microsoft.com/office/drawing/2014/main" id="{6655FD75-60F4-471E-8F81-0F11D3B1996D}"/>
              </a:ext>
            </a:extLst>
          </p:cNvPr>
          <p:cNvGrpSpPr/>
          <p:nvPr/>
        </p:nvGrpSpPr>
        <p:grpSpPr>
          <a:xfrm>
            <a:off x="6754287" y="1558163"/>
            <a:ext cx="220466" cy="391942"/>
            <a:chOff x="1865313" y="342900"/>
            <a:chExt cx="71437" cy="127000"/>
          </a:xfrm>
          <a:solidFill>
            <a:schemeClr val="accent1"/>
          </a:solidFill>
        </p:grpSpPr>
        <p:sp>
          <p:nvSpPr>
            <p:cNvPr id="289" name="Freeform 233">
              <a:extLst>
                <a:ext uri="{FF2B5EF4-FFF2-40B4-BE49-F238E27FC236}">
                  <a16:creationId xmlns:a16="http://schemas.microsoft.com/office/drawing/2014/main" id="{D5D37048-C117-4478-9B9F-B30C9F204EB9}"/>
                </a:ext>
              </a:extLst>
            </p:cNvPr>
            <p:cNvSpPr>
              <a:spLocks noEditPoints="1"/>
            </p:cNvSpPr>
            <p:nvPr/>
          </p:nvSpPr>
          <p:spPr bwMode="auto">
            <a:xfrm>
              <a:off x="1865313" y="396875"/>
              <a:ext cx="71437" cy="73025"/>
            </a:xfrm>
            <a:custGeom>
              <a:avLst/>
              <a:gdLst>
                <a:gd name="T0" fmla="*/ 27 w 40"/>
                <a:gd name="T1" fmla="*/ 0 h 40"/>
                <a:gd name="T2" fmla="*/ 12 w 40"/>
                <a:gd name="T3" fmla="*/ 0 h 40"/>
                <a:gd name="T4" fmla="*/ 0 w 40"/>
                <a:gd name="T5" fmla="*/ 13 h 40"/>
                <a:gd name="T6" fmla="*/ 0 w 40"/>
                <a:gd name="T7" fmla="*/ 37 h 40"/>
                <a:gd name="T8" fmla="*/ 2 w 40"/>
                <a:gd name="T9" fmla="*/ 40 h 40"/>
                <a:gd name="T10" fmla="*/ 37 w 40"/>
                <a:gd name="T11" fmla="*/ 40 h 40"/>
                <a:gd name="T12" fmla="*/ 40 w 40"/>
                <a:gd name="T13" fmla="*/ 37 h 40"/>
                <a:gd name="T14" fmla="*/ 40 w 40"/>
                <a:gd name="T15" fmla="*/ 13 h 40"/>
                <a:gd name="T16" fmla="*/ 27 w 40"/>
                <a:gd name="T17" fmla="*/ 0 h 40"/>
                <a:gd name="T18" fmla="*/ 29 w 40"/>
                <a:gd name="T19" fmla="*/ 18 h 40"/>
                <a:gd name="T20" fmla="*/ 28 w 40"/>
                <a:gd name="T21" fmla="*/ 19 h 40"/>
                <a:gd name="T22" fmla="*/ 27 w 40"/>
                <a:gd name="T23" fmla="*/ 19 h 40"/>
                <a:gd name="T24" fmla="*/ 27 w 40"/>
                <a:gd name="T25" fmla="*/ 19 h 40"/>
                <a:gd name="T26" fmla="*/ 25 w 40"/>
                <a:gd name="T27" fmla="*/ 18 h 40"/>
                <a:gd name="T28" fmla="*/ 20 w 40"/>
                <a:gd name="T29" fmla="*/ 11 h 40"/>
                <a:gd name="T30" fmla="*/ 24 w 40"/>
                <a:gd name="T31" fmla="*/ 7 h 40"/>
                <a:gd name="T32" fmla="*/ 26 w 40"/>
                <a:gd name="T33" fmla="*/ 7 h 40"/>
                <a:gd name="T34" fmla="*/ 27 w 40"/>
                <a:gd name="T35" fmla="*/ 9 h 40"/>
                <a:gd name="T36" fmla="*/ 28 w 40"/>
                <a:gd name="T37" fmla="*/ 7 h 40"/>
                <a:gd name="T38" fmla="*/ 31 w 40"/>
                <a:gd name="T39" fmla="*/ 7 h 40"/>
                <a:gd name="T40" fmla="*/ 35 w 40"/>
                <a:gd name="T41" fmla="*/ 11 h 40"/>
                <a:gd name="T42" fmla="*/ 29 w 40"/>
                <a:gd name="T43" fmla="*/ 1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 h="40">
                  <a:moveTo>
                    <a:pt x="27" y="0"/>
                  </a:moveTo>
                  <a:cubicBezTo>
                    <a:pt x="12" y="0"/>
                    <a:pt x="12" y="0"/>
                    <a:pt x="12" y="0"/>
                  </a:cubicBezTo>
                  <a:cubicBezTo>
                    <a:pt x="6" y="0"/>
                    <a:pt x="0" y="6"/>
                    <a:pt x="0" y="13"/>
                  </a:cubicBezTo>
                  <a:cubicBezTo>
                    <a:pt x="0" y="37"/>
                    <a:pt x="0" y="37"/>
                    <a:pt x="0" y="37"/>
                  </a:cubicBezTo>
                  <a:cubicBezTo>
                    <a:pt x="0" y="39"/>
                    <a:pt x="1" y="40"/>
                    <a:pt x="2" y="40"/>
                  </a:cubicBezTo>
                  <a:cubicBezTo>
                    <a:pt x="37" y="40"/>
                    <a:pt x="37" y="40"/>
                    <a:pt x="37" y="40"/>
                  </a:cubicBezTo>
                  <a:cubicBezTo>
                    <a:pt x="38" y="40"/>
                    <a:pt x="40" y="39"/>
                    <a:pt x="40" y="37"/>
                  </a:cubicBezTo>
                  <a:cubicBezTo>
                    <a:pt x="40" y="13"/>
                    <a:pt x="40" y="13"/>
                    <a:pt x="40" y="13"/>
                  </a:cubicBezTo>
                  <a:cubicBezTo>
                    <a:pt x="40" y="6"/>
                    <a:pt x="34" y="0"/>
                    <a:pt x="27" y="0"/>
                  </a:cubicBezTo>
                  <a:close/>
                  <a:moveTo>
                    <a:pt x="29" y="18"/>
                  </a:moveTo>
                  <a:cubicBezTo>
                    <a:pt x="29" y="18"/>
                    <a:pt x="28" y="19"/>
                    <a:pt x="28" y="19"/>
                  </a:cubicBezTo>
                  <a:cubicBezTo>
                    <a:pt x="27" y="19"/>
                    <a:pt x="27" y="19"/>
                    <a:pt x="27" y="19"/>
                  </a:cubicBezTo>
                  <a:cubicBezTo>
                    <a:pt x="27" y="19"/>
                    <a:pt x="27" y="19"/>
                    <a:pt x="27" y="19"/>
                  </a:cubicBezTo>
                  <a:cubicBezTo>
                    <a:pt x="26" y="19"/>
                    <a:pt x="26" y="18"/>
                    <a:pt x="25" y="18"/>
                  </a:cubicBezTo>
                  <a:cubicBezTo>
                    <a:pt x="22" y="15"/>
                    <a:pt x="20" y="13"/>
                    <a:pt x="20" y="11"/>
                  </a:cubicBezTo>
                  <a:cubicBezTo>
                    <a:pt x="20" y="8"/>
                    <a:pt x="22" y="7"/>
                    <a:pt x="24" y="7"/>
                  </a:cubicBezTo>
                  <a:cubicBezTo>
                    <a:pt x="25" y="7"/>
                    <a:pt x="25" y="7"/>
                    <a:pt x="26" y="7"/>
                  </a:cubicBezTo>
                  <a:cubicBezTo>
                    <a:pt x="27" y="8"/>
                    <a:pt x="27" y="8"/>
                    <a:pt x="27" y="9"/>
                  </a:cubicBezTo>
                  <a:cubicBezTo>
                    <a:pt x="27" y="8"/>
                    <a:pt x="28" y="8"/>
                    <a:pt x="28" y="7"/>
                  </a:cubicBezTo>
                  <a:cubicBezTo>
                    <a:pt x="29" y="7"/>
                    <a:pt x="30" y="7"/>
                    <a:pt x="31" y="7"/>
                  </a:cubicBezTo>
                  <a:cubicBezTo>
                    <a:pt x="33" y="7"/>
                    <a:pt x="35" y="8"/>
                    <a:pt x="35" y="11"/>
                  </a:cubicBezTo>
                  <a:cubicBezTo>
                    <a:pt x="35" y="13"/>
                    <a:pt x="32" y="15"/>
                    <a:pt x="29"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0" name="Freeform 234">
              <a:extLst>
                <a:ext uri="{FF2B5EF4-FFF2-40B4-BE49-F238E27FC236}">
                  <a16:creationId xmlns:a16="http://schemas.microsoft.com/office/drawing/2014/main" id="{D9FECAD1-7161-4F0F-852D-D63FDE740431}"/>
                </a:ext>
              </a:extLst>
            </p:cNvPr>
            <p:cNvSpPr>
              <a:spLocks/>
            </p:cNvSpPr>
            <p:nvPr/>
          </p:nvSpPr>
          <p:spPr bwMode="auto">
            <a:xfrm>
              <a:off x="1874838" y="342900"/>
              <a:ext cx="53975" cy="49213"/>
            </a:xfrm>
            <a:custGeom>
              <a:avLst/>
              <a:gdLst>
                <a:gd name="T0" fmla="*/ 8 w 30"/>
                <a:gd name="T1" fmla="*/ 25 h 27"/>
                <a:gd name="T2" fmla="*/ 15 w 30"/>
                <a:gd name="T3" fmla="*/ 27 h 27"/>
                <a:gd name="T4" fmla="*/ 22 w 30"/>
                <a:gd name="T5" fmla="*/ 25 h 27"/>
                <a:gd name="T6" fmla="*/ 30 w 30"/>
                <a:gd name="T7" fmla="*/ 14 h 27"/>
                <a:gd name="T8" fmla="*/ 15 w 30"/>
                <a:gd name="T9" fmla="*/ 0 h 27"/>
                <a:gd name="T10" fmla="*/ 0 w 30"/>
                <a:gd name="T11" fmla="*/ 14 h 27"/>
                <a:gd name="T12" fmla="*/ 8 w 30"/>
                <a:gd name="T13" fmla="*/ 25 h 27"/>
              </a:gdLst>
              <a:ahLst/>
              <a:cxnLst>
                <a:cxn ang="0">
                  <a:pos x="T0" y="T1"/>
                </a:cxn>
                <a:cxn ang="0">
                  <a:pos x="T2" y="T3"/>
                </a:cxn>
                <a:cxn ang="0">
                  <a:pos x="T4" y="T5"/>
                </a:cxn>
                <a:cxn ang="0">
                  <a:pos x="T6" y="T7"/>
                </a:cxn>
                <a:cxn ang="0">
                  <a:pos x="T8" y="T9"/>
                </a:cxn>
                <a:cxn ang="0">
                  <a:pos x="T10" y="T11"/>
                </a:cxn>
                <a:cxn ang="0">
                  <a:pos x="T12" y="T13"/>
                </a:cxn>
              </a:cxnLst>
              <a:rect l="0" t="0" r="r" b="b"/>
              <a:pathLst>
                <a:path w="30" h="27">
                  <a:moveTo>
                    <a:pt x="8" y="25"/>
                  </a:moveTo>
                  <a:cubicBezTo>
                    <a:pt x="10" y="27"/>
                    <a:pt x="12" y="27"/>
                    <a:pt x="15" y="27"/>
                  </a:cubicBezTo>
                  <a:cubicBezTo>
                    <a:pt x="17" y="27"/>
                    <a:pt x="20" y="27"/>
                    <a:pt x="22" y="25"/>
                  </a:cubicBezTo>
                  <a:cubicBezTo>
                    <a:pt x="27" y="23"/>
                    <a:pt x="30" y="19"/>
                    <a:pt x="30" y="14"/>
                  </a:cubicBezTo>
                  <a:cubicBezTo>
                    <a:pt x="30" y="6"/>
                    <a:pt x="23" y="0"/>
                    <a:pt x="15" y="0"/>
                  </a:cubicBezTo>
                  <a:cubicBezTo>
                    <a:pt x="7" y="0"/>
                    <a:pt x="0" y="6"/>
                    <a:pt x="0" y="14"/>
                  </a:cubicBezTo>
                  <a:cubicBezTo>
                    <a:pt x="0" y="19"/>
                    <a:pt x="3" y="23"/>
                    <a:pt x="8"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91" name="Group 290">
            <a:extLst>
              <a:ext uri="{FF2B5EF4-FFF2-40B4-BE49-F238E27FC236}">
                <a16:creationId xmlns:a16="http://schemas.microsoft.com/office/drawing/2014/main" id="{E0A4A86D-43BF-42FD-8B72-5163790ACBAB}"/>
              </a:ext>
            </a:extLst>
          </p:cNvPr>
          <p:cNvGrpSpPr/>
          <p:nvPr/>
        </p:nvGrpSpPr>
        <p:grpSpPr>
          <a:xfrm>
            <a:off x="9431843" y="1631509"/>
            <a:ext cx="287136" cy="283680"/>
            <a:chOff x="1487488" y="4394200"/>
            <a:chExt cx="131762" cy="130176"/>
          </a:xfrm>
          <a:solidFill>
            <a:schemeClr val="accent1"/>
          </a:solidFill>
        </p:grpSpPr>
        <p:sp>
          <p:nvSpPr>
            <p:cNvPr id="292" name="Freeform 235">
              <a:extLst>
                <a:ext uri="{FF2B5EF4-FFF2-40B4-BE49-F238E27FC236}">
                  <a16:creationId xmlns:a16="http://schemas.microsoft.com/office/drawing/2014/main" id="{C31BF754-21F7-4F69-9961-10EC80437063}"/>
                </a:ext>
              </a:extLst>
            </p:cNvPr>
            <p:cNvSpPr>
              <a:spLocks/>
            </p:cNvSpPr>
            <p:nvPr/>
          </p:nvSpPr>
          <p:spPr bwMode="auto">
            <a:xfrm>
              <a:off x="1568450" y="4468813"/>
              <a:ext cx="3175" cy="3175"/>
            </a:xfrm>
            <a:custGeom>
              <a:avLst/>
              <a:gdLst>
                <a:gd name="T0" fmla="*/ 2 w 2"/>
                <a:gd name="T1" fmla="*/ 1 h 2"/>
                <a:gd name="T2" fmla="*/ 2 w 2"/>
                <a:gd name="T3" fmla="*/ 1 h 2"/>
                <a:gd name="T4" fmla="*/ 2 w 2"/>
                <a:gd name="T5" fmla="*/ 0 h 2"/>
                <a:gd name="T6" fmla="*/ 1 w 2"/>
                <a:gd name="T7" fmla="*/ 0 h 2"/>
                <a:gd name="T8" fmla="*/ 0 w 2"/>
                <a:gd name="T9" fmla="*/ 0 h 2"/>
                <a:gd name="T10" fmla="*/ 0 w 2"/>
                <a:gd name="T11" fmla="*/ 2 h 2"/>
                <a:gd name="T12" fmla="*/ 1 w 2"/>
                <a:gd name="T13" fmla="*/ 2 h 2"/>
                <a:gd name="T14" fmla="*/ 2 w 2"/>
                <a:gd name="T15" fmla="*/ 1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2" y="1"/>
                  </a:moveTo>
                  <a:cubicBezTo>
                    <a:pt x="2" y="1"/>
                    <a:pt x="2" y="1"/>
                    <a:pt x="2" y="1"/>
                  </a:cubicBezTo>
                  <a:cubicBezTo>
                    <a:pt x="2" y="0"/>
                    <a:pt x="2" y="0"/>
                    <a:pt x="2" y="0"/>
                  </a:cubicBezTo>
                  <a:cubicBezTo>
                    <a:pt x="1" y="0"/>
                    <a:pt x="1" y="0"/>
                    <a:pt x="1" y="0"/>
                  </a:cubicBezTo>
                  <a:cubicBezTo>
                    <a:pt x="0" y="0"/>
                    <a:pt x="0" y="0"/>
                    <a:pt x="0" y="0"/>
                  </a:cubicBezTo>
                  <a:cubicBezTo>
                    <a:pt x="0" y="2"/>
                    <a:pt x="0" y="2"/>
                    <a:pt x="0" y="2"/>
                  </a:cubicBezTo>
                  <a:cubicBezTo>
                    <a:pt x="1" y="2"/>
                    <a:pt x="1" y="2"/>
                    <a:pt x="1" y="2"/>
                  </a:cubicBezTo>
                  <a:cubicBezTo>
                    <a:pt x="1" y="2"/>
                    <a:pt x="1" y="2"/>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3" name="Freeform 236">
              <a:extLst>
                <a:ext uri="{FF2B5EF4-FFF2-40B4-BE49-F238E27FC236}">
                  <a16:creationId xmlns:a16="http://schemas.microsoft.com/office/drawing/2014/main" id="{52977EDF-4302-41FB-A549-D0E00A96AA19}"/>
                </a:ext>
              </a:extLst>
            </p:cNvPr>
            <p:cNvSpPr>
              <a:spLocks/>
            </p:cNvSpPr>
            <p:nvPr/>
          </p:nvSpPr>
          <p:spPr bwMode="auto">
            <a:xfrm>
              <a:off x="1525588" y="4489450"/>
              <a:ext cx="3175" cy="3175"/>
            </a:xfrm>
            <a:custGeom>
              <a:avLst/>
              <a:gdLst>
                <a:gd name="T0" fmla="*/ 1 w 2"/>
                <a:gd name="T1" fmla="*/ 0 h 2"/>
                <a:gd name="T2" fmla="*/ 0 w 2"/>
                <a:gd name="T3" fmla="*/ 0 h 2"/>
                <a:gd name="T4" fmla="*/ 0 w 2"/>
                <a:gd name="T5" fmla="*/ 2 h 2"/>
                <a:gd name="T6" fmla="*/ 1 w 2"/>
                <a:gd name="T7" fmla="*/ 2 h 2"/>
                <a:gd name="T8" fmla="*/ 2 w 2"/>
                <a:gd name="T9" fmla="*/ 2 h 2"/>
                <a:gd name="T10" fmla="*/ 2 w 2"/>
                <a:gd name="T11" fmla="*/ 1 h 2"/>
                <a:gd name="T12" fmla="*/ 2 w 2"/>
                <a:gd name="T13" fmla="*/ 0 h 2"/>
                <a:gd name="T14" fmla="*/ 1 w 2"/>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 h="2">
                  <a:moveTo>
                    <a:pt x="1" y="0"/>
                  </a:moveTo>
                  <a:cubicBezTo>
                    <a:pt x="0" y="0"/>
                    <a:pt x="0" y="0"/>
                    <a:pt x="0" y="0"/>
                  </a:cubicBezTo>
                  <a:cubicBezTo>
                    <a:pt x="0" y="2"/>
                    <a:pt x="0" y="2"/>
                    <a:pt x="0" y="2"/>
                  </a:cubicBezTo>
                  <a:cubicBezTo>
                    <a:pt x="1" y="2"/>
                    <a:pt x="1" y="2"/>
                    <a:pt x="1" y="2"/>
                  </a:cubicBezTo>
                  <a:cubicBezTo>
                    <a:pt x="1" y="2"/>
                    <a:pt x="1" y="2"/>
                    <a:pt x="2" y="2"/>
                  </a:cubicBezTo>
                  <a:cubicBezTo>
                    <a:pt x="2" y="1"/>
                    <a:pt x="2" y="1"/>
                    <a:pt x="2" y="1"/>
                  </a:cubicBezTo>
                  <a:cubicBezTo>
                    <a:pt x="2" y="1"/>
                    <a:pt x="2" y="0"/>
                    <a:pt x="2"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4" name="Freeform 237">
              <a:extLst>
                <a:ext uri="{FF2B5EF4-FFF2-40B4-BE49-F238E27FC236}">
                  <a16:creationId xmlns:a16="http://schemas.microsoft.com/office/drawing/2014/main" id="{3D8E546F-7381-4A93-9E59-F14D4FEA6297}"/>
                </a:ext>
              </a:extLst>
            </p:cNvPr>
            <p:cNvSpPr>
              <a:spLocks noEditPoints="1"/>
            </p:cNvSpPr>
            <p:nvPr/>
          </p:nvSpPr>
          <p:spPr bwMode="auto">
            <a:xfrm>
              <a:off x="1487488" y="4437063"/>
              <a:ext cx="131762" cy="87313"/>
            </a:xfrm>
            <a:custGeom>
              <a:avLst/>
              <a:gdLst>
                <a:gd name="T0" fmla="*/ 0 w 73"/>
                <a:gd name="T1" fmla="*/ 0 h 49"/>
                <a:gd name="T2" fmla="*/ 22 w 73"/>
                <a:gd name="T3" fmla="*/ 32 h 49"/>
                <a:gd name="T4" fmla="*/ 20 w 73"/>
                <a:gd name="T5" fmla="*/ 28 h 49"/>
                <a:gd name="T6" fmla="*/ 24 w 73"/>
                <a:gd name="T7" fmla="*/ 30 h 49"/>
                <a:gd name="T8" fmla="*/ 36 w 73"/>
                <a:gd name="T9" fmla="*/ 28 h 49"/>
                <a:gd name="T10" fmla="*/ 48 w 73"/>
                <a:gd name="T11" fmla="*/ 34 h 49"/>
                <a:gd name="T12" fmla="*/ 49 w 73"/>
                <a:gd name="T13" fmla="*/ 29 h 49"/>
                <a:gd name="T14" fmla="*/ 49 w 73"/>
                <a:gd name="T15" fmla="*/ 32 h 49"/>
                <a:gd name="T16" fmla="*/ 58 w 73"/>
                <a:gd name="T17" fmla="*/ 33 h 49"/>
                <a:gd name="T18" fmla="*/ 57 w 73"/>
                <a:gd name="T19" fmla="*/ 34 h 49"/>
                <a:gd name="T20" fmla="*/ 53 w 73"/>
                <a:gd name="T21" fmla="*/ 28 h 49"/>
                <a:gd name="T22" fmla="*/ 54 w 73"/>
                <a:gd name="T23" fmla="*/ 17 h 49"/>
                <a:gd name="T24" fmla="*/ 51 w 73"/>
                <a:gd name="T25" fmla="*/ 23 h 49"/>
                <a:gd name="T26" fmla="*/ 44 w 73"/>
                <a:gd name="T27" fmla="*/ 17 h 49"/>
                <a:gd name="T28" fmla="*/ 48 w 73"/>
                <a:gd name="T29" fmla="*/ 19 h 49"/>
                <a:gd name="T30" fmla="*/ 45 w 73"/>
                <a:gd name="T31" fmla="*/ 21 h 49"/>
                <a:gd name="T32" fmla="*/ 44 w 73"/>
                <a:gd name="T33" fmla="*/ 28 h 49"/>
                <a:gd name="T34" fmla="*/ 45 w 73"/>
                <a:gd name="T35" fmla="*/ 34 h 49"/>
                <a:gd name="T36" fmla="*/ 42 w 73"/>
                <a:gd name="T37" fmla="*/ 34 h 49"/>
                <a:gd name="T38" fmla="*/ 39 w 73"/>
                <a:gd name="T39" fmla="*/ 31 h 49"/>
                <a:gd name="T40" fmla="*/ 44 w 73"/>
                <a:gd name="T41" fmla="*/ 28 h 49"/>
                <a:gd name="T42" fmla="*/ 39 w 73"/>
                <a:gd name="T43" fmla="*/ 21 h 49"/>
                <a:gd name="T44" fmla="*/ 42 w 73"/>
                <a:gd name="T45" fmla="*/ 23 h 49"/>
                <a:gd name="T46" fmla="*/ 39 w 73"/>
                <a:gd name="T47" fmla="*/ 23 h 49"/>
                <a:gd name="T48" fmla="*/ 35 w 73"/>
                <a:gd name="T49" fmla="*/ 23 h 49"/>
                <a:gd name="T50" fmla="*/ 34 w 73"/>
                <a:gd name="T51" fmla="*/ 29 h 49"/>
                <a:gd name="T52" fmla="*/ 32 w 73"/>
                <a:gd name="T53" fmla="*/ 31 h 49"/>
                <a:gd name="T54" fmla="*/ 34 w 73"/>
                <a:gd name="T55" fmla="*/ 33 h 49"/>
                <a:gd name="T56" fmla="*/ 34 w 73"/>
                <a:gd name="T57" fmla="*/ 34 h 49"/>
                <a:gd name="T58" fmla="*/ 30 w 73"/>
                <a:gd name="T59" fmla="*/ 30 h 49"/>
                <a:gd name="T60" fmla="*/ 35 w 73"/>
                <a:gd name="T61" fmla="*/ 28 h 49"/>
                <a:gd name="T62" fmla="*/ 34 w 73"/>
                <a:gd name="T63" fmla="*/ 18 h 49"/>
                <a:gd name="T64" fmla="*/ 33 w 73"/>
                <a:gd name="T65" fmla="*/ 20 h 49"/>
                <a:gd name="T66" fmla="*/ 34 w 73"/>
                <a:gd name="T67" fmla="*/ 23 h 49"/>
                <a:gd name="T68" fmla="*/ 29 w 73"/>
                <a:gd name="T69" fmla="*/ 32 h 49"/>
                <a:gd name="T70" fmla="*/ 30 w 73"/>
                <a:gd name="T71" fmla="*/ 34 h 49"/>
                <a:gd name="T72" fmla="*/ 29 w 73"/>
                <a:gd name="T73" fmla="*/ 29 h 49"/>
                <a:gd name="T74" fmla="*/ 23 w 73"/>
                <a:gd name="T75" fmla="*/ 17 h 49"/>
                <a:gd name="T76" fmla="*/ 29 w 73"/>
                <a:gd name="T77" fmla="*/ 17 h 49"/>
                <a:gd name="T78" fmla="*/ 26 w 73"/>
                <a:gd name="T79" fmla="*/ 21 h 49"/>
                <a:gd name="T80" fmla="*/ 23 w 73"/>
                <a:gd name="T81" fmla="*/ 17 h 49"/>
                <a:gd name="T82" fmla="*/ 19 w 73"/>
                <a:gd name="T83" fmla="*/ 18 h 49"/>
                <a:gd name="T84" fmla="*/ 19 w 73"/>
                <a:gd name="T85" fmla="*/ 20 h 49"/>
                <a:gd name="T86" fmla="*/ 18 w 73"/>
                <a:gd name="T87" fmla="*/ 23 h 49"/>
                <a:gd name="T88" fmla="*/ 16 w 73"/>
                <a:gd name="T89" fmla="*/ 31 h 49"/>
                <a:gd name="T90" fmla="*/ 14 w 73"/>
                <a:gd name="T91" fmla="*/ 29 h 49"/>
                <a:gd name="T92" fmla="*/ 18 w 73"/>
                <a:gd name="T93" fmla="*/ 28 h 49"/>
                <a:gd name="T94" fmla="*/ 16 w 73"/>
                <a:gd name="T95" fmla="*/ 29 h 49"/>
                <a:gd name="T96" fmla="*/ 17 w 73"/>
                <a:gd name="T97" fmla="*/ 31 h 49"/>
                <a:gd name="T98" fmla="*/ 18 w 73"/>
                <a:gd name="T99" fmla="*/ 34 h 49"/>
                <a:gd name="T100" fmla="*/ 14 w 73"/>
                <a:gd name="T101" fmla="*/ 34 h 49"/>
                <a:gd name="T102" fmla="*/ 17 w 73"/>
                <a:gd name="T103" fmla="*/ 3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3" h="49">
                  <a:moveTo>
                    <a:pt x="0" y="49"/>
                  </a:moveTo>
                  <a:cubicBezTo>
                    <a:pt x="73" y="49"/>
                    <a:pt x="73" y="49"/>
                    <a:pt x="73" y="49"/>
                  </a:cubicBezTo>
                  <a:cubicBezTo>
                    <a:pt x="73" y="0"/>
                    <a:pt x="73" y="0"/>
                    <a:pt x="73" y="0"/>
                  </a:cubicBezTo>
                  <a:cubicBezTo>
                    <a:pt x="0" y="0"/>
                    <a:pt x="0" y="0"/>
                    <a:pt x="0" y="0"/>
                  </a:cubicBezTo>
                  <a:lnTo>
                    <a:pt x="0" y="49"/>
                  </a:lnTo>
                  <a:close/>
                  <a:moveTo>
                    <a:pt x="24" y="31"/>
                  </a:moveTo>
                  <a:cubicBezTo>
                    <a:pt x="24" y="31"/>
                    <a:pt x="24" y="32"/>
                    <a:pt x="23" y="32"/>
                  </a:cubicBezTo>
                  <a:cubicBezTo>
                    <a:pt x="23" y="32"/>
                    <a:pt x="22" y="32"/>
                    <a:pt x="22" y="32"/>
                  </a:cubicBezTo>
                  <a:cubicBezTo>
                    <a:pt x="21" y="32"/>
                    <a:pt x="21" y="32"/>
                    <a:pt x="21" y="32"/>
                  </a:cubicBezTo>
                  <a:cubicBezTo>
                    <a:pt x="21" y="34"/>
                    <a:pt x="21" y="34"/>
                    <a:pt x="21" y="34"/>
                  </a:cubicBezTo>
                  <a:cubicBezTo>
                    <a:pt x="20" y="34"/>
                    <a:pt x="20" y="34"/>
                    <a:pt x="20" y="34"/>
                  </a:cubicBezTo>
                  <a:cubicBezTo>
                    <a:pt x="20" y="28"/>
                    <a:pt x="20" y="28"/>
                    <a:pt x="20" y="28"/>
                  </a:cubicBezTo>
                  <a:cubicBezTo>
                    <a:pt x="22" y="28"/>
                    <a:pt x="22" y="28"/>
                    <a:pt x="22" y="28"/>
                  </a:cubicBezTo>
                  <a:cubicBezTo>
                    <a:pt x="23" y="28"/>
                    <a:pt x="23" y="28"/>
                    <a:pt x="23" y="28"/>
                  </a:cubicBezTo>
                  <a:cubicBezTo>
                    <a:pt x="24" y="28"/>
                    <a:pt x="24" y="29"/>
                    <a:pt x="24" y="29"/>
                  </a:cubicBezTo>
                  <a:cubicBezTo>
                    <a:pt x="24" y="29"/>
                    <a:pt x="24" y="29"/>
                    <a:pt x="24" y="30"/>
                  </a:cubicBezTo>
                  <a:cubicBezTo>
                    <a:pt x="24" y="30"/>
                    <a:pt x="24" y="31"/>
                    <a:pt x="24" y="31"/>
                  </a:cubicBezTo>
                  <a:close/>
                  <a:moveTo>
                    <a:pt x="38" y="34"/>
                  </a:moveTo>
                  <a:cubicBezTo>
                    <a:pt x="36" y="34"/>
                    <a:pt x="36" y="34"/>
                    <a:pt x="36" y="34"/>
                  </a:cubicBezTo>
                  <a:cubicBezTo>
                    <a:pt x="36" y="28"/>
                    <a:pt x="36" y="28"/>
                    <a:pt x="36" y="28"/>
                  </a:cubicBezTo>
                  <a:cubicBezTo>
                    <a:pt x="38" y="28"/>
                    <a:pt x="38" y="28"/>
                    <a:pt x="38" y="28"/>
                  </a:cubicBezTo>
                  <a:lnTo>
                    <a:pt x="38" y="34"/>
                  </a:lnTo>
                  <a:close/>
                  <a:moveTo>
                    <a:pt x="52" y="34"/>
                  </a:moveTo>
                  <a:cubicBezTo>
                    <a:pt x="48" y="34"/>
                    <a:pt x="48" y="34"/>
                    <a:pt x="48" y="34"/>
                  </a:cubicBezTo>
                  <a:cubicBezTo>
                    <a:pt x="48" y="28"/>
                    <a:pt x="48" y="28"/>
                    <a:pt x="48" y="28"/>
                  </a:cubicBezTo>
                  <a:cubicBezTo>
                    <a:pt x="52" y="28"/>
                    <a:pt x="52" y="28"/>
                    <a:pt x="52" y="28"/>
                  </a:cubicBezTo>
                  <a:cubicBezTo>
                    <a:pt x="52" y="29"/>
                    <a:pt x="52" y="29"/>
                    <a:pt x="52" y="29"/>
                  </a:cubicBezTo>
                  <a:cubicBezTo>
                    <a:pt x="49" y="29"/>
                    <a:pt x="49" y="29"/>
                    <a:pt x="49" y="29"/>
                  </a:cubicBezTo>
                  <a:cubicBezTo>
                    <a:pt x="49" y="30"/>
                    <a:pt x="49" y="30"/>
                    <a:pt x="49" y="30"/>
                  </a:cubicBezTo>
                  <a:cubicBezTo>
                    <a:pt x="52" y="30"/>
                    <a:pt x="52" y="30"/>
                    <a:pt x="52" y="30"/>
                  </a:cubicBezTo>
                  <a:cubicBezTo>
                    <a:pt x="52" y="32"/>
                    <a:pt x="52" y="32"/>
                    <a:pt x="52" y="32"/>
                  </a:cubicBezTo>
                  <a:cubicBezTo>
                    <a:pt x="49" y="32"/>
                    <a:pt x="49" y="32"/>
                    <a:pt x="49" y="32"/>
                  </a:cubicBezTo>
                  <a:cubicBezTo>
                    <a:pt x="49" y="33"/>
                    <a:pt x="49" y="33"/>
                    <a:pt x="49" y="33"/>
                  </a:cubicBezTo>
                  <a:cubicBezTo>
                    <a:pt x="52" y="33"/>
                    <a:pt x="52" y="33"/>
                    <a:pt x="52" y="33"/>
                  </a:cubicBezTo>
                  <a:lnTo>
                    <a:pt x="52" y="34"/>
                  </a:lnTo>
                  <a:close/>
                  <a:moveTo>
                    <a:pt x="58" y="33"/>
                  </a:moveTo>
                  <a:cubicBezTo>
                    <a:pt x="58" y="28"/>
                    <a:pt x="58" y="28"/>
                    <a:pt x="58" y="28"/>
                  </a:cubicBezTo>
                  <a:cubicBezTo>
                    <a:pt x="59" y="28"/>
                    <a:pt x="59" y="28"/>
                    <a:pt x="59" y="28"/>
                  </a:cubicBezTo>
                  <a:cubicBezTo>
                    <a:pt x="59" y="34"/>
                    <a:pt x="59" y="34"/>
                    <a:pt x="59" y="34"/>
                  </a:cubicBezTo>
                  <a:cubicBezTo>
                    <a:pt x="57" y="34"/>
                    <a:pt x="57" y="34"/>
                    <a:pt x="57" y="34"/>
                  </a:cubicBezTo>
                  <a:cubicBezTo>
                    <a:pt x="54" y="30"/>
                    <a:pt x="54" y="30"/>
                    <a:pt x="54" y="30"/>
                  </a:cubicBezTo>
                  <a:cubicBezTo>
                    <a:pt x="54" y="34"/>
                    <a:pt x="54" y="34"/>
                    <a:pt x="54" y="34"/>
                  </a:cubicBezTo>
                  <a:cubicBezTo>
                    <a:pt x="53" y="34"/>
                    <a:pt x="53" y="34"/>
                    <a:pt x="53" y="34"/>
                  </a:cubicBezTo>
                  <a:cubicBezTo>
                    <a:pt x="53" y="28"/>
                    <a:pt x="53" y="28"/>
                    <a:pt x="53" y="28"/>
                  </a:cubicBezTo>
                  <a:cubicBezTo>
                    <a:pt x="55" y="28"/>
                    <a:pt x="55" y="28"/>
                    <a:pt x="55" y="28"/>
                  </a:cubicBezTo>
                  <a:lnTo>
                    <a:pt x="58" y="33"/>
                  </a:lnTo>
                  <a:close/>
                  <a:moveTo>
                    <a:pt x="49" y="17"/>
                  </a:moveTo>
                  <a:cubicBezTo>
                    <a:pt x="54" y="17"/>
                    <a:pt x="54" y="17"/>
                    <a:pt x="54" y="17"/>
                  </a:cubicBezTo>
                  <a:cubicBezTo>
                    <a:pt x="54" y="18"/>
                    <a:pt x="54" y="18"/>
                    <a:pt x="54" y="18"/>
                  </a:cubicBezTo>
                  <a:cubicBezTo>
                    <a:pt x="52" y="18"/>
                    <a:pt x="52" y="18"/>
                    <a:pt x="52" y="18"/>
                  </a:cubicBezTo>
                  <a:cubicBezTo>
                    <a:pt x="52" y="23"/>
                    <a:pt x="52" y="23"/>
                    <a:pt x="52" y="23"/>
                  </a:cubicBezTo>
                  <a:cubicBezTo>
                    <a:pt x="51" y="23"/>
                    <a:pt x="51" y="23"/>
                    <a:pt x="51" y="23"/>
                  </a:cubicBezTo>
                  <a:cubicBezTo>
                    <a:pt x="51" y="18"/>
                    <a:pt x="51" y="18"/>
                    <a:pt x="51" y="18"/>
                  </a:cubicBezTo>
                  <a:cubicBezTo>
                    <a:pt x="49" y="18"/>
                    <a:pt x="49" y="18"/>
                    <a:pt x="49" y="18"/>
                  </a:cubicBezTo>
                  <a:lnTo>
                    <a:pt x="49" y="17"/>
                  </a:lnTo>
                  <a:close/>
                  <a:moveTo>
                    <a:pt x="44" y="17"/>
                  </a:moveTo>
                  <a:cubicBezTo>
                    <a:pt x="46" y="17"/>
                    <a:pt x="46" y="17"/>
                    <a:pt x="46" y="17"/>
                  </a:cubicBezTo>
                  <a:cubicBezTo>
                    <a:pt x="47" y="17"/>
                    <a:pt x="47" y="17"/>
                    <a:pt x="47" y="17"/>
                  </a:cubicBezTo>
                  <a:cubicBezTo>
                    <a:pt x="48" y="17"/>
                    <a:pt x="48" y="17"/>
                    <a:pt x="48" y="18"/>
                  </a:cubicBezTo>
                  <a:cubicBezTo>
                    <a:pt x="48" y="18"/>
                    <a:pt x="48" y="18"/>
                    <a:pt x="48" y="19"/>
                  </a:cubicBezTo>
                  <a:cubicBezTo>
                    <a:pt x="48" y="19"/>
                    <a:pt x="48" y="19"/>
                    <a:pt x="48" y="20"/>
                  </a:cubicBezTo>
                  <a:cubicBezTo>
                    <a:pt x="48" y="20"/>
                    <a:pt x="48" y="20"/>
                    <a:pt x="47" y="20"/>
                  </a:cubicBezTo>
                  <a:cubicBezTo>
                    <a:pt x="47" y="21"/>
                    <a:pt x="47" y="21"/>
                    <a:pt x="46" y="21"/>
                  </a:cubicBezTo>
                  <a:cubicBezTo>
                    <a:pt x="45" y="21"/>
                    <a:pt x="45" y="21"/>
                    <a:pt x="45" y="21"/>
                  </a:cubicBezTo>
                  <a:cubicBezTo>
                    <a:pt x="45" y="23"/>
                    <a:pt x="45" y="23"/>
                    <a:pt x="45" y="23"/>
                  </a:cubicBezTo>
                  <a:cubicBezTo>
                    <a:pt x="44" y="23"/>
                    <a:pt x="44" y="23"/>
                    <a:pt x="44" y="23"/>
                  </a:cubicBezTo>
                  <a:lnTo>
                    <a:pt x="44" y="17"/>
                  </a:lnTo>
                  <a:close/>
                  <a:moveTo>
                    <a:pt x="44" y="28"/>
                  </a:moveTo>
                  <a:cubicBezTo>
                    <a:pt x="46" y="28"/>
                    <a:pt x="46" y="28"/>
                    <a:pt x="46" y="28"/>
                  </a:cubicBezTo>
                  <a:cubicBezTo>
                    <a:pt x="46" y="29"/>
                    <a:pt x="46" y="30"/>
                    <a:pt x="46" y="31"/>
                  </a:cubicBezTo>
                  <a:cubicBezTo>
                    <a:pt x="47" y="32"/>
                    <a:pt x="47" y="33"/>
                    <a:pt x="47" y="34"/>
                  </a:cubicBezTo>
                  <a:cubicBezTo>
                    <a:pt x="45" y="34"/>
                    <a:pt x="45" y="34"/>
                    <a:pt x="45" y="34"/>
                  </a:cubicBezTo>
                  <a:cubicBezTo>
                    <a:pt x="45" y="30"/>
                    <a:pt x="45" y="30"/>
                    <a:pt x="45" y="30"/>
                  </a:cubicBezTo>
                  <a:cubicBezTo>
                    <a:pt x="45" y="30"/>
                    <a:pt x="45" y="31"/>
                    <a:pt x="44" y="32"/>
                  </a:cubicBezTo>
                  <a:cubicBezTo>
                    <a:pt x="44" y="33"/>
                    <a:pt x="44" y="33"/>
                    <a:pt x="44" y="34"/>
                  </a:cubicBezTo>
                  <a:cubicBezTo>
                    <a:pt x="42" y="34"/>
                    <a:pt x="42" y="34"/>
                    <a:pt x="42" y="34"/>
                  </a:cubicBezTo>
                  <a:cubicBezTo>
                    <a:pt x="41" y="30"/>
                    <a:pt x="41" y="30"/>
                    <a:pt x="41" y="30"/>
                  </a:cubicBezTo>
                  <a:cubicBezTo>
                    <a:pt x="40" y="34"/>
                    <a:pt x="40" y="34"/>
                    <a:pt x="40" y="34"/>
                  </a:cubicBezTo>
                  <a:cubicBezTo>
                    <a:pt x="39" y="34"/>
                    <a:pt x="39" y="34"/>
                    <a:pt x="39" y="34"/>
                  </a:cubicBezTo>
                  <a:cubicBezTo>
                    <a:pt x="39" y="33"/>
                    <a:pt x="39" y="32"/>
                    <a:pt x="39" y="31"/>
                  </a:cubicBezTo>
                  <a:cubicBezTo>
                    <a:pt x="39" y="30"/>
                    <a:pt x="39" y="29"/>
                    <a:pt x="39" y="28"/>
                  </a:cubicBezTo>
                  <a:cubicBezTo>
                    <a:pt x="41" y="28"/>
                    <a:pt x="41" y="28"/>
                    <a:pt x="41" y="28"/>
                  </a:cubicBezTo>
                  <a:cubicBezTo>
                    <a:pt x="43" y="32"/>
                    <a:pt x="43" y="32"/>
                    <a:pt x="43" y="32"/>
                  </a:cubicBezTo>
                  <a:lnTo>
                    <a:pt x="44" y="28"/>
                  </a:lnTo>
                  <a:close/>
                  <a:moveTo>
                    <a:pt x="35" y="20"/>
                  </a:moveTo>
                  <a:cubicBezTo>
                    <a:pt x="35" y="19"/>
                    <a:pt x="35" y="18"/>
                    <a:pt x="35" y="17"/>
                  </a:cubicBezTo>
                  <a:cubicBezTo>
                    <a:pt x="37" y="17"/>
                    <a:pt x="37" y="17"/>
                    <a:pt x="37" y="17"/>
                  </a:cubicBezTo>
                  <a:cubicBezTo>
                    <a:pt x="39" y="21"/>
                    <a:pt x="39" y="21"/>
                    <a:pt x="39" y="21"/>
                  </a:cubicBezTo>
                  <a:cubicBezTo>
                    <a:pt x="40" y="17"/>
                    <a:pt x="40" y="17"/>
                    <a:pt x="40" y="17"/>
                  </a:cubicBezTo>
                  <a:cubicBezTo>
                    <a:pt x="42" y="17"/>
                    <a:pt x="42" y="17"/>
                    <a:pt x="42" y="17"/>
                  </a:cubicBezTo>
                  <a:cubicBezTo>
                    <a:pt x="42" y="18"/>
                    <a:pt x="42" y="19"/>
                    <a:pt x="42" y="20"/>
                  </a:cubicBezTo>
                  <a:cubicBezTo>
                    <a:pt x="42" y="21"/>
                    <a:pt x="42" y="22"/>
                    <a:pt x="42" y="23"/>
                  </a:cubicBezTo>
                  <a:cubicBezTo>
                    <a:pt x="41" y="23"/>
                    <a:pt x="41" y="23"/>
                    <a:pt x="41" y="23"/>
                  </a:cubicBezTo>
                  <a:cubicBezTo>
                    <a:pt x="41" y="18"/>
                    <a:pt x="41" y="18"/>
                    <a:pt x="41" y="18"/>
                  </a:cubicBezTo>
                  <a:cubicBezTo>
                    <a:pt x="40" y="19"/>
                    <a:pt x="40" y="20"/>
                    <a:pt x="40" y="21"/>
                  </a:cubicBezTo>
                  <a:cubicBezTo>
                    <a:pt x="40" y="22"/>
                    <a:pt x="39" y="22"/>
                    <a:pt x="39" y="23"/>
                  </a:cubicBezTo>
                  <a:cubicBezTo>
                    <a:pt x="38" y="23"/>
                    <a:pt x="38" y="23"/>
                    <a:pt x="38" y="23"/>
                  </a:cubicBezTo>
                  <a:cubicBezTo>
                    <a:pt x="36" y="18"/>
                    <a:pt x="36" y="18"/>
                    <a:pt x="36" y="18"/>
                  </a:cubicBezTo>
                  <a:cubicBezTo>
                    <a:pt x="36" y="23"/>
                    <a:pt x="36" y="23"/>
                    <a:pt x="36" y="23"/>
                  </a:cubicBezTo>
                  <a:cubicBezTo>
                    <a:pt x="35" y="23"/>
                    <a:pt x="35" y="23"/>
                    <a:pt x="35" y="23"/>
                  </a:cubicBezTo>
                  <a:cubicBezTo>
                    <a:pt x="35" y="22"/>
                    <a:pt x="35" y="21"/>
                    <a:pt x="35" y="20"/>
                  </a:cubicBezTo>
                  <a:close/>
                  <a:moveTo>
                    <a:pt x="35" y="28"/>
                  </a:moveTo>
                  <a:cubicBezTo>
                    <a:pt x="35" y="29"/>
                    <a:pt x="35" y="29"/>
                    <a:pt x="35" y="29"/>
                  </a:cubicBezTo>
                  <a:cubicBezTo>
                    <a:pt x="35" y="29"/>
                    <a:pt x="35" y="29"/>
                    <a:pt x="34" y="29"/>
                  </a:cubicBezTo>
                  <a:cubicBezTo>
                    <a:pt x="34" y="29"/>
                    <a:pt x="34" y="29"/>
                    <a:pt x="34" y="29"/>
                  </a:cubicBezTo>
                  <a:cubicBezTo>
                    <a:pt x="33" y="29"/>
                    <a:pt x="33" y="29"/>
                    <a:pt x="33" y="29"/>
                  </a:cubicBezTo>
                  <a:cubicBezTo>
                    <a:pt x="32" y="29"/>
                    <a:pt x="32" y="30"/>
                    <a:pt x="32" y="30"/>
                  </a:cubicBezTo>
                  <a:cubicBezTo>
                    <a:pt x="32" y="30"/>
                    <a:pt x="32" y="31"/>
                    <a:pt x="32" y="31"/>
                  </a:cubicBezTo>
                  <a:cubicBezTo>
                    <a:pt x="32" y="32"/>
                    <a:pt x="32" y="32"/>
                    <a:pt x="32" y="32"/>
                  </a:cubicBezTo>
                  <a:cubicBezTo>
                    <a:pt x="32" y="33"/>
                    <a:pt x="32" y="33"/>
                    <a:pt x="33" y="33"/>
                  </a:cubicBezTo>
                  <a:cubicBezTo>
                    <a:pt x="33" y="33"/>
                    <a:pt x="33" y="33"/>
                    <a:pt x="34" y="33"/>
                  </a:cubicBezTo>
                  <a:cubicBezTo>
                    <a:pt x="34" y="33"/>
                    <a:pt x="34" y="33"/>
                    <a:pt x="34" y="33"/>
                  </a:cubicBezTo>
                  <a:cubicBezTo>
                    <a:pt x="35" y="33"/>
                    <a:pt x="35" y="33"/>
                    <a:pt x="35" y="33"/>
                  </a:cubicBezTo>
                  <a:cubicBezTo>
                    <a:pt x="35" y="34"/>
                    <a:pt x="35" y="34"/>
                    <a:pt x="35" y="34"/>
                  </a:cubicBezTo>
                  <a:cubicBezTo>
                    <a:pt x="35" y="34"/>
                    <a:pt x="35" y="34"/>
                    <a:pt x="35" y="34"/>
                  </a:cubicBezTo>
                  <a:cubicBezTo>
                    <a:pt x="34" y="34"/>
                    <a:pt x="34" y="34"/>
                    <a:pt x="34" y="34"/>
                  </a:cubicBezTo>
                  <a:cubicBezTo>
                    <a:pt x="33" y="34"/>
                    <a:pt x="32" y="34"/>
                    <a:pt x="32" y="34"/>
                  </a:cubicBezTo>
                  <a:cubicBezTo>
                    <a:pt x="31" y="34"/>
                    <a:pt x="31" y="33"/>
                    <a:pt x="31" y="33"/>
                  </a:cubicBezTo>
                  <a:cubicBezTo>
                    <a:pt x="30" y="32"/>
                    <a:pt x="30" y="32"/>
                    <a:pt x="30" y="31"/>
                  </a:cubicBezTo>
                  <a:cubicBezTo>
                    <a:pt x="30" y="31"/>
                    <a:pt x="30" y="30"/>
                    <a:pt x="30" y="30"/>
                  </a:cubicBezTo>
                  <a:cubicBezTo>
                    <a:pt x="31" y="29"/>
                    <a:pt x="31" y="29"/>
                    <a:pt x="31" y="29"/>
                  </a:cubicBezTo>
                  <a:cubicBezTo>
                    <a:pt x="32" y="28"/>
                    <a:pt x="32" y="28"/>
                    <a:pt x="32" y="28"/>
                  </a:cubicBezTo>
                  <a:cubicBezTo>
                    <a:pt x="33" y="28"/>
                    <a:pt x="33" y="28"/>
                    <a:pt x="34" y="28"/>
                  </a:cubicBezTo>
                  <a:cubicBezTo>
                    <a:pt x="34" y="28"/>
                    <a:pt x="34" y="28"/>
                    <a:pt x="35" y="28"/>
                  </a:cubicBezTo>
                  <a:cubicBezTo>
                    <a:pt x="35" y="28"/>
                    <a:pt x="35" y="28"/>
                    <a:pt x="35" y="28"/>
                  </a:cubicBezTo>
                  <a:close/>
                  <a:moveTo>
                    <a:pt x="30" y="17"/>
                  </a:moveTo>
                  <a:cubicBezTo>
                    <a:pt x="34" y="17"/>
                    <a:pt x="34" y="17"/>
                    <a:pt x="34" y="17"/>
                  </a:cubicBezTo>
                  <a:cubicBezTo>
                    <a:pt x="34" y="18"/>
                    <a:pt x="34" y="18"/>
                    <a:pt x="34" y="18"/>
                  </a:cubicBezTo>
                  <a:cubicBezTo>
                    <a:pt x="31" y="18"/>
                    <a:pt x="31" y="18"/>
                    <a:pt x="31" y="18"/>
                  </a:cubicBezTo>
                  <a:cubicBezTo>
                    <a:pt x="31" y="19"/>
                    <a:pt x="31" y="19"/>
                    <a:pt x="31" y="19"/>
                  </a:cubicBezTo>
                  <a:cubicBezTo>
                    <a:pt x="33" y="19"/>
                    <a:pt x="33" y="19"/>
                    <a:pt x="33" y="19"/>
                  </a:cubicBezTo>
                  <a:cubicBezTo>
                    <a:pt x="33" y="20"/>
                    <a:pt x="33" y="20"/>
                    <a:pt x="33" y="20"/>
                  </a:cubicBezTo>
                  <a:cubicBezTo>
                    <a:pt x="31" y="20"/>
                    <a:pt x="31" y="20"/>
                    <a:pt x="31" y="20"/>
                  </a:cubicBezTo>
                  <a:cubicBezTo>
                    <a:pt x="31" y="22"/>
                    <a:pt x="31" y="22"/>
                    <a:pt x="31" y="22"/>
                  </a:cubicBezTo>
                  <a:cubicBezTo>
                    <a:pt x="34" y="22"/>
                    <a:pt x="34" y="22"/>
                    <a:pt x="34" y="22"/>
                  </a:cubicBezTo>
                  <a:cubicBezTo>
                    <a:pt x="34" y="23"/>
                    <a:pt x="34" y="23"/>
                    <a:pt x="34" y="23"/>
                  </a:cubicBezTo>
                  <a:cubicBezTo>
                    <a:pt x="30" y="23"/>
                    <a:pt x="30" y="23"/>
                    <a:pt x="30" y="23"/>
                  </a:cubicBezTo>
                  <a:lnTo>
                    <a:pt x="30" y="17"/>
                  </a:lnTo>
                  <a:close/>
                  <a:moveTo>
                    <a:pt x="29" y="30"/>
                  </a:moveTo>
                  <a:cubicBezTo>
                    <a:pt x="29" y="32"/>
                    <a:pt x="29" y="32"/>
                    <a:pt x="29" y="32"/>
                  </a:cubicBezTo>
                  <a:cubicBezTo>
                    <a:pt x="27" y="32"/>
                    <a:pt x="27" y="32"/>
                    <a:pt x="27" y="32"/>
                  </a:cubicBezTo>
                  <a:cubicBezTo>
                    <a:pt x="27" y="33"/>
                    <a:pt x="27" y="33"/>
                    <a:pt x="27" y="33"/>
                  </a:cubicBezTo>
                  <a:cubicBezTo>
                    <a:pt x="30" y="33"/>
                    <a:pt x="30" y="33"/>
                    <a:pt x="30" y="33"/>
                  </a:cubicBezTo>
                  <a:cubicBezTo>
                    <a:pt x="30" y="34"/>
                    <a:pt x="30" y="34"/>
                    <a:pt x="30" y="34"/>
                  </a:cubicBezTo>
                  <a:cubicBezTo>
                    <a:pt x="25" y="34"/>
                    <a:pt x="25" y="34"/>
                    <a:pt x="25" y="34"/>
                  </a:cubicBezTo>
                  <a:cubicBezTo>
                    <a:pt x="25" y="28"/>
                    <a:pt x="25" y="28"/>
                    <a:pt x="25" y="28"/>
                  </a:cubicBezTo>
                  <a:cubicBezTo>
                    <a:pt x="29" y="28"/>
                    <a:pt x="29" y="28"/>
                    <a:pt x="29" y="28"/>
                  </a:cubicBezTo>
                  <a:cubicBezTo>
                    <a:pt x="29" y="29"/>
                    <a:pt x="29" y="29"/>
                    <a:pt x="29" y="29"/>
                  </a:cubicBezTo>
                  <a:cubicBezTo>
                    <a:pt x="27" y="29"/>
                    <a:pt x="27" y="29"/>
                    <a:pt x="27" y="29"/>
                  </a:cubicBezTo>
                  <a:cubicBezTo>
                    <a:pt x="27" y="30"/>
                    <a:pt x="27" y="30"/>
                    <a:pt x="27" y="30"/>
                  </a:cubicBezTo>
                  <a:lnTo>
                    <a:pt x="29" y="30"/>
                  </a:lnTo>
                  <a:close/>
                  <a:moveTo>
                    <a:pt x="23" y="17"/>
                  </a:moveTo>
                  <a:cubicBezTo>
                    <a:pt x="24" y="17"/>
                    <a:pt x="24" y="17"/>
                    <a:pt x="24" y="17"/>
                  </a:cubicBezTo>
                  <a:cubicBezTo>
                    <a:pt x="26" y="19"/>
                    <a:pt x="26" y="19"/>
                    <a:pt x="26" y="19"/>
                  </a:cubicBezTo>
                  <a:cubicBezTo>
                    <a:pt x="27" y="17"/>
                    <a:pt x="27" y="17"/>
                    <a:pt x="27" y="17"/>
                  </a:cubicBezTo>
                  <a:cubicBezTo>
                    <a:pt x="29" y="17"/>
                    <a:pt x="29" y="17"/>
                    <a:pt x="29" y="17"/>
                  </a:cubicBezTo>
                  <a:cubicBezTo>
                    <a:pt x="27" y="20"/>
                    <a:pt x="27" y="20"/>
                    <a:pt x="27" y="20"/>
                  </a:cubicBezTo>
                  <a:cubicBezTo>
                    <a:pt x="29" y="23"/>
                    <a:pt x="29" y="23"/>
                    <a:pt x="29" y="23"/>
                  </a:cubicBezTo>
                  <a:cubicBezTo>
                    <a:pt x="27" y="23"/>
                    <a:pt x="27" y="23"/>
                    <a:pt x="27" y="23"/>
                  </a:cubicBezTo>
                  <a:cubicBezTo>
                    <a:pt x="26" y="21"/>
                    <a:pt x="26" y="21"/>
                    <a:pt x="26" y="21"/>
                  </a:cubicBezTo>
                  <a:cubicBezTo>
                    <a:pt x="24" y="23"/>
                    <a:pt x="24" y="23"/>
                    <a:pt x="24" y="23"/>
                  </a:cubicBezTo>
                  <a:cubicBezTo>
                    <a:pt x="23" y="23"/>
                    <a:pt x="23" y="23"/>
                    <a:pt x="23" y="23"/>
                  </a:cubicBezTo>
                  <a:cubicBezTo>
                    <a:pt x="25" y="20"/>
                    <a:pt x="25" y="20"/>
                    <a:pt x="25" y="20"/>
                  </a:cubicBezTo>
                  <a:lnTo>
                    <a:pt x="23" y="17"/>
                  </a:lnTo>
                  <a:close/>
                  <a:moveTo>
                    <a:pt x="18" y="17"/>
                  </a:moveTo>
                  <a:cubicBezTo>
                    <a:pt x="22" y="17"/>
                    <a:pt x="22" y="17"/>
                    <a:pt x="22" y="17"/>
                  </a:cubicBezTo>
                  <a:cubicBezTo>
                    <a:pt x="22" y="18"/>
                    <a:pt x="22" y="18"/>
                    <a:pt x="22" y="18"/>
                  </a:cubicBezTo>
                  <a:cubicBezTo>
                    <a:pt x="19" y="18"/>
                    <a:pt x="19" y="18"/>
                    <a:pt x="19" y="18"/>
                  </a:cubicBezTo>
                  <a:cubicBezTo>
                    <a:pt x="19" y="19"/>
                    <a:pt x="19" y="19"/>
                    <a:pt x="19" y="19"/>
                  </a:cubicBezTo>
                  <a:cubicBezTo>
                    <a:pt x="22" y="19"/>
                    <a:pt x="22" y="19"/>
                    <a:pt x="22" y="19"/>
                  </a:cubicBezTo>
                  <a:cubicBezTo>
                    <a:pt x="22" y="20"/>
                    <a:pt x="22" y="20"/>
                    <a:pt x="22" y="20"/>
                  </a:cubicBezTo>
                  <a:cubicBezTo>
                    <a:pt x="19" y="20"/>
                    <a:pt x="19" y="20"/>
                    <a:pt x="19" y="20"/>
                  </a:cubicBezTo>
                  <a:cubicBezTo>
                    <a:pt x="19" y="22"/>
                    <a:pt x="19" y="22"/>
                    <a:pt x="19" y="22"/>
                  </a:cubicBezTo>
                  <a:cubicBezTo>
                    <a:pt x="22" y="22"/>
                    <a:pt x="22" y="22"/>
                    <a:pt x="22" y="22"/>
                  </a:cubicBezTo>
                  <a:cubicBezTo>
                    <a:pt x="22" y="23"/>
                    <a:pt x="22" y="23"/>
                    <a:pt x="22" y="23"/>
                  </a:cubicBezTo>
                  <a:cubicBezTo>
                    <a:pt x="18" y="23"/>
                    <a:pt x="18" y="23"/>
                    <a:pt x="18" y="23"/>
                  </a:cubicBezTo>
                  <a:lnTo>
                    <a:pt x="18" y="17"/>
                  </a:lnTo>
                  <a:close/>
                  <a:moveTo>
                    <a:pt x="17" y="32"/>
                  </a:moveTo>
                  <a:cubicBezTo>
                    <a:pt x="17" y="32"/>
                    <a:pt x="16" y="32"/>
                    <a:pt x="16" y="32"/>
                  </a:cubicBezTo>
                  <a:cubicBezTo>
                    <a:pt x="16" y="32"/>
                    <a:pt x="16" y="32"/>
                    <a:pt x="16" y="31"/>
                  </a:cubicBezTo>
                  <a:cubicBezTo>
                    <a:pt x="15" y="31"/>
                    <a:pt x="15" y="31"/>
                    <a:pt x="15" y="31"/>
                  </a:cubicBezTo>
                  <a:cubicBezTo>
                    <a:pt x="15" y="31"/>
                    <a:pt x="14" y="31"/>
                    <a:pt x="14" y="30"/>
                  </a:cubicBezTo>
                  <a:cubicBezTo>
                    <a:pt x="14" y="30"/>
                    <a:pt x="14" y="30"/>
                    <a:pt x="14" y="30"/>
                  </a:cubicBezTo>
                  <a:cubicBezTo>
                    <a:pt x="14" y="29"/>
                    <a:pt x="14" y="29"/>
                    <a:pt x="14" y="29"/>
                  </a:cubicBezTo>
                  <a:cubicBezTo>
                    <a:pt x="15" y="28"/>
                    <a:pt x="15" y="28"/>
                    <a:pt x="15" y="28"/>
                  </a:cubicBezTo>
                  <a:cubicBezTo>
                    <a:pt x="16" y="28"/>
                    <a:pt x="16" y="28"/>
                    <a:pt x="16" y="28"/>
                  </a:cubicBezTo>
                  <a:cubicBezTo>
                    <a:pt x="17" y="28"/>
                    <a:pt x="17" y="28"/>
                    <a:pt x="18" y="28"/>
                  </a:cubicBezTo>
                  <a:cubicBezTo>
                    <a:pt x="18" y="28"/>
                    <a:pt x="18" y="28"/>
                    <a:pt x="18" y="28"/>
                  </a:cubicBezTo>
                  <a:cubicBezTo>
                    <a:pt x="18" y="29"/>
                    <a:pt x="18" y="29"/>
                    <a:pt x="18" y="29"/>
                  </a:cubicBezTo>
                  <a:cubicBezTo>
                    <a:pt x="18" y="29"/>
                    <a:pt x="17" y="29"/>
                    <a:pt x="17" y="29"/>
                  </a:cubicBezTo>
                  <a:cubicBezTo>
                    <a:pt x="17" y="29"/>
                    <a:pt x="17" y="29"/>
                    <a:pt x="16" y="29"/>
                  </a:cubicBezTo>
                  <a:cubicBezTo>
                    <a:pt x="16" y="29"/>
                    <a:pt x="16" y="29"/>
                    <a:pt x="16" y="29"/>
                  </a:cubicBezTo>
                  <a:cubicBezTo>
                    <a:pt x="16" y="29"/>
                    <a:pt x="16" y="29"/>
                    <a:pt x="16" y="29"/>
                  </a:cubicBezTo>
                  <a:cubicBezTo>
                    <a:pt x="16" y="30"/>
                    <a:pt x="16" y="30"/>
                    <a:pt x="16" y="30"/>
                  </a:cubicBezTo>
                  <a:cubicBezTo>
                    <a:pt x="16" y="30"/>
                    <a:pt x="16" y="30"/>
                    <a:pt x="16" y="30"/>
                  </a:cubicBezTo>
                  <a:cubicBezTo>
                    <a:pt x="17" y="30"/>
                    <a:pt x="17" y="30"/>
                    <a:pt x="17" y="31"/>
                  </a:cubicBezTo>
                  <a:cubicBezTo>
                    <a:pt x="17" y="31"/>
                    <a:pt x="18" y="31"/>
                    <a:pt x="18" y="31"/>
                  </a:cubicBezTo>
                  <a:cubicBezTo>
                    <a:pt x="18" y="31"/>
                    <a:pt x="18" y="31"/>
                    <a:pt x="18" y="32"/>
                  </a:cubicBezTo>
                  <a:cubicBezTo>
                    <a:pt x="18" y="32"/>
                    <a:pt x="19" y="32"/>
                    <a:pt x="19" y="32"/>
                  </a:cubicBezTo>
                  <a:cubicBezTo>
                    <a:pt x="19" y="33"/>
                    <a:pt x="18" y="33"/>
                    <a:pt x="18" y="34"/>
                  </a:cubicBezTo>
                  <a:cubicBezTo>
                    <a:pt x="18" y="34"/>
                    <a:pt x="18" y="34"/>
                    <a:pt x="17" y="34"/>
                  </a:cubicBezTo>
                  <a:cubicBezTo>
                    <a:pt x="17" y="34"/>
                    <a:pt x="16" y="34"/>
                    <a:pt x="16" y="34"/>
                  </a:cubicBezTo>
                  <a:cubicBezTo>
                    <a:pt x="16" y="34"/>
                    <a:pt x="15" y="34"/>
                    <a:pt x="15" y="34"/>
                  </a:cubicBezTo>
                  <a:cubicBezTo>
                    <a:pt x="15" y="34"/>
                    <a:pt x="14" y="34"/>
                    <a:pt x="14" y="34"/>
                  </a:cubicBezTo>
                  <a:cubicBezTo>
                    <a:pt x="15" y="33"/>
                    <a:pt x="15" y="33"/>
                    <a:pt x="15" y="33"/>
                  </a:cubicBezTo>
                  <a:cubicBezTo>
                    <a:pt x="15" y="33"/>
                    <a:pt x="15" y="33"/>
                    <a:pt x="15" y="33"/>
                  </a:cubicBezTo>
                  <a:cubicBezTo>
                    <a:pt x="16" y="33"/>
                    <a:pt x="16" y="33"/>
                    <a:pt x="16" y="33"/>
                  </a:cubicBezTo>
                  <a:cubicBezTo>
                    <a:pt x="16" y="33"/>
                    <a:pt x="17" y="33"/>
                    <a:pt x="17" y="33"/>
                  </a:cubicBezTo>
                  <a:cubicBezTo>
                    <a:pt x="17" y="33"/>
                    <a:pt x="17" y="33"/>
                    <a:pt x="17" y="33"/>
                  </a:cubicBezTo>
                  <a:cubicBezTo>
                    <a:pt x="17" y="32"/>
                    <a:pt x="17" y="32"/>
                    <a:pt x="17"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5" name="Freeform 238">
              <a:extLst>
                <a:ext uri="{FF2B5EF4-FFF2-40B4-BE49-F238E27FC236}">
                  <a16:creationId xmlns:a16="http://schemas.microsoft.com/office/drawing/2014/main" id="{E6D8C0C3-3B56-4C6D-80FA-76218A29F4C9}"/>
                </a:ext>
              </a:extLst>
            </p:cNvPr>
            <p:cNvSpPr>
              <a:spLocks/>
            </p:cNvSpPr>
            <p:nvPr/>
          </p:nvSpPr>
          <p:spPr bwMode="auto">
            <a:xfrm>
              <a:off x="1487488" y="4394200"/>
              <a:ext cx="61912" cy="33338"/>
            </a:xfrm>
            <a:custGeom>
              <a:avLst/>
              <a:gdLst>
                <a:gd name="T0" fmla="*/ 39 w 39"/>
                <a:gd name="T1" fmla="*/ 0 h 21"/>
                <a:gd name="T2" fmla="*/ 14 w 39"/>
                <a:gd name="T3" fmla="*/ 0 h 21"/>
                <a:gd name="T4" fmla="*/ 0 w 39"/>
                <a:gd name="T5" fmla="*/ 21 h 21"/>
                <a:gd name="T6" fmla="*/ 36 w 39"/>
                <a:gd name="T7" fmla="*/ 21 h 21"/>
                <a:gd name="T8" fmla="*/ 39 w 39"/>
                <a:gd name="T9" fmla="*/ 0 h 21"/>
              </a:gdLst>
              <a:ahLst/>
              <a:cxnLst>
                <a:cxn ang="0">
                  <a:pos x="T0" y="T1"/>
                </a:cxn>
                <a:cxn ang="0">
                  <a:pos x="T2" y="T3"/>
                </a:cxn>
                <a:cxn ang="0">
                  <a:pos x="T4" y="T5"/>
                </a:cxn>
                <a:cxn ang="0">
                  <a:pos x="T6" y="T7"/>
                </a:cxn>
                <a:cxn ang="0">
                  <a:pos x="T8" y="T9"/>
                </a:cxn>
              </a:cxnLst>
              <a:rect l="0" t="0" r="r" b="b"/>
              <a:pathLst>
                <a:path w="39" h="21">
                  <a:moveTo>
                    <a:pt x="39" y="0"/>
                  </a:moveTo>
                  <a:lnTo>
                    <a:pt x="14" y="0"/>
                  </a:lnTo>
                  <a:lnTo>
                    <a:pt x="0" y="21"/>
                  </a:lnTo>
                  <a:lnTo>
                    <a:pt x="36" y="21"/>
                  </a:lnTo>
                  <a:lnTo>
                    <a:pt x="3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6" name="Freeform 239">
              <a:extLst>
                <a:ext uri="{FF2B5EF4-FFF2-40B4-BE49-F238E27FC236}">
                  <a16:creationId xmlns:a16="http://schemas.microsoft.com/office/drawing/2014/main" id="{B05E6913-E726-4382-9918-59BCC14347B1}"/>
                </a:ext>
              </a:extLst>
            </p:cNvPr>
            <p:cNvSpPr>
              <a:spLocks/>
            </p:cNvSpPr>
            <p:nvPr/>
          </p:nvSpPr>
          <p:spPr bwMode="auto">
            <a:xfrm>
              <a:off x="1557338" y="4394200"/>
              <a:ext cx="61912" cy="33338"/>
            </a:xfrm>
            <a:custGeom>
              <a:avLst/>
              <a:gdLst>
                <a:gd name="T0" fmla="*/ 39 w 39"/>
                <a:gd name="T1" fmla="*/ 21 h 21"/>
                <a:gd name="T2" fmla="*/ 26 w 39"/>
                <a:gd name="T3" fmla="*/ 0 h 21"/>
                <a:gd name="T4" fmla="*/ 0 w 39"/>
                <a:gd name="T5" fmla="*/ 0 h 21"/>
                <a:gd name="T6" fmla="*/ 3 w 39"/>
                <a:gd name="T7" fmla="*/ 21 h 21"/>
                <a:gd name="T8" fmla="*/ 39 w 39"/>
                <a:gd name="T9" fmla="*/ 21 h 21"/>
              </a:gdLst>
              <a:ahLst/>
              <a:cxnLst>
                <a:cxn ang="0">
                  <a:pos x="T0" y="T1"/>
                </a:cxn>
                <a:cxn ang="0">
                  <a:pos x="T2" y="T3"/>
                </a:cxn>
                <a:cxn ang="0">
                  <a:pos x="T4" y="T5"/>
                </a:cxn>
                <a:cxn ang="0">
                  <a:pos x="T6" y="T7"/>
                </a:cxn>
                <a:cxn ang="0">
                  <a:pos x="T8" y="T9"/>
                </a:cxn>
              </a:cxnLst>
              <a:rect l="0" t="0" r="r" b="b"/>
              <a:pathLst>
                <a:path w="39" h="21">
                  <a:moveTo>
                    <a:pt x="39" y="21"/>
                  </a:moveTo>
                  <a:lnTo>
                    <a:pt x="26" y="0"/>
                  </a:lnTo>
                  <a:lnTo>
                    <a:pt x="0" y="0"/>
                  </a:lnTo>
                  <a:lnTo>
                    <a:pt x="3" y="21"/>
                  </a:lnTo>
                  <a:lnTo>
                    <a:pt x="39"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520157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E01F2A-5714-4D71-9584-5F201509BAB5}"/>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55</a:t>
            </a:fld>
            <a:endParaRPr lang="en-IN" dirty="0">
              <a:solidFill>
                <a:srgbClr val="8C8585"/>
              </a:solidFill>
            </a:endParaRPr>
          </a:p>
        </p:txBody>
      </p:sp>
      <p:sp>
        <p:nvSpPr>
          <p:cNvPr id="6" name="Title 1">
            <a:extLst>
              <a:ext uri="{FF2B5EF4-FFF2-40B4-BE49-F238E27FC236}">
                <a16:creationId xmlns:a16="http://schemas.microsoft.com/office/drawing/2014/main" id="{2F504267-940C-4AE7-9436-628D0D848B7A}"/>
              </a:ext>
            </a:extLst>
          </p:cNvPr>
          <p:cNvSpPr>
            <a:spLocks noGrp="1"/>
          </p:cNvSpPr>
          <p:nvPr>
            <p:ph type="title"/>
          </p:nvPr>
        </p:nvSpPr>
        <p:spPr>
          <a:xfrm>
            <a:off x="363600" y="363600"/>
            <a:ext cx="11460480" cy="383773"/>
          </a:xfrm>
        </p:spPr>
        <p:txBody>
          <a:bodyPr vert="horz"/>
          <a:lstStyle/>
          <a:p>
            <a:r>
              <a:rPr lang="en-US" dirty="0"/>
              <a:t>ICONS 1 – 60</a:t>
            </a:r>
          </a:p>
        </p:txBody>
      </p:sp>
      <p:grpSp>
        <p:nvGrpSpPr>
          <p:cNvPr id="7" name="Group 6">
            <a:extLst>
              <a:ext uri="{FF2B5EF4-FFF2-40B4-BE49-F238E27FC236}">
                <a16:creationId xmlns:a16="http://schemas.microsoft.com/office/drawing/2014/main" id="{BBDEEDD2-CA1F-475B-B5B7-DF6371B9E8DD}"/>
              </a:ext>
            </a:extLst>
          </p:cNvPr>
          <p:cNvGrpSpPr>
            <a:grpSpLocks noChangeAspect="1"/>
          </p:cNvGrpSpPr>
          <p:nvPr/>
        </p:nvGrpSpPr>
        <p:grpSpPr>
          <a:xfrm>
            <a:off x="3438614" y="4425094"/>
            <a:ext cx="276915" cy="274320"/>
            <a:chOff x="3891221" y="2564088"/>
            <a:chExt cx="586567" cy="581073"/>
          </a:xfrm>
          <a:solidFill>
            <a:srgbClr val="595555"/>
          </a:solidFill>
        </p:grpSpPr>
        <p:sp>
          <p:nvSpPr>
            <p:cNvPr id="8" name="Freeform 808">
              <a:extLst>
                <a:ext uri="{FF2B5EF4-FFF2-40B4-BE49-F238E27FC236}">
                  <a16:creationId xmlns:a16="http://schemas.microsoft.com/office/drawing/2014/main" id="{B9A04F01-0D3A-4ACF-8679-4F3BEDC48810}"/>
                </a:ext>
              </a:extLst>
            </p:cNvPr>
            <p:cNvSpPr>
              <a:spLocks noEditPoints="1"/>
            </p:cNvSpPr>
            <p:nvPr/>
          </p:nvSpPr>
          <p:spPr bwMode="auto">
            <a:xfrm>
              <a:off x="3891221" y="2761900"/>
              <a:ext cx="586567" cy="383261"/>
            </a:xfrm>
            <a:custGeom>
              <a:avLst/>
              <a:gdLst>
                <a:gd name="T0" fmla="*/ 0 w 86"/>
                <a:gd name="T1" fmla="*/ 56 h 56"/>
                <a:gd name="T2" fmla="*/ 86 w 86"/>
                <a:gd name="T3" fmla="*/ 56 h 56"/>
                <a:gd name="T4" fmla="*/ 86 w 86"/>
                <a:gd name="T5" fmla="*/ 0 h 56"/>
                <a:gd name="T6" fmla="*/ 0 w 86"/>
                <a:gd name="T7" fmla="*/ 0 h 56"/>
                <a:gd name="T8" fmla="*/ 0 w 86"/>
                <a:gd name="T9" fmla="*/ 56 h 56"/>
                <a:gd name="T10" fmla="*/ 29 w 86"/>
                <a:gd name="T11" fmla="*/ 24 h 56"/>
                <a:gd name="T12" fmla="*/ 32 w 86"/>
                <a:gd name="T13" fmla="*/ 21 h 56"/>
                <a:gd name="T14" fmla="*/ 39 w 86"/>
                <a:gd name="T15" fmla="*/ 14 h 56"/>
                <a:gd name="T16" fmla="*/ 41 w 86"/>
                <a:gd name="T17" fmla="*/ 14 h 56"/>
                <a:gd name="T18" fmla="*/ 43 w 86"/>
                <a:gd name="T19" fmla="*/ 16 h 56"/>
                <a:gd name="T20" fmla="*/ 43 w 86"/>
                <a:gd name="T21" fmla="*/ 18 h 56"/>
                <a:gd name="T22" fmla="*/ 38 w 86"/>
                <a:gd name="T23" fmla="*/ 23 h 56"/>
                <a:gd name="T24" fmla="*/ 47 w 86"/>
                <a:gd name="T25" fmla="*/ 23 h 56"/>
                <a:gd name="T26" fmla="*/ 49 w 86"/>
                <a:gd name="T27" fmla="*/ 23 h 56"/>
                <a:gd name="T28" fmla="*/ 59 w 86"/>
                <a:gd name="T29" fmla="*/ 34 h 56"/>
                <a:gd name="T30" fmla="*/ 48 w 86"/>
                <a:gd name="T31" fmla="*/ 46 h 56"/>
                <a:gd name="T32" fmla="*/ 39 w 86"/>
                <a:gd name="T33" fmla="*/ 46 h 56"/>
                <a:gd name="T34" fmla="*/ 39 w 86"/>
                <a:gd name="T35" fmla="*/ 46 h 56"/>
                <a:gd name="T36" fmla="*/ 39 w 86"/>
                <a:gd name="T37" fmla="*/ 46 h 56"/>
                <a:gd name="T38" fmla="*/ 35 w 86"/>
                <a:gd name="T39" fmla="*/ 46 h 56"/>
                <a:gd name="T40" fmla="*/ 34 w 86"/>
                <a:gd name="T41" fmla="*/ 44 h 56"/>
                <a:gd name="T42" fmla="*/ 34 w 86"/>
                <a:gd name="T43" fmla="*/ 41 h 56"/>
                <a:gd name="T44" fmla="*/ 35 w 86"/>
                <a:gd name="T45" fmla="*/ 40 h 56"/>
                <a:gd name="T46" fmla="*/ 39 w 86"/>
                <a:gd name="T47" fmla="*/ 40 h 56"/>
                <a:gd name="T48" fmla="*/ 44 w 86"/>
                <a:gd name="T49" fmla="*/ 40 h 56"/>
                <a:gd name="T50" fmla="*/ 44 w 86"/>
                <a:gd name="T51" fmla="*/ 40 h 56"/>
                <a:gd name="T52" fmla="*/ 46 w 86"/>
                <a:gd name="T53" fmla="*/ 40 h 56"/>
                <a:gd name="T54" fmla="*/ 48 w 86"/>
                <a:gd name="T55" fmla="*/ 40 h 56"/>
                <a:gd name="T56" fmla="*/ 49 w 86"/>
                <a:gd name="T57" fmla="*/ 40 h 56"/>
                <a:gd name="T58" fmla="*/ 52 w 86"/>
                <a:gd name="T59" fmla="*/ 39 h 56"/>
                <a:gd name="T60" fmla="*/ 53 w 86"/>
                <a:gd name="T61" fmla="*/ 38 h 56"/>
                <a:gd name="T62" fmla="*/ 53 w 86"/>
                <a:gd name="T63" fmla="*/ 36 h 56"/>
                <a:gd name="T64" fmla="*/ 53 w 86"/>
                <a:gd name="T65" fmla="*/ 34 h 56"/>
                <a:gd name="T66" fmla="*/ 47 w 86"/>
                <a:gd name="T67" fmla="*/ 28 h 56"/>
                <a:gd name="T68" fmla="*/ 38 w 86"/>
                <a:gd name="T69" fmla="*/ 28 h 56"/>
                <a:gd name="T70" fmla="*/ 43 w 86"/>
                <a:gd name="T71" fmla="*/ 32 h 56"/>
                <a:gd name="T72" fmla="*/ 43 w 86"/>
                <a:gd name="T73" fmla="*/ 34 h 56"/>
                <a:gd name="T74" fmla="*/ 41 w 86"/>
                <a:gd name="T75" fmla="*/ 36 h 56"/>
                <a:gd name="T76" fmla="*/ 39 w 86"/>
                <a:gd name="T77" fmla="*/ 36 h 56"/>
                <a:gd name="T78" fmla="*/ 32 w 86"/>
                <a:gd name="T79" fmla="*/ 29 h 56"/>
                <a:gd name="T80" fmla="*/ 29 w 86"/>
                <a:gd name="T81" fmla="*/ 26 h 56"/>
                <a:gd name="T82" fmla="*/ 29 w 86"/>
                <a:gd name="T83" fmla="*/ 2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6" h="56">
                  <a:moveTo>
                    <a:pt x="0" y="56"/>
                  </a:moveTo>
                  <a:cubicBezTo>
                    <a:pt x="86" y="56"/>
                    <a:pt x="86" y="56"/>
                    <a:pt x="86" y="56"/>
                  </a:cubicBezTo>
                  <a:cubicBezTo>
                    <a:pt x="86" y="0"/>
                    <a:pt x="86" y="0"/>
                    <a:pt x="86" y="0"/>
                  </a:cubicBezTo>
                  <a:cubicBezTo>
                    <a:pt x="0" y="0"/>
                    <a:pt x="0" y="0"/>
                    <a:pt x="0" y="0"/>
                  </a:cubicBezTo>
                  <a:lnTo>
                    <a:pt x="0" y="56"/>
                  </a:lnTo>
                  <a:close/>
                  <a:moveTo>
                    <a:pt x="29" y="24"/>
                  </a:moveTo>
                  <a:cubicBezTo>
                    <a:pt x="32" y="21"/>
                    <a:pt x="32" y="21"/>
                    <a:pt x="32" y="21"/>
                  </a:cubicBezTo>
                  <a:cubicBezTo>
                    <a:pt x="39" y="14"/>
                    <a:pt x="39" y="14"/>
                    <a:pt x="39" y="14"/>
                  </a:cubicBezTo>
                  <a:cubicBezTo>
                    <a:pt x="39" y="13"/>
                    <a:pt x="40" y="13"/>
                    <a:pt x="41" y="14"/>
                  </a:cubicBezTo>
                  <a:cubicBezTo>
                    <a:pt x="43" y="16"/>
                    <a:pt x="43" y="16"/>
                    <a:pt x="43" y="16"/>
                  </a:cubicBezTo>
                  <a:cubicBezTo>
                    <a:pt x="43" y="17"/>
                    <a:pt x="43" y="17"/>
                    <a:pt x="43" y="18"/>
                  </a:cubicBezTo>
                  <a:cubicBezTo>
                    <a:pt x="38" y="23"/>
                    <a:pt x="38" y="23"/>
                    <a:pt x="38" y="23"/>
                  </a:cubicBezTo>
                  <a:cubicBezTo>
                    <a:pt x="47" y="23"/>
                    <a:pt x="47" y="23"/>
                    <a:pt x="47" y="23"/>
                  </a:cubicBezTo>
                  <a:cubicBezTo>
                    <a:pt x="49" y="23"/>
                    <a:pt x="49" y="23"/>
                    <a:pt x="49" y="23"/>
                  </a:cubicBezTo>
                  <a:cubicBezTo>
                    <a:pt x="55" y="24"/>
                    <a:pt x="59" y="28"/>
                    <a:pt x="59" y="34"/>
                  </a:cubicBezTo>
                  <a:cubicBezTo>
                    <a:pt x="59" y="40"/>
                    <a:pt x="57" y="46"/>
                    <a:pt x="48" y="46"/>
                  </a:cubicBezTo>
                  <a:cubicBezTo>
                    <a:pt x="39" y="46"/>
                    <a:pt x="39" y="46"/>
                    <a:pt x="39" y="46"/>
                  </a:cubicBezTo>
                  <a:cubicBezTo>
                    <a:pt x="39" y="46"/>
                    <a:pt x="39" y="46"/>
                    <a:pt x="39" y="46"/>
                  </a:cubicBezTo>
                  <a:cubicBezTo>
                    <a:pt x="39" y="46"/>
                    <a:pt x="39" y="46"/>
                    <a:pt x="39" y="46"/>
                  </a:cubicBezTo>
                  <a:cubicBezTo>
                    <a:pt x="35" y="46"/>
                    <a:pt x="35" y="46"/>
                    <a:pt x="35" y="46"/>
                  </a:cubicBezTo>
                  <a:cubicBezTo>
                    <a:pt x="34" y="46"/>
                    <a:pt x="34" y="45"/>
                    <a:pt x="34" y="44"/>
                  </a:cubicBezTo>
                  <a:cubicBezTo>
                    <a:pt x="34" y="41"/>
                    <a:pt x="34" y="41"/>
                    <a:pt x="34" y="41"/>
                  </a:cubicBezTo>
                  <a:cubicBezTo>
                    <a:pt x="34" y="41"/>
                    <a:pt x="34" y="40"/>
                    <a:pt x="35" y="40"/>
                  </a:cubicBezTo>
                  <a:cubicBezTo>
                    <a:pt x="39" y="40"/>
                    <a:pt x="39" y="40"/>
                    <a:pt x="39" y="40"/>
                  </a:cubicBezTo>
                  <a:cubicBezTo>
                    <a:pt x="44" y="40"/>
                    <a:pt x="44" y="40"/>
                    <a:pt x="44" y="40"/>
                  </a:cubicBezTo>
                  <a:cubicBezTo>
                    <a:pt x="44" y="40"/>
                    <a:pt x="44" y="40"/>
                    <a:pt x="44" y="40"/>
                  </a:cubicBezTo>
                  <a:cubicBezTo>
                    <a:pt x="46" y="40"/>
                    <a:pt x="46" y="40"/>
                    <a:pt x="46" y="40"/>
                  </a:cubicBezTo>
                  <a:cubicBezTo>
                    <a:pt x="46" y="40"/>
                    <a:pt x="47" y="40"/>
                    <a:pt x="48" y="40"/>
                  </a:cubicBezTo>
                  <a:cubicBezTo>
                    <a:pt x="48" y="40"/>
                    <a:pt x="49" y="40"/>
                    <a:pt x="49" y="40"/>
                  </a:cubicBezTo>
                  <a:cubicBezTo>
                    <a:pt x="50" y="40"/>
                    <a:pt x="51" y="40"/>
                    <a:pt x="52" y="39"/>
                  </a:cubicBezTo>
                  <a:cubicBezTo>
                    <a:pt x="52" y="39"/>
                    <a:pt x="52" y="38"/>
                    <a:pt x="53" y="38"/>
                  </a:cubicBezTo>
                  <a:cubicBezTo>
                    <a:pt x="53" y="37"/>
                    <a:pt x="53" y="36"/>
                    <a:pt x="53" y="36"/>
                  </a:cubicBezTo>
                  <a:cubicBezTo>
                    <a:pt x="53" y="35"/>
                    <a:pt x="53" y="35"/>
                    <a:pt x="53" y="34"/>
                  </a:cubicBezTo>
                  <a:cubicBezTo>
                    <a:pt x="53" y="31"/>
                    <a:pt x="50" y="28"/>
                    <a:pt x="47" y="28"/>
                  </a:cubicBezTo>
                  <a:cubicBezTo>
                    <a:pt x="38" y="28"/>
                    <a:pt x="38" y="28"/>
                    <a:pt x="38" y="28"/>
                  </a:cubicBezTo>
                  <a:cubicBezTo>
                    <a:pt x="43" y="32"/>
                    <a:pt x="43" y="32"/>
                    <a:pt x="43" y="32"/>
                  </a:cubicBezTo>
                  <a:cubicBezTo>
                    <a:pt x="43" y="33"/>
                    <a:pt x="43" y="33"/>
                    <a:pt x="43" y="34"/>
                  </a:cubicBezTo>
                  <a:cubicBezTo>
                    <a:pt x="41" y="36"/>
                    <a:pt x="41" y="36"/>
                    <a:pt x="41" y="36"/>
                  </a:cubicBezTo>
                  <a:cubicBezTo>
                    <a:pt x="40" y="36"/>
                    <a:pt x="39" y="36"/>
                    <a:pt x="39" y="36"/>
                  </a:cubicBezTo>
                  <a:cubicBezTo>
                    <a:pt x="32" y="29"/>
                    <a:pt x="32" y="29"/>
                    <a:pt x="32" y="29"/>
                  </a:cubicBezTo>
                  <a:cubicBezTo>
                    <a:pt x="29" y="26"/>
                    <a:pt x="29" y="26"/>
                    <a:pt x="29" y="26"/>
                  </a:cubicBezTo>
                  <a:cubicBezTo>
                    <a:pt x="28" y="25"/>
                    <a:pt x="28" y="25"/>
                    <a:pt x="29"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809">
              <a:extLst>
                <a:ext uri="{FF2B5EF4-FFF2-40B4-BE49-F238E27FC236}">
                  <a16:creationId xmlns:a16="http://schemas.microsoft.com/office/drawing/2014/main" id="{8589A1DE-AE86-43E0-9842-A5506138BF70}"/>
                </a:ext>
              </a:extLst>
            </p:cNvPr>
            <p:cNvSpPr>
              <a:spLocks/>
            </p:cNvSpPr>
            <p:nvPr/>
          </p:nvSpPr>
          <p:spPr bwMode="auto">
            <a:xfrm>
              <a:off x="3891221" y="2564088"/>
              <a:ext cx="273365" cy="164843"/>
            </a:xfrm>
            <a:custGeom>
              <a:avLst/>
              <a:gdLst>
                <a:gd name="T0" fmla="*/ 199 w 199"/>
                <a:gd name="T1" fmla="*/ 0 h 120"/>
                <a:gd name="T2" fmla="*/ 69 w 199"/>
                <a:gd name="T3" fmla="*/ 0 h 120"/>
                <a:gd name="T4" fmla="*/ 0 w 199"/>
                <a:gd name="T5" fmla="*/ 120 h 120"/>
                <a:gd name="T6" fmla="*/ 189 w 199"/>
                <a:gd name="T7" fmla="*/ 120 h 120"/>
                <a:gd name="T8" fmla="*/ 199 w 199"/>
                <a:gd name="T9" fmla="*/ 0 h 120"/>
              </a:gdLst>
              <a:ahLst/>
              <a:cxnLst>
                <a:cxn ang="0">
                  <a:pos x="T0" y="T1"/>
                </a:cxn>
                <a:cxn ang="0">
                  <a:pos x="T2" y="T3"/>
                </a:cxn>
                <a:cxn ang="0">
                  <a:pos x="T4" y="T5"/>
                </a:cxn>
                <a:cxn ang="0">
                  <a:pos x="T6" y="T7"/>
                </a:cxn>
                <a:cxn ang="0">
                  <a:pos x="T8" y="T9"/>
                </a:cxn>
              </a:cxnLst>
              <a:rect l="0" t="0" r="r" b="b"/>
              <a:pathLst>
                <a:path w="199" h="120">
                  <a:moveTo>
                    <a:pt x="199" y="0"/>
                  </a:moveTo>
                  <a:lnTo>
                    <a:pt x="69" y="0"/>
                  </a:lnTo>
                  <a:lnTo>
                    <a:pt x="0" y="120"/>
                  </a:lnTo>
                  <a:lnTo>
                    <a:pt x="189" y="120"/>
                  </a:lnTo>
                  <a:lnTo>
                    <a:pt x="19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10">
              <a:extLst>
                <a:ext uri="{FF2B5EF4-FFF2-40B4-BE49-F238E27FC236}">
                  <a16:creationId xmlns:a16="http://schemas.microsoft.com/office/drawing/2014/main" id="{4E9CD823-C591-4DC6-AFE2-93A4C162AAEA}"/>
                </a:ext>
              </a:extLst>
            </p:cNvPr>
            <p:cNvSpPr>
              <a:spLocks/>
            </p:cNvSpPr>
            <p:nvPr/>
          </p:nvSpPr>
          <p:spPr bwMode="auto">
            <a:xfrm>
              <a:off x="4204423" y="2564088"/>
              <a:ext cx="273365" cy="164843"/>
            </a:xfrm>
            <a:custGeom>
              <a:avLst/>
              <a:gdLst>
                <a:gd name="T0" fmla="*/ 199 w 199"/>
                <a:gd name="T1" fmla="*/ 120 h 120"/>
                <a:gd name="T2" fmla="*/ 130 w 199"/>
                <a:gd name="T3" fmla="*/ 0 h 120"/>
                <a:gd name="T4" fmla="*/ 0 w 199"/>
                <a:gd name="T5" fmla="*/ 0 h 120"/>
                <a:gd name="T6" fmla="*/ 10 w 199"/>
                <a:gd name="T7" fmla="*/ 120 h 120"/>
                <a:gd name="T8" fmla="*/ 199 w 199"/>
                <a:gd name="T9" fmla="*/ 120 h 120"/>
              </a:gdLst>
              <a:ahLst/>
              <a:cxnLst>
                <a:cxn ang="0">
                  <a:pos x="T0" y="T1"/>
                </a:cxn>
                <a:cxn ang="0">
                  <a:pos x="T2" y="T3"/>
                </a:cxn>
                <a:cxn ang="0">
                  <a:pos x="T4" y="T5"/>
                </a:cxn>
                <a:cxn ang="0">
                  <a:pos x="T6" y="T7"/>
                </a:cxn>
                <a:cxn ang="0">
                  <a:pos x="T8" y="T9"/>
                </a:cxn>
              </a:cxnLst>
              <a:rect l="0" t="0" r="r" b="b"/>
              <a:pathLst>
                <a:path w="199" h="120">
                  <a:moveTo>
                    <a:pt x="199" y="120"/>
                  </a:moveTo>
                  <a:lnTo>
                    <a:pt x="130" y="0"/>
                  </a:lnTo>
                  <a:lnTo>
                    <a:pt x="0" y="0"/>
                  </a:lnTo>
                  <a:lnTo>
                    <a:pt x="10" y="120"/>
                  </a:lnTo>
                  <a:lnTo>
                    <a:pt x="199"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1" name="Freeform 811">
            <a:extLst>
              <a:ext uri="{FF2B5EF4-FFF2-40B4-BE49-F238E27FC236}">
                <a16:creationId xmlns:a16="http://schemas.microsoft.com/office/drawing/2014/main" id="{5BC50E2C-A41E-42D7-B5AB-C9DA8EEBA44D}"/>
              </a:ext>
            </a:extLst>
          </p:cNvPr>
          <p:cNvSpPr>
            <a:spLocks noChangeAspect="1" noEditPoints="1"/>
          </p:cNvSpPr>
          <p:nvPr/>
        </p:nvSpPr>
        <p:spPr bwMode="auto">
          <a:xfrm>
            <a:off x="6203620" y="4499600"/>
            <a:ext cx="351756" cy="274320"/>
          </a:xfrm>
          <a:custGeom>
            <a:avLst/>
            <a:gdLst>
              <a:gd name="T0" fmla="*/ 34 w 86"/>
              <a:gd name="T1" fmla="*/ 18 h 67"/>
              <a:gd name="T2" fmla="*/ 19 w 86"/>
              <a:gd name="T3" fmla="*/ 34 h 67"/>
              <a:gd name="T4" fmla="*/ 34 w 86"/>
              <a:gd name="T5" fmla="*/ 49 h 67"/>
              <a:gd name="T6" fmla="*/ 50 w 86"/>
              <a:gd name="T7" fmla="*/ 34 h 67"/>
              <a:gd name="T8" fmla="*/ 34 w 86"/>
              <a:gd name="T9" fmla="*/ 18 h 67"/>
              <a:gd name="T10" fmla="*/ 34 w 86"/>
              <a:gd name="T11" fmla="*/ 44 h 67"/>
              <a:gd name="T12" fmla="*/ 24 w 86"/>
              <a:gd name="T13" fmla="*/ 34 h 67"/>
              <a:gd name="T14" fmla="*/ 34 w 86"/>
              <a:gd name="T15" fmla="*/ 23 h 67"/>
              <a:gd name="T16" fmla="*/ 45 w 86"/>
              <a:gd name="T17" fmla="*/ 34 h 67"/>
              <a:gd name="T18" fmla="*/ 34 w 86"/>
              <a:gd name="T19" fmla="*/ 44 h 67"/>
              <a:gd name="T20" fmla="*/ 54 w 86"/>
              <a:gd name="T21" fmla="*/ 34 h 67"/>
              <a:gd name="T22" fmla="*/ 34 w 86"/>
              <a:gd name="T23" fmla="*/ 14 h 67"/>
              <a:gd name="T24" fmla="*/ 15 w 86"/>
              <a:gd name="T25" fmla="*/ 34 h 67"/>
              <a:gd name="T26" fmla="*/ 34 w 86"/>
              <a:gd name="T27" fmla="*/ 53 h 67"/>
              <a:gd name="T28" fmla="*/ 54 w 86"/>
              <a:gd name="T29" fmla="*/ 34 h 67"/>
              <a:gd name="T30" fmla="*/ 86 w 86"/>
              <a:gd name="T31" fmla="*/ 62 h 67"/>
              <a:gd name="T32" fmla="*/ 85 w 86"/>
              <a:gd name="T33" fmla="*/ 65 h 67"/>
              <a:gd name="T34" fmla="*/ 66 w 86"/>
              <a:gd name="T35" fmla="*/ 46 h 67"/>
              <a:gd name="T36" fmla="*/ 34 w 86"/>
              <a:gd name="T37" fmla="*/ 67 h 67"/>
              <a:gd name="T38" fmla="*/ 0 w 86"/>
              <a:gd name="T39" fmla="*/ 34 h 67"/>
              <a:gd name="T40" fmla="*/ 34 w 86"/>
              <a:gd name="T41" fmla="*/ 0 h 67"/>
              <a:gd name="T42" fmla="*/ 68 w 86"/>
              <a:gd name="T43" fmla="*/ 34 h 67"/>
              <a:gd name="T44" fmla="*/ 68 w 86"/>
              <a:gd name="T45" fmla="*/ 34 h 67"/>
              <a:gd name="T46" fmla="*/ 68 w 86"/>
              <a:gd name="T47" fmla="*/ 34 h 67"/>
              <a:gd name="T48" fmla="*/ 86 w 86"/>
              <a:gd name="T49" fmla="*/ 6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6" h="67">
                <a:moveTo>
                  <a:pt x="34" y="18"/>
                </a:moveTo>
                <a:cubicBezTo>
                  <a:pt x="26" y="18"/>
                  <a:pt x="19" y="25"/>
                  <a:pt x="19" y="34"/>
                </a:cubicBezTo>
                <a:cubicBezTo>
                  <a:pt x="19" y="42"/>
                  <a:pt x="26" y="49"/>
                  <a:pt x="34" y="49"/>
                </a:cubicBezTo>
                <a:cubicBezTo>
                  <a:pt x="43" y="49"/>
                  <a:pt x="50" y="42"/>
                  <a:pt x="50" y="34"/>
                </a:cubicBezTo>
                <a:cubicBezTo>
                  <a:pt x="50" y="25"/>
                  <a:pt x="43" y="18"/>
                  <a:pt x="34" y="18"/>
                </a:cubicBezTo>
                <a:close/>
                <a:moveTo>
                  <a:pt x="34" y="44"/>
                </a:moveTo>
                <a:cubicBezTo>
                  <a:pt x="28" y="44"/>
                  <a:pt x="24" y="39"/>
                  <a:pt x="24" y="34"/>
                </a:cubicBezTo>
                <a:cubicBezTo>
                  <a:pt x="24" y="28"/>
                  <a:pt x="28" y="23"/>
                  <a:pt x="34" y="23"/>
                </a:cubicBezTo>
                <a:cubicBezTo>
                  <a:pt x="40" y="23"/>
                  <a:pt x="45" y="28"/>
                  <a:pt x="45" y="34"/>
                </a:cubicBezTo>
                <a:cubicBezTo>
                  <a:pt x="45" y="39"/>
                  <a:pt x="40" y="44"/>
                  <a:pt x="34" y="44"/>
                </a:cubicBezTo>
                <a:close/>
                <a:moveTo>
                  <a:pt x="54" y="34"/>
                </a:moveTo>
                <a:cubicBezTo>
                  <a:pt x="54" y="23"/>
                  <a:pt x="45" y="14"/>
                  <a:pt x="34" y="14"/>
                </a:cubicBezTo>
                <a:cubicBezTo>
                  <a:pt x="23" y="14"/>
                  <a:pt x="15" y="23"/>
                  <a:pt x="15" y="34"/>
                </a:cubicBezTo>
                <a:cubicBezTo>
                  <a:pt x="15" y="45"/>
                  <a:pt x="23" y="53"/>
                  <a:pt x="34" y="53"/>
                </a:cubicBezTo>
                <a:cubicBezTo>
                  <a:pt x="45" y="53"/>
                  <a:pt x="54" y="45"/>
                  <a:pt x="54" y="34"/>
                </a:cubicBezTo>
                <a:close/>
                <a:moveTo>
                  <a:pt x="86" y="62"/>
                </a:moveTo>
                <a:cubicBezTo>
                  <a:pt x="85" y="65"/>
                  <a:pt x="85" y="65"/>
                  <a:pt x="85" y="65"/>
                </a:cubicBezTo>
                <a:cubicBezTo>
                  <a:pt x="73" y="63"/>
                  <a:pt x="68" y="56"/>
                  <a:pt x="66" y="46"/>
                </a:cubicBezTo>
                <a:cubicBezTo>
                  <a:pt x="61" y="59"/>
                  <a:pt x="49" y="67"/>
                  <a:pt x="34" y="67"/>
                </a:cubicBezTo>
                <a:cubicBezTo>
                  <a:pt x="16" y="67"/>
                  <a:pt x="0" y="52"/>
                  <a:pt x="0" y="34"/>
                </a:cubicBezTo>
                <a:cubicBezTo>
                  <a:pt x="0" y="15"/>
                  <a:pt x="16" y="0"/>
                  <a:pt x="34" y="0"/>
                </a:cubicBezTo>
                <a:cubicBezTo>
                  <a:pt x="53" y="0"/>
                  <a:pt x="68" y="15"/>
                  <a:pt x="68" y="34"/>
                </a:cubicBezTo>
                <a:cubicBezTo>
                  <a:pt x="68" y="34"/>
                  <a:pt x="68" y="34"/>
                  <a:pt x="68" y="34"/>
                </a:cubicBezTo>
                <a:cubicBezTo>
                  <a:pt x="68" y="34"/>
                  <a:pt x="68" y="34"/>
                  <a:pt x="68" y="34"/>
                </a:cubicBezTo>
                <a:cubicBezTo>
                  <a:pt x="68" y="52"/>
                  <a:pt x="72" y="59"/>
                  <a:pt x="86" y="6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812">
            <a:extLst>
              <a:ext uri="{FF2B5EF4-FFF2-40B4-BE49-F238E27FC236}">
                <a16:creationId xmlns:a16="http://schemas.microsoft.com/office/drawing/2014/main" id="{9CE30FCF-5449-4E09-A9C8-98B2A234222C}"/>
              </a:ext>
            </a:extLst>
          </p:cNvPr>
          <p:cNvSpPr>
            <a:spLocks noChangeAspect="1" noEditPoints="1"/>
          </p:cNvSpPr>
          <p:nvPr/>
        </p:nvSpPr>
        <p:spPr bwMode="auto">
          <a:xfrm>
            <a:off x="7132463" y="4466487"/>
            <a:ext cx="328719" cy="274320"/>
          </a:xfrm>
          <a:custGeom>
            <a:avLst/>
            <a:gdLst>
              <a:gd name="T0" fmla="*/ 13 w 85"/>
              <a:gd name="T1" fmla="*/ 39 h 71"/>
              <a:gd name="T2" fmla="*/ 8 w 85"/>
              <a:gd name="T3" fmla="*/ 40 h 71"/>
              <a:gd name="T4" fmla="*/ 43 w 85"/>
              <a:gd name="T5" fmla="*/ 4 h 71"/>
              <a:gd name="T6" fmla="*/ 53 w 85"/>
              <a:gd name="T7" fmla="*/ 0 h 71"/>
              <a:gd name="T8" fmla="*/ 64 w 85"/>
              <a:gd name="T9" fmla="*/ 11 h 71"/>
              <a:gd name="T10" fmla="*/ 61 w 85"/>
              <a:gd name="T11" fmla="*/ 17 h 71"/>
              <a:gd name="T12" fmla="*/ 25 w 85"/>
              <a:gd name="T13" fmla="*/ 53 h 71"/>
              <a:gd name="T14" fmla="*/ 25 w 85"/>
              <a:gd name="T15" fmla="*/ 51 h 71"/>
              <a:gd name="T16" fmla="*/ 13 w 85"/>
              <a:gd name="T17" fmla="*/ 39 h 71"/>
              <a:gd name="T18" fmla="*/ 13 w 85"/>
              <a:gd name="T19" fmla="*/ 42 h 71"/>
              <a:gd name="T20" fmla="*/ 0 w 85"/>
              <a:gd name="T21" fmla="*/ 55 h 71"/>
              <a:gd name="T22" fmla="*/ 16 w 85"/>
              <a:gd name="T23" fmla="*/ 71 h 71"/>
              <a:gd name="T24" fmla="*/ 47 w 85"/>
              <a:gd name="T25" fmla="*/ 71 h 71"/>
              <a:gd name="T26" fmla="*/ 85 w 85"/>
              <a:gd name="T27" fmla="*/ 34 h 71"/>
              <a:gd name="T28" fmla="*/ 57 w 85"/>
              <a:gd name="T29" fmla="*/ 34 h 71"/>
              <a:gd name="T30" fmla="*/ 50 w 85"/>
              <a:gd name="T31" fmla="*/ 32 h 71"/>
              <a:gd name="T32" fmla="*/ 23 w 85"/>
              <a:gd name="T33" fmla="*/ 59 h 71"/>
              <a:gd name="T34" fmla="*/ 13 w 85"/>
              <a:gd name="T35" fmla="*/ 62 h 71"/>
              <a:gd name="T36" fmla="*/ 10 w 85"/>
              <a:gd name="T37" fmla="*/ 61 h 71"/>
              <a:gd name="T38" fmla="*/ 15 w 85"/>
              <a:gd name="T39" fmla="*/ 47 h 71"/>
              <a:gd name="T40" fmla="*/ 18 w 85"/>
              <a:gd name="T41" fmla="*/ 48 h 71"/>
              <a:gd name="T42" fmla="*/ 15 w 85"/>
              <a:gd name="T43" fmla="*/ 58 h 71"/>
              <a:gd name="T44" fmla="*/ 14 w 85"/>
              <a:gd name="T45" fmla="*/ 58 h 71"/>
              <a:gd name="T46" fmla="*/ 14 w 85"/>
              <a:gd name="T47" fmla="*/ 55 h 71"/>
              <a:gd name="T48" fmla="*/ 15 w 85"/>
              <a:gd name="T49" fmla="*/ 55 h 71"/>
              <a:gd name="T50" fmla="*/ 17 w 85"/>
              <a:gd name="T51" fmla="*/ 53 h 71"/>
              <a:gd name="T52" fmla="*/ 14 w 85"/>
              <a:gd name="T53" fmla="*/ 49 h 71"/>
              <a:gd name="T54" fmla="*/ 9 w 85"/>
              <a:gd name="T55" fmla="*/ 54 h 71"/>
              <a:gd name="T56" fmla="*/ 15 w 85"/>
              <a:gd name="T57" fmla="*/ 60 h 71"/>
              <a:gd name="T58" fmla="*/ 23 w 85"/>
              <a:gd name="T59" fmla="*/ 52 h 71"/>
              <a:gd name="T60" fmla="*/ 13 w 85"/>
              <a:gd name="T61" fmla="*/ 4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5" h="71">
                <a:moveTo>
                  <a:pt x="13" y="39"/>
                </a:moveTo>
                <a:cubicBezTo>
                  <a:pt x="11" y="39"/>
                  <a:pt x="9" y="39"/>
                  <a:pt x="8" y="40"/>
                </a:cubicBezTo>
                <a:cubicBezTo>
                  <a:pt x="43" y="4"/>
                  <a:pt x="43" y="4"/>
                  <a:pt x="43" y="4"/>
                </a:cubicBezTo>
                <a:cubicBezTo>
                  <a:pt x="46" y="2"/>
                  <a:pt x="49" y="0"/>
                  <a:pt x="53" y="0"/>
                </a:cubicBezTo>
                <a:cubicBezTo>
                  <a:pt x="59" y="0"/>
                  <a:pt x="64" y="5"/>
                  <a:pt x="64" y="11"/>
                </a:cubicBezTo>
                <a:cubicBezTo>
                  <a:pt x="64" y="13"/>
                  <a:pt x="63" y="15"/>
                  <a:pt x="61" y="17"/>
                </a:cubicBezTo>
                <a:cubicBezTo>
                  <a:pt x="25" y="53"/>
                  <a:pt x="25" y="53"/>
                  <a:pt x="25" y="53"/>
                </a:cubicBezTo>
                <a:cubicBezTo>
                  <a:pt x="25" y="53"/>
                  <a:pt x="25" y="52"/>
                  <a:pt x="25" y="51"/>
                </a:cubicBezTo>
                <a:cubicBezTo>
                  <a:pt x="25" y="44"/>
                  <a:pt x="20" y="39"/>
                  <a:pt x="13" y="39"/>
                </a:cubicBezTo>
                <a:close/>
                <a:moveTo>
                  <a:pt x="13" y="42"/>
                </a:moveTo>
                <a:cubicBezTo>
                  <a:pt x="6" y="42"/>
                  <a:pt x="0" y="48"/>
                  <a:pt x="0" y="55"/>
                </a:cubicBezTo>
                <a:cubicBezTo>
                  <a:pt x="0" y="64"/>
                  <a:pt x="7" y="71"/>
                  <a:pt x="16" y="71"/>
                </a:cubicBezTo>
                <a:cubicBezTo>
                  <a:pt x="47" y="71"/>
                  <a:pt x="47" y="71"/>
                  <a:pt x="47" y="71"/>
                </a:cubicBezTo>
                <a:cubicBezTo>
                  <a:pt x="85" y="34"/>
                  <a:pt x="85" y="34"/>
                  <a:pt x="85" y="34"/>
                </a:cubicBezTo>
                <a:cubicBezTo>
                  <a:pt x="57" y="34"/>
                  <a:pt x="57" y="34"/>
                  <a:pt x="57" y="34"/>
                </a:cubicBezTo>
                <a:cubicBezTo>
                  <a:pt x="55" y="34"/>
                  <a:pt x="52" y="33"/>
                  <a:pt x="50" y="32"/>
                </a:cubicBezTo>
                <a:cubicBezTo>
                  <a:pt x="23" y="59"/>
                  <a:pt x="23" y="59"/>
                  <a:pt x="23" y="59"/>
                </a:cubicBezTo>
                <a:cubicBezTo>
                  <a:pt x="20" y="62"/>
                  <a:pt x="17" y="63"/>
                  <a:pt x="13" y="62"/>
                </a:cubicBezTo>
                <a:cubicBezTo>
                  <a:pt x="12" y="62"/>
                  <a:pt x="11" y="61"/>
                  <a:pt x="10" y="61"/>
                </a:cubicBezTo>
                <a:cubicBezTo>
                  <a:pt x="2" y="54"/>
                  <a:pt x="8" y="45"/>
                  <a:pt x="15" y="47"/>
                </a:cubicBezTo>
                <a:cubicBezTo>
                  <a:pt x="16" y="47"/>
                  <a:pt x="17" y="47"/>
                  <a:pt x="18" y="48"/>
                </a:cubicBezTo>
                <a:cubicBezTo>
                  <a:pt x="22" y="52"/>
                  <a:pt x="19" y="58"/>
                  <a:pt x="15" y="58"/>
                </a:cubicBezTo>
                <a:cubicBezTo>
                  <a:pt x="14" y="58"/>
                  <a:pt x="14" y="58"/>
                  <a:pt x="14" y="58"/>
                </a:cubicBezTo>
                <a:cubicBezTo>
                  <a:pt x="14" y="55"/>
                  <a:pt x="14" y="55"/>
                  <a:pt x="14" y="55"/>
                </a:cubicBezTo>
                <a:cubicBezTo>
                  <a:pt x="15" y="55"/>
                  <a:pt x="15" y="55"/>
                  <a:pt x="15" y="55"/>
                </a:cubicBezTo>
                <a:cubicBezTo>
                  <a:pt x="16" y="55"/>
                  <a:pt x="17" y="54"/>
                  <a:pt x="17" y="53"/>
                </a:cubicBezTo>
                <a:cubicBezTo>
                  <a:pt x="17" y="51"/>
                  <a:pt x="16" y="49"/>
                  <a:pt x="14" y="49"/>
                </a:cubicBezTo>
                <a:cubicBezTo>
                  <a:pt x="11" y="49"/>
                  <a:pt x="9" y="51"/>
                  <a:pt x="9" y="54"/>
                </a:cubicBezTo>
                <a:cubicBezTo>
                  <a:pt x="9" y="57"/>
                  <a:pt x="12" y="60"/>
                  <a:pt x="15" y="60"/>
                </a:cubicBezTo>
                <a:cubicBezTo>
                  <a:pt x="19" y="60"/>
                  <a:pt x="23" y="56"/>
                  <a:pt x="23" y="52"/>
                </a:cubicBezTo>
                <a:cubicBezTo>
                  <a:pt x="23" y="46"/>
                  <a:pt x="18" y="42"/>
                  <a:pt x="13" y="4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813">
            <a:extLst>
              <a:ext uri="{FF2B5EF4-FFF2-40B4-BE49-F238E27FC236}">
                <a16:creationId xmlns:a16="http://schemas.microsoft.com/office/drawing/2014/main" id="{F1296AF0-69A2-42FB-932C-46865532F5F9}"/>
              </a:ext>
            </a:extLst>
          </p:cNvPr>
          <p:cNvSpPr>
            <a:spLocks noChangeAspect="1" noEditPoints="1"/>
          </p:cNvSpPr>
          <p:nvPr/>
        </p:nvSpPr>
        <p:spPr bwMode="auto">
          <a:xfrm>
            <a:off x="8991806" y="4425094"/>
            <a:ext cx="261351" cy="274320"/>
          </a:xfrm>
          <a:custGeom>
            <a:avLst/>
            <a:gdLst>
              <a:gd name="T0" fmla="*/ 37 w 81"/>
              <a:gd name="T1" fmla="*/ 30 h 85"/>
              <a:gd name="T2" fmla="*/ 81 w 81"/>
              <a:gd name="T3" fmla="*/ 35 h 85"/>
              <a:gd name="T4" fmla="*/ 75 w 81"/>
              <a:gd name="T5" fmla="*/ 33 h 85"/>
              <a:gd name="T6" fmla="*/ 77 w 81"/>
              <a:gd name="T7" fmla="*/ 26 h 85"/>
              <a:gd name="T8" fmla="*/ 81 w 81"/>
              <a:gd name="T9" fmla="*/ 24 h 85"/>
              <a:gd name="T10" fmla="*/ 75 w 81"/>
              <a:gd name="T11" fmla="*/ 18 h 85"/>
              <a:gd name="T12" fmla="*/ 69 w 81"/>
              <a:gd name="T13" fmla="*/ 14 h 85"/>
              <a:gd name="T14" fmla="*/ 72 w 81"/>
              <a:gd name="T15" fmla="*/ 8 h 85"/>
              <a:gd name="T16" fmla="*/ 66 w 81"/>
              <a:gd name="T17" fmla="*/ 4 h 85"/>
              <a:gd name="T18" fmla="*/ 62 w 81"/>
              <a:gd name="T19" fmla="*/ 8 h 85"/>
              <a:gd name="T20" fmla="*/ 56 w 81"/>
              <a:gd name="T21" fmla="*/ 4 h 85"/>
              <a:gd name="T22" fmla="*/ 48 w 81"/>
              <a:gd name="T23" fmla="*/ 0 h 85"/>
              <a:gd name="T24" fmla="*/ 47 w 81"/>
              <a:gd name="T25" fmla="*/ 5 h 85"/>
              <a:gd name="T26" fmla="*/ 40 w 81"/>
              <a:gd name="T27" fmla="*/ 7 h 85"/>
              <a:gd name="T28" fmla="*/ 36 w 81"/>
              <a:gd name="T29" fmla="*/ 4 h 85"/>
              <a:gd name="T30" fmla="*/ 32 w 81"/>
              <a:gd name="T31" fmla="*/ 11 h 85"/>
              <a:gd name="T32" fmla="*/ 30 w 81"/>
              <a:gd name="T33" fmla="*/ 19 h 85"/>
              <a:gd name="T34" fmla="*/ 25 w 81"/>
              <a:gd name="T35" fmla="*/ 17 h 85"/>
              <a:gd name="T36" fmla="*/ 22 w 81"/>
              <a:gd name="T37" fmla="*/ 24 h 85"/>
              <a:gd name="T38" fmla="*/ 28 w 81"/>
              <a:gd name="T39" fmla="*/ 27 h 85"/>
              <a:gd name="T40" fmla="*/ 26 w 81"/>
              <a:gd name="T41" fmla="*/ 34 h 85"/>
              <a:gd name="T42" fmla="*/ 22 w 81"/>
              <a:gd name="T43" fmla="*/ 36 h 85"/>
              <a:gd name="T44" fmla="*/ 28 w 81"/>
              <a:gd name="T45" fmla="*/ 42 h 85"/>
              <a:gd name="T46" fmla="*/ 34 w 81"/>
              <a:gd name="T47" fmla="*/ 46 h 85"/>
              <a:gd name="T48" fmla="*/ 31 w 81"/>
              <a:gd name="T49" fmla="*/ 52 h 85"/>
              <a:gd name="T50" fmla="*/ 37 w 81"/>
              <a:gd name="T51" fmla="*/ 56 h 85"/>
              <a:gd name="T52" fmla="*/ 41 w 81"/>
              <a:gd name="T53" fmla="*/ 51 h 85"/>
              <a:gd name="T54" fmla="*/ 47 w 81"/>
              <a:gd name="T55" fmla="*/ 56 h 85"/>
              <a:gd name="T56" fmla="*/ 55 w 81"/>
              <a:gd name="T57" fmla="*/ 60 h 85"/>
              <a:gd name="T58" fmla="*/ 56 w 81"/>
              <a:gd name="T59" fmla="*/ 55 h 85"/>
              <a:gd name="T60" fmla="*/ 63 w 81"/>
              <a:gd name="T61" fmla="*/ 53 h 85"/>
              <a:gd name="T62" fmla="*/ 66 w 81"/>
              <a:gd name="T63" fmla="*/ 56 h 85"/>
              <a:gd name="T64" fmla="*/ 70 w 81"/>
              <a:gd name="T65" fmla="*/ 49 h 85"/>
              <a:gd name="T66" fmla="*/ 72 w 81"/>
              <a:gd name="T67" fmla="*/ 41 h 85"/>
              <a:gd name="T68" fmla="*/ 78 w 81"/>
              <a:gd name="T69" fmla="*/ 43 h 85"/>
              <a:gd name="T70" fmla="*/ 81 w 81"/>
              <a:gd name="T71" fmla="*/ 35 h 85"/>
              <a:gd name="T72" fmla="*/ 11 w 81"/>
              <a:gd name="T73" fmla="*/ 66 h 85"/>
              <a:gd name="T74" fmla="*/ 35 w 81"/>
              <a:gd name="T75" fmla="*/ 62 h 85"/>
              <a:gd name="T76" fmla="*/ 28 w 81"/>
              <a:gd name="T77" fmla="*/ 51 h 85"/>
              <a:gd name="T78" fmla="*/ 23 w 81"/>
              <a:gd name="T79" fmla="*/ 45 h 85"/>
              <a:gd name="T80" fmla="*/ 21 w 81"/>
              <a:gd name="T81" fmla="*/ 50 h 85"/>
              <a:gd name="T82" fmla="*/ 5 w 81"/>
              <a:gd name="T83" fmla="*/ 49 h 85"/>
              <a:gd name="T84" fmla="*/ 1 w 81"/>
              <a:gd name="T85" fmla="*/ 55 h 85"/>
              <a:gd name="T86" fmla="*/ 4 w 81"/>
              <a:gd name="T87" fmla="*/ 70 h 85"/>
              <a:gd name="T88" fmla="*/ 0 w 81"/>
              <a:gd name="T89" fmla="*/ 73 h 85"/>
              <a:gd name="T90" fmla="*/ 7 w 81"/>
              <a:gd name="T91" fmla="*/ 77 h 85"/>
              <a:gd name="T92" fmla="*/ 19 w 81"/>
              <a:gd name="T93" fmla="*/ 82 h 85"/>
              <a:gd name="T94" fmla="*/ 27 w 81"/>
              <a:gd name="T95" fmla="*/ 83 h 85"/>
              <a:gd name="T96" fmla="*/ 25 w 81"/>
              <a:gd name="T97" fmla="*/ 78 h 85"/>
              <a:gd name="T98" fmla="*/ 38 w 81"/>
              <a:gd name="T99" fmla="*/ 69 h 85"/>
              <a:gd name="T100" fmla="*/ 38 w 81"/>
              <a:gd name="T101" fmla="*/ 6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1" h="85">
                <a:moveTo>
                  <a:pt x="65" y="30"/>
                </a:moveTo>
                <a:cubicBezTo>
                  <a:pt x="65" y="38"/>
                  <a:pt x="59" y="44"/>
                  <a:pt x="51" y="44"/>
                </a:cubicBezTo>
                <a:cubicBezTo>
                  <a:pt x="44" y="44"/>
                  <a:pt x="37" y="38"/>
                  <a:pt x="37" y="30"/>
                </a:cubicBezTo>
                <a:cubicBezTo>
                  <a:pt x="37" y="22"/>
                  <a:pt x="44" y="16"/>
                  <a:pt x="51" y="16"/>
                </a:cubicBezTo>
                <a:cubicBezTo>
                  <a:pt x="59" y="16"/>
                  <a:pt x="65" y="22"/>
                  <a:pt x="65" y="30"/>
                </a:cubicBezTo>
                <a:close/>
                <a:moveTo>
                  <a:pt x="81" y="35"/>
                </a:moveTo>
                <a:cubicBezTo>
                  <a:pt x="78" y="34"/>
                  <a:pt x="78" y="34"/>
                  <a:pt x="78" y="34"/>
                </a:cubicBezTo>
                <a:cubicBezTo>
                  <a:pt x="78" y="34"/>
                  <a:pt x="77" y="34"/>
                  <a:pt x="77" y="34"/>
                </a:cubicBezTo>
                <a:cubicBezTo>
                  <a:pt x="75" y="33"/>
                  <a:pt x="75" y="33"/>
                  <a:pt x="75" y="33"/>
                </a:cubicBezTo>
                <a:cubicBezTo>
                  <a:pt x="75" y="32"/>
                  <a:pt x="75" y="31"/>
                  <a:pt x="75" y="30"/>
                </a:cubicBezTo>
                <a:cubicBezTo>
                  <a:pt x="75" y="29"/>
                  <a:pt x="75" y="28"/>
                  <a:pt x="75" y="27"/>
                </a:cubicBezTo>
                <a:cubicBezTo>
                  <a:pt x="77" y="26"/>
                  <a:pt x="77" y="26"/>
                  <a:pt x="77" y="26"/>
                </a:cubicBezTo>
                <a:cubicBezTo>
                  <a:pt x="77" y="26"/>
                  <a:pt x="78" y="26"/>
                  <a:pt x="78" y="26"/>
                </a:cubicBezTo>
                <a:cubicBezTo>
                  <a:pt x="81" y="24"/>
                  <a:pt x="81" y="24"/>
                  <a:pt x="81" y="24"/>
                </a:cubicBezTo>
                <a:cubicBezTo>
                  <a:pt x="81" y="24"/>
                  <a:pt x="81" y="24"/>
                  <a:pt x="81" y="24"/>
                </a:cubicBezTo>
                <a:cubicBezTo>
                  <a:pt x="79" y="18"/>
                  <a:pt x="79" y="18"/>
                  <a:pt x="79" y="18"/>
                </a:cubicBezTo>
                <a:cubicBezTo>
                  <a:pt x="79" y="17"/>
                  <a:pt x="79" y="17"/>
                  <a:pt x="78" y="17"/>
                </a:cubicBezTo>
                <a:cubicBezTo>
                  <a:pt x="75" y="18"/>
                  <a:pt x="75" y="18"/>
                  <a:pt x="75" y="18"/>
                </a:cubicBezTo>
                <a:cubicBezTo>
                  <a:pt x="75" y="18"/>
                  <a:pt x="74" y="18"/>
                  <a:pt x="74" y="18"/>
                </a:cubicBezTo>
                <a:cubicBezTo>
                  <a:pt x="72" y="19"/>
                  <a:pt x="72" y="19"/>
                  <a:pt x="72" y="19"/>
                </a:cubicBezTo>
                <a:cubicBezTo>
                  <a:pt x="71" y="17"/>
                  <a:pt x="70" y="15"/>
                  <a:pt x="69" y="14"/>
                </a:cubicBezTo>
                <a:cubicBezTo>
                  <a:pt x="70" y="12"/>
                  <a:pt x="70" y="12"/>
                  <a:pt x="70" y="12"/>
                </a:cubicBezTo>
                <a:cubicBezTo>
                  <a:pt x="70" y="12"/>
                  <a:pt x="70" y="11"/>
                  <a:pt x="70" y="11"/>
                </a:cubicBezTo>
                <a:cubicBezTo>
                  <a:pt x="72" y="8"/>
                  <a:pt x="72" y="8"/>
                  <a:pt x="72" y="8"/>
                </a:cubicBezTo>
                <a:cubicBezTo>
                  <a:pt x="72" y="8"/>
                  <a:pt x="72" y="8"/>
                  <a:pt x="72" y="8"/>
                </a:cubicBezTo>
                <a:cubicBezTo>
                  <a:pt x="66" y="4"/>
                  <a:pt x="66" y="4"/>
                  <a:pt x="66" y="4"/>
                </a:cubicBezTo>
                <a:cubicBezTo>
                  <a:pt x="66" y="4"/>
                  <a:pt x="66" y="4"/>
                  <a:pt x="66" y="4"/>
                </a:cubicBezTo>
                <a:cubicBezTo>
                  <a:pt x="63" y="6"/>
                  <a:pt x="63" y="6"/>
                  <a:pt x="63" y="6"/>
                </a:cubicBezTo>
                <a:cubicBezTo>
                  <a:pt x="63" y="6"/>
                  <a:pt x="63" y="7"/>
                  <a:pt x="63" y="7"/>
                </a:cubicBezTo>
                <a:cubicBezTo>
                  <a:pt x="62" y="8"/>
                  <a:pt x="62" y="8"/>
                  <a:pt x="62" y="8"/>
                </a:cubicBezTo>
                <a:cubicBezTo>
                  <a:pt x="60" y="8"/>
                  <a:pt x="58" y="7"/>
                  <a:pt x="56" y="7"/>
                </a:cubicBezTo>
                <a:cubicBezTo>
                  <a:pt x="56" y="5"/>
                  <a:pt x="56" y="5"/>
                  <a:pt x="56" y="5"/>
                </a:cubicBezTo>
                <a:cubicBezTo>
                  <a:pt x="56" y="4"/>
                  <a:pt x="56" y="4"/>
                  <a:pt x="56" y="4"/>
                </a:cubicBezTo>
                <a:cubicBezTo>
                  <a:pt x="55" y="0"/>
                  <a:pt x="55" y="0"/>
                  <a:pt x="55" y="0"/>
                </a:cubicBezTo>
                <a:cubicBezTo>
                  <a:pt x="55" y="0"/>
                  <a:pt x="55" y="0"/>
                  <a:pt x="55" y="0"/>
                </a:cubicBezTo>
                <a:cubicBezTo>
                  <a:pt x="48" y="0"/>
                  <a:pt x="48" y="0"/>
                  <a:pt x="48" y="0"/>
                </a:cubicBezTo>
                <a:cubicBezTo>
                  <a:pt x="48" y="0"/>
                  <a:pt x="48" y="0"/>
                  <a:pt x="48" y="0"/>
                </a:cubicBezTo>
                <a:cubicBezTo>
                  <a:pt x="47" y="4"/>
                  <a:pt x="47" y="4"/>
                  <a:pt x="47" y="4"/>
                </a:cubicBezTo>
                <a:cubicBezTo>
                  <a:pt x="47" y="4"/>
                  <a:pt x="47" y="4"/>
                  <a:pt x="47" y="5"/>
                </a:cubicBezTo>
                <a:cubicBezTo>
                  <a:pt x="47" y="7"/>
                  <a:pt x="47" y="7"/>
                  <a:pt x="47" y="7"/>
                </a:cubicBezTo>
                <a:cubicBezTo>
                  <a:pt x="45" y="7"/>
                  <a:pt x="43" y="8"/>
                  <a:pt x="41" y="8"/>
                </a:cubicBezTo>
                <a:cubicBezTo>
                  <a:pt x="40" y="7"/>
                  <a:pt x="40" y="7"/>
                  <a:pt x="40" y="7"/>
                </a:cubicBezTo>
                <a:cubicBezTo>
                  <a:pt x="40" y="7"/>
                  <a:pt x="40" y="6"/>
                  <a:pt x="39" y="6"/>
                </a:cubicBezTo>
                <a:cubicBezTo>
                  <a:pt x="37" y="4"/>
                  <a:pt x="37" y="4"/>
                  <a:pt x="37" y="4"/>
                </a:cubicBezTo>
                <a:cubicBezTo>
                  <a:pt x="37" y="4"/>
                  <a:pt x="37" y="4"/>
                  <a:pt x="36" y="4"/>
                </a:cubicBezTo>
                <a:cubicBezTo>
                  <a:pt x="31" y="8"/>
                  <a:pt x="31" y="8"/>
                  <a:pt x="31" y="8"/>
                </a:cubicBezTo>
                <a:cubicBezTo>
                  <a:pt x="31" y="8"/>
                  <a:pt x="31" y="8"/>
                  <a:pt x="31" y="8"/>
                </a:cubicBezTo>
                <a:cubicBezTo>
                  <a:pt x="32" y="11"/>
                  <a:pt x="32" y="11"/>
                  <a:pt x="32" y="11"/>
                </a:cubicBezTo>
                <a:cubicBezTo>
                  <a:pt x="33" y="11"/>
                  <a:pt x="33" y="12"/>
                  <a:pt x="33" y="12"/>
                </a:cubicBezTo>
                <a:cubicBezTo>
                  <a:pt x="34" y="14"/>
                  <a:pt x="34" y="14"/>
                  <a:pt x="34" y="14"/>
                </a:cubicBezTo>
                <a:cubicBezTo>
                  <a:pt x="33" y="15"/>
                  <a:pt x="31" y="17"/>
                  <a:pt x="30" y="19"/>
                </a:cubicBezTo>
                <a:cubicBezTo>
                  <a:pt x="29" y="18"/>
                  <a:pt x="29" y="18"/>
                  <a:pt x="29" y="18"/>
                </a:cubicBezTo>
                <a:cubicBezTo>
                  <a:pt x="28" y="18"/>
                  <a:pt x="28" y="18"/>
                  <a:pt x="28" y="18"/>
                </a:cubicBezTo>
                <a:cubicBezTo>
                  <a:pt x="25" y="17"/>
                  <a:pt x="25" y="17"/>
                  <a:pt x="25" y="17"/>
                </a:cubicBezTo>
                <a:cubicBezTo>
                  <a:pt x="24" y="17"/>
                  <a:pt x="24" y="17"/>
                  <a:pt x="24" y="18"/>
                </a:cubicBezTo>
                <a:cubicBezTo>
                  <a:pt x="22" y="24"/>
                  <a:pt x="22" y="24"/>
                  <a:pt x="22" y="24"/>
                </a:cubicBezTo>
                <a:cubicBezTo>
                  <a:pt x="22" y="24"/>
                  <a:pt x="22" y="24"/>
                  <a:pt x="22" y="24"/>
                </a:cubicBezTo>
                <a:cubicBezTo>
                  <a:pt x="25" y="26"/>
                  <a:pt x="25" y="26"/>
                  <a:pt x="25" y="26"/>
                </a:cubicBezTo>
                <a:cubicBezTo>
                  <a:pt x="25" y="26"/>
                  <a:pt x="26" y="26"/>
                  <a:pt x="26" y="26"/>
                </a:cubicBezTo>
                <a:cubicBezTo>
                  <a:pt x="28" y="27"/>
                  <a:pt x="28" y="27"/>
                  <a:pt x="28" y="27"/>
                </a:cubicBezTo>
                <a:cubicBezTo>
                  <a:pt x="28" y="28"/>
                  <a:pt x="28" y="29"/>
                  <a:pt x="28" y="30"/>
                </a:cubicBezTo>
                <a:cubicBezTo>
                  <a:pt x="28" y="31"/>
                  <a:pt x="28" y="32"/>
                  <a:pt x="28" y="33"/>
                </a:cubicBezTo>
                <a:cubicBezTo>
                  <a:pt x="26" y="34"/>
                  <a:pt x="26" y="34"/>
                  <a:pt x="26" y="34"/>
                </a:cubicBezTo>
                <a:cubicBezTo>
                  <a:pt x="26" y="34"/>
                  <a:pt x="25" y="34"/>
                  <a:pt x="25" y="34"/>
                </a:cubicBezTo>
                <a:cubicBezTo>
                  <a:pt x="22" y="35"/>
                  <a:pt x="22" y="35"/>
                  <a:pt x="22" y="35"/>
                </a:cubicBezTo>
                <a:cubicBezTo>
                  <a:pt x="22" y="36"/>
                  <a:pt x="22" y="36"/>
                  <a:pt x="22" y="36"/>
                </a:cubicBezTo>
                <a:cubicBezTo>
                  <a:pt x="24" y="42"/>
                  <a:pt x="24" y="42"/>
                  <a:pt x="24" y="42"/>
                </a:cubicBezTo>
                <a:cubicBezTo>
                  <a:pt x="24" y="43"/>
                  <a:pt x="24" y="43"/>
                  <a:pt x="25" y="43"/>
                </a:cubicBezTo>
                <a:cubicBezTo>
                  <a:pt x="28" y="42"/>
                  <a:pt x="28" y="42"/>
                  <a:pt x="28" y="42"/>
                </a:cubicBezTo>
                <a:cubicBezTo>
                  <a:pt x="28" y="42"/>
                  <a:pt x="28" y="42"/>
                  <a:pt x="29" y="42"/>
                </a:cubicBezTo>
                <a:cubicBezTo>
                  <a:pt x="30" y="41"/>
                  <a:pt x="30" y="41"/>
                  <a:pt x="30" y="41"/>
                </a:cubicBezTo>
                <a:cubicBezTo>
                  <a:pt x="31" y="43"/>
                  <a:pt x="33" y="45"/>
                  <a:pt x="34" y="46"/>
                </a:cubicBezTo>
                <a:cubicBezTo>
                  <a:pt x="33" y="48"/>
                  <a:pt x="33" y="48"/>
                  <a:pt x="33" y="48"/>
                </a:cubicBezTo>
                <a:cubicBezTo>
                  <a:pt x="33" y="48"/>
                  <a:pt x="33" y="48"/>
                  <a:pt x="32" y="49"/>
                </a:cubicBezTo>
                <a:cubicBezTo>
                  <a:pt x="31" y="52"/>
                  <a:pt x="31" y="52"/>
                  <a:pt x="31" y="52"/>
                </a:cubicBezTo>
                <a:cubicBezTo>
                  <a:pt x="31" y="52"/>
                  <a:pt x="31" y="52"/>
                  <a:pt x="31" y="52"/>
                </a:cubicBezTo>
                <a:cubicBezTo>
                  <a:pt x="36" y="56"/>
                  <a:pt x="36" y="56"/>
                  <a:pt x="36" y="56"/>
                </a:cubicBezTo>
                <a:cubicBezTo>
                  <a:pt x="37" y="56"/>
                  <a:pt x="37" y="56"/>
                  <a:pt x="37" y="56"/>
                </a:cubicBezTo>
                <a:cubicBezTo>
                  <a:pt x="39" y="54"/>
                  <a:pt x="39" y="54"/>
                  <a:pt x="39" y="54"/>
                </a:cubicBezTo>
                <a:cubicBezTo>
                  <a:pt x="40" y="54"/>
                  <a:pt x="40" y="53"/>
                  <a:pt x="40" y="53"/>
                </a:cubicBezTo>
                <a:cubicBezTo>
                  <a:pt x="41" y="51"/>
                  <a:pt x="41" y="51"/>
                  <a:pt x="41" y="51"/>
                </a:cubicBezTo>
                <a:cubicBezTo>
                  <a:pt x="43" y="52"/>
                  <a:pt x="45" y="53"/>
                  <a:pt x="47" y="53"/>
                </a:cubicBezTo>
                <a:cubicBezTo>
                  <a:pt x="47" y="55"/>
                  <a:pt x="47" y="55"/>
                  <a:pt x="47" y="55"/>
                </a:cubicBezTo>
                <a:cubicBezTo>
                  <a:pt x="47" y="55"/>
                  <a:pt x="47" y="56"/>
                  <a:pt x="47" y="56"/>
                </a:cubicBezTo>
                <a:cubicBezTo>
                  <a:pt x="48" y="59"/>
                  <a:pt x="48" y="59"/>
                  <a:pt x="48" y="59"/>
                </a:cubicBezTo>
                <a:cubicBezTo>
                  <a:pt x="48" y="60"/>
                  <a:pt x="48" y="60"/>
                  <a:pt x="48" y="60"/>
                </a:cubicBezTo>
                <a:cubicBezTo>
                  <a:pt x="55" y="60"/>
                  <a:pt x="55" y="60"/>
                  <a:pt x="55" y="60"/>
                </a:cubicBezTo>
                <a:cubicBezTo>
                  <a:pt x="55" y="60"/>
                  <a:pt x="55" y="60"/>
                  <a:pt x="55" y="59"/>
                </a:cubicBezTo>
                <a:cubicBezTo>
                  <a:pt x="56" y="56"/>
                  <a:pt x="56" y="56"/>
                  <a:pt x="56" y="56"/>
                </a:cubicBezTo>
                <a:cubicBezTo>
                  <a:pt x="56" y="56"/>
                  <a:pt x="56" y="55"/>
                  <a:pt x="56" y="55"/>
                </a:cubicBezTo>
                <a:cubicBezTo>
                  <a:pt x="56" y="53"/>
                  <a:pt x="56" y="53"/>
                  <a:pt x="56" y="53"/>
                </a:cubicBezTo>
                <a:cubicBezTo>
                  <a:pt x="58" y="53"/>
                  <a:pt x="60" y="52"/>
                  <a:pt x="62" y="51"/>
                </a:cubicBezTo>
                <a:cubicBezTo>
                  <a:pt x="63" y="53"/>
                  <a:pt x="63" y="53"/>
                  <a:pt x="63" y="53"/>
                </a:cubicBezTo>
                <a:cubicBezTo>
                  <a:pt x="63" y="53"/>
                  <a:pt x="63" y="54"/>
                  <a:pt x="63" y="54"/>
                </a:cubicBezTo>
                <a:cubicBezTo>
                  <a:pt x="66" y="56"/>
                  <a:pt x="66" y="56"/>
                  <a:pt x="66" y="56"/>
                </a:cubicBezTo>
                <a:cubicBezTo>
                  <a:pt x="66" y="56"/>
                  <a:pt x="66" y="56"/>
                  <a:pt x="66" y="56"/>
                </a:cubicBezTo>
                <a:cubicBezTo>
                  <a:pt x="72" y="52"/>
                  <a:pt x="72" y="52"/>
                  <a:pt x="72" y="52"/>
                </a:cubicBezTo>
                <a:cubicBezTo>
                  <a:pt x="72" y="52"/>
                  <a:pt x="72" y="52"/>
                  <a:pt x="72" y="52"/>
                </a:cubicBezTo>
                <a:cubicBezTo>
                  <a:pt x="70" y="49"/>
                  <a:pt x="70" y="49"/>
                  <a:pt x="70" y="49"/>
                </a:cubicBezTo>
                <a:cubicBezTo>
                  <a:pt x="70" y="48"/>
                  <a:pt x="70" y="48"/>
                  <a:pt x="70" y="48"/>
                </a:cubicBezTo>
                <a:cubicBezTo>
                  <a:pt x="69" y="46"/>
                  <a:pt x="69" y="46"/>
                  <a:pt x="69" y="46"/>
                </a:cubicBezTo>
                <a:cubicBezTo>
                  <a:pt x="70" y="45"/>
                  <a:pt x="71" y="43"/>
                  <a:pt x="72" y="41"/>
                </a:cubicBezTo>
                <a:cubicBezTo>
                  <a:pt x="74" y="42"/>
                  <a:pt x="74" y="42"/>
                  <a:pt x="74" y="42"/>
                </a:cubicBezTo>
                <a:cubicBezTo>
                  <a:pt x="74" y="42"/>
                  <a:pt x="75" y="42"/>
                  <a:pt x="75" y="42"/>
                </a:cubicBezTo>
                <a:cubicBezTo>
                  <a:pt x="78" y="43"/>
                  <a:pt x="78" y="43"/>
                  <a:pt x="78" y="43"/>
                </a:cubicBezTo>
                <a:cubicBezTo>
                  <a:pt x="79" y="43"/>
                  <a:pt x="79" y="43"/>
                  <a:pt x="79" y="42"/>
                </a:cubicBezTo>
                <a:cubicBezTo>
                  <a:pt x="81" y="36"/>
                  <a:pt x="81" y="36"/>
                  <a:pt x="81" y="36"/>
                </a:cubicBezTo>
                <a:cubicBezTo>
                  <a:pt x="81" y="36"/>
                  <a:pt x="81" y="36"/>
                  <a:pt x="81" y="35"/>
                </a:cubicBezTo>
                <a:close/>
                <a:moveTo>
                  <a:pt x="25" y="63"/>
                </a:moveTo>
                <a:cubicBezTo>
                  <a:pt x="26" y="67"/>
                  <a:pt x="24" y="71"/>
                  <a:pt x="20" y="72"/>
                </a:cubicBezTo>
                <a:cubicBezTo>
                  <a:pt x="16" y="73"/>
                  <a:pt x="12" y="70"/>
                  <a:pt x="11" y="66"/>
                </a:cubicBezTo>
                <a:cubicBezTo>
                  <a:pt x="10" y="63"/>
                  <a:pt x="12" y="59"/>
                  <a:pt x="16" y="58"/>
                </a:cubicBezTo>
                <a:cubicBezTo>
                  <a:pt x="20" y="56"/>
                  <a:pt x="24" y="59"/>
                  <a:pt x="25" y="63"/>
                </a:cubicBezTo>
                <a:close/>
                <a:moveTo>
                  <a:pt x="35" y="62"/>
                </a:moveTo>
                <a:cubicBezTo>
                  <a:pt x="33" y="62"/>
                  <a:pt x="33" y="62"/>
                  <a:pt x="33" y="62"/>
                </a:cubicBezTo>
                <a:cubicBezTo>
                  <a:pt x="32" y="58"/>
                  <a:pt x="30" y="54"/>
                  <a:pt x="27" y="52"/>
                </a:cubicBezTo>
                <a:cubicBezTo>
                  <a:pt x="28" y="51"/>
                  <a:pt x="28" y="51"/>
                  <a:pt x="28" y="51"/>
                </a:cubicBezTo>
                <a:cubicBezTo>
                  <a:pt x="29" y="48"/>
                  <a:pt x="29" y="48"/>
                  <a:pt x="29" y="48"/>
                </a:cubicBezTo>
                <a:cubicBezTo>
                  <a:pt x="29" y="47"/>
                  <a:pt x="29" y="47"/>
                  <a:pt x="29" y="47"/>
                </a:cubicBezTo>
                <a:cubicBezTo>
                  <a:pt x="23" y="45"/>
                  <a:pt x="23" y="45"/>
                  <a:pt x="23" y="45"/>
                </a:cubicBezTo>
                <a:cubicBezTo>
                  <a:pt x="23" y="44"/>
                  <a:pt x="22" y="45"/>
                  <a:pt x="22" y="45"/>
                </a:cubicBezTo>
                <a:cubicBezTo>
                  <a:pt x="21" y="48"/>
                  <a:pt x="21" y="48"/>
                  <a:pt x="21" y="48"/>
                </a:cubicBezTo>
                <a:cubicBezTo>
                  <a:pt x="21" y="50"/>
                  <a:pt x="21" y="50"/>
                  <a:pt x="21" y="50"/>
                </a:cubicBezTo>
                <a:cubicBezTo>
                  <a:pt x="16" y="49"/>
                  <a:pt x="12" y="50"/>
                  <a:pt x="9" y="53"/>
                </a:cubicBezTo>
                <a:cubicBezTo>
                  <a:pt x="8" y="51"/>
                  <a:pt x="8" y="51"/>
                  <a:pt x="8" y="51"/>
                </a:cubicBezTo>
                <a:cubicBezTo>
                  <a:pt x="5" y="49"/>
                  <a:pt x="5" y="49"/>
                  <a:pt x="5" y="49"/>
                </a:cubicBezTo>
                <a:cubicBezTo>
                  <a:pt x="5" y="49"/>
                  <a:pt x="5" y="49"/>
                  <a:pt x="5" y="50"/>
                </a:cubicBezTo>
                <a:cubicBezTo>
                  <a:pt x="1" y="54"/>
                  <a:pt x="1" y="54"/>
                  <a:pt x="1" y="54"/>
                </a:cubicBezTo>
                <a:cubicBezTo>
                  <a:pt x="1" y="54"/>
                  <a:pt x="1" y="55"/>
                  <a:pt x="1" y="55"/>
                </a:cubicBezTo>
                <a:cubicBezTo>
                  <a:pt x="3" y="57"/>
                  <a:pt x="3" y="57"/>
                  <a:pt x="3" y="57"/>
                </a:cubicBezTo>
                <a:cubicBezTo>
                  <a:pt x="5" y="58"/>
                  <a:pt x="5" y="58"/>
                  <a:pt x="5" y="58"/>
                </a:cubicBezTo>
                <a:cubicBezTo>
                  <a:pt x="3" y="62"/>
                  <a:pt x="3" y="66"/>
                  <a:pt x="4" y="70"/>
                </a:cubicBezTo>
                <a:cubicBezTo>
                  <a:pt x="3" y="70"/>
                  <a:pt x="3" y="70"/>
                  <a:pt x="3" y="70"/>
                </a:cubicBezTo>
                <a:cubicBezTo>
                  <a:pt x="0" y="72"/>
                  <a:pt x="0" y="72"/>
                  <a:pt x="0" y="72"/>
                </a:cubicBezTo>
                <a:cubicBezTo>
                  <a:pt x="0" y="72"/>
                  <a:pt x="0" y="73"/>
                  <a:pt x="0" y="73"/>
                </a:cubicBezTo>
                <a:cubicBezTo>
                  <a:pt x="3" y="78"/>
                  <a:pt x="3" y="78"/>
                  <a:pt x="3" y="78"/>
                </a:cubicBezTo>
                <a:cubicBezTo>
                  <a:pt x="3" y="78"/>
                  <a:pt x="4" y="79"/>
                  <a:pt x="4" y="78"/>
                </a:cubicBezTo>
                <a:cubicBezTo>
                  <a:pt x="7" y="77"/>
                  <a:pt x="7" y="77"/>
                  <a:pt x="7" y="77"/>
                </a:cubicBezTo>
                <a:cubicBezTo>
                  <a:pt x="8" y="75"/>
                  <a:pt x="8" y="75"/>
                  <a:pt x="8" y="75"/>
                </a:cubicBezTo>
                <a:cubicBezTo>
                  <a:pt x="11" y="78"/>
                  <a:pt x="15" y="80"/>
                  <a:pt x="19" y="80"/>
                </a:cubicBezTo>
                <a:cubicBezTo>
                  <a:pt x="19" y="82"/>
                  <a:pt x="19" y="82"/>
                  <a:pt x="19" y="82"/>
                </a:cubicBezTo>
                <a:cubicBezTo>
                  <a:pt x="20" y="85"/>
                  <a:pt x="20" y="85"/>
                  <a:pt x="20" y="85"/>
                </a:cubicBezTo>
                <a:cubicBezTo>
                  <a:pt x="20" y="85"/>
                  <a:pt x="20" y="85"/>
                  <a:pt x="21" y="85"/>
                </a:cubicBezTo>
                <a:cubicBezTo>
                  <a:pt x="27" y="83"/>
                  <a:pt x="27" y="83"/>
                  <a:pt x="27" y="83"/>
                </a:cubicBezTo>
                <a:cubicBezTo>
                  <a:pt x="27" y="83"/>
                  <a:pt x="27" y="83"/>
                  <a:pt x="27" y="83"/>
                </a:cubicBezTo>
                <a:cubicBezTo>
                  <a:pt x="26" y="80"/>
                  <a:pt x="26" y="80"/>
                  <a:pt x="26" y="80"/>
                </a:cubicBezTo>
                <a:cubicBezTo>
                  <a:pt x="25" y="78"/>
                  <a:pt x="25" y="78"/>
                  <a:pt x="25" y="78"/>
                </a:cubicBezTo>
                <a:cubicBezTo>
                  <a:pt x="29" y="76"/>
                  <a:pt x="32" y="73"/>
                  <a:pt x="33" y="69"/>
                </a:cubicBezTo>
                <a:cubicBezTo>
                  <a:pt x="35" y="69"/>
                  <a:pt x="35" y="69"/>
                  <a:pt x="35" y="69"/>
                </a:cubicBezTo>
                <a:cubicBezTo>
                  <a:pt x="38" y="69"/>
                  <a:pt x="38" y="69"/>
                  <a:pt x="38" y="69"/>
                </a:cubicBezTo>
                <a:cubicBezTo>
                  <a:pt x="38" y="69"/>
                  <a:pt x="38" y="69"/>
                  <a:pt x="39" y="69"/>
                </a:cubicBezTo>
                <a:cubicBezTo>
                  <a:pt x="39" y="63"/>
                  <a:pt x="39" y="63"/>
                  <a:pt x="39" y="63"/>
                </a:cubicBezTo>
                <a:cubicBezTo>
                  <a:pt x="39" y="62"/>
                  <a:pt x="39" y="62"/>
                  <a:pt x="38" y="62"/>
                </a:cubicBezTo>
                <a:lnTo>
                  <a:pt x="35" y="62"/>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4" name="Group 13">
            <a:extLst>
              <a:ext uri="{FF2B5EF4-FFF2-40B4-BE49-F238E27FC236}">
                <a16:creationId xmlns:a16="http://schemas.microsoft.com/office/drawing/2014/main" id="{50F1A6C7-FA7C-4AE4-9F38-FA8C588343B8}"/>
              </a:ext>
            </a:extLst>
          </p:cNvPr>
          <p:cNvGrpSpPr>
            <a:grpSpLocks noChangeAspect="1"/>
          </p:cNvGrpSpPr>
          <p:nvPr/>
        </p:nvGrpSpPr>
        <p:grpSpPr>
          <a:xfrm>
            <a:off x="2516393" y="4425094"/>
            <a:ext cx="277563" cy="274320"/>
            <a:chOff x="3126073" y="2564088"/>
            <a:chExt cx="587941" cy="581072"/>
          </a:xfrm>
          <a:solidFill>
            <a:srgbClr val="595555"/>
          </a:solidFill>
        </p:grpSpPr>
        <p:sp>
          <p:nvSpPr>
            <p:cNvPr id="15" name="Rectangle 818">
              <a:extLst>
                <a:ext uri="{FF2B5EF4-FFF2-40B4-BE49-F238E27FC236}">
                  <a16:creationId xmlns:a16="http://schemas.microsoft.com/office/drawing/2014/main" id="{AFD94A51-4E39-40A3-8390-B096E4580955}"/>
                </a:ext>
              </a:extLst>
            </p:cNvPr>
            <p:cNvSpPr>
              <a:spLocks noChangeArrowheads="1"/>
            </p:cNvSpPr>
            <p:nvPr/>
          </p:nvSpPr>
          <p:spPr bwMode="auto">
            <a:xfrm>
              <a:off x="3126073" y="2756405"/>
              <a:ext cx="587941" cy="3887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819">
              <a:extLst>
                <a:ext uri="{FF2B5EF4-FFF2-40B4-BE49-F238E27FC236}">
                  <a16:creationId xmlns:a16="http://schemas.microsoft.com/office/drawing/2014/main" id="{7A666179-0A32-43A1-89FA-744CCF4CBBAE}"/>
                </a:ext>
              </a:extLst>
            </p:cNvPr>
            <p:cNvSpPr>
              <a:spLocks/>
            </p:cNvSpPr>
            <p:nvPr/>
          </p:nvSpPr>
          <p:spPr bwMode="auto">
            <a:xfrm>
              <a:off x="3126073" y="2564088"/>
              <a:ext cx="273365" cy="157975"/>
            </a:xfrm>
            <a:custGeom>
              <a:avLst/>
              <a:gdLst>
                <a:gd name="T0" fmla="*/ 199 w 199"/>
                <a:gd name="T1" fmla="*/ 0 h 115"/>
                <a:gd name="T2" fmla="*/ 70 w 199"/>
                <a:gd name="T3" fmla="*/ 0 h 115"/>
                <a:gd name="T4" fmla="*/ 0 w 199"/>
                <a:gd name="T5" fmla="*/ 115 h 115"/>
                <a:gd name="T6" fmla="*/ 189 w 199"/>
                <a:gd name="T7" fmla="*/ 115 h 115"/>
                <a:gd name="T8" fmla="*/ 199 w 199"/>
                <a:gd name="T9" fmla="*/ 0 h 115"/>
              </a:gdLst>
              <a:ahLst/>
              <a:cxnLst>
                <a:cxn ang="0">
                  <a:pos x="T0" y="T1"/>
                </a:cxn>
                <a:cxn ang="0">
                  <a:pos x="T2" y="T3"/>
                </a:cxn>
                <a:cxn ang="0">
                  <a:pos x="T4" y="T5"/>
                </a:cxn>
                <a:cxn ang="0">
                  <a:pos x="T6" y="T7"/>
                </a:cxn>
                <a:cxn ang="0">
                  <a:pos x="T8" y="T9"/>
                </a:cxn>
              </a:cxnLst>
              <a:rect l="0" t="0" r="r" b="b"/>
              <a:pathLst>
                <a:path w="199" h="115">
                  <a:moveTo>
                    <a:pt x="199" y="0"/>
                  </a:moveTo>
                  <a:lnTo>
                    <a:pt x="70" y="0"/>
                  </a:lnTo>
                  <a:lnTo>
                    <a:pt x="0" y="115"/>
                  </a:lnTo>
                  <a:lnTo>
                    <a:pt x="189" y="115"/>
                  </a:lnTo>
                  <a:lnTo>
                    <a:pt x="19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820">
              <a:extLst>
                <a:ext uri="{FF2B5EF4-FFF2-40B4-BE49-F238E27FC236}">
                  <a16:creationId xmlns:a16="http://schemas.microsoft.com/office/drawing/2014/main" id="{B4EA7EB8-E62F-4377-A0D9-09CD368F6BC3}"/>
                </a:ext>
              </a:extLst>
            </p:cNvPr>
            <p:cNvSpPr>
              <a:spLocks/>
            </p:cNvSpPr>
            <p:nvPr/>
          </p:nvSpPr>
          <p:spPr bwMode="auto">
            <a:xfrm>
              <a:off x="3440649" y="2564088"/>
              <a:ext cx="273365" cy="157975"/>
            </a:xfrm>
            <a:custGeom>
              <a:avLst/>
              <a:gdLst>
                <a:gd name="T0" fmla="*/ 199 w 199"/>
                <a:gd name="T1" fmla="*/ 115 h 115"/>
                <a:gd name="T2" fmla="*/ 129 w 199"/>
                <a:gd name="T3" fmla="*/ 0 h 115"/>
                <a:gd name="T4" fmla="*/ 0 w 199"/>
                <a:gd name="T5" fmla="*/ 0 h 115"/>
                <a:gd name="T6" fmla="*/ 10 w 199"/>
                <a:gd name="T7" fmla="*/ 115 h 115"/>
                <a:gd name="T8" fmla="*/ 199 w 199"/>
                <a:gd name="T9" fmla="*/ 115 h 115"/>
              </a:gdLst>
              <a:ahLst/>
              <a:cxnLst>
                <a:cxn ang="0">
                  <a:pos x="T0" y="T1"/>
                </a:cxn>
                <a:cxn ang="0">
                  <a:pos x="T2" y="T3"/>
                </a:cxn>
                <a:cxn ang="0">
                  <a:pos x="T4" y="T5"/>
                </a:cxn>
                <a:cxn ang="0">
                  <a:pos x="T6" y="T7"/>
                </a:cxn>
                <a:cxn ang="0">
                  <a:pos x="T8" y="T9"/>
                </a:cxn>
              </a:cxnLst>
              <a:rect l="0" t="0" r="r" b="b"/>
              <a:pathLst>
                <a:path w="199" h="115">
                  <a:moveTo>
                    <a:pt x="199" y="115"/>
                  </a:moveTo>
                  <a:lnTo>
                    <a:pt x="129" y="0"/>
                  </a:lnTo>
                  <a:lnTo>
                    <a:pt x="0" y="0"/>
                  </a:lnTo>
                  <a:lnTo>
                    <a:pt x="10" y="115"/>
                  </a:lnTo>
                  <a:lnTo>
                    <a:pt x="199"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8" name="Group 17">
            <a:extLst>
              <a:ext uri="{FF2B5EF4-FFF2-40B4-BE49-F238E27FC236}">
                <a16:creationId xmlns:a16="http://schemas.microsoft.com/office/drawing/2014/main" id="{C5F7A101-524C-40FE-BF4F-5E2B2278B2D3}"/>
              </a:ext>
            </a:extLst>
          </p:cNvPr>
          <p:cNvGrpSpPr>
            <a:grpSpLocks noChangeAspect="1"/>
          </p:cNvGrpSpPr>
          <p:nvPr/>
        </p:nvGrpSpPr>
        <p:grpSpPr>
          <a:xfrm>
            <a:off x="1595829" y="4483043"/>
            <a:ext cx="327192" cy="274320"/>
            <a:chOff x="2362300" y="2612167"/>
            <a:chExt cx="586567" cy="491783"/>
          </a:xfrm>
          <a:solidFill>
            <a:srgbClr val="595555"/>
          </a:solidFill>
        </p:grpSpPr>
        <p:sp>
          <p:nvSpPr>
            <p:cNvPr id="19" name="Freeform 821">
              <a:extLst>
                <a:ext uri="{FF2B5EF4-FFF2-40B4-BE49-F238E27FC236}">
                  <a16:creationId xmlns:a16="http://schemas.microsoft.com/office/drawing/2014/main" id="{532ABC9A-E416-4715-BABF-417C20687861}"/>
                </a:ext>
              </a:extLst>
            </p:cNvPr>
            <p:cNvSpPr>
              <a:spLocks/>
            </p:cNvSpPr>
            <p:nvPr/>
          </p:nvSpPr>
          <p:spPr bwMode="auto">
            <a:xfrm>
              <a:off x="2362300" y="3028397"/>
              <a:ext cx="586567" cy="75553"/>
            </a:xfrm>
            <a:custGeom>
              <a:avLst/>
              <a:gdLst>
                <a:gd name="T0" fmla="*/ 83 w 86"/>
                <a:gd name="T1" fmla="*/ 0 h 11"/>
                <a:gd name="T2" fmla="*/ 3 w 86"/>
                <a:gd name="T3" fmla="*/ 0 h 11"/>
                <a:gd name="T4" fmla="*/ 0 w 86"/>
                <a:gd name="T5" fmla="*/ 3 h 11"/>
                <a:gd name="T6" fmla="*/ 0 w 86"/>
                <a:gd name="T7" fmla="*/ 8 h 11"/>
                <a:gd name="T8" fmla="*/ 3 w 86"/>
                <a:gd name="T9" fmla="*/ 11 h 11"/>
                <a:gd name="T10" fmla="*/ 83 w 86"/>
                <a:gd name="T11" fmla="*/ 11 h 11"/>
                <a:gd name="T12" fmla="*/ 86 w 86"/>
                <a:gd name="T13" fmla="*/ 8 h 11"/>
                <a:gd name="T14" fmla="*/ 86 w 86"/>
                <a:gd name="T15" fmla="*/ 3 h 11"/>
                <a:gd name="T16" fmla="*/ 83 w 86"/>
                <a:gd name="T17"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11">
                  <a:moveTo>
                    <a:pt x="83" y="0"/>
                  </a:moveTo>
                  <a:cubicBezTo>
                    <a:pt x="3" y="0"/>
                    <a:pt x="3" y="0"/>
                    <a:pt x="3" y="0"/>
                  </a:cubicBezTo>
                  <a:cubicBezTo>
                    <a:pt x="2" y="0"/>
                    <a:pt x="0" y="1"/>
                    <a:pt x="0" y="3"/>
                  </a:cubicBezTo>
                  <a:cubicBezTo>
                    <a:pt x="0" y="8"/>
                    <a:pt x="0" y="8"/>
                    <a:pt x="0" y="8"/>
                  </a:cubicBezTo>
                  <a:cubicBezTo>
                    <a:pt x="0" y="9"/>
                    <a:pt x="2" y="11"/>
                    <a:pt x="3" y="11"/>
                  </a:cubicBezTo>
                  <a:cubicBezTo>
                    <a:pt x="83" y="11"/>
                    <a:pt x="83" y="11"/>
                    <a:pt x="83" y="11"/>
                  </a:cubicBezTo>
                  <a:cubicBezTo>
                    <a:pt x="85" y="11"/>
                    <a:pt x="86" y="9"/>
                    <a:pt x="86" y="8"/>
                  </a:cubicBezTo>
                  <a:cubicBezTo>
                    <a:pt x="86" y="3"/>
                    <a:pt x="86" y="3"/>
                    <a:pt x="86" y="3"/>
                  </a:cubicBezTo>
                  <a:cubicBezTo>
                    <a:pt x="86" y="1"/>
                    <a:pt x="85"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822">
              <a:extLst>
                <a:ext uri="{FF2B5EF4-FFF2-40B4-BE49-F238E27FC236}">
                  <a16:creationId xmlns:a16="http://schemas.microsoft.com/office/drawing/2014/main" id="{DD379488-C73A-4355-8693-FD34FDA436F2}"/>
                </a:ext>
              </a:extLst>
            </p:cNvPr>
            <p:cNvSpPr>
              <a:spLocks noEditPoints="1"/>
            </p:cNvSpPr>
            <p:nvPr/>
          </p:nvSpPr>
          <p:spPr bwMode="auto">
            <a:xfrm>
              <a:off x="2402137" y="2612167"/>
              <a:ext cx="505519" cy="383261"/>
            </a:xfrm>
            <a:custGeom>
              <a:avLst/>
              <a:gdLst>
                <a:gd name="T0" fmla="*/ 2 w 74"/>
                <a:gd name="T1" fmla="*/ 56 h 56"/>
                <a:gd name="T2" fmla="*/ 72 w 74"/>
                <a:gd name="T3" fmla="*/ 56 h 56"/>
                <a:gd name="T4" fmla="*/ 74 w 74"/>
                <a:gd name="T5" fmla="*/ 53 h 56"/>
                <a:gd name="T6" fmla="*/ 74 w 74"/>
                <a:gd name="T7" fmla="*/ 42 h 56"/>
                <a:gd name="T8" fmla="*/ 74 w 74"/>
                <a:gd name="T9" fmla="*/ 13 h 56"/>
                <a:gd name="T10" fmla="*/ 74 w 74"/>
                <a:gd name="T11" fmla="*/ 2 h 56"/>
                <a:gd name="T12" fmla="*/ 72 w 74"/>
                <a:gd name="T13" fmla="*/ 0 h 56"/>
                <a:gd name="T14" fmla="*/ 61 w 74"/>
                <a:gd name="T15" fmla="*/ 0 h 56"/>
                <a:gd name="T16" fmla="*/ 13 w 74"/>
                <a:gd name="T17" fmla="*/ 0 h 56"/>
                <a:gd name="T18" fmla="*/ 2 w 74"/>
                <a:gd name="T19" fmla="*/ 0 h 56"/>
                <a:gd name="T20" fmla="*/ 0 w 74"/>
                <a:gd name="T21" fmla="*/ 2 h 56"/>
                <a:gd name="T22" fmla="*/ 0 w 74"/>
                <a:gd name="T23" fmla="*/ 13 h 56"/>
                <a:gd name="T24" fmla="*/ 0 w 74"/>
                <a:gd name="T25" fmla="*/ 42 h 56"/>
                <a:gd name="T26" fmla="*/ 0 w 74"/>
                <a:gd name="T27" fmla="*/ 53 h 56"/>
                <a:gd name="T28" fmla="*/ 2 w 74"/>
                <a:gd name="T29" fmla="*/ 56 h 56"/>
                <a:gd name="T30" fmla="*/ 10 w 74"/>
                <a:gd name="T31" fmla="*/ 10 h 56"/>
                <a:gd name="T32" fmla="*/ 64 w 74"/>
                <a:gd name="T33" fmla="*/ 10 h 56"/>
                <a:gd name="T34" fmla="*/ 64 w 74"/>
                <a:gd name="T35" fmla="*/ 45 h 56"/>
                <a:gd name="T36" fmla="*/ 10 w 74"/>
                <a:gd name="T37" fmla="*/ 45 h 56"/>
                <a:gd name="T38" fmla="*/ 10 w 74"/>
                <a:gd name="T39" fmla="*/ 1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 h="56">
                  <a:moveTo>
                    <a:pt x="2" y="56"/>
                  </a:moveTo>
                  <a:cubicBezTo>
                    <a:pt x="72" y="56"/>
                    <a:pt x="72" y="56"/>
                    <a:pt x="72" y="56"/>
                  </a:cubicBezTo>
                  <a:cubicBezTo>
                    <a:pt x="73" y="56"/>
                    <a:pt x="74" y="54"/>
                    <a:pt x="74" y="53"/>
                  </a:cubicBezTo>
                  <a:cubicBezTo>
                    <a:pt x="74" y="42"/>
                    <a:pt x="74" y="42"/>
                    <a:pt x="74" y="42"/>
                  </a:cubicBezTo>
                  <a:cubicBezTo>
                    <a:pt x="74" y="13"/>
                    <a:pt x="74" y="13"/>
                    <a:pt x="74" y="13"/>
                  </a:cubicBezTo>
                  <a:cubicBezTo>
                    <a:pt x="74" y="2"/>
                    <a:pt x="74" y="2"/>
                    <a:pt x="74" y="2"/>
                  </a:cubicBezTo>
                  <a:cubicBezTo>
                    <a:pt x="74" y="1"/>
                    <a:pt x="73" y="0"/>
                    <a:pt x="72" y="0"/>
                  </a:cubicBezTo>
                  <a:cubicBezTo>
                    <a:pt x="61" y="0"/>
                    <a:pt x="61" y="0"/>
                    <a:pt x="61" y="0"/>
                  </a:cubicBezTo>
                  <a:cubicBezTo>
                    <a:pt x="13" y="0"/>
                    <a:pt x="13" y="0"/>
                    <a:pt x="13" y="0"/>
                  </a:cubicBezTo>
                  <a:cubicBezTo>
                    <a:pt x="2" y="0"/>
                    <a:pt x="2" y="0"/>
                    <a:pt x="2" y="0"/>
                  </a:cubicBezTo>
                  <a:cubicBezTo>
                    <a:pt x="1" y="0"/>
                    <a:pt x="0" y="1"/>
                    <a:pt x="0" y="2"/>
                  </a:cubicBezTo>
                  <a:cubicBezTo>
                    <a:pt x="0" y="13"/>
                    <a:pt x="0" y="13"/>
                    <a:pt x="0" y="13"/>
                  </a:cubicBezTo>
                  <a:cubicBezTo>
                    <a:pt x="0" y="42"/>
                    <a:pt x="0" y="42"/>
                    <a:pt x="0" y="42"/>
                  </a:cubicBezTo>
                  <a:cubicBezTo>
                    <a:pt x="0" y="53"/>
                    <a:pt x="0" y="53"/>
                    <a:pt x="0" y="53"/>
                  </a:cubicBezTo>
                  <a:cubicBezTo>
                    <a:pt x="0" y="54"/>
                    <a:pt x="1" y="56"/>
                    <a:pt x="2" y="56"/>
                  </a:cubicBezTo>
                  <a:close/>
                  <a:moveTo>
                    <a:pt x="10" y="10"/>
                  </a:moveTo>
                  <a:cubicBezTo>
                    <a:pt x="64" y="10"/>
                    <a:pt x="64" y="10"/>
                    <a:pt x="64" y="10"/>
                  </a:cubicBezTo>
                  <a:cubicBezTo>
                    <a:pt x="64" y="45"/>
                    <a:pt x="64" y="45"/>
                    <a:pt x="64" y="45"/>
                  </a:cubicBezTo>
                  <a:cubicBezTo>
                    <a:pt x="10" y="45"/>
                    <a:pt x="10" y="45"/>
                    <a:pt x="10" y="45"/>
                  </a:cubicBezTo>
                  <a:lnTo>
                    <a:pt x="1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1" name="Freeform 823">
            <a:extLst>
              <a:ext uri="{FF2B5EF4-FFF2-40B4-BE49-F238E27FC236}">
                <a16:creationId xmlns:a16="http://schemas.microsoft.com/office/drawing/2014/main" id="{CCCA112E-63DC-41F5-8932-E1A279D8A411}"/>
              </a:ext>
            </a:extLst>
          </p:cNvPr>
          <p:cNvSpPr>
            <a:spLocks noChangeAspect="1" noEditPoints="1"/>
          </p:cNvSpPr>
          <p:nvPr/>
        </p:nvSpPr>
        <p:spPr bwMode="auto">
          <a:xfrm>
            <a:off x="673608" y="4449930"/>
            <a:ext cx="294309" cy="274320"/>
          </a:xfrm>
          <a:custGeom>
            <a:avLst/>
            <a:gdLst>
              <a:gd name="T0" fmla="*/ 3 w 86"/>
              <a:gd name="T1" fmla="*/ 0 h 80"/>
              <a:gd name="T2" fmla="*/ 0 w 86"/>
              <a:gd name="T3" fmla="*/ 2 h 80"/>
              <a:gd name="T4" fmla="*/ 0 w 86"/>
              <a:gd name="T5" fmla="*/ 5 h 80"/>
              <a:gd name="T6" fmla="*/ 0 w 86"/>
              <a:gd name="T7" fmla="*/ 10 h 80"/>
              <a:gd name="T8" fmla="*/ 0 w 86"/>
              <a:gd name="T9" fmla="*/ 50 h 80"/>
              <a:gd name="T10" fmla="*/ 0 w 86"/>
              <a:gd name="T11" fmla="*/ 58 h 80"/>
              <a:gd name="T12" fmla="*/ 0 w 86"/>
              <a:gd name="T13" fmla="*/ 58 h 80"/>
              <a:gd name="T14" fmla="*/ 3 w 86"/>
              <a:gd name="T15" fmla="*/ 61 h 80"/>
              <a:gd name="T16" fmla="*/ 35 w 86"/>
              <a:gd name="T17" fmla="*/ 61 h 80"/>
              <a:gd name="T18" fmla="*/ 35 w 86"/>
              <a:gd name="T19" fmla="*/ 69 h 80"/>
              <a:gd name="T20" fmla="*/ 28 w 86"/>
              <a:gd name="T21" fmla="*/ 69 h 80"/>
              <a:gd name="T22" fmla="*/ 26 w 86"/>
              <a:gd name="T23" fmla="*/ 72 h 80"/>
              <a:gd name="T24" fmla="*/ 26 w 86"/>
              <a:gd name="T25" fmla="*/ 77 h 80"/>
              <a:gd name="T26" fmla="*/ 28 w 86"/>
              <a:gd name="T27" fmla="*/ 80 h 80"/>
              <a:gd name="T28" fmla="*/ 58 w 86"/>
              <a:gd name="T29" fmla="*/ 80 h 80"/>
              <a:gd name="T30" fmla="*/ 60 w 86"/>
              <a:gd name="T31" fmla="*/ 77 h 80"/>
              <a:gd name="T32" fmla="*/ 60 w 86"/>
              <a:gd name="T33" fmla="*/ 72 h 80"/>
              <a:gd name="T34" fmla="*/ 58 w 86"/>
              <a:gd name="T35" fmla="*/ 69 h 80"/>
              <a:gd name="T36" fmla="*/ 51 w 86"/>
              <a:gd name="T37" fmla="*/ 69 h 80"/>
              <a:gd name="T38" fmla="*/ 51 w 86"/>
              <a:gd name="T39" fmla="*/ 61 h 80"/>
              <a:gd name="T40" fmla="*/ 83 w 86"/>
              <a:gd name="T41" fmla="*/ 61 h 80"/>
              <a:gd name="T42" fmla="*/ 86 w 86"/>
              <a:gd name="T43" fmla="*/ 58 h 80"/>
              <a:gd name="T44" fmla="*/ 86 w 86"/>
              <a:gd name="T45" fmla="*/ 58 h 80"/>
              <a:gd name="T46" fmla="*/ 86 w 86"/>
              <a:gd name="T47" fmla="*/ 50 h 80"/>
              <a:gd name="T48" fmla="*/ 86 w 86"/>
              <a:gd name="T49" fmla="*/ 10 h 80"/>
              <a:gd name="T50" fmla="*/ 86 w 86"/>
              <a:gd name="T51" fmla="*/ 5 h 80"/>
              <a:gd name="T52" fmla="*/ 86 w 86"/>
              <a:gd name="T53" fmla="*/ 2 h 80"/>
              <a:gd name="T54" fmla="*/ 83 w 86"/>
              <a:gd name="T55" fmla="*/ 0 h 80"/>
              <a:gd name="T56" fmla="*/ 3 w 86"/>
              <a:gd name="T57" fmla="*/ 0 h 80"/>
              <a:gd name="T58" fmla="*/ 75 w 86"/>
              <a:gd name="T59" fmla="*/ 50 h 80"/>
              <a:gd name="T60" fmla="*/ 11 w 86"/>
              <a:gd name="T61" fmla="*/ 50 h 80"/>
              <a:gd name="T62" fmla="*/ 11 w 86"/>
              <a:gd name="T63" fmla="*/ 10 h 80"/>
              <a:gd name="T64" fmla="*/ 75 w 86"/>
              <a:gd name="T65" fmla="*/ 10 h 80"/>
              <a:gd name="T66" fmla="*/ 75 w 86"/>
              <a:gd name="T67" fmla="*/ 5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6" h="80">
                <a:moveTo>
                  <a:pt x="3" y="0"/>
                </a:moveTo>
                <a:cubicBezTo>
                  <a:pt x="2" y="0"/>
                  <a:pt x="0" y="1"/>
                  <a:pt x="0" y="2"/>
                </a:cubicBezTo>
                <a:cubicBezTo>
                  <a:pt x="0" y="5"/>
                  <a:pt x="0" y="5"/>
                  <a:pt x="0" y="5"/>
                </a:cubicBezTo>
                <a:cubicBezTo>
                  <a:pt x="0" y="10"/>
                  <a:pt x="0" y="10"/>
                  <a:pt x="0" y="10"/>
                </a:cubicBezTo>
                <a:cubicBezTo>
                  <a:pt x="0" y="50"/>
                  <a:pt x="0" y="50"/>
                  <a:pt x="0" y="50"/>
                </a:cubicBezTo>
                <a:cubicBezTo>
                  <a:pt x="0" y="58"/>
                  <a:pt x="0" y="58"/>
                  <a:pt x="0" y="58"/>
                </a:cubicBezTo>
                <a:cubicBezTo>
                  <a:pt x="0" y="58"/>
                  <a:pt x="0" y="58"/>
                  <a:pt x="0" y="58"/>
                </a:cubicBezTo>
                <a:cubicBezTo>
                  <a:pt x="0" y="60"/>
                  <a:pt x="2" y="61"/>
                  <a:pt x="3" y="61"/>
                </a:cubicBezTo>
                <a:cubicBezTo>
                  <a:pt x="35" y="61"/>
                  <a:pt x="35" y="61"/>
                  <a:pt x="35" y="61"/>
                </a:cubicBezTo>
                <a:cubicBezTo>
                  <a:pt x="35" y="69"/>
                  <a:pt x="35" y="69"/>
                  <a:pt x="35" y="69"/>
                </a:cubicBezTo>
                <a:cubicBezTo>
                  <a:pt x="28" y="69"/>
                  <a:pt x="28" y="69"/>
                  <a:pt x="28" y="69"/>
                </a:cubicBezTo>
                <a:cubicBezTo>
                  <a:pt x="27" y="69"/>
                  <a:pt x="26" y="70"/>
                  <a:pt x="26" y="72"/>
                </a:cubicBezTo>
                <a:cubicBezTo>
                  <a:pt x="26" y="77"/>
                  <a:pt x="26" y="77"/>
                  <a:pt x="26" y="77"/>
                </a:cubicBezTo>
                <a:cubicBezTo>
                  <a:pt x="26" y="78"/>
                  <a:pt x="27" y="80"/>
                  <a:pt x="28" y="80"/>
                </a:cubicBezTo>
                <a:cubicBezTo>
                  <a:pt x="58" y="80"/>
                  <a:pt x="58" y="80"/>
                  <a:pt x="58" y="80"/>
                </a:cubicBezTo>
                <a:cubicBezTo>
                  <a:pt x="59" y="80"/>
                  <a:pt x="60" y="78"/>
                  <a:pt x="60" y="77"/>
                </a:cubicBezTo>
                <a:cubicBezTo>
                  <a:pt x="60" y="72"/>
                  <a:pt x="60" y="72"/>
                  <a:pt x="60" y="72"/>
                </a:cubicBezTo>
                <a:cubicBezTo>
                  <a:pt x="60" y="70"/>
                  <a:pt x="59" y="69"/>
                  <a:pt x="58" y="69"/>
                </a:cubicBezTo>
                <a:cubicBezTo>
                  <a:pt x="51" y="69"/>
                  <a:pt x="51" y="69"/>
                  <a:pt x="51" y="69"/>
                </a:cubicBezTo>
                <a:cubicBezTo>
                  <a:pt x="51" y="61"/>
                  <a:pt x="51" y="61"/>
                  <a:pt x="51" y="61"/>
                </a:cubicBezTo>
                <a:cubicBezTo>
                  <a:pt x="83" y="61"/>
                  <a:pt x="83" y="61"/>
                  <a:pt x="83" y="61"/>
                </a:cubicBezTo>
                <a:cubicBezTo>
                  <a:pt x="85" y="61"/>
                  <a:pt x="86" y="60"/>
                  <a:pt x="86" y="58"/>
                </a:cubicBezTo>
                <a:cubicBezTo>
                  <a:pt x="86" y="58"/>
                  <a:pt x="86" y="58"/>
                  <a:pt x="86" y="58"/>
                </a:cubicBezTo>
                <a:cubicBezTo>
                  <a:pt x="86" y="50"/>
                  <a:pt x="86" y="50"/>
                  <a:pt x="86" y="50"/>
                </a:cubicBezTo>
                <a:cubicBezTo>
                  <a:pt x="86" y="10"/>
                  <a:pt x="86" y="10"/>
                  <a:pt x="86" y="10"/>
                </a:cubicBezTo>
                <a:cubicBezTo>
                  <a:pt x="86" y="5"/>
                  <a:pt x="86" y="5"/>
                  <a:pt x="86" y="5"/>
                </a:cubicBezTo>
                <a:cubicBezTo>
                  <a:pt x="86" y="2"/>
                  <a:pt x="86" y="2"/>
                  <a:pt x="86" y="2"/>
                </a:cubicBezTo>
                <a:cubicBezTo>
                  <a:pt x="86" y="1"/>
                  <a:pt x="85" y="0"/>
                  <a:pt x="83" y="0"/>
                </a:cubicBezTo>
                <a:lnTo>
                  <a:pt x="3" y="0"/>
                </a:lnTo>
                <a:close/>
                <a:moveTo>
                  <a:pt x="75" y="50"/>
                </a:moveTo>
                <a:cubicBezTo>
                  <a:pt x="11" y="50"/>
                  <a:pt x="11" y="50"/>
                  <a:pt x="11" y="50"/>
                </a:cubicBezTo>
                <a:cubicBezTo>
                  <a:pt x="11" y="10"/>
                  <a:pt x="11" y="10"/>
                  <a:pt x="11" y="10"/>
                </a:cubicBezTo>
                <a:cubicBezTo>
                  <a:pt x="75" y="10"/>
                  <a:pt x="75" y="10"/>
                  <a:pt x="75" y="10"/>
                </a:cubicBezTo>
                <a:lnTo>
                  <a:pt x="75" y="50"/>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2" name="Group 21">
            <a:extLst>
              <a:ext uri="{FF2B5EF4-FFF2-40B4-BE49-F238E27FC236}">
                <a16:creationId xmlns:a16="http://schemas.microsoft.com/office/drawing/2014/main" id="{D188672F-48C9-48E4-B263-09B5A23E5D8D}"/>
              </a:ext>
            </a:extLst>
          </p:cNvPr>
          <p:cNvGrpSpPr>
            <a:grpSpLocks noChangeAspect="1"/>
          </p:cNvGrpSpPr>
          <p:nvPr/>
        </p:nvGrpSpPr>
        <p:grpSpPr>
          <a:xfrm>
            <a:off x="5281400" y="4449930"/>
            <a:ext cx="294309" cy="274320"/>
            <a:chOff x="5420143" y="2584694"/>
            <a:chExt cx="586567" cy="546730"/>
          </a:xfrm>
          <a:solidFill>
            <a:srgbClr val="595555"/>
          </a:solidFill>
        </p:grpSpPr>
        <p:sp>
          <p:nvSpPr>
            <p:cNvPr id="23" name="Freeform 830">
              <a:extLst>
                <a:ext uri="{FF2B5EF4-FFF2-40B4-BE49-F238E27FC236}">
                  <a16:creationId xmlns:a16="http://schemas.microsoft.com/office/drawing/2014/main" id="{D18176FC-E2CE-47D3-A3A4-1689C3D0A57F}"/>
                </a:ext>
              </a:extLst>
            </p:cNvPr>
            <p:cNvSpPr>
              <a:spLocks/>
            </p:cNvSpPr>
            <p:nvPr/>
          </p:nvSpPr>
          <p:spPr bwMode="auto">
            <a:xfrm>
              <a:off x="5420143" y="2735800"/>
              <a:ext cx="586567" cy="232154"/>
            </a:xfrm>
            <a:custGeom>
              <a:avLst/>
              <a:gdLst>
                <a:gd name="T0" fmla="*/ 0 w 427"/>
                <a:gd name="T1" fmla="*/ 0 h 169"/>
                <a:gd name="T2" fmla="*/ 0 w 427"/>
                <a:gd name="T3" fmla="*/ 84 h 169"/>
                <a:gd name="T4" fmla="*/ 214 w 427"/>
                <a:gd name="T5" fmla="*/ 169 h 169"/>
                <a:gd name="T6" fmla="*/ 427 w 427"/>
                <a:gd name="T7" fmla="*/ 84 h 169"/>
                <a:gd name="T8" fmla="*/ 427 w 427"/>
                <a:gd name="T9" fmla="*/ 0 h 169"/>
                <a:gd name="T10" fmla="*/ 214 w 427"/>
                <a:gd name="T11" fmla="*/ 84 h 169"/>
                <a:gd name="T12" fmla="*/ 0 w 427"/>
                <a:gd name="T13" fmla="*/ 0 h 169"/>
              </a:gdLst>
              <a:ahLst/>
              <a:cxnLst>
                <a:cxn ang="0">
                  <a:pos x="T0" y="T1"/>
                </a:cxn>
                <a:cxn ang="0">
                  <a:pos x="T2" y="T3"/>
                </a:cxn>
                <a:cxn ang="0">
                  <a:pos x="T4" y="T5"/>
                </a:cxn>
                <a:cxn ang="0">
                  <a:pos x="T6" y="T7"/>
                </a:cxn>
                <a:cxn ang="0">
                  <a:pos x="T8" y="T9"/>
                </a:cxn>
                <a:cxn ang="0">
                  <a:pos x="T10" y="T11"/>
                </a:cxn>
                <a:cxn ang="0">
                  <a:pos x="T12" y="T13"/>
                </a:cxn>
              </a:cxnLst>
              <a:rect l="0" t="0" r="r" b="b"/>
              <a:pathLst>
                <a:path w="427" h="169">
                  <a:moveTo>
                    <a:pt x="0" y="0"/>
                  </a:moveTo>
                  <a:lnTo>
                    <a:pt x="0" y="84"/>
                  </a:lnTo>
                  <a:lnTo>
                    <a:pt x="214" y="169"/>
                  </a:lnTo>
                  <a:lnTo>
                    <a:pt x="427" y="84"/>
                  </a:lnTo>
                  <a:lnTo>
                    <a:pt x="427" y="0"/>
                  </a:lnTo>
                  <a:lnTo>
                    <a:pt x="214" y="8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831">
              <a:extLst>
                <a:ext uri="{FF2B5EF4-FFF2-40B4-BE49-F238E27FC236}">
                  <a16:creationId xmlns:a16="http://schemas.microsoft.com/office/drawing/2014/main" id="{4152EE31-C83E-4AAE-9A45-08E8FA6D952D}"/>
                </a:ext>
              </a:extLst>
            </p:cNvPr>
            <p:cNvSpPr>
              <a:spLocks/>
            </p:cNvSpPr>
            <p:nvPr/>
          </p:nvSpPr>
          <p:spPr bwMode="auto">
            <a:xfrm>
              <a:off x="5420143" y="2899270"/>
              <a:ext cx="586567" cy="232154"/>
            </a:xfrm>
            <a:custGeom>
              <a:avLst/>
              <a:gdLst>
                <a:gd name="T0" fmla="*/ 0 w 427"/>
                <a:gd name="T1" fmla="*/ 0 h 169"/>
                <a:gd name="T2" fmla="*/ 0 w 427"/>
                <a:gd name="T3" fmla="*/ 84 h 169"/>
                <a:gd name="T4" fmla="*/ 214 w 427"/>
                <a:gd name="T5" fmla="*/ 169 h 169"/>
                <a:gd name="T6" fmla="*/ 427 w 427"/>
                <a:gd name="T7" fmla="*/ 84 h 169"/>
                <a:gd name="T8" fmla="*/ 427 w 427"/>
                <a:gd name="T9" fmla="*/ 0 h 169"/>
                <a:gd name="T10" fmla="*/ 214 w 427"/>
                <a:gd name="T11" fmla="*/ 84 h 169"/>
                <a:gd name="T12" fmla="*/ 0 w 427"/>
                <a:gd name="T13" fmla="*/ 0 h 169"/>
              </a:gdLst>
              <a:ahLst/>
              <a:cxnLst>
                <a:cxn ang="0">
                  <a:pos x="T0" y="T1"/>
                </a:cxn>
                <a:cxn ang="0">
                  <a:pos x="T2" y="T3"/>
                </a:cxn>
                <a:cxn ang="0">
                  <a:pos x="T4" y="T5"/>
                </a:cxn>
                <a:cxn ang="0">
                  <a:pos x="T6" y="T7"/>
                </a:cxn>
                <a:cxn ang="0">
                  <a:pos x="T8" y="T9"/>
                </a:cxn>
                <a:cxn ang="0">
                  <a:pos x="T10" y="T11"/>
                </a:cxn>
                <a:cxn ang="0">
                  <a:pos x="T12" y="T13"/>
                </a:cxn>
              </a:cxnLst>
              <a:rect l="0" t="0" r="r" b="b"/>
              <a:pathLst>
                <a:path w="427" h="169">
                  <a:moveTo>
                    <a:pt x="0" y="0"/>
                  </a:moveTo>
                  <a:lnTo>
                    <a:pt x="0" y="84"/>
                  </a:lnTo>
                  <a:lnTo>
                    <a:pt x="214" y="169"/>
                  </a:lnTo>
                  <a:lnTo>
                    <a:pt x="427" y="84"/>
                  </a:lnTo>
                  <a:lnTo>
                    <a:pt x="427" y="0"/>
                  </a:lnTo>
                  <a:lnTo>
                    <a:pt x="214" y="84"/>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832">
              <a:extLst>
                <a:ext uri="{FF2B5EF4-FFF2-40B4-BE49-F238E27FC236}">
                  <a16:creationId xmlns:a16="http://schemas.microsoft.com/office/drawing/2014/main" id="{31ACB026-EFEF-4285-9AEC-AEC9190EA9E1}"/>
                </a:ext>
              </a:extLst>
            </p:cNvPr>
            <p:cNvSpPr>
              <a:spLocks/>
            </p:cNvSpPr>
            <p:nvPr/>
          </p:nvSpPr>
          <p:spPr bwMode="auto">
            <a:xfrm>
              <a:off x="5420143" y="2584694"/>
              <a:ext cx="586567" cy="218417"/>
            </a:xfrm>
            <a:custGeom>
              <a:avLst/>
              <a:gdLst>
                <a:gd name="T0" fmla="*/ 427 w 427"/>
                <a:gd name="T1" fmla="*/ 75 h 159"/>
                <a:gd name="T2" fmla="*/ 214 w 427"/>
                <a:gd name="T3" fmla="*/ 0 h 159"/>
                <a:gd name="T4" fmla="*/ 0 w 427"/>
                <a:gd name="T5" fmla="*/ 75 h 159"/>
                <a:gd name="T6" fmla="*/ 214 w 427"/>
                <a:gd name="T7" fmla="*/ 159 h 159"/>
                <a:gd name="T8" fmla="*/ 427 w 427"/>
                <a:gd name="T9" fmla="*/ 75 h 159"/>
              </a:gdLst>
              <a:ahLst/>
              <a:cxnLst>
                <a:cxn ang="0">
                  <a:pos x="T0" y="T1"/>
                </a:cxn>
                <a:cxn ang="0">
                  <a:pos x="T2" y="T3"/>
                </a:cxn>
                <a:cxn ang="0">
                  <a:pos x="T4" y="T5"/>
                </a:cxn>
                <a:cxn ang="0">
                  <a:pos x="T6" y="T7"/>
                </a:cxn>
                <a:cxn ang="0">
                  <a:pos x="T8" y="T9"/>
                </a:cxn>
              </a:cxnLst>
              <a:rect l="0" t="0" r="r" b="b"/>
              <a:pathLst>
                <a:path w="427" h="159">
                  <a:moveTo>
                    <a:pt x="427" y="75"/>
                  </a:moveTo>
                  <a:lnTo>
                    <a:pt x="214" y="0"/>
                  </a:lnTo>
                  <a:lnTo>
                    <a:pt x="0" y="75"/>
                  </a:lnTo>
                  <a:lnTo>
                    <a:pt x="214" y="159"/>
                  </a:lnTo>
                  <a:lnTo>
                    <a:pt x="42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6" name="Group 25">
            <a:extLst>
              <a:ext uri="{FF2B5EF4-FFF2-40B4-BE49-F238E27FC236}">
                <a16:creationId xmlns:a16="http://schemas.microsoft.com/office/drawing/2014/main" id="{5D469331-E36B-40D6-8CB0-009AE85E830C}"/>
              </a:ext>
            </a:extLst>
          </p:cNvPr>
          <p:cNvGrpSpPr>
            <a:grpSpLocks noChangeAspect="1"/>
          </p:cNvGrpSpPr>
          <p:nvPr/>
        </p:nvGrpSpPr>
        <p:grpSpPr>
          <a:xfrm>
            <a:off x="4359179" y="4549271"/>
            <a:ext cx="422334" cy="274320"/>
            <a:chOff x="4654995" y="2667115"/>
            <a:chExt cx="587941" cy="381887"/>
          </a:xfrm>
          <a:solidFill>
            <a:srgbClr val="595555"/>
          </a:solidFill>
        </p:grpSpPr>
        <p:sp>
          <p:nvSpPr>
            <p:cNvPr id="27" name="Freeform 833">
              <a:extLst>
                <a:ext uri="{FF2B5EF4-FFF2-40B4-BE49-F238E27FC236}">
                  <a16:creationId xmlns:a16="http://schemas.microsoft.com/office/drawing/2014/main" id="{F667793D-146F-4C33-939C-9F8EC97D7D5F}"/>
                </a:ext>
              </a:extLst>
            </p:cNvPr>
            <p:cNvSpPr>
              <a:spLocks/>
            </p:cNvSpPr>
            <p:nvPr/>
          </p:nvSpPr>
          <p:spPr bwMode="auto">
            <a:xfrm>
              <a:off x="4654995" y="2667115"/>
              <a:ext cx="273365" cy="142864"/>
            </a:xfrm>
            <a:custGeom>
              <a:avLst/>
              <a:gdLst>
                <a:gd name="T0" fmla="*/ 199 w 199"/>
                <a:gd name="T1" fmla="*/ 0 h 104"/>
                <a:gd name="T2" fmla="*/ 40 w 199"/>
                <a:gd name="T3" fmla="*/ 0 h 104"/>
                <a:gd name="T4" fmla="*/ 0 w 199"/>
                <a:gd name="T5" fmla="*/ 104 h 104"/>
                <a:gd name="T6" fmla="*/ 189 w 199"/>
                <a:gd name="T7" fmla="*/ 104 h 104"/>
                <a:gd name="T8" fmla="*/ 199 w 199"/>
                <a:gd name="T9" fmla="*/ 0 h 104"/>
              </a:gdLst>
              <a:ahLst/>
              <a:cxnLst>
                <a:cxn ang="0">
                  <a:pos x="T0" y="T1"/>
                </a:cxn>
                <a:cxn ang="0">
                  <a:pos x="T2" y="T3"/>
                </a:cxn>
                <a:cxn ang="0">
                  <a:pos x="T4" y="T5"/>
                </a:cxn>
                <a:cxn ang="0">
                  <a:pos x="T6" y="T7"/>
                </a:cxn>
                <a:cxn ang="0">
                  <a:pos x="T8" y="T9"/>
                </a:cxn>
              </a:cxnLst>
              <a:rect l="0" t="0" r="r" b="b"/>
              <a:pathLst>
                <a:path w="199" h="104">
                  <a:moveTo>
                    <a:pt x="199" y="0"/>
                  </a:moveTo>
                  <a:lnTo>
                    <a:pt x="40" y="0"/>
                  </a:lnTo>
                  <a:lnTo>
                    <a:pt x="0" y="104"/>
                  </a:lnTo>
                  <a:lnTo>
                    <a:pt x="189" y="104"/>
                  </a:lnTo>
                  <a:lnTo>
                    <a:pt x="19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834">
              <a:extLst>
                <a:ext uri="{FF2B5EF4-FFF2-40B4-BE49-F238E27FC236}">
                  <a16:creationId xmlns:a16="http://schemas.microsoft.com/office/drawing/2014/main" id="{CAB9A796-BDA5-483D-BC49-8522BC499E42}"/>
                </a:ext>
              </a:extLst>
            </p:cNvPr>
            <p:cNvSpPr>
              <a:spLocks/>
            </p:cNvSpPr>
            <p:nvPr/>
          </p:nvSpPr>
          <p:spPr bwMode="auto">
            <a:xfrm>
              <a:off x="4654995" y="2844322"/>
              <a:ext cx="587941" cy="204680"/>
            </a:xfrm>
            <a:custGeom>
              <a:avLst/>
              <a:gdLst>
                <a:gd name="T0" fmla="*/ 0 w 428"/>
                <a:gd name="T1" fmla="*/ 134 h 149"/>
                <a:gd name="T2" fmla="*/ 0 w 428"/>
                <a:gd name="T3" fmla="*/ 139 h 149"/>
                <a:gd name="T4" fmla="*/ 0 w 428"/>
                <a:gd name="T5" fmla="*/ 149 h 149"/>
                <a:gd name="T6" fmla="*/ 428 w 428"/>
                <a:gd name="T7" fmla="*/ 149 h 149"/>
                <a:gd name="T8" fmla="*/ 428 w 428"/>
                <a:gd name="T9" fmla="*/ 139 h 149"/>
                <a:gd name="T10" fmla="*/ 428 w 428"/>
                <a:gd name="T11" fmla="*/ 134 h 149"/>
                <a:gd name="T12" fmla="*/ 428 w 428"/>
                <a:gd name="T13" fmla="*/ 0 h 149"/>
                <a:gd name="T14" fmla="*/ 0 w 428"/>
                <a:gd name="T15" fmla="*/ 0 h 149"/>
                <a:gd name="T16" fmla="*/ 0 w 428"/>
                <a:gd name="T17" fmla="*/ 13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8" h="149">
                  <a:moveTo>
                    <a:pt x="0" y="134"/>
                  </a:moveTo>
                  <a:lnTo>
                    <a:pt x="0" y="139"/>
                  </a:lnTo>
                  <a:lnTo>
                    <a:pt x="0" y="149"/>
                  </a:lnTo>
                  <a:lnTo>
                    <a:pt x="428" y="149"/>
                  </a:lnTo>
                  <a:lnTo>
                    <a:pt x="428" y="139"/>
                  </a:lnTo>
                  <a:lnTo>
                    <a:pt x="428" y="134"/>
                  </a:lnTo>
                  <a:lnTo>
                    <a:pt x="428" y="0"/>
                  </a:lnTo>
                  <a:lnTo>
                    <a:pt x="0" y="0"/>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835">
              <a:extLst>
                <a:ext uri="{FF2B5EF4-FFF2-40B4-BE49-F238E27FC236}">
                  <a16:creationId xmlns:a16="http://schemas.microsoft.com/office/drawing/2014/main" id="{5457562C-6865-4E25-8146-5E28CEE555A0}"/>
                </a:ext>
              </a:extLst>
            </p:cNvPr>
            <p:cNvSpPr>
              <a:spLocks/>
            </p:cNvSpPr>
            <p:nvPr/>
          </p:nvSpPr>
          <p:spPr bwMode="auto">
            <a:xfrm>
              <a:off x="4969571" y="2667115"/>
              <a:ext cx="273365" cy="142864"/>
            </a:xfrm>
            <a:custGeom>
              <a:avLst/>
              <a:gdLst>
                <a:gd name="T0" fmla="*/ 199 w 199"/>
                <a:gd name="T1" fmla="*/ 104 h 104"/>
                <a:gd name="T2" fmla="*/ 159 w 199"/>
                <a:gd name="T3" fmla="*/ 0 h 104"/>
                <a:gd name="T4" fmla="*/ 0 w 199"/>
                <a:gd name="T5" fmla="*/ 0 h 104"/>
                <a:gd name="T6" fmla="*/ 10 w 199"/>
                <a:gd name="T7" fmla="*/ 104 h 104"/>
                <a:gd name="T8" fmla="*/ 199 w 199"/>
                <a:gd name="T9" fmla="*/ 104 h 104"/>
              </a:gdLst>
              <a:ahLst/>
              <a:cxnLst>
                <a:cxn ang="0">
                  <a:pos x="T0" y="T1"/>
                </a:cxn>
                <a:cxn ang="0">
                  <a:pos x="T2" y="T3"/>
                </a:cxn>
                <a:cxn ang="0">
                  <a:pos x="T4" y="T5"/>
                </a:cxn>
                <a:cxn ang="0">
                  <a:pos x="T6" y="T7"/>
                </a:cxn>
                <a:cxn ang="0">
                  <a:pos x="T8" y="T9"/>
                </a:cxn>
              </a:cxnLst>
              <a:rect l="0" t="0" r="r" b="b"/>
              <a:pathLst>
                <a:path w="199" h="104">
                  <a:moveTo>
                    <a:pt x="199" y="104"/>
                  </a:moveTo>
                  <a:lnTo>
                    <a:pt x="159" y="0"/>
                  </a:lnTo>
                  <a:lnTo>
                    <a:pt x="0" y="0"/>
                  </a:lnTo>
                  <a:lnTo>
                    <a:pt x="10" y="104"/>
                  </a:lnTo>
                  <a:lnTo>
                    <a:pt x="199"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Freeform 852">
            <a:extLst>
              <a:ext uri="{FF2B5EF4-FFF2-40B4-BE49-F238E27FC236}">
                <a16:creationId xmlns:a16="http://schemas.microsoft.com/office/drawing/2014/main" id="{7D78BEE1-D1F0-4DB3-A37C-DD38F79DFE9C}"/>
              </a:ext>
            </a:extLst>
          </p:cNvPr>
          <p:cNvSpPr>
            <a:spLocks noChangeAspect="1" noEditPoints="1"/>
          </p:cNvSpPr>
          <p:nvPr/>
        </p:nvSpPr>
        <p:spPr bwMode="auto">
          <a:xfrm>
            <a:off x="8071241" y="4516157"/>
            <a:ext cx="342468" cy="274320"/>
          </a:xfrm>
          <a:custGeom>
            <a:avLst/>
            <a:gdLst>
              <a:gd name="T0" fmla="*/ 104 w 397"/>
              <a:gd name="T1" fmla="*/ 0 h 318"/>
              <a:gd name="T2" fmla="*/ 139 w 397"/>
              <a:gd name="T3" fmla="*/ 0 h 318"/>
              <a:gd name="T4" fmla="*/ 139 w 397"/>
              <a:gd name="T5" fmla="*/ 318 h 318"/>
              <a:gd name="T6" fmla="*/ 104 w 397"/>
              <a:gd name="T7" fmla="*/ 318 h 318"/>
              <a:gd name="T8" fmla="*/ 104 w 397"/>
              <a:gd name="T9" fmla="*/ 0 h 318"/>
              <a:gd name="T10" fmla="*/ 0 w 397"/>
              <a:gd name="T11" fmla="*/ 318 h 318"/>
              <a:gd name="T12" fmla="*/ 79 w 397"/>
              <a:gd name="T13" fmla="*/ 318 h 318"/>
              <a:gd name="T14" fmla="*/ 79 w 397"/>
              <a:gd name="T15" fmla="*/ 0 h 318"/>
              <a:gd name="T16" fmla="*/ 0 w 397"/>
              <a:gd name="T17" fmla="*/ 0 h 318"/>
              <a:gd name="T18" fmla="*/ 0 w 397"/>
              <a:gd name="T19" fmla="*/ 318 h 318"/>
              <a:gd name="T20" fmla="*/ 372 w 397"/>
              <a:gd name="T21" fmla="*/ 0 h 318"/>
              <a:gd name="T22" fmla="*/ 372 w 397"/>
              <a:gd name="T23" fmla="*/ 318 h 318"/>
              <a:gd name="T24" fmla="*/ 397 w 397"/>
              <a:gd name="T25" fmla="*/ 318 h 318"/>
              <a:gd name="T26" fmla="*/ 397 w 397"/>
              <a:gd name="T27" fmla="*/ 0 h 318"/>
              <a:gd name="T28" fmla="*/ 372 w 397"/>
              <a:gd name="T29" fmla="*/ 0 h 318"/>
              <a:gd name="T30" fmla="*/ 313 w 397"/>
              <a:gd name="T31" fmla="*/ 318 h 318"/>
              <a:gd name="T32" fmla="*/ 343 w 397"/>
              <a:gd name="T33" fmla="*/ 318 h 318"/>
              <a:gd name="T34" fmla="*/ 343 w 397"/>
              <a:gd name="T35" fmla="*/ 0 h 318"/>
              <a:gd name="T36" fmla="*/ 313 w 397"/>
              <a:gd name="T37" fmla="*/ 0 h 318"/>
              <a:gd name="T38" fmla="*/ 313 w 397"/>
              <a:gd name="T39" fmla="*/ 318 h 318"/>
              <a:gd name="T40" fmla="*/ 223 w 397"/>
              <a:gd name="T41" fmla="*/ 318 h 318"/>
              <a:gd name="T42" fmla="*/ 293 w 397"/>
              <a:gd name="T43" fmla="*/ 318 h 318"/>
              <a:gd name="T44" fmla="*/ 293 w 397"/>
              <a:gd name="T45" fmla="*/ 0 h 318"/>
              <a:gd name="T46" fmla="*/ 223 w 397"/>
              <a:gd name="T47" fmla="*/ 0 h 318"/>
              <a:gd name="T48" fmla="*/ 223 w 397"/>
              <a:gd name="T49" fmla="*/ 318 h 318"/>
              <a:gd name="T50" fmla="*/ 179 w 397"/>
              <a:gd name="T51" fmla="*/ 318 h 318"/>
              <a:gd name="T52" fmla="*/ 213 w 397"/>
              <a:gd name="T53" fmla="*/ 318 h 318"/>
              <a:gd name="T54" fmla="*/ 213 w 397"/>
              <a:gd name="T55" fmla="*/ 0 h 318"/>
              <a:gd name="T56" fmla="*/ 179 w 397"/>
              <a:gd name="T57" fmla="*/ 0 h 318"/>
              <a:gd name="T58" fmla="*/ 179 w 397"/>
              <a:gd name="T59" fmla="*/ 31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97" h="318">
                <a:moveTo>
                  <a:pt x="104" y="0"/>
                </a:moveTo>
                <a:lnTo>
                  <a:pt x="139" y="0"/>
                </a:lnTo>
                <a:lnTo>
                  <a:pt x="139" y="318"/>
                </a:lnTo>
                <a:lnTo>
                  <a:pt x="104" y="318"/>
                </a:lnTo>
                <a:lnTo>
                  <a:pt x="104" y="0"/>
                </a:lnTo>
                <a:close/>
                <a:moveTo>
                  <a:pt x="0" y="318"/>
                </a:moveTo>
                <a:lnTo>
                  <a:pt x="79" y="318"/>
                </a:lnTo>
                <a:lnTo>
                  <a:pt x="79" y="0"/>
                </a:lnTo>
                <a:lnTo>
                  <a:pt x="0" y="0"/>
                </a:lnTo>
                <a:lnTo>
                  <a:pt x="0" y="318"/>
                </a:lnTo>
                <a:close/>
                <a:moveTo>
                  <a:pt x="372" y="0"/>
                </a:moveTo>
                <a:lnTo>
                  <a:pt x="372" y="318"/>
                </a:lnTo>
                <a:lnTo>
                  <a:pt x="397" y="318"/>
                </a:lnTo>
                <a:lnTo>
                  <a:pt x="397" y="0"/>
                </a:lnTo>
                <a:lnTo>
                  <a:pt x="372" y="0"/>
                </a:lnTo>
                <a:close/>
                <a:moveTo>
                  <a:pt x="313" y="318"/>
                </a:moveTo>
                <a:lnTo>
                  <a:pt x="343" y="318"/>
                </a:lnTo>
                <a:lnTo>
                  <a:pt x="343" y="0"/>
                </a:lnTo>
                <a:lnTo>
                  <a:pt x="313" y="0"/>
                </a:lnTo>
                <a:lnTo>
                  <a:pt x="313" y="318"/>
                </a:lnTo>
                <a:close/>
                <a:moveTo>
                  <a:pt x="223" y="318"/>
                </a:moveTo>
                <a:lnTo>
                  <a:pt x="293" y="318"/>
                </a:lnTo>
                <a:lnTo>
                  <a:pt x="293" y="0"/>
                </a:lnTo>
                <a:lnTo>
                  <a:pt x="223" y="0"/>
                </a:lnTo>
                <a:lnTo>
                  <a:pt x="223" y="318"/>
                </a:lnTo>
                <a:close/>
                <a:moveTo>
                  <a:pt x="179" y="318"/>
                </a:moveTo>
                <a:lnTo>
                  <a:pt x="213" y="318"/>
                </a:lnTo>
                <a:lnTo>
                  <a:pt x="213" y="0"/>
                </a:lnTo>
                <a:lnTo>
                  <a:pt x="179" y="0"/>
                </a:lnTo>
                <a:lnTo>
                  <a:pt x="179" y="318"/>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1" name="Group 30">
            <a:extLst>
              <a:ext uri="{FF2B5EF4-FFF2-40B4-BE49-F238E27FC236}">
                <a16:creationId xmlns:a16="http://schemas.microsoft.com/office/drawing/2014/main" id="{5C97B3F5-9E76-4C2A-AF09-C5B310AF0C1D}"/>
              </a:ext>
            </a:extLst>
          </p:cNvPr>
          <p:cNvGrpSpPr>
            <a:grpSpLocks noChangeAspect="1"/>
          </p:cNvGrpSpPr>
          <p:nvPr/>
        </p:nvGrpSpPr>
        <p:grpSpPr>
          <a:xfrm>
            <a:off x="9889191" y="4532714"/>
            <a:ext cx="399777" cy="274320"/>
            <a:chOff x="9243133" y="2653378"/>
            <a:chExt cx="586567" cy="402493"/>
          </a:xfrm>
          <a:solidFill>
            <a:srgbClr val="595555"/>
          </a:solidFill>
        </p:grpSpPr>
        <p:sp>
          <p:nvSpPr>
            <p:cNvPr id="32" name="Freeform 853">
              <a:extLst>
                <a:ext uri="{FF2B5EF4-FFF2-40B4-BE49-F238E27FC236}">
                  <a16:creationId xmlns:a16="http://schemas.microsoft.com/office/drawing/2014/main" id="{75E95535-CF24-47AD-8BC0-5F4AD8F47D33}"/>
                </a:ext>
              </a:extLst>
            </p:cNvPr>
            <p:cNvSpPr>
              <a:spLocks/>
            </p:cNvSpPr>
            <p:nvPr/>
          </p:nvSpPr>
          <p:spPr bwMode="auto">
            <a:xfrm>
              <a:off x="9243133" y="2653378"/>
              <a:ext cx="586567" cy="225286"/>
            </a:xfrm>
            <a:custGeom>
              <a:avLst/>
              <a:gdLst>
                <a:gd name="T0" fmla="*/ 214 w 427"/>
                <a:gd name="T1" fmla="*/ 0 h 164"/>
                <a:gd name="T2" fmla="*/ 0 w 427"/>
                <a:gd name="T3" fmla="*/ 0 h 164"/>
                <a:gd name="T4" fmla="*/ 0 w 427"/>
                <a:gd name="T5" fmla="*/ 0 h 164"/>
                <a:gd name="T6" fmla="*/ 214 w 427"/>
                <a:gd name="T7" fmla="*/ 164 h 164"/>
                <a:gd name="T8" fmla="*/ 427 w 427"/>
                <a:gd name="T9" fmla="*/ 0 h 164"/>
                <a:gd name="T10" fmla="*/ 427 w 427"/>
                <a:gd name="T11" fmla="*/ 0 h 164"/>
                <a:gd name="T12" fmla="*/ 214 w 427"/>
                <a:gd name="T13" fmla="*/ 0 h 164"/>
              </a:gdLst>
              <a:ahLst/>
              <a:cxnLst>
                <a:cxn ang="0">
                  <a:pos x="T0" y="T1"/>
                </a:cxn>
                <a:cxn ang="0">
                  <a:pos x="T2" y="T3"/>
                </a:cxn>
                <a:cxn ang="0">
                  <a:pos x="T4" y="T5"/>
                </a:cxn>
                <a:cxn ang="0">
                  <a:pos x="T6" y="T7"/>
                </a:cxn>
                <a:cxn ang="0">
                  <a:pos x="T8" y="T9"/>
                </a:cxn>
                <a:cxn ang="0">
                  <a:pos x="T10" y="T11"/>
                </a:cxn>
                <a:cxn ang="0">
                  <a:pos x="T12" y="T13"/>
                </a:cxn>
              </a:cxnLst>
              <a:rect l="0" t="0" r="r" b="b"/>
              <a:pathLst>
                <a:path w="427" h="164">
                  <a:moveTo>
                    <a:pt x="214" y="0"/>
                  </a:moveTo>
                  <a:lnTo>
                    <a:pt x="0" y="0"/>
                  </a:lnTo>
                  <a:lnTo>
                    <a:pt x="0" y="0"/>
                  </a:lnTo>
                  <a:lnTo>
                    <a:pt x="214" y="164"/>
                  </a:lnTo>
                  <a:lnTo>
                    <a:pt x="427" y="0"/>
                  </a:lnTo>
                  <a:lnTo>
                    <a:pt x="427" y="0"/>
                  </a:lnTo>
                  <a:lnTo>
                    <a:pt x="2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854">
              <a:extLst>
                <a:ext uri="{FF2B5EF4-FFF2-40B4-BE49-F238E27FC236}">
                  <a16:creationId xmlns:a16="http://schemas.microsoft.com/office/drawing/2014/main" id="{CFAB4A2A-7DEE-4D92-9E2E-CAABBFFAA3F6}"/>
                </a:ext>
              </a:extLst>
            </p:cNvPr>
            <p:cNvSpPr>
              <a:spLocks/>
            </p:cNvSpPr>
            <p:nvPr/>
          </p:nvSpPr>
          <p:spPr bwMode="auto">
            <a:xfrm>
              <a:off x="9243133" y="2701458"/>
              <a:ext cx="586567" cy="354413"/>
            </a:xfrm>
            <a:custGeom>
              <a:avLst/>
              <a:gdLst>
                <a:gd name="T0" fmla="*/ 214 w 427"/>
                <a:gd name="T1" fmla="*/ 159 h 258"/>
                <a:gd name="T2" fmla="*/ 214 w 427"/>
                <a:gd name="T3" fmla="*/ 159 h 258"/>
                <a:gd name="T4" fmla="*/ 0 w 427"/>
                <a:gd name="T5" fmla="*/ 0 h 258"/>
                <a:gd name="T6" fmla="*/ 0 w 427"/>
                <a:gd name="T7" fmla="*/ 258 h 258"/>
                <a:gd name="T8" fmla="*/ 214 w 427"/>
                <a:gd name="T9" fmla="*/ 258 h 258"/>
                <a:gd name="T10" fmla="*/ 427 w 427"/>
                <a:gd name="T11" fmla="*/ 258 h 258"/>
                <a:gd name="T12" fmla="*/ 427 w 427"/>
                <a:gd name="T13" fmla="*/ 0 h 258"/>
                <a:gd name="T14" fmla="*/ 214 w 427"/>
                <a:gd name="T15" fmla="*/ 159 h 258"/>
                <a:gd name="T16" fmla="*/ 214 w 427"/>
                <a:gd name="T17" fmla="*/ 15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7" h="258">
                  <a:moveTo>
                    <a:pt x="214" y="159"/>
                  </a:moveTo>
                  <a:lnTo>
                    <a:pt x="214" y="159"/>
                  </a:lnTo>
                  <a:lnTo>
                    <a:pt x="0" y="0"/>
                  </a:lnTo>
                  <a:lnTo>
                    <a:pt x="0" y="258"/>
                  </a:lnTo>
                  <a:lnTo>
                    <a:pt x="214" y="258"/>
                  </a:lnTo>
                  <a:lnTo>
                    <a:pt x="427" y="258"/>
                  </a:lnTo>
                  <a:lnTo>
                    <a:pt x="427" y="0"/>
                  </a:lnTo>
                  <a:lnTo>
                    <a:pt x="214" y="159"/>
                  </a:lnTo>
                  <a:lnTo>
                    <a:pt x="214"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4" name="Group 33">
            <a:extLst>
              <a:ext uri="{FF2B5EF4-FFF2-40B4-BE49-F238E27FC236}">
                <a16:creationId xmlns:a16="http://schemas.microsoft.com/office/drawing/2014/main" id="{7AFAFD2B-A010-4E2F-BEC6-7373AAC29B48}"/>
              </a:ext>
            </a:extLst>
          </p:cNvPr>
          <p:cNvGrpSpPr>
            <a:grpSpLocks noChangeAspect="1"/>
          </p:cNvGrpSpPr>
          <p:nvPr/>
        </p:nvGrpSpPr>
        <p:grpSpPr>
          <a:xfrm>
            <a:off x="10811412" y="4516157"/>
            <a:ext cx="368349" cy="274320"/>
            <a:chOff x="10008281" y="2639641"/>
            <a:chExt cx="586567" cy="436835"/>
          </a:xfrm>
          <a:solidFill>
            <a:srgbClr val="595555"/>
          </a:solidFill>
        </p:grpSpPr>
        <p:sp>
          <p:nvSpPr>
            <p:cNvPr id="35" name="Freeform 855">
              <a:extLst>
                <a:ext uri="{FF2B5EF4-FFF2-40B4-BE49-F238E27FC236}">
                  <a16:creationId xmlns:a16="http://schemas.microsoft.com/office/drawing/2014/main" id="{28B314BE-69C3-4FEC-B9B0-CC4D81D51D52}"/>
                </a:ext>
              </a:extLst>
            </p:cNvPr>
            <p:cNvSpPr>
              <a:spLocks noEditPoints="1"/>
            </p:cNvSpPr>
            <p:nvPr/>
          </p:nvSpPr>
          <p:spPr bwMode="auto">
            <a:xfrm>
              <a:off x="10008281" y="2816848"/>
              <a:ext cx="586567" cy="259628"/>
            </a:xfrm>
            <a:custGeom>
              <a:avLst/>
              <a:gdLst>
                <a:gd name="T0" fmla="*/ 0 w 86"/>
                <a:gd name="T1" fmla="*/ 35 h 38"/>
                <a:gd name="T2" fmla="*/ 3 w 86"/>
                <a:gd name="T3" fmla="*/ 38 h 38"/>
                <a:gd name="T4" fmla="*/ 83 w 86"/>
                <a:gd name="T5" fmla="*/ 38 h 38"/>
                <a:gd name="T6" fmla="*/ 86 w 86"/>
                <a:gd name="T7" fmla="*/ 35 h 38"/>
                <a:gd name="T8" fmla="*/ 86 w 86"/>
                <a:gd name="T9" fmla="*/ 0 h 38"/>
                <a:gd name="T10" fmla="*/ 0 w 86"/>
                <a:gd name="T11" fmla="*/ 0 h 38"/>
                <a:gd name="T12" fmla="*/ 0 w 86"/>
                <a:gd name="T13" fmla="*/ 35 h 38"/>
                <a:gd name="T14" fmla="*/ 56 w 86"/>
                <a:gd name="T15" fmla="*/ 15 h 38"/>
                <a:gd name="T16" fmla="*/ 59 w 86"/>
                <a:gd name="T17" fmla="*/ 12 h 38"/>
                <a:gd name="T18" fmla="*/ 72 w 86"/>
                <a:gd name="T19" fmla="*/ 12 h 38"/>
                <a:gd name="T20" fmla="*/ 75 w 86"/>
                <a:gd name="T21" fmla="*/ 15 h 38"/>
                <a:gd name="T22" fmla="*/ 75 w 86"/>
                <a:gd name="T23" fmla="*/ 23 h 38"/>
                <a:gd name="T24" fmla="*/ 72 w 86"/>
                <a:gd name="T25" fmla="*/ 26 h 38"/>
                <a:gd name="T26" fmla="*/ 59 w 86"/>
                <a:gd name="T27" fmla="*/ 26 h 38"/>
                <a:gd name="T28" fmla="*/ 56 w 86"/>
                <a:gd name="T29" fmla="*/ 23 h 38"/>
                <a:gd name="T30" fmla="*/ 56 w 86"/>
                <a:gd name="T31" fmla="*/ 1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6" h="38">
                  <a:moveTo>
                    <a:pt x="0" y="35"/>
                  </a:moveTo>
                  <a:cubicBezTo>
                    <a:pt x="0" y="36"/>
                    <a:pt x="2" y="38"/>
                    <a:pt x="3" y="38"/>
                  </a:cubicBezTo>
                  <a:cubicBezTo>
                    <a:pt x="83" y="38"/>
                    <a:pt x="83" y="38"/>
                    <a:pt x="83" y="38"/>
                  </a:cubicBezTo>
                  <a:cubicBezTo>
                    <a:pt x="85" y="38"/>
                    <a:pt x="86" y="36"/>
                    <a:pt x="86" y="35"/>
                  </a:cubicBezTo>
                  <a:cubicBezTo>
                    <a:pt x="86" y="0"/>
                    <a:pt x="86" y="0"/>
                    <a:pt x="86" y="0"/>
                  </a:cubicBezTo>
                  <a:cubicBezTo>
                    <a:pt x="0" y="0"/>
                    <a:pt x="0" y="0"/>
                    <a:pt x="0" y="0"/>
                  </a:cubicBezTo>
                  <a:lnTo>
                    <a:pt x="0" y="35"/>
                  </a:lnTo>
                  <a:close/>
                  <a:moveTo>
                    <a:pt x="56" y="15"/>
                  </a:moveTo>
                  <a:cubicBezTo>
                    <a:pt x="56" y="13"/>
                    <a:pt x="58" y="12"/>
                    <a:pt x="59" y="12"/>
                  </a:cubicBezTo>
                  <a:cubicBezTo>
                    <a:pt x="72" y="12"/>
                    <a:pt x="72" y="12"/>
                    <a:pt x="72" y="12"/>
                  </a:cubicBezTo>
                  <a:cubicBezTo>
                    <a:pt x="74" y="12"/>
                    <a:pt x="75" y="13"/>
                    <a:pt x="75" y="15"/>
                  </a:cubicBezTo>
                  <a:cubicBezTo>
                    <a:pt x="75" y="23"/>
                    <a:pt x="75" y="23"/>
                    <a:pt x="75" y="23"/>
                  </a:cubicBezTo>
                  <a:cubicBezTo>
                    <a:pt x="75" y="24"/>
                    <a:pt x="74" y="26"/>
                    <a:pt x="72" y="26"/>
                  </a:cubicBezTo>
                  <a:cubicBezTo>
                    <a:pt x="59" y="26"/>
                    <a:pt x="59" y="26"/>
                    <a:pt x="59" y="26"/>
                  </a:cubicBezTo>
                  <a:cubicBezTo>
                    <a:pt x="58" y="26"/>
                    <a:pt x="56" y="24"/>
                    <a:pt x="56" y="23"/>
                  </a:cubicBezTo>
                  <a:lnTo>
                    <a:pt x="5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856">
              <a:extLst>
                <a:ext uri="{FF2B5EF4-FFF2-40B4-BE49-F238E27FC236}">
                  <a16:creationId xmlns:a16="http://schemas.microsoft.com/office/drawing/2014/main" id="{A6E0ABD0-6649-4B50-AEEC-CB26EF1CF6E1}"/>
                </a:ext>
              </a:extLst>
            </p:cNvPr>
            <p:cNvSpPr>
              <a:spLocks/>
            </p:cNvSpPr>
            <p:nvPr/>
          </p:nvSpPr>
          <p:spPr bwMode="auto">
            <a:xfrm>
              <a:off x="10008281" y="2639641"/>
              <a:ext cx="586567" cy="109896"/>
            </a:xfrm>
            <a:custGeom>
              <a:avLst/>
              <a:gdLst>
                <a:gd name="T0" fmla="*/ 83 w 86"/>
                <a:gd name="T1" fmla="*/ 0 h 16"/>
                <a:gd name="T2" fmla="*/ 3 w 86"/>
                <a:gd name="T3" fmla="*/ 0 h 16"/>
                <a:gd name="T4" fmla="*/ 0 w 86"/>
                <a:gd name="T5" fmla="*/ 2 h 16"/>
                <a:gd name="T6" fmla="*/ 0 w 86"/>
                <a:gd name="T7" fmla="*/ 16 h 16"/>
                <a:gd name="T8" fmla="*/ 86 w 86"/>
                <a:gd name="T9" fmla="*/ 16 h 16"/>
                <a:gd name="T10" fmla="*/ 86 w 86"/>
                <a:gd name="T11" fmla="*/ 2 h 16"/>
                <a:gd name="T12" fmla="*/ 83 w 8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6" h="16">
                  <a:moveTo>
                    <a:pt x="83" y="0"/>
                  </a:moveTo>
                  <a:cubicBezTo>
                    <a:pt x="3" y="0"/>
                    <a:pt x="3" y="0"/>
                    <a:pt x="3" y="0"/>
                  </a:cubicBezTo>
                  <a:cubicBezTo>
                    <a:pt x="2" y="0"/>
                    <a:pt x="0" y="1"/>
                    <a:pt x="0" y="2"/>
                  </a:cubicBezTo>
                  <a:cubicBezTo>
                    <a:pt x="0" y="16"/>
                    <a:pt x="0" y="16"/>
                    <a:pt x="0" y="16"/>
                  </a:cubicBezTo>
                  <a:cubicBezTo>
                    <a:pt x="86" y="16"/>
                    <a:pt x="86" y="16"/>
                    <a:pt x="86" y="16"/>
                  </a:cubicBezTo>
                  <a:cubicBezTo>
                    <a:pt x="86" y="2"/>
                    <a:pt x="86" y="2"/>
                    <a:pt x="86" y="2"/>
                  </a:cubicBezTo>
                  <a:cubicBezTo>
                    <a:pt x="86" y="1"/>
                    <a:pt x="85"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7" name="Freeform 786">
            <a:extLst>
              <a:ext uri="{FF2B5EF4-FFF2-40B4-BE49-F238E27FC236}">
                <a16:creationId xmlns:a16="http://schemas.microsoft.com/office/drawing/2014/main" id="{1426F5F9-91A7-4826-A907-577DE2ED2380}"/>
              </a:ext>
            </a:extLst>
          </p:cNvPr>
          <p:cNvSpPr>
            <a:spLocks noChangeAspect="1"/>
          </p:cNvSpPr>
          <p:nvPr/>
        </p:nvSpPr>
        <p:spPr bwMode="auto">
          <a:xfrm>
            <a:off x="739836" y="2426597"/>
            <a:ext cx="226218" cy="274320"/>
          </a:xfrm>
          <a:custGeom>
            <a:avLst/>
            <a:gdLst>
              <a:gd name="T0" fmla="*/ 24 w 70"/>
              <a:gd name="T1" fmla="*/ 85 h 85"/>
              <a:gd name="T2" fmla="*/ 27 w 70"/>
              <a:gd name="T3" fmla="*/ 85 h 85"/>
              <a:gd name="T4" fmla="*/ 28 w 70"/>
              <a:gd name="T5" fmla="*/ 84 h 85"/>
              <a:gd name="T6" fmla="*/ 28 w 70"/>
              <a:gd name="T7" fmla="*/ 83 h 85"/>
              <a:gd name="T8" fmla="*/ 16 w 70"/>
              <a:gd name="T9" fmla="*/ 72 h 85"/>
              <a:gd name="T10" fmla="*/ 22 w 70"/>
              <a:gd name="T11" fmla="*/ 46 h 85"/>
              <a:gd name="T12" fmla="*/ 28 w 70"/>
              <a:gd name="T13" fmla="*/ 57 h 85"/>
              <a:gd name="T14" fmla="*/ 29 w 70"/>
              <a:gd name="T15" fmla="*/ 57 h 85"/>
              <a:gd name="T16" fmla="*/ 30 w 70"/>
              <a:gd name="T17" fmla="*/ 57 h 85"/>
              <a:gd name="T18" fmla="*/ 34 w 70"/>
              <a:gd name="T19" fmla="*/ 37 h 85"/>
              <a:gd name="T20" fmla="*/ 41 w 70"/>
              <a:gd name="T21" fmla="*/ 61 h 85"/>
              <a:gd name="T22" fmla="*/ 42 w 70"/>
              <a:gd name="T23" fmla="*/ 62 h 85"/>
              <a:gd name="T24" fmla="*/ 43 w 70"/>
              <a:gd name="T25" fmla="*/ 61 h 85"/>
              <a:gd name="T26" fmla="*/ 46 w 70"/>
              <a:gd name="T27" fmla="*/ 49 h 85"/>
              <a:gd name="T28" fmla="*/ 54 w 70"/>
              <a:gd name="T29" fmla="*/ 72 h 85"/>
              <a:gd name="T30" fmla="*/ 46 w 70"/>
              <a:gd name="T31" fmla="*/ 83 h 85"/>
              <a:gd name="T32" fmla="*/ 46 w 70"/>
              <a:gd name="T33" fmla="*/ 84 h 85"/>
              <a:gd name="T34" fmla="*/ 47 w 70"/>
              <a:gd name="T35" fmla="*/ 84 h 85"/>
              <a:gd name="T36" fmla="*/ 70 w 70"/>
              <a:gd name="T37" fmla="*/ 58 h 85"/>
              <a:gd name="T38" fmla="*/ 52 w 70"/>
              <a:gd name="T39" fmla="*/ 16 h 85"/>
              <a:gd name="T40" fmla="*/ 51 w 70"/>
              <a:gd name="T41" fmla="*/ 16 h 85"/>
              <a:gd name="T42" fmla="*/ 51 w 70"/>
              <a:gd name="T43" fmla="*/ 17 h 85"/>
              <a:gd name="T44" fmla="*/ 49 w 70"/>
              <a:gd name="T45" fmla="*/ 37 h 85"/>
              <a:gd name="T46" fmla="*/ 33 w 70"/>
              <a:gd name="T47" fmla="*/ 0 h 85"/>
              <a:gd name="T48" fmla="*/ 32 w 70"/>
              <a:gd name="T49" fmla="*/ 0 h 85"/>
              <a:gd name="T50" fmla="*/ 32 w 70"/>
              <a:gd name="T51" fmla="*/ 1 h 85"/>
              <a:gd name="T52" fmla="*/ 25 w 70"/>
              <a:gd name="T53" fmla="*/ 31 h 85"/>
              <a:gd name="T54" fmla="*/ 25 w 70"/>
              <a:gd name="T55" fmla="*/ 31 h 85"/>
              <a:gd name="T56" fmla="*/ 14 w 70"/>
              <a:gd name="T57" fmla="*/ 15 h 85"/>
              <a:gd name="T58" fmla="*/ 13 w 70"/>
              <a:gd name="T59" fmla="*/ 15 h 85"/>
              <a:gd name="T60" fmla="*/ 13 w 70"/>
              <a:gd name="T61" fmla="*/ 16 h 85"/>
              <a:gd name="T62" fmla="*/ 13 w 70"/>
              <a:gd name="T63" fmla="*/ 22 h 85"/>
              <a:gd name="T64" fmla="*/ 0 w 70"/>
              <a:gd name="T65" fmla="*/ 64 h 85"/>
              <a:gd name="T66" fmla="*/ 24 w 70"/>
              <a:gd name="T6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0" h="85">
                <a:moveTo>
                  <a:pt x="24" y="85"/>
                </a:moveTo>
                <a:cubicBezTo>
                  <a:pt x="25" y="85"/>
                  <a:pt x="26" y="85"/>
                  <a:pt x="27" y="85"/>
                </a:cubicBezTo>
                <a:cubicBezTo>
                  <a:pt x="28" y="85"/>
                  <a:pt x="28" y="85"/>
                  <a:pt x="28" y="84"/>
                </a:cubicBezTo>
                <a:cubicBezTo>
                  <a:pt x="28" y="84"/>
                  <a:pt x="28" y="84"/>
                  <a:pt x="28" y="83"/>
                </a:cubicBezTo>
                <a:cubicBezTo>
                  <a:pt x="22" y="81"/>
                  <a:pt x="16" y="77"/>
                  <a:pt x="16" y="72"/>
                </a:cubicBezTo>
                <a:cubicBezTo>
                  <a:pt x="16" y="65"/>
                  <a:pt x="22" y="60"/>
                  <a:pt x="22" y="46"/>
                </a:cubicBezTo>
                <a:cubicBezTo>
                  <a:pt x="24" y="49"/>
                  <a:pt x="28" y="56"/>
                  <a:pt x="28" y="57"/>
                </a:cubicBezTo>
                <a:cubicBezTo>
                  <a:pt x="28" y="57"/>
                  <a:pt x="29" y="57"/>
                  <a:pt x="29" y="57"/>
                </a:cubicBezTo>
                <a:cubicBezTo>
                  <a:pt x="29" y="57"/>
                  <a:pt x="30" y="57"/>
                  <a:pt x="30" y="57"/>
                </a:cubicBezTo>
                <a:cubicBezTo>
                  <a:pt x="32" y="53"/>
                  <a:pt x="34" y="45"/>
                  <a:pt x="34" y="37"/>
                </a:cubicBezTo>
                <a:cubicBezTo>
                  <a:pt x="37" y="42"/>
                  <a:pt x="41" y="54"/>
                  <a:pt x="41" y="61"/>
                </a:cubicBezTo>
                <a:cubicBezTo>
                  <a:pt x="41" y="61"/>
                  <a:pt x="42" y="62"/>
                  <a:pt x="42" y="62"/>
                </a:cubicBezTo>
                <a:cubicBezTo>
                  <a:pt x="42" y="62"/>
                  <a:pt x="43" y="61"/>
                  <a:pt x="43" y="61"/>
                </a:cubicBezTo>
                <a:cubicBezTo>
                  <a:pt x="44" y="59"/>
                  <a:pt x="46" y="56"/>
                  <a:pt x="46" y="49"/>
                </a:cubicBezTo>
                <a:cubicBezTo>
                  <a:pt x="51" y="56"/>
                  <a:pt x="54" y="65"/>
                  <a:pt x="54" y="72"/>
                </a:cubicBezTo>
                <a:cubicBezTo>
                  <a:pt x="54" y="78"/>
                  <a:pt x="51" y="81"/>
                  <a:pt x="46" y="83"/>
                </a:cubicBezTo>
                <a:cubicBezTo>
                  <a:pt x="46" y="83"/>
                  <a:pt x="46" y="83"/>
                  <a:pt x="46" y="84"/>
                </a:cubicBezTo>
                <a:cubicBezTo>
                  <a:pt x="46" y="84"/>
                  <a:pt x="46" y="84"/>
                  <a:pt x="47" y="84"/>
                </a:cubicBezTo>
                <a:cubicBezTo>
                  <a:pt x="58" y="83"/>
                  <a:pt x="70" y="75"/>
                  <a:pt x="70" y="58"/>
                </a:cubicBezTo>
                <a:cubicBezTo>
                  <a:pt x="70" y="41"/>
                  <a:pt x="62" y="26"/>
                  <a:pt x="52" y="16"/>
                </a:cubicBezTo>
                <a:cubicBezTo>
                  <a:pt x="52" y="16"/>
                  <a:pt x="52" y="16"/>
                  <a:pt x="51" y="16"/>
                </a:cubicBezTo>
                <a:cubicBezTo>
                  <a:pt x="51" y="16"/>
                  <a:pt x="51" y="17"/>
                  <a:pt x="51" y="17"/>
                </a:cubicBezTo>
                <a:cubicBezTo>
                  <a:pt x="51" y="22"/>
                  <a:pt x="50" y="31"/>
                  <a:pt x="49" y="37"/>
                </a:cubicBezTo>
                <a:cubicBezTo>
                  <a:pt x="47" y="28"/>
                  <a:pt x="42" y="10"/>
                  <a:pt x="33" y="0"/>
                </a:cubicBezTo>
                <a:cubicBezTo>
                  <a:pt x="33" y="0"/>
                  <a:pt x="32" y="0"/>
                  <a:pt x="32" y="0"/>
                </a:cubicBezTo>
                <a:cubicBezTo>
                  <a:pt x="32" y="0"/>
                  <a:pt x="32" y="0"/>
                  <a:pt x="32" y="1"/>
                </a:cubicBezTo>
                <a:cubicBezTo>
                  <a:pt x="31" y="17"/>
                  <a:pt x="27" y="27"/>
                  <a:pt x="25" y="31"/>
                </a:cubicBezTo>
                <a:cubicBezTo>
                  <a:pt x="25" y="31"/>
                  <a:pt x="25" y="31"/>
                  <a:pt x="25" y="31"/>
                </a:cubicBezTo>
                <a:cubicBezTo>
                  <a:pt x="22" y="25"/>
                  <a:pt x="18" y="18"/>
                  <a:pt x="14" y="15"/>
                </a:cubicBezTo>
                <a:cubicBezTo>
                  <a:pt x="14" y="15"/>
                  <a:pt x="13" y="14"/>
                  <a:pt x="13" y="15"/>
                </a:cubicBezTo>
                <a:cubicBezTo>
                  <a:pt x="13" y="15"/>
                  <a:pt x="13" y="15"/>
                  <a:pt x="13" y="16"/>
                </a:cubicBezTo>
                <a:cubicBezTo>
                  <a:pt x="13" y="18"/>
                  <a:pt x="13" y="20"/>
                  <a:pt x="13" y="22"/>
                </a:cubicBezTo>
                <a:cubicBezTo>
                  <a:pt x="13" y="46"/>
                  <a:pt x="0" y="50"/>
                  <a:pt x="0" y="64"/>
                </a:cubicBezTo>
                <a:cubicBezTo>
                  <a:pt x="0" y="78"/>
                  <a:pt x="9" y="85"/>
                  <a:pt x="24" y="85"/>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787">
            <a:extLst>
              <a:ext uri="{FF2B5EF4-FFF2-40B4-BE49-F238E27FC236}">
                <a16:creationId xmlns:a16="http://schemas.microsoft.com/office/drawing/2014/main" id="{B71E4D36-3140-4D2F-8399-1A0945F80F9C}"/>
              </a:ext>
            </a:extLst>
          </p:cNvPr>
          <p:cNvSpPr>
            <a:spLocks noChangeAspect="1" noEditPoints="1"/>
          </p:cNvSpPr>
          <p:nvPr/>
        </p:nvSpPr>
        <p:spPr bwMode="auto">
          <a:xfrm>
            <a:off x="1595829" y="2426597"/>
            <a:ext cx="277569" cy="274320"/>
          </a:xfrm>
          <a:custGeom>
            <a:avLst/>
            <a:gdLst>
              <a:gd name="T0" fmla="*/ 43 w 86"/>
              <a:gd name="T1" fmla="*/ 0 h 85"/>
              <a:gd name="T2" fmla="*/ 0 w 86"/>
              <a:gd name="T3" fmla="*/ 43 h 85"/>
              <a:gd name="T4" fmla="*/ 43 w 86"/>
              <a:gd name="T5" fmla="*/ 85 h 85"/>
              <a:gd name="T6" fmla="*/ 86 w 86"/>
              <a:gd name="T7" fmla="*/ 43 h 85"/>
              <a:gd name="T8" fmla="*/ 43 w 86"/>
              <a:gd name="T9" fmla="*/ 0 h 85"/>
              <a:gd name="T10" fmla="*/ 64 w 86"/>
              <a:gd name="T11" fmla="*/ 51 h 85"/>
              <a:gd name="T12" fmla="*/ 51 w 86"/>
              <a:gd name="T13" fmla="*/ 51 h 85"/>
              <a:gd name="T14" fmla="*/ 51 w 86"/>
              <a:gd name="T15" fmla="*/ 64 h 85"/>
              <a:gd name="T16" fmla="*/ 35 w 86"/>
              <a:gd name="T17" fmla="*/ 64 h 85"/>
              <a:gd name="T18" fmla="*/ 35 w 86"/>
              <a:gd name="T19" fmla="*/ 51 h 85"/>
              <a:gd name="T20" fmla="*/ 22 w 86"/>
              <a:gd name="T21" fmla="*/ 51 h 85"/>
              <a:gd name="T22" fmla="*/ 22 w 86"/>
              <a:gd name="T23" fmla="*/ 35 h 85"/>
              <a:gd name="T24" fmla="*/ 35 w 86"/>
              <a:gd name="T25" fmla="*/ 35 h 85"/>
              <a:gd name="T26" fmla="*/ 35 w 86"/>
              <a:gd name="T27" fmla="*/ 21 h 85"/>
              <a:gd name="T28" fmla="*/ 51 w 86"/>
              <a:gd name="T29" fmla="*/ 21 h 85"/>
              <a:gd name="T30" fmla="*/ 51 w 86"/>
              <a:gd name="T31" fmla="*/ 35 h 85"/>
              <a:gd name="T32" fmla="*/ 64 w 86"/>
              <a:gd name="T33" fmla="*/ 35 h 85"/>
              <a:gd name="T34" fmla="*/ 64 w 86"/>
              <a:gd name="T35" fmla="*/ 5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6" h="85">
                <a:moveTo>
                  <a:pt x="43" y="0"/>
                </a:moveTo>
                <a:cubicBezTo>
                  <a:pt x="20" y="0"/>
                  <a:pt x="0" y="19"/>
                  <a:pt x="0" y="43"/>
                </a:cubicBezTo>
                <a:cubicBezTo>
                  <a:pt x="0" y="66"/>
                  <a:pt x="20" y="85"/>
                  <a:pt x="43" y="85"/>
                </a:cubicBezTo>
                <a:cubicBezTo>
                  <a:pt x="67" y="85"/>
                  <a:pt x="86" y="66"/>
                  <a:pt x="86" y="43"/>
                </a:cubicBezTo>
                <a:cubicBezTo>
                  <a:pt x="86" y="19"/>
                  <a:pt x="67" y="0"/>
                  <a:pt x="43" y="0"/>
                </a:cubicBezTo>
                <a:close/>
                <a:moveTo>
                  <a:pt x="64" y="51"/>
                </a:moveTo>
                <a:cubicBezTo>
                  <a:pt x="51" y="51"/>
                  <a:pt x="51" y="51"/>
                  <a:pt x="51" y="51"/>
                </a:cubicBezTo>
                <a:cubicBezTo>
                  <a:pt x="51" y="64"/>
                  <a:pt x="51" y="64"/>
                  <a:pt x="51" y="64"/>
                </a:cubicBezTo>
                <a:cubicBezTo>
                  <a:pt x="35" y="64"/>
                  <a:pt x="35" y="64"/>
                  <a:pt x="35" y="64"/>
                </a:cubicBezTo>
                <a:cubicBezTo>
                  <a:pt x="35" y="51"/>
                  <a:pt x="35" y="51"/>
                  <a:pt x="35" y="51"/>
                </a:cubicBezTo>
                <a:cubicBezTo>
                  <a:pt x="22" y="51"/>
                  <a:pt x="22" y="51"/>
                  <a:pt x="22" y="51"/>
                </a:cubicBezTo>
                <a:cubicBezTo>
                  <a:pt x="22" y="35"/>
                  <a:pt x="22" y="35"/>
                  <a:pt x="22" y="35"/>
                </a:cubicBezTo>
                <a:cubicBezTo>
                  <a:pt x="35" y="35"/>
                  <a:pt x="35" y="35"/>
                  <a:pt x="35" y="35"/>
                </a:cubicBezTo>
                <a:cubicBezTo>
                  <a:pt x="35" y="21"/>
                  <a:pt x="35" y="21"/>
                  <a:pt x="35" y="21"/>
                </a:cubicBezTo>
                <a:cubicBezTo>
                  <a:pt x="51" y="21"/>
                  <a:pt x="51" y="21"/>
                  <a:pt x="51" y="21"/>
                </a:cubicBezTo>
                <a:cubicBezTo>
                  <a:pt x="51" y="35"/>
                  <a:pt x="51" y="35"/>
                  <a:pt x="51" y="35"/>
                </a:cubicBezTo>
                <a:cubicBezTo>
                  <a:pt x="64" y="35"/>
                  <a:pt x="64" y="35"/>
                  <a:pt x="64" y="35"/>
                </a:cubicBezTo>
                <a:lnTo>
                  <a:pt x="64" y="51"/>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788">
            <a:extLst>
              <a:ext uri="{FF2B5EF4-FFF2-40B4-BE49-F238E27FC236}">
                <a16:creationId xmlns:a16="http://schemas.microsoft.com/office/drawing/2014/main" id="{92CB22B6-245C-419D-917C-F57B3DDBADF2}"/>
              </a:ext>
            </a:extLst>
          </p:cNvPr>
          <p:cNvSpPr>
            <a:spLocks noChangeAspect="1" noEditPoints="1"/>
          </p:cNvSpPr>
          <p:nvPr/>
        </p:nvSpPr>
        <p:spPr bwMode="auto">
          <a:xfrm>
            <a:off x="2516393" y="2451432"/>
            <a:ext cx="295740" cy="274320"/>
          </a:xfrm>
          <a:custGeom>
            <a:avLst/>
            <a:gdLst>
              <a:gd name="T0" fmla="*/ 83 w 86"/>
              <a:gd name="T1" fmla="*/ 16 h 80"/>
              <a:gd name="T2" fmla="*/ 60 w 86"/>
              <a:gd name="T3" fmla="*/ 16 h 80"/>
              <a:gd name="T4" fmla="*/ 60 w 86"/>
              <a:gd name="T5" fmla="*/ 8 h 80"/>
              <a:gd name="T6" fmla="*/ 60 w 86"/>
              <a:gd name="T7" fmla="*/ 4 h 80"/>
              <a:gd name="T8" fmla="*/ 60 w 86"/>
              <a:gd name="T9" fmla="*/ 2 h 80"/>
              <a:gd name="T10" fmla="*/ 58 w 86"/>
              <a:gd name="T11" fmla="*/ 0 h 80"/>
              <a:gd name="T12" fmla="*/ 28 w 86"/>
              <a:gd name="T13" fmla="*/ 0 h 80"/>
              <a:gd name="T14" fmla="*/ 26 w 86"/>
              <a:gd name="T15" fmla="*/ 2 h 80"/>
              <a:gd name="T16" fmla="*/ 26 w 86"/>
              <a:gd name="T17" fmla="*/ 4 h 80"/>
              <a:gd name="T18" fmla="*/ 26 w 86"/>
              <a:gd name="T19" fmla="*/ 8 h 80"/>
              <a:gd name="T20" fmla="*/ 26 w 86"/>
              <a:gd name="T21" fmla="*/ 16 h 80"/>
              <a:gd name="T22" fmla="*/ 3 w 86"/>
              <a:gd name="T23" fmla="*/ 16 h 80"/>
              <a:gd name="T24" fmla="*/ 0 w 86"/>
              <a:gd name="T25" fmla="*/ 18 h 80"/>
              <a:gd name="T26" fmla="*/ 0 w 86"/>
              <a:gd name="T27" fmla="*/ 77 h 80"/>
              <a:gd name="T28" fmla="*/ 3 w 86"/>
              <a:gd name="T29" fmla="*/ 80 h 80"/>
              <a:gd name="T30" fmla="*/ 83 w 86"/>
              <a:gd name="T31" fmla="*/ 80 h 80"/>
              <a:gd name="T32" fmla="*/ 86 w 86"/>
              <a:gd name="T33" fmla="*/ 77 h 80"/>
              <a:gd name="T34" fmla="*/ 86 w 86"/>
              <a:gd name="T35" fmla="*/ 18 h 80"/>
              <a:gd name="T36" fmla="*/ 83 w 86"/>
              <a:gd name="T37" fmla="*/ 16 h 80"/>
              <a:gd name="T38" fmla="*/ 34 w 86"/>
              <a:gd name="T39" fmla="*/ 8 h 80"/>
              <a:gd name="T40" fmla="*/ 52 w 86"/>
              <a:gd name="T41" fmla="*/ 8 h 80"/>
              <a:gd name="T42" fmla="*/ 52 w 86"/>
              <a:gd name="T43" fmla="*/ 16 h 80"/>
              <a:gd name="T44" fmla="*/ 34 w 86"/>
              <a:gd name="T45" fmla="*/ 16 h 80"/>
              <a:gd name="T46" fmla="*/ 34 w 86"/>
              <a:gd name="T47" fmla="*/ 8 h 80"/>
              <a:gd name="T48" fmla="*/ 60 w 86"/>
              <a:gd name="T49" fmla="*/ 54 h 80"/>
              <a:gd name="T50" fmla="*/ 50 w 86"/>
              <a:gd name="T51" fmla="*/ 54 h 80"/>
              <a:gd name="T52" fmla="*/ 50 w 86"/>
              <a:gd name="T53" fmla="*/ 65 h 80"/>
              <a:gd name="T54" fmla="*/ 36 w 86"/>
              <a:gd name="T55" fmla="*/ 65 h 80"/>
              <a:gd name="T56" fmla="*/ 36 w 86"/>
              <a:gd name="T57" fmla="*/ 54 h 80"/>
              <a:gd name="T58" fmla="*/ 26 w 86"/>
              <a:gd name="T59" fmla="*/ 54 h 80"/>
              <a:gd name="T60" fmla="*/ 26 w 86"/>
              <a:gd name="T61" fmla="*/ 41 h 80"/>
              <a:gd name="T62" fmla="*/ 36 w 86"/>
              <a:gd name="T63" fmla="*/ 41 h 80"/>
              <a:gd name="T64" fmla="*/ 36 w 86"/>
              <a:gd name="T65" fmla="*/ 30 h 80"/>
              <a:gd name="T66" fmla="*/ 50 w 86"/>
              <a:gd name="T67" fmla="*/ 30 h 80"/>
              <a:gd name="T68" fmla="*/ 50 w 86"/>
              <a:gd name="T69" fmla="*/ 41 h 80"/>
              <a:gd name="T70" fmla="*/ 60 w 86"/>
              <a:gd name="T71" fmla="*/ 41 h 80"/>
              <a:gd name="T72" fmla="*/ 60 w 86"/>
              <a:gd name="T73" fmla="*/ 5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6" h="80">
                <a:moveTo>
                  <a:pt x="83" y="16"/>
                </a:moveTo>
                <a:cubicBezTo>
                  <a:pt x="60" y="16"/>
                  <a:pt x="60" y="16"/>
                  <a:pt x="60" y="16"/>
                </a:cubicBezTo>
                <a:cubicBezTo>
                  <a:pt x="60" y="8"/>
                  <a:pt x="60" y="8"/>
                  <a:pt x="60" y="8"/>
                </a:cubicBezTo>
                <a:cubicBezTo>
                  <a:pt x="60" y="4"/>
                  <a:pt x="60" y="4"/>
                  <a:pt x="60" y="4"/>
                </a:cubicBezTo>
                <a:cubicBezTo>
                  <a:pt x="60" y="2"/>
                  <a:pt x="60" y="2"/>
                  <a:pt x="60" y="2"/>
                </a:cubicBezTo>
                <a:cubicBezTo>
                  <a:pt x="60" y="1"/>
                  <a:pt x="59" y="0"/>
                  <a:pt x="58" y="0"/>
                </a:cubicBezTo>
                <a:cubicBezTo>
                  <a:pt x="28" y="0"/>
                  <a:pt x="28" y="0"/>
                  <a:pt x="28" y="0"/>
                </a:cubicBezTo>
                <a:cubicBezTo>
                  <a:pt x="27" y="0"/>
                  <a:pt x="26" y="1"/>
                  <a:pt x="26" y="2"/>
                </a:cubicBezTo>
                <a:cubicBezTo>
                  <a:pt x="26" y="4"/>
                  <a:pt x="26" y="4"/>
                  <a:pt x="26" y="4"/>
                </a:cubicBezTo>
                <a:cubicBezTo>
                  <a:pt x="26" y="8"/>
                  <a:pt x="26" y="8"/>
                  <a:pt x="26" y="8"/>
                </a:cubicBezTo>
                <a:cubicBezTo>
                  <a:pt x="26" y="16"/>
                  <a:pt x="26" y="16"/>
                  <a:pt x="26" y="16"/>
                </a:cubicBezTo>
                <a:cubicBezTo>
                  <a:pt x="3" y="16"/>
                  <a:pt x="3" y="16"/>
                  <a:pt x="3" y="16"/>
                </a:cubicBezTo>
                <a:cubicBezTo>
                  <a:pt x="2" y="16"/>
                  <a:pt x="0" y="17"/>
                  <a:pt x="0" y="18"/>
                </a:cubicBezTo>
                <a:cubicBezTo>
                  <a:pt x="0" y="77"/>
                  <a:pt x="0" y="77"/>
                  <a:pt x="0" y="77"/>
                </a:cubicBezTo>
                <a:cubicBezTo>
                  <a:pt x="0" y="78"/>
                  <a:pt x="2" y="80"/>
                  <a:pt x="3" y="80"/>
                </a:cubicBezTo>
                <a:cubicBezTo>
                  <a:pt x="83" y="80"/>
                  <a:pt x="83" y="80"/>
                  <a:pt x="83" y="80"/>
                </a:cubicBezTo>
                <a:cubicBezTo>
                  <a:pt x="85" y="80"/>
                  <a:pt x="86" y="78"/>
                  <a:pt x="86" y="77"/>
                </a:cubicBezTo>
                <a:cubicBezTo>
                  <a:pt x="86" y="18"/>
                  <a:pt x="86" y="18"/>
                  <a:pt x="86" y="18"/>
                </a:cubicBezTo>
                <a:cubicBezTo>
                  <a:pt x="86" y="17"/>
                  <a:pt x="85" y="16"/>
                  <a:pt x="83" y="16"/>
                </a:cubicBezTo>
                <a:close/>
                <a:moveTo>
                  <a:pt x="34" y="8"/>
                </a:moveTo>
                <a:cubicBezTo>
                  <a:pt x="52" y="8"/>
                  <a:pt x="52" y="8"/>
                  <a:pt x="52" y="8"/>
                </a:cubicBezTo>
                <a:cubicBezTo>
                  <a:pt x="52" y="16"/>
                  <a:pt x="52" y="16"/>
                  <a:pt x="52" y="16"/>
                </a:cubicBezTo>
                <a:cubicBezTo>
                  <a:pt x="34" y="16"/>
                  <a:pt x="34" y="16"/>
                  <a:pt x="34" y="16"/>
                </a:cubicBezTo>
                <a:lnTo>
                  <a:pt x="34" y="8"/>
                </a:lnTo>
                <a:close/>
                <a:moveTo>
                  <a:pt x="60" y="54"/>
                </a:moveTo>
                <a:cubicBezTo>
                  <a:pt x="50" y="54"/>
                  <a:pt x="50" y="54"/>
                  <a:pt x="50" y="54"/>
                </a:cubicBezTo>
                <a:cubicBezTo>
                  <a:pt x="50" y="65"/>
                  <a:pt x="50" y="65"/>
                  <a:pt x="50" y="65"/>
                </a:cubicBezTo>
                <a:cubicBezTo>
                  <a:pt x="36" y="65"/>
                  <a:pt x="36" y="65"/>
                  <a:pt x="36" y="65"/>
                </a:cubicBezTo>
                <a:cubicBezTo>
                  <a:pt x="36" y="54"/>
                  <a:pt x="36" y="54"/>
                  <a:pt x="36" y="54"/>
                </a:cubicBezTo>
                <a:cubicBezTo>
                  <a:pt x="26" y="54"/>
                  <a:pt x="26" y="54"/>
                  <a:pt x="26" y="54"/>
                </a:cubicBezTo>
                <a:cubicBezTo>
                  <a:pt x="26" y="41"/>
                  <a:pt x="26" y="41"/>
                  <a:pt x="26" y="41"/>
                </a:cubicBezTo>
                <a:cubicBezTo>
                  <a:pt x="36" y="41"/>
                  <a:pt x="36" y="41"/>
                  <a:pt x="36" y="41"/>
                </a:cubicBezTo>
                <a:cubicBezTo>
                  <a:pt x="36" y="30"/>
                  <a:pt x="36" y="30"/>
                  <a:pt x="36" y="30"/>
                </a:cubicBezTo>
                <a:cubicBezTo>
                  <a:pt x="50" y="30"/>
                  <a:pt x="50" y="30"/>
                  <a:pt x="50" y="30"/>
                </a:cubicBezTo>
                <a:cubicBezTo>
                  <a:pt x="50" y="41"/>
                  <a:pt x="50" y="41"/>
                  <a:pt x="50" y="41"/>
                </a:cubicBezTo>
                <a:cubicBezTo>
                  <a:pt x="60" y="41"/>
                  <a:pt x="60" y="41"/>
                  <a:pt x="60" y="41"/>
                </a:cubicBezTo>
                <a:lnTo>
                  <a:pt x="60" y="54"/>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Freeform 789">
            <a:extLst>
              <a:ext uri="{FF2B5EF4-FFF2-40B4-BE49-F238E27FC236}">
                <a16:creationId xmlns:a16="http://schemas.microsoft.com/office/drawing/2014/main" id="{6A71D156-B1A9-4934-B5A7-3EAC07C237CD}"/>
              </a:ext>
            </a:extLst>
          </p:cNvPr>
          <p:cNvSpPr>
            <a:spLocks noChangeAspect="1" noEditPoints="1"/>
          </p:cNvSpPr>
          <p:nvPr/>
        </p:nvSpPr>
        <p:spPr bwMode="auto">
          <a:xfrm>
            <a:off x="3627363" y="2426597"/>
            <a:ext cx="129360" cy="274320"/>
          </a:xfrm>
          <a:custGeom>
            <a:avLst/>
            <a:gdLst>
              <a:gd name="T0" fmla="*/ 33 w 40"/>
              <a:gd name="T1" fmla="*/ 50 h 85"/>
              <a:gd name="T2" fmla="*/ 33 w 40"/>
              <a:gd name="T3" fmla="*/ 48 h 85"/>
              <a:gd name="T4" fmla="*/ 33 w 40"/>
              <a:gd name="T5" fmla="*/ 41 h 85"/>
              <a:gd name="T6" fmla="*/ 33 w 40"/>
              <a:gd name="T7" fmla="*/ 36 h 85"/>
              <a:gd name="T8" fmla="*/ 33 w 40"/>
              <a:gd name="T9" fmla="*/ 29 h 85"/>
              <a:gd name="T10" fmla="*/ 33 w 40"/>
              <a:gd name="T11" fmla="*/ 24 h 85"/>
              <a:gd name="T12" fmla="*/ 33 w 40"/>
              <a:gd name="T13" fmla="*/ 17 h 85"/>
              <a:gd name="T14" fmla="*/ 33 w 40"/>
              <a:gd name="T15" fmla="*/ 13 h 85"/>
              <a:gd name="T16" fmla="*/ 33 w 40"/>
              <a:gd name="T17" fmla="*/ 12 h 85"/>
              <a:gd name="T18" fmla="*/ 33 w 40"/>
              <a:gd name="T19" fmla="*/ 12 h 85"/>
              <a:gd name="T20" fmla="*/ 20 w 40"/>
              <a:gd name="T21" fmla="*/ 0 h 85"/>
              <a:gd name="T22" fmla="*/ 7 w 40"/>
              <a:gd name="T23" fmla="*/ 13 h 85"/>
              <a:gd name="T24" fmla="*/ 7 w 40"/>
              <a:gd name="T25" fmla="*/ 50 h 85"/>
              <a:gd name="T26" fmla="*/ 0 w 40"/>
              <a:gd name="T27" fmla="*/ 65 h 85"/>
              <a:gd name="T28" fmla="*/ 20 w 40"/>
              <a:gd name="T29" fmla="*/ 85 h 85"/>
              <a:gd name="T30" fmla="*/ 40 w 40"/>
              <a:gd name="T31" fmla="*/ 65 h 85"/>
              <a:gd name="T32" fmla="*/ 33 w 40"/>
              <a:gd name="T33" fmla="*/ 50 h 85"/>
              <a:gd name="T34" fmla="*/ 12 w 40"/>
              <a:gd name="T35" fmla="*/ 53 h 85"/>
              <a:gd name="T36" fmla="*/ 12 w 40"/>
              <a:gd name="T37" fmla="*/ 52 h 85"/>
              <a:gd name="T38" fmla="*/ 12 w 40"/>
              <a:gd name="T39" fmla="*/ 47 h 85"/>
              <a:gd name="T40" fmla="*/ 12 w 40"/>
              <a:gd name="T41" fmla="*/ 35 h 85"/>
              <a:gd name="T42" fmla="*/ 12 w 40"/>
              <a:gd name="T43" fmla="*/ 24 h 85"/>
              <a:gd name="T44" fmla="*/ 12 w 40"/>
              <a:gd name="T45" fmla="*/ 13 h 85"/>
              <a:gd name="T46" fmla="*/ 20 w 40"/>
              <a:gd name="T47" fmla="*/ 5 h 85"/>
              <a:gd name="T48" fmla="*/ 28 w 40"/>
              <a:gd name="T49" fmla="*/ 12 h 85"/>
              <a:gd name="T50" fmla="*/ 17 w 40"/>
              <a:gd name="T51" fmla="*/ 12 h 85"/>
              <a:gd name="T52" fmla="*/ 17 w 40"/>
              <a:gd name="T53" fmla="*/ 17 h 85"/>
              <a:gd name="T54" fmla="*/ 28 w 40"/>
              <a:gd name="T55" fmla="*/ 17 h 85"/>
              <a:gd name="T56" fmla="*/ 28 w 40"/>
              <a:gd name="T57" fmla="*/ 24 h 85"/>
              <a:gd name="T58" fmla="*/ 28 w 40"/>
              <a:gd name="T59" fmla="*/ 24 h 85"/>
              <a:gd name="T60" fmla="*/ 17 w 40"/>
              <a:gd name="T61" fmla="*/ 24 h 85"/>
              <a:gd name="T62" fmla="*/ 17 w 40"/>
              <a:gd name="T63" fmla="*/ 29 h 85"/>
              <a:gd name="T64" fmla="*/ 28 w 40"/>
              <a:gd name="T65" fmla="*/ 29 h 85"/>
              <a:gd name="T66" fmla="*/ 28 w 40"/>
              <a:gd name="T67" fmla="*/ 35 h 85"/>
              <a:gd name="T68" fmla="*/ 28 w 40"/>
              <a:gd name="T69" fmla="*/ 36 h 85"/>
              <a:gd name="T70" fmla="*/ 17 w 40"/>
              <a:gd name="T71" fmla="*/ 36 h 85"/>
              <a:gd name="T72" fmla="*/ 17 w 40"/>
              <a:gd name="T73" fmla="*/ 41 h 85"/>
              <a:gd name="T74" fmla="*/ 28 w 40"/>
              <a:gd name="T75" fmla="*/ 41 h 85"/>
              <a:gd name="T76" fmla="*/ 28 w 40"/>
              <a:gd name="T77" fmla="*/ 47 h 85"/>
              <a:gd name="T78" fmla="*/ 28 w 40"/>
              <a:gd name="T79" fmla="*/ 48 h 85"/>
              <a:gd name="T80" fmla="*/ 17 w 40"/>
              <a:gd name="T81" fmla="*/ 48 h 85"/>
              <a:gd name="T82" fmla="*/ 17 w 40"/>
              <a:gd name="T83" fmla="*/ 57 h 85"/>
              <a:gd name="T84" fmla="*/ 11 w 40"/>
              <a:gd name="T85" fmla="*/ 67 h 85"/>
              <a:gd name="T86" fmla="*/ 5 w 40"/>
              <a:gd name="T87" fmla="*/ 67 h 85"/>
              <a:gd name="T88" fmla="*/ 5 w 40"/>
              <a:gd name="T89" fmla="*/ 65 h 85"/>
              <a:gd name="T90" fmla="*/ 12 w 40"/>
              <a:gd name="T91" fmla="*/ 5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 h="85">
                <a:moveTo>
                  <a:pt x="33" y="50"/>
                </a:moveTo>
                <a:cubicBezTo>
                  <a:pt x="33" y="48"/>
                  <a:pt x="33" y="48"/>
                  <a:pt x="33" y="48"/>
                </a:cubicBezTo>
                <a:cubicBezTo>
                  <a:pt x="33" y="41"/>
                  <a:pt x="33" y="41"/>
                  <a:pt x="33" y="41"/>
                </a:cubicBezTo>
                <a:cubicBezTo>
                  <a:pt x="33" y="36"/>
                  <a:pt x="33" y="36"/>
                  <a:pt x="33" y="36"/>
                </a:cubicBezTo>
                <a:cubicBezTo>
                  <a:pt x="33" y="29"/>
                  <a:pt x="33" y="29"/>
                  <a:pt x="33" y="29"/>
                </a:cubicBezTo>
                <a:cubicBezTo>
                  <a:pt x="33" y="24"/>
                  <a:pt x="33" y="24"/>
                  <a:pt x="33" y="24"/>
                </a:cubicBezTo>
                <a:cubicBezTo>
                  <a:pt x="33" y="17"/>
                  <a:pt x="33" y="17"/>
                  <a:pt x="33" y="17"/>
                </a:cubicBezTo>
                <a:cubicBezTo>
                  <a:pt x="33" y="13"/>
                  <a:pt x="33" y="13"/>
                  <a:pt x="33" y="13"/>
                </a:cubicBezTo>
                <a:cubicBezTo>
                  <a:pt x="33" y="12"/>
                  <a:pt x="33" y="12"/>
                  <a:pt x="33" y="12"/>
                </a:cubicBezTo>
                <a:cubicBezTo>
                  <a:pt x="33" y="12"/>
                  <a:pt x="33" y="12"/>
                  <a:pt x="33" y="12"/>
                </a:cubicBezTo>
                <a:cubicBezTo>
                  <a:pt x="33" y="5"/>
                  <a:pt x="27" y="0"/>
                  <a:pt x="20" y="0"/>
                </a:cubicBezTo>
                <a:cubicBezTo>
                  <a:pt x="13" y="0"/>
                  <a:pt x="7" y="6"/>
                  <a:pt x="7" y="13"/>
                </a:cubicBezTo>
                <a:cubicBezTo>
                  <a:pt x="7" y="50"/>
                  <a:pt x="7" y="50"/>
                  <a:pt x="7" y="50"/>
                </a:cubicBezTo>
                <a:cubicBezTo>
                  <a:pt x="3" y="54"/>
                  <a:pt x="0" y="59"/>
                  <a:pt x="0" y="65"/>
                </a:cubicBezTo>
                <a:cubicBezTo>
                  <a:pt x="0" y="76"/>
                  <a:pt x="9" y="85"/>
                  <a:pt x="20" y="85"/>
                </a:cubicBezTo>
                <a:cubicBezTo>
                  <a:pt x="31" y="85"/>
                  <a:pt x="40" y="76"/>
                  <a:pt x="40" y="65"/>
                </a:cubicBezTo>
                <a:cubicBezTo>
                  <a:pt x="40" y="59"/>
                  <a:pt x="38" y="54"/>
                  <a:pt x="33" y="50"/>
                </a:cubicBezTo>
                <a:close/>
                <a:moveTo>
                  <a:pt x="12" y="53"/>
                </a:moveTo>
                <a:cubicBezTo>
                  <a:pt x="12" y="52"/>
                  <a:pt x="12" y="52"/>
                  <a:pt x="12" y="52"/>
                </a:cubicBezTo>
                <a:cubicBezTo>
                  <a:pt x="12" y="47"/>
                  <a:pt x="12" y="47"/>
                  <a:pt x="12" y="47"/>
                </a:cubicBezTo>
                <a:cubicBezTo>
                  <a:pt x="12" y="35"/>
                  <a:pt x="12" y="35"/>
                  <a:pt x="12" y="35"/>
                </a:cubicBezTo>
                <a:cubicBezTo>
                  <a:pt x="12" y="24"/>
                  <a:pt x="12" y="24"/>
                  <a:pt x="12" y="24"/>
                </a:cubicBezTo>
                <a:cubicBezTo>
                  <a:pt x="12" y="13"/>
                  <a:pt x="12" y="13"/>
                  <a:pt x="12" y="13"/>
                </a:cubicBezTo>
                <a:cubicBezTo>
                  <a:pt x="12" y="9"/>
                  <a:pt x="16" y="5"/>
                  <a:pt x="20" y="5"/>
                </a:cubicBezTo>
                <a:cubicBezTo>
                  <a:pt x="24" y="5"/>
                  <a:pt x="27" y="8"/>
                  <a:pt x="28" y="12"/>
                </a:cubicBezTo>
                <a:cubicBezTo>
                  <a:pt x="17" y="12"/>
                  <a:pt x="17" y="12"/>
                  <a:pt x="17" y="12"/>
                </a:cubicBezTo>
                <a:cubicBezTo>
                  <a:pt x="17" y="17"/>
                  <a:pt x="17" y="17"/>
                  <a:pt x="17" y="17"/>
                </a:cubicBezTo>
                <a:cubicBezTo>
                  <a:pt x="28" y="17"/>
                  <a:pt x="28" y="17"/>
                  <a:pt x="28" y="17"/>
                </a:cubicBezTo>
                <a:cubicBezTo>
                  <a:pt x="28" y="24"/>
                  <a:pt x="28" y="24"/>
                  <a:pt x="28" y="24"/>
                </a:cubicBezTo>
                <a:cubicBezTo>
                  <a:pt x="28" y="24"/>
                  <a:pt x="28" y="24"/>
                  <a:pt x="28" y="24"/>
                </a:cubicBezTo>
                <a:cubicBezTo>
                  <a:pt x="17" y="24"/>
                  <a:pt x="17" y="24"/>
                  <a:pt x="17" y="24"/>
                </a:cubicBezTo>
                <a:cubicBezTo>
                  <a:pt x="17" y="29"/>
                  <a:pt x="17" y="29"/>
                  <a:pt x="17" y="29"/>
                </a:cubicBezTo>
                <a:cubicBezTo>
                  <a:pt x="28" y="29"/>
                  <a:pt x="28" y="29"/>
                  <a:pt x="28" y="29"/>
                </a:cubicBezTo>
                <a:cubicBezTo>
                  <a:pt x="28" y="35"/>
                  <a:pt x="28" y="35"/>
                  <a:pt x="28" y="35"/>
                </a:cubicBezTo>
                <a:cubicBezTo>
                  <a:pt x="28" y="36"/>
                  <a:pt x="28" y="36"/>
                  <a:pt x="28" y="36"/>
                </a:cubicBezTo>
                <a:cubicBezTo>
                  <a:pt x="17" y="36"/>
                  <a:pt x="17" y="36"/>
                  <a:pt x="17" y="36"/>
                </a:cubicBezTo>
                <a:cubicBezTo>
                  <a:pt x="17" y="41"/>
                  <a:pt x="17" y="41"/>
                  <a:pt x="17" y="41"/>
                </a:cubicBezTo>
                <a:cubicBezTo>
                  <a:pt x="28" y="41"/>
                  <a:pt x="28" y="41"/>
                  <a:pt x="28" y="41"/>
                </a:cubicBezTo>
                <a:cubicBezTo>
                  <a:pt x="28" y="47"/>
                  <a:pt x="28" y="47"/>
                  <a:pt x="28" y="47"/>
                </a:cubicBezTo>
                <a:cubicBezTo>
                  <a:pt x="28" y="48"/>
                  <a:pt x="28" y="48"/>
                  <a:pt x="28" y="48"/>
                </a:cubicBezTo>
                <a:cubicBezTo>
                  <a:pt x="17" y="48"/>
                  <a:pt x="17" y="48"/>
                  <a:pt x="17" y="48"/>
                </a:cubicBezTo>
                <a:cubicBezTo>
                  <a:pt x="17" y="57"/>
                  <a:pt x="17" y="57"/>
                  <a:pt x="17" y="57"/>
                </a:cubicBezTo>
                <a:cubicBezTo>
                  <a:pt x="14" y="59"/>
                  <a:pt x="12" y="62"/>
                  <a:pt x="11" y="67"/>
                </a:cubicBezTo>
                <a:cubicBezTo>
                  <a:pt x="5" y="67"/>
                  <a:pt x="5" y="67"/>
                  <a:pt x="5" y="67"/>
                </a:cubicBezTo>
                <a:cubicBezTo>
                  <a:pt x="5" y="66"/>
                  <a:pt x="5" y="66"/>
                  <a:pt x="5" y="65"/>
                </a:cubicBezTo>
                <a:cubicBezTo>
                  <a:pt x="5" y="60"/>
                  <a:pt x="8" y="56"/>
                  <a:pt x="12" y="5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1" name="Group 40">
            <a:extLst>
              <a:ext uri="{FF2B5EF4-FFF2-40B4-BE49-F238E27FC236}">
                <a16:creationId xmlns:a16="http://schemas.microsoft.com/office/drawing/2014/main" id="{BD77215C-CD3B-4DB4-BB7C-6D8426F9DD61}"/>
              </a:ext>
            </a:extLst>
          </p:cNvPr>
          <p:cNvGrpSpPr>
            <a:grpSpLocks noChangeAspect="1"/>
          </p:cNvGrpSpPr>
          <p:nvPr/>
        </p:nvGrpSpPr>
        <p:grpSpPr>
          <a:xfrm>
            <a:off x="4359179" y="2426597"/>
            <a:ext cx="278220" cy="274320"/>
            <a:chOff x="4654995" y="1035167"/>
            <a:chExt cx="587941" cy="579698"/>
          </a:xfrm>
          <a:solidFill>
            <a:srgbClr val="595555"/>
          </a:solidFill>
        </p:grpSpPr>
        <p:sp>
          <p:nvSpPr>
            <p:cNvPr id="42" name="Freeform 790">
              <a:extLst>
                <a:ext uri="{FF2B5EF4-FFF2-40B4-BE49-F238E27FC236}">
                  <a16:creationId xmlns:a16="http://schemas.microsoft.com/office/drawing/2014/main" id="{49E3DB68-525F-464A-906A-37CEFE6CCECC}"/>
                </a:ext>
              </a:extLst>
            </p:cNvPr>
            <p:cNvSpPr>
              <a:spLocks/>
            </p:cNvSpPr>
            <p:nvPr/>
          </p:nvSpPr>
          <p:spPr bwMode="auto">
            <a:xfrm>
              <a:off x="4654995" y="1260452"/>
              <a:ext cx="587941" cy="354413"/>
            </a:xfrm>
            <a:custGeom>
              <a:avLst/>
              <a:gdLst>
                <a:gd name="T0" fmla="*/ 43 w 86"/>
                <a:gd name="T1" fmla="*/ 0 h 52"/>
                <a:gd name="T2" fmla="*/ 0 w 86"/>
                <a:gd name="T3" fmla="*/ 0 h 52"/>
                <a:gd name="T4" fmla="*/ 8 w 86"/>
                <a:gd name="T5" fmla="*/ 28 h 52"/>
                <a:gd name="T6" fmla="*/ 23 w 86"/>
                <a:gd name="T7" fmla="*/ 42 h 52"/>
                <a:gd name="T8" fmla="*/ 16 w 86"/>
                <a:gd name="T9" fmla="*/ 42 h 52"/>
                <a:gd name="T10" fmla="*/ 14 w 86"/>
                <a:gd name="T11" fmla="*/ 44 h 52"/>
                <a:gd name="T12" fmla="*/ 14 w 86"/>
                <a:gd name="T13" fmla="*/ 50 h 52"/>
                <a:gd name="T14" fmla="*/ 16 w 86"/>
                <a:gd name="T15" fmla="*/ 52 h 52"/>
                <a:gd name="T16" fmla="*/ 70 w 86"/>
                <a:gd name="T17" fmla="*/ 52 h 52"/>
                <a:gd name="T18" fmla="*/ 72 w 86"/>
                <a:gd name="T19" fmla="*/ 50 h 52"/>
                <a:gd name="T20" fmla="*/ 72 w 86"/>
                <a:gd name="T21" fmla="*/ 44 h 52"/>
                <a:gd name="T22" fmla="*/ 70 w 86"/>
                <a:gd name="T23" fmla="*/ 42 h 52"/>
                <a:gd name="T24" fmla="*/ 63 w 86"/>
                <a:gd name="T25" fmla="*/ 42 h 52"/>
                <a:gd name="T26" fmla="*/ 79 w 86"/>
                <a:gd name="T27" fmla="*/ 28 h 52"/>
                <a:gd name="T28" fmla="*/ 86 w 86"/>
                <a:gd name="T29" fmla="*/ 0 h 52"/>
                <a:gd name="T30" fmla="*/ 43 w 86"/>
                <a:gd name="T3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6" h="52">
                  <a:moveTo>
                    <a:pt x="43" y="0"/>
                  </a:moveTo>
                  <a:cubicBezTo>
                    <a:pt x="0" y="0"/>
                    <a:pt x="0" y="0"/>
                    <a:pt x="0" y="0"/>
                  </a:cubicBezTo>
                  <a:cubicBezTo>
                    <a:pt x="0" y="0"/>
                    <a:pt x="0" y="18"/>
                    <a:pt x="8" y="28"/>
                  </a:cubicBezTo>
                  <a:cubicBezTo>
                    <a:pt x="12" y="35"/>
                    <a:pt x="19" y="40"/>
                    <a:pt x="23" y="42"/>
                  </a:cubicBezTo>
                  <a:cubicBezTo>
                    <a:pt x="16" y="42"/>
                    <a:pt x="16" y="42"/>
                    <a:pt x="16" y="42"/>
                  </a:cubicBezTo>
                  <a:cubicBezTo>
                    <a:pt x="15" y="42"/>
                    <a:pt x="14" y="43"/>
                    <a:pt x="14" y="44"/>
                  </a:cubicBezTo>
                  <a:cubicBezTo>
                    <a:pt x="14" y="50"/>
                    <a:pt x="14" y="50"/>
                    <a:pt x="14" y="50"/>
                  </a:cubicBezTo>
                  <a:cubicBezTo>
                    <a:pt x="14" y="51"/>
                    <a:pt x="15" y="52"/>
                    <a:pt x="16" y="52"/>
                  </a:cubicBezTo>
                  <a:cubicBezTo>
                    <a:pt x="70" y="52"/>
                    <a:pt x="70" y="52"/>
                    <a:pt x="70" y="52"/>
                  </a:cubicBezTo>
                  <a:cubicBezTo>
                    <a:pt x="71" y="52"/>
                    <a:pt x="72" y="51"/>
                    <a:pt x="72" y="50"/>
                  </a:cubicBezTo>
                  <a:cubicBezTo>
                    <a:pt x="72" y="44"/>
                    <a:pt x="72" y="44"/>
                    <a:pt x="72" y="44"/>
                  </a:cubicBezTo>
                  <a:cubicBezTo>
                    <a:pt x="72" y="43"/>
                    <a:pt x="71" y="42"/>
                    <a:pt x="70" y="42"/>
                  </a:cubicBezTo>
                  <a:cubicBezTo>
                    <a:pt x="63" y="42"/>
                    <a:pt x="63" y="42"/>
                    <a:pt x="63" y="42"/>
                  </a:cubicBezTo>
                  <a:cubicBezTo>
                    <a:pt x="67" y="40"/>
                    <a:pt x="74" y="35"/>
                    <a:pt x="79" y="28"/>
                  </a:cubicBezTo>
                  <a:cubicBezTo>
                    <a:pt x="86" y="18"/>
                    <a:pt x="86" y="0"/>
                    <a:pt x="86" y="0"/>
                  </a:cubicBez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791">
              <a:extLst>
                <a:ext uri="{FF2B5EF4-FFF2-40B4-BE49-F238E27FC236}">
                  <a16:creationId xmlns:a16="http://schemas.microsoft.com/office/drawing/2014/main" id="{6C68A52E-191D-4921-BE02-A069B7B5D001}"/>
                </a:ext>
              </a:extLst>
            </p:cNvPr>
            <p:cNvSpPr>
              <a:spLocks/>
            </p:cNvSpPr>
            <p:nvPr/>
          </p:nvSpPr>
          <p:spPr bwMode="auto">
            <a:xfrm>
              <a:off x="4997045" y="1035167"/>
              <a:ext cx="211549" cy="190943"/>
            </a:xfrm>
            <a:custGeom>
              <a:avLst/>
              <a:gdLst>
                <a:gd name="T0" fmla="*/ 30 w 31"/>
                <a:gd name="T1" fmla="*/ 10 h 28"/>
                <a:gd name="T2" fmla="*/ 29 w 31"/>
                <a:gd name="T3" fmla="*/ 6 h 28"/>
                <a:gd name="T4" fmla="*/ 23 w 31"/>
                <a:gd name="T5" fmla="*/ 1 h 28"/>
                <a:gd name="T6" fmla="*/ 19 w 31"/>
                <a:gd name="T7" fmla="*/ 2 h 28"/>
                <a:gd name="T8" fmla="*/ 0 w 31"/>
                <a:gd name="T9" fmla="*/ 28 h 28"/>
                <a:gd name="T10" fmla="*/ 16 w 31"/>
                <a:gd name="T11" fmla="*/ 28 h 28"/>
                <a:gd name="T12" fmla="*/ 30 w 31"/>
                <a:gd name="T13" fmla="*/ 10 h 28"/>
              </a:gdLst>
              <a:ahLst/>
              <a:cxnLst>
                <a:cxn ang="0">
                  <a:pos x="T0" y="T1"/>
                </a:cxn>
                <a:cxn ang="0">
                  <a:pos x="T2" y="T3"/>
                </a:cxn>
                <a:cxn ang="0">
                  <a:pos x="T4" y="T5"/>
                </a:cxn>
                <a:cxn ang="0">
                  <a:pos x="T6" y="T7"/>
                </a:cxn>
                <a:cxn ang="0">
                  <a:pos x="T8" y="T9"/>
                </a:cxn>
                <a:cxn ang="0">
                  <a:pos x="T10" y="T11"/>
                </a:cxn>
                <a:cxn ang="0">
                  <a:pos x="T12" y="T13"/>
                </a:cxn>
              </a:cxnLst>
              <a:rect l="0" t="0" r="r" b="b"/>
              <a:pathLst>
                <a:path w="31" h="28">
                  <a:moveTo>
                    <a:pt x="30" y="10"/>
                  </a:moveTo>
                  <a:cubicBezTo>
                    <a:pt x="31" y="8"/>
                    <a:pt x="30" y="7"/>
                    <a:pt x="29" y="6"/>
                  </a:cubicBezTo>
                  <a:cubicBezTo>
                    <a:pt x="23" y="1"/>
                    <a:pt x="23" y="1"/>
                    <a:pt x="23" y="1"/>
                  </a:cubicBezTo>
                  <a:cubicBezTo>
                    <a:pt x="21" y="0"/>
                    <a:pt x="20" y="1"/>
                    <a:pt x="19" y="2"/>
                  </a:cubicBezTo>
                  <a:cubicBezTo>
                    <a:pt x="0" y="28"/>
                    <a:pt x="0" y="28"/>
                    <a:pt x="0" y="28"/>
                  </a:cubicBezTo>
                  <a:cubicBezTo>
                    <a:pt x="16" y="28"/>
                    <a:pt x="16" y="28"/>
                    <a:pt x="16" y="28"/>
                  </a:cubicBezTo>
                  <a:lnTo>
                    <a:pt x="3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4" name="Group 43">
            <a:extLst>
              <a:ext uri="{FF2B5EF4-FFF2-40B4-BE49-F238E27FC236}">
                <a16:creationId xmlns:a16="http://schemas.microsoft.com/office/drawing/2014/main" id="{3A0FED7C-4683-4638-AC50-5EEB0C826B3A}"/>
              </a:ext>
            </a:extLst>
          </p:cNvPr>
          <p:cNvGrpSpPr>
            <a:grpSpLocks noChangeAspect="1"/>
          </p:cNvGrpSpPr>
          <p:nvPr/>
        </p:nvGrpSpPr>
        <p:grpSpPr>
          <a:xfrm>
            <a:off x="6211899" y="2443154"/>
            <a:ext cx="277650" cy="274320"/>
            <a:chOff x="6192159" y="1048904"/>
            <a:chExt cx="572830" cy="565962"/>
          </a:xfrm>
          <a:solidFill>
            <a:srgbClr val="595555"/>
          </a:solidFill>
        </p:grpSpPr>
        <p:sp>
          <p:nvSpPr>
            <p:cNvPr id="45" name="Freeform 792">
              <a:extLst>
                <a:ext uri="{FF2B5EF4-FFF2-40B4-BE49-F238E27FC236}">
                  <a16:creationId xmlns:a16="http://schemas.microsoft.com/office/drawing/2014/main" id="{E7D04F51-0DBC-4540-B52E-8DF0A1ABE0DD}"/>
                </a:ext>
              </a:extLst>
            </p:cNvPr>
            <p:cNvSpPr>
              <a:spLocks/>
            </p:cNvSpPr>
            <p:nvPr/>
          </p:nvSpPr>
          <p:spPr bwMode="auto">
            <a:xfrm>
              <a:off x="6199027" y="1417054"/>
              <a:ext cx="163470" cy="197812"/>
            </a:xfrm>
            <a:custGeom>
              <a:avLst/>
              <a:gdLst>
                <a:gd name="T0" fmla="*/ 21 w 24"/>
                <a:gd name="T1" fmla="*/ 0 h 29"/>
                <a:gd name="T2" fmla="*/ 2 w 24"/>
                <a:gd name="T3" fmla="*/ 0 h 29"/>
                <a:gd name="T4" fmla="*/ 0 w 24"/>
                <a:gd name="T5" fmla="*/ 3 h 29"/>
                <a:gd name="T6" fmla="*/ 0 w 24"/>
                <a:gd name="T7" fmla="*/ 29 h 29"/>
                <a:gd name="T8" fmla="*/ 24 w 24"/>
                <a:gd name="T9" fmla="*/ 29 h 29"/>
                <a:gd name="T10" fmla="*/ 24 w 24"/>
                <a:gd name="T11" fmla="*/ 3 h 29"/>
                <a:gd name="T12" fmla="*/ 21 w 24"/>
                <a:gd name="T13" fmla="*/ 0 h 29"/>
              </a:gdLst>
              <a:ahLst/>
              <a:cxnLst>
                <a:cxn ang="0">
                  <a:pos x="T0" y="T1"/>
                </a:cxn>
                <a:cxn ang="0">
                  <a:pos x="T2" y="T3"/>
                </a:cxn>
                <a:cxn ang="0">
                  <a:pos x="T4" y="T5"/>
                </a:cxn>
                <a:cxn ang="0">
                  <a:pos x="T6" y="T7"/>
                </a:cxn>
                <a:cxn ang="0">
                  <a:pos x="T8" y="T9"/>
                </a:cxn>
                <a:cxn ang="0">
                  <a:pos x="T10" y="T11"/>
                </a:cxn>
                <a:cxn ang="0">
                  <a:pos x="T12" y="T13"/>
                </a:cxn>
              </a:cxnLst>
              <a:rect l="0" t="0" r="r" b="b"/>
              <a:pathLst>
                <a:path w="24" h="29">
                  <a:moveTo>
                    <a:pt x="21" y="0"/>
                  </a:moveTo>
                  <a:cubicBezTo>
                    <a:pt x="2" y="0"/>
                    <a:pt x="2" y="0"/>
                    <a:pt x="2" y="0"/>
                  </a:cubicBezTo>
                  <a:cubicBezTo>
                    <a:pt x="1" y="0"/>
                    <a:pt x="0" y="1"/>
                    <a:pt x="0" y="3"/>
                  </a:cubicBezTo>
                  <a:cubicBezTo>
                    <a:pt x="0" y="29"/>
                    <a:pt x="0" y="29"/>
                    <a:pt x="0" y="29"/>
                  </a:cubicBezTo>
                  <a:cubicBezTo>
                    <a:pt x="24" y="29"/>
                    <a:pt x="24" y="29"/>
                    <a:pt x="24" y="29"/>
                  </a:cubicBezTo>
                  <a:cubicBezTo>
                    <a:pt x="24" y="3"/>
                    <a:pt x="24" y="3"/>
                    <a:pt x="24" y="3"/>
                  </a:cubicBezTo>
                  <a:cubicBezTo>
                    <a:pt x="24" y="1"/>
                    <a:pt x="23"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793">
              <a:extLst>
                <a:ext uri="{FF2B5EF4-FFF2-40B4-BE49-F238E27FC236}">
                  <a16:creationId xmlns:a16="http://schemas.microsoft.com/office/drawing/2014/main" id="{A2E8C379-4D2A-439E-8BF8-67BF18E8F831}"/>
                </a:ext>
              </a:extLst>
            </p:cNvPr>
            <p:cNvSpPr>
              <a:spLocks/>
            </p:cNvSpPr>
            <p:nvPr/>
          </p:nvSpPr>
          <p:spPr bwMode="auto">
            <a:xfrm>
              <a:off x="6396839" y="1342874"/>
              <a:ext cx="163470" cy="271991"/>
            </a:xfrm>
            <a:custGeom>
              <a:avLst/>
              <a:gdLst>
                <a:gd name="T0" fmla="*/ 21 w 24"/>
                <a:gd name="T1" fmla="*/ 0 h 40"/>
                <a:gd name="T2" fmla="*/ 3 w 24"/>
                <a:gd name="T3" fmla="*/ 0 h 40"/>
                <a:gd name="T4" fmla="*/ 0 w 24"/>
                <a:gd name="T5" fmla="*/ 3 h 40"/>
                <a:gd name="T6" fmla="*/ 0 w 24"/>
                <a:gd name="T7" fmla="*/ 40 h 40"/>
                <a:gd name="T8" fmla="*/ 24 w 24"/>
                <a:gd name="T9" fmla="*/ 40 h 40"/>
                <a:gd name="T10" fmla="*/ 24 w 24"/>
                <a:gd name="T11" fmla="*/ 3 h 40"/>
                <a:gd name="T12" fmla="*/ 21 w 24"/>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24" h="40">
                  <a:moveTo>
                    <a:pt x="21" y="0"/>
                  </a:moveTo>
                  <a:cubicBezTo>
                    <a:pt x="3" y="0"/>
                    <a:pt x="3" y="0"/>
                    <a:pt x="3" y="0"/>
                  </a:cubicBezTo>
                  <a:cubicBezTo>
                    <a:pt x="1" y="0"/>
                    <a:pt x="0" y="1"/>
                    <a:pt x="0" y="3"/>
                  </a:cubicBezTo>
                  <a:cubicBezTo>
                    <a:pt x="0" y="40"/>
                    <a:pt x="0" y="40"/>
                    <a:pt x="0" y="40"/>
                  </a:cubicBezTo>
                  <a:cubicBezTo>
                    <a:pt x="24" y="40"/>
                    <a:pt x="24" y="40"/>
                    <a:pt x="24" y="40"/>
                  </a:cubicBezTo>
                  <a:cubicBezTo>
                    <a:pt x="24" y="3"/>
                    <a:pt x="24" y="3"/>
                    <a:pt x="24" y="3"/>
                  </a:cubicBezTo>
                  <a:cubicBezTo>
                    <a:pt x="24" y="1"/>
                    <a:pt x="23"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794">
              <a:extLst>
                <a:ext uri="{FF2B5EF4-FFF2-40B4-BE49-F238E27FC236}">
                  <a16:creationId xmlns:a16="http://schemas.microsoft.com/office/drawing/2014/main" id="{4A83FD7B-80C3-40F3-B529-3227541D373D}"/>
                </a:ext>
              </a:extLst>
            </p:cNvPr>
            <p:cNvSpPr>
              <a:spLocks/>
            </p:cNvSpPr>
            <p:nvPr/>
          </p:nvSpPr>
          <p:spPr bwMode="auto">
            <a:xfrm>
              <a:off x="6594651" y="1274189"/>
              <a:ext cx="163470" cy="340676"/>
            </a:xfrm>
            <a:custGeom>
              <a:avLst/>
              <a:gdLst>
                <a:gd name="T0" fmla="*/ 22 w 24"/>
                <a:gd name="T1" fmla="*/ 0 h 50"/>
                <a:gd name="T2" fmla="*/ 3 w 24"/>
                <a:gd name="T3" fmla="*/ 0 h 50"/>
                <a:gd name="T4" fmla="*/ 0 w 24"/>
                <a:gd name="T5" fmla="*/ 2 h 50"/>
                <a:gd name="T6" fmla="*/ 0 w 24"/>
                <a:gd name="T7" fmla="*/ 50 h 50"/>
                <a:gd name="T8" fmla="*/ 24 w 24"/>
                <a:gd name="T9" fmla="*/ 50 h 50"/>
                <a:gd name="T10" fmla="*/ 24 w 24"/>
                <a:gd name="T11" fmla="*/ 2 h 50"/>
                <a:gd name="T12" fmla="*/ 22 w 24"/>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24" h="50">
                  <a:moveTo>
                    <a:pt x="22" y="0"/>
                  </a:moveTo>
                  <a:cubicBezTo>
                    <a:pt x="3" y="0"/>
                    <a:pt x="3" y="0"/>
                    <a:pt x="3" y="0"/>
                  </a:cubicBezTo>
                  <a:cubicBezTo>
                    <a:pt x="2" y="0"/>
                    <a:pt x="0" y="1"/>
                    <a:pt x="0" y="2"/>
                  </a:cubicBezTo>
                  <a:cubicBezTo>
                    <a:pt x="0" y="50"/>
                    <a:pt x="0" y="50"/>
                    <a:pt x="0" y="50"/>
                  </a:cubicBezTo>
                  <a:cubicBezTo>
                    <a:pt x="24" y="50"/>
                    <a:pt x="24" y="50"/>
                    <a:pt x="24" y="50"/>
                  </a:cubicBezTo>
                  <a:cubicBezTo>
                    <a:pt x="24" y="2"/>
                    <a:pt x="24" y="2"/>
                    <a:pt x="24" y="2"/>
                  </a:cubicBezTo>
                  <a:cubicBezTo>
                    <a:pt x="24" y="1"/>
                    <a:pt x="23"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795">
              <a:extLst>
                <a:ext uri="{FF2B5EF4-FFF2-40B4-BE49-F238E27FC236}">
                  <a16:creationId xmlns:a16="http://schemas.microsoft.com/office/drawing/2014/main" id="{A196728D-7E1D-4274-8CBF-4BD36FD2EC4D}"/>
                </a:ext>
              </a:extLst>
            </p:cNvPr>
            <p:cNvSpPr>
              <a:spLocks/>
            </p:cNvSpPr>
            <p:nvPr/>
          </p:nvSpPr>
          <p:spPr bwMode="auto">
            <a:xfrm>
              <a:off x="6192159" y="1048904"/>
              <a:ext cx="572830" cy="333808"/>
            </a:xfrm>
            <a:custGeom>
              <a:avLst/>
              <a:gdLst>
                <a:gd name="T0" fmla="*/ 4 w 84"/>
                <a:gd name="T1" fmla="*/ 49 h 49"/>
                <a:gd name="T2" fmla="*/ 74 w 84"/>
                <a:gd name="T3" fmla="*/ 16 h 49"/>
                <a:gd name="T4" fmla="*/ 70 w 84"/>
                <a:gd name="T5" fmla="*/ 25 h 49"/>
                <a:gd name="T6" fmla="*/ 71 w 84"/>
                <a:gd name="T7" fmla="*/ 27 h 49"/>
                <a:gd name="T8" fmla="*/ 75 w 84"/>
                <a:gd name="T9" fmla="*/ 28 h 49"/>
                <a:gd name="T10" fmla="*/ 77 w 84"/>
                <a:gd name="T11" fmla="*/ 27 h 49"/>
                <a:gd name="T12" fmla="*/ 81 w 84"/>
                <a:gd name="T13" fmla="*/ 14 h 49"/>
                <a:gd name="T14" fmla="*/ 83 w 84"/>
                <a:gd name="T15" fmla="*/ 9 h 49"/>
                <a:gd name="T16" fmla="*/ 83 w 84"/>
                <a:gd name="T17" fmla="*/ 7 h 49"/>
                <a:gd name="T18" fmla="*/ 77 w 84"/>
                <a:gd name="T19" fmla="*/ 5 h 49"/>
                <a:gd name="T20" fmla="*/ 64 w 84"/>
                <a:gd name="T21" fmla="*/ 1 h 49"/>
                <a:gd name="T22" fmla="*/ 62 w 84"/>
                <a:gd name="T23" fmla="*/ 1 h 49"/>
                <a:gd name="T24" fmla="*/ 61 w 84"/>
                <a:gd name="T25" fmla="*/ 5 h 49"/>
                <a:gd name="T26" fmla="*/ 62 w 84"/>
                <a:gd name="T27" fmla="*/ 7 h 49"/>
                <a:gd name="T28" fmla="*/ 71 w 84"/>
                <a:gd name="T29" fmla="*/ 10 h 49"/>
                <a:gd name="T30" fmla="*/ 1 w 84"/>
                <a:gd name="T31" fmla="*/ 43 h 49"/>
                <a:gd name="T32" fmla="*/ 0 w 84"/>
                <a:gd name="T33" fmla="*/ 44 h 49"/>
                <a:gd name="T34" fmla="*/ 2 w 84"/>
                <a:gd name="T35" fmla="*/ 48 h 49"/>
                <a:gd name="T36" fmla="*/ 4 w 84"/>
                <a:gd name="T37" fmla="*/ 4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49">
                  <a:moveTo>
                    <a:pt x="4" y="49"/>
                  </a:moveTo>
                  <a:cubicBezTo>
                    <a:pt x="74" y="16"/>
                    <a:pt x="74" y="16"/>
                    <a:pt x="74" y="16"/>
                  </a:cubicBezTo>
                  <a:cubicBezTo>
                    <a:pt x="70" y="25"/>
                    <a:pt x="70" y="25"/>
                    <a:pt x="70" y="25"/>
                  </a:cubicBezTo>
                  <a:cubicBezTo>
                    <a:pt x="70" y="26"/>
                    <a:pt x="71" y="27"/>
                    <a:pt x="71" y="27"/>
                  </a:cubicBezTo>
                  <a:cubicBezTo>
                    <a:pt x="75" y="28"/>
                    <a:pt x="75" y="28"/>
                    <a:pt x="75" y="28"/>
                  </a:cubicBezTo>
                  <a:cubicBezTo>
                    <a:pt x="75" y="29"/>
                    <a:pt x="76" y="28"/>
                    <a:pt x="77" y="27"/>
                  </a:cubicBezTo>
                  <a:cubicBezTo>
                    <a:pt x="81" y="14"/>
                    <a:pt x="81" y="14"/>
                    <a:pt x="81" y="14"/>
                  </a:cubicBezTo>
                  <a:cubicBezTo>
                    <a:pt x="83" y="9"/>
                    <a:pt x="83" y="9"/>
                    <a:pt x="83" y="9"/>
                  </a:cubicBezTo>
                  <a:cubicBezTo>
                    <a:pt x="84" y="8"/>
                    <a:pt x="83" y="8"/>
                    <a:pt x="83" y="7"/>
                  </a:cubicBezTo>
                  <a:cubicBezTo>
                    <a:pt x="77" y="5"/>
                    <a:pt x="77" y="5"/>
                    <a:pt x="77" y="5"/>
                  </a:cubicBezTo>
                  <a:cubicBezTo>
                    <a:pt x="64" y="1"/>
                    <a:pt x="64" y="1"/>
                    <a:pt x="64" y="1"/>
                  </a:cubicBezTo>
                  <a:cubicBezTo>
                    <a:pt x="63" y="0"/>
                    <a:pt x="63" y="1"/>
                    <a:pt x="62" y="1"/>
                  </a:cubicBezTo>
                  <a:cubicBezTo>
                    <a:pt x="61" y="5"/>
                    <a:pt x="61" y="5"/>
                    <a:pt x="61" y="5"/>
                  </a:cubicBezTo>
                  <a:cubicBezTo>
                    <a:pt x="61" y="6"/>
                    <a:pt x="61" y="7"/>
                    <a:pt x="62" y="7"/>
                  </a:cubicBezTo>
                  <a:cubicBezTo>
                    <a:pt x="71" y="10"/>
                    <a:pt x="71" y="10"/>
                    <a:pt x="71" y="10"/>
                  </a:cubicBezTo>
                  <a:cubicBezTo>
                    <a:pt x="1" y="43"/>
                    <a:pt x="1" y="43"/>
                    <a:pt x="1" y="43"/>
                  </a:cubicBezTo>
                  <a:cubicBezTo>
                    <a:pt x="0" y="43"/>
                    <a:pt x="0" y="44"/>
                    <a:pt x="0" y="44"/>
                  </a:cubicBezTo>
                  <a:cubicBezTo>
                    <a:pt x="2" y="48"/>
                    <a:pt x="2" y="48"/>
                    <a:pt x="2" y="48"/>
                  </a:cubicBezTo>
                  <a:cubicBezTo>
                    <a:pt x="2" y="49"/>
                    <a:pt x="3" y="49"/>
                    <a:pt x="4"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9" name="Group 48">
            <a:extLst>
              <a:ext uri="{FF2B5EF4-FFF2-40B4-BE49-F238E27FC236}">
                <a16:creationId xmlns:a16="http://schemas.microsoft.com/office/drawing/2014/main" id="{3B873CD8-92AF-4BA3-8247-04AAA7400F2F}"/>
              </a:ext>
            </a:extLst>
          </p:cNvPr>
          <p:cNvGrpSpPr>
            <a:grpSpLocks noChangeAspect="1"/>
          </p:cNvGrpSpPr>
          <p:nvPr/>
        </p:nvGrpSpPr>
        <p:grpSpPr>
          <a:xfrm>
            <a:off x="7140742" y="2492824"/>
            <a:ext cx="326304" cy="274320"/>
            <a:chOff x="6962801" y="1090114"/>
            <a:chExt cx="560467" cy="471178"/>
          </a:xfrm>
          <a:solidFill>
            <a:srgbClr val="595555"/>
          </a:solidFill>
        </p:grpSpPr>
        <p:sp>
          <p:nvSpPr>
            <p:cNvPr id="50" name="Freeform 796">
              <a:extLst>
                <a:ext uri="{FF2B5EF4-FFF2-40B4-BE49-F238E27FC236}">
                  <a16:creationId xmlns:a16="http://schemas.microsoft.com/office/drawing/2014/main" id="{34F5C836-A112-4091-9BB2-01E86EF5A3DD}"/>
                </a:ext>
              </a:extLst>
            </p:cNvPr>
            <p:cNvSpPr>
              <a:spLocks/>
            </p:cNvSpPr>
            <p:nvPr/>
          </p:nvSpPr>
          <p:spPr bwMode="auto">
            <a:xfrm>
              <a:off x="7105665" y="1090114"/>
              <a:ext cx="417603" cy="326939"/>
            </a:xfrm>
            <a:custGeom>
              <a:avLst/>
              <a:gdLst>
                <a:gd name="T0" fmla="*/ 0 w 61"/>
                <a:gd name="T1" fmla="*/ 3 h 48"/>
                <a:gd name="T2" fmla="*/ 0 w 61"/>
                <a:gd name="T3" fmla="*/ 8 h 48"/>
                <a:gd name="T4" fmla="*/ 53 w 61"/>
                <a:gd name="T5" fmla="*/ 8 h 48"/>
                <a:gd name="T6" fmla="*/ 53 w 61"/>
                <a:gd name="T7" fmla="*/ 48 h 48"/>
                <a:gd name="T8" fmla="*/ 59 w 61"/>
                <a:gd name="T9" fmla="*/ 48 h 48"/>
                <a:gd name="T10" fmla="*/ 61 w 61"/>
                <a:gd name="T11" fmla="*/ 45 h 48"/>
                <a:gd name="T12" fmla="*/ 61 w 61"/>
                <a:gd name="T13" fmla="*/ 3 h 48"/>
                <a:gd name="T14" fmla="*/ 59 w 61"/>
                <a:gd name="T15" fmla="*/ 0 h 48"/>
                <a:gd name="T16" fmla="*/ 3 w 61"/>
                <a:gd name="T17" fmla="*/ 0 h 48"/>
                <a:gd name="T18" fmla="*/ 0 w 61"/>
                <a:gd name="T19" fmla="*/ 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48">
                  <a:moveTo>
                    <a:pt x="0" y="3"/>
                  </a:moveTo>
                  <a:cubicBezTo>
                    <a:pt x="0" y="8"/>
                    <a:pt x="0" y="8"/>
                    <a:pt x="0" y="8"/>
                  </a:cubicBezTo>
                  <a:cubicBezTo>
                    <a:pt x="53" y="8"/>
                    <a:pt x="53" y="8"/>
                    <a:pt x="53" y="8"/>
                  </a:cubicBezTo>
                  <a:cubicBezTo>
                    <a:pt x="53" y="48"/>
                    <a:pt x="53" y="48"/>
                    <a:pt x="53" y="48"/>
                  </a:cubicBezTo>
                  <a:cubicBezTo>
                    <a:pt x="59" y="48"/>
                    <a:pt x="59" y="48"/>
                    <a:pt x="59" y="48"/>
                  </a:cubicBezTo>
                  <a:cubicBezTo>
                    <a:pt x="60" y="48"/>
                    <a:pt x="61" y="47"/>
                    <a:pt x="61" y="45"/>
                  </a:cubicBezTo>
                  <a:cubicBezTo>
                    <a:pt x="61" y="3"/>
                    <a:pt x="61" y="3"/>
                    <a:pt x="61" y="3"/>
                  </a:cubicBezTo>
                  <a:cubicBezTo>
                    <a:pt x="61" y="1"/>
                    <a:pt x="60" y="0"/>
                    <a:pt x="59" y="0"/>
                  </a:cubicBezTo>
                  <a:cubicBezTo>
                    <a:pt x="3" y="0"/>
                    <a:pt x="3" y="0"/>
                    <a:pt x="3"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797">
              <a:extLst>
                <a:ext uri="{FF2B5EF4-FFF2-40B4-BE49-F238E27FC236}">
                  <a16:creationId xmlns:a16="http://schemas.microsoft.com/office/drawing/2014/main" id="{9002F181-E686-4D86-837D-5FE79EA7028A}"/>
                </a:ext>
              </a:extLst>
            </p:cNvPr>
            <p:cNvSpPr>
              <a:spLocks/>
            </p:cNvSpPr>
            <p:nvPr/>
          </p:nvSpPr>
          <p:spPr bwMode="auto">
            <a:xfrm>
              <a:off x="7031486" y="1164294"/>
              <a:ext cx="423098" cy="328313"/>
            </a:xfrm>
            <a:custGeom>
              <a:avLst/>
              <a:gdLst>
                <a:gd name="T0" fmla="*/ 6 w 62"/>
                <a:gd name="T1" fmla="*/ 0 h 48"/>
                <a:gd name="T2" fmla="*/ 3 w 62"/>
                <a:gd name="T3" fmla="*/ 0 h 48"/>
                <a:gd name="T4" fmla="*/ 0 w 62"/>
                <a:gd name="T5" fmla="*/ 2 h 48"/>
                <a:gd name="T6" fmla="*/ 0 w 62"/>
                <a:gd name="T7" fmla="*/ 8 h 48"/>
                <a:gd name="T8" fmla="*/ 6 w 62"/>
                <a:gd name="T9" fmla="*/ 8 h 48"/>
                <a:gd name="T10" fmla="*/ 11 w 62"/>
                <a:gd name="T11" fmla="*/ 8 h 48"/>
                <a:gd name="T12" fmla="*/ 54 w 62"/>
                <a:gd name="T13" fmla="*/ 8 h 48"/>
                <a:gd name="T14" fmla="*/ 54 w 62"/>
                <a:gd name="T15" fmla="*/ 37 h 48"/>
                <a:gd name="T16" fmla="*/ 54 w 62"/>
                <a:gd name="T17" fmla="*/ 42 h 48"/>
                <a:gd name="T18" fmla="*/ 54 w 62"/>
                <a:gd name="T19" fmla="*/ 48 h 48"/>
                <a:gd name="T20" fmla="*/ 59 w 62"/>
                <a:gd name="T21" fmla="*/ 48 h 48"/>
                <a:gd name="T22" fmla="*/ 62 w 62"/>
                <a:gd name="T23" fmla="*/ 45 h 48"/>
                <a:gd name="T24" fmla="*/ 62 w 62"/>
                <a:gd name="T25" fmla="*/ 42 h 48"/>
                <a:gd name="T26" fmla="*/ 62 w 62"/>
                <a:gd name="T27" fmla="*/ 37 h 48"/>
                <a:gd name="T28" fmla="*/ 62 w 62"/>
                <a:gd name="T29" fmla="*/ 2 h 48"/>
                <a:gd name="T30" fmla="*/ 59 w 62"/>
                <a:gd name="T31" fmla="*/ 0 h 48"/>
                <a:gd name="T32" fmla="*/ 11 w 62"/>
                <a:gd name="T33" fmla="*/ 0 h 48"/>
                <a:gd name="T34" fmla="*/ 6 w 62"/>
                <a:gd name="T3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2" h="48">
                  <a:moveTo>
                    <a:pt x="6" y="0"/>
                  </a:moveTo>
                  <a:cubicBezTo>
                    <a:pt x="3" y="0"/>
                    <a:pt x="3" y="0"/>
                    <a:pt x="3" y="0"/>
                  </a:cubicBezTo>
                  <a:cubicBezTo>
                    <a:pt x="2" y="0"/>
                    <a:pt x="0" y="1"/>
                    <a:pt x="0" y="2"/>
                  </a:cubicBezTo>
                  <a:cubicBezTo>
                    <a:pt x="0" y="8"/>
                    <a:pt x="0" y="8"/>
                    <a:pt x="0" y="8"/>
                  </a:cubicBezTo>
                  <a:cubicBezTo>
                    <a:pt x="6" y="8"/>
                    <a:pt x="6" y="8"/>
                    <a:pt x="6" y="8"/>
                  </a:cubicBezTo>
                  <a:cubicBezTo>
                    <a:pt x="11" y="8"/>
                    <a:pt x="11" y="8"/>
                    <a:pt x="11" y="8"/>
                  </a:cubicBezTo>
                  <a:cubicBezTo>
                    <a:pt x="54" y="8"/>
                    <a:pt x="54" y="8"/>
                    <a:pt x="54" y="8"/>
                  </a:cubicBezTo>
                  <a:cubicBezTo>
                    <a:pt x="54" y="37"/>
                    <a:pt x="54" y="37"/>
                    <a:pt x="54" y="37"/>
                  </a:cubicBezTo>
                  <a:cubicBezTo>
                    <a:pt x="54" y="42"/>
                    <a:pt x="54" y="42"/>
                    <a:pt x="54" y="42"/>
                  </a:cubicBezTo>
                  <a:cubicBezTo>
                    <a:pt x="54" y="48"/>
                    <a:pt x="54" y="48"/>
                    <a:pt x="54" y="48"/>
                  </a:cubicBezTo>
                  <a:cubicBezTo>
                    <a:pt x="59" y="48"/>
                    <a:pt x="59" y="48"/>
                    <a:pt x="59" y="48"/>
                  </a:cubicBezTo>
                  <a:cubicBezTo>
                    <a:pt x="61" y="48"/>
                    <a:pt x="62" y="46"/>
                    <a:pt x="62" y="45"/>
                  </a:cubicBezTo>
                  <a:cubicBezTo>
                    <a:pt x="62" y="42"/>
                    <a:pt x="62" y="42"/>
                    <a:pt x="62" y="42"/>
                  </a:cubicBezTo>
                  <a:cubicBezTo>
                    <a:pt x="62" y="37"/>
                    <a:pt x="62" y="37"/>
                    <a:pt x="62" y="37"/>
                  </a:cubicBezTo>
                  <a:cubicBezTo>
                    <a:pt x="62" y="2"/>
                    <a:pt x="62" y="2"/>
                    <a:pt x="62" y="2"/>
                  </a:cubicBezTo>
                  <a:cubicBezTo>
                    <a:pt x="62" y="1"/>
                    <a:pt x="61" y="0"/>
                    <a:pt x="59" y="0"/>
                  </a:cubicBezTo>
                  <a:cubicBezTo>
                    <a:pt x="11" y="0"/>
                    <a:pt x="11" y="0"/>
                    <a:pt x="11" y="0"/>
                  </a:cubicBez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798">
              <a:extLst>
                <a:ext uri="{FF2B5EF4-FFF2-40B4-BE49-F238E27FC236}">
                  <a16:creationId xmlns:a16="http://schemas.microsoft.com/office/drawing/2014/main" id="{69738C18-F3EF-40D6-89F3-0BB0212CCCA2}"/>
                </a:ext>
              </a:extLst>
            </p:cNvPr>
            <p:cNvSpPr>
              <a:spLocks noEditPoints="1"/>
            </p:cNvSpPr>
            <p:nvPr/>
          </p:nvSpPr>
          <p:spPr bwMode="auto">
            <a:xfrm>
              <a:off x="6962801" y="1232979"/>
              <a:ext cx="416229" cy="328313"/>
            </a:xfrm>
            <a:custGeom>
              <a:avLst/>
              <a:gdLst>
                <a:gd name="T0" fmla="*/ 16 w 61"/>
                <a:gd name="T1" fmla="*/ 0 h 48"/>
                <a:gd name="T2" fmla="*/ 10 w 61"/>
                <a:gd name="T3" fmla="*/ 0 h 48"/>
                <a:gd name="T4" fmla="*/ 2 w 61"/>
                <a:gd name="T5" fmla="*/ 0 h 48"/>
                <a:gd name="T6" fmla="*/ 2 w 61"/>
                <a:gd name="T7" fmla="*/ 0 h 48"/>
                <a:gd name="T8" fmla="*/ 0 w 61"/>
                <a:gd name="T9" fmla="*/ 3 h 48"/>
                <a:gd name="T10" fmla="*/ 0 w 61"/>
                <a:gd name="T11" fmla="*/ 46 h 48"/>
                <a:gd name="T12" fmla="*/ 2 w 61"/>
                <a:gd name="T13" fmla="*/ 48 h 48"/>
                <a:gd name="T14" fmla="*/ 58 w 61"/>
                <a:gd name="T15" fmla="*/ 48 h 48"/>
                <a:gd name="T16" fmla="*/ 61 w 61"/>
                <a:gd name="T17" fmla="*/ 46 h 48"/>
                <a:gd name="T18" fmla="*/ 61 w 61"/>
                <a:gd name="T19" fmla="*/ 46 h 48"/>
                <a:gd name="T20" fmla="*/ 61 w 61"/>
                <a:gd name="T21" fmla="*/ 38 h 48"/>
                <a:gd name="T22" fmla="*/ 61 w 61"/>
                <a:gd name="T23" fmla="*/ 32 h 48"/>
                <a:gd name="T24" fmla="*/ 61 w 61"/>
                <a:gd name="T25" fmla="*/ 27 h 48"/>
                <a:gd name="T26" fmla="*/ 61 w 61"/>
                <a:gd name="T27" fmla="*/ 3 h 48"/>
                <a:gd name="T28" fmla="*/ 58 w 61"/>
                <a:gd name="T29" fmla="*/ 0 h 48"/>
                <a:gd name="T30" fmla="*/ 21 w 61"/>
                <a:gd name="T31" fmla="*/ 0 h 48"/>
                <a:gd name="T32" fmla="*/ 16 w 61"/>
                <a:gd name="T33" fmla="*/ 0 h 48"/>
                <a:gd name="T34" fmla="*/ 26 w 61"/>
                <a:gd name="T35" fmla="*/ 31 h 48"/>
                <a:gd name="T36" fmla="*/ 29 w 61"/>
                <a:gd name="T37" fmla="*/ 27 h 48"/>
                <a:gd name="T38" fmla="*/ 43 w 61"/>
                <a:gd name="T39" fmla="*/ 11 h 48"/>
                <a:gd name="T40" fmla="*/ 44 w 61"/>
                <a:gd name="T41" fmla="*/ 11 h 48"/>
                <a:gd name="T42" fmla="*/ 46 w 61"/>
                <a:gd name="T43" fmla="*/ 13 h 48"/>
                <a:gd name="T44" fmla="*/ 47 w 61"/>
                <a:gd name="T45" fmla="*/ 15 h 48"/>
                <a:gd name="T46" fmla="*/ 36 w 61"/>
                <a:gd name="T47" fmla="*/ 27 h 48"/>
                <a:gd name="T48" fmla="*/ 32 w 61"/>
                <a:gd name="T49" fmla="*/ 32 h 48"/>
                <a:gd name="T50" fmla="*/ 27 w 61"/>
                <a:gd name="T51" fmla="*/ 37 h 48"/>
                <a:gd name="T52" fmla="*/ 27 w 61"/>
                <a:gd name="T53" fmla="*/ 38 h 48"/>
                <a:gd name="T54" fmla="*/ 26 w 61"/>
                <a:gd name="T55" fmla="*/ 38 h 48"/>
                <a:gd name="T56" fmla="*/ 26 w 61"/>
                <a:gd name="T57" fmla="*/ 37 h 48"/>
                <a:gd name="T58" fmla="*/ 20 w 61"/>
                <a:gd name="T59" fmla="*/ 32 h 48"/>
                <a:gd name="T60" fmla="*/ 16 w 61"/>
                <a:gd name="T61" fmla="*/ 28 h 48"/>
                <a:gd name="T62" fmla="*/ 15 w 61"/>
                <a:gd name="T63" fmla="*/ 27 h 48"/>
                <a:gd name="T64" fmla="*/ 15 w 61"/>
                <a:gd name="T65" fmla="*/ 26 h 48"/>
                <a:gd name="T66" fmla="*/ 16 w 61"/>
                <a:gd name="T67" fmla="*/ 25 h 48"/>
                <a:gd name="T68" fmla="*/ 17 w 61"/>
                <a:gd name="T69" fmla="*/ 23 h 48"/>
                <a:gd name="T70" fmla="*/ 18 w 61"/>
                <a:gd name="T71" fmla="*/ 23 h 48"/>
                <a:gd name="T72" fmla="*/ 21 w 61"/>
                <a:gd name="T73" fmla="*/ 26 h 48"/>
                <a:gd name="T74" fmla="*/ 22 w 61"/>
                <a:gd name="T75" fmla="*/ 27 h 48"/>
                <a:gd name="T76" fmla="*/ 26 w 61"/>
                <a:gd name="T77" fmla="*/ 3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1" h="48">
                  <a:moveTo>
                    <a:pt x="16" y="0"/>
                  </a:moveTo>
                  <a:cubicBezTo>
                    <a:pt x="10" y="0"/>
                    <a:pt x="10" y="0"/>
                    <a:pt x="10" y="0"/>
                  </a:cubicBezTo>
                  <a:cubicBezTo>
                    <a:pt x="2" y="0"/>
                    <a:pt x="2" y="0"/>
                    <a:pt x="2" y="0"/>
                  </a:cubicBezTo>
                  <a:cubicBezTo>
                    <a:pt x="2" y="0"/>
                    <a:pt x="2" y="0"/>
                    <a:pt x="2" y="0"/>
                  </a:cubicBezTo>
                  <a:cubicBezTo>
                    <a:pt x="1" y="0"/>
                    <a:pt x="0" y="1"/>
                    <a:pt x="0" y="3"/>
                  </a:cubicBezTo>
                  <a:cubicBezTo>
                    <a:pt x="0" y="46"/>
                    <a:pt x="0" y="46"/>
                    <a:pt x="0" y="46"/>
                  </a:cubicBezTo>
                  <a:cubicBezTo>
                    <a:pt x="0" y="47"/>
                    <a:pt x="1" y="48"/>
                    <a:pt x="2" y="48"/>
                  </a:cubicBezTo>
                  <a:cubicBezTo>
                    <a:pt x="58" y="48"/>
                    <a:pt x="58" y="48"/>
                    <a:pt x="58" y="48"/>
                  </a:cubicBezTo>
                  <a:cubicBezTo>
                    <a:pt x="60" y="48"/>
                    <a:pt x="61" y="47"/>
                    <a:pt x="61" y="46"/>
                  </a:cubicBezTo>
                  <a:cubicBezTo>
                    <a:pt x="61" y="46"/>
                    <a:pt x="61" y="46"/>
                    <a:pt x="61" y="46"/>
                  </a:cubicBezTo>
                  <a:cubicBezTo>
                    <a:pt x="61" y="38"/>
                    <a:pt x="61" y="38"/>
                    <a:pt x="61" y="38"/>
                  </a:cubicBezTo>
                  <a:cubicBezTo>
                    <a:pt x="61" y="32"/>
                    <a:pt x="61" y="32"/>
                    <a:pt x="61" y="32"/>
                  </a:cubicBezTo>
                  <a:cubicBezTo>
                    <a:pt x="61" y="27"/>
                    <a:pt x="61" y="27"/>
                    <a:pt x="61" y="27"/>
                  </a:cubicBezTo>
                  <a:cubicBezTo>
                    <a:pt x="61" y="3"/>
                    <a:pt x="61" y="3"/>
                    <a:pt x="61" y="3"/>
                  </a:cubicBezTo>
                  <a:cubicBezTo>
                    <a:pt x="61" y="1"/>
                    <a:pt x="60" y="0"/>
                    <a:pt x="58" y="0"/>
                  </a:cubicBezTo>
                  <a:cubicBezTo>
                    <a:pt x="21" y="0"/>
                    <a:pt x="21" y="0"/>
                    <a:pt x="21" y="0"/>
                  </a:cubicBezTo>
                  <a:lnTo>
                    <a:pt x="16" y="0"/>
                  </a:lnTo>
                  <a:close/>
                  <a:moveTo>
                    <a:pt x="26" y="31"/>
                  </a:moveTo>
                  <a:cubicBezTo>
                    <a:pt x="29" y="27"/>
                    <a:pt x="29" y="27"/>
                    <a:pt x="29" y="27"/>
                  </a:cubicBezTo>
                  <a:cubicBezTo>
                    <a:pt x="43" y="11"/>
                    <a:pt x="43" y="11"/>
                    <a:pt x="43" y="11"/>
                  </a:cubicBezTo>
                  <a:cubicBezTo>
                    <a:pt x="43" y="11"/>
                    <a:pt x="44" y="11"/>
                    <a:pt x="44" y="11"/>
                  </a:cubicBezTo>
                  <a:cubicBezTo>
                    <a:pt x="46" y="13"/>
                    <a:pt x="46" y="13"/>
                    <a:pt x="46" y="13"/>
                  </a:cubicBezTo>
                  <a:cubicBezTo>
                    <a:pt x="47" y="14"/>
                    <a:pt x="47" y="14"/>
                    <a:pt x="47" y="15"/>
                  </a:cubicBezTo>
                  <a:cubicBezTo>
                    <a:pt x="36" y="27"/>
                    <a:pt x="36" y="27"/>
                    <a:pt x="36" y="27"/>
                  </a:cubicBezTo>
                  <a:cubicBezTo>
                    <a:pt x="32" y="32"/>
                    <a:pt x="32" y="32"/>
                    <a:pt x="32" y="32"/>
                  </a:cubicBezTo>
                  <a:cubicBezTo>
                    <a:pt x="27" y="37"/>
                    <a:pt x="27" y="37"/>
                    <a:pt x="27" y="37"/>
                  </a:cubicBezTo>
                  <a:cubicBezTo>
                    <a:pt x="27" y="37"/>
                    <a:pt x="27" y="38"/>
                    <a:pt x="27" y="38"/>
                  </a:cubicBezTo>
                  <a:cubicBezTo>
                    <a:pt x="27" y="38"/>
                    <a:pt x="26" y="38"/>
                    <a:pt x="26" y="38"/>
                  </a:cubicBezTo>
                  <a:cubicBezTo>
                    <a:pt x="26" y="38"/>
                    <a:pt x="26" y="38"/>
                    <a:pt x="26" y="37"/>
                  </a:cubicBezTo>
                  <a:cubicBezTo>
                    <a:pt x="20" y="32"/>
                    <a:pt x="20" y="32"/>
                    <a:pt x="20" y="32"/>
                  </a:cubicBezTo>
                  <a:cubicBezTo>
                    <a:pt x="16" y="28"/>
                    <a:pt x="16" y="28"/>
                    <a:pt x="16" y="28"/>
                  </a:cubicBezTo>
                  <a:cubicBezTo>
                    <a:pt x="15" y="27"/>
                    <a:pt x="15" y="27"/>
                    <a:pt x="15" y="27"/>
                  </a:cubicBezTo>
                  <a:cubicBezTo>
                    <a:pt x="15" y="27"/>
                    <a:pt x="15" y="26"/>
                    <a:pt x="15" y="26"/>
                  </a:cubicBezTo>
                  <a:cubicBezTo>
                    <a:pt x="16" y="25"/>
                    <a:pt x="16" y="25"/>
                    <a:pt x="16" y="25"/>
                  </a:cubicBezTo>
                  <a:cubicBezTo>
                    <a:pt x="17" y="23"/>
                    <a:pt x="17" y="23"/>
                    <a:pt x="17" y="23"/>
                  </a:cubicBezTo>
                  <a:cubicBezTo>
                    <a:pt x="17" y="23"/>
                    <a:pt x="18" y="23"/>
                    <a:pt x="18" y="23"/>
                  </a:cubicBezTo>
                  <a:cubicBezTo>
                    <a:pt x="21" y="26"/>
                    <a:pt x="21" y="26"/>
                    <a:pt x="21" y="26"/>
                  </a:cubicBezTo>
                  <a:cubicBezTo>
                    <a:pt x="22" y="27"/>
                    <a:pt x="22" y="27"/>
                    <a:pt x="22" y="27"/>
                  </a:cubicBezTo>
                  <a:lnTo>
                    <a:pt x="2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3" name="Freeform 799">
            <a:extLst>
              <a:ext uri="{FF2B5EF4-FFF2-40B4-BE49-F238E27FC236}">
                <a16:creationId xmlns:a16="http://schemas.microsoft.com/office/drawing/2014/main" id="{F03AC781-E6B6-4596-8254-0D0B7FA128B2}"/>
              </a:ext>
            </a:extLst>
          </p:cNvPr>
          <p:cNvSpPr>
            <a:spLocks noChangeAspect="1" noEditPoints="1"/>
          </p:cNvSpPr>
          <p:nvPr/>
        </p:nvSpPr>
        <p:spPr bwMode="auto">
          <a:xfrm>
            <a:off x="9889191" y="2426597"/>
            <a:ext cx="277569" cy="274320"/>
          </a:xfrm>
          <a:custGeom>
            <a:avLst/>
            <a:gdLst>
              <a:gd name="T0" fmla="*/ 68 w 86"/>
              <a:gd name="T1" fmla="*/ 8 h 85"/>
              <a:gd name="T2" fmla="*/ 44 w 86"/>
              <a:gd name="T3" fmla="*/ 0 h 85"/>
              <a:gd name="T4" fmla="*/ 43 w 86"/>
              <a:gd name="T5" fmla="*/ 0 h 85"/>
              <a:gd name="T6" fmla="*/ 43 w 86"/>
              <a:gd name="T7" fmla="*/ 0 h 85"/>
              <a:gd name="T8" fmla="*/ 0 w 86"/>
              <a:gd name="T9" fmla="*/ 43 h 85"/>
              <a:gd name="T10" fmla="*/ 43 w 86"/>
              <a:gd name="T11" fmla="*/ 85 h 85"/>
              <a:gd name="T12" fmla="*/ 86 w 86"/>
              <a:gd name="T13" fmla="*/ 43 h 85"/>
              <a:gd name="T14" fmla="*/ 68 w 86"/>
              <a:gd name="T15" fmla="*/ 8 h 85"/>
              <a:gd name="T16" fmla="*/ 56 w 86"/>
              <a:gd name="T17" fmla="*/ 59 h 85"/>
              <a:gd name="T18" fmla="*/ 43 w 86"/>
              <a:gd name="T19" fmla="*/ 48 h 85"/>
              <a:gd name="T20" fmla="*/ 39 w 86"/>
              <a:gd name="T21" fmla="*/ 45 h 85"/>
              <a:gd name="T22" fmla="*/ 40 w 86"/>
              <a:gd name="T23" fmla="*/ 45 h 85"/>
              <a:gd name="T24" fmla="*/ 39 w 86"/>
              <a:gd name="T25" fmla="*/ 45 h 85"/>
              <a:gd name="T26" fmla="*/ 39 w 86"/>
              <a:gd name="T27" fmla="*/ 43 h 85"/>
              <a:gd name="T28" fmla="*/ 39 w 86"/>
              <a:gd name="T29" fmla="*/ 16 h 85"/>
              <a:gd name="T30" fmla="*/ 43 w 86"/>
              <a:gd name="T31" fmla="*/ 16 h 85"/>
              <a:gd name="T32" fmla="*/ 47 w 86"/>
              <a:gd name="T33" fmla="*/ 16 h 85"/>
              <a:gd name="T34" fmla="*/ 47 w 86"/>
              <a:gd name="T35" fmla="*/ 41 h 85"/>
              <a:gd name="T36" fmla="*/ 49 w 86"/>
              <a:gd name="T37" fmla="*/ 43 h 85"/>
              <a:gd name="T38" fmla="*/ 61 w 86"/>
              <a:gd name="T39" fmla="*/ 53 h 85"/>
              <a:gd name="T40" fmla="*/ 56 w 86"/>
              <a:gd name="T41" fmla="*/ 5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6" h="85">
                <a:moveTo>
                  <a:pt x="68" y="8"/>
                </a:moveTo>
                <a:cubicBezTo>
                  <a:pt x="62" y="3"/>
                  <a:pt x="53" y="0"/>
                  <a:pt x="44" y="0"/>
                </a:cubicBezTo>
                <a:cubicBezTo>
                  <a:pt x="44" y="0"/>
                  <a:pt x="44" y="0"/>
                  <a:pt x="43" y="0"/>
                </a:cubicBezTo>
                <a:cubicBezTo>
                  <a:pt x="43" y="0"/>
                  <a:pt x="43" y="0"/>
                  <a:pt x="43" y="0"/>
                </a:cubicBezTo>
                <a:cubicBezTo>
                  <a:pt x="20" y="0"/>
                  <a:pt x="0" y="19"/>
                  <a:pt x="0" y="43"/>
                </a:cubicBezTo>
                <a:cubicBezTo>
                  <a:pt x="0" y="66"/>
                  <a:pt x="20" y="85"/>
                  <a:pt x="43" y="85"/>
                </a:cubicBezTo>
                <a:cubicBezTo>
                  <a:pt x="67" y="85"/>
                  <a:pt x="86" y="66"/>
                  <a:pt x="86" y="43"/>
                </a:cubicBezTo>
                <a:cubicBezTo>
                  <a:pt x="86" y="28"/>
                  <a:pt x="79" y="16"/>
                  <a:pt x="68" y="8"/>
                </a:cubicBezTo>
                <a:close/>
                <a:moveTo>
                  <a:pt x="56" y="59"/>
                </a:moveTo>
                <a:cubicBezTo>
                  <a:pt x="43" y="48"/>
                  <a:pt x="43" y="48"/>
                  <a:pt x="43" y="48"/>
                </a:cubicBezTo>
                <a:cubicBezTo>
                  <a:pt x="39" y="45"/>
                  <a:pt x="39" y="45"/>
                  <a:pt x="39" y="45"/>
                </a:cubicBezTo>
                <a:cubicBezTo>
                  <a:pt x="40" y="45"/>
                  <a:pt x="40" y="45"/>
                  <a:pt x="40" y="45"/>
                </a:cubicBezTo>
                <a:cubicBezTo>
                  <a:pt x="39" y="45"/>
                  <a:pt x="39" y="45"/>
                  <a:pt x="39" y="45"/>
                </a:cubicBezTo>
                <a:cubicBezTo>
                  <a:pt x="39" y="43"/>
                  <a:pt x="39" y="43"/>
                  <a:pt x="39" y="43"/>
                </a:cubicBezTo>
                <a:cubicBezTo>
                  <a:pt x="39" y="16"/>
                  <a:pt x="39" y="16"/>
                  <a:pt x="39" y="16"/>
                </a:cubicBezTo>
                <a:cubicBezTo>
                  <a:pt x="43" y="16"/>
                  <a:pt x="43" y="16"/>
                  <a:pt x="43" y="16"/>
                </a:cubicBezTo>
                <a:cubicBezTo>
                  <a:pt x="47" y="16"/>
                  <a:pt x="47" y="16"/>
                  <a:pt x="47" y="16"/>
                </a:cubicBezTo>
                <a:cubicBezTo>
                  <a:pt x="47" y="41"/>
                  <a:pt x="47" y="41"/>
                  <a:pt x="47" y="41"/>
                </a:cubicBezTo>
                <a:cubicBezTo>
                  <a:pt x="49" y="43"/>
                  <a:pt x="49" y="43"/>
                  <a:pt x="49" y="43"/>
                </a:cubicBezTo>
                <a:cubicBezTo>
                  <a:pt x="61" y="53"/>
                  <a:pt x="61" y="53"/>
                  <a:pt x="61" y="53"/>
                </a:cubicBezTo>
                <a:lnTo>
                  <a:pt x="56" y="59"/>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4" name="Freeform 800">
            <a:extLst>
              <a:ext uri="{FF2B5EF4-FFF2-40B4-BE49-F238E27FC236}">
                <a16:creationId xmlns:a16="http://schemas.microsoft.com/office/drawing/2014/main" id="{038CAC0C-E98C-42B0-B48F-D6C6EAB4A2C0}"/>
              </a:ext>
            </a:extLst>
          </p:cNvPr>
          <p:cNvSpPr>
            <a:spLocks noChangeAspect="1" noEditPoints="1"/>
          </p:cNvSpPr>
          <p:nvPr/>
        </p:nvSpPr>
        <p:spPr bwMode="auto">
          <a:xfrm>
            <a:off x="10811412" y="2426597"/>
            <a:ext cx="277569" cy="274320"/>
          </a:xfrm>
          <a:custGeom>
            <a:avLst/>
            <a:gdLst>
              <a:gd name="T0" fmla="*/ 9 w 86"/>
              <a:gd name="T1" fmla="*/ 17 h 85"/>
              <a:gd name="T2" fmla="*/ 0 w 86"/>
              <a:gd name="T3" fmla="*/ 42 h 85"/>
              <a:gd name="T4" fmla="*/ 0 w 86"/>
              <a:gd name="T5" fmla="*/ 42 h 85"/>
              <a:gd name="T6" fmla="*/ 0 w 86"/>
              <a:gd name="T7" fmla="*/ 43 h 85"/>
              <a:gd name="T8" fmla="*/ 43 w 86"/>
              <a:gd name="T9" fmla="*/ 85 h 85"/>
              <a:gd name="T10" fmla="*/ 86 w 86"/>
              <a:gd name="T11" fmla="*/ 43 h 85"/>
              <a:gd name="T12" fmla="*/ 43 w 86"/>
              <a:gd name="T13" fmla="*/ 0 h 85"/>
              <a:gd name="T14" fmla="*/ 9 w 86"/>
              <a:gd name="T15" fmla="*/ 17 h 85"/>
              <a:gd name="T16" fmla="*/ 60 w 86"/>
              <a:gd name="T17" fmla="*/ 29 h 85"/>
              <a:gd name="T18" fmla="*/ 49 w 86"/>
              <a:gd name="T19" fmla="*/ 43 h 85"/>
              <a:gd name="T20" fmla="*/ 46 w 86"/>
              <a:gd name="T21" fmla="*/ 46 h 85"/>
              <a:gd name="T22" fmla="*/ 46 w 86"/>
              <a:gd name="T23" fmla="*/ 46 h 85"/>
              <a:gd name="T24" fmla="*/ 46 w 86"/>
              <a:gd name="T25" fmla="*/ 47 h 85"/>
              <a:gd name="T26" fmla="*/ 43 w 86"/>
              <a:gd name="T27" fmla="*/ 47 h 85"/>
              <a:gd name="T28" fmla="*/ 16 w 86"/>
              <a:gd name="T29" fmla="*/ 47 h 85"/>
              <a:gd name="T30" fmla="*/ 16 w 86"/>
              <a:gd name="T31" fmla="*/ 43 h 85"/>
              <a:gd name="T32" fmla="*/ 16 w 86"/>
              <a:gd name="T33" fmla="*/ 39 h 85"/>
              <a:gd name="T34" fmla="*/ 42 w 86"/>
              <a:gd name="T35" fmla="*/ 39 h 85"/>
              <a:gd name="T36" fmla="*/ 43 w 86"/>
              <a:gd name="T37" fmla="*/ 37 h 85"/>
              <a:gd name="T38" fmla="*/ 54 w 86"/>
              <a:gd name="T39" fmla="*/ 24 h 85"/>
              <a:gd name="T40" fmla="*/ 60 w 86"/>
              <a:gd name="T41" fmla="*/ 2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6" h="85">
                <a:moveTo>
                  <a:pt x="9" y="17"/>
                </a:moveTo>
                <a:cubicBezTo>
                  <a:pt x="4" y="24"/>
                  <a:pt x="0" y="33"/>
                  <a:pt x="0" y="42"/>
                </a:cubicBezTo>
                <a:cubicBezTo>
                  <a:pt x="0" y="42"/>
                  <a:pt x="0" y="42"/>
                  <a:pt x="0" y="42"/>
                </a:cubicBezTo>
                <a:cubicBezTo>
                  <a:pt x="0" y="42"/>
                  <a:pt x="0" y="42"/>
                  <a:pt x="0" y="43"/>
                </a:cubicBezTo>
                <a:cubicBezTo>
                  <a:pt x="0" y="66"/>
                  <a:pt x="20" y="85"/>
                  <a:pt x="43" y="85"/>
                </a:cubicBezTo>
                <a:cubicBezTo>
                  <a:pt x="67" y="85"/>
                  <a:pt x="86" y="66"/>
                  <a:pt x="86" y="43"/>
                </a:cubicBezTo>
                <a:cubicBezTo>
                  <a:pt x="86" y="19"/>
                  <a:pt x="67" y="0"/>
                  <a:pt x="43" y="0"/>
                </a:cubicBezTo>
                <a:cubicBezTo>
                  <a:pt x="29" y="0"/>
                  <a:pt x="16" y="7"/>
                  <a:pt x="9" y="17"/>
                </a:cubicBezTo>
                <a:close/>
                <a:moveTo>
                  <a:pt x="60" y="29"/>
                </a:moveTo>
                <a:cubicBezTo>
                  <a:pt x="49" y="43"/>
                  <a:pt x="49" y="43"/>
                  <a:pt x="49" y="43"/>
                </a:cubicBezTo>
                <a:cubicBezTo>
                  <a:pt x="46" y="46"/>
                  <a:pt x="46" y="46"/>
                  <a:pt x="46" y="46"/>
                </a:cubicBezTo>
                <a:cubicBezTo>
                  <a:pt x="46" y="46"/>
                  <a:pt x="46" y="46"/>
                  <a:pt x="46" y="46"/>
                </a:cubicBezTo>
                <a:cubicBezTo>
                  <a:pt x="46" y="47"/>
                  <a:pt x="46" y="47"/>
                  <a:pt x="46" y="47"/>
                </a:cubicBezTo>
                <a:cubicBezTo>
                  <a:pt x="43" y="47"/>
                  <a:pt x="43" y="47"/>
                  <a:pt x="43" y="47"/>
                </a:cubicBezTo>
                <a:cubicBezTo>
                  <a:pt x="16" y="47"/>
                  <a:pt x="16" y="47"/>
                  <a:pt x="16" y="47"/>
                </a:cubicBezTo>
                <a:cubicBezTo>
                  <a:pt x="16" y="43"/>
                  <a:pt x="16" y="43"/>
                  <a:pt x="16" y="43"/>
                </a:cubicBezTo>
                <a:cubicBezTo>
                  <a:pt x="16" y="39"/>
                  <a:pt x="16" y="39"/>
                  <a:pt x="16" y="39"/>
                </a:cubicBezTo>
                <a:cubicBezTo>
                  <a:pt x="42" y="39"/>
                  <a:pt x="42" y="39"/>
                  <a:pt x="42" y="39"/>
                </a:cubicBezTo>
                <a:cubicBezTo>
                  <a:pt x="43" y="37"/>
                  <a:pt x="43" y="37"/>
                  <a:pt x="43" y="37"/>
                </a:cubicBezTo>
                <a:cubicBezTo>
                  <a:pt x="54" y="24"/>
                  <a:pt x="54" y="24"/>
                  <a:pt x="54" y="24"/>
                </a:cubicBezTo>
                <a:lnTo>
                  <a:pt x="60" y="29"/>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801">
            <a:extLst>
              <a:ext uri="{FF2B5EF4-FFF2-40B4-BE49-F238E27FC236}">
                <a16:creationId xmlns:a16="http://schemas.microsoft.com/office/drawing/2014/main" id="{B8571405-ADCB-4818-9987-F57B421349A7}"/>
              </a:ext>
            </a:extLst>
          </p:cNvPr>
          <p:cNvSpPr>
            <a:spLocks noChangeAspect="1" noEditPoints="1"/>
          </p:cNvSpPr>
          <p:nvPr/>
        </p:nvSpPr>
        <p:spPr bwMode="auto">
          <a:xfrm>
            <a:off x="8966970" y="2426597"/>
            <a:ext cx="278220" cy="274320"/>
          </a:xfrm>
          <a:custGeom>
            <a:avLst/>
            <a:gdLst>
              <a:gd name="T0" fmla="*/ 18 w 86"/>
              <a:gd name="T1" fmla="*/ 77 h 85"/>
              <a:gd name="T2" fmla="*/ 42 w 86"/>
              <a:gd name="T3" fmla="*/ 85 h 85"/>
              <a:gd name="T4" fmla="*/ 43 w 86"/>
              <a:gd name="T5" fmla="*/ 85 h 85"/>
              <a:gd name="T6" fmla="*/ 43 w 86"/>
              <a:gd name="T7" fmla="*/ 85 h 85"/>
              <a:gd name="T8" fmla="*/ 86 w 86"/>
              <a:gd name="T9" fmla="*/ 43 h 85"/>
              <a:gd name="T10" fmla="*/ 43 w 86"/>
              <a:gd name="T11" fmla="*/ 0 h 85"/>
              <a:gd name="T12" fmla="*/ 0 w 86"/>
              <a:gd name="T13" fmla="*/ 43 h 85"/>
              <a:gd name="T14" fmla="*/ 18 w 86"/>
              <a:gd name="T15" fmla="*/ 77 h 85"/>
              <a:gd name="T16" fmla="*/ 30 w 86"/>
              <a:gd name="T17" fmla="*/ 26 h 85"/>
              <a:gd name="T18" fmla="*/ 43 w 86"/>
              <a:gd name="T19" fmla="*/ 37 h 85"/>
              <a:gd name="T20" fmla="*/ 47 w 86"/>
              <a:gd name="T21" fmla="*/ 40 h 85"/>
              <a:gd name="T22" fmla="*/ 47 w 86"/>
              <a:gd name="T23" fmla="*/ 40 h 85"/>
              <a:gd name="T24" fmla="*/ 47 w 86"/>
              <a:gd name="T25" fmla="*/ 40 h 85"/>
              <a:gd name="T26" fmla="*/ 47 w 86"/>
              <a:gd name="T27" fmla="*/ 43 h 85"/>
              <a:gd name="T28" fmla="*/ 47 w 86"/>
              <a:gd name="T29" fmla="*/ 69 h 85"/>
              <a:gd name="T30" fmla="*/ 43 w 86"/>
              <a:gd name="T31" fmla="*/ 69 h 85"/>
              <a:gd name="T32" fmla="*/ 39 w 86"/>
              <a:gd name="T33" fmla="*/ 69 h 85"/>
              <a:gd name="T34" fmla="*/ 39 w 86"/>
              <a:gd name="T35" fmla="*/ 44 h 85"/>
              <a:gd name="T36" fmla="*/ 38 w 86"/>
              <a:gd name="T37" fmla="*/ 43 h 85"/>
              <a:gd name="T38" fmla="*/ 25 w 86"/>
              <a:gd name="T39" fmla="*/ 32 h 85"/>
              <a:gd name="T40" fmla="*/ 30 w 86"/>
              <a:gd name="T41" fmla="*/ 2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6" h="85">
                <a:moveTo>
                  <a:pt x="18" y="77"/>
                </a:moveTo>
                <a:cubicBezTo>
                  <a:pt x="25" y="82"/>
                  <a:pt x="33" y="85"/>
                  <a:pt x="42" y="85"/>
                </a:cubicBezTo>
                <a:cubicBezTo>
                  <a:pt x="43" y="85"/>
                  <a:pt x="43" y="85"/>
                  <a:pt x="43" y="85"/>
                </a:cubicBezTo>
                <a:cubicBezTo>
                  <a:pt x="43" y="85"/>
                  <a:pt x="43" y="85"/>
                  <a:pt x="43" y="85"/>
                </a:cubicBezTo>
                <a:cubicBezTo>
                  <a:pt x="67" y="85"/>
                  <a:pt x="86" y="66"/>
                  <a:pt x="86" y="43"/>
                </a:cubicBezTo>
                <a:cubicBezTo>
                  <a:pt x="86" y="19"/>
                  <a:pt x="67" y="0"/>
                  <a:pt x="43" y="0"/>
                </a:cubicBezTo>
                <a:cubicBezTo>
                  <a:pt x="20" y="0"/>
                  <a:pt x="0" y="19"/>
                  <a:pt x="0" y="43"/>
                </a:cubicBezTo>
                <a:cubicBezTo>
                  <a:pt x="0" y="57"/>
                  <a:pt x="7" y="69"/>
                  <a:pt x="18" y="77"/>
                </a:cubicBezTo>
                <a:close/>
                <a:moveTo>
                  <a:pt x="30" y="26"/>
                </a:moveTo>
                <a:cubicBezTo>
                  <a:pt x="43" y="37"/>
                  <a:pt x="43" y="37"/>
                  <a:pt x="43" y="37"/>
                </a:cubicBezTo>
                <a:cubicBezTo>
                  <a:pt x="47" y="40"/>
                  <a:pt x="47" y="40"/>
                  <a:pt x="47" y="40"/>
                </a:cubicBezTo>
                <a:cubicBezTo>
                  <a:pt x="47" y="40"/>
                  <a:pt x="47" y="40"/>
                  <a:pt x="47" y="40"/>
                </a:cubicBezTo>
                <a:cubicBezTo>
                  <a:pt x="47" y="40"/>
                  <a:pt x="47" y="40"/>
                  <a:pt x="47" y="40"/>
                </a:cubicBezTo>
                <a:cubicBezTo>
                  <a:pt x="47" y="43"/>
                  <a:pt x="47" y="43"/>
                  <a:pt x="47" y="43"/>
                </a:cubicBezTo>
                <a:cubicBezTo>
                  <a:pt x="47" y="69"/>
                  <a:pt x="47" y="69"/>
                  <a:pt x="47" y="69"/>
                </a:cubicBezTo>
                <a:cubicBezTo>
                  <a:pt x="43" y="69"/>
                  <a:pt x="43" y="69"/>
                  <a:pt x="43" y="69"/>
                </a:cubicBezTo>
                <a:cubicBezTo>
                  <a:pt x="39" y="69"/>
                  <a:pt x="39" y="69"/>
                  <a:pt x="39" y="69"/>
                </a:cubicBezTo>
                <a:cubicBezTo>
                  <a:pt x="39" y="44"/>
                  <a:pt x="39" y="44"/>
                  <a:pt x="39" y="44"/>
                </a:cubicBezTo>
                <a:cubicBezTo>
                  <a:pt x="38" y="43"/>
                  <a:pt x="38" y="43"/>
                  <a:pt x="38" y="43"/>
                </a:cubicBezTo>
                <a:cubicBezTo>
                  <a:pt x="25" y="32"/>
                  <a:pt x="25" y="32"/>
                  <a:pt x="25" y="32"/>
                </a:cubicBezTo>
                <a:lnTo>
                  <a:pt x="30" y="26"/>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56" name="Group 55">
            <a:extLst>
              <a:ext uri="{FF2B5EF4-FFF2-40B4-BE49-F238E27FC236}">
                <a16:creationId xmlns:a16="http://schemas.microsoft.com/office/drawing/2014/main" id="{0A810D3A-A287-46E2-841D-915A1CF6EF3C}"/>
              </a:ext>
            </a:extLst>
          </p:cNvPr>
          <p:cNvGrpSpPr>
            <a:grpSpLocks noChangeAspect="1"/>
          </p:cNvGrpSpPr>
          <p:nvPr/>
        </p:nvGrpSpPr>
        <p:grpSpPr>
          <a:xfrm>
            <a:off x="8046406" y="2549118"/>
            <a:ext cx="398418" cy="274320"/>
            <a:chOff x="7714212" y="1136820"/>
            <a:chExt cx="586567" cy="403866"/>
          </a:xfrm>
          <a:solidFill>
            <a:srgbClr val="595555"/>
          </a:solidFill>
        </p:grpSpPr>
        <p:sp>
          <p:nvSpPr>
            <p:cNvPr id="57" name="Freeform 804">
              <a:extLst>
                <a:ext uri="{FF2B5EF4-FFF2-40B4-BE49-F238E27FC236}">
                  <a16:creationId xmlns:a16="http://schemas.microsoft.com/office/drawing/2014/main" id="{40676F16-6F31-4CFD-A4CD-DC4CFC4D94AC}"/>
                </a:ext>
              </a:extLst>
            </p:cNvPr>
            <p:cNvSpPr>
              <a:spLocks/>
            </p:cNvSpPr>
            <p:nvPr/>
          </p:nvSpPr>
          <p:spPr bwMode="auto">
            <a:xfrm>
              <a:off x="7939497" y="1301663"/>
              <a:ext cx="135996" cy="239023"/>
            </a:xfrm>
            <a:custGeom>
              <a:avLst/>
              <a:gdLst>
                <a:gd name="T0" fmla="*/ 15 w 20"/>
                <a:gd name="T1" fmla="*/ 3 h 35"/>
                <a:gd name="T2" fmla="*/ 3 w 20"/>
                <a:gd name="T3" fmla="*/ 21 h 35"/>
                <a:gd name="T4" fmla="*/ 2 w 20"/>
                <a:gd name="T5" fmla="*/ 23 h 35"/>
                <a:gd name="T6" fmla="*/ 15 w 20"/>
                <a:gd name="T7" fmla="*/ 28 h 35"/>
                <a:gd name="T8" fmla="*/ 16 w 20"/>
                <a:gd name="T9" fmla="*/ 25 h 35"/>
                <a:gd name="T10" fmla="*/ 20 w 20"/>
                <a:gd name="T11" fmla="*/ 4 h 35"/>
                <a:gd name="T12" fmla="*/ 15 w 20"/>
                <a:gd name="T13" fmla="*/ 3 h 35"/>
              </a:gdLst>
              <a:ahLst/>
              <a:cxnLst>
                <a:cxn ang="0">
                  <a:pos x="T0" y="T1"/>
                </a:cxn>
                <a:cxn ang="0">
                  <a:pos x="T2" y="T3"/>
                </a:cxn>
                <a:cxn ang="0">
                  <a:pos x="T4" y="T5"/>
                </a:cxn>
                <a:cxn ang="0">
                  <a:pos x="T6" y="T7"/>
                </a:cxn>
                <a:cxn ang="0">
                  <a:pos x="T8" y="T9"/>
                </a:cxn>
                <a:cxn ang="0">
                  <a:pos x="T10" y="T11"/>
                </a:cxn>
                <a:cxn ang="0">
                  <a:pos x="T12" y="T13"/>
                </a:cxn>
              </a:cxnLst>
              <a:rect l="0" t="0" r="r" b="b"/>
              <a:pathLst>
                <a:path w="20" h="35">
                  <a:moveTo>
                    <a:pt x="15" y="3"/>
                  </a:moveTo>
                  <a:cubicBezTo>
                    <a:pt x="3" y="21"/>
                    <a:pt x="3" y="21"/>
                    <a:pt x="3" y="21"/>
                  </a:cubicBezTo>
                  <a:cubicBezTo>
                    <a:pt x="3" y="22"/>
                    <a:pt x="2" y="22"/>
                    <a:pt x="2" y="23"/>
                  </a:cubicBezTo>
                  <a:cubicBezTo>
                    <a:pt x="0" y="31"/>
                    <a:pt x="11" y="35"/>
                    <a:pt x="15" y="28"/>
                  </a:cubicBezTo>
                  <a:cubicBezTo>
                    <a:pt x="15" y="27"/>
                    <a:pt x="15" y="26"/>
                    <a:pt x="16" y="25"/>
                  </a:cubicBezTo>
                  <a:cubicBezTo>
                    <a:pt x="20" y="4"/>
                    <a:pt x="20" y="4"/>
                    <a:pt x="20" y="4"/>
                  </a:cubicBezTo>
                  <a:cubicBezTo>
                    <a:pt x="20" y="2"/>
                    <a:pt x="17"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8" name="Freeform 805">
              <a:extLst>
                <a:ext uri="{FF2B5EF4-FFF2-40B4-BE49-F238E27FC236}">
                  <a16:creationId xmlns:a16="http://schemas.microsoft.com/office/drawing/2014/main" id="{525CABCE-22AB-4559-8AA7-785649177591}"/>
                </a:ext>
              </a:extLst>
            </p:cNvPr>
            <p:cNvSpPr>
              <a:spLocks/>
            </p:cNvSpPr>
            <p:nvPr/>
          </p:nvSpPr>
          <p:spPr bwMode="auto">
            <a:xfrm>
              <a:off x="7714212" y="1136820"/>
              <a:ext cx="586567" cy="328313"/>
            </a:xfrm>
            <a:custGeom>
              <a:avLst/>
              <a:gdLst>
                <a:gd name="T0" fmla="*/ 43 w 86"/>
                <a:gd name="T1" fmla="*/ 0 h 48"/>
                <a:gd name="T2" fmla="*/ 0 w 86"/>
                <a:gd name="T3" fmla="*/ 42 h 48"/>
                <a:gd name="T4" fmla="*/ 1 w 86"/>
                <a:gd name="T5" fmla="*/ 48 h 48"/>
                <a:gd name="T6" fmla="*/ 8 w 86"/>
                <a:gd name="T7" fmla="*/ 48 h 48"/>
                <a:gd name="T8" fmla="*/ 9 w 86"/>
                <a:gd name="T9" fmla="*/ 48 h 48"/>
                <a:gd name="T10" fmla="*/ 19 w 86"/>
                <a:gd name="T11" fmla="*/ 48 h 48"/>
                <a:gd name="T12" fmla="*/ 22 w 86"/>
                <a:gd name="T13" fmla="*/ 45 h 48"/>
                <a:gd name="T14" fmla="*/ 22 w 86"/>
                <a:gd name="T15" fmla="*/ 42 h 48"/>
                <a:gd name="T16" fmla="*/ 19 w 86"/>
                <a:gd name="T17" fmla="*/ 40 h 48"/>
                <a:gd name="T18" fmla="*/ 9 w 86"/>
                <a:gd name="T19" fmla="*/ 40 h 48"/>
                <a:gd name="T20" fmla="*/ 15 w 86"/>
                <a:gd name="T21" fmla="*/ 22 h 48"/>
                <a:gd name="T22" fmla="*/ 22 w 86"/>
                <a:gd name="T23" fmla="*/ 29 h 48"/>
                <a:gd name="T24" fmla="*/ 26 w 86"/>
                <a:gd name="T25" fmla="*/ 29 h 48"/>
                <a:gd name="T26" fmla="*/ 28 w 86"/>
                <a:gd name="T27" fmla="*/ 27 h 48"/>
                <a:gd name="T28" fmla="*/ 28 w 86"/>
                <a:gd name="T29" fmla="*/ 23 h 48"/>
                <a:gd name="T30" fmla="*/ 20 w 86"/>
                <a:gd name="T31" fmla="*/ 16 h 48"/>
                <a:gd name="T32" fmla="*/ 39 w 86"/>
                <a:gd name="T33" fmla="*/ 8 h 48"/>
                <a:gd name="T34" fmla="*/ 39 w 86"/>
                <a:gd name="T35" fmla="*/ 18 h 48"/>
                <a:gd name="T36" fmla="*/ 42 w 86"/>
                <a:gd name="T37" fmla="*/ 21 h 48"/>
                <a:gd name="T38" fmla="*/ 44 w 86"/>
                <a:gd name="T39" fmla="*/ 21 h 48"/>
                <a:gd name="T40" fmla="*/ 47 w 86"/>
                <a:gd name="T41" fmla="*/ 18 h 48"/>
                <a:gd name="T42" fmla="*/ 47 w 86"/>
                <a:gd name="T43" fmla="*/ 8 h 48"/>
                <a:gd name="T44" fmla="*/ 66 w 86"/>
                <a:gd name="T45" fmla="*/ 16 h 48"/>
                <a:gd name="T46" fmla="*/ 59 w 86"/>
                <a:gd name="T47" fmla="*/ 23 h 48"/>
                <a:gd name="T48" fmla="*/ 59 w 86"/>
                <a:gd name="T49" fmla="*/ 27 h 48"/>
                <a:gd name="T50" fmla="*/ 60 w 86"/>
                <a:gd name="T51" fmla="*/ 29 h 48"/>
                <a:gd name="T52" fmla="*/ 64 w 86"/>
                <a:gd name="T53" fmla="*/ 29 h 48"/>
                <a:gd name="T54" fmla="*/ 71 w 86"/>
                <a:gd name="T55" fmla="*/ 22 h 48"/>
                <a:gd name="T56" fmla="*/ 78 w 86"/>
                <a:gd name="T57" fmla="*/ 40 h 48"/>
                <a:gd name="T58" fmla="*/ 67 w 86"/>
                <a:gd name="T59" fmla="*/ 40 h 48"/>
                <a:gd name="T60" fmla="*/ 64 w 86"/>
                <a:gd name="T61" fmla="*/ 42 h 48"/>
                <a:gd name="T62" fmla="*/ 64 w 86"/>
                <a:gd name="T63" fmla="*/ 45 h 48"/>
                <a:gd name="T64" fmla="*/ 67 w 86"/>
                <a:gd name="T65" fmla="*/ 48 h 48"/>
                <a:gd name="T66" fmla="*/ 77 w 86"/>
                <a:gd name="T67" fmla="*/ 48 h 48"/>
                <a:gd name="T68" fmla="*/ 78 w 86"/>
                <a:gd name="T69" fmla="*/ 48 h 48"/>
                <a:gd name="T70" fmla="*/ 85 w 86"/>
                <a:gd name="T71" fmla="*/ 48 h 48"/>
                <a:gd name="T72" fmla="*/ 86 w 86"/>
                <a:gd name="T73" fmla="*/ 42 h 48"/>
                <a:gd name="T74" fmla="*/ 43 w 86"/>
                <a:gd name="T75"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48">
                  <a:moveTo>
                    <a:pt x="43" y="0"/>
                  </a:moveTo>
                  <a:cubicBezTo>
                    <a:pt x="20" y="0"/>
                    <a:pt x="0" y="19"/>
                    <a:pt x="0" y="42"/>
                  </a:cubicBezTo>
                  <a:cubicBezTo>
                    <a:pt x="0" y="44"/>
                    <a:pt x="1" y="46"/>
                    <a:pt x="1" y="48"/>
                  </a:cubicBezTo>
                  <a:cubicBezTo>
                    <a:pt x="8" y="48"/>
                    <a:pt x="8" y="48"/>
                    <a:pt x="8" y="48"/>
                  </a:cubicBezTo>
                  <a:cubicBezTo>
                    <a:pt x="9" y="48"/>
                    <a:pt x="9" y="48"/>
                    <a:pt x="9" y="48"/>
                  </a:cubicBezTo>
                  <a:cubicBezTo>
                    <a:pt x="19" y="48"/>
                    <a:pt x="19" y="48"/>
                    <a:pt x="19" y="48"/>
                  </a:cubicBezTo>
                  <a:cubicBezTo>
                    <a:pt x="21" y="48"/>
                    <a:pt x="22" y="46"/>
                    <a:pt x="22" y="45"/>
                  </a:cubicBezTo>
                  <a:cubicBezTo>
                    <a:pt x="22" y="42"/>
                    <a:pt x="22" y="42"/>
                    <a:pt x="22" y="42"/>
                  </a:cubicBezTo>
                  <a:cubicBezTo>
                    <a:pt x="22" y="41"/>
                    <a:pt x="21" y="40"/>
                    <a:pt x="19" y="40"/>
                  </a:cubicBezTo>
                  <a:cubicBezTo>
                    <a:pt x="9" y="40"/>
                    <a:pt x="9" y="40"/>
                    <a:pt x="9" y="40"/>
                  </a:cubicBezTo>
                  <a:cubicBezTo>
                    <a:pt x="9" y="33"/>
                    <a:pt x="11" y="27"/>
                    <a:pt x="15" y="22"/>
                  </a:cubicBezTo>
                  <a:cubicBezTo>
                    <a:pt x="22" y="29"/>
                    <a:pt x="22" y="29"/>
                    <a:pt x="22" y="29"/>
                  </a:cubicBezTo>
                  <a:cubicBezTo>
                    <a:pt x="23" y="30"/>
                    <a:pt x="25" y="30"/>
                    <a:pt x="26" y="29"/>
                  </a:cubicBezTo>
                  <a:cubicBezTo>
                    <a:pt x="28" y="27"/>
                    <a:pt x="28" y="27"/>
                    <a:pt x="28" y="27"/>
                  </a:cubicBezTo>
                  <a:cubicBezTo>
                    <a:pt x="29" y="26"/>
                    <a:pt x="29" y="24"/>
                    <a:pt x="28" y="23"/>
                  </a:cubicBezTo>
                  <a:cubicBezTo>
                    <a:pt x="20" y="16"/>
                    <a:pt x="20" y="16"/>
                    <a:pt x="20" y="16"/>
                  </a:cubicBezTo>
                  <a:cubicBezTo>
                    <a:pt x="25" y="12"/>
                    <a:pt x="32" y="9"/>
                    <a:pt x="39" y="8"/>
                  </a:cubicBezTo>
                  <a:cubicBezTo>
                    <a:pt x="39" y="18"/>
                    <a:pt x="39" y="18"/>
                    <a:pt x="39" y="18"/>
                  </a:cubicBezTo>
                  <a:cubicBezTo>
                    <a:pt x="39" y="20"/>
                    <a:pt x="40" y="21"/>
                    <a:pt x="42" y="21"/>
                  </a:cubicBezTo>
                  <a:cubicBezTo>
                    <a:pt x="44" y="21"/>
                    <a:pt x="44" y="21"/>
                    <a:pt x="44" y="21"/>
                  </a:cubicBezTo>
                  <a:cubicBezTo>
                    <a:pt x="46" y="21"/>
                    <a:pt x="47" y="20"/>
                    <a:pt x="47" y="18"/>
                  </a:cubicBezTo>
                  <a:cubicBezTo>
                    <a:pt x="47" y="8"/>
                    <a:pt x="47" y="8"/>
                    <a:pt x="47" y="8"/>
                  </a:cubicBezTo>
                  <a:cubicBezTo>
                    <a:pt x="54" y="9"/>
                    <a:pt x="61" y="12"/>
                    <a:pt x="66" y="16"/>
                  </a:cubicBezTo>
                  <a:cubicBezTo>
                    <a:pt x="59" y="23"/>
                    <a:pt x="59" y="23"/>
                    <a:pt x="59" y="23"/>
                  </a:cubicBezTo>
                  <a:cubicBezTo>
                    <a:pt x="58" y="24"/>
                    <a:pt x="58" y="26"/>
                    <a:pt x="59" y="27"/>
                  </a:cubicBezTo>
                  <a:cubicBezTo>
                    <a:pt x="60" y="29"/>
                    <a:pt x="60" y="29"/>
                    <a:pt x="60" y="29"/>
                  </a:cubicBezTo>
                  <a:cubicBezTo>
                    <a:pt x="62" y="30"/>
                    <a:pt x="63" y="30"/>
                    <a:pt x="64" y="29"/>
                  </a:cubicBezTo>
                  <a:cubicBezTo>
                    <a:pt x="71" y="22"/>
                    <a:pt x="71" y="22"/>
                    <a:pt x="71" y="22"/>
                  </a:cubicBezTo>
                  <a:cubicBezTo>
                    <a:pt x="75" y="27"/>
                    <a:pt x="77" y="33"/>
                    <a:pt x="78" y="40"/>
                  </a:cubicBezTo>
                  <a:cubicBezTo>
                    <a:pt x="67" y="40"/>
                    <a:pt x="67" y="40"/>
                    <a:pt x="67" y="40"/>
                  </a:cubicBezTo>
                  <a:cubicBezTo>
                    <a:pt x="66" y="40"/>
                    <a:pt x="64" y="41"/>
                    <a:pt x="64" y="42"/>
                  </a:cubicBezTo>
                  <a:cubicBezTo>
                    <a:pt x="64" y="45"/>
                    <a:pt x="64" y="45"/>
                    <a:pt x="64" y="45"/>
                  </a:cubicBezTo>
                  <a:cubicBezTo>
                    <a:pt x="64" y="46"/>
                    <a:pt x="66" y="48"/>
                    <a:pt x="67" y="48"/>
                  </a:cubicBezTo>
                  <a:cubicBezTo>
                    <a:pt x="77" y="48"/>
                    <a:pt x="77" y="48"/>
                    <a:pt x="77" y="48"/>
                  </a:cubicBezTo>
                  <a:cubicBezTo>
                    <a:pt x="78" y="48"/>
                    <a:pt x="78" y="48"/>
                    <a:pt x="78" y="48"/>
                  </a:cubicBezTo>
                  <a:cubicBezTo>
                    <a:pt x="85" y="48"/>
                    <a:pt x="85" y="48"/>
                    <a:pt x="85" y="48"/>
                  </a:cubicBezTo>
                  <a:cubicBezTo>
                    <a:pt x="86" y="46"/>
                    <a:pt x="86" y="44"/>
                    <a:pt x="86" y="42"/>
                  </a:cubicBezTo>
                  <a:cubicBezTo>
                    <a:pt x="86" y="19"/>
                    <a:pt x="67" y="0"/>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9" name="Freeform 948">
            <a:extLst>
              <a:ext uri="{FF2B5EF4-FFF2-40B4-BE49-F238E27FC236}">
                <a16:creationId xmlns:a16="http://schemas.microsoft.com/office/drawing/2014/main" id="{B993C034-591A-410D-A671-4FDEBC8CDB62}"/>
              </a:ext>
            </a:extLst>
          </p:cNvPr>
          <p:cNvSpPr>
            <a:spLocks noChangeAspect="1" noEditPoints="1"/>
          </p:cNvSpPr>
          <p:nvPr/>
        </p:nvSpPr>
        <p:spPr bwMode="auto">
          <a:xfrm>
            <a:off x="5405577" y="2426597"/>
            <a:ext cx="180714" cy="274320"/>
          </a:xfrm>
          <a:custGeom>
            <a:avLst/>
            <a:gdLst>
              <a:gd name="T0" fmla="*/ 56 w 56"/>
              <a:gd name="T1" fmla="*/ 7 h 85"/>
              <a:gd name="T2" fmla="*/ 56 w 56"/>
              <a:gd name="T3" fmla="*/ 0 h 85"/>
              <a:gd name="T4" fmla="*/ 49 w 56"/>
              <a:gd name="T5" fmla="*/ 0 h 85"/>
              <a:gd name="T6" fmla="*/ 49 w 56"/>
              <a:gd name="T7" fmla="*/ 7 h 85"/>
              <a:gd name="T8" fmla="*/ 28 w 56"/>
              <a:gd name="T9" fmla="*/ 7 h 85"/>
              <a:gd name="T10" fmla="*/ 7 w 56"/>
              <a:gd name="T11" fmla="*/ 7 h 85"/>
              <a:gd name="T12" fmla="*/ 7 w 56"/>
              <a:gd name="T13" fmla="*/ 0 h 85"/>
              <a:gd name="T14" fmla="*/ 0 w 56"/>
              <a:gd name="T15" fmla="*/ 0 h 85"/>
              <a:gd name="T16" fmla="*/ 0 w 56"/>
              <a:gd name="T17" fmla="*/ 7 h 85"/>
              <a:gd name="T18" fmla="*/ 8 w 56"/>
              <a:gd name="T19" fmla="*/ 28 h 85"/>
              <a:gd name="T20" fmla="*/ 22 w 56"/>
              <a:gd name="T21" fmla="*/ 43 h 85"/>
              <a:gd name="T22" fmla="*/ 8 w 56"/>
              <a:gd name="T23" fmla="*/ 57 h 85"/>
              <a:gd name="T24" fmla="*/ 0 w 56"/>
              <a:gd name="T25" fmla="*/ 78 h 85"/>
              <a:gd name="T26" fmla="*/ 0 w 56"/>
              <a:gd name="T27" fmla="*/ 85 h 85"/>
              <a:gd name="T28" fmla="*/ 7 w 56"/>
              <a:gd name="T29" fmla="*/ 85 h 85"/>
              <a:gd name="T30" fmla="*/ 7 w 56"/>
              <a:gd name="T31" fmla="*/ 79 h 85"/>
              <a:gd name="T32" fmla="*/ 28 w 56"/>
              <a:gd name="T33" fmla="*/ 79 h 85"/>
              <a:gd name="T34" fmla="*/ 49 w 56"/>
              <a:gd name="T35" fmla="*/ 79 h 85"/>
              <a:gd name="T36" fmla="*/ 49 w 56"/>
              <a:gd name="T37" fmla="*/ 85 h 85"/>
              <a:gd name="T38" fmla="*/ 56 w 56"/>
              <a:gd name="T39" fmla="*/ 85 h 85"/>
              <a:gd name="T40" fmla="*/ 56 w 56"/>
              <a:gd name="T41" fmla="*/ 78 h 85"/>
              <a:gd name="T42" fmla="*/ 48 w 56"/>
              <a:gd name="T43" fmla="*/ 57 h 85"/>
              <a:gd name="T44" fmla="*/ 34 w 56"/>
              <a:gd name="T45" fmla="*/ 43 h 85"/>
              <a:gd name="T46" fmla="*/ 48 w 56"/>
              <a:gd name="T47" fmla="*/ 28 h 85"/>
              <a:gd name="T48" fmla="*/ 56 w 56"/>
              <a:gd name="T49" fmla="*/ 7 h 85"/>
              <a:gd name="T50" fmla="*/ 49 w 56"/>
              <a:gd name="T51" fmla="*/ 72 h 85"/>
              <a:gd name="T52" fmla="*/ 28 w 56"/>
              <a:gd name="T53" fmla="*/ 72 h 85"/>
              <a:gd name="T54" fmla="*/ 7 w 56"/>
              <a:gd name="T55" fmla="*/ 72 h 85"/>
              <a:gd name="T56" fmla="*/ 11 w 56"/>
              <a:gd name="T57" fmla="*/ 64 h 85"/>
              <a:gd name="T58" fmla="*/ 28 w 56"/>
              <a:gd name="T59" fmla="*/ 64 h 85"/>
              <a:gd name="T60" fmla="*/ 45 w 56"/>
              <a:gd name="T61" fmla="*/ 64 h 85"/>
              <a:gd name="T62" fmla="*/ 49 w 56"/>
              <a:gd name="T63" fmla="*/ 72 h 85"/>
              <a:gd name="T64" fmla="*/ 37 w 56"/>
              <a:gd name="T65" fmla="*/ 56 h 85"/>
              <a:gd name="T66" fmla="*/ 28 w 56"/>
              <a:gd name="T67" fmla="*/ 56 h 85"/>
              <a:gd name="T68" fmla="*/ 19 w 56"/>
              <a:gd name="T69" fmla="*/ 56 h 85"/>
              <a:gd name="T70" fmla="*/ 28 w 56"/>
              <a:gd name="T71" fmla="*/ 47 h 85"/>
              <a:gd name="T72" fmla="*/ 37 w 56"/>
              <a:gd name="T73" fmla="*/ 56 h 85"/>
              <a:gd name="T74" fmla="*/ 28 w 56"/>
              <a:gd name="T75" fmla="*/ 38 h 85"/>
              <a:gd name="T76" fmla="*/ 19 w 56"/>
              <a:gd name="T77" fmla="*/ 29 h 85"/>
              <a:gd name="T78" fmla="*/ 28 w 56"/>
              <a:gd name="T79" fmla="*/ 29 h 85"/>
              <a:gd name="T80" fmla="*/ 37 w 56"/>
              <a:gd name="T81" fmla="*/ 29 h 85"/>
              <a:gd name="T82" fmla="*/ 28 w 56"/>
              <a:gd name="T83" fmla="*/ 38 h 85"/>
              <a:gd name="T84" fmla="*/ 28 w 56"/>
              <a:gd name="T85" fmla="*/ 21 h 85"/>
              <a:gd name="T86" fmla="*/ 11 w 56"/>
              <a:gd name="T87" fmla="*/ 21 h 85"/>
              <a:gd name="T88" fmla="*/ 7 w 56"/>
              <a:gd name="T89" fmla="*/ 13 h 85"/>
              <a:gd name="T90" fmla="*/ 28 w 56"/>
              <a:gd name="T91" fmla="*/ 13 h 85"/>
              <a:gd name="T92" fmla="*/ 49 w 56"/>
              <a:gd name="T93" fmla="*/ 13 h 85"/>
              <a:gd name="T94" fmla="*/ 45 w 56"/>
              <a:gd name="T95" fmla="*/ 21 h 85"/>
              <a:gd name="T96" fmla="*/ 28 w 56"/>
              <a:gd name="T97" fmla="*/ 2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6" h="85">
                <a:moveTo>
                  <a:pt x="56" y="7"/>
                </a:moveTo>
                <a:cubicBezTo>
                  <a:pt x="56" y="0"/>
                  <a:pt x="56" y="0"/>
                  <a:pt x="56" y="0"/>
                </a:cubicBezTo>
                <a:cubicBezTo>
                  <a:pt x="49" y="0"/>
                  <a:pt x="49" y="0"/>
                  <a:pt x="49" y="0"/>
                </a:cubicBezTo>
                <a:cubicBezTo>
                  <a:pt x="49" y="7"/>
                  <a:pt x="49" y="7"/>
                  <a:pt x="49" y="7"/>
                </a:cubicBezTo>
                <a:cubicBezTo>
                  <a:pt x="28" y="7"/>
                  <a:pt x="28" y="7"/>
                  <a:pt x="28" y="7"/>
                </a:cubicBezTo>
                <a:cubicBezTo>
                  <a:pt x="7" y="7"/>
                  <a:pt x="7" y="7"/>
                  <a:pt x="7" y="7"/>
                </a:cubicBezTo>
                <a:cubicBezTo>
                  <a:pt x="7" y="0"/>
                  <a:pt x="7" y="0"/>
                  <a:pt x="7" y="0"/>
                </a:cubicBezTo>
                <a:cubicBezTo>
                  <a:pt x="0" y="0"/>
                  <a:pt x="0" y="0"/>
                  <a:pt x="0" y="0"/>
                </a:cubicBezTo>
                <a:cubicBezTo>
                  <a:pt x="0" y="7"/>
                  <a:pt x="0" y="7"/>
                  <a:pt x="0" y="7"/>
                </a:cubicBezTo>
                <a:cubicBezTo>
                  <a:pt x="0" y="15"/>
                  <a:pt x="3" y="23"/>
                  <a:pt x="8" y="28"/>
                </a:cubicBezTo>
                <a:cubicBezTo>
                  <a:pt x="22" y="43"/>
                  <a:pt x="22" y="43"/>
                  <a:pt x="22" y="43"/>
                </a:cubicBezTo>
                <a:cubicBezTo>
                  <a:pt x="8" y="57"/>
                  <a:pt x="8" y="57"/>
                  <a:pt x="8" y="57"/>
                </a:cubicBezTo>
                <a:cubicBezTo>
                  <a:pt x="3" y="62"/>
                  <a:pt x="0" y="70"/>
                  <a:pt x="0" y="78"/>
                </a:cubicBezTo>
                <a:cubicBezTo>
                  <a:pt x="0" y="85"/>
                  <a:pt x="0" y="85"/>
                  <a:pt x="0" y="85"/>
                </a:cubicBezTo>
                <a:cubicBezTo>
                  <a:pt x="7" y="85"/>
                  <a:pt x="7" y="85"/>
                  <a:pt x="7" y="85"/>
                </a:cubicBezTo>
                <a:cubicBezTo>
                  <a:pt x="7" y="79"/>
                  <a:pt x="7" y="79"/>
                  <a:pt x="7" y="79"/>
                </a:cubicBezTo>
                <a:cubicBezTo>
                  <a:pt x="28" y="79"/>
                  <a:pt x="28" y="79"/>
                  <a:pt x="28" y="79"/>
                </a:cubicBezTo>
                <a:cubicBezTo>
                  <a:pt x="49" y="79"/>
                  <a:pt x="49" y="79"/>
                  <a:pt x="49" y="79"/>
                </a:cubicBezTo>
                <a:cubicBezTo>
                  <a:pt x="49" y="85"/>
                  <a:pt x="49" y="85"/>
                  <a:pt x="49" y="85"/>
                </a:cubicBezTo>
                <a:cubicBezTo>
                  <a:pt x="56" y="85"/>
                  <a:pt x="56" y="85"/>
                  <a:pt x="56" y="85"/>
                </a:cubicBezTo>
                <a:cubicBezTo>
                  <a:pt x="56" y="78"/>
                  <a:pt x="56" y="78"/>
                  <a:pt x="56" y="78"/>
                </a:cubicBezTo>
                <a:cubicBezTo>
                  <a:pt x="56" y="70"/>
                  <a:pt x="53" y="62"/>
                  <a:pt x="48" y="57"/>
                </a:cubicBezTo>
                <a:cubicBezTo>
                  <a:pt x="34" y="43"/>
                  <a:pt x="34" y="43"/>
                  <a:pt x="34" y="43"/>
                </a:cubicBezTo>
                <a:cubicBezTo>
                  <a:pt x="48" y="28"/>
                  <a:pt x="48" y="28"/>
                  <a:pt x="48" y="28"/>
                </a:cubicBezTo>
                <a:cubicBezTo>
                  <a:pt x="53" y="23"/>
                  <a:pt x="56" y="15"/>
                  <a:pt x="56" y="7"/>
                </a:cubicBezTo>
                <a:close/>
                <a:moveTo>
                  <a:pt x="49" y="72"/>
                </a:moveTo>
                <a:cubicBezTo>
                  <a:pt x="28" y="72"/>
                  <a:pt x="28" y="72"/>
                  <a:pt x="28" y="72"/>
                </a:cubicBezTo>
                <a:cubicBezTo>
                  <a:pt x="7" y="72"/>
                  <a:pt x="7" y="72"/>
                  <a:pt x="7" y="72"/>
                </a:cubicBezTo>
                <a:cubicBezTo>
                  <a:pt x="8" y="69"/>
                  <a:pt x="9" y="66"/>
                  <a:pt x="11" y="64"/>
                </a:cubicBezTo>
                <a:cubicBezTo>
                  <a:pt x="28" y="64"/>
                  <a:pt x="28" y="64"/>
                  <a:pt x="28" y="64"/>
                </a:cubicBezTo>
                <a:cubicBezTo>
                  <a:pt x="45" y="64"/>
                  <a:pt x="45" y="64"/>
                  <a:pt x="45" y="64"/>
                </a:cubicBezTo>
                <a:cubicBezTo>
                  <a:pt x="47" y="66"/>
                  <a:pt x="48" y="69"/>
                  <a:pt x="49" y="72"/>
                </a:cubicBezTo>
                <a:close/>
                <a:moveTo>
                  <a:pt x="37" y="56"/>
                </a:moveTo>
                <a:cubicBezTo>
                  <a:pt x="28" y="56"/>
                  <a:pt x="28" y="56"/>
                  <a:pt x="28" y="56"/>
                </a:cubicBezTo>
                <a:cubicBezTo>
                  <a:pt x="19" y="56"/>
                  <a:pt x="19" y="56"/>
                  <a:pt x="19" y="56"/>
                </a:cubicBezTo>
                <a:cubicBezTo>
                  <a:pt x="28" y="47"/>
                  <a:pt x="28" y="47"/>
                  <a:pt x="28" y="47"/>
                </a:cubicBezTo>
                <a:lnTo>
                  <a:pt x="37" y="56"/>
                </a:lnTo>
                <a:close/>
                <a:moveTo>
                  <a:pt x="28" y="38"/>
                </a:moveTo>
                <a:cubicBezTo>
                  <a:pt x="19" y="29"/>
                  <a:pt x="19" y="29"/>
                  <a:pt x="19" y="29"/>
                </a:cubicBezTo>
                <a:cubicBezTo>
                  <a:pt x="28" y="29"/>
                  <a:pt x="28" y="29"/>
                  <a:pt x="28" y="29"/>
                </a:cubicBezTo>
                <a:cubicBezTo>
                  <a:pt x="37" y="29"/>
                  <a:pt x="37" y="29"/>
                  <a:pt x="37" y="29"/>
                </a:cubicBezTo>
                <a:lnTo>
                  <a:pt x="28" y="38"/>
                </a:lnTo>
                <a:close/>
                <a:moveTo>
                  <a:pt x="28" y="21"/>
                </a:moveTo>
                <a:cubicBezTo>
                  <a:pt x="11" y="21"/>
                  <a:pt x="11" y="21"/>
                  <a:pt x="11" y="21"/>
                </a:cubicBezTo>
                <a:cubicBezTo>
                  <a:pt x="9" y="19"/>
                  <a:pt x="8" y="16"/>
                  <a:pt x="7" y="13"/>
                </a:cubicBezTo>
                <a:cubicBezTo>
                  <a:pt x="28" y="13"/>
                  <a:pt x="28" y="13"/>
                  <a:pt x="28" y="13"/>
                </a:cubicBezTo>
                <a:cubicBezTo>
                  <a:pt x="49" y="13"/>
                  <a:pt x="49" y="13"/>
                  <a:pt x="49" y="13"/>
                </a:cubicBezTo>
                <a:cubicBezTo>
                  <a:pt x="48" y="16"/>
                  <a:pt x="47" y="19"/>
                  <a:pt x="45" y="21"/>
                </a:cubicBezTo>
                <a:lnTo>
                  <a:pt x="28" y="21"/>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0" name="Freeform 765">
            <a:extLst>
              <a:ext uri="{FF2B5EF4-FFF2-40B4-BE49-F238E27FC236}">
                <a16:creationId xmlns:a16="http://schemas.microsoft.com/office/drawing/2014/main" id="{0E5AEC4C-EDA4-4EE9-A09F-ABA7EFD6D1E9}"/>
              </a:ext>
            </a:extLst>
          </p:cNvPr>
          <p:cNvSpPr>
            <a:spLocks noChangeAspect="1"/>
          </p:cNvSpPr>
          <p:nvPr/>
        </p:nvSpPr>
        <p:spPr bwMode="auto">
          <a:xfrm>
            <a:off x="1595829" y="1541591"/>
            <a:ext cx="399777" cy="274320"/>
          </a:xfrm>
          <a:custGeom>
            <a:avLst/>
            <a:gdLst>
              <a:gd name="T0" fmla="*/ 54 w 86"/>
              <a:gd name="T1" fmla="*/ 58 h 59"/>
              <a:gd name="T2" fmla="*/ 58 w 86"/>
              <a:gd name="T3" fmla="*/ 58 h 59"/>
              <a:gd name="T4" fmla="*/ 77 w 86"/>
              <a:gd name="T5" fmla="*/ 39 h 59"/>
              <a:gd name="T6" fmla="*/ 85 w 86"/>
              <a:gd name="T7" fmla="*/ 31 h 59"/>
              <a:gd name="T8" fmla="*/ 85 w 86"/>
              <a:gd name="T9" fmla="*/ 28 h 59"/>
              <a:gd name="T10" fmla="*/ 77 w 86"/>
              <a:gd name="T11" fmla="*/ 20 h 59"/>
              <a:gd name="T12" fmla="*/ 58 w 86"/>
              <a:gd name="T13" fmla="*/ 1 h 59"/>
              <a:gd name="T14" fmla="*/ 54 w 86"/>
              <a:gd name="T15" fmla="*/ 1 h 59"/>
              <a:gd name="T16" fmla="*/ 49 w 86"/>
              <a:gd name="T17" fmla="*/ 7 h 59"/>
              <a:gd name="T18" fmla="*/ 49 w 86"/>
              <a:gd name="T19" fmla="*/ 11 h 59"/>
              <a:gd name="T20" fmla="*/ 61 w 86"/>
              <a:gd name="T21" fmla="*/ 23 h 59"/>
              <a:gd name="T22" fmla="*/ 3 w 86"/>
              <a:gd name="T23" fmla="*/ 23 h 59"/>
              <a:gd name="T24" fmla="*/ 0 w 86"/>
              <a:gd name="T25" fmla="*/ 26 h 59"/>
              <a:gd name="T26" fmla="*/ 0 w 86"/>
              <a:gd name="T27" fmla="*/ 34 h 59"/>
              <a:gd name="T28" fmla="*/ 3 w 86"/>
              <a:gd name="T29" fmla="*/ 36 h 59"/>
              <a:gd name="T30" fmla="*/ 61 w 86"/>
              <a:gd name="T31" fmla="*/ 36 h 59"/>
              <a:gd name="T32" fmla="*/ 49 w 86"/>
              <a:gd name="T33" fmla="*/ 49 h 59"/>
              <a:gd name="T34" fmla="*/ 49 w 86"/>
              <a:gd name="T35" fmla="*/ 52 h 59"/>
              <a:gd name="T36" fmla="*/ 54 w 86"/>
              <a:gd name="T37" fmla="*/ 58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6" h="59">
                <a:moveTo>
                  <a:pt x="54" y="58"/>
                </a:moveTo>
                <a:cubicBezTo>
                  <a:pt x="55" y="59"/>
                  <a:pt x="57" y="59"/>
                  <a:pt x="58" y="58"/>
                </a:cubicBezTo>
                <a:cubicBezTo>
                  <a:pt x="77" y="39"/>
                  <a:pt x="77" y="39"/>
                  <a:pt x="77" y="39"/>
                </a:cubicBezTo>
                <a:cubicBezTo>
                  <a:pt x="85" y="31"/>
                  <a:pt x="85" y="31"/>
                  <a:pt x="85" y="31"/>
                </a:cubicBezTo>
                <a:cubicBezTo>
                  <a:pt x="86" y="30"/>
                  <a:pt x="86" y="29"/>
                  <a:pt x="85" y="28"/>
                </a:cubicBezTo>
                <a:cubicBezTo>
                  <a:pt x="77" y="20"/>
                  <a:pt x="77" y="20"/>
                  <a:pt x="77" y="20"/>
                </a:cubicBezTo>
                <a:cubicBezTo>
                  <a:pt x="58" y="1"/>
                  <a:pt x="58" y="1"/>
                  <a:pt x="58" y="1"/>
                </a:cubicBezTo>
                <a:cubicBezTo>
                  <a:pt x="57" y="0"/>
                  <a:pt x="55" y="0"/>
                  <a:pt x="54" y="1"/>
                </a:cubicBezTo>
                <a:cubicBezTo>
                  <a:pt x="49" y="7"/>
                  <a:pt x="49" y="7"/>
                  <a:pt x="49" y="7"/>
                </a:cubicBezTo>
                <a:cubicBezTo>
                  <a:pt x="48" y="8"/>
                  <a:pt x="48" y="10"/>
                  <a:pt x="49" y="11"/>
                </a:cubicBezTo>
                <a:cubicBezTo>
                  <a:pt x="61" y="23"/>
                  <a:pt x="61" y="23"/>
                  <a:pt x="61" y="23"/>
                </a:cubicBezTo>
                <a:cubicBezTo>
                  <a:pt x="3" y="23"/>
                  <a:pt x="3" y="23"/>
                  <a:pt x="3" y="23"/>
                </a:cubicBezTo>
                <a:cubicBezTo>
                  <a:pt x="2" y="23"/>
                  <a:pt x="0" y="24"/>
                  <a:pt x="0" y="26"/>
                </a:cubicBezTo>
                <a:cubicBezTo>
                  <a:pt x="0" y="34"/>
                  <a:pt x="0" y="34"/>
                  <a:pt x="0" y="34"/>
                </a:cubicBezTo>
                <a:cubicBezTo>
                  <a:pt x="0" y="35"/>
                  <a:pt x="2" y="36"/>
                  <a:pt x="3" y="36"/>
                </a:cubicBezTo>
                <a:cubicBezTo>
                  <a:pt x="61" y="36"/>
                  <a:pt x="61" y="36"/>
                  <a:pt x="61" y="36"/>
                </a:cubicBezTo>
                <a:cubicBezTo>
                  <a:pt x="49" y="49"/>
                  <a:pt x="49" y="49"/>
                  <a:pt x="49" y="49"/>
                </a:cubicBezTo>
                <a:cubicBezTo>
                  <a:pt x="48" y="50"/>
                  <a:pt x="48" y="51"/>
                  <a:pt x="49" y="52"/>
                </a:cubicBezTo>
                <a:lnTo>
                  <a:pt x="54" y="58"/>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61" name="Group 60">
            <a:extLst>
              <a:ext uri="{FF2B5EF4-FFF2-40B4-BE49-F238E27FC236}">
                <a16:creationId xmlns:a16="http://schemas.microsoft.com/office/drawing/2014/main" id="{020C8CED-AC7E-4C02-8B4E-59BCE5ABBB68}"/>
              </a:ext>
            </a:extLst>
          </p:cNvPr>
          <p:cNvGrpSpPr>
            <a:grpSpLocks noChangeAspect="1"/>
          </p:cNvGrpSpPr>
          <p:nvPr/>
        </p:nvGrpSpPr>
        <p:grpSpPr>
          <a:xfrm>
            <a:off x="2632292" y="1433971"/>
            <a:ext cx="190014" cy="274320"/>
            <a:chOff x="3222232" y="270019"/>
            <a:chExt cx="402492" cy="581072"/>
          </a:xfrm>
          <a:solidFill>
            <a:srgbClr val="595555"/>
          </a:solidFill>
        </p:grpSpPr>
        <p:sp>
          <p:nvSpPr>
            <p:cNvPr id="62" name="Freeform 766">
              <a:extLst>
                <a:ext uri="{FF2B5EF4-FFF2-40B4-BE49-F238E27FC236}">
                  <a16:creationId xmlns:a16="http://schemas.microsoft.com/office/drawing/2014/main" id="{BF94A609-BD6D-487B-B4CC-4C2791FEC925}"/>
                </a:ext>
              </a:extLst>
            </p:cNvPr>
            <p:cNvSpPr>
              <a:spLocks/>
            </p:cNvSpPr>
            <p:nvPr/>
          </p:nvSpPr>
          <p:spPr bwMode="auto">
            <a:xfrm>
              <a:off x="3222232" y="761801"/>
              <a:ext cx="395624" cy="89290"/>
            </a:xfrm>
            <a:custGeom>
              <a:avLst/>
              <a:gdLst>
                <a:gd name="T0" fmla="*/ 56 w 58"/>
                <a:gd name="T1" fmla="*/ 0 h 13"/>
                <a:gd name="T2" fmla="*/ 2 w 58"/>
                <a:gd name="T3" fmla="*/ 0 h 13"/>
                <a:gd name="T4" fmla="*/ 0 w 58"/>
                <a:gd name="T5" fmla="*/ 3 h 13"/>
                <a:gd name="T6" fmla="*/ 0 w 58"/>
                <a:gd name="T7" fmla="*/ 11 h 13"/>
                <a:gd name="T8" fmla="*/ 2 w 58"/>
                <a:gd name="T9" fmla="*/ 13 h 13"/>
                <a:gd name="T10" fmla="*/ 56 w 58"/>
                <a:gd name="T11" fmla="*/ 13 h 13"/>
                <a:gd name="T12" fmla="*/ 58 w 58"/>
                <a:gd name="T13" fmla="*/ 11 h 13"/>
                <a:gd name="T14" fmla="*/ 58 w 58"/>
                <a:gd name="T15" fmla="*/ 3 h 13"/>
                <a:gd name="T16" fmla="*/ 56 w 58"/>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13">
                  <a:moveTo>
                    <a:pt x="56" y="0"/>
                  </a:moveTo>
                  <a:cubicBezTo>
                    <a:pt x="2" y="0"/>
                    <a:pt x="2" y="0"/>
                    <a:pt x="2" y="0"/>
                  </a:cubicBezTo>
                  <a:cubicBezTo>
                    <a:pt x="1" y="0"/>
                    <a:pt x="0" y="1"/>
                    <a:pt x="0" y="3"/>
                  </a:cubicBezTo>
                  <a:cubicBezTo>
                    <a:pt x="0" y="11"/>
                    <a:pt x="0" y="11"/>
                    <a:pt x="0" y="11"/>
                  </a:cubicBezTo>
                  <a:cubicBezTo>
                    <a:pt x="0" y="12"/>
                    <a:pt x="1" y="13"/>
                    <a:pt x="2" y="13"/>
                  </a:cubicBezTo>
                  <a:cubicBezTo>
                    <a:pt x="56" y="13"/>
                    <a:pt x="56" y="13"/>
                    <a:pt x="56" y="13"/>
                  </a:cubicBezTo>
                  <a:cubicBezTo>
                    <a:pt x="57" y="13"/>
                    <a:pt x="58" y="12"/>
                    <a:pt x="58" y="11"/>
                  </a:cubicBezTo>
                  <a:cubicBezTo>
                    <a:pt x="58" y="3"/>
                    <a:pt x="58" y="3"/>
                    <a:pt x="58" y="3"/>
                  </a:cubicBezTo>
                  <a:cubicBezTo>
                    <a:pt x="58" y="1"/>
                    <a:pt x="57" y="0"/>
                    <a:pt x="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767">
              <a:extLst>
                <a:ext uri="{FF2B5EF4-FFF2-40B4-BE49-F238E27FC236}">
                  <a16:creationId xmlns:a16="http://schemas.microsoft.com/office/drawing/2014/main" id="{BF614715-D2D8-432C-BE11-AEED1DCCE31F}"/>
                </a:ext>
              </a:extLst>
            </p:cNvPr>
            <p:cNvSpPr>
              <a:spLocks/>
            </p:cNvSpPr>
            <p:nvPr/>
          </p:nvSpPr>
          <p:spPr bwMode="auto">
            <a:xfrm>
              <a:off x="3222232" y="270019"/>
              <a:ext cx="402492" cy="457440"/>
            </a:xfrm>
            <a:custGeom>
              <a:avLst/>
              <a:gdLst>
                <a:gd name="T0" fmla="*/ 20 w 59"/>
                <a:gd name="T1" fmla="*/ 58 h 67"/>
                <a:gd name="T2" fmla="*/ 27 w 59"/>
                <a:gd name="T3" fmla="*/ 66 h 67"/>
                <a:gd name="T4" fmla="*/ 31 w 59"/>
                <a:gd name="T5" fmla="*/ 66 h 67"/>
                <a:gd name="T6" fmla="*/ 39 w 59"/>
                <a:gd name="T7" fmla="*/ 58 h 67"/>
                <a:gd name="T8" fmla="*/ 58 w 59"/>
                <a:gd name="T9" fmla="*/ 39 h 67"/>
                <a:gd name="T10" fmla="*/ 58 w 59"/>
                <a:gd name="T11" fmla="*/ 35 h 67"/>
                <a:gd name="T12" fmla="*/ 52 w 59"/>
                <a:gd name="T13" fmla="*/ 30 h 67"/>
                <a:gd name="T14" fmla="*/ 48 w 59"/>
                <a:gd name="T15" fmla="*/ 30 h 67"/>
                <a:gd name="T16" fmla="*/ 36 w 59"/>
                <a:gd name="T17" fmla="*/ 42 h 67"/>
                <a:gd name="T18" fmla="*/ 36 w 59"/>
                <a:gd name="T19" fmla="*/ 3 h 67"/>
                <a:gd name="T20" fmla="*/ 33 w 59"/>
                <a:gd name="T21" fmla="*/ 0 h 67"/>
                <a:gd name="T22" fmla="*/ 25 w 59"/>
                <a:gd name="T23" fmla="*/ 0 h 67"/>
                <a:gd name="T24" fmla="*/ 22 w 59"/>
                <a:gd name="T25" fmla="*/ 3 h 67"/>
                <a:gd name="T26" fmla="*/ 22 w 59"/>
                <a:gd name="T27" fmla="*/ 42 h 67"/>
                <a:gd name="T28" fmla="*/ 10 w 59"/>
                <a:gd name="T29" fmla="*/ 30 h 67"/>
                <a:gd name="T30" fmla="*/ 6 w 59"/>
                <a:gd name="T31" fmla="*/ 30 h 67"/>
                <a:gd name="T32" fmla="*/ 1 w 59"/>
                <a:gd name="T33" fmla="*/ 35 h 67"/>
                <a:gd name="T34" fmla="*/ 1 w 59"/>
                <a:gd name="T35" fmla="*/ 39 h 67"/>
                <a:gd name="T36" fmla="*/ 20 w 59"/>
                <a:gd name="T37" fmla="*/ 5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67">
                  <a:moveTo>
                    <a:pt x="20" y="58"/>
                  </a:moveTo>
                  <a:cubicBezTo>
                    <a:pt x="27" y="66"/>
                    <a:pt x="27" y="66"/>
                    <a:pt x="27" y="66"/>
                  </a:cubicBezTo>
                  <a:cubicBezTo>
                    <a:pt x="28" y="67"/>
                    <a:pt x="30" y="67"/>
                    <a:pt x="31" y="66"/>
                  </a:cubicBezTo>
                  <a:cubicBezTo>
                    <a:pt x="39" y="58"/>
                    <a:pt x="39" y="58"/>
                    <a:pt x="39" y="58"/>
                  </a:cubicBezTo>
                  <a:cubicBezTo>
                    <a:pt x="58" y="39"/>
                    <a:pt x="58" y="39"/>
                    <a:pt x="58" y="39"/>
                  </a:cubicBezTo>
                  <a:cubicBezTo>
                    <a:pt x="59" y="38"/>
                    <a:pt x="59" y="36"/>
                    <a:pt x="58" y="35"/>
                  </a:cubicBezTo>
                  <a:cubicBezTo>
                    <a:pt x="52" y="30"/>
                    <a:pt x="52" y="30"/>
                    <a:pt x="52" y="30"/>
                  </a:cubicBezTo>
                  <a:cubicBezTo>
                    <a:pt x="51" y="28"/>
                    <a:pt x="49" y="28"/>
                    <a:pt x="48" y="30"/>
                  </a:cubicBezTo>
                  <a:cubicBezTo>
                    <a:pt x="36" y="42"/>
                    <a:pt x="36" y="42"/>
                    <a:pt x="36" y="42"/>
                  </a:cubicBezTo>
                  <a:cubicBezTo>
                    <a:pt x="36" y="3"/>
                    <a:pt x="36" y="3"/>
                    <a:pt x="36" y="3"/>
                  </a:cubicBezTo>
                  <a:cubicBezTo>
                    <a:pt x="36" y="1"/>
                    <a:pt x="35" y="0"/>
                    <a:pt x="33" y="0"/>
                  </a:cubicBezTo>
                  <a:cubicBezTo>
                    <a:pt x="25" y="0"/>
                    <a:pt x="25" y="0"/>
                    <a:pt x="25" y="0"/>
                  </a:cubicBezTo>
                  <a:cubicBezTo>
                    <a:pt x="24" y="0"/>
                    <a:pt x="22" y="1"/>
                    <a:pt x="22" y="3"/>
                  </a:cubicBezTo>
                  <a:cubicBezTo>
                    <a:pt x="22" y="42"/>
                    <a:pt x="22" y="42"/>
                    <a:pt x="22" y="42"/>
                  </a:cubicBezTo>
                  <a:cubicBezTo>
                    <a:pt x="10" y="30"/>
                    <a:pt x="10" y="30"/>
                    <a:pt x="10" y="30"/>
                  </a:cubicBezTo>
                  <a:cubicBezTo>
                    <a:pt x="9" y="28"/>
                    <a:pt x="7" y="28"/>
                    <a:pt x="6" y="30"/>
                  </a:cubicBezTo>
                  <a:cubicBezTo>
                    <a:pt x="1" y="35"/>
                    <a:pt x="1" y="35"/>
                    <a:pt x="1" y="35"/>
                  </a:cubicBezTo>
                  <a:cubicBezTo>
                    <a:pt x="0" y="36"/>
                    <a:pt x="0" y="38"/>
                    <a:pt x="1" y="39"/>
                  </a:cubicBezTo>
                  <a:lnTo>
                    <a:pt x="2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4" name="Freeform 768">
            <a:extLst>
              <a:ext uri="{FF2B5EF4-FFF2-40B4-BE49-F238E27FC236}">
                <a16:creationId xmlns:a16="http://schemas.microsoft.com/office/drawing/2014/main" id="{205ED348-421D-4E96-9DED-80ED731115F2}"/>
              </a:ext>
            </a:extLst>
          </p:cNvPr>
          <p:cNvSpPr>
            <a:spLocks noChangeAspect="1"/>
          </p:cNvSpPr>
          <p:nvPr/>
        </p:nvSpPr>
        <p:spPr bwMode="auto">
          <a:xfrm>
            <a:off x="3480006" y="1450528"/>
            <a:ext cx="260025" cy="274320"/>
          </a:xfrm>
          <a:custGeom>
            <a:avLst/>
            <a:gdLst>
              <a:gd name="T0" fmla="*/ 51 w 77"/>
              <a:gd name="T1" fmla="*/ 24 h 81"/>
              <a:gd name="T2" fmla="*/ 47 w 77"/>
              <a:gd name="T3" fmla="*/ 23 h 81"/>
              <a:gd name="T4" fmla="*/ 24 w 77"/>
              <a:gd name="T5" fmla="*/ 23 h 81"/>
              <a:gd name="T6" fmla="*/ 37 w 77"/>
              <a:gd name="T7" fmla="*/ 10 h 81"/>
              <a:gd name="T8" fmla="*/ 37 w 77"/>
              <a:gd name="T9" fmla="*/ 7 h 81"/>
              <a:gd name="T10" fmla="*/ 31 w 77"/>
              <a:gd name="T11" fmla="*/ 1 h 81"/>
              <a:gd name="T12" fmla="*/ 27 w 77"/>
              <a:gd name="T13" fmla="*/ 1 h 81"/>
              <a:gd name="T14" fmla="*/ 9 w 77"/>
              <a:gd name="T15" fmla="*/ 20 h 81"/>
              <a:gd name="T16" fmla="*/ 1 w 77"/>
              <a:gd name="T17" fmla="*/ 27 h 81"/>
              <a:gd name="T18" fmla="*/ 1 w 77"/>
              <a:gd name="T19" fmla="*/ 31 h 81"/>
              <a:gd name="T20" fmla="*/ 9 w 77"/>
              <a:gd name="T21" fmla="*/ 38 h 81"/>
              <a:gd name="T22" fmla="*/ 27 w 77"/>
              <a:gd name="T23" fmla="*/ 56 h 81"/>
              <a:gd name="T24" fmla="*/ 31 w 77"/>
              <a:gd name="T25" fmla="*/ 56 h 81"/>
              <a:gd name="T26" fmla="*/ 37 w 77"/>
              <a:gd name="T27" fmla="*/ 51 h 81"/>
              <a:gd name="T28" fmla="*/ 37 w 77"/>
              <a:gd name="T29" fmla="*/ 47 h 81"/>
              <a:gd name="T30" fmla="*/ 24 w 77"/>
              <a:gd name="T31" fmla="*/ 35 h 81"/>
              <a:gd name="T32" fmla="*/ 46 w 77"/>
              <a:gd name="T33" fmla="*/ 35 h 81"/>
              <a:gd name="T34" fmla="*/ 64 w 77"/>
              <a:gd name="T35" fmla="*/ 50 h 81"/>
              <a:gd name="T36" fmla="*/ 63 w 77"/>
              <a:gd name="T37" fmla="*/ 56 h 81"/>
              <a:gd name="T38" fmla="*/ 62 w 77"/>
              <a:gd name="T39" fmla="*/ 60 h 81"/>
              <a:gd name="T40" fmla="*/ 59 w 77"/>
              <a:gd name="T41" fmla="*/ 64 h 81"/>
              <a:gd name="T42" fmla="*/ 53 w 77"/>
              <a:gd name="T43" fmla="*/ 67 h 81"/>
              <a:gd name="T44" fmla="*/ 48 w 77"/>
              <a:gd name="T45" fmla="*/ 67 h 81"/>
              <a:gd name="T46" fmla="*/ 44 w 77"/>
              <a:gd name="T47" fmla="*/ 67 h 81"/>
              <a:gd name="T48" fmla="*/ 40 w 77"/>
              <a:gd name="T49" fmla="*/ 67 h 81"/>
              <a:gd name="T50" fmla="*/ 40 w 77"/>
              <a:gd name="T51" fmla="*/ 67 h 81"/>
              <a:gd name="T52" fmla="*/ 26 w 77"/>
              <a:gd name="T53" fmla="*/ 67 h 81"/>
              <a:gd name="T54" fmla="*/ 17 w 77"/>
              <a:gd name="T55" fmla="*/ 67 h 81"/>
              <a:gd name="T56" fmla="*/ 14 w 77"/>
              <a:gd name="T57" fmla="*/ 70 h 81"/>
              <a:gd name="T58" fmla="*/ 14 w 77"/>
              <a:gd name="T59" fmla="*/ 78 h 81"/>
              <a:gd name="T60" fmla="*/ 17 w 77"/>
              <a:gd name="T61" fmla="*/ 81 h 81"/>
              <a:gd name="T62" fmla="*/ 26 w 77"/>
              <a:gd name="T63" fmla="*/ 81 h 81"/>
              <a:gd name="T64" fmla="*/ 26 w 77"/>
              <a:gd name="T65" fmla="*/ 81 h 81"/>
              <a:gd name="T66" fmla="*/ 26 w 77"/>
              <a:gd name="T67" fmla="*/ 81 h 81"/>
              <a:gd name="T68" fmla="*/ 48 w 77"/>
              <a:gd name="T69" fmla="*/ 80 h 81"/>
              <a:gd name="T70" fmla="*/ 77 w 77"/>
              <a:gd name="T71" fmla="*/ 52 h 81"/>
              <a:gd name="T72" fmla="*/ 51 w 77"/>
              <a:gd name="T73" fmla="*/ 2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 h="81">
                <a:moveTo>
                  <a:pt x="51" y="24"/>
                </a:moveTo>
                <a:cubicBezTo>
                  <a:pt x="47" y="23"/>
                  <a:pt x="47" y="23"/>
                  <a:pt x="47" y="23"/>
                </a:cubicBezTo>
                <a:cubicBezTo>
                  <a:pt x="24" y="23"/>
                  <a:pt x="24" y="23"/>
                  <a:pt x="24" y="23"/>
                </a:cubicBezTo>
                <a:cubicBezTo>
                  <a:pt x="37" y="10"/>
                  <a:pt x="37" y="10"/>
                  <a:pt x="37" y="10"/>
                </a:cubicBezTo>
                <a:cubicBezTo>
                  <a:pt x="38" y="9"/>
                  <a:pt x="38" y="8"/>
                  <a:pt x="37" y="7"/>
                </a:cubicBezTo>
                <a:cubicBezTo>
                  <a:pt x="31" y="1"/>
                  <a:pt x="31" y="1"/>
                  <a:pt x="31" y="1"/>
                </a:cubicBezTo>
                <a:cubicBezTo>
                  <a:pt x="30" y="0"/>
                  <a:pt x="28" y="0"/>
                  <a:pt x="27" y="1"/>
                </a:cubicBezTo>
                <a:cubicBezTo>
                  <a:pt x="9" y="20"/>
                  <a:pt x="9" y="20"/>
                  <a:pt x="9" y="20"/>
                </a:cubicBezTo>
                <a:cubicBezTo>
                  <a:pt x="1" y="27"/>
                  <a:pt x="1" y="27"/>
                  <a:pt x="1" y="27"/>
                </a:cubicBezTo>
                <a:cubicBezTo>
                  <a:pt x="0" y="28"/>
                  <a:pt x="0" y="30"/>
                  <a:pt x="1" y="31"/>
                </a:cubicBezTo>
                <a:cubicBezTo>
                  <a:pt x="9" y="38"/>
                  <a:pt x="9" y="38"/>
                  <a:pt x="9" y="38"/>
                </a:cubicBezTo>
                <a:cubicBezTo>
                  <a:pt x="27" y="56"/>
                  <a:pt x="27" y="56"/>
                  <a:pt x="27" y="56"/>
                </a:cubicBezTo>
                <a:cubicBezTo>
                  <a:pt x="28" y="58"/>
                  <a:pt x="30" y="58"/>
                  <a:pt x="31" y="56"/>
                </a:cubicBezTo>
                <a:cubicBezTo>
                  <a:pt x="37" y="51"/>
                  <a:pt x="37" y="51"/>
                  <a:pt x="37" y="51"/>
                </a:cubicBezTo>
                <a:cubicBezTo>
                  <a:pt x="38" y="50"/>
                  <a:pt x="38" y="48"/>
                  <a:pt x="37" y="47"/>
                </a:cubicBezTo>
                <a:cubicBezTo>
                  <a:pt x="24" y="35"/>
                  <a:pt x="24" y="35"/>
                  <a:pt x="24" y="35"/>
                </a:cubicBezTo>
                <a:cubicBezTo>
                  <a:pt x="46" y="35"/>
                  <a:pt x="46" y="35"/>
                  <a:pt x="46" y="35"/>
                </a:cubicBezTo>
                <a:cubicBezTo>
                  <a:pt x="55" y="35"/>
                  <a:pt x="63" y="42"/>
                  <a:pt x="64" y="50"/>
                </a:cubicBezTo>
                <a:cubicBezTo>
                  <a:pt x="64" y="52"/>
                  <a:pt x="64" y="54"/>
                  <a:pt x="63" y="56"/>
                </a:cubicBezTo>
                <a:cubicBezTo>
                  <a:pt x="63" y="57"/>
                  <a:pt x="63" y="59"/>
                  <a:pt x="62" y="60"/>
                </a:cubicBezTo>
                <a:cubicBezTo>
                  <a:pt x="61" y="62"/>
                  <a:pt x="60" y="63"/>
                  <a:pt x="59" y="64"/>
                </a:cubicBezTo>
                <a:cubicBezTo>
                  <a:pt x="58" y="65"/>
                  <a:pt x="56" y="66"/>
                  <a:pt x="53" y="67"/>
                </a:cubicBezTo>
                <a:cubicBezTo>
                  <a:pt x="52" y="67"/>
                  <a:pt x="50" y="67"/>
                  <a:pt x="48" y="67"/>
                </a:cubicBezTo>
                <a:cubicBezTo>
                  <a:pt x="47" y="67"/>
                  <a:pt x="45" y="67"/>
                  <a:pt x="44" y="67"/>
                </a:cubicBezTo>
                <a:cubicBezTo>
                  <a:pt x="43" y="67"/>
                  <a:pt x="42" y="67"/>
                  <a:pt x="40" y="67"/>
                </a:cubicBezTo>
                <a:cubicBezTo>
                  <a:pt x="40" y="67"/>
                  <a:pt x="40" y="67"/>
                  <a:pt x="40" y="67"/>
                </a:cubicBezTo>
                <a:cubicBezTo>
                  <a:pt x="26" y="67"/>
                  <a:pt x="26" y="67"/>
                  <a:pt x="26" y="67"/>
                </a:cubicBezTo>
                <a:cubicBezTo>
                  <a:pt x="17" y="67"/>
                  <a:pt x="17" y="67"/>
                  <a:pt x="17" y="67"/>
                </a:cubicBezTo>
                <a:cubicBezTo>
                  <a:pt x="15" y="67"/>
                  <a:pt x="14" y="68"/>
                  <a:pt x="14" y="70"/>
                </a:cubicBezTo>
                <a:cubicBezTo>
                  <a:pt x="14" y="78"/>
                  <a:pt x="14" y="78"/>
                  <a:pt x="14" y="78"/>
                </a:cubicBezTo>
                <a:cubicBezTo>
                  <a:pt x="14" y="79"/>
                  <a:pt x="15" y="81"/>
                  <a:pt x="17" y="81"/>
                </a:cubicBezTo>
                <a:cubicBezTo>
                  <a:pt x="26" y="81"/>
                  <a:pt x="26" y="81"/>
                  <a:pt x="26" y="81"/>
                </a:cubicBezTo>
                <a:cubicBezTo>
                  <a:pt x="26" y="81"/>
                  <a:pt x="26" y="81"/>
                  <a:pt x="26" y="81"/>
                </a:cubicBezTo>
                <a:cubicBezTo>
                  <a:pt x="26" y="81"/>
                  <a:pt x="26" y="81"/>
                  <a:pt x="26" y="81"/>
                </a:cubicBezTo>
                <a:cubicBezTo>
                  <a:pt x="48" y="80"/>
                  <a:pt x="48" y="80"/>
                  <a:pt x="48" y="80"/>
                </a:cubicBezTo>
                <a:cubicBezTo>
                  <a:pt x="70" y="80"/>
                  <a:pt x="77" y="67"/>
                  <a:pt x="77" y="52"/>
                </a:cubicBezTo>
                <a:cubicBezTo>
                  <a:pt x="77" y="37"/>
                  <a:pt x="66" y="25"/>
                  <a:pt x="51" y="24"/>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5" name="Freeform 769">
            <a:extLst>
              <a:ext uri="{FF2B5EF4-FFF2-40B4-BE49-F238E27FC236}">
                <a16:creationId xmlns:a16="http://schemas.microsoft.com/office/drawing/2014/main" id="{65C5E5EE-C5C6-48FD-9C95-BB3436647129}"/>
              </a:ext>
            </a:extLst>
          </p:cNvPr>
          <p:cNvSpPr>
            <a:spLocks noChangeAspect="1"/>
          </p:cNvSpPr>
          <p:nvPr/>
        </p:nvSpPr>
        <p:spPr bwMode="auto">
          <a:xfrm>
            <a:off x="4384013" y="1458806"/>
            <a:ext cx="285063" cy="274320"/>
          </a:xfrm>
          <a:custGeom>
            <a:avLst/>
            <a:gdLst>
              <a:gd name="T0" fmla="*/ 80 w 80"/>
              <a:gd name="T1" fmla="*/ 30 h 77"/>
              <a:gd name="T2" fmla="*/ 70 w 80"/>
              <a:gd name="T3" fmla="*/ 10 h 77"/>
              <a:gd name="T4" fmla="*/ 66 w 80"/>
              <a:gd name="T5" fmla="*/ 2 h 77"/>
              <a:gd name="T6" fmla="*/ 63 w 80"/>
              <a:gd name="T7" fmla="*/ 1 h 77"/>
              <a:gd name="T8" fmla="*/ 55 w 80"/>
              <a:gd name="T9" fmla="*/ 5 h 77"/>
              <a:gd name="T10" fmla="*/ 36 w 80"/>
              <a:gd name="T11" fmla="*/ 15 h 77"/>
              <a:gd name="T12" fmla="*/ 35 w 80"/>
              <a:gd name="T13" fmla="*/ 18 h 77"/>
              <a:gd name="T14" fmla="*/ 38 w 80"/>
              <a:gd name="T15" fmla="*/ 24 h 77"/>
              <a:gd name="T16" fmla="*/ 41 w 80"/>
              <a:gd name="T17" fmla="*/ 25 h 77"/>
              <a:gd name="T18" fmla="*/ 55 w 80"/>
              <a:gd name="T19" fmla="*/ 17 h 77"/>
              <a:gd name="T20" fmla="*/ 43 w 80"/>
              <a:gd name="T21" fmla="*/ 48 h 77"/>
              <a:gd name="T22" fmla="*/ 16 w 80"/>
              <a:gd name="T23" fmla="*/ 22 h 77"/>
              <a:gd name="T24" fmla="*/ 11 w 80"/>
              <a:gd name="T25" fmla="*/ 66 h 77"/>
              <a:gd name="T26" fmla="*/ 0 w 80"/>
              <a:gd name="T27" fmla="*/ 66 h 77"/>
              <a:gd name="T28" fmla="*/ 0 w 80"/>
              <a:gd name="T29" fmla="*/ 77 h 77"/>
              <a:gd name="T30" fmla="*/ 20 w 80"/>
              <a:gd name="T31" fmla="*/ 77 h 77"/>
              <a:gd name="T32" fmla="*/ 23 w 80"/>
              <a:gd name="T33" fmla="*/ 45 h 77"/>
              <a:gd name="T34" fmla="*/ 47 w 80"/>
              <a:gd name="T35" fmla="*/ 67 h 77"/>
              <a:gd name="T36" fmla="*/ 64 w 80"/>
              <a:gd name="T37" fmla="*/ 21 h 77"/>
              <a:gd name="T38" fmla="*/ 70 w 80"/>
              <a:gd name="T39" fmla="*/ 35 h 77"/>
              <a:gd name="T40" fmla="*/ 73 w 80"/>
              <a:gd name="T41" fmla="*/ 36 h 77"/>
              <a:gd name="T42" fmla="*/ 79 w 80"/>
              <a:gd name="T43" fmla="*/ 33 h 77"/>
              <a:gd name="T44" fmla="*/ 80 w 80"/>
              <a:gd name="T45" fmla="*/ 3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 h="77">
                <a:moveTo>
                  <a:pt x="80" y="30"/>
                </a:moveTo>
                <a:cubicBezTo>
                  <a:pt x="70" y="10"/>
                  <a:pt x="70" y="10"/>
                  <a:pt x="70" y="10"/>
                </a:cubicBezTo>
                <a:cubicBezTo>
                  <a:pt x="66" y="2"/>
                  <a:pt x="66" y="2"/>
                  <a:pt x="66" y="2"/>
                </a:cubicBezTo>
                <a:cubicBezTo>
                  <a:pt x="66" y="1"/>
                  <a:pt x="64" y="0"/>
                  <a:pt x="63" y="1"/>
                </a:cubicBezTo>
                <a:cubicBezTo>
                  <a:pt x="55" y="5"/>
                  <a:pt x="55" y="5"/>
                  <a:pt x="55" y="5"/>
                </a:cubicBezTo>
                <a:cubicBezTo>
                  <a:pt x="36" y="15"/>
                  <a:pt x="36" y="15"/>
                  <a:pt x="36" y="15"/>
                </a:cubicBezTo>
                <a:cubicBezTo>
                  <a:pt x="35" y="15"/>
                  <a:pt x="34" y="17"/>
                  <a:pt x="35" y="18"/>
                </a:cubicBezTo>
                <a:cubicBezTo>
                  <a:pt x="38" y="24"/>
                  <a:pt x="38" y="24"/>
                  <a:pt x="38" y="24"/>
                </a:cubicBezTo>
                <a:cubicBezTo>
                  <a:pt x="38" y="25"/>
                  <a:pt x="40" y="25"/>
                  <a:pt x="41" y="25"/>
                </a:cubicBezTo>
                <a:cubicBezTo>
                  <a:pt x="55" y="17"/>
                  <a:pt x="55" y="17"/>
                  <a:pt x="55" y="17"/>
                </a:cubicBezTo>
                <a:cubicBezTo>
                  <a:pt x="43" y="48"/>
                  <a:pt x="43" y="48"/>
                  <a:pt x="43" y="48"/>
                </a:cubicBezTo>
                <a:cubicBezTo>
                  <a:pt x="16" y="22"/>
                  <a:pt x="16" y="22"/>
                  <a:pt x="16" y="22"/>
                </a:cubicBezTo>
                <a:cubicBezTo>
                  <a:pt x="11" y="66"/>
                  <a:pt x="11" y="66"/>
                  <a:pt x="11" y="66"/>
                </a:cubicBezTo>
                <a:cubicBezTo>
                  <a:pt x="0" y="66"/>
                  <a:pt x="0" y="66"/>
                  <a:pt x="0" y="66"/>
                </a:cubicBezTo>
                <a:cubicBezTo>
                  <a:pt x="0" y="77"/>
                  <a:pt x="0" y="77"/>
                  <a:pt x="0" y="77"/>
                </a:cubicBezTo>
                <a:cubicBezTo>
                  <a:pt x="20" y="77"/>
                  <a:pt x="20" y="77"/>
                  <a:pt x="20" y="77"/>
                </a:cubicBezTo>
                <a:cubicBezTo>
                  <a:pt x="23" y="45"/>
                  <a:pt x="23" y="45"/>
                  <a:pt x="23" y="45"/>
                </a:cubicBezTo>
                <a:cubicBezTo>
                  <a:pt x="47" y="67"/>
                  <a:pt x="47" y="67"/>
                  <a:pt x="47" y="67"/>
                </a:cubicBezTo>
                <a:cubicBezTo>
                  <a:pt x="64" y="21"/>
                  <a:pt x="64" y="21"/>
                  <a:pt x="64" y="21"/>
                </a:cubicBezTo>
                <a:cubicBezTo>
                  <a:pt x="70" y="35"/>
                  <a:pt x="70" y="35"/>
                  <a:pt x="70" y="35"/>
                </a:cubicBezTo>
                <a:cubicBezTo>
                  <a:pt x="71" y="36"/>
                  <a:pt x="72" y="37"/>
                  <a:pt x="73" y="36"/>
                </a:cubicBezTo>
                <a:cubicBezTo>
                  <a:pt x="79" y="33"/>
                  <a:pt x="79" y="33"/>
                  <a:pt x="79" y="33"/>
                </a:cubicBezTo>
                <a:cubicBezTo>
                  <a:pt x="80" y="32"/>
                  <a:pt x="80" y="31"/>
                  <a:pt x="80" y="3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66" name="Group 65">
            <a:extLst>
              <a:ext uri="{FF2B5EF4-FFF2-40B4-BE49-F238E27FC236}">
                <a16:creationId xmlns:a16="http://schemas.microsoft.com/office/drawing/2014/main" id="{6659E3BB-4837-45E1-957A-1B6595E4579E}"/>
              </a:ext>
            </a:extLst>
          </p:cNvPr>
          <p:cNvGrpSpPr>
            <a:grpSpLocks noChangeAspect="1"/>
          </p:cNvGrpSpPr>
          <p:nvPr/>
        </p:nvGrpSpPr>
        <p:grpSpPr>
          <a:xfrm>
            <a:off x="5281400" y="1433971"/>
            <a:ext cx="276915" cy="274320"/>
            <a:chOff x="5420143" y="270019"/>
            <a:chExt cx="586567" cy="581073"/>
          </a:xfrm>
          <a:solidFill>
            <a:srgbClr val="595555"/>
          </a:solidFill>
        </p:grpSpPr>
        <p:sp>
          <p:nvSpPr>
            <p:cNvPr id="67" name="Freeform 770">
              <a:extLst>
                <a:ext uri="{FF2B5EF4-FFF2-40B4-BE49-F238E27FC236}">
                  <a16:creationId xmlns:a16="http://schemas.microsoft.com/office/drawing/2014/main" id="{1A5C5259-DBA6-4295-9D50-E5CBB6B187CE}"/>
                </a:ext>
              </a:extLst>
            </p:cNvPr>
            <p:cNvSpPr>
              <a:spLocks noEditPoints="1"/>
            </p:cNvSpPr>
            <p:nvPr/>
          </p:nvSpPr>
          <p:spPr bwMode="auto">
            <a:xfrm>
              <a:off x="5420143" y="270019"/>
              <a:ext cx="586567" cy="581073"/>
            </a:xfrm>
            <a:custGeom>
              <a:avLst/>
              <a:gdLst>
                <a:gd name="T0" fmla="*/ 43 w 86"/>
                <a:gd name="T1" fmla="*/ 0 h 85"/>
                <a:gd name="T2" fmla="*/ 0 w 86"/>
                <a:gd name="T3" fmla="*/ 43 h 85"/>
                <a:gd name="T4" fmla="*/ 43 w 86"/>
                <a:gd name="T5" fmla="*/ 85 h 85"/>
                <a:gd name="T6" fmla="*/ 86 w 86"/>
                <a:gd name="T7" fmla="*/ 43 h 85"/>
                <a:gd name="T8" fmla="*/ 43 w 86"/>
                <a:gd name="T9" fmla="*/ 0 h 85"/>
                <a:gd name="T10" fmla="*/ 43 w 86"/>
                <a:gd name="T11" fmla="*/ 77 h 85"/>
                <a:gd name="T12" fmla="*/ 9 w 86"/>
                <a:gd name="T13" fmla="*/ 43 h 85"/>
                <a:gd name="T14" fmla="*/ 43 w 86"/>
                <a:gd name="T15" fmla="*/ 9 h 85"/>
                <a:gd name="T16" fmla="*/ 77 w 86"/>
                <a:gd name="T17" fmla="*/ 43 h 85"/>
                <a:gd name="T18" fmla="*/ 43 w 86"/>
                <a:gd name="T19" fmla="*/ 7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 h="85">
                  <a:moveTo>
                    <a:pt x="43" y="0"/>
                  </a:moveTo>
                  <a:cubicBezTo>
                    <a:pt x="20" y="0"/>
                    <a:pt x="0" y="19"/>
                    <a:pt x="0" y="43"/>
                  </a:cubicBezTo>
                  <a:cubicBezTo>
                    <a:pt x="0" y="66"/>
                    <a:pt x="20" y="85"/>
                    <a:pt x="43" y="85"/>
                  </a:cubicBezTo>
                  <a:cubicBezTo>
                    <a:pt x="67" y="85"/>
                    <a:pt x="86" y="66"/>
                    <a:pt x="86" y="43"/>
                  </a:cubicBezTo>
                  <a:cubicBezTo>
                    <a:pt x="86" y="19"/>
                    <a:pt x="67" y="0"/>
                    <a:pt x="43" y="0"/>
                  </a:cubicBezTo>
                  <a:close/>
                  <a:moveTo>
                    <a:pt x="43" y="77"/>
                  </a:moveTo>
                  <a:cubicBezTo>
                    <a:pt x="24" y="77"/>
                    <a:pt x="9" y="61"/>
                    <a:pt x="9" y="43"/>
                  </a:cubicBezTo>
                  <a:cubicBezTo>
                    <a:pt x="9" y="24"/>
                    <a:pt x="24" y="9"/>
                    <a:pt x="43" y="9"/>
                  </a:cubicBezTo>
                  <a:cubicBezTo>
                    <a:pt x="62" y="9"/>
                    <a:pt x="77" y="24"/>
                    <a:pt x="77" y="43"/>
                  </a:cubicBezTo>
                  <a:cubicBezTo>
                    <a:pt x="77" y="61"/>
                    <a:pt x="62" y="77"/>
                    <a:pt x="43"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771">
              <a:extLst>
                <a:ext uri="{FF2B5EF4-FFF2-40B4-BE49-F238E27FC236}">
                  <a16:creationId xmlns:a16="http://schemas.microsoft.com/office/drawing/2014/main" id="{B105BEDB-11F9-4BC7-9BFD-6EA9E52AB4A1}"/>
                </a:ext>
              </a:extLst>
            </p:cNvPr>
            <p:cNvSpPr>
              <a:spLocks noEditPoints="1"/>
            </p:cNvSpPr>
            <p:nvPr/>
          </p:nvSpPr>
          <p:spPr bwMode="auto">
            <a:xfrm>
              <a:off x="5611086" y="400520"/>
              <a:ext cx="204680" cy="340676"/>
            </a:xfrm>
            <a:custGeom>
              <a:avLst/>
              <a:gdLst>
                <a:gd name="T0" fmla="*/ 10 w 30"/>
                <a:gd name="T1" fmla="*/ 34 h 50"/>
                <a:gd name="T2" fmla="*/ 19 w 30"/>
                <a:gd name="T3" fmla="*/ 13 h 50"/>
                <a:gd name="T4" fmla="*/ 13 w 30"/>
                <a:gd name="T5" fmla="*/ 8 h 50"/>
                <a:gd name="T6" fmla="*/ 4 w 30"/>
                <a:gd name="T7" fmla="*/ 11 h 50"/>
                <a:gd name="T8" fmla="*/ 0 w 30"/>
                <a:gd name="T9" fmla="*/ 5 h 50"/>
                <a:gd name="T10" fmla="*/ 16 w 30"/>
                <a:gd name="T11" fmla="*/ 0 h 50"/>
                <a:gd name="T12" fmla="*/ 30 w 30"/>
                <a:gd name="T13" fmla="*/ 11 h 50"/>
                <a:gd name="T14" fmla="*/ 19 w 30"/>
                <a:gd name="T15" fmla="*/ 34 h 50"/>
                <a:gd name="T16" fmla="*/ 10 w 30"/>
                <a:gd name="T17" fmla="*/ 34 h 50"/>
                <a:gd name="T18" fmla="*/ 10 w 30"/>
                <a:gd name="T19" fmla="*/ 50 h 50"/>
                <a:gd name="T20" fmla="*/ 10 w 30"/>
                <a:gd name="T21" fmla="*/ 40 h 50"/>
                <a:gd name="T22" fmla="*/ 20 w 30"/>
                <a:gd name="T23" fmla="*/ 40 h 50"/>
                <a:gd name="T24" fmla="*/ 20 w 30"/>
                <a:gd name="T25" fmla="*/ 50 h 50"/>
                <a:gd name="T26" fmla="*/ 10 w 30"/>
                <a:gd name="T2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50">
                  <a:moveTo>
                    <a:pt x="10" y="34"/>
                  </a:moveTo>
                  <a:cubicBezTo>
                    <a:pt x="10" y="24"/>
                    <a:pt x="19" y="18"/>
                    <a:pt x="19" y="13"/>
                  </a:cubicBezTo>
                  <a:cubicBezTo>
                    <a:pt x="19" y="10"/>
                    <a:pt x="17" y="8"/>
                    <a:pt x="13" y="8"/>
                  </a:cubicBezTo>
                  <a:cubicBezTo>
                    <a:pt x="10" y="8"/>
                    <a:pt x="6" y="10"/>
                    <a:pt x="4" y="11"/>
                  </a:cubicBezTo>
                  <a:cubicBezTo>
                    <a:pt x="0" y="5"/>
                    <a:pt x="0" y="5"/>
                    <a:pt x="0" y="5"/>
                  </a:cubicBezTo>
                  <a:cubicBezTo>
                    <a:pt x="3" y="3"/>
                    <a:pt x="9" y="0"/>
                    <a:pt x="16" y="0"/>
                  </a:cubicBezTo>
                  <a:cubicBezTo>
                    <a:pt x="23" y="0"/>
                    <a:pt x="30" y="4"/>
                    <a:pt x="30" y="11"/>
                  </a:cubicBezTo>
                  <a:cubicBezTo>
                    <a:pt x="30" y="21"/>
                    <a:pt x="20" y="26"/>
                    <a:pt x="19" y="34"/>
                  </a:cubicBezTo>
                  <a:lnTo>
                    <a:pt x="10" y="34"/>
                  </a:lnTo>
                  <a:close/>
                  <a:moveTo>
                    <a:pt x="10" y="50"/>
                  </a:moveTo>
                  <a:cubicBezTo>
                    <a:pt x="10" y="40"/>
                    <a:pt x="10" y="40"/>
                    <a:pt x="10" y="40"/>
                  </a:cubicBezTo>
                  <a:cubicBezTo>
                    <a:pt x="20" y="40"/>
                    <a:pt x="20" y="40"/>
                    <a:pt x="20" y="40"/>
                  </a:cubicBezTo>
                  <a:cubicBezTo>
                    <a:pt x="20" y="50"/>
                    <a:pt x="20" y="50"/>
                    <a:pt x="20" y="50"/>
                  </a:cubicBezTo>
                  <a:lnTo>
                    <a:pt x="10"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9" name="Freeform 772">
            <a:extLst>
              <a:ext uri="{FF2B5EF4-FFF2-40B4-BE49-F238E27FC236}">
                <a16:creationId xmlns:a16="http://schemas.microsoft.com/office/drawing/2014/main" id="{028D92B3-9F20-45F0-A96D-A207FDE5DBF0}"/>
              </a:ext>
            </a:extLst>
          </p:cNvPr>
          <p:cNvSpPr>
            <a:spLocks noChangeAspect="1" noEditPoints="1"/>
          </p:cNvSpPr>
          <p:nvPr/>
        </p:nvSpPr>
        <p:spPr bwMode="auto">
          <a:xfrm>
            <a:off x="6203620" y="1433971"/>
            <a:ext cx="276915" cy="274320"/>
          </a:xfrm>
          <a:custGeom>
            <a:avLst/>
            <a:gdLst>
              <a:gd name="T0" fmla="*/ 43 w 86"/>
              <a:gd name="T1" fmla="*/ 0 h 85"/>
              <a:gd name="T2" fmla="*/ 0 w 86"/>
              <a:gd name="T3" fmla="*/ 43 h 85"/>
              <a:gd name="T4" fmla="*/ 43 w 86"/>
              <a:gd name="T5" fmla="*/ 85 h 85"/>
              <a:gd name="T6" fmla="*/ 86 w 86"/>
              <a:gd name="T7" fmla="*/ 43 h 85"/>
              <a:gd name="T8" fmla="*/ 43 w 86"/>
              <a:gd name="T9" fmla="*/ 0 h 85"/>
              <a:gd name="T10" fmla="*/ 43 w 86"/>
              <a:gd name="T11" fmla="*/ 77 h 85"/>
              <a:gd name="T12" fmla="*/ 9 w 86"/>
              <a:gd name="T13" fmla="*/ 43 h 85"/>
              <a:gd name="T14" fmla="*/ 43 w 86"/>
              <a:gd name="T15" fmla="*/ 9 h 85"/>
              <a:gd name="T16" fmla="*/ 43 w 86"/>
              <a:gd name="T17" fmla="*/ 43 h 85"/>
              <a:gd name="T18" fmla="*/ 76 w 86"/>
              <a:gd name="T19" fmla="*/ 43 h 85"/>
              <a:gd name="T20" fmla="*/ 77 w 86"/>
              <a:gd name="T21" fmla="*/ 43 h 85"/>
              <a:gd name="T22" fmla="*/ 43 w 86"/>
              <a:gd name="T23" fmla="*/ 7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85">
                <a:moveTo>
                  <a:pt x="43" y="0"/>
                </a:moveTo>
                <a:cubicBezTo>
                  <a:pt x="20" y="0"/>
                  <a:pt x="0" y="19"/>
                  <a:pt x="0" y="43"/>
                </a:cubicBezTo>
                <a:cubicBezTo>
                  <a:pt x="0" y="66"/>
                  <a:pt x="20" y="85"/>
                  <a:pt x="43" y="85"/>
                </a:cubicBezTo>
                <a:cubicBezTo>
                  <a:pt x="67" y="85"/>
                  <a:pt x="86" y="66"/>
                  <a:pt x="86" y="43"/>
                </a:cubicBezTo>
                <a:cubicBezTo>
                  <a:pt x="86" y="19"/>
                  <a:pt x="67" y="0"/>
                  <a:pt x="43" y="0"/>
                </a:cubicBezTo>
                <a:close/>
                <a:moveTo>
                  <a:pt x="43" y="77"/>
                </a:moveTo>
                <a:cubicBezTo>
                  <a:pt x="24" y="77"/>
                  <a:pt x="9" y="61"/>
                  <a:pt x="9" y="43"/>
                </a:cubicBezTo>
                <a:cubicBezTo>
                  <a:pt x="9" y="24"/>
                  <a:pt x="24" y="9"/>
                  <a:pt x="43" y="9"/>
                </a:cubicBezTo>
                <a:cubicBezTo>
                  <a:pt x="43" y="43"/>
                  <a:pt x="43" y="43"/>
                  <a:pt x="43" y="43"/>
                </a:cubicBezTo>
                <a:cubicBezTo>
                  <a:pt x="76" y="43"/>
                  <a:pt x="76" y="43"/>
                  <a:pt x="76" y="43"/>
                </a:cubicBezTo>
                <a:cubicBezTo>
                  <a:pt x="77" y="43"/>
                  <a:pt x="77" y="43"/>
                  <a:pt x="77" y="43"/>
                </a:cubicBezTo>
                <a:cubicBezTo>
                  <a:pt x="77" y="61"/>
                  <a:pt x="62" y="77"/>
                  <a:pt x="43" y="77"/>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0" name="Freeform 773">
            <a:extLst>
              <a:ext uri="{FF2B5EF4-FFF2-40B4-BE49-F238E27FC236}">
                <a16:creationId xmlns:a16="http://schemas.microsoft.com/office/drawing/2014/main" id="{43DEC64E-D197-4B50-A8C4-C99F931F0379}"/>
              </a:ext>
            </a:extLst>
          </p:cNvPr>
          <p:cNvSpPr>
            <a:spLocks noChangeAspect="1" noEditPoints="1"/>
          </p:cNvSpPr>
          <p:nvPr/>
        </p:nvSpPr>
        <p:spPr bwMode="auto">
          <a:xfrm>
            <a:off x="7124185" y="1433971"/>
            <a:ext cx="277563" cy="274320"/>
          </a:xfrm>
          <a:custGeom>
            <a:avLst/>
            <a:gdLst>
              <a:gd name="T0" fmla="*/ 43 w 86"/>
              <a:gd name="T1" fmla="*/ 0 h 85"/>
              <a:gd name="T2" fmla="*/ 0 w 86"/>
              <a:gd name="T3" fmla="*/ 43 h 85"/>
              <a:gd name="T4" fmla="*/ 43 w 86"/>
              <a:gd name="T5" fmla="*/ 85 h 85"/>
              <a:gd name="T6" fmla="*/ 86 w 86"/>
              <a:gd name="T7" fmla="*/ 43 h 85"/>
              <a:gd name="T8" fmla="*/ 43 w 86"/>
              <a:gd name="T9" fmla="*/ 0 h 85"/>
              <a:gd name="T10" fmla="*/ 9 w 86"/>
              <a:gd name="T11" fmla="*/ 43 h 85"/>
              <a:gd name="T12" fmla="*/ 43 w 86"/>
              <a:gd name="T13" fmla="*/ 9 h 85"/>
              <a:gd name="T14" fmla="*/ 43 w 86"/>
              <a:gd name="T15" fmla="*/ 77 h 85"/>
              <a:gd name="T16" fmla="*/ 9 w 86"/>
              <a:gd name="T17" fmla="*/ 4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 h="85">
                <a:moveTo>
                  <a:pt x="43" y="0"/>
                </a:moveTo>
                <a:cubicBezTo>
                  <a:pt x="20" y="0"/>
                  <a:pt x="0" y="19"/>
                  <a:pt x="0" y="43"/>
                </a:cubicBezTo>
                <a:cubicBezTo>
                  <a:pt x="0" y="66"/>
                  <a:pt x="20" y="85"/>
                  <a:pt x="43" y="85"/>
                </a:cubicBezTo>
                <a:cubicBezTo>
                  <a:pt x="67" y="85"/>
                  <a:pt x="86" y="66"/>
                  <a:pt x="86" y="43"/>
                </a:cubicBezTo>
                <a:cubicBezTo>
                  <a:pt x="86" y="19"/>
                  <a:pt x="67" y="0"/>
                  <a:pt x="43" y="0"/>
                </a:cubicBezTo>
                <a:close/>
                <a:moveTo>
                  <a:pt x="9" y="43"/>
                </a:moveTo>
                <a:cubicBezTo>
                  <a:pt x="9" y="24"/>
                  <a:pt x="24" y="9"/>
                  <a:pt x="43" y="9"/>
                </a:cubicBezTo>
                <a:cubicBezTo>
                  <a:pt x="43" y="77"/>
                  <a:pt x="43" y="77"/>
                  <a:pt x="43" y="77"/>
                </a:cubicBezTo>
                <a:cubicBezTo>
                  <a:pt x="24" y="77"/>
                  <a:pt x="9" y="61"/>
                  <a:pt x="9" y="4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 name="Group 1">
            <a:extLst>
              <a:ext uri="{FF2B5EF4-FFF2-40B4-BE49-F238E27FC236}">
                <a16:creationId xmlns:a16="http://schemas.microsoft.com/office/drawing/2014/main" id="{19A41B28-934F-4CAF-8AE9-5CA06758DFFD}"/>
              </a:ext>
            </a:extLst>
          </p:cNvPr>
          <p:cNvGrpSpPr>
            <a:grpSpLocks noChangeAspect="1"/>
          </p:cNvGrpSpPr>
          <p:nvPr/>
        </p:nvGrpSpPr>
        <p:grpSpPr>
          <a:xfrm>
            <a:off x="8046406" y="1433971"/>
            <a:ext cx="276915" cy="274320"/>
            <a:chOff x="8046406" y="1433971"/>
            <a:chExt cx="706980" cy="700358"/>
          </a:xfrm>
        </p:grpSpPr>
        <p:sp>
          <p:nvSpPr>
            <p:cNvPr id="71" name="Freeform 774">
              <a:extLst>
                <a:ext uri="{FF2B5EF4-FFF2-40B4-BE49-F238E27FC236}">
                  <a16:creationId xmlns:a16="http://schemas.microsoft.com/office/drawing/2014/main" id="{F179A5C9-5484-4A16-96BE-C56219A1443F}"/>
                </a:ext>
              </a:extLst>
            </p:cNvPr>
            <p:cNvSpPr>
              <a:spLocks noChangeAspect="1" noEditPoints="1"/>
            </p:cNvSpPr>
            <p:nvPr/>
          </p:nvSpPr>
          <p:spPr bwMode="auto">
            <a:xfrm>
              <a:off x="8046406" y="1433971"/>
              <a:ext cx="706980" cy="700358"/>
            </a:xfrm>
            <a:custGeom>
              <a:avLst/>
              <a:gdLst>
                <a:gd name="T0" fmla="*/ 427 w 427"/>
                <a:gd name="T1" fmla="*/ 0 h 423"/>
                <a:gd name="T2" fmla="*/ 348 w 427"/>
                <a:gd name="T3" fmla="*/ 35 h 423"/>
                <a:gd name="T4" fmla="*/ 253 w 427"/>
                <a:gd name="T5" fmla="*/ 0 h 423"/>
                <a:gd name="T6" fmla="*/ 174 w 427"/>
                <a:gd name="T7" fmla="*/ 35 h 423"/>
                <a:gd name="T8" fmla="*/ 79 w 427"/>
                <a:gd name="T9" fmla="*/ 0 h 423"/>
                <a:gd name="T10" fmla="*/ 0 w 427"/>
                <a:gd name="T11" fmla="*/ 80 h 423"/>
                <a:gd name="T12" fmla="*/ 35 w 427"/>
                <a:gd name="T13" fmla="*/ 174 h 423"/>
                <a:gd name="T14" fmla="*/ 0 w 427"/>
                <a:gd name="T15" fmla="*/ 254 h 423"/>
                <a:gd name="T16" fmla="*/ 35 w 427"/>
                <a:gd name="T17" fmla="*/ 343 h 423"/>
                <a:gd name="T18" fmla="*/ 0 w 427"/>
                <a:gd name="T19" fmla="*/ 423 h 423"/>
                <a:gd name="T20" fmla="*/ 79 w 427"/>
                <a:gd name="T21" fmla="*/ 393 h 423"/>
                <a:gd name="T22" fmla="*/ 174 w 427"/>
                <a:gd name="T23" fmla="*/ 423 h 423"/>
                <a:gd name="T24" fmla="*/ 253 w 427"/>
                <a:gd name="T25" fmla="*/ 393 h 423"/>
                <a:gd name="T26" fmla="*/ 348 w 427"/>
                <a:gd name="T27" fmla="*/ 423 h 423"/>
                <a:gd name="T28" fmla="*/ 427 w 427"/>
                <a:gd name="T29" fmla="*/ 343 h 423"/>
                <a:gd name="T30" fmla="*/ 392 w 427"/>
                <a:gd name="T31" fmla="*/ 254 h 423"/>
                <a:gd name="T32" fmla="*/ 427 w 427"/>
                <a:gd name="T33" fmla="*/ 174 h 423"/>
                <a:gd name="T34" fmla="*/ 392 w 427"/>
                <a:gd name="T35" fmla="*/ 80 h 423"/>
                <a:gd name="T36" fmla="*/ 378 w 427"/>
                <a:gd name="T37" fmla="*/ 174 h 423"/>
                <a:gd name="T38" fmla="*/ 348 w 427"/>
                <a:gd name="T39" fmla="*/ 254 h 423"/>
                <a:gd name="T40" fmla="*/ 378 w 427"/>
                <a:gd name="T41" fmla="*/ 343 h 423"/>
                <a:gd name="T42" fmla="*/ 348 w 427"/>
                <a:gd name="T43" fmla="*/ 378 h 423"/>
                <a:gd name="T44" fmla="*/ 253 w 427"/>
                <a:gd name="T45" fmla="*/ 343 h 423"/>
                <a:gd name="T46" fmla="*/ 174 w 427"/>
                <a:gd name="T47" fmla="*/ 378 h 423"/>
                <a:gd name="T48" fmla="*/ 79 w 427"/>
                <a:gd name="T49" fmla="*/ 343 h 423"/>
                <a:gd name="T50" fmla="*/ 49 w 427"/>
                <a:gd name="T51" fmla="*/ 254 h 423"/>
                <a:gd name="T52" fmla="*/ 79 w 427"/>
                <a:gd name="T53" fmla="*/ 174 h 423"/>
                <a:gd name="T54" fmla="*/ 49 w 427"/>
                <a:gd name="T55" fmla="*/ 80 h 423"/>
                <a:gd name="T56" fmla="*/ 79 w 427"/>
                <a:gd name="T57" fmla="*/ 45 h 423"/>
                <a:gd name="T58" fmla="*/ 174 w 427"/>
                <a:gd name="T59" fmla="*/ 80 h 423"/>
                <a:gd name="T60" fmla="*/ 253 w 427"/>
                <a:gd name="T61" fmla="*/ 45 h 423"/>
                <a:gd name="T62" fmla="*/ 348 w 427"/>
                <a:gd name="T63" fmla="*/ 80 h 423"/>
                <a:gd name="T64" fmla="*/ 378 w 427"/>
                <a:gd name="T65" fmla="*/ 174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27" h="423">
                  <a:moveTo>
                    <a:pt x="427" y="80"/>
                  </a:moveTo>
                  <a:lnTo>
                    <a:pt x="427" y="0"/>
                  </a:lnTo>
                  <a:lnTo>
                    <a:pt x="348" y="0"/>
                  </a:lnTo>
                  <a:lnTo>
                    <a:pt x="348" y="35"/>
                  </a:lnTo>
                  <a:lnTo>
                    <a:pt x="253" y="35"/>
                  </a:lnTo>
                  <a:lnTo>
                    <a:pt x="253" y="0"/>
                  </a:lnTo>
                  <a:lnTo>
                    <a:pt x="174" y="0"/>
                  </a:lnTo>
                  <a:lnTo>
                    <a:pt x="174" y="35"/>
                  </a:lnTo>
                  <a:lnTo>
                    <a:pt x="79" y="35"/>
                  </a:lnTo>
                  <a:lnTo>
                    <a:pt x="79" y="0"/>
                  </a:lnTo>
                  <a:lnTo>
                    <a:pt x="0" y="0"/>
                  </a:lnTo>
                  <a:lnTo>
                    <a:pt x="0" y="80"/>
                  </a:lnTo>
                  <a:lnTo>
                    <a:pt x="35" y="80"/>
                  </a:lnTo>
                  <a:lnTo>
                    <a:pt x="35" y="174"/>
                  </a:lnTo>
                  <a:lnTo>
                    <a:pt x="0" y="174"/>
                  </a:lnTo>
                  <a:lnTo>
                    <a:pt x="0" y="254"/>
                  </a:lnTo>
                  <a:lnTo>
                    <a:pt x="35" y="254"/>
                  </a:lnTo>
                  <a:lnTo>
                    <a:pt x="35" y="343"/>
                  </a:lnTo>
                  <a:lnTo>
                    <a:pt x="0" y="343"/>
                  </a:lnTo>
                  <a:lnTo>
                    <a:pt x="0" y="423"/>
                  </a:lnTo>
                  <a:lnTo>
                    <a:pt x="79" y="423"/>
                  </a:lnTo>
                  <a:lnTo>
                    <a:pt x="79" y="393"/>
                  </a:lnTo>
                  <a:lnTo>
                    <a:pt x="174" y="393"/>
                  </a:lnTo>
                  <a:lnTo>
                    <a:pt x="174" y="423"/>
                  </a:lnTo>
                  <a:lnTo>
                    <a:pt x="253" y="423"/>
                  </a:lnTo>
                  <a:lnTo>
                    <a:pt x="253" y="393"/>
                  </a:lnTo>
                  <a:lnTo>
                    <a:pt x="348" y="393"/>
                  </a:lnTo>
                  <a:lnTo>
                    <a:pt x="348" y="423"/>
                  </a:lnTo>
                  <a:lnTo>
                    <a:pt x="427" y="423"/>
                  </a:lnTo>
                  <a:lnTo>
                    <a:pt x="427" y="343"/>
                  </a:lnTo>
                  <a:lnTo>
                    <a:pt x="392" y="343"/>
                  </a:lnTo>
                  <a:lnTo>
                    <a:pt x="392" y="254"/>
                  </a:lnTo>
                  <a:lnTo>
                    <a:pt x="427" y="254"/>
                  </a:lnTo>
                  <a:lnTo>
                    <a:pt x="427" y="174"/>
                  </a:lnTo>
                  <a:lnTo>
                    <a:pt x="392" y="174"/>
                  </a:lnTo>
                  <a:lnTo>
                    <a:pt x="392" y="80"/>
                  </a:lnTo>
                  <a:lnTo>
                    <a:pt x="427" y="80"/>
                  </a:lnTo>
                  <a:close/>
                  <a:moveTo>
                    <a:pt x="378" y="174"/>
                  </a:moveTo>
                  <a:lnTo>
                    <a:pt x="348" y="174"/>
                  </a:lnTo>
                  <a:lnTo>
                    <a:pt x="348" y="254"/>
                  </a:lnTo>
                  <a:lnTo>
                    <a:pt x="378" y="254"/>
                  </a:lnTo>
                  <a:lnTo>
                    <a:pt x="378" y="343"/>
                  </a:lnTo>
                  <a:lnTo>
                    <a:pt x="348" y="343"/>
                  </a:lnTo>
                  <a:lnTo>
                    <a:pt x="348" y="378"/>
                  </a:lnTo>
                  <a:lnTo>
                    <a:pt x="253" y="378"/>
                  </a:lnTo>
                  <a:lnTo>
                    <a:pt x="253" y="343"/>
                  </a:lnTo>
                  <a:lnTo>
                    <a:pt x="174" y="343"/>
                  </a:lnTo>
                  <a:lnTo>
                    <a:pt x="174" y="378"/>
                  </a:lnTo>
                  <a:lnTo>
                    <a:pt x="79" y="378"/>
                  </a:lnTo>
                  <a:lnTo>
                    <a:pt x="79" y="343"/>
                  </a:lnTo>
                  <a:lnTo>
                    <a:pt x="49" y="343"/>
                  </a:lnTo>
                  <a:lnTo>
                    <a:pt x="49" y="254"/>
                  </a:lnTo>
                  <a:lnTo>
                    <a:pt x="79" y="254"/>
                  </a:lnTo>
                  <a:lnTo>
                    <a:pt x="79" y="174"/>
                  </a:lnTo>
                  <a:lnTo>
                    <a:pt x="49" y="174"/>
                  </a:lnTo>
                  <a:lnTo>
                    <a:pt x="49" y="80"/>
                  </a:lnTo>
                  <a:lnTo>
                    <a:pt x="79" y="80"/>
                  </a:lnTo>
                  <a:lnTo>
                    <a:pt x="79" y="45"/>
                  </a:lnTo>
                  <a:lnTo>
                    <a:pt x="174" y="45"/>
                  </a:lnTo>
                  <a:lnTo>
                    <a:pt x="174" y="80"/>
                  </a:lnTo>
                  <a:lnTo>
                    <a:pt x="253" y="80"/>
                  </a:lnTo>
                  <a:lnTo>
                    <a:pt x="253" y="45"/>
                  </a:lnTo>
                  <a:lnTo>
                    <a:pt x="348" y="45"/>
                  </a:lnTo>
                  <a:lnTo>
                    <a:pt x="348" y="80"/>
                  </a:lnTo>
                  <a:lnTo>
                    <a:pt x="378" y="80"/>
                  </a:lnTo>
                  <a:lnTo>
                    <a:pt x="378" y="174"/>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Rectangle 775">
              <a:extLst>
                <a:ext uri="{FF2B5EF4-FFF2-40B4-BE49-F238E27FC236}">
                  <a16:creationId xmlns:a16="http://schemas.microsoft.com/office/drawing/2014/main" id="{E758CAE2-522C-4177-9817-B20960D3C80D}"/>
                </a:ext>
              </a:extLst>
            </p:cNvPr>
            <p:cNvSpPr>
              <a:spLocks noChangeAspect="1" noChangeArrowheads="1"/>
            </p:cNvSpPr>
            <p:nvPr/>
          </p:nvSpPr>
          <p:spPr bwMode="auto">
            <a:xfrm>
              <a:off x="8334495" y="1722062"/>
              <a:ext cx="130800" cy="132456"/>
            </a:xfrm>
            <a:prstGeom prst="rect">
              <a:avLst/>
            </a:pr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73" name="Group 72">
            <a:extLst>
              <a:ext uri="{FF2B5EF4-FFF2-40B4-BE49-F238E27FC236}">
                <a16:creationId xmlns:a16="http://schemas.microsoft.com/office/drawing/2014/main" id="{15365FB9-7481-4D34-A811-31E3A52CB2D9}"/>
              </a:ext>
            </a:extLst>
          </p:cNvPr>
          <p:cNvGrpSpPr>
            <a:grpSpLocks noChangeAspect="1"/>
          </p:cNvGrpSpPr>
          <p:nvPr/>
        </p:nvGrpSpPr>
        <p:grpSpPr>
          <a:xfrm>
            <a:off x="9024919" y="1433971"/>
            <a:ext cx="232167" cy="274320"/>
            <a:chOff x="8526065" y="270019"/>
            <a:chExt cx="491782" cy="581073"/>
          </a:xfrm>
          <a:solidFill>
            <a:srgbClr val="595555"/>
          </a:solidFill>
        </p:grpSpPr>
        <p:sp>
          <p:nvSpPr>
            <p:cNvPr id="74" name="Freeform 776">
              <a:extLst>
                <a:ext uri="{FF2B5EF4-FFF2-40B4-BE49-F238E27FC236}">
                  <a16:creationId xmlns:a16="http://schemas.microsoft.com/office/drawing/2014/main" id="{2FE3AD15-F180-493F-B3F3-DFC6F8B08A3F}"/>
                </a:ext>
              </a:extLst>
            </p:cNvPr>
            <p:cNvSpPr>
              <a:spLocks/>
            </p:cNvSpPr>
            <p:nvPr/>
          </p:nvSpPr>
          <p:spPr bwMode="auto">
            <a:xfrm>
              <a:off x="8546670" y="748065"/>
              <a:ext cx="89290" cy="103027"/>
            </a:xfrm>
            <a:custGeom>
              <a:avLst/>
              <a:gdLst>
                <a:gd name="T0" fmla="*/ 0 w 13"/>
                <a:gd name="T1" fmla="*/ 0 h 15"/>
                <a:gd name="T2" fmla="*/ 0 w 13"/>
                <a:gd name="T3" fmla="*/ 13 h 15"/>
                <a:gd name="T4" fmla="*/ 2 w 13"/>
                <a:gd name="T5" fmla="*/ 15 h 15"/>
                <a:gd name="T6" fmla="*/ 10 w 13"/>
                <a:gd name="T7" fmla="*/ 15 h 15"/>
                <a:gd name="T8" fmla="*/ 13 w 13"/>
                <a:gd name="T9" fmla="*/ 13 h 15"/>
                <a:gd name="T10" fmla="*/ 13 w 13"/>
                <a:gd name="T11" fmla="*/ 0 h 15"/>
                <a:gd name="T12" fmla="*/ 6 w 13"/>
                <a:gd name="T13" fmla="*/ 2 h 15"/>
                <a:gd name="T14" fmla="*/ 0 w 13"/>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5">
                  <a:moveTo>
                    <a:pt x="0" y="0"/>
                  </a:moveTo>
                  <a:cubicBezTo>
                    <a:pt x="0" y="13"/>
                    <a:pt x="0" y="13"/>
                    <a:pt x="0" y="13"/>
                  </a:cubicBezTo>
                  <a:cubicBezTo>
                    <a:pt x="0" y="14"/>
                    <a:pt x="1" y="15"/>
                    <a:pt x="2" y="15"/>
                  </a:cubicBezTo>
                  <a:cubicBezTo>
                    <a:pt x="10" y="15"/>
                    <a:pt x="10" y="15"/>
                    <a:pt x="10" y="15"/>
                  </a:cubicBezTo>
                  <a:cubicBezTo>
                    <a:pt x="12" y="15"/>
                    <a:pt x="13" y="14"/>
                    <a:pt x="13" y="13"/>
                  </a:cubicBezTo>
                  <a:cubicBezTo>
                    <a:pt x="13" y="0"/>
                    <a:pt x="13" y="0"/>
                    <a:pt x="13" y="0"/>
                  </a:cubicBezTo>
                  <a:cubicBezTo>
                    <a:pt x="11" y="1"/>
                    <a:pt x="9" y="2"/>
                    <a:pt x="6" y="2"/>
                  </a:cubicBezTo>
                  <a:cubicBezTo>
                    <a:pt x="4" y="2"/>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777">
              <a:extLst>
                <a:ext uri="{FF2B5EF4-FFF2-40B4-BE49-F238E27FC236}">
                  <a16:creationId xmlns:a16="http://schemas.microsoft.com/office/drawing/2014/main" id="{85408055-2CCC-4083-9954-2B7EDC27DFE9}"/>
                </a:ext>
              </a:extLst>
            </p:cNvPr>
            <p:cNvSpPr>
              <a:spLocks/>
            </p:cNvSpPr>
            <p:nvPr/>
          </p:nvSpPr>
          <p:spPr bwMode="auto">
            <a:xfrm>
              <a:off x="8546670" y="270019"/>
              <a:ext cx="89290" cy="300839"/>
            </a:xfrm>
            <a:custGeom>
              <a:avLst/>
              <a:gdLst>
                <a:gd name="T0" fmla="*/ 13 w 13"/>
                <a:gd name="T1" fmla="*/ 44 h 44"/>
                <a:gd name="T2" fmla="*/ 13 w 13"/>
                <a:gd name="T3" fmla="*/ 3 h 44"/>
                <a:gd name="T4" fmla="*/ 10 w 13"/>
                <a:gd name="T5" fmla="*/ 0 h 44"/>
                <a:gd name="T6" fmla="*/ 2 w 13"/>
                <a:gd name="T7" fmla="*/ 0 h 44"/>
                <a:gd name="T8" fmla="*/ 0 w 13"/>
                <a:gd name="T9" fmla="*/ 3 h 44"/>
                <a:gd name="T10" fmla="*/ 0 w 13"/>
                <a:gd name="T11" fmla="*/ 44 h 44"/>
                <a:gd name="T12" fmla="*/ 6 w 13"/>
                <a:gd name="T13" fmla="*/ 43 h 44"/>
                <a:gd name="T14" fmla="*/ 13 w 13"/>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44">
                  <a:moveTo>
                    <a:pt x="13" y="44"/>
                  </a:moveTo>
                  <a:cubicBezTo>
                    <a:pt x="13" y="3"/>
                    <a:pt x="13" y="3"/>
                    <a:pt x="13" y="3"/>
                  </a:cubicBezTo>
                  <a:cubicBezTo>
                    <a:pt x="13" y="1"/>
                    <a:pt x="12" y="0"/>
                    <a:pt x="10" y="0"/>
                  </a:cubicBezTo>
                  <a:cubicBezTo>
                    <a:pt x="2" y="0"/>
                    <a:pt x="2" y="0"/>
                    <a:pt x="2" y="0"/>
                  </a:cubicBezTo>
                  <a:cubicBezTo>
                    <a:pt x="1" y="0"/>
                    <a:pt x="0" y="1"/>
                    <a:pt x="0" y="3"/>
                  </a:cubicBezTo>
                  <a:cubicBezTo>
                    <a:pt x="0" y="44"/>
                    <a:pt x="0" y="44"/>
                    <a:pt x="0" y="44"/>
                  </a:cubicBezTo>
                  <a:cubicBezTo>
                    <a:pt x="2" y="43"/>
                    <a:pt x="4" y="43"/>
                    <a:pt x="6" y="43"/>
                  </a:cubicBezTo>
                  <a:cubicBezTo>
                    <a:pt x="9" y="43"/>
                    <a:pt x="11" y="43"/>
                    <a:pt x="13"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Oval 778">
              <a:extLst>
                <a:ext uri="{FF2B5EF4-FFF2-40B4-BE49-F238E27FC236}">
                  <a16:creationId xmlns:a16="http://schemas.microsoft.com/office/drawing/2014/main" id="{3C460FFD-9325-44F7-BCC6-1C2F4BCA3D10}"/>
                </a:ext>
              </a:extLst>
            </p:cNvPr>
            <p:cNvSpPr>
              <a:spLocks noChangeArrowheads="1"/>
            </p:cNvSpPr>
            <p:nvPr/>
          </p:nvSpPr>
          <p:spPr bwMode="auto">
            <a:xfrm>
              <a:off x="8526065" y="598332"/>
              <a:ext cx="130501" cy="1291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7" name="Freeform 779">
              <a:extLst>
                <a:ext uri="{FF2B5EF4-FFF2-40B4-BE49-F238E27FC236}">
                  <a16:creationId xmlns:a16="http://schemas.microsoft.com/office/drawing/2014/main" id="{F6E8B42C-E476-49D2-9D62-2A1123B052CC}"/>
                </a:ext>
              </a:extLst>
            </p:cNvPr>
            <p:cNvSpPr>
              <a:spLocks/>
            </p:cNvSpPr>
            <p:nvPr/>
          </p:nvSpPr>
          <p:spPr bwMode="auto">
            <a:xfrm>
              <a:off x="8909325" y="748065"/>
              <a:ext cx="87916" cy="103027"/>
            </a:xfrm>
            <a:custGeom>
              <a:avLst/>
              <a:gdLst>
                <a:gd name="T0" fmla="*/ 0 w 13"/>
                <a:gd name="T1" fmla="*/ 0 h 15"/>
                <a:gd name="T2" fmla="*/ 0 w 13"/>
                <a:gd name="T3" fmla="*/ 13 h 15"/>
                <a:gd name="T4" fmla="*/ 3 w 13"/>
                <a:gd name="T5" fmla="*/ 15 h 15"/>
                <a:gd name="T6" fmla="*/ 11 w 13"/>
                <a:gd name="T7" fmla="*/ 15 h 15"/>
                <a:gd name="T8" fmla="*/ 13 w 13"/>
                <a:gd name="T9" fmla="*/ 13 h 15"/>
                <a:gd name="T10" fmla="*/ 13 w 13"/>
                <a:gd name="T11" fmla="*/ 0 h 15"/>
                <a:gd name="T12" fmla="*/ 7 w 13"/>
                <a:gd name="T13" fmla="*/ 2 h 15"/>
                <a:gd name="T14" fmla="*/ 0 w 13"/>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5">
                  <a:moveTo>
                    <a:pt x="0" y="0"/>
                  </a:moveTo>
                  <a:cubicBezTo>
                    <a:pt x="0" y="13"/>
                    <a:pt x="0" y="13"/>
                    <a:pt x="0" y="13"/>
                  </a:cubicBezTo>
                  <a:cubicBezTo>
                    <a:pt x="0" y="14"/>
                    <a:pt x="1" y="15"/>
                    <a:pt x="3" y="15"/>
                  </a:cubicBezTo>
                  <a:cubicBezTo>
                    <a:pt x="11" y="15"/>
                    <a:pt x="11" y="15"/>
                    <a:pt x="11" y="15"/>
                  </a:cubicBezTo>
                  <a:cubicBezTo>
                    <a:pt x="12" y="15"/>
                    <a:pt x="13" y="14"/>
                    <a:pt x="13" y="13"/>
                  </a:cubicBezTo>
                  <a:cubicBezTo>
                    <a:pt x="13" y="0"/>
                    <a:pt x="13" y="0"/>
                    <a:pt x="13" y="0"/>
                  </a:cubicBezTo>
                  <a:cubicBezTo>
                    <a:pt x="11" y="1"/>
                    <a:pt x="9" y="2"/>
                    <a:pt x="7" y="2"/>
                  </a:cubicBezTo>
                  <a:cubicBezTo>
                    <a:pt x="4" y="2"/>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780">
              <a:extLst>
                <a:ext uri="{FF2B5EF4-FFF2-40B4-BE49-F238E27FC236}">
                  <a16:creationId xmlns:a16="http://schemas.microsoft.com/office/drawing/2014/main" id="{F587D00C-E04C-4B32-86F3-103DDC7D4437}"/>
                </a:ext>
              </a:extLst>
            </p:cNvPr>
            <p:cNvSpPr>
              <a:spLocks/>
            </p:cNvSpPr>
            <p:nvPr/>
          </p:nvSpPr>
          <p:spPr bwMode="auto">
            <a:xfrm>
              <a:off x="8909325" y="270019"/>
              <a:ext cx="87916" cy="300839"/>
            </a:xfrm>
            <a:custGeom>
              <a:avLst/>
              <a:gdLst>
                <a:gd name="T0" fmla="*/ 13 w 13"/>
                <a:gd name="T1" fmla="*/ 44 h 44"/>
                <a:gd name="T2" fmla="*/ 13 w 13"/>
                <a:gd name="T3" fmla="*/ 3 h 44"/>
                <a:gd name="T4" fmla="*/ 11 w 13"/>
                <a:gd name="T5" fmla="*/ 0 h 44"/>
                <a:gd name="T6" fmla="*/ 3 w 13"/>
                <a:gd name="T7" fmla="*/ 0 h 44"/>
                <a:gd name="T8" fmla="*/ 0 w 13"/>
                <a:gd name="T9" fmla="*/ 3 h 44"/>
                <a:gd name="T10" fmla="*/ 0 w 13"/>
                <a:gd name="T11" fmla="*/ 44 h 44"/>
                <a:gd name="T12" fmla="*/ 7 w 13"/>
                <a:gd name="T13" fmla="*/ 43 h 44"/>
                <a:gd name="T14" fmla="*/ 13 w 13"/>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44">
                  <a:moveTo>
                    <a:pt x="13" y="44"/>
                  </a:moveTo>
                  <a:cubicBezTo>
                    <a:pt x="13" y="3"/>
                    <a:pt x="13" y="3"/>
                    <a:pt x="13" y="3"/>
                  </a:cubicBezTo>
                  <a:cubicBezTo>
                    <a:pt x="13" y="1"/>
                    <a:pt x="12" y="0"/>
                    <a:pt x="11" y="0"/>
                  </a:cubicBezTo>
                  <a:cubicBezTo>
                    <a:pt x="3" y="0"/>
                    <a:pt x="3" y="0"/>
                    <a:pt x="3" y="0"/>
                  </a:cubicBezTo>
                  <a:cubicBezTo>
                    <a:pt x="1" y="0"/>
                    <a:pt x="0" y="1"/>
                    <a:pt x="0" y="3"/>
                  </a:cubicBezTo>
                  <a:cubicBezTo>
                    <a:pt x="0" y="44"/>
                    <a:pt x="0" y="44"/>
                    <a:pt x="0" y="44"/>
                  </a:cubicBezTo>
                  <a:cubicBezTo>
                    <a:pt x="2" y="43"/>
                    <a:pt x="4" y="43"/>
                    <a:pt x="7" y="43"/>
                  </a:cubicBezTo>
                  <a:cubicBezTo>
                    <a:pt x="9" y="43"/>
                    <a:pt x="11" y="43"/>
                    <a:pt x="13"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9" name="Oval 781">
              <a:extLst>
                <a:ext uri="{FF2B5EF4-FFF2-40B4-BE49-F238E27FC236}">
                  <a16:creationId xmlns:a16="http://schemas.microsoft.com/office/drawing/2014/main" id="{51EDE5B1-3C31-47BC-935F-244A5BB48A28}"/>
                </a:ext>
              </a:extLst>
            </p:cNvPr>
            <p:cNvSpPr>
              <a:spLocks noChangeArrowheads="1"/>
            </p:cNvSpPr>
            <p:nvPr/>
          </p:nvSpPr>
          <p:spPr bwMode="auto">
            <a:xfrm>
              <a:off x="8888720" y="598332"/>
              <a:ext cx="129127" cy="1291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782">
              <a:extLst>
                <a:ext uri="{FF2B5EF4-FFF2-40B4-BE49-F238E27FC236}">
                  <a16:creationId xmlns:a16="http://schemas.microsoft.com/office/drawing/2014/main" id="{72FD7D9B-9B4B-4E5B-A389-5228E41D3648}"/>
                </a:ext>
              </a:extLst>
            </p:cNvPr>
            <p:cNvSpPr>
              <a:spLocks/>
            </p:cNvSpPr>
            <p:nvPr/>
          </p:nvSpPr>
          <p:spPr bwMode="auto">
            <a:xfrm>
              <a:off x="8723877" y="270019"/>
              <a:ext cx="96159" cy="103027"/>
            </a:xfrm>
            <a:custGeom>
              <a:avLst/>
              <a:gdLst>
                <a:gd name="T0" fmla="*/ 14 w 14"/>
                <a:gd name="T1" fmla="*/ 15 h 15"/>
                <a:gd name="T2" fmla="*/ 14 w 14"/>
                <a:gd name="T3" fmla="*/ 3 h 15"/>
                <a:gd name="T4" fmla="*/ 11 w 14"/>
                <a:gd name="T5" fmla="*/ 0 h 15"/>
                <a:gd name="T6" fmla="*/ 3 w 14"/>
                <a:gd name="T7" fmla="*/ 0 h 15"/>
                <a:gd name="T8" fmla="*/ 0 w 14"/>
                <a:gd name="T9" fmla="*/ 3 h 15"/>
                <a:gd name="T10" fmla="*/ 0 w 14"/>
                <a:gd name="T11" fmla="*/ 15 h 15"/>
                <a:gd name="T12" fmla="*/ 7 w 14"/>
                <a:gd name="T13" fmla="*/ 13 h 15"/>
                <a:gd name="T14" fmla="*/ 14 w 14"/>
                <a:gd name="T15" fmla="*/ 15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5">
                  <a:moveTo>
                    <a:pt x="14" y="15"/>
                  </a:moveTo>
                  <a:cubicBezTo>
                    <a:pt x="14" y="3"/>
                    <a:pt x="14" y="3"/>
                    <a:pt x="14" y="3"/>
                  </a:cubicBezTo>
                  <a:cubicBezTo>
                    <a:pt x="14" y="1"/>
                    <a:pt x="13" y="0"/>
                    <a:pt x="11" y="0"/>
                  </a:cubicBezTo>
                  <a:cubicBezTo>
                    <a:pt x="3" y="0"/>
                    <a:pt x="3" y="0"/>
                    <a:pt x="3" y="0"/>
                  </a:cubicBezTo>
                  <a:cubicBezTo>
                    <a:pt x="2" y="0"/>
                    <a:pt x="0" y="1"/>
                    <a:pt x="0" y="3"/>
                  </a:cubicBezTo>
                  <a:cubicBezTo>
                    <a:pt x="0" y="15"/>
                    <a:pt x="0" y="15"/>
                    <a:pt x="0" y="15"/>
                  </a:cubicBezTo>
                  <a:cubicBezTo>
                    <a:pt x="2" y="14"/>
                    <a:pt x="5" y="13"/>
                    <a:pt x="7" y="13"/>
                  </a:cubicBezTo>
                  <a:cubicBezTo>
                    <a:pt x="9" y="13"/>
                    <a:pt x="12" y="14"/>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Freeform 783">
              <a:extLst>
                <a:ext uri="{FF2B5EF4-FFF2-40B4-BE49-F238E27FC236}">
                  <a16:creationId xmlns:a16="http://schemas.microsoft.com/office/drawing/2014/main" id="{0BDB93BE-6789-4BE0-9B83-4981D6773A8F}"/>
                </a:ext>
              </a:extLst>
            </p:cNvPr>
            <p:cNvSpPr>
              <a:spLocks/>
            </p:cNvSpPr>
            <p:nvPr/>
          </p:nvSpPr>
          <p:spPr bwMode="auto">
            <a:xfrm>
              <a:off x="8723877" y="550253"/>
              <a:ext cx="96159" cy="300839"/>
            </a:xfrm>
            <a:custGeom>
              <a:avLst/>
              <a:gdLst>
                <a:gd name="T0" fmla="*/ 0 w 14"/>
                <a:gd name="T1" fmla="*/ 0 h 44"/>
                <a:gd name="T2" fmla="*/ 0 w 14"/>
                <a:gd name="T3" fmla="*/ 42 h 44"/>
                <a:gd name="T4" fmla="*/ 3 w 14"/>
                <a:gd name="T5" fmla="*/ 44 h 44"/>
                <a:gd name="T6" fmla="*/ 11 w 14"/>
                <a:gd name="T7" fmla="*/ 44 h 44"/>
                <a:gd name="T8" fmla="*/ 14 w 14"/>
                <a:gd name="T9" fmla="*/ 42 h 44"/>
                <a:gd name="T10" fmla="*/ 14 w 14"/>
                <a:gd name="T11" fmla="*/ 0 h 44"/>
                <a:gd name="T12" fmla="*/ 7 w 14"/>
                <a:gd name="T13" fmla="*/ 2 h 44"/>
                <a:gd name="T14" fmla="*/ 0 w 14"/>
                <a:gd name="T15" fmla="*/ 0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44">
                  <a:moveTo>
                    <a:pt x="0" y="0"/>
                  </a:moveTo>
                  <a:cubicBezTo>
                    <a:pt x="0" y="42"/>
                    <a:pt x="0" y="42"/>
                    <a:pt x="0" y="42"/>
                  </a:cubicBezTo>
                  <a:cubicBezTo>
                    <a:pt x="0" y="43"/>
                    <a:pt x="2" y="44"/>
                    <a:pt x="3" y="44"/>
                  </a:cubicBezTo>
                  <a:cubicBezTo>
                    <a:pt x="11" y="44"/>
                    <a:pt x="11" y="44"/>
                    <a:pt x="11" y="44"/>
                  </a:cubicBezTo>
                  <a:cubicBezTo>
                    <a:pt x="13" y="44"/>
                    <a:pt x="14" y="43"/>
                    <a:pt x="14" y="42"/>
                  </a:cubicBezTo>
                  <a:cubicBezTo>
                    <a:pt x="14" y="0"/>
                    <a:pt x="14" y="0"/>
                    <a:pt x="14" y="0"/>
                  </a:cubicBezTo>
                  <a:cubicBezTo>
                    <a:pt x="12" y="1"/>
                    <a:pt x="9" y="2"/>
                    <a:pt x="7" y="2"/>
                  </a:cubicBezTo>
                  <a:cubicBezTo>
                    <a:pt x="5" y="2"/>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Oval 784">
              <a:extLst>
                <a:ext uri="{FF2B5EF4-FFF2-40B4-BE49-F238E27FC236}">
                  <a16:creationId xmlns:a16="http://schemas.microsoft.com/office/drawing/2014/main" id="{C15FD239-50A0-474A-9685-44266F2AFC56}"/>
                </a:ext>
              </a:extLst>
            </p:cNvPr>
            <p:cNvSpPr>
              <a:spLocks noChangeArrowheads="1"/>
            </p:cNvSpPr>
            <p:nvPr/>
          </p:nvSpPr>
          <p:spPr bwMode="auto">
            <a:xfrm>
              <a:off x="8710140" y="400520"/>
              <a:ext cx="123632" cy="12225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3" name="Freeform 785">
            <a:extLst>
              <a:ext uri="{FF2B5EF4-FFF2-40B4-BE49-F238E27FC236}">
                <a16:creationId xmlns:a16="http://schemas.microsoft.com/office/drawing/2014/main" id="{FF22E67F-4D41-4DD2-9F99-02CB0AECA747}"/>
              </a:ext>
            </a:extLst>
          </p:cNvPr>
          <p:cNvSpPr>
            <a:spLocks noChangeAspect="1" noEditPoints="1"/>
          </p:cNvSpPr>
          <p:nvPr/>
        </p:nvSpPr>
        <p:spPr bwMode="auto">
          <a:xfrm>
            <a:off x="9897470" y="1508477"/>
            <a:ext cx="347637" cy="274320"/>
          </a:xfrm>
          <a:custGeom>
            <a:avLst/>
            <a:gdLst>
              <a:gd name="T0" fmla="*/ 83 w 85"/>
              <a:gd name="T1" fmla="*/ 63 h 67"/>
              <a:gd name="T2" fmla="*/ 44 w 85"/>
              <a:gd name="T3" fmla="*/ 1 h 67"/>
              <a:gd name="T4" fmla="*/ 40 w 85"/>
              <a:gd name="T5" fmla="*/ 1 h 67"/>
              <a:gd name="T6" fmla="*/ 1 w 85"/>
              <a:gd name="T7" fmla="*/ 63 h 67"/>
              <a:gd name="T8" fmla="*/ 3 w 85"/>
              <a:gd name="T9" fmla="*/ 67 h 67"/>
              <a:gd name="T10" fmla="*/ 81 w 85"/>
              <a:gd name="T11" fmla="*/ 67 h 67"/>
              <a:gd name="T12" fmla="*/ 83 w 85"/>
              <a:gd name="T13" fmla="*/ 63 h 67"/>
              <a:gd name="T14" fmla="*/ 46 w 85"/>
              <a:gd name="T15" fmla="*/ 59 h 67"/>
              <a:gd name="T16" fmla="*/ 38 w 85"/>
              <a:gd name="T17" fmla="*/ 59 h 67"/>
              <a:gd name="T18" fmla="*/ 38 w 85"/>
              <a:gd name="T19" fmla="*/ 51 h 67"/>
              <a:gd name="T20" fmla="*/ 46 w 85"/>
              <a:gd name="T21" fmla="*/ 51 h 67"/>
              <a:gd name="T22" fmla="*/ 46 w 85"/>
              <a:gd name="T23" fmla="*/ 59 h 67"/>
              <a:gd name="T24" fmla="*/ 45 w 85"/>
              <a:gd name="T25" fmla="*/ 46 h 67"/>
              <a:gd name="T26" fmla="*/ 42 w 85"/>
              <a:gd name="T27" fmla="*/ 46 h 67"/>
              <a:gd name="T28" fmla="*/ 39 w 85"/>
              <a:gd name="T29" fmla="*/ 46 h 67"/>
              <a:gd name="T30" fmla="*/ 37 w 85"/>
              <a:gd name="T31" fmla="*/ 22 h 67"/>
              <a:gd name="T32" fmla="*/ 39 w 85"/>
              <a:gd name="T33" fmla="*/ 22 h 67"/>
              <a:gd name="T34" fmla="*/ 42 w 85"/>
              <a:gd name="T35" fmla="*/ 22 h 67"/>
              <a:gd name="T36" fmla="*/ 45 w 85"/>
              <a:gd name="T37" fmla="*/ 22 h 67"/>
              <a:gd name="T38" fmla="*/ 47 w 85"/>
              <a:gd name="T39" fmla="*/ 22 h 67"/>
              <a:gd name="T40" fmla="*/ 45 w 85"/>
              <a:gd name="T41" fmla="*/ 4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67">
                <a:moveTo>
                  <a:pt x="83" y="63"/>
                </a:moveTo>
                <a:cubicBezTo>
                  <a:pt x="44" y="1"/>
                  <a:pt x="44" y="1"/>
                  <a:pt x="44" y="1"/>
                </a:cubicBezTo>
                <a:cubicBezTo>
                  <a:pt x="43" y="0"/>
                  <a:pt x="41" y="0"/>
                  <a:pt x="40" y="1"/>
                </a:cubicBezTo>
                <a:cubicBezTo>
                  <a:pt x="1" y="63"/>
                  <a:pt x="1" y="63"/>
                  <a:pt x="1" y="63"/>
                </a:cubicBezTo>
                <a:cubicBezTo>
                  <a:pt x="0" y="65"/>
                  <a:pt x="1" y="67"/>
                  <a:pt x="3" y="67"/>
                </a:cubicBezTo>
                <a:cubicBezTo>
                  <a:pt x="81" y="67"/>
                  <a:pt x="81" y="67"/>
                  <a:pt x="81" y="67"/>
                </a:cubicBezTo>
                <a:cubicBezTo>
                  <a:pt x="83" y="67"/>
                  <a:pt x="85" y="65"/>
                  <a:pt x="83" y="63"/>
                </a:cubicBezTo>
                <a:close/>
                <a:moveTo>
                  <a:pt x="46" y="59"/>
                </a:moveTo>
                <a:cubicBezTo>
                  <a:pt x="38" y="59"/>
                  <a:pt x="38" y="59"/>
                  <a:pt x="38" y="59"/>
                </a:cubicBezTo>
                <a:cubicBezTo>
                  <a:pt x="38" y="51"/>
                  <a:pt x="38" y="51"/>
                  <a:pt x="38" y="51"/>
                </a:cubicBezTo>
                <a:cubicBezTo>
                  <a:pt x="46" y="51"/>
                  <a:pt x="46" y="51"/>
                  <a:pt x="46" y="51"/>
                </a:cubicBezTo>
                <a:lnTo>
                  <a:pt x="46" y="59"/>
                </a:lnTo>
                <a:close/>
                <a:moveTo>
                  <a:pt x="45" y="46"/>
                </a:moveTo>
                <a:cubicBezTo>
                  <a:pt x="42" y="46"/>
                  <a:pt x="42" y="46"/>
                  <a:pt x="42" y="46"/>
                </a:cubicBezTo>
                <a:cubicBezTo>
                  <a:pt x="39" y="46"/>
                  <a:pt x="39" y="46"/>
                  <a:pt x="39" y="46"/>
                </a:cubicBezTo>
                <a:cubicBezTo>
                  <a:pt x="39" y="38"/>
                  <a:pt x="38" y="30"/>
                  <a:pt x="37" y="22"/>
                </a:cubicBezTo>
                <a:cubicBezTo>
                  <a:pt x="39" y="22"/>
                  <a:pt x="39" y="22"/>
                  <a:pt x="39" y="22"/>
                </a:cubicBezTo>
                <a:cubicBezTo>
                  <a:pt x="42" y="22"/>
                  <a:pt x="42" y="22"/>
                  <a:pt x="42" y="22"/>
                </a:cubicBezTo>
                <a:cubicBezTo>
                  <a:pt x="45" y="22"/>
                  <a:pt x="45" y="22"/>
                  <a:pt x="45" y="22"/>
                </a:cubicBezTo>
                <a:cubicBezTo>
                  <a:pt x="47" y="22"/>
                  <a:pt x="47" y="22"/>
                  <a:pt x="47" y="22"/>
                </a:cubicBezTo>
                <a:cubicBezTo>
                  <a:pt x="46" y="30"/>
                  <a:pt x="45" y="38"/>
                  <a:pt x="45" y="46"/>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4" name="Freeform 935">
            <a:extLst>
              <a:ext uri="{FF2B5EF4-FFF2-40B4-BE49-F238E27FC236}">
                <a16:creationId xmlns:a16="http://schemas.microsoft.com/office/drawing/2014/main" id="{6EBB75BE-1D0C-48D3-8D7B-AB8EA53B1AFF}"/>
              </a:ext>
            </a:extLst>
          </p:cNvPr>
          <p:cNvSpPr>
            <a:spLocks noChangeAspect="1"/>
          </p:cNvSpPr>
          <p:nvPr/>
        </p:nvSpPr>
        <p:spPr bwMode="auto">
          <a:xfrm>
            <a:off x="673608" y="1483642"/>
            <a:ext cx="322686" cy="274320"/>
          </a:xfrm>
          <a:custGeom>
            <a:avLst/>
            <a:gdLst>
              <a:gd name="T0" fmla="*/ 85 w 86"/>
              <a:gd name="T1" fmla="*/ 8 h 73"/>
              <a:gd name="T2" fmla="*/ 77 w 86"/>
              <a:gd name="T3" fmla="*/ 1 h 73"/>
              <a:gd name="T4" fmla="*/ 73 w 86"/>
              <a:gd name="T5" fmla="*/ 1 h 73"/>
              <a:gd name="T6" fmla="*/ 31 w 86"/>
              <a:gd name="T7" fmla="*/ 51 h 73"/>
              <a:gd name="T8" fmla="*/ 12 w 86"/>
              <a:gd name="T9" fmla="*/ 33 h 73"/>
              <a:gd name="T10" fmla="*/ 8 w 86"/>
              <a:gd name="T11" fmla="*/ 33 h 73"/>
              <a:gd name="T12" fmla="*/ 1 w 86"/>
              <a:gd name="T13" fmla="*/ 41 h 73"/>
              <a:gd name="T14" fmla="*/ 1 w 86"/>
              <a:gd name="T15" fmla="*/ 45 h 73"/>
              <a:gd name="T16" fmla="*/ 30 w 86"/>
              <a:gd name="T17" fmla="*/ 72 h 73"/>
              <a:gd name="T18" fmla="*/ 34 w 86"/>
              <a:gd name="T19" fmla="*/ 72 h 73"/>
              <a:gd name="T20" fmla="*/ 85 w 86"/>
              <a:gd name="T21" fmla="*/ 12 h 73"/>
              <a:gd name="T22" fmla="*/ 85 w 86"/>
              <a:gd name="T23" fmla="*/ 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73">
                <a:moveTo>
                  <a:pt x="85" y="8"/>
                </a:moveTo>
                <a:cubicBezTo>
                  <a:pt x="77" y="1"/>
                  <a:pt x="77" y="1"/>
                  <a:pt x="77" y="1"/>
                </a:cubicBezTo>
                <a:cubicBezTo>
                  <a:pt x="75" y="0"/>
                  <a:pt x="74" y="0"/>
                  <a:pt x="73" y="1"/>
                </a:cubicBezTo>
                <a:cubicBezTo>
                  <a:pt x="31" y="51"/>
                  <a:pt x="31" y="51"/>
                  <a:pt x="31" y="51"/>
                </a:cubicBezTo>
                <a:cubicBezTo>
                  <a:pt x="12" y="33"/>
                  <a:pt x="12" y="33"/>
                  <a:pt x="12" y="33"/>
                </a:cubicBezTo>
                <a:cubicBezTo>
                  <a:pt x="11" y="32"/>
                  <a:pt x="9" y="32"/>
                  <a:pt x="8" y="33"/>
                </a:cubicBezTo>
                <a:cubicBezTo>
                  <a:pt x="1" y="41"/>
                  <a:pt x="1" y="41"/>
                  <a:pt x="1" y="41"/>
                </a:cubicBezTo>
                <a:cubicBezTo>
                  <a:pt x="0" y="43"/>
                  <a:pt x="0" y="44"/>
                  <a:pt x="1" y="45"/>
                </a:cubicBezTo>
                <a:cubicBezTo>
                  <a:pt x="30" y="72"/>
                  <a:pt x="30" y="72"/>
                  <a:pt x="30" y="72"/>
                </a:cubicBezTo>
                <a:cubicBezTo>
                  <a:pt x="31" y="73"/>
                  <a:pt x="33" y="73"/>
                  <a:pt x="34" y="72"/>
                </a:cubicBezTo>
                <a:cubicBezTo>
                  <a:pt x="85" y="12"/>
                  <a:pt x="85" y="12"/>
                  <a:pt x="85" y="12"/>
                </a:cubicBezTo>
                <a:cubicBezTo>
                  <a:pt x="86" y="11"/>
                  <a:pt x="86" y="9"/>
                  <a:pt x="85" y="8"/>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85" name="Group 84">
            <a:extLst>
              <a:ext uri="{FF2B5EF4-FFF2-40B4-BE49-F238E27FC236}">
                <a16:creationId xmlns:a16="http://schemas.microsoft.com/office/drawing/2014/main" id="{38C34E53-EC34-4093-824E-4747E421FB98}"/>
              </a:ext>
            </a:extLst>
          </p:cNvPr>
          <p:cNvGrpSpPr>
            <a:grpSpLocks noChangeAspect="1"/>
          </p:cNvGrpSpPr>
          <p:nvPr/>
        </p:nvGrpSpPr>
        <p:grpSpPr>
          <a:xfrm>
            <a:off x="10875984" y="1433971"/>
            <a:ext cx="225681" cy="274320"/>
            <a:chOff x="10061855" y="270019"/>
            <a:chExt cx="478045" cy="581073"/>
          </a:xfrm>
          <a:solidFill>
            <a:srgbClr val="595555"/>
          </a:solidFill>
        </p:grpSpPr>
        <p:sp>
          <p:nvSpPr>
            <p:cNvPr id="86" name="Freeform 949">
              <a:extLst>
                <a:ext uri="{FF2B5EF4-FFF2-40B4-BE49-F238E27FC236}">
                  <a16:creationId xmlns:a16="http://schemas.microsoft.com/office/drawing/2014/main" id="{57C3BD8A-B570-4C5C-9F85-ABABFB6AF1F9}"/>
                </a:ext>
              </a:extLst>
            </p:cNvPr>
            <p:cNvSpPr>
              <a:spLocks noEditPoints="1"/>
            </p:cNvSpPr>
            <p:nvPr/>
          </p:nvSpPr>
          <p:spPr bwMode="auto">
            <a:xfrm>
              <a:off x="10383299" y="454094"/>
              <a:ext cx="156601" cy="225286"/>
            </a:xfrm>
            <a:custGeom>
              <a:avLst/>
              <a:gdLst>
                <a:gd name="T0" fmla="*/ 12 w 23"/>
                <a:gd name="T1" fmla="*/ 32 h 33"/>
                <a:gd name="T2" fmla="*/ 23 w 23"/>
                <a:gd name="T3" fmla="*/ 11 h 33"/>
                <a:gd name="T4" fmla="*/ 11 w 23"/>
                <a:gd name="T5" fmla="*/ 0 h 33"/>
                <a:gd name="T6" fmla="*/ 0 w 23"/>
                <a:gd name="T7" fmla="*/ 11 h 33"/>
                <a:gd name="T8" fmla="*/ 11 w 23"/>
                <a:gd name="T9" fmla="*/ 32 h 33"/>
                <a:gd name="T10" fmla="*/ 12 w 23"/>
                <a:gd name="T11" fmla="*/ 32 h 33"/>
                <a:gd name="T12" fmla="*/ 7 w 23"/>
                <a:gd name="T13" fmla="*/ 12 h 33"/>
                <a:gd name="T14" fmla="*/ 11 w 23"/>
                <a:gd name="T15" fmla="*/ 7 h 33"/>
                <a:gd name="T16" fmla="*/ 16 w 23"/>
                <a:gd name="T17" fmla="*/ 12 h 33"/>
                <a:gd name="T18" fmla="*/ 11 w 23"/>
                <a:gd name="T19" fmla="*/ 16 h 33"/>
                <a:gd name="T20" fmla="*/ 7 w 23"/>
                <a:gd name="T21" fmla="*/ 1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33">
                  <a:moveTo>
                    <a:pt x="12" y="32"/>
                  </a:moveTo>
                  <a:cubicBezTo>
                    <a:pt x="12" y="32"/>
                    <a:pt x="23" y="18"/>
                    <a:pt x="23" y="11"/>
                  </a:cubicBezTo>
                  <a:cubicBezTo>
                    <a:pt x="23" y="5"/>
                    <a:pt x="18" y="0"/>
                    <a:pt x="11" y="0"/>
                  </a:cubicBezTo>
                  <a:cubicBezTo>
                    <a:pt x="5" y="0"/>
                    <a:pt x="0" y="5"/>
                    <a:pt x="0" y="11"/>
                  </a:cubicBezTo>
                  <a:cubicBezTo>
                    <a:pt x="0" y="18"/>
                    <a:pt x="11" y="32"/>
                    <a:pt x="11" y="32"/>
                  </a:cubicBezTo>
                  <a:cubicBezTo>
                    <a:pt x="11" y="33"/>
                    <a:pt x="12" y="33"/>
                    <a:pt x="12" y="32"/>
                  </a:cubicBezTo>
                  <a:close/>
                  <a:moveTo>
                    <a:pt x="7" y="12"/>
                  </a:moveTo>
                  <a:cubicBezTo>
                    <a:pt x="7" y="9"/>
                    <a:pt x="9" y="7"/>
                    <a:pt x="11" y="7"/>
                  </a:cubicBezTo>
                  <a:cubicBezTo>
                    <a:pt x="14" y="7"/>
                    <a:pt x="16" y="9"/>
                    <a:pt x="16" y="12"/>
                  </a:cubicBezTo>
                  <a:cubicBezTo>
                    <a:pt x="16" y="14"/>
                    <a:pt x="14" y="16"/>
                    <a:pt x="11" y="16"/>
                  </a:cubicBezTo>
                  <a:cubicBezTo>
                    <a:pt x="9" y="16"/>
                    <a:pt x="7" y="14"/>
                    <a:pt x="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950">
              <a:extLst>
                <a:ext uri="{FF2B5EF4-FFF2-40B4-BE49-F238E27FC236}">
                  <a16:creationId xmlns:a16="http://schemas.microsoft.com/office/drawing/2014/main" id="{F2ACA634-FAC2-437D-B70B-147413CD688F}"/>
                </a:ext>
              </a:extLst>
            </p:cNvPr>
            <p:cNvSpPr>
              <a:spLocks noEditPoints="1"/>
            </p:cNvSpPr>
            <p:nvPr/>
          </p:nvSpPr>
          <p:spPr bwMode="auto">
            <a:xfrm>
              <a:off x="10061855" y="270019"/>
              <a:ext cx="164843" cy="225286"/>
            </a:xfrm>
            <a:custGeom>
              <a:avLst/>
              <a:gdLst>
                <a:gd name="T0" fmla="*/ 13 w 24"/>
                <a:gd name="T1" fmla="*/ 33 h 33"/>
                <a:gd name="T2" fmla="*/ 24 w 24"/>
                <a:gd name="T3" fmla="*/ 12 h 33"/>
                <a:gd name="T4" fmla="*/ 12 w 24"/>
                <a:gd name="T5" fmla="*/ 0 h 33"/>
                <a:gd name="T6" fmla="*/ 0 w 24"/>
                <a:gd name="T7" fmla="*/ 12 h 33"/>
                <a:gd name="T8" fmla="*/ 11 w 24"/>
                <a:gd name="T9" fmla="*/ 33 h 33"/>
                <a:gd name="T10" fmla="*/ 13 w 24"/>
                <a:gd name="T11" fmla="*/ 33 h 33"/>
                <a:gd name="T12" fmla="*/ 8 w 24"/>
                <a:gd name="T13" fmla="*/ 12 h 33"/>
                <a:gd name="T14" fmla="*/ 12 w 24"/>
                <a:gd name="T15" fmla="*/ 8 h 33"/>
                <a:gd name="T16" fmla="*/ 16 w 24"/>
                <a:gd name="T17" fmla="*/ 12 h 33"/>
                <a:gd name="T18" fmla="*/ 12 w 24"/>
                <a:gd name="T19" fmla="*/ 16 h 33"/>
                <a:gd name="T20" fmla="*/ 8 w 24"/>
                <a:gd name="T21" fmla="*/ 1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33">
                  <a:moveTo>
                    <a:pt x="13" y="33"/>
                  </a:moveTo>
                  <a:cubicBezTo>
                    <a:pt x="13" y="33"/>
                    <a:pt x="24" y="18"/>
                    <a:pt x="24" y="12"/>
                  </a:cubicBezTo>
                  <a:cubicBezTo>
                    <a:pt x="24" y="5"/>
                    <a:pt x="18" y="0"/>
                    <a:pt x="12" y="0"/>
                  </a:cubicBezTo>
                  <a:cubicBezTo>
                    <a:pt x="5" y="0"/>
                    <a:pt x="0" y="5"/>
                    <a:pt x="0" y="12"/>
                  </a:cubicBezTo>
                  <a:cubicBezTo>
                    <a:pt x="0" y="18"/>
                    <a:pt x="11" y="33"/>
                    <a:pt x="11" y="33"/>
                  </a:cubicBezTo>
                  <a:cubicBezTo>
                    <a:pt x="11" y="33"/>
                    <a:pt x="12" y="33"/>
                    <a:pt x="13" y="33"/>
                  </a:cubicBezTo>
                  <a:close/>
                  <a:moveTo>
                    <a:pt x="8" y="12"/>
                  </a:moveTo>
                  <a:cubicBezTo>
                    <a:pt x="8" y="10"/>
                    <a:pt x="9" y="8"/>
                    <a:pt x="12" y="8"/>
                  </a:cubicBezTo>
                  <a:cubicBezTo>
                    <a:pt x="14" y="8"/>
                    <a:pt x="16" y="10"/>
                    <a:pt x="16" y="12"/>
                  </a:cubicBezTo>
                  <a:cubicBezTo>
                    <a:pt x="16" y="14"/>
                    <a:pt x="14" y="16"/>
                    <a:pt x="12" y="16"/>
                  </a:cubicBezTo>
                  <a:cubicBezTo>
                    <a:pt x="9" y="16"/>
                    <a:pt x="8" y="14"/>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8" name="Freeform 951">
              <a:extLst>
                <a:ext uri="{FF2B5EF4-FFF2-40B4-BE49-F238E27FC236}">
                  <a16:creationId xmlns:a16="http://schemas.microsoft.com/office/drawing/2014/main" id="{B4747752-8708-45C0-B159-95716DD1C382}"/>
                </a:ext>
              </a:extLst>
            </p:cNvPr>
            <p:cNvSpPr>
              <a:spLocks noEditPoints="1"/>
            </p:cNvSpPr>
            <p:nvPr/>
          </p:nvSpPr>
          <p:spPr bwMode="auto">
            <a:xfrm>
              <a:off x="10075592" y="522779"/>
              <a:ext cx="457440" cy="328313"/>
            </a:xfrm>
            <a:custGeom>
              <a:avLst/>
              <a:gdLst>
                <a:gd name="T0" fmla="*/ 56 w 67"/>
                <a:gd name="T1" fmla="*/ 27 h 48"/>
                <a:gd name="T2" fmla="*/ 52 w 67"/>
                <a:gd name="T3" fmla="*/ 28 h 48"/>
                <a:gd name="T4" fmla="*/ 35 w 67"/>
                <a:gd name="T5" fmla="*/ 8 h 48"/>
                <a:gd name="T6" fmla="*/ 21 w 67"/>
                <a:gd name="T7" fmla="*/ 8 h 48"/>
                <a:gd name="T8" fmla="*/ 10 w 67"/>
                <a:gd name="T9" fmla="*/ 0 h 48"/>
                <a:gd name="T10" fmla="*/ 0 w 67"/>
                <a:gd name="T11" fmla="*/ 11 h 48"/>
                <a:gd name="T12" fmla="*/ 10 w 67"/>
                <a:gd name="T13" fmla="*/ 22 h 48"/>
                <a:gd name="T14" fmla="*/ 21 w 67"/>
                <a:gd name="T15" fmla="*/ 14 h 48"/>
                <a:gd name="T16" fmla="*/ 33 w 67"/>
                <a:gd name="T17" fmla="*/ 14 h 48"/>
                <a:gd name="T18" fmla="*/ 48 w 67"/>
                <a:gd name="T19" fmla="*/ 31 h 48"/>
                <a:gd name="T20" fmla="*/ 46 w 67"/>
                <a:gd name="T21" fmla="*/ 38 h 48"/>
                <a:gd name="T22" fmla="*/ 56 w 67"/>
                <a:gd name="T23" fmla="*/ 48 h 48"/>
                <a:gd name="T24" fmla="*/ 67 w 67"/>
                <a:gd name="T25" fmla="*/ 38 h 48"/>
                <a:gd name="T26" fmla="*/ 56 w 67"/>
                <a:gd name="T27" fmla="*/ 27 h 48"/>
                <a:gd name="T28" fmla="*/ 10 w 67"/>
                <a:gd name="T29" fmla="*/ 16 h 48"/>
                <a:gd name="T30" fmla="*/ 5 w 67"/>
                <a:gd name="T31" fmla="*/ 11 h 48"/>
                <a:gd name="T32" fmla="*/ 10 w 67"/>
                <a:gd name="T33" fmla="*/ 6 h 48"/>
                <a:gd name="T34" fmla="*/ 16 w 67"/>
                <a:gd name="T35" fmla="*/ 11 h 48"/>
                <a:gd name="T36" fmla="*/ 10 w 67"/>
                <a:gd name="T37" fmla="*/ 16 h 48"/>
                <a:gd name="T38" fmla="*/ 56 w 67"/>
                <a:gd name="T39" fmla="*/ 43 h 48"/>
                <a:gd name="T40" fmla="*/ 51 w 67"/>
                <a:gd name="T41" fmla="*/ 38 h 48"/>
                <a:gd name="T42" fmla="*/ 56 w 67"/>
                <a:gd name="T43" fmla="*/ 32 h 48"/>
                <a:gd name="T44" fmla="*/ 62 w 67"/>
                <a:gd name="T45" fmla="*/ 38 h 48"/>
                <a:gd name="T46" fmla="*/ 56 w 67"/>
                <a:gd name="T47" fmla="*/ 4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 h="48">
                  <a:moveTo>
                    <a:pt x="56" y="27"/>
                  </a:moveTo>
                  <a:cubicBezTo>
                    <a:pt x="55" y="27"/>
                    <a:pt x="53" y="27"/>
                    <a:pt x="52" y="28"/>
                  </a:cubicBezTo>
                  <a:cubicBezTo>
                    <a:pt x="35" y="8"/>
                    <a:pt x="35" y="8"/>
                    <a:pt x="35" y="8"/>
                  </a:cubicBezTo>
                  <a:cubicBezTo>
                    <a:pt x="21" y="8"/>
                    <a:pt x="21" y="8"/>
                    <a:pt x="21" y="8"/>
                  </a:cubicBezTo>
                  <a:cubicBezTo>
                    <a:pt x="20" y="4"/>
                    <a:pt x="15" y="0"/>
                    <a:pt x="10" y="0"/>
                  </a:cubicBezTo>
                  <a:cubicBezTo>
                    <a:pt x="5" y="0"/>
                    <a:pt x="0" y="5"/>
                    <a:pt x="0" y="11"/>
                  </a:cubicBezTo>
                  <a:cubicBezTo>
                    <a:pt x="0" y="17"/>
                    <a:pt x="5" y="22"/>
                    <a:pt x="10" y="22"/>
                  </a:cubicBezTo>
                  <a:cubicBezTo>
                    <a:pt x="15" y="22"/>
                    <a:pt x="20" y="18"/>
                    <a:pt x="21" y="14"/>
                  </a:cubicBezTo>
                  <a:cubicBezTo>
                    <a:pt x="33" y="14"/>
                    <a:pt x="33" y="14"/>
                    <a:pt x="33" y="14"/>
                  </a:cubicBezTo>
                  <a:cubicBezTo>
                    <a:pt x="48" y="31"/>
                    <a:pt x="48" y="31"/>
                    <a:pt x="48" y="31"/>
                  </a:cubicBezTo>
                  <a:cubicBezTo>
                    <a:pt x="47" y="33"/>
                    <a:pt x="46" y="35"/>
                    <a:pt x="46" y="38"/>
                  </a:cubicBezTo>
                  <a:cubicBezTo>
                    <a:pt x="46" y="43"/>
                    <a:pt x="51" y="48"/>
                    <a:pt x="56" y="48"/>
                  </a:cubicBezTo>
                  <a:cubicBezTo>
                    <a:pt x="62" y="48"/>
                    <a:pt x="67" y="43"/>
                    <a:pt x="67" y="38"/>
                  </a:cubicBezTo>
                  <a:cubicBezTo>
                    <a:pt x="67" y="32"/>
                    <a:pt x="62" y="27"/>
                    <a:pt x="56" y="27"/>
                  </a:cubicBezTo>
                  <a:close/>
                  <a:moveTo>
                    <a:pt x="10" y="16"/>
                  </a:moveTo>
                  <a:cubicBezTo>
                    <a:pt x="7" y="16"/>
                    <a:pt x="5" y="14"/>
                    <a:pt x="5" y="11"/>
                  </a:cubicBezTo>
                  <a:cubicBezTo>
                    <a:pt x="5" y="8"/>
                    <a:pt x="7" y="6"/>
                    <a:pt x="10" y="6"/>
                  </a:cubicBezTo>
                  <a:cubicBezTo>
                    <a:pt x="13" y="6"/>
                    <a:pt x="16" y="8"/>
                    <a:pt x="16" y="11"/>
                  </a:cubicBezTo>
                  <a:cubicBezTo>
                    <a:pt x="16" y="14"/>
                    <a:pt x="13" y="16"/>
                    <a:pt x="10" y="16"/>
                  </a:cubicBezTo>
                  <a:close/>
                  <a:moveTo>
                    <a:pt x="56" y="43"/>
                  </a:moveTo>
                  <a:cubicBezTo>
                    <a:pt x="53" y="43"/>
                    <a:pt x="51" y="41"/>
                    <a:pt x="51" y="38"/>
                  </a:cubicBezTo>
                  <a:cubicBezTo>
                    <a:pt x="51" y="35"/>
                    <a:pt x="53" y="32"/>
                    <a:pt x="56" y="32"/>
                  </a:cubicBezTo>
                  <a:cubicBezTo>
                    <a:pt x="59" y="32"/>
                    <a:pt x="62" y="35"/>
                    <a:pt x="62" y="38"/>
                  </a:cubicBezTo>
                  <a:cubicBezTo>
                    <a:pt x="62" y="41"/>
                    <a:pt x="59" y="43"/>
                    <a:pt x="56"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9" name="Freeform 802">
            <a:extLst>
              <a:ext uri="{FF2B5EF4-FFF2-40B4-BE49-F238E27FC236}">
                <a16:creationId xmlns:a16="http://schemas.microsoft.com/office/drawing/2014/main" id="{25CBABF7-65B8-4C51-B1AF-B099D3C67A09}"/>
              </a:ext>
            </a:extLst>
          </p:cNvPr>
          <p:cNvSpPr>
            <a:spLocks noChangeAspect="1"/>
          </p:cNvSpPr>
          <p:nvPr/>
        </p:nvSpPr>
        <p:spPr bwMode="auto">
          <a:xfrm>
            <a:off x="698442" y="3417567"/>
            <a:ext cx="245745" cy="274320"/>
          </a:xfrm>
          <a:custGeom>
            <a:avLst/>
            <a:gdLst>
              <a:gd name="T0" fmla="*/ 56 w 78"/>
              <a:gd name="T1" fmla="*/ 39 h 87"/>
              <a:gd name="T2" fmla="*/ 49 w 78"/>
              <a:gd name="T3" fmla="*/ 36 h 87"/>
              <a:gd name="T4" fmla="*/ 39 w 78"/>
              <a:gd name="T5" fmla="*/ 14 h 87"/>
              <a:gd name="T6" fmla="*/ 42 w 78"/>
              <a:gd name="T7" fmla="*/ 8 h 87"/>
              <a:gd name="T8" fmla="*/ 47 w 78"/>
              <a:gd name="T9" fmla="*/ 10 h 87"/>
              <a:gd name="T10" fmla="*/ 50 w 78"/>
              <a:gd name="T11" fmla="*/ 6 h 87"/>
              <a:gd name="T12" fmla="*/ 46 w 78"/>
              <a:gd name="T13" fmla="*/ 0 h 87"/>
              <a:gd name="T14" fmla="*/ 42 w 78"/>
              <a:gd name="T15" fmla="*/ 2 h 87"/>
              <a:gd name="T16" fmla="*/ 32 w 78"/>
              <a:gd name="T17" fmla="*/ 14 h 87"/>
              <a:gd name="T18" fmla="*/ 44 w 78"/>
              <a:gd name="T19" fmla="*/ 41 h 87"/>
              <a:gd name="T20" fmla="*/ 52 w 78"/>
              <a:gd name="T21" fmla="*/ 53 h 87"/>
              <a:gd name="T22" fmla="*/ 52 w 78"/>
              <a:gd name="T23" fmla="*/ 68 h 87"/>
              <a:gd name="T24" fmla="*/ 52 w 78"/>
              <a:gd name="T25" fmla="*/ 68 h 87"/>
              <a:gd name="T26" fmla="*/ 37 w 78"/>
              <a:gd name="T27" fmla="*/ 79 h 87"/>
              <a:gd name="T28" fmla="*/ 29 w 78"/>
              <a:gd name="T29" fmla="*/ 68 h 87"/>
              <a:gd name="T30" fmla="*/ 29 w 78"/>
              <a:gd name="T31" fmla="*/ 49 h 87"/>
              <a:gd name="T32" fmla="*/ 23 w 78"/>
              <a:gd name="T33" fmla="*/ 36 h 87"/>
              <a:gd name="T34" fmla="*/ 19 w 78"/>
              <a:gd name="T35" fmla="*/ 33 h 87"/>
              <a:gd name="T36" fmla="*/ 17 w 78"/>
              <a:gd name="T37" fmla="*/ 26 h 87"/>
              <a:gd name="T38" fmla="*/ 7 w 78"/>
              <a:gd name="T39" fmla="*/ 23 h 87"/>
              <a:gd name="T40" fmla="*/ 1 w 78"/>
              <a:gd name="T41" fmla="*/ 32 h 87"/>
              <a:gd name="T42" fmla="*/ 8 w 78"/>
              <a:gd name="T43" fmla="*/ 40 h 87"/>
              <a:gd name="T44" fmla="*/ 15 w 78"/>
              <a:gd name="T45" fmla="*/ 38 h 87"/>
              <a:gd name="T46" fmla="*/ 19 w 78"/>
              <a:gd name="T47" fmla="*/ 41 h 87"/>
              <a:gd name="T48" fmla="*/ 23 w 78"/>
              <a:gd name="T49" fmla="*/ 49 h 87"/>
              <a:gd name="T50" fmla="*/ 23 w 78"/>
              <a:gd name="T51" fmla="*/ 68 h 87"/>
              <a:gd name="T52" fmla="*/ 23 w 78"/>
              <a:gd name="T53" fmla="*/ 68 h 87"/>
              <a:gd name="T54" fmla="*/ 43 w 78"/>
              <a:gd name="T55" fmla="*/ 86 h 87"/>
              <a:gd name="T56" fmla="*/ 59 w 78"/>
              <a:gd name="T57" fmla="*/ 67 h 87"/>
              <a:gd name="T58" fmla="*/ 59 w 78"/>
              <a:gd name="T59" fmla="*/ 53 h 87"/>
              <a:gd name="T60" fmla="*/ 66 w 78"/>
              <a:gd name="T61" fmla="*/ 41 h 87"/>
              <a:gd name="T62" fmla="*/ 78 w 78"/>
              <a:gd name="T63" fmla="*/ 14 h 87"/>
              <a:gd name="T64" fmla="*/ 69 w 78"/>
              <a:gd name="T65" fmla="*/ 2 h 87"/>
              <a:gd name="T66" fmla="*/ 64 w 78"/>
              <a:gd name="T67" fmla="*/ 0 h 87"/>
              <a:gd name="T68" fmla="*/ 60 w 78"/>
              <a:gd name="T69" fmla="*/ 4 h 87"/>
              <a:gd name="T70" fmla="*/ 65 w 78"/>
              <a:gd name="T71" fmla="*/ 10 h 87"/>
              <a:gd name="T72" fmla="*/ 69 w 78"/>
              <a:gd name="T73" fmla="*/ 8 h 87"/>
              <a:gd name="T74" fmla="*/ 72 w 78"/>
              <a:gd name="T75" fmla="*/ 14 h 87"/>
              <a:gd name="T76" fmla="*/ 62 w 78"/>
              <a:gd name="T77" fmla="*/ 36 h 87"/>
              <a:gd name="T78" fmla="*/ 55 w 78"/>
              <a:gd name="T79" fmla="*/ 3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 h="87">
                <a:moveTo>
                  <a:pt x="56" y="39"/>
                </a:moveTo>
                <a:cubicBezTo>
                  <a:pt x="53" y="39"/>
                  <a:pt x="51" y="38"/>
                  <a:pt x="49" y="36"/>
                </a:cubicBezTo>
                <a:cubicBezTo>
                  <a:pt x="46" y="34"/>
                  <a:pt x="39" y="24"/>
                  <a:pt x="39" y="14"/>
                </a:cubicBezTo>
                <a:cubicBezTo>
                  <a:pt x="39" y="11"/>
                  <a:pt x="40" y="8"/>
                  <a:pt x="42" y="8"/>
                </a:cubicBezTo>
                <a:cubicBezTo>
                  <a:pt x="43" y="9"/>
                  <a:pt x="45" y="10"/>
                  <a:pt x="47" y="10"/>
                </a:cubicBezTo>
                <a:cubicBezTo>
                  <a:pt x="49" y="9"/>
                  <a:pt x="50" y="8"/>
                  <a:pt x="50" y="6"/>
                </a:cubicBezTo>
                <a:cubicBezTo>
                  <a:pt x="51" y="3"/>
                  <a:pt x="49" y="0"/>
                  <a:pt x="46" y="0"/>
                </a:cubicBezTo>
                <a:cubicBezTo>
                  <a:pt x="44" y="0"/>
                  <a:pt x="43" y="1"/>
                  <a:pt x="42" y="2"/>
                </a:cubicBezTo>
                <a:cubicBezTo>
                  <a:pt x="36" y="3"/>
                  <a:pt x="32" y="7"/>
                  <a:pt x="32" y="14"/>
                </a:cubicBezTo>
                <a:cubicBezTo>
                  <a:pt x="32" y="26"/>
                  <a:pt x="41" y="37"/>
                  <a:pt x="44" y="41"/>
                </a:cubicBezTo>
                <a:cubicBezTo>
                  <a:pt x="47" y="43"/>
                  <a:pt x="52" y="51"/>
                  <a:pt x="52" y="53"/>
                </a:cubicBezTo>
                <a:cubicBezTo>
                  <a:pt x="52" y="68"/>
                  <a:pt x="52" y="68"/>
                  <a:pt x="52" y="68"/>
                </a:cubicBezTo>
                <a:cubicBezTo>
                  <a:pt x="52" y="68"/>
                  <a:pt x="52" y="68"/>
                  <a:pt x="52" y="68"/>
                </a:cubicBezTo>
                <a:cubicBezTo>
                  <a:pt x="52" y="75"/>
                  <a:pt x="45" y="81"/>
                  <a:pt x="37" y="79"/>
                </a:cubicBezTo>
                <a:cubicBezTo>
                  <a:pt x="32" y="77"/>
                  <a:pt x="29" y="73"/>
                  <a:pt x="29" y="68"/>
                </a:cubicBezTo>
                <a:cubicBezTo>
                  <a:pt x="29" y="49"/>
                  <a:pt x="29" y="49"/>
                  <a:pt x="29" y="49"/>
                </a:cubicBezTo>
                <a:cubicBezTo>
                  <a:pt x="29" y="42"/>
                  <a:pt x="27" y="39"/>
                  <a:pt x="23" y="36"/>
                </a:cubicBezTo>
                <a:cubicBezTo>
                  <a:pt x="19" y="33"/>
                  <a:pt x="19" y="33"/>
                  <a:pt x="19" y="33"/>
                </a:cubicBezTo>
                <a:cubicBezTo>
                  <a:pt x="19" y="31"/>
                  <a:pt x="19" y="29"/>
                  <a:pt x="17" y="26"/>
                </a:cubicBezTo>
                <a:cubicBezTo>
                  <a:pt x="15" y="23"/>
                  <a:pt x="11" y="21"/>
                  <a:pt x="7" y="23"/>
                </a:cubicBezTo>
                <a:cubicBezTo>
                  <a:pt x="3" y="24"/>
                  <a:pt x="0" y="28"/>
                  <a:pt x="1" y="32"/>
                </a:cubicBezTo>
                <a:cubicBezTo>
                  <a:pt x="2" y="36"/>
                  <a:pt x="5" y="39"/>
                  <a:pt x="8" y="40"/>
                </a:cubicBezTo>
                <a:cubicBezTo>
                  <a:pt x="11" y="40"/>
                  <a:pt x="13" y="40"/>
                  <a:pt x="15" y="38"/>
                </a:cubicBezTo>
                <a:cubicBezTo>
                  <a:pt x="19" y="41"/>
                  <a:pt x="19" y="41"/>
                  <a:pt x="19" y="41"/>
                </a:cubicBezTo>
                <a:cubicBezTo>
                  <a:pt x="21" y="43"/>
                  <a:pt x="23" y="44"/>
                  <a:pt x="23" y="49"/>
                </a:cubicBezTo>
                <a:cubicBezTo>
                  <a:pt x="23" y="68"/>
                  <a:pt x="23" y="68"/>
                  <a:pt x="23" y="68"/>
                </a:cubicBezTo>
                <a:cubicBezTo>
                  <a:pt x="23" y="68"/>
                  <a:pt x="23" y="68"/>
                  <a:pt x="23" y="68"/>
                </a:cubicBezTo>
                <a:cubicBezTo>
                  <a:pt x="23" y="79"/>
                  <a:pt x="32" y="87"/>
                  <a:pt x="43" y="86"/>
                </a:cubicBezTo>
                <a:cubicBezTo>
                  <a:pt x="52" y="85"/>
                  <a:pt x="59" y="77"/>
                  <a:pt x="59" y="67"/>
                </a:cubicBezTo>
                <a:cubicBezTo>
                  <a:pt x="59" y="53"/>
                  <a:pt x="59" y="53"/>
                  <a:pt x="59" y="53"/>
                </a:cubicBezTo>
                <a:cubicBezTo>
                  <a:pt x="59" y="51"/>
                  <a:pt x="64" y="43"/>
                  <a:pt x="66" y="41"/>
                </a:cubicBezTo>
                <a:cubicBezTo>
                  <a:pt x="70" y="37"/>
                  <a:pt x="78" y="26"/>
                  <a:pt x="78" y="14"/>
                </a:cubicBezTo>
                <a:cubicBezTo>
                  <a:pt x="78" y="7"/>
                  <a:pt x="74" y="3"/>
                  <a:pt x="69" y="2"/>
                </a:cubicBezTo>
                <a:cubicBezTo>
                  <a:pt x="68" y="0"/>
                  <a:pt x="66" y="0"/>
                  <a:pt x="64" y="0"/>
                </a:cubicBezTo>
                <a:cubicBezTo>
                  <a:pt x="62" y="0"/>
                  <a:pt x="61" y="2"/>
                  <a:pt x="60" y="4"/>
                </a:cubicBezTo>
                <a:cubicBezTo>
                  <a:pt x="60" y="7"/>
                  <a:pt x="62" y="10"/>
                  <a:pt x="65" y="10"/>
                </a:cubicBezTo>
                <a:cubicBezTo>
                  <a:pt x="67" y="10"/>
                  <a:pt x="68" y="9"/>
                  <a:pt x="69" y="8"/>
                </a:cubicBezTo>
                <a:cubicBezTo>
                  <a:pt x="71" y="8"/>
                  <a:pt x="72" y="11"/>
                  <a:pt x="72" y="14"/>
                </a:cubicBezTo>
                <a:cubicBezTo>
                  <a:pt x="72" y="24"/>
                  <a:pt x="64" y="34"/>
                  <a:pt x="62" y="36"/>
                </a:cubicBezTo>
                <a:cubicBezTo>
                  <a:pt x="60" y="38"/>
                  <a:pt x="58" y="39"/>
                  <a:pt x="55" y="39"/>
                </a:cubicBezTo>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0" name="Freeform 803">
            <a:extLst>
              <a:ext uri="{FF2B5EF4-FFF2-40B4-BE49-F238E27FC236}">
                <a16:creationId xmlns:a16="http://schemas.microsoft.com/office/drawing/2014/main" id="{92F02E24-C0D3-486D-AD11-B78F4A6D7332}"/>
              </a:ext>
            </a:extLst>
          </p:cNvPr>
          <p:cNvSpPr>
            <a:spLocks noChangeAspect="1" noEditPoints="1"/>
          </p:cNvSpPr>
          <p:nvPr/>
        </p:nvSpPr>
        <p:spPr bwMode="auto">
          <a:xfrm>
            <a:off x="1759742" y="3440747"/>
            <a:ext cx="157839" cy="274320"/>
          </a:xfrm>
          <a:custGeom>
            <a:avLst/>
            <a:gdLst>
              <a:gd name="T0" fmla="*/ 0 w 46"/>
              <a:gd name="T1" fmla="*/ 5 h 80"/>
              <a:gd name="T2" fmla="*/ 0 w 46"/>
              <a:gd name="T3" fmla="*/ 74 h 80"/>
              <a:gd name="T4" fmla="*/ 6 w 46"/>
              <a:gd name="T5" fmla="*/ 80 h 80"/>
              <a:gd name="T6" fmla="*/ 40 w 46"/>
              <a:gd name="T7" fmla="*/ 80 h 80"/>
              <a:gd name="T8" fmla="*/ 46 w 46"/>
              <a:gd name="T9" fmla="*/ 74 h 80"/>
              <a:gd name="T10" fmla="*/ 46 w 46"/>
              <a:gd name="T11" fmla="*/ 5 h 80"/>
              <a:gd name="T12" fmla="*/ 40 w 46"/>
              <a:gd name="T13" fmla="*/ 0 h 80"/>
              <a:gd name="T14" fmla="*/ 6 w 46"/>
              <a:gd name="T15" fmla="*/ 0 h 80"/>
              <a:gd name="T16" fmla="*/ 0 w 46"/>
              <a:gd name="T17" fmla="*/ 5 h 80"/>
              <a:gd name="T18" fmla="*/ 23 w 46"/>
              <a:gd name="T19" fmla="*/ 76 h 80"/>
              <a:gd name="T20" fmla="*/ 19 w 46"/>
              <a:gd name="T21" fmla="*/ 72 h 80"/>
              <a:gd name="T22" fmla="*/ 23 w 46"/>
              <a:gd name="T23" fmla="*/ 68 h 80"/>
              <a:gd name="T24" fmla="*/ 27 w 46"/>
              <a:gd name="T25" fmla="*/ 72 h 80"/>
              <a:gd name="T26" fmla="*/ 23 w 46"/>
              <a:gd name="T27" fmla="*/ 76 h 80"/>
              <a:gd name="T28" fmla="*/ 39 w 46"/>
              <a:gd name="T29" fmla="*/ 64 h 80"/>
              <a:gd name="T30" fmla="*/ 7 w 46"/>
              <a:gd name="T31" fmla="*/ 64 h 80"/>
              <a:gd name="T32" fmla="*/ 7 w 46"/>
              <a:gd name="T33" fmla="*/ 10 h 80"/>
              <a:gd name="T34" fmla="*/ 39 w 46"/>
              <a:gd name="T35" fmla="*/ 10 h 80"/>
              <a:gd name="T36" fmla="*/ 39 w 46"/>
              <a:gd name="T37"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80">
                <a:moveTo>
                  <a:pt x="0" y="5"/>
                </a:moveTo>
                <a:cubicBezTo>
                  <a:pt x="0" y="74"/>
                  <a:pt x="0" y="74"/>
                  <a:pt x="0" y="74"/>
                </a:cubicBezTo>
                <a:cubicBezTo>
                  <a:pt x="0" y="77"/>
                  <a:pt x="3" y="80"/>
                  <a:pt x="6" y="80"/>
                </a:cubicBezTo>
                <a:cubicBezTo>
                  <a:pt x="40" y="80"/>
                  <a:pt x="40" y="80"/>
                  <a:pt x="40" y="80"/>
                </a:cubicBezTo>
                <a:cubicBezTo>
                  <a:pt x="43" y="80"/>
                  <a:pt x="46" y="77"/>
                  <a:pt x="46" y="74"/>
                </a:cubicBezTo>
                <a:cubicBezTo>
                  <a:pt x="46" y="5"/>
                  <a:pt x="46" y="5"/>
                  <a:pt x="46" y="5"/>
                </a:cubicBezTo>
                <a:cubicBezTo>
                  <a:pt x="46" y="2"/>
                  <a:pt x="43" y="0"/>
                  <a:pt x="40" y="0"/>
                </a:cubicBezTo>
                <a:cubicBezTo>
                  <a:pt x="6" y="0"/>
                  <a:pt x="6" y="0"/>
                  <a:pt x="6" y="0"/>
                </a:cubicBezTo>
                <a:cubicBezTo>
                  <a:pt x="3" y="0"/>
                  <a:pt x="0" y="2"/>
                  <a:pt x="0" y="5"/>
                </a:cubicBezTo>
                <a:close/>
                <a:moveTo>
                  <a:pt x="23" y="76"/>
                </a:moveTo>
                <a:cubicBezTo>
                  <a:pt x="21" y="76"/>
                  <a:pt x="19" y="74"/>
                  <a:pt x="19" y="72"/>
                </a:cubicBezTo>
                <a:cubicBezTo>
                  <a:pt x="19" y="69"/>
                  <a:pt x="21" y="68"/>
                  <a:pt x="23" y="68"/>
                </a:cubicBezTo>
                <a:cubicBezTo>
                  <a:pt x="25" y="68"/>
                  <a:pt x="27" y="69"/>
                  <a:pt x="27" y="72"/>
                </a:cubicBezTo>
                <a:cubicBezTo>
                  <a:pt x="27" y="74"/>
                  <a:pt x="25" y="76"/>
                  <a:pt x="23" y="76"/>
                </a:cubicBezTo>
                <a:close/>
                <a:moveTo>
                  <a:pt x="39" y="64"/>
                </a:moveTo>
                <a:cubicBezTo>
                  <a:pt x="7" y="64"/>
                  <a:pt x="7" y="64"/>
                  <a:pt x="7" y="64"/>
                </a:cubicBezTo>
                <a:cubicBezTo>
                  <a:pt x="7" y="10"/>
                  <a:pt x="7" y="10"/>
                  <a:pt x="7" y="10"/>
                </a:cubicBezTo>
                <a:cubicBezTo>
                  <a:pt x="39" y="10"/>
                  <a:pt x="39" y="10"/>
                  <a:pt x="39" y="10"/>
                </a:cubicBezTo>
                <a:lnTo>
                  <a:pt x="39" y="64"/>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1" name="Freeform 824">
            <a:extLst>
              <a:ext uri="{FF2B5EF4-FFF2-40B4-BE49-F238E27FC236}">
                <a16:creationId xmlns:a16="http://schemas.microsoft.com/office/drawing/2014/main" id="{E2500AD3-C605-4580-9894-0CCF5D29C3DE}"/>
              </a:ext>
            </a:extLst>
          </p:cNvPr>
          <p:cNvSpPr>
            <a:spLocks noChangeAspect="1" noEditPoints="1"/>
          </p:cNvSpPr>
          <p:nvPr/>
        </p:nvSpPr>
        <p:spPr bwMode="auto">
          <a:xfrm>
            <a:off x="10892541" y="3417567"/>
            <a:ext cx="213216" cy="274320"/>
          </a:xfrm>
          <a:custGeom>
            <a:avLst/>
            <a:gdLst>
              <a:gd name="T0" fmla="*/ 10 w 66"/>
              <a:gd name="T1" fmla="*/ 0 h 85"/>
              <a:gd name="T2" fmla="*/ 0 w 66"/>
              <a:gd name="T3" fmla="*/ 3 h 85"/>
              <a:gd name="T4" fmla="*/ 0 w 66"/>
              <a:gd name="T5" fmla="*/ 21 h 85"/>
              <a:gd name="T6" fmla="*/ 0 w 66"/>
              <a:gd name="T7" fmla="*/ 37 h 85"/>
              <a:gd name="T8" fmla="*/ 0 w 66"/>
              <a:gd name="T9" fmla="*/ 75 h 85"/>
              <a:gd name="T10" fmla="*/ 0 w 66"/>
              <a:gd name="T11" fmla="*/ 83 h 85"/>
              <a:gd name="T12" fmla="*/ 64 w 66"/>
              <a:gd name="T13" fmla="*/ 85 h 85"/>
              <a:gd name="T14" fmla="*/ 66 w 66"/>
              <a:gd name="T15" fmla="*/ 77 h 85"/>
              <a:gd name="T16" fmla="*/ 66 w 66"/>
              <a:gd name="T17" fmla="*/ 67 h 85"/>
              <a:gd name="T18" fmla="*/ 66 w 66"/>
              <a:gd name="T19" fmla="*/ 48 h 85"/>
              <a:gd name="T20" fmla="*/ 66 w 66"/>
              <a:gd name="T21" fmla="*/ 29 h 85"/>
              <a:gd name="T22" fmla="*/ 66 w 66"/>
              <a:gd name="T23" fmla="*/ 11 h 85"/>
              <a:gd name="T24" fmla="*/ 64 w 66"/>
              <a:gd name="T25" fmla="*/ 0 h 85"/>
              <a:gd name="T26" fmla="*/ 10 w 66"/>
              <a:gd name="T27" fmla="*/ 11 h 85"/>
              <a:gd name="T28" fmla="*/ 56 w 66"/>
              <a:gd name="T29" fmla="*/ 21 h 85"/>
              <a:gd name="T30" fmla="*/ 10 w 66"/>
              <a:gd name="T31" fmla="*/ 11 h 85"/>
              <a:gd name="T32" fmla="*/ 29 w 66"/>
              <a:gd name="T33" fmla="*/ 37 h 85"/>
              <a:gd name="T34" fmla="*/ 32 w 66"/>
              <a:gd name="T35" fmla="*/ 32 h 85"/>
              <a:gd name="T36" fmla="*/ 37 w 66"/>
              <a:gd name="T37" fmla="*/ 37 h 85"/>
              <a:gd name="T38" fmla="*/ 32 w 66"/>
              <a:gd name="T39" fmla="*/ 40 h 85"/>
              <a:gd name="T40" fmla="*/ 29 w 66"/>
              <a:gd name="T41" fmla="*/ 56 h 85"/>
              <a:gd name="T42" fmla="*/ 37 w 66"/>
              <a:gd name="T43" fmla="*/ 51 h 85"/>
              <a:gd name="T44" fmla="*/ 37 w 66"/>
              <a:gd name="T45" fmla="*/ 59 h 85"/>
              <a:gd name="T46" fmla="*/ 29 w 66"/>
              <a:gd name="T47" fmla="*/ 56 h 85"/>
              <a:gd name="T48" fmla="*/ 18 w 66"/>
              <a:gd name="T49" fmla="*/ 32 h 85"/>
              <a:gd name="T50" fmla="*/ 18 w 66"/>
              <a:gd name="T51" fmla="*/ 40 h 85"/>
              <a:gd name="T52" fmla="*/ 10 w 66"/>
              <a:gd name="T53" fmla="*/ 37 h 85"/>
              <a:gd name="T54" fmla="*/ 10 w 66"/>
              <a:gd name="T55" fmla="*/ 51 h 85"/>
              <a:gd name="T56" fmla="*/ 18 w 66"/>
              <a:gd name="T57" fmla="*/ 56 h 85"/>
              <a:gd name="T58" fmla="*/ 10 w 66"/>
              <a:gd name="T59" fmla="*/ 59 h 85"/>
              <a:gd name="T60" fmla="*/ 10 w 66"/>
              <a:gd name="T61" fmla="*/ 51 h 85"/>
              <a:gd name="T62" fmla="*/ 48 w 66"/>
              <a:gd name="T63" fmla="*/ 59 h 85"/>
              <a:gd name="T64" fmla="*/ 48 w 66"/>
              <a:gd name="T65" fmla="*/ 51 h 85"/>
              <a:gd name="T66" fmla="*/ 56 w 66"/>
              <a:gd name="T67" fmla="*/ 56 h 85"/>
              <a:gd name="T68" fmla="*/ 56 w 66"/>
              <a:gd name="T69" fmla="*/ 40 h 85"/>
              <a:gd name="T70" fmla="*/ 48 w 66"/>
              <a:gd name="T71" fmla="*/ 40 h 85"/>
              <a:gd name="T72" fmla="*/ 48 w 66"/>
              <a:gd name="T73" fmla="*/ 32 h 85"/>
              <a:gd name="T74" fmla="*/ 56 w 66"/>
              <a:gd name="T75" fmla="*/ 32 h 85"/>
              <a:gd name="T76" fmla="*/ 56 w 66"/>
              <a:gd name="T77" fmla="*/ 40 h 85"/>
              <a:gd name="T78" fmla="*/ 10 w 66"/>
              <a:gd name="T79" fmla="*/ 75 h 85"/>
              <a:gd name="T80" fmla="*/ 18 w 66"/>
              <a:gd name="T81" fmla="*/ 69 h 85"/>
              <a:gd name="T82" fmla="*/ 18 w 66"/>
              <a:gd name="T83" fmla="*/ 77 h 85"/>
              <a:gd name="T84" fmla="*/ 29 w 66"/>
              <a:gd name="T85" fmla="*/ 77 h 85"/>
              <a:gd name="T86" fmla="*/ 29 w 66"/>
              <a:gd name="T87" fmla="*/ 69 h 85"/>
              <a:gd name="T88" fmla="*/ 37 w 66"/>
              <a:gd name="T89" fmla="*/ 75 h 85"/>
              <a:gd name="T90" fmla="*/ 29 w 66"/>
              <a:gd name="T91" fmla="*/ 77 h 85"/>
              <a:gd name="T92" fmla="*/ 48 w 66"/>
              <a:gd name="T93" fmla="*/ 75 h 85"/>
              <a:gd name="T94" fmla="*/ 56 w 66"/>
              <a:gd name="T95" fmla="*/ 69 h 85"/>
              <a:gd name="T96" fmla="*/ 56 w 66"/>
              <a:gd name="T97" fmla="*/ 7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6" h="85">
                <a:moveTo>
                  <a:pt x="56" y="0"/>
                </a:moveTo>
                <a:cubicBezTo>
                  <a:pt x="10" y="0"/>
                  <a:pt x="10" y="0"/>
                  <a:pt x="10" y="0"/>
                </a:cubicBezTo>
                <a:cubicBezTo>
                  <a:pt x="2" y="0"/>
                  <a:pt x="2" y="0"/>
                  <a:pt x="2" y="0"/>
                </a:cubicBezTo>
                <a:cubicBezTo>
                  <a:pt x="1" y="0"/>
                  <a:pt x="0" y="1"/>
                  <a:pt x="0" y="3"/>
                </a:cubicBezTo>
                <a:cubicBezTo>
                  <a:pt x="0" y="11"/>
                  <a:pt x="0" y="11"/>
                  <a:pt x="0" y="11"/>
                </a:cubicBezTo>
                <a:cubicBezTo>
                  <a:pt x="0" y="21"/>
                  <a:pt x="0" y="21"/>
                  <a:pt x="0" y="21"/>
                </a:cubicBezTo>
                <a:cubicBezTo>
                  <a:pt x="0" y="29"/>
                  <a:pt x="0" y="29"/>
                  <a:pt x="0" y="29"/>
                </a:cubicBezTo>
                <a:cubicBezTo>
                  <a:pt x="0" y="37"/>
                  <a:pt x="0" y="37"/>
                  <a:pt x="0" y="37"/>
                </a:cubicBezTo>
                <a:cubicBezTo>
                  <a:pt x="0" y="48"/>
                  <a:pt x="0" y="48"/>
                  <a:pt x="0" y="48"/>
                </a:cubicBezTo>
                <a:cubicBezTo>
                  <a:pt x="0" y="75"/>
                  <a:pt x="0" y="75"/>
                  <a:pt x="0" y="75"/>
                </a:cubicBezTo>
                <a:cubicBezTo>
                  <a:pt x="0" y="77"/>
                  <a:pt x="0" y="77"/>
                  <a:pt x="0" y="77"/>
                </a:cubicBezTo>
                <a:cubicBezTo>
                  <a:pt x="0" y="83"/>
                  <a:pt x="0" y="83"/>
                  <a:pt x="0" y="83"/>
                </a:cubicBezTo>
                <a:cubicBezTo>
                  <a:pt x="0" y="84"/>
                  <a:pt x="1" y="85"/>
                  <a:pt x="2" y="85"/>
                </a:cubicBezTo>
                <a:cubicBezTo>
                  <a:pt x="64" y="85"/>
                  <a:pt x="64" y="85"/>
                  <a:pt x="64" y="85"/>
                </a:cubicBezTo>
                <a:cubicBezTo>
                  <a:pt x="65" y="85"/>
                  <a:pt x="66" y="84"/>
                  <a:pt x="66" y="83"/>
                </a:cubicBezTo>
                <a:cubicBezTo>
                  <a:pt x="66" y="77"/>
                  <a:pt x="66" y="77"/>
                  <a:pt x="66" y="77"/>
                </a:cubicBezTo>
                <a:cubicBezTo>
                  <a:pt x="66" y="75"/>
                  <a:pt x="66" y="75"/>
                  <a:pt x="66" y="75"/>
                </a:cubicBezTo>
                <a:cubicBezTo>
                  <a:pt x="66" y="67"/>
                  <a:pt x="66" y="67"/>
                  <a:pt x="66" y="67"/>
                </a:cubicBezTo>
                <a:cubicBezTo>
                  <a:pt x="66" y="56"/>
                  <a:pt x="66" y="56"/>
                  <a:pt x="66" y="56"/>
                </a:cubicBezTo>
                <a:cubicBezTo>
                  <a:pt x="66" y="48"/>
                  <a:pt x="66" y="48"/>
                  <a:pt x="66" y="48"/>
                </a:cubicBezTo>
                <a:cubicBezTo>
                  <a:pt x="66" y="37"/>
                  <a:pt x="66" y="37"/>
                  <a:pt x="66" y="37"/>
                </a:cubicBezTo>
                <a:cubicBezTo>
                  <a:pt x="66" y="29"/>
                  <a:pt x="66" y="29"/>
                  <a:pt x="66" y="29"/>
                </a:cubicBezTo>
                <a:cubicBezTo>
                  <a:pt x="66" y="21"/>
                  <a:pt x="66" y="21"/>
                  <a:pt x="66" y="21"/>
                </a:cubicBezTo>
                <a:cubicBezTo>
                  <a:pt x="66" y="11"/>
                  <a:pt x="66" y="11"/>
                  <a:pt x="66" y="11"/>
                </a:cubicBezTo>
                <a:cubicBezTo>
                  <a:pt x="66" y="3"/>
                  <a:pt x="66" y="3"/>
                  <a:pt x="66" y="3"/>
                </a:cubicBezTo>
                <a:cubicBezTo>
                  <a:pt x="66" y="1"/>
                  <a:pt x="65" y="0"/>
                  <a:pt x="64" y="0"/>
                </a:cubicBezTo>
                <a:lnTo>
                  <a:pt x="56" y="0"/>
                </a:lnTo>
                <a:close/>
                <a:moveTo>
                  <a:pt x="10" y="11"/>
                </a:moveTo>
                <a:cubicBezTo>
                  <a:pt x="56" y="11"/>
                  <a:pt x="56" y="11"/>
                  <a:pt x="56" y="11"/>
                </a:cubicBezTo>
                <a:cubicBezTo>
                  <a:pt x="56" y="21"/>
                  <a:pt x="56" y="21"/>
                  <a:pt x="56" y="21"/>
                </a:cubicBezTo>
                <a:cubicBezTo>
                  <a:pt x="10" y="21"/>
                  <a:pt x="10" y="21"/>
                  <a:pt x="10" y="21"/>
                </a:cubicBezTo>
                <a:lnTo>
                  <a:pt x="10" y="11"/>
                </a:lnTo>
                <a:close/>
                <a:moveTo>
                  <a:pt x="29" y="40"/>
                </a:moveTo>
                <a:cubicBezTo>
                  <a:pt x="29" y="37"/>
                  <a:pt x="29" y="37"/>
                  <a:pt x="29" y="37"/>
                </a:cubicBezTo>
                <a:cubicBezTo>
                  <a:pt x="29" y="32"/>
                  <a:pt x="29" y="32"/>
                  <a:pt x="29" y="32"/>
                </a:cubicBezTo>
                <a:cubicBezTo>
                  <a:pt x="32" y="32"/>
                  <a:pt x="32" y="32"/>
                  <a:pt x="32" y="32"/>
                </a:cubicBezTo>
                <a:cubicBezTo>
                  <a:pt x="37" y="32"/>
                  <a:pt x="37" y="32"/>
                  <a:pt x="37" y="32"/>
                </a:cubicBezTo>
                <a:cubicBezTo>
                  <a:pt x="37" y="37"/>
                  <a:pt x="37" y="37"/>
                  <a:pt x="37" y="37"/>
                </a:cubicBezTo>
                <a:cubicBezTo>
                  <a:pt x="37" y="40"/>
                  <a:pt x="37" y="40"/>
                  <a:pt x="37" y="40"/>
                </a:cubicBezTo>
                <a:cubicBezTo>
                  <a:pt x="32" y="40"/>
                  <a:pt x="32" y="40"/>
                  <a:pt x="32" y="40"/>
                </a:cubicBezTo>
                <a:lnTo>
                  <a:pt x="29" y="40"/>
                </a:lnTo>
                <a:close/>
                <a:moveTo>
                  <a:pt x="29" y="56"/>
                </a:moveTo>
                <a:cubicBezTo>
                  <a:pt x="29" y="51"/>
                  <a:pt x="29" y="51"/>
                  <a:pt x="29" y="51"/>
                </a:cubicBezTo>
                <a:cubicBezTo>
                  <a:pt x="37" y="51"/>
                  <a:pt x="37" y="51"/>
                  <a:pt x="37" y="51"/>
                </a:cubicBezTo>
                <a:cubicBezTo>
                  <a:pt x="37" y="56"/>
                  <a:pt x="37" y="56"/>
                  <a:pt x="37" y="56"/>
                </a:cubicBezTo>
                <a:cubicBezTo>
                  <a:pt x="37" y="59"/>
                  <a:pt x="37" y="59"/>
                  <a:pt x="37" y="59"/>
                </a:cubicBezTo>
                <a:cubicBezTo>
                  <a:pt x="29" y="59"/>
                  <a:pt x="29" y="59"/>
                  <a:pt x="29" y="59"/>
                </a:cubicBezTo>
                <a:lnTo>
                  <a:pt x="29" y="56"/>
                </a:lnTo>
                <a:close/>
                <a:moveTo>
                  <a:pt x="10" y="32"/>
                </a:moveTo>
                <a:cubicBezTo>
                  <a:pt x="18" y="32"/>
                  <a:pt x="18" y="32"/>
                  <a:pt x="18" y="32"/>
                </a:cubicBezTo>
                <a:cubicBezTo>
                  <a:pt x="18" y="37"/>
                  <a:pt x="18" y="37"/>
                  <a:pt x="18" y="37"/>
                </a:cubicBezTo>
                <a:cubicBezTo>
                  <a:pt x="18" y="40"/>
                  <a:pt x="18" y="40"/>
                  <a:pt x="18" y="40"/>
                </a:cubicBezTo>
                <a:cubicBezTo>
                  <a:pt x="10" y="40"/>
                  <a:pt x="10" y="40"/>
                  <a:pt x="10" y="40"/>
                </a:cubicBezTo>
                <a:cubicBezTo>
                  <a:pt x="10" y="37"/>
                  <a:pt x="10" y="37"/>
                  <a:pt x="10" y="37"/>
                </a:cubicBezTo>
                <a:lnTo>
                  <a:pt x="10" y="32"/>
                </a:lnTo>
                <a:close/>
                <a:moveTo>
                  <a:pt x="10" y="51"/>
                </a:moveTo>
                <a:cubicBezTo>
                  <a:pt x="18" y="51"/>
                  <a:pt x="18" y="51"/>
                  <a:pt x="18" y="51"/>
                </a:cubicBezTo>
                <a:cubicBezTo>
                  <a:pt x="18" y="56"/>
                  <a:pt x="18" y="56"/>
                  <a:pt x="18" y="56"/>
                </a:cubicBezTo>
                <a:cubicBezTo>
                  <a:pt x="18" y="59"/>
                  <a:pt x="18" y="59"/>
                  <a:pt x="18" y="59"/>
                </a:cubicBezTo>
                <a:cubicBezTo>
                  <a:pt x="10" y="59"/>
                  <a:pt x="10" y="59"/>
                  <a:pt x="10" y="59"/>
                </a:cubicBezTo>
                <a:cubicBezTo>
                  <a:pt x="10" y="56"/>
                  <a:pt x="10" y="56"/>
                  <a:pt x="10" y="56"/>
                </a:cubicBezTo>
                <a:lnTo>
                  <a:pt x="10" y="51"/>
                </a:lnTo>
                <a:close/>
                <a:moveTo>
                  <a:pt x="56" y="59"/>
                </a:moveTo>
                <a:cubicBezTo>
                  <a:pt x="48" y="59"/>
                  <a:pt x="48" y="59"/>
                  <a:pt x="48" y="59"/>
                </a:cubicBezTo>
                <a:cubicBezTo>
                  <a:pt x="48" y="56"/>
                  <a:pt x="48" y="56"/>
                  <a:pt x="48" y="56"/>
                </a:cubicBezTo>
                <a:cubicBezTo>
                  <a:pt x="48" y="51"/>
                  <a:pt x="48" y="51"/>
                  <a:pt x="48" y="51"/>
                </a:cubicBezTo>
                <a:cubicBezTo>
                  <a:pt x="56" y="51"/>
                  <a:pt x="56" y="51"/>
                  <a:pt x="56" y="51"/>
                </a:cubicBezTo>
                <a:cubicBezTo>
                  <a:pt x="56" y="56"/>
                  <a:pt x="56" y="56"/>
                  <a:pt x="56" y="56"/>
                </a:cubicBezTo>
                <a:lnTo>
                  <a:pt x="56" y="59"/>
                </a:lnTo>
                <a:close/>
                <a:moveTo>
                  <a:pt x="56" y="40"/>
                </a:moveTo>
                <a:cubicBezTo>
                  <a:pt x="53" y="40"/>
                  <a:pt x="53" y="40"/>
                  <a:pt x="53" y="40"/>
                </a:cubicBezTo>
                <a:cubicBezTo>
                  <a:pt x="48" y="40"/>
                  <a:pt x="48" y="40"/>
                  <a:pt x="48" y="40"/>
                </a:cubicBezTo>
                <a:cubicBezTo>
                  <a:pt x="48" y="37"/>
                  <a:pt x="48" y="37"/>
                  <a:pt x="48" y="37"/>
                </a:cubicBezTo>
                <a:cubicBezTo>
                  <a:pt x="48" y="32"/>
                  <a:pt x="48" y="32"/>
                  <a:pt x="48" y="32"/>
                </a:cubicBezTo>
                <a:cubicBezTo>
                  <a:pt x="53" y="32"/>
                  <a:pt x="53" y="32"/>
                  <a:pt x="53" y="32"/>
                </a:cubicBezTo>
                <a:cubicBezTo>
                  <a:pt x="56" y="32"/>
                  <a:pt x="56" y="32"/>
                  <a:pt x="56" y="32"/>
                </a:cubicBezTo>
                <a:cubicBezTo>
                  <a:pt x="56" y="37"/>
                  <a:pt x="56" y="37"/>
                  <a:pt x="56" y="37"/>
                </a:cubicBezTo>
                <a:lnTo>
                  <a:pt x="56" y="40"/>
                </a:lnTo>
                <a:close/>
                <a:moveTo>
                  <a:pt x="10" y="77"/>
                </a:moveTo>
                <a:cubicBezTo>
                  <a:pt x="10" y="75"/>
                  <a:pt x="10" y="75"/>
                  <a:pt x="10" y="75"/>
                </a:cubicBezTo>
                <a:cubicBezTo>
                  <a:pt x="10" y="69"/>
                  <a:pt x="10" y="69"/>
                  <a:pt x="10" y="69"/>
                </a:cubicBezTo>
                <a:cubicBezTo>
                  <a:pt x="18" y="69"/>
                  <a:pt x="18" y="69"/>
                  <a:pt x="18" y="69"/>
                </a:cubicBezTo>
                <a:cubicBezTo>
                  <a:pt x="18" y="75"/>
                  <a:pt x="18" y="75"/>
                  <a:pt x="18" y="75"/>
                </a:cubicBezTo>
                <a:cubicBezTo>
                  <a:pt x="18" y="77"/>
                  <a:pt x="18" y="77"/>
                  <a:pt x="18" y="77"/>
                </a:cubicBezTo>
                <a:lnTo>
                  <a:pt x="10" y="77"/>
                </a:lnTo>
                <a:close/>
                <a:moveTo>
                  <a:pt x="29" y="77"/>
                </a:moveTo>
                <a:cubicBezTo>
                  <a:pt x="29" y="75"/>
                  <a:pt x="29" y="75"/>
                  <a:pt x="29" y="75"/>
                </a:cubicBezTo>
                <a:cubicBezTo>
                  <a:pt x="29" y="69"/>
                  <a:pt x="29" y="69"/>
                  <a:pt x="29" y="69"/>
                </a:cubicBezTo>
                <a:cubicBezTo>
                  <a:pt x="37" y="69"/>
                  <a:pt x="37" y="69"/>
                  <a:pt x="37" y="69"/>
                </a:cubicBezTo>
                <a:cubicBezTo>
                  <a:pt x="37" y="75"/>
                  <a:pt x="37" y="75"/>
                  <a:pt x="37" y="75"/>
                </a:cubicBezTo>
                <a:cubicBezTo>
                  <a:pt x="37" y="77"/>
                  <a:pt x="37" y="77"/>
                  <a:pt x="37" y="77"/>
                </a:cubicBezTo>
                <a:lnTo>
                  <a:pt x="29" y="77"/>
                </a:lnTo>
                <a:close/>
                <a:moveTo>
                  <a:pt x="48" y="77"/>
                </a:moveTo>
                <a:cubicBezTo>
                  <a:pt x="48" y="75"/>
                  <a:pt x="48" y="75"/>
                  <a:pt x="48" y="75"/>
                </a:cubicBezTo>
                <a:cubicBezTo>
                  <a:pt x="48" y="69"/>
                  <a:pt x="48" y="69"/>
                  <a:pt x="48" y="69"/>
                </a:cubicBezTo>
                <a:cubicBezTo>
                  <a:pt x="56" y="69"/>
                  <a:pt x="56" y="69"/>
                  <a:pt x="56" y="69"/>
                </a:cubicBezTo>
                <a:cubicBezTo>
                  <a:pt x="56" y="75"/>
                  <a:pt x="56" y="75"/>
                  <a:pt x="56" y="75"/>
                </a:cubicBezTo>
                <a:cubicBezTo>
                  <a:pt x="56" y="77"/>
                  <a:pt x="56" y="77"/>
                  <a:pt x="56" y="77"/>
                </a:cubicBezTo>
                <a:lnTo>
                  <a:pt x="48" y="77"/>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2" name="Group 91">
            <a:extLst>
              <a:ext uri="{FF2B5EF4-FFF2-40B4-BE49-F238E27FC236}">
                <a16:creationId xmlns:a16="http://schemas.microsoft.com/office/drawing/2014/main" id="{CCA546DD-1401-45BC-A4E1-F2161FB4789E}"/>
              </a:ext>
            </a:extLst>
          </p:cNvPr>
          <p:cNvGrpSpPr>
            <a:grpSpLocks noChangeAspect="1"/>
          </p:cNvGrpSpPr>
          <p:nvPr/>
        </p:nvGrpSpPr>
        <p:grpSpPr>
          <a:xfrm>
            <a:off x="9889191" y="3490418"/>
            <a:ext cx="346551" cy="274320"/>
            <a:chOff x="9243133" y="1860757"/>
            <a:chExt cx="586567" cy="464309"/>
          </a:xfrm>
          <a:solidFill>
            <a:srgbClr val="595555"/>
          </a:solidFill>
        </p:grpSpPr>
        <p:sp>
          <p:nvSpPr>
            <p:cNvPr id="93" name="Freeform 825">
              <a:extLst>
                <a:ext uri="{FF2B5EF4-FFF2-40B4-BE49-F238E27FC236}">
                  <a16:creationId xmlns:a16="http://schemas.microsoft.com/office/drawing/2014/main" id="{D0BEFCC4-D018-42B9-B844-083884AC4270}"/>
                </a:ext>
              </a:extLst>
            </p:cNvPr>
            <p:cNvSpPr>
              <a:spLocks/>
            </p:cNvSpPr>
            <p:nvPr/>
          </p:nvSpPr>
          <p:spPr bwMode="auto">
            <a:xfrm>
              <a:off x="9447813" y="1860757"/>
              <a:ext cx="381887" cy="457440"/>
            </a:xfrm>
            <a:custGeom>
              <a:avLst/>
              <a:gdLst>
                <a:gd name="T0" fmla="*/ 51 w 56"/>
                <a:gd name="T1" fmla="*/ 34 h 67"/>
                <a:gd name="T2" fmla="*/ 55 w 56"/>
                <a:gd name="T3" fmla="*/ 26 h 67"/>
                <a:gd name="T4" fmla="*/ 49 w 56"/>
                <a:gd name="T5" fmla="*/ 22 h 67"/>
                <a:gd name="T6" fmla="*/ 26 w 56"/>
                <a:gd name="T7" fmla="*/ 22 h 67"/>
                <a:gd name="T8" fmla="*/ 28 w 56"/>
                <a:gd name="T9" fmla="*/ 11 h 67"/>
                <a:gd name="T10" fmla="*/ 19 w 56"/>
                <a:gd name="T11" fmla="*/ 0 h 67"/>
                <a:gd name="T12" fmla="*/ 14 w 56"/>
                <a:gd name="T13" fmla="*/ 8 h 67"/>
                <a:gd name="T14" fmla="*/ 0 w 56"/>
                <a:gd name="T15" fmla="*/ 23 h 67"/>
                <a:gd name="T16" fmla="*/ 0 w 56"/>
                <a:gd name="T17" fmla="*/ 64 h 67"/>
                <a:gd name="T18" fmla="*/ 11 w 56"/>
                <a:gd name="T19" fmla="*/ 67 h 67"/>
                <a:gd name="T20" fmla="*/ 41 w 56"/>
                <a:gd name="T21" fmla="*/ 67 h 67"/>
                <a:gd name="T22" fmla="*/ 47 w 56"/>
                <a:gd name="T23" fmla="*/ 62 h 67"/>
                <a:gd name="T24" fmla="*/ 46 w 56"/>
                <a:gd name="T25" fmla="*/ 56 h 67"/>
                <a:gd name="T26" fmla="*/ 52 w 56"/>
                <a:gd name="T27" fmla="*/ 50 h 67"/>
                <a:gd name="T28" fmla="*/ 49 w 56"/>
                <a:gd name="T29" fmla="*/ 45 h 67"/>
                <a:gd name="T30" fmla="*/ 53 w 56"/>
                <a:gd name="T31" fmla="*/ 39 h 67"/>
                <a:gd name="T32" fmla="*/ 51 w 56"/>
                <a:gd name="T33" fmla="*/ 34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 h="67">
                  <a:moveTo>
                    <a:pt x="51" y="34"/>
                  </a:moveTo>
                  <a:cubicBezTo>
                    <a:pt x="54" y="33"/>
                    <a:pt x="56" y="30"/>
                    <a:pt x="55" y="26"/>
                  </a:cubicBezTo>
                  <a:cubicBezTo>
                    <a:pt x="54" y="23"/>
                    <a:pt x="52" y="22"/>
                    <a:pt x="49" y="22"/>
                  </a:cubicBezTo>
                  <a:cubicBezTo>
                    <a:pt x="26" y="22"/>
                    <a:pt x="26" y="22"/>
                    <a:pt x="26" y="22"/>
                  </a:cubicBezTo>
                  <a:cubicBezTo>
                    <a:pt x="27" y="18"/>
                    <a:pt x="28" y="15"/>
                    <a:pt x="28" y="11"/>
                  </a:cubicBezTo>
                  <a:cubicBezTo>
                    <a:pt x="28" y="3"/>
                    <a:pt x="23" y="0"/>
                    <a:pt x="19" y="0"/>
                  </a:cubicBezTo>
                  <a:cubicBezTo>
                    <a:pt x="16" y="0"/>
                    <a:pt x="14" y="2"/>
                    <a:pt x="14" y="8"/>
                  </a:cubicBezTo>
                  <a:cubicBezTo>
                    <a:pt x="14" y="15"/>
                    <a:pt x="4" y="21"/>
                    <a:pt x="0" y="23"/>
                  </a:cubicBezTo>
                  <a:cubicBezTo>
                    <a:pt x="0" y="64"/>
                    <a:pt x="0" y="64"/>
                    <a:pt x="0" y="64"/>
                  </a:cubicBezTo>
                  <a:cubicBezTo>
                    <a:pt x="1" y="65"/>
                    <a:pt x="6" y="67"/>
                    <a:pt x="11" y="67"/>
                  </a:cubicBezTo>
                  <a:cubicBezTo>
                    <a:pt x="41" y="67"/>
                    <a:pt x="41" y="67"/>
                    <a:pt x="41" y="67"/>
                  </a:cubicBezTo>
                  <a:cubicBezTo>
                    <a:pt x="44" y="67"/>
                    <a:pt x="47" y="65"/>
                    <a:pt x="47" y="62"/>
                  </a:cubicBezTo>
                  <a:cubicBezTo>
                    <a:pt x="48" y="60"/>
                    <a:pt x="47" y="58"/>
                    <a:pt x="46" y="56"/>
                  </a:cubicBezTo>
                  <a:cubicBezTo>
                    <a:pt x="49" y="56"/>
                    <a:pt x="52" y="53"/>
                    <a:pt x="52" y="50"/>
                  </a:cubicBezTo>
                  <a:cubicBezTo>
                    <a:pt x="52" y="48"/>
                    <a:pt x="51" y="46"/>
                    <a:pt x="49" y="45"/>
                  </a:cubicBezTo>
                  <a:cubicBezTo>
                    <a:pt x="52" y="44"/>
                    <a:pt x="53" y="42"/>
                    <a:pt x="53" y="39"/>
                  </a:cubicBezTo>
                  <a:cubicBezTo>
                    <a:pt x="53" y="37"/>
                    <a:pt x="53" y="35"/>
                    <a:pt x="51"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826">
              <a:extLst>
                <a:ext uri="{FF2B5EF4-FFF2-40B4-BE49-F238E27FC236}">
                  <a16:creationId xmlns:a16="http://schemas.microsoft.com/office/drawing/2014/main" id="{EDC24826-C3D9-47A8-92F5-6B0B75448A39}"/>
                </a:ext>
              </a:extLst>
            </p:cNvPr>
            <p:cNvSpPr>
              <a:spLocks/>
            </p:cNvSpPr>
            <p:nvPr/>
          </p:nvSpPr>
          <p:spPr bwMode="auto">
            <a:xfrm>
              <a:off x="9243133" y="1991258"/>
              <a:ext cx="163470" cy="333808"/>
            </a:xfrm>
            <a:custGeom>
              <a:avLst/>
              <a:gdLst>
                <a:gd name="T0" fmla="*/ 22 w 24"/>
                <a:gd name="T1" fmla="*/ 0 h 49"/>
                <a:gd name="T2" fmla="*/ 3 w 24"/>
                <a:gd name="T3" fmla="*/ 0 h 49"/>
                <a:gd name="T4" fmla="*/ 0 w 24"/>
                <a:gd name="T5" fmla="*/ 3 h 49"/>
                <a:gd name="T6" fmla="*/ 0 w 24"/>
                <a:gd name="T7" fmla="*/ 44 h 49"/>
                <a:gd name="T8" fmla="*/ 6 w 24"/>
                <a:gd name="T9" fmla="*/ 49 h 49"/>
                <a:gd name="T10" fmla="*/ 22 w 24"/>
                <a:gd name="T11" fmla="*/ 49 h 49"/>
                <a:gd name="T12" fmla="*/ 24 w 24"/>
                <a:gd name="T13" fmla="*/ 47 h 49"/>
                <a:gd name="T14" fmla="*/ 24 w 24"/>
                <a:gd name="T15" fmla="*/ 3 h 49"/>
                <a:gd name="T16" fmla="*/ 22 w 24"/>
                <a:gd name="T1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49">
                  <a:moveTo>
                    <a:pt x="22" y="0"/>
                  </a:moveTo>
                  <a:cubicBezTo>
                    <a:pt x="3" y="0"/>
                    <a:pt x="3" y="0"/>
                    <a:pt x="3" y="0"/>
                  </a:cubicBezTo>
                  <a:cubicBezTo>
                    <a:pt x="2" y="0"/>
                    <a:pt x="0" y="1"/>
                    <a:pt x="0" y="3"/>
                  </a:cubicBezTo>
                  <a:cubicBezTo>
                    <a:pt x="0" y="44"/>
                    <a:pt x="0" y="44"/>
                    <a:pt x="0" y="44"/>
                  </a:cubicBezTo>
                  <a:cubicBezTo>
                    <a:pt x="0" y="47"/>
                    <a:pt x="3" y="49"/>
                    <a:pt x="6" y="49"/>
                  </a:cubicBezTo>
                  <a:cubicBezTo>
                    <a:pt x="22" y="49"/>
                    <a:pt x="22" y="49"/>
                    <a:pt x="22" y="49"/>
                  </a:cubicBezTo>
                  <a:cubicBezTo>
                    <a:pt x="23" y="49"/>
                    <a:pt x="24" y="48"/>
                    <a:pt x="24" y="47"/>
                  </a:cubicBezTo>
                  <a:cubicBezTo>
                    <a:pt x="24" y="3"/>
                    <a:pt x="24" y="3"/>
                    <a:pt x="24" y="3"/>
                  </a:cubicBezTo>
                  <a:cubicBezTo>
                    <a:pt x="24" y="1"/>
                    <a:pt x="23"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95" name="Freeform 829">
            <a:extLst>
              <a:ext uri="{FF2B5EF4-FFF2-40B4-BE49-F238E27FC236}">
                <a16:creationId xmlns:a16="http://schemas.microsoft.com/office/drawing/2014/main" id="{86CFE7DB-3C5B-4615-AD16-4AEC3097FD27}"/>
              </a:ext>
            </a:extLst>
          </p:cNvPr>
          <p:cNvSpPr>
            <a:spLocks noChangeAspect="1"/>
          </p:cNvSpPr>
          <p:nvPr/>
        </p:nvSpPr>
        <p:spPr bwMode="auto">
          <a:xfrm>
            <a:off x="9066312" y="3417567"/>
            <a:ext cx="203466" cy="274320"/>
          </a:xfrm>
          <a:custGeom>
            <a:avLst/>
            <a:gdLst>
              <a:gd name="T0" fmla="*/ 62 w 63"/>
              <a:gd name="T1" fmla="*/ 53 h 85"/>
              <a:gd name="T2" fmla="*/ 57 w 63"/>
              <a:gd name="T3" fmla="*/ 37 h 85"/>
              <a:gd name="T4" fmla="*/ 39 w 63"/>
              <a:gd name="T5" fmla="*/ 8 h 85"/>
              <a:gd name="T6" fmla="*/ 33 w 63"/>
              <a:gd name="T7" fmla="*/ 1 h 85"/>
              <a:gd name="T8" fmla="*/ 31 w 63"/>
              <a:gd name="T9" fmla="*/ 0 h 85"/>
              <a:gd name="T10" fmla="*/ 31 w 63"/>
              <a:gd name="T11" fmla="*/ 0 h 85"/>
              <a:gd name="T12" fmla="*/ 29 w 63"/>
              <a:gd name="T13" fmla="*/ 1 h 85"/>
              <a:gd name="T14" fmla="*/ 29 w 63"/>
              <a:gd name="T15" fmla="*/ 1 h 85"/>
              <a:gd name="T16" fmla="*/ 23 w 63"/>
              <a:gd name="T17" fmla="*/ 8 h 85"/>
              <a:gd name="T18" fmla="*/ 5 w 63"/>
              <a:gd name="T19" fmla="*/ 37 h 85"/>
              <a:gd name="T20" fmla="*/ 0 w 63"/>
              <a:gd name="T21" fmla="*/ 52 h 85"/>
              <a:gd name="T22" fmla="*/ 0 w 63"/>
              <a:gd name="T23" fmla="*/ 55 h 85"/>
              <a:gd name="T24" fmla="*/ 0 w 63"/>
              <a:gd name="T25" fmla="*/ 58 h 85"/>
              <a:gd name="T26" fmla="*/ 1 w 63"/>
              <a:gd name="T27" fmla="*/ 61 h 85"/>
              <a:gd name="T28" fmla="*/ 1 w 63"/>
              <a:gd name="T29" fmla="*/ 61 h 85"/>
              <a:gd name="T30" fmla="*/ 23 w 63"/>
              <a:gd name="T31" fmla="*/ 84 h 85"/>
              <a:gd name="T32" fmla="*/ 23 w 63"/>
              <a:gd name="T33" fmla="*/ 84 h 85"/>
              <a:gd name="T34" fmla="*/ 28 w 63"/>
              <a:gd name="T35" fmla="*/ 85 h 85"/>
              <a:gd name="T36" fmla="*/ 28 w 63"/>
              <a:gd name="T37" fmla="*/ 85 h 85"/>
              <a:gd name="T38" fmla="*/ 28 w 63"/>
              <a:gd name="T39" fmla="*/ 84 h 85"/>
              <a:gd name="T40" fmla="*/ 28 w 63"/>
              <a:gd name="T41" fmla="*/ 76 h 85"/>
              <a:gd name="T42" fmla="*/ 14 w 63"/>
              <a:gd name="T43" fmla="*/ 61 h 85"/>
              <a:gd name="T44" fmla="*/ 14 w 63"/>
              <a:gd name="T45" fmla="*/ 57 h 85"/>
              <a:gd name="T46" fmla="*/ 18 w 63"/>
              <a:gd name="T47" fmla="*/ 57 h 85"/>
              <a:gd name="T48" fmla="*/ 28 w 63"/>
              <a:gd name="T49" fmla="*/ 68 h 85"/>
              <a:gd name="T50" fmla="*/ 28 w 63"/>
              <a:gd name="T51" fmla="*/ 58 h 85"/>
              <a:gd name="T52" fmla="*/ 20 w 63"/>
              <a:gd name="T53" fmla="*/ 50 h 85"/>
              <a:gd name="T54" fmla="*/ 21 w 63"/>
              <a:gd name="T55" fmla="*/ 46 h 85"/>
              <a:gd name="T56" fmla="*/ 24 w 63"/>
              <a:gd name="T57" fmla="*/ 47 h 85"/>
              <a:gd name="T58" fmla="*/ 28 w 63"/>
              <a:gd name="T59" fmla="*/ 51 h 85"/>
              <a:gd name="T60" fmla="*/ 28 w 63"/>
              <a:gd name="T61" fmla="*/ 36 h 85"/>
              <a:gd name="T62" fmla="*/ 31 w 63"/>
              <a:gd name="T63" fmla="*/ 33 h 85"/>
              <a:gd name="T64" fmla="*/ 34 w 63"/>
              <a:gd name="T65" fmla="*/ 36 h 85"/>
              <a:gd name="T66" fmla="*/ 34 w 63"/>
              <a:gd name="T67" fmla="*/ 51 h 85"/>
              <a:gd name="T68" fmla="*/ 38 w 63"/>
              <a:gd name="T69" fmla="*/ 47 h 85"/>
              <a:gd name="T70" fmla="*/ 42 w 63"/>
              <a:gd name="T71" fmla="*/ 47 h 85"/>
              <a:gd name="T72" fmla="*/ 42 w 63"/>
              <a:gd name="T73" fmla="*/ 50 h 85"/>
              <a:gd name="T74" fmla="*/ 34 w 63"/>
              <a:gd name="T75" fmla="*/ 58 h 85"/>
              <a:gd name="T76" fmla="*/ 34 w 63"/>
              <a:gd name="T77" fmla="*/ 68 h 85"/>
              <a:gd name="T78" fmla="*/ 45 w 63"/>
              <a:gd name="T79" fmla="*/ 57 h 85"/>
              <a:gd name="T80" fmla="*/ 48 w 63"/>
              <a:gd name="T81" fmla="*/ 57 h 85"/>
              <a:gd name="T82" fmla="*/ 48 w 63"/>
              <a:gd name="T83" fmla="*/ 61 h 85"/>
              <a:gd name="T84" fmla="*/ 34 w 63"/>
              <a:gd name="T85" fmla="*/ 76 h 85"/>
              <a:gd name="T86" fmla="*/ 34 w 63"/>
              <a:gd name="T87" fmla="*/ 84 h 85"/>
              <a:gd name="T88" fmla="*/ 34 w 63"/>
              <a:gd name="T89" fmla="*/ 85 h 85"/>
              <a:gd name="T90" fmla="*/ 34 w 63"/>
              <a:gd name="T91" fmla="*/ 85 h 85"/>
              <a:gd name="T92" fmla="*/ 34 w 63"/>
              <a:gd name="T93" fmla="*/ 85 h 85"/>
              <a:gd name="T94" fmla="*/ 35 w 63"/>
              <a:gd name="T95" fmla="*/ 85 h 85"/>
              <a:gd name="T96" fmla="*/ 37 w 63"/>
              <a:gd name="T97" fmla="*/ 85 h 85"/>
              <a:gd name="T98" fmla="*/ 40 w 63"/>
              <a:gd name="T99" fmla="*/ 84 h 85"/>
              <a:gd name="T100" fmla="*/ 62 w 63"/>
              <a:gd name="T101" fmla="*/ 5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3" h="85">
                <a:moveTo>
                  <a:pt x="62" y="53"/>
                </a:moveTo>
                <a:cubicBezTo>
                  <a:pt x="62" y="47"/>
                  <a:pt x="60" y="42"/>
                  <a:pt x="57" y="37"/>
                </a:cubicBezTo>
                <a:cubicBezTo>
                  <a:pt x="53" y="26"/>
                  <a:pt x="46" y="17"/>
                  <a:pt x="39" y="8"/>
                </a:cubicBezTo>
                <a:cubicBezTo>
                  <a:pt x="37" y="5"/>
                  <a:pt x="35" y="3"/>
                  <a:pt x="33" y="1"/>
                </a:cubicBezTo>
                <a:cubicBezTo>
                  <a:pt x="33" y="0"/>
                  <a:pt x="32" y="0"/>
                  <a:pt x="31" y="0"/>
                </a:cubicBezTo>
                <a:cubicBezTo>
                  <a:pt x="31" y="0"/>
                  <a:pt x="31" y="0"/>
                  <a:pt x="31" y="0"/>
                </a:cubicBezTo>
                <a:cubicBezTo>
                  <a:pt x="30" y="0"/>
                  <a:pt x="29" y="0"/>
                  <a:pt x="29" y="1"/>
                </a:cubicBezTo>
                <a:cubicBezTo>
                  <a:pt x="29" y="1"/>
                  <a:pt x="29" y="1"/>
                  <a:pt x="29" y="1"/>
                </a:cubicBezTo>
                <a:cubicBezTo>
                  <a:pt x="27" y="3"/>
                  <a:pt x="25" y="5"/>
                  <a:pt x="23" y="8"/>
                </a:cubicBezTo>
                <a:cubicBezTo>
                  <a:pt x="16" y="17"/>
                  <a:pt x="10" y="26"/>
                  <a:pt x="5" y="37"/>
                </a:cubicBezTo>
                <a:cubicBezTo>
                  <a:pt x="3" y="42"/>
                  <a:pt x="1" y="47"/>
                  <a:pt x="0" y="52"/>
                </a:cubicBezTo>
                <a:cubicBezTo>
                  <a:pt x="0" y="53"/>
                  <a:pt x="0" y="54"/>
                  <a:pt x="0" y="55"/>
                </a:cubicBezTo>
                <a:cubicBezTo>
                  <a:pt x="0" y="56"/>
                  <a:pt x="0" y="57"/>
                  <a:pt x="0" y="58"/>
                </a:cubicBezTo>
                <a:cubicBezTo>
                  <a:pt x="0" y="59"/>
                  <a:pt x="0" y="60"/>
                  <a:pt x="1" y="61"/>
                </a:cubicBezTo>
                <a:cubicBezTo>
                  <a:pt x="1" y="61"/>
                  <a:pt x="1" y="61"/>
                  <a:pt x="1" y="61"/>
                </a:cubicBezTo>
                <a:cubicBezTo>
                  <a:pt x="3" y="72"/>
                  <a:pt x="11" y="81"/>
                  <a:pt x="23" y="84"/>
                </a:cubicBezTo>
                <a:cubicBezTo>
                  <a:pt x="23" y="84"/>
                  <a:pt x="23" y="84"/>
                  <a:pt x="23" y="84"/>
                </a:cubicBezTo>
                <a:cubicBezTo>
                  <a:pt x="25" y="85"/>
                  <a:pt x="26" y="85"/>
                  <a:pt x="28" y="85"/>
                </a:cubicBezTo>
                <a:cubicBezTo>
                  <a:pt x="28" y="85"/>
                  <a:pt x="28" y="85"/>
                  <a:pt x="28" y="85"/>
                </a:cubicBezTo>
                <a:cubicBezTo>
                  <a:pt x="28" y="84"/>
                  <a:pt x="28" y="84"/>
                  <a:pt x="28" y="84"/>
                </a:cubicBezTo>
                <a:cubicBezTo>
                  <a:pt x="28" y="76"/>
                  <a:pt x="28" y="76"/>
                  <a:pt x="28" y="76"/>
                </a:cubicBezTo>
                <a:cubicBezTo>
                  <a:pt x="14" y="61"/>
                  <a:pt x="14" y="61"/>
                  <a:pt x="14" y="61"/>
                </a:cubicBezTo>
                <a:cubicBezTo>
                  <a:pt x="13" y="60"/>
                  <a:pt x="13" y="58"/>
                  <a:pt x="14" y="57"/>
                </a:cubicBezTo>
                <a:cubicBezTo>
                  <a:pt x="15" y="56"/>
                  <a:pt x="17" y="56"/>
                  <a:pt x="18" y="57"/>
                </a:cubicBezTo>
                <a:cubicBezTo>
                  <a:pt x="28" y="68"/>
                  <a:pt x="28" y="68"/>
                  <a:pt x="28" y="68"/>
                </a:cubicBezTo>
                <a:cubicBezTo>
                  <a:pt x="28" y="58"/>
                  <a:pt x="28" y="58"/>
                  <a:pt x="28" y="58"/>
                </a:cubicBezTo>
                <a:cubicBezTo>
                  <a:pt x="20" y="50"/>
                  <a:pt x="20" y="50"/>
                  <a:pt x="20" y="50"/>
                </a:cubicBezTo>
                <a:cubicBezTo>
                  <a:pt x="19" y="49"/>
                  <a:pt x="19" y="47"/>
                  <a:pt x="21" y="46"/>
                </a:cubicBezTo>
                <a:cubicBezTo>
                  <a:pt x="22" y="46"/>
                  <a:pt x="23" y="46"/>
                  <a:pt x="24" y="47"/>
                </a:cubicBezTo>
                <a:cubicBezTo>
                  <a:pt x="28" y="51"/>
                  <a:pt x="28" y="51"/>
                  <a:pt x="28" y="51"/>
                </a:cubicBezTo>
                <a:cubicBezTo>
                  <a:pt x="28" y="36"/>
                  <a:pt x="28" y="36"/>
                  <a:pt x="28" y="36"/>
                </a:cubicBezTo>
                <a:cubicBezTo>
                  <a:pt x="28" y="34"/>
                  <a:pt x="30" y="33"/>
                  <a:pt x="31" y="33"/>
                </a:cubicBezTo>
                <a:cubicBezTo>
                  <a:pt x="33" y="33"/>
                  <a:pt x="34" y="34"/>
                  <a:pt x="34" y="36"/>
                </a:cubicBezTo>
                <a:cubicBezTo>
                  <a:pt x="34" y="51"/>
                  <a:pt x="34" y="51"/>
                  <a:pt x="34" y="51"/>
                </a:cubicBezTo>
                <a:cubicBezTo>
                  <a:pt x="38" y="47"/>
                  <a:pt x="38" y="47"/>
                  <a:pt x="38" y="47"/>
                </a:cubicBezTo>
                <a:cubicBezTo>
                  <a:pt x="39" y="45"/>
                  <a:pt x="41" y="46"/>
                  <a:pt x="42" y="47"/>
                </a:cubicBezTo>
                <a:cubicBezTo>
                  <a:pt x="43" y="48"/>
                  <a:pt x="43" y="50"/>
                  <a:pt x="42" y="50"/>
                </a:cubicBezTo>
                <a:cubicBezTo>
                  <a:pt x="34" y="58"/>
                  <a:pt x="34" y="58"/>
                  <a:pt x="34" y="58"/>
                </a:cubicBezTo>
                <a:cubicBezTo>
                  <a:pt x="34" y="68"/>
                  <a:pt x="34" y="68"/>
                  <a:pt x="34" y="68"/>
                </a:cubicBezTo>
                <a:cubicBezTo>
                  <a:pt x="45" y="57"/>
                  <a:pt x="45" y="57"/>
                  <a:pt x="45" y="57"/>
                </a:cubicBezTo>
                <a:cubicBezTo>
                  <a:pt x="45" y="56"/>
                  <a:pt x="47" y="56"/>
                  <a:pt x="48" y="57"/>
                </a:cubicBezTo>
                <a:cubicBezTo>
                  <a:pt x="49" y="58"/>
                  <a:pt x="50" y="60"/>
                  <a:pt x="48" y="61"/>
                </a:cubicBezTo>
                <a:cubicBezTo>
                  <a:pt x="34" y="76"/>
                  <a:pt x="34" y="76"/>
                  <a:pt x="34" y="76"/>
                </a:cubicBezTo>
                <a:cubicBezTo>
                  <a:pt x="34" y="84"/>
                  <a:pt x="34" y="84"/>
                  <a:pt x="34" y="84"/>
                </a:cubicBezTo>
                <a:cubicBezTo>
                  <a:pt x="34" y="85"/>
                  <a:pt x="34" y="85"/>
                  <a:pt x="34" y="85"/>
                </a:cubicBezTo>
                <a:cubicBezTo>
                  <a:pt x="34" y="85"/>
                  <a:pt x="34" y="85"/>
                  <a:pt x="34" y="85"/>
                </a:cubicBezTo>
                <a:cubicBezTo>
                  <a:pt x="34" y="85"/>
                  <a:pt x="34" y="85"/>
                  <a:pt x="34" y="85"/>
                </a:cubicBezTo>
                <a:cubicBezTo>
                  <a:pt x="34" y="85"/>
                  <a:pt x="35" y="85"/>
                  <a:pt x="35" y="85"/>
                </a:cubicBezTo>
                <a:cubicBezTo>
                  <a:pt x="36" y="85"/>
                  <a:pt x="37" y="85"/>
                  <a:pt x="37" y="85"/>
                </a:cubicBezTo>
                <a:cubicBezTo>
                  <a:pt x="39" y="84"/>
                  <a:pt x="39" y="84"/>
                  <a:pt x="40" y="84"/>
                </a:cubicBezTo>
                <a:cubicBezTo>
                  <a:pt x="53" y="81"/>
                  <a:pt x="63" y="67"/>
                  <a:pt x="62" y="5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6" name="Group 95">
            <a:extLst>
              <a:ext uri="{FF2B5EF4-FFF2-40B4-BE49-F238E27FC236}">
                <a16:creationId xmlns:a16="http://schemas.microsoft.com/office/drawing/2014/main" id="{39ADD64D-36D9-4016-8067-34492D72C0F2}"/>
              </a:ext>
            </a:extLst>
          </p:cNvPr>
          <p:cNvGrpSpPr>
            <a:grpSpLocks noChangeAspect="1"/>
          </p:cNvGrpSpPr>
          <p:nvPr/>
        </p:nvGrpSpPr>
        <p:grpSpPr>
          <a:xfrm>
            <a:off x="3602528" y="3440747"/>
            <a:ext cx="157839" cy="274320"/>
            <a:chOff x="4027217" y="1819546"/>
            <a:chExt cx="314576" cy="546730"/>
          </a:xfrm>
          <a:solidFill>
            <a:srgbClr val="595555"/>
          </a:solidFill>
        </p:grpSpPr>
        <p:sp>
          <p:nvSpPr>
            <p:cNvPr id="97" name="Freeform 869">
              <a:extLst>
                <a:ext uri="{FF2B5EF4-FFF2-40B4-BE49-F238E27FC236}">
                  <a16:creationId xmlns:a16="http://schemas.microsoft.com/office/drawing/2014/main" id="{B04A1401-374E-4B98-ADE0-7532DAF976EF}"/>
                </a:ext>
              </a:extLst>
            </p:cNvPr>
            <p:cNvSpPr>
              <a:spLocks/>
            </p:cNvSpPr>
            <p:nvPr/>
          </p:nvSpPr>
          <p:spPr bwMode="auto">
            <a:xfrm>
              <a:off x="4102770" y="2011863"/>
              <a:ext cx="163470" cy="46706"/>
            </a:xfrm>
            <a:custGeom>
              <a:avLst/>
              <a:gdLst>
                <a:gd name="T0" fmla="*/ 12 w 24"/>
                <a:gd name="T1" fmla="*/ 0 h 7"/>
                <a:gd name="T2" fmla="*/ 0 w 24"/>
                <a:gd name="T3" fmla="*/ 6 h 7"/>
                <a:gd name="T4" fmla="*/ 1 w 24"/>
                <a:gd name="T5" fmla="*/ 7 h 7"/>
                <a:gd name="T6" fmla="*/ 12 w 24"/>
                <a:gd name="T7" fmla="*/ 2 h 7"/>
                <a:gd name="T8" fmla="*/ 23 w 24"/>
                <a:gd name="T9" fmla="*/ 7 h 7"/>
                <a:gd name="T10" fmla="*/ 24 w 24"/>
                <a:gd name="T11" fmla="*/ 6 h 7"/>
                <a:gd name="T12" fmla="*/ 12 w 24"/>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24" h="7">
                  <a:moveTo>
                    <a:pt x="12" y="0"/>
                  </a:moveTo>
                  <a:cubicBezTo>
                    <a:pt x="7" y="0"/>
                    <a:pt x="3" y="2"/>
                    <a:pt x="0" y="6"/>
                  </a:cubicBezTo>
                  <a:cubicBezTo>
                    <a:pt x="1" y="7"/>
                    <a:pt x="1" y="7"/>
                    <a:pt x="1" y="7"/>
                  </a:cubicBezTo>
                  <a:cubicBezTo>
                    <a:pt x="4" y="4"/>
                    <a:pt x="8" y="2"/>
                    <a:pt x="12" y="2"/>
                  </a:cubicBezTo>
                  <a:cubicBezTo>
                    <a:pt x="16" y="2"/>
                    <a:pt x="20" y="4"/>
                    <a:pt x="23" y="7"/>
                  </a:cubicBezTo>
                  <a:cubicBezTo>
                    <a:pt x="24" y="6"/>
                    <a:pt x="24" y="6"/>
                    <a:pt x="24" y="6"/>
                  </a:cubicBezTo>
                  <a:cubicBezTo>
                    <a:pt x="22" y="2"/>
                    <a:pt x="17"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870">
              <a:extLst>
                <a:ext uri="{FF2B5EF4-FFF2-40B4-BE49-F238E27FC236}">
                  <a16:creationId xmlns:a16="http://schemas.microsoft.com/office/drawing/2014/main" id="{8280B998-8BE8-4F34-91D6-7B17EEB80AF3}"/>
                </a:ext>
              </a:extLst>
            </p:cNvPr>
            <p:cNvSpPr>
              <a:spLocks/>
            </p:cNvSpPr>
            <p:nvPr/>
          </p:nvSpPr>
          <p:spPr bwMode="auto">
            <a:xfrm>
              <a:off x="4123375" y="2039337"/>
              <a:ext cx="122259" cy="39837"/>
            </a:xfrm>
            <a:custGeom>
              <a:avLst/>
              <a:gdLst>
                <a:gd name="T0" fmla="*/ 9 w 18"/>
                <a:gd name="T1" fmla="*/ 0 h 6"/>
                <a:gd name="T2" fmla="*/ 0 w 18"/>
                <a:gd name="T3" fmla="*/ 5 h 6"/>
                <a:gd name="T4" fmla="*/ 1 w 18"/>
                <a:gd name="T5" fmla="*/ 6 h 6"/>
                <a:gd name="T6" fmla="*/ 9 w 18"/>
                <a:gd name="T7" fmla="*/ 2 h 6"/>
                <a:gd name="T8" fmla="*/ 17 w 18"/>
                <a:gd name="T9" fmla="*/ 6 h 6"/>
                <a:gd name="T10" fmla="*/ 18 w 18"/>
                <a:gd name="T11" fmla="*/ 5 h 6"/>
                <a:gd name="T12" fmla="*/ 9 w 18"/>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8" h="6">
                  <a:moveTo>
                    <a:pt x="9" y="0"/>
                  </a:moveTo>
                  <a:cubicBezTo>
                    <a:pt x="5" y="0"/>
                    <a:pt x="2" y="2"/>
                    <a:pt x="0" y="5"/>
                  </a:cubicBezTo>
                  <a:cubicBezTo>
                    <a:pt x="1" y="6"/>
                    <a:pt x="1" y="6"/>
                    <a:pt x="1" y="6"/>
                  </a:cubicBezTo>
                  <a:cubicBezTo>
                    <a:pt x="3" y="4"/>
                    <a:pt x="6" y="2"/>
                    <a:pt x="9" y="2"/>
                  </a:cubicBezTo>
                  <a:cubicBezTo>
                    <a:pt x="12" y="2"/>
                    <a:pt x="15" y="4"/>
                    <a:pt x="17" y="6"/>
                  </a:cubicBezTo>
                  <a:cubicBezTo>
                    <a:pt x="18" y="5"/>
                    <a:pt x="18" y="5"/>
                    <a:pt x="18" y="5"/>
                  </a:cubicBezTo>
                  <a:cubicBezTo>
                    <a:pt x="16" y="2"/>
                    <a:pt x="13"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871">
              <a:extLst>
                <a:ext uri="{FF2B5EF4-FFF2-40B4-BE49-F238E27FC236}">
                  <a16:creationId xmlns:a16="http://schemas.microsoft.com/office/drawing/2014/main" id="{CD2A1857-76D6-4C3B-A178-82B99F058640}"/>
                </a:ext>
              </a:extLst>
            </p:cNvPr>
            <p:cNvSpPr>
              <a:spLocks/>
            </p:cNvSpPr>
            <p:nvPr/>
          </p:nvSpPr>
          <p:spPr bwMode="auto">
            <a:xfrm>
              <a:off x="4143981" y="2065437"/>
              <a:ext cx="81048" cy="41211"/>
            </a:xfrm>
            <a:custGeom>
              <a:avLst/>
              <a:gdLst>
                <a:gd name="T0" fmla="*/ 6 w 12"/>
                <a:gd name="T1" fmla="*/ 0 h 6"/>
                <a:gd name="T2" fmla="*/ 0 w 12"/>
                <a:gd name="T3" fmla="*/ 4 h 6"/>
                <a:gd name="T4" fmla="*/ 2 w 12"/>
                <a:gd name="T5" fmla="*/ 6 h 6"/>
                <a:gd name="T6" fmla="*/ 6 w 12"/>
                <a:gd name="T7" fmla="*/ 3 h 6"/>
                <a:gd name="T8" fmla="*/ 10 w 12"/>
                <a:gd name="T9" fmla="*/ 6 h 6"/>
                <a:gd name="T10" fmla="*/ 12 w 12"/>
                <a:gd name="T11" fmla="*/ 4 h 6"/>
                <a:gd name="T12" fmla="*/ 6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6" y="0"/>
                  </a:moveTo>
                  <a:cubicBezTo>
                    <a:pt x="3" y="0"/>
                    <a:pt x="1" y="2"/>
                    <a:pt x="0" y="4"/>
                  </a:cubicBezTo>
                  <a:cubicBezTo>
                    <a:pt x="2" y="6"/>
                    <a:pt x="2" y="6"/>
                    <a:pt x="2" y="6"/>
                  </a:cubicBezTo>
                  <a:cubicBezTo>
                    <a:pt x="2" y="4"/>
                    <a:pt x="4" y="3"/>
                    <a:pt x="6" y="3"/>
                  </a:cubicBezTo>
                  <a:cubicBezTo>
                    <a:pt x="8" y="3"/>
                    <a:pt x="10" y="4"/>
                    <a:pt x="10" y="6"/>
                  </a:cubicBezTo>
                  <a:cubicBezTo>
                    <a:pt x="12" y="4"/>
                    <a:pt x="12" y="4"/>
                    <a:pt x="12" y="4"/>
                  </a:cubicBezTo>
                  <a:cubicBezTo>
                    <a:pt x="11" y="2"/>
                    <a:pt x="9"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872">
              <a:extLst>
                <a:ext uri="{FF2B5EF4-FFF2-40B4-BE49-F238E27FC236}">
                  <a16:creationId xmlns:a16="http://schemas.microsoft.com/office/drawing/2014/main" id="{FD400D0F-0ADC-486F-8E36-AA8445874DA6}"/>
                </a:ext>
              </a:extLst>
            </p:cNvPr>
            <p:cNvSpPr>
              <a:spLocks/>
            </p:cNvSpPr>
            <p:nvPr/>
          </p:nvSpPr>
          <p:spPr bwMode="auto">
            <a:xfrm>
              <a:off x="4164586" y="2099780"/>
              <a:ext cx="39837" cy="34342"/>
            </a:xfrm>
            <a:custGeom>
              <a:avLst/>
              <a:gdLst>
                <a:gd name="T0" fmla="*/ 3 w 6"/>
                <a:gd name="T1" fmla="*/ 0 h 5"/>
                <a:gd name="T2" fmla="*/ 0 w 6"/>
                <a:gd name="T3" fmla="*/ 2 h 5"/>
                <a:gd name="T4" fmla="*/ 0 w 6"/>
                <a:gd name="T5" fmla="*/ 3 h 5"/>
                <a:gd name="T6" fmla="*/ 3 w 6"/>
                <a:gd name="T7" fmla="*/ 5 h 5"/>
                <a:gd name="T8" fmla="*/ 3 w 6"/>
                <a:gd name="T9" fmla="*/ 5 h 5"/>
                <a:gd name="T10" fmla="*/ 4 w 6"/>
                <a:gd name="T11" fmla="*/ 5 h 5"/>
                <a:gd name="T12" fmla="*/ 6 w 6"/>
                <a:gd name="T13" fmla="*/ 3 h 5"/>
                <a:gd name="T14" fmla="*/ 6 w 6"/>
                <a:gd name="T15" fmla="*/ 2 h 5"/>
                <a:gd name="T16" fmla="*/ 3 w 6"/>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5">
                  <a:moveTo>
                    <a:pt x="3" y="0"/>
                  </a:moveTo>
                  <a:cubicBezTo>
                    <a:pt x="2" y="0"/>
                    <a:pt x="0" y="1"/>
                    <a:pt x="0" y="2"/>
                  </a:cubicBezTo>
                  <a:cubicBezTo>
                    <a:pt x="0" y="2"/>
                    <a:pt x="0" y="3"/>
                    <a:pt x="0" y="3"/>
                  </a:cubicBezTo>
                  <a:cubicBezTo>
                    <a:pt x="0" y="4"/>
                    <a:pt x="1" y="5"/>
                    <a:pt x="3" y="5"/>
                  </a:cubicBezTo>
                  <a:cubicBezTo>
                    <a:pt x="3" y="5"/>
                    <a:pt x="3" y="5"/>
                    <a:pt x="3" y="5"/>
                  </a:cubicBezTo>
                  <a:cubicBezTo>
                    <a:pt x="3" y="5"/>
                    <a:pt x="3" y="5"/>
                    <a:pt x="4" y="5"/>
                  </a:cubicBezTo>
                  <a:cubicBezTo>
                    <a:pt x="5" y="5"/>
                    <a:pt x="6" y="4"/>
                    <a:pt x="6" y="3"/>
                  </a:cubicBezTo>
                  <a:cubicBezTo>
                    <a:pt x="6" y="3"/>
                    <a:pt x="6" y="2"/>
                    <a:pt x="6" y="2"/>
                  </a:cubicBezTo>
                  <a:cubicBezTo>
                    <a:pt x="6"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1" name="Freeform 873">
              <a:extLst>
                <a:ext uri="{FF2B5EF4-FFF2-40B4-BE49-F238E27FC236}">
                  <a16:creationId xmlns:a16="http://schemas.microsoft.com/office/drawing/2014/main" id="{54E5B36A-000A-4180-8AEE-16416001C7CA}"/>
                </a:ext>
              </a:extLst>
            </p:cNvPr>
            <p:cNvSpPr>
              <a:spLocks noEditPoints="1"/>
            </p:cNvSpPr>
            <p:nvPr/>
          </p:nvSpPr>
          <p:spPr bwMode="auto">
            <a:xfrm>
              <a:off x="4027217" y="1819546"/>
              <a:ext cx="314576" cy="546730"/>
            </a:xfrm>
            <a:custGeom>
              <a:avLst/>
              <a:gdLst>
                <a:gd name="T0" fmla="*/ 0 w 46"/>
                <a:gd name="T1" fmla="*/ 5 h 80"/>
                <a:gd name="T2" fmla="*/ 0 w 46"/>
                <a:gd name="T3" fmla="*/ 74 h 80"/>
                <a:gd name="T4" fmla="*/ 6 w 46"/>
                <a:gd name="T5" fmla="*/ 80 h 80"/>
                <a:gd name="T6" fmla="*/ 40 w 46"/>
                <a:gd name="T7" fmla="*/ 80 h 80"/>
                <a:gd name="T8" fmla="*/ 46 w 46"/>
                <a:gd name="T9" fmla="*/ 74 h 80"/>
                <a:gd name="T10" fmla="*/ 46 w 46"/>
                <a:gd name="T11" fmla="*/ 5 h 80"/>
                <a:gd name="T12" fmla="*/ 40 w 46"/>
                <a:gd name="T13" fmla="*/ 0 h 80"/>
                <a:gd name="T14" fmla="*/ 6 w 46"/>
                <a:gd name="T15" fmla="*/ 0 h 80"/>
                <a:gd name="T16" fmla="*/ 0 w 46"/>
                <a:gd name="T17" fmla="*/ 5 h 80"/>
                <a:gd name="T18" fmla="*/ 23 w 46"/>
                <a:gd name="T19" fmla="*/ 76 h 80"/>
                <a:gd name="T20" fmla="*/ 19 w 46"/>
                <a:gd name="T21" fmla="*/ 72 h 80"/>
                <a:gd name="T22" fmla="*/ 23 w 46"/>
                <a:gd name="T23" fmla="*/ 68 h 80"/>
                <a:gd name="T24" fmla="*/ 27 w 46"/>
                <a:gd name="T25" fmla="*/ 72 h 80"/>
                <a:gd name="T26" fmla="*/ 23 w 46"/>
                <a:gd name="T27" fmla="*/ 76 h 80"/>
                <a:gd name="T28" fmla="*/ 39 w 46"/>
                <a:gd name="T29" fmla="*/ 64 h 80"/>
                <a:gd name="T30" fmla="*/ 7 w 46"/>
                <a:gd name="T31" fmla="*/ 64 h 80"/>
                <a:gd name="T32" fmla="*/ 7 w 46"/>
                <a:gd name="T33" fmla="*/ 10 h 80"/>
                <a:gd name="T34" fmla="*/ 39 w 46"/>
                <a:gd name="T35" fmla="*/ 10 h 80"/>
                <a:gd name="T36" fmla="*/ 39 w 46"/>
                <a:gd name="T37"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80">
                  <a:moveTo>
                    <a:pt x="0" y="5"/>
                  </a:moveTo>
                  <a:cubicBezTo>
                    <a:pt x="0" y="74"/>
                    <a:pt x="0" y="74"/>
                    <a:pt x="0" y="74"/>
                  </a:cubicBezTo>
                  <a:cubicBezTo>
                    <a:pt x="0" y="77"/>
                    <a:pt x="3" y="80"/>
                    <a:pt x="6" y="80"/>
                  </a:cubicBezTo>
                  <a:cubicBezTo>
                    <a:pt x="40" y="80"/>
                    <a:pt x="40" y="80"/>
                    <a:pt x="40" y="80"/>
                  </a:cubicBezTo>
                  <a:cubicBezTo>
                    <a:pt x="43" y="80"/>
                    <a:pt x="46" y="77"/>
                    <a:pt x="46" y="74"/>
                  </a:cubicBezTo>
                  <a:cubicBezTo>
                    <a:pt x="46" y="5"/>
                    <a:pt x="46" y="5"/>
                    <a:pt x="46" y="5"/>
                  </a:cubicBezTo>
                  <a:cubicBezTo>
                    <a:pt x="46" y="2"/>
                    <a:pt x="43" y="0"/>
                    <a:pt x="40" y="0"/>
                  </a:cubicBezTo>
                  <a:cubicBezTo>
                    <a:pt x="6" y="0"/>
                    <a:pt x="6" y="0"/>
                    <a:pt x="6" y="0"/>
                  </a:cubicBezTo>
                  <a:cubicBezTo>
                    <a:pt x="3" y="0"/>
                    <a:pt x="0" y="2"/>
                    <a:pt x="0" y="5"/>
                  </a:cubicBezTo>
                  <a:close/>
                  <a:moveTo>
                    <a:pt x="23" y="76"/>
                  </a:moveTo>
                  <a:cubicBezTo>
                    <a:pt x="21" y="76"/>
                    <a:pt x="19" y="74"/>
                    <a:pt x="19" y="72"/>
                  </a:cubicBezTo>
                  <a:cubicBezTo>
                    <a:pt x="19" y="70"/>
                    <a:pt x="21" y="68"/>
                    <a:pt x="23" y="68"/>
                  </a:cubicBezTo>
                  <a:cubicBezTo>
                    <a:pt x="26" y="68"/>
                    <a:pt x="27" y="70"/>
                    <a:pt x="27" y="72"/>
                  </a:cubicBezTo>
                  <a:cubicBezTo>
                    <a:pt x="27" y="74"/>
                    <a:pt x="26" y="76"/>
                    <a:pt x="23" y="76"/>
                  </a:cubicBezTo>
                  <a:close/>
                  <a:moveTo>
                    <a:pt x="39" y="64"/>
                  </a:moveTo>
                  <a:cubicBezTo>
                    <a:pt x="7" y="64"/>
                    <a:pt x="7" y="64"/>
                    <a:pt x="7" y="64"/>
                  </a:cubicBezTo>
                  <a:cubicBezTo>
                    <a:pt x="7" y="10"/>
                    <a:pt x="7" y="10"/>
                    <a:pt x="7" y="10"/>
                  </a:cubicBezTo>
                  <a:cubicBezTo>
                    <a:pt x="39" y="10"/>
                    <a:pt x="39" y="10"/>
                    <a:pt x="39" y="10"/>
                  </a:cubicBezTo>
                  <a:lnTo>
                    <a:pt x="39"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2" name="Group 101">
            <a:extLst>
              <a:ext uri="{FF2B5EF4-FFF2-40B4-BE49-F238E27FC236}">
                <a16:creationId xmlns:a16="http://schemas.microsoft.com/office/drawing/2014/main" id="{E84F8BED-9CE2-449B-AD8B-90E89B1EB8D8}"/>
              </a:ext>
            </a:extLst>
          </p:cNvPr>
          <p:cNvGrpSpPr>
            <a:grpSpLocks noChangeAspect="1"/>
          </p:cNvGrpSpPr>
          <p:nvPr/>
        </p:nvGrpSpPr>
        <p:grpSpPr>
          <a:xfrm>
            <a:off x="2681963" y="3440747"/>
            <a:ext cx="157149" cy="274320"/>
            <a:chOff x="3263443" y="1819546"/>
            <a:chExt cx="313202" cy="546730"/>
          </a:xfrm>
          <a:solidFill>
            <a:srgbClr val="595555"/>
          </a:solidFill>
        </p:grpSpPr>
        <p:sp>
          <p:nvSpPr>
            <p:cNvPr id="103" name="Freeform 874">
              <a:extLst>
                <a:ext uri="{FF2B5EF4-FFF2-40B4-BE49-F238E27FC236}">
                  <a16:creationId xmlns:a16="http://schemas.microsoft.com/office/drawing/2014/main" id="{98563BF9-615C-4EE2-B1C0-6E81E01138C5}"/>
                </a:ext>
              </a:extLst>
            </p:cNvPr>
            <p:cNvSpPr>
              <a:spLocks/>
            </p:cNvSpPr>
            <p:nvPr/>
          </p:nvSpPr>
          <p:spPr bwMode="auto">
            <a:xfrm>
              <a:off x="3358228" y="2046205"/>
              <a:ext cx="123632" cy="115390"/>
            </a:xfrm>
            <a:custGeom>
              <a:avLst/>
              <a:gdLst>
                <a:gd name="T0" fmla="*/ 8 w 18"/>
                <a:gd name="T1" fmla="*/ 12 h 17"/>
                <a:gd name="T2" fmla="*/ 8 w 18"/>
                <a:gd name="T3" fmla="*/ 15 h 17"/>
                <a:gd name="T4" fmla="*/ 5 w 18"/>
                <a:gd name="T5" fmla="*/ 15 h 17"/>
                <a:gd name="T6" fmla="*/ 5 w 18"/>
                <a:gd name="T7" fmla="*/ 17 h 17"/>
                <a:gd name="T8" fmla="*/ 13 w 18"/>
                <a:gd name="T9" fmla="*/ 17 h 17"/>
                <a:gd name="T10" fmla="*/ 13 w 18"/>
                <a:gd name="T11" fmla="*/ 15 h 17"/>
                <a:gd name="T12" fmla="*/ 10 w 18"/>
                <a:gd name="T13" fmla="*/ 15 h 17"/>
                <a:gd name="T14" fmla="*/ 10 w 18"/>
                <a:gd name="T15" fmla="*/ 12 h 17"/>
                <a:gd name="T16" fmla="*/ 18 w 18"/>
                <a:gd name="T17" fmla="*/ 4 h 17"/>
                <a:gd name="T18" fmla="*/ 18 w 18"/>
                <a:gd name="T19" fmla="*/ 0 h 17"/>
                <a:gd name="T20" fmla="*/ 16 w 18"/>
                <a:gd name="T21" fmla="*/ 0 h 17"/>
                <a:gd name="T22" fmla="*/ 16 w 18"/>
                <a:gd name="T23" fmla="*/ 4 h 17"/>
                <a:gd name="T24" fmla="*/ 9 w 18"/>
                <a:gd name="T25" fmla="*/ 10 h 17"/>
                <a:gd name="T26" fmla="*/ 2 w 18"/>
                <a:gd name="T27" fmla="*/ 4 h 17"/>
                <a:gd name="T28" fmla="*/ 2 w 18"/>
                <a:gd name="T29" fmla="*/ 0 h 17"/>
                <a:gd name="T30" fmla="*/ 0 w 18"/>
                <a:gd name="T31" fmla="*/ 0 h 17"/>
                <a:gd name="T32" fmla="*/ 0 w 18"/>
                <a:gd name="T33" fmla="*/ 4 h 17"/>
                <a:gd name="T34" fmla="*/ 8 w 18"/>
                <a:gd name="T35"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17">
                  <a:moveTo>
                    <a:pt x="8" y="12"/>
                  </a:moveTo>
                  <a:cubicBezTo>
                    <a:pt x="8" y="15"/>
                    <a:pt x="8" y="15"/>
                    <a:pt x="8" y="15"/>
                  </a:cubicBezTo>
                  <a:cubicBezTo>
                    <a:pt x="5" y="15"/>
                    <a:pt x="5" y="15"/>
                    <a:pt x="5" y="15"/>
                  </a:cubicBezTo>
                  <a:cubicBezTo>
                    <a:pt x="5" y="17"/>
                    <a:pt x="5" y="17"/>
                    <a:pt x="5" y="17"/>
                  </a:cubicBezTo>
                  <a:cubicBezTo>
                    <a:pt x="13" y="17"/>
                    <a:pt x="13" y="17"/>
                    <a:pt x="13" y="17"/>
                  </a:cubicBezTo>
                  <a:cubicBezTo>
                    <a:pt x="13" y="15"/>
                    <a:pt x="13" y="15"/>
                    <a:pt x="13" y="15"/>
                  </a:cubicBezTo>
                  <a:cubicBezTo>
                    <a:pt x="10" y="15"/>
                    <a:pt x="10" y="15"/>
                    <a:pt x="10" y="15"/>
                  </a:cubicBezTo>
                  <a:cubicBezTo>
                    <a:pt x="10" y="12"/>
                    <a:pt x="10" y="12"/>
                    <a:pt x="10" y="12"/>
                  </a:cubicBezTo>
                  <a:cubicBezTo>
                    <a:pt x="15" y="12"/>
                    <a:pt x="18" y="8"/>
                    <a:pt x="18" y="4"/>
                  </a:cubicBezTo>
                  <a:cubicBezTo>
                    <a:pt x="18" y="0"/>
                    <a:pt x="18" y="0"/>
                    <a:pt x="18" y="0"/>
                  </a:cubicBezTo>
                  <a:cubicBezTo>
                    <a:pt x="16" y="0"/>
                    <a:pt x="16" y="0"/>
                    <a:pt x="16" y="0"/>
                  </a:cubicBezTo>
                  <a:cubicBezTo>
                    <a:pt x="16" y="4"/>
                    <a:pt x="16" y="4"/>
                    <a:pt x="16" y="4"/>
                  </a:cubicBezTo>
                  <a:cubicBezTo>
                    <a:pt x="16" y="7"/>
                    <a:pt x="13" y="10"/>
                    <a:pt x="9" y="10"/>
                  </a:cubicBezTo>
                  <a:cubicBezTo>
                    <a:pt x="5" y="10"/>
                    <a:pt x="2" y="7"/>
                    <a:pt x="2" y="4"/>
                  </a:cubicBezTo>
                  <a:cubicBezTo>
                    <a:pt x="2" y="0"/>
                    <a:pt x="2" y="0"/>
                    <a:pt x="2" y="0"/>
                  </a:cubicBezTo>
                  <a:cubicBezTo>
                    <a:pt x="0" y="0"/>
                    <a:pt x="0" y="0"/>
                    <a:pt x="0" y="0"/>
                  </a:cubicBezTo>
                  <a:cubicBezTo>
                    <a:pt x="0" y="4"/>
                    <a:pt x="0" y="4"/>
                    <a:pt x="0" y="4"/>
                  </a:cubicBezTo>
                  <a:cubicBezTo>
                    <a:pt x="0" y="8"/>
                    <a:pt x="3" y="12"/>
                    <a:pt x="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Freeform 875">
              <a:extLst>
                <a:ext uri="{FF2B5EF4-FFF2-40B4-BE49-F238E27FC236}">
                  <a16:creationId xmlns:a16="http://schemas.microsoft.com/office/drawing/2014/main" id="{572F8BBA-188C-45DC-BAB8-EC006162F98D}"/>
                </a:ext>
              </a:extLst>
            </p:cNvPr>
            <p:cNvSpPr>
              <a:spLocks noEditPoints="1"/>
            </p:cNvSpPr>
            <p:nvPr/>
          </p:nvSpPr>
          <p:spPr bwMode="auto">
            <a:xfrm>
              <a:off x="3263443" y="1819546"/>
              <a:ext cx="313202" cy="546730"/>
            </a:xfrm>
            <a:custGeom>
              <a:avLst/>
              <a:gdLst>
                <a:gd name="T0" fmla="*/ 40 w 46"/>
                <a:gd name="T1" fmla="*/ 0 h 80"/>
                <a:gd name="T2" fmla="*/ 6 w 46"/>
                <a:gd name="T3" fmla="*/ 0 h 80"/>
                <a:gd name="T4" fmla="*/ 0 w 46"/>
                <a:gd name="T5" fmla="*/ 5 h 80"/>
                <a:gd name="T6" fmla="*/ 0 w 46"/>
                <a:gd name="T7" fmla="*/ 74 h 80"/>
                <a:gd name="T8" fmla="*/ 6 w 46"/>
                <a:gd name="T9" fmla="*/ 80 h 80"/>
                <a:gd name="T10" fmla="*/ 40 w 46"/>
                <a:gd name="T11" fmla="*/ 80 h 80"/>
                <a:gd name="T12" fmla="*/ 46 w 46"/>
                <a:gd name="T13" fmla="*/ 74 h 80"/>
                <a:gd name="T14" fmla="*/ 46 w 46"/>
                <a:gd name="T15" fmla="*/ 5 h 80"/>
                <a:gd name="T16" fmla="*/ 40 w 46"/>
                <a:gd name="T17" fmla="*/ 0 h 80"/>
                <a:gd name="T18" fmla="*/ 23 w 46"/>
                <a:gd name="T19" fmla="*/ 76 h 80"/>
                <a:gd name="T20" fmla="*/ 19 w 46"/>
                <a:gd name="T21" fmla="*/ 72 h 80"/>
                <a:gd name="T22" fmla="*/ 23 w 46"/>
                <a:gd name="T23" fmla="*/ 68 h 80"/>
                <a:gd name="T24" fmla="*/ 27 w 46"/>
                <a:gd name="T25" fmla="*/ 72 h 80"/>
                <a:gd name="T26" fmla="*/ 23 w 46"/>
                <a:gd name="T27" fmla="*/ 76 h 80"/>
                <a:gd name="T28" fmla="*/ 39 w 46"/>
                <a:gd name="T29" fmla="*/ 64 h 80"/>
                <a:gd name="T30" fmla="*/ 7 w 46"/>
                <a:gd name="T31" fmla="*/ 64 h 80"/>
                <a:gd name="T32" fmla="*/ 7 w 46"/>
                <a:gd name="T33" fmla="*/ 10 h 80"/>
                <a:gd name="T34" fmla="*/ 39 w 46"/>
                <a:gd name="T35" fmla="*/ 10 h 80"/>
                <a:gd name="T36" fmla="*/ 39 w 46"/>
                <a:gd name="T37"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80">
                  <a:moveTo>
                    <a:pt x="40" y="0"/>
                  </a:moveTo>
                  <a:cubicBezTo>
                    <a:pt x="6" y="0"/>
                    <a:pt x="6" y="0"/>
                    <a:pt x="6" y="0"/>
                  </a:cubicBezTo>
                  <a:cubicBezTo>
                    <a:pt x="3" y="0"/>
                    <a:pt x="0" y="2"/>
                    <a:pt x="0" y="5"/>
                  </a:cubicBezTo>
                  <a:cubicBezTo>
                    <a:pt x="0" y="74"/>
                    <a:pt x="0" y="74"/>
                    <a:pt x="0" y="74"/>
                  </a:cubicBezTo>
                  <a:cubicBezTo>
                    <a:pt x="0" y="77"/>
                    <a:pt x="3" y="80"/>
                    <a:pt x="6" y="80"/>
                  </a:cubicBezTo>
                  <a:cubicBezTo>
                    <a:pt x="40" y="80"/>
                    <a:pt x="40" y="80"/>
                    <a:pt x="40" y="80"/>
                  </a:cubicBezTo>
                  <a:cubicBezTo>
                    <a:pt x="43" y="80"/>
                    <a:pt x="46" y="77"/>
                    <a:pt x="46" y="74"/>
                  </a:cubicBezTo>
                  <a:cubicBezTo>
                    <a:pt x="46" y="5"/>
                    <a:pt x="46" y="5"/>
                    <a:pt x="46" y="5"/>
                  </a:cubicBezTo>
                  <a:cubicBezTo>
                    <a:pt x="46" y="2"/>
                    <a:pt x="43" y="0"/>
                    <a:pt x="40" y="0"/>
                  </a:cubicBezTo>
                  <a:close/>
                  <a:moveTo>
                    <a:pt x="23" y="76"/>
                  </a:moveTo>
                  <a:cubicBezTo>
                    <a:pt x="21" y="76"/>
                    <a:pt x="19" y="74"/>
                    <a:pt x="19" y="72"/>
                  </a:cubicBezTo>
                  <a:cubicBezTo>
                    <a:pt x="19" y="70"/>
                    <a:pt x="21" y="68"/>
                    <a:pt x="23" y="68"/>
                  </a:cubicBezTo>
                  <a:cubicBezTo>
                    <a:pt x="26" y="68"/>
                    <a:pt x="27" y="70"/>
                    <a:pt x="27" y="72"/>
                  </a:cubicBezTo>
                  <a:cubicBezTo>
                    <a:pt x="27" y="74"/>
                    <a:pt x="26" y="76"/>
                    <a:pt x="23" y="76"/>
                  </a:cubicBezTo>
                  <a:close/>
                  <a:moveTo>
                    <a:pt x="39" y="64"/>
                  </a:moveTo>
                  <a:cubicBezTo>
                    <a:pt x="7" y="64"/>
                    <a:pt x="7" y="64"/>
                    <a:pt x="7" y="64"/>
                  </a:cubicBezTo>
                  <a:cubicBezTo>
                    <a:pt x="7" y="10"/>
                    <a:pt x="7" y="10"/>
                    <a:pt x="7" y="10"/>
                  </a:cubicBezTo>
                  <a:cubicBezTo>
                    <a:pt x="39" y="10"/>
                    <a:pt x="39" y="10"/>
                    <a:pt x="39" y="10"/>
                  </a:cubicBezTo>
                  <a:lnTo>
                    <a:pt x="39"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Freeform 876">
              <a:extLst>
                <a:ext uri="{FF2B5EF4-FFF2-40B4-BE49-F238E27FC236}">
                  <a16:creationId xmlns:a16="http://schemas.microsoft.com/office/drawing/2014/main" id="{B2218A70-7093-4766-A7CA-5B6407DBAD1F}"/>
                </a:ext>
              </a:extLst>
            </p:cNvPr>
            <p:cNvSpPr>
              <a:spLocks/>
            </p:cNvSpPr>
            <p:nvPr/>
          </p:nvSpPr>
          <p:spPr bwMode="auto">
            <a:xfrm>
              <a:off x="3385702" y="1984389"/>
              <a:ext cx="68685" cy="115390"/>
            </a:xfrm>
            <a:custGeom>
              <a:avLst/>
              <a:gdLst>
                <a:gd name="T0" fmla="*/ 5 w 10"/>
                <a:gd name="T1" fmla="*/ 17 h 17"/>
                <a:gd name="T2" fmla="*/ 10 w 10"/>
                <a:gd name="T3" fmla="*/ 12 h 17"/>
                <a:gd name="T4" fmla="*/ 10 w 10"/>
                <a:gd name="T5" fmla="*/ 5 h 17"/>
                <a:gd name="T6" fmla="*/ 5 w 10"/>
                <a:gd name="T7" fmla="*/ 0 h 17"/>
                <a:gd name="T8" fmla="*/ 0 w 10"/>
                <a:gd name="T9" fmla="*/ 5 h 17"/>
                <a:gd name="T10" fmla="*/ 0 w 10"/>
                <a:gd name="T11" fmla="*/ 12 h 17"/>
                <a:gd name="T12" fmla="*/ 5 w 10"/>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10" h="17">
                  <a:moveTo>
                    <a:pt x="5" y="17"/>
                  </a:moveTo>
                  <a:cubicBezTo>
                    <a:pt x="8" y="17"/>
                    <a:pt x="10" y="15"/>
                    <a:pt x="10" y="12"/>
                  </a:cubicBezTo>
                  <a:cubicBezTo>
                    <a:pt x="10" y="5"/>
                    <a:pt x="10" y="5"/>
                    <a:pt x="10" y="5"/>
                  </a:cubicBezTo>
                  <a:cubicBezTo>
                    <a:pt x="10" y="2"/>
                    <a:pt x="8" y="0"/>
                    <a:pt x="5" y="0"/>
                  </a:cubicBezTo>
                  <a:cubicBezTo>
                    <a:pt x="2" y="0"/>
                    <a:pt x="0" y="2"/>
                    <a:pt x="0" y="5"/>
                  </a:cubicBezTo>
                  <a:cubicBezTo>
                    <a:pt x="0" y="12"/>
                    <a:pt x="0" y="12"/>
                    <a:pt x="0" y="12"/>
                  </a:cubicBezTo>
                  <a:cubicBezTo>
                    <a:pt x="0" y="15"/>
                    <a:pt x="2" y="17"/>
                    <a:pt x="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6" name="Freeform 877">
            <a:extLst>
              <a:ext uri="{FF2B5EF4-FFF2-40B4-BE49-F238E27FC236}">
                <a16:creationId xmlns:a16="http://schemas.microsoft.com/office/drawing/2014/main" id="{DE64EB36-2E2A-439B-9924-AAFDDB009063}"/>
              </a:ext>
            </a:extLst>
          </p:cNvPr>
          <p:cNvSpPr>
            <a:spLocks noChangeAspect="1" noEditPoints="1"/>
          </p:cNvSpPr>
          <p:nvPr/>
        </p:nvSpPr>
        <p:spPr bwMode="auto">
          <a:xfrm>
            <a:off x="4475078" y="3440747"/>
            <a:ext cx="198504" cy="274320"/>
          </a:xfrm>
          <a:custGeom>
            <a:avLst/>
            <a:gdLst>
              <a:gd name="T0" fmla="*/ 53 w 58"/>
              <a:gd name="T1" fmla="*/ 0 h 80"/>
              <a:gd name="T2" fmla="*/ 40 w 58"/>
              <a:gd name="T3" fmla="*/ 0 h 80"/>
              <a:gd name="T4" fmla="*/ 33 w 58"/>
              <a:gd name="T5" fmla="*/ 0 h 80"/>
              <a:gd name="T6" fmla="*/ 25 w 58"/>
              <a:gd name="T7" fmla="*/ 0 h 80"/>
              <a:gd name="T8" fmla="*/ 12 w 58"/>
              <a:gd name="T9" fmla="*/ 0 h 80"/>
              <a:gd name="T10" fmla="*/ 5 w 58"/>
              <a:gd name="T11" fmla="*/ 0 h 80"/>
              <a:gd name="T12" fmla="*/ 0 w 58"/>
              <a:gd name="T13" fmla="*/ 5 h 80"/>
              <a:gd name="T14" fmla="*/ 0 w 58"/>
              <a:gd name="T15" fmla="*/ 74 h 80"/>
              <a:gd name="T16" fmla="*/ 5 w 58"/>
              <a:gd name="T17" fmla="*/ 80 h 80"/>
              <a:gd name="T18" fmla="*/ 20 w 58"/>
              <a:gd name="T19" fmla="*/ 80 h 80"/>
              <a:gd name="T20" fmla="*/ 25 w 58"/>
              <a:gd name="T21" fmla="*/ 80 h 80"/>
              <a:gd name="T22" fmla="*/ 33 w 58"/>
              <a:gd name="T23" fmla="*/ 80 h 80"/>
              <a:gd name="T24" fmla="*/ 40 w 58"/>
              <a:gd name="T25" fmla="*/ 80 h 80"/>
              <a:gd name="T26" fmla="*/ 53 w 58"/>
              <a:gd name="T27" fmla="*/ 80 h 80"/>
              <a:gd name="T28" fmla="*/ 58 w 58"/>
              <a:gd name="T29" fmla="*/ 74 h 80"/>
              <a:gd name="T30" fmla="*/ 58 w 58"/>
              <a:gd name="T31" fmla="*/ 5 h 80"/>
              <a:gd name="T32" fmla="*/ 53 w 58"/>
              <a:gd name="T33" fmla="*/ 0 h 80"/>
              <a:gd name="T34" fmla="*/ 29 w 58"/>
              <a:gd name="T35" fmla="*/ 76 h 80"/>
              <a:gd name="T36" fmla="*/ 25 w 58"/>
              <a:gd name="T37" fmla="*/ 72 h 80"/>
              <a:gd name="T38" fmla="*/ 29 w 58"/>
              <a:gd name="T39" fmla="*/ 68 h 80"/>
              <a:gd name="T40" fmla="*/ 33 w 58"/>
              <a:gd name="T41" fmla="*/ 72 h 80"/>
              <a:gd name="T42" fmla="*/ 29 w 58"/>
              <a:gd name="T43" fmla="*/ 76 h 80"/>
              <a:gd name="T44" fmla="*/ 52 w 58"/>
              <a:gd name="T45" fmla="*/ 64 h 80"/>
              <a:gd name="T46" fmla="*/ 40 w 58"/>
              <a:gd name="T47" fmla="*/ 64 h 80"/>
              <a:gd name="T48" fmla="*/ 33 w 58"/>
              <a:gd name="T49" fmla="*/ 64 h 80"/>
              <a:gd name="T50" fmla="*/ 25 w 58"/>
              <a:gd name="T51" fmla="*/ 64 h 80"/>
              <a:gd name="T52" fmla="*/ 20 w 58"/>
              <a:gd name="T53" fmla="*/ 64 h 80"/>
              <a:gd name="T54" fmla="*/ 6 w 58"/>
              <a:gd name="T55" fmla="*/ 64 h 80"/>
              <a:gd name="T56" fmla="*/ 6 w 58"/>
              <a:gd name="T57" fmla="*/ 10 h 80"/>
              <a:gd name="T58" fmla="*/ 12 w 58"/>
              <a:gd name="T59" fmla="*/ 10 h 80"/>
              <a:gd name="T60" fmla="*/ 26 w 58"/>
              <a:gd name="T61" fmla="*/ 10 h 80"/>
              <a:gd name="T62" fmla="*/ 33 w 58"/>
              <a:gd name="T63" fmla="*/ 10 h 80"/>
              <a:gd name="T64" fmla="*/ 40 w 58"/>
              <a:gd name="T65" fmla="*/ 10 h 80"/>
              <a:gd name="T66" fmla="*/ 52 w 58"/>
              <a:gd name="T67" fmla="*/ 10 h 80"/>
              <a:gd name="T68" fmla="*/ 52 w 58"/>
              <a:gd name="T69" fmla="*/ 6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8" h="80">
                <a:moveTo>
                  <a:pt x="53" y="0"/>
                </a:moveTo>
                <a:cubicBezTo>
                  <a:pt x="40" y="0"/>
                  <a:pt x="40" y="0"/>
                  <a:pt x="40" y="0"/>
                </a:cubicBezTo>
                <a:cubicBezTo>
                  <a:pt x="33" y="0"/>
                  <a:pt x="33" y="0"/>
                  <a:pt x="33" y="0"/>
                </a:cubicBezTo>
                <a:cubicBezTo>
                  <a:pt x="25" y="0"/>
                  <a:pt x="25" y="0"/>
                  <a:pt x="25" y="0"/>
                </a:cubicBezTo>
                <a:cubicBezTo>
                  <a:pt x="12" y="0"/>
                  <a:pt x="12" y="0"/>
                  <a:pt x="12" y="0"/>
                </a:cubicBezTo>
                <a:cubicBezTo>
                  <a:pt x="5" y="0"/>
                  <a:pt x="5" y="0"/>
                  <a:pt x="5" y="0"/>
                </a:cubicBezTo>
                <a:cubicBezTo>
                  <a:pt x="2" y="0"/>
                  <a:pt x="0" y="2"/>
                  <a:pt x="0" y="5"/>
                </a:cubicBezTo>
                <a:cubicBezTo>
                  <a:pt x="0" y="74"/>
                  <a:pt x="0" y="74"/>
                  <a:pt x="0" y="74"/>
                </a:cubicBezTo>
                <a:cubicBezTo>
                  <a:pt x="0" y="77"/>
                  <a:pt x="2" y="80"/>
                  <a:pt x="5" y="80"/>
                </a:cubicBezTo>
                <a:cubicBezTo>
                  <a:pt x="20" y="80"/>
                  <a:pt x="20" y="80"/>
                  <a:pt x="20" y="80"/>
                </a:cubicBezTo>
                <a:cubicBezTo>
                  <a:pt x="25" y="80"/>
                  <a:pt x="25" y="80"/>
                  <a:pt x="25" y="80"/>
                </a:cubicBezTo>
                <a:cubicBezTo>
                  <a:pt x="33" y="80"/>
                  <a:pt x="33" y="80"/>
                  <a:pt x="33" y="80"/>
                </a:cubicBezTo>
                <a:cubicBezTo>
                  <a:pt x="40" y="80"/>
                  <a:pt x="40" y="80"/>
                  <a:pt x="40" y="80"/>
                </a:cubicBezTo>
                <a:cubicBezTo>
                  <a:pt x="53" y="80"/>
                  <a:pt x="53" y="80"/>
                  <a:pt x="53" y="80"/>
                </a:cubicBezTo>
                <a:cubicBezTo>
                  <a:pt x="56" y="80"/>
                  <a:pt x="58" y="77"/>
                  <a:pt x="58" y="74"/>
                </a:cubicBezTo>
                <a:cubicBezTo>
                  <a:pt x="58" y="5"/>
                  <a:pt x="58" y="5"/>
                  <a:pt x="58" y="5"/>
                </a:cubicBezTo>
                <a:cubicBezTo>
                  <a:pt x="58" y="2"/>
                  <a:pt x="56" y="0"/>
                  <a:pt x="53" y="0"/>
                </a:cubicBezTo>
                <a:close/>
                <a:moveTo>
                  <a:pt x="29" y="76"/>
                </a:moveTo>
                <a:cubicBezTo>
                  <a:pt x="27" y="76"/>
                  <a:pt x="25" y="74"/>
                  <a:pt x="25" y="72"/>
                </a:cubicBezTo>
                <a:cubicBezTo>
                  <a:pt x="25" y="69"/>
                  <a:pt x="27" y="68"/>
                  <a:pt x="29" y="68"/>
                </a:cubicBezTo>
                <a:cubicBezTo>
                  <a:pt x="31" y="68"/>
                  <a:pt x="33" y="69"/>
                  <a:pt x="33" y="72"/>
                </a:cubicBezTo>
                <a:cubicBezTo>
                  <a:pt x="33" y="74"/>
                  <a:pt x="31" y="76"/>
                  <a:pt x="29" y="76"/>
                </a:cubicBezTo>
                <a:close/>
                <a:moveTo>
                  <a:pt x="52" y="64"/>
                </a:moveTo>
                <a:cubicBezTo>
                  <a:pt x="40" y="64"/>
                  <a:pt x="40" y="64"/>
                  <a:pt x="40" y="64"/>
                </a:cubicBezTo>
                <a:cubicBezTo>
                  <a:pt x="33" y="64"/>
                  <a:pt x="33" y="64"/>
                  <a:pt x="33" y="64"/>
                </a:cubicBezTo>
                <a:cubicBezTo>
                  <a:pt x="25" y="64"/>
                  <a:pt x="25" y="64"/>
                  <a:pt x="25" y="64"/>
                </a:cubicBezTo>
                <a:cubicBezTo>
                  <a:pt x="20" y="64"/>
                  <a:pt x="20" y="64"/>
                  <a:pt x="20" y="64"/>
                </a:cubicBezTo>
                <a:cubicBezTo>
                  <a:pt x="6" y="64"/>
                  <a:pt x="6" y="64"/>
                  <a:pt x="6" y="64"/>
                </a:cubicBezTo>
                <a:cubicBezTo>
                  <a:pt x="6" y="10"/>
                  <a:pt x="6" y="10"/>
                  <a:pt x="6" y="10"/>
                </a:cubicBezTo>
                <a:cubicBezTo>
                  <a:pt x="12" y="10"/>
                  <a:pt x="12" y="10"/>
                  <a:pt x="12" y="10"/>
                </a:cubicBezTo>
                <a:cubicBezTo>
                  <a:pt x="26" y="10"/>
                  <a:pt x="26" y="10"/>
                  <a:pt x="26" y="10"/>
                </a:cubicBezTo>
                <a:cubicBezTo>
                  <a:pt x="33" y="10"/>
                  <a:pt x="33" y="10"/>
                  <a:pt x="33" y="10"/>
                </a:cubicBezTo>
                <a:cubicBezTo>
                  <a:pt x="40" y="10"/>
                  <a:pt x="40" y="10"/>
                  <a:pt x="40" y="10"/>
                </a:cubicBezTo>
                <a:cubicBezTo>
                  <a:pt x="52" y="10"/>
                  <a:pt x="52" y="10"/>
                  <a:pt x="52" y="10"/>
                </a:cubicBezTo>
                <a:lnTo>
                  <a:pt x="52" y="64"/>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07" name="Group 106">
            <a:extLst>
              <a:ext uri="{FF2B5EF4-FFF2-40B4-BE49-F238E27FC236}">
                <a16:creationId xmlns:a16="http://schemas.microsoft.com/office/drawing/2014/main" id="{71929D3A-67E1-4254-9ACC-855C92EF0CC1}"/>
              </a:ext>
            </a:extLst>
          </p:cNvPr>
          <p:cNvGrpSpPr>
            <a:grpSpLocks noChangeAspect="1"/>
          </p:cNvGrpSpPr>
          <p:nvPr/>
        </p:nvGrpSpPr>
        <p:grpSpPr>
          <a:xfrm>
            <a:off x="7124185" y="3482139"/>
            <a:ext cx="342300" cy="274320"/>
            <a:chOff x="6949064" y="1853888"/>
            <a:chExt cx="587941" cy="471178"/>
          </a:xfrm>
          <a:solidFill>
            <a:srgbClr val="595555"/>
          </a:solidFill>
        </p:grpSpPr>
        <p:sp>
          <p:nvSpPr>
            <p:cNvPr id="108" name="Freeform 881">
              <a:extLst>
                <a:ext uri="{FF2B5EF4-FFF2-40B4-BE49-F238E27FC236}">
                  <a16:creationId xmlns:a16="http://schemas.microsoft.com/office/drawing/2014/main" id="{F192CA33-0B1D-443F-A372-DAD6D5D22DCA}"/>
                </a:ext>
              </a:extLst>
            </p:cNvPr>
            <p:cNvSpPr>
              <a:spLocks/>
            </p:cNvSpPr>
            <p:nvPr/>
          </p:nvSpPr>
          <p:spPr bwMode="auto">
            <a:xfrm>
              <a:off x="7406504" y="1901968"/>
              <a:ext cx="130501" cy="383261"/>
            </a:xfrm>
            <a:custGeom>
              <a:avLst/>
              <a:gdLst>
                <a:gd name="T0" fmla="*/ 65 w 95"/>
                <a:gd name="T1" fmla="*/ 0 h 279"/>
                <a:gd name="T2" fmla="*/ 0 w 95"/>
                <a:gd name="T3" fmla="*/ 0 h 279"/>
                <a:gd name="T4" fmla="*/ 0 w 95"/>
                <a:gd name="T5" fmla="*/ 25 h 279"/>
                <a:gd name="T6" fmla="*/ 65 w 95"/>
                <a:gd name="T7" fmla="*/ 25 h 279"/>
                <a:gd name="T8" fmla="*/ 65 w 95"/>
                <a:gd name="T9" fmla="*/ 124 h 279"/>
                <a:gd name="T10" fmla="*/ 0 w 95"/>
                <a:gd name="T11" fmla="*/ 124 h 279"/>
                <a:gd name="T12" fmla="*/ 0 w 95"/>
                <a:gd name="T13" fmla="*/ 149 h 279"/>
                <a:gd name="T14" fmla="*/ 65 w 95"/>
                <a:gd name="T15" fmla="*/ 149 h 279"/>
                <a:gd name="T16" fmla="*/ 65 w 95"/>
                <a:gd name="T17" fmla="*/ 249 h 279"/>
                <a:gd name="T18" fmla="*/ 0 w 95"/>
                <a:gd name="T19" fmla="*/ 249 h 279"/>
                <a:gd name="T20" fmla="*/ 0 w 95"/>
                <a:gd name="T21" fmla="*/ 279 h 279"/>
                <a:gd name="T22" fmla="*/ 65 w 95"/>
                <a:gd name="T23" fmla="*/ 279 h 279"/>
                <a:gd name="T24" fmla="*/ 95 w 95"/>
                <a:gd name="T25" fmla="*/ 279 h 279"/>
                <a:gd name="T26" fmla="*/ 95 w 95"/>
                <a:gd name="T27" fmla="*/ 249 h 279"/>
                <a:gd name="T28" fmla="*/ 95 w 95"/>
                <a:gd name="T29" fmla="*/ 149 h 279"/>
                <a:gd name="T30" fmla="*/ 95 w 95"/>
                <a:gd name="T31" fmla="*/ 124 h 279"/>
                <a:gd name="T32" fmla="*/ 95 w 95"/>
                <a:gd name="T33" fmla="*/ 25 h 279"/>
                <a:gd name="T34" fmla="*/ 95 w 95"/>
                <a:gd name="T35" fmla="*/ 0 h 279"/>
                <a:gd name="T36" fmla="*/ 65 w 95"/>
                <a:gd name="T37" fmla="*/ 0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79">
                  <a:moveTo>
                    <a:pt x="65" y="0"/>
                  </a:moveTo>
                  <a:lnTo>
                    <a:pt x="0" y="0"/>
                  </a:lnTo>
                  <a:lnTo>
                    <a:pt x="0" y="25"/>
                  </a:lnTo>
                  <a:lnTo>
                    <a:pt x="65" y="25"/>
                  </a:lnTo>
                  <a:lnTo>
                    <a:pt x="65" y="124"/>
                  </a:lnTo>
                  <a:lnTo>
                    <a:pt x="0" y="124"/>
                  </a:lnTo>
                  <a:lnTo>
                    <a:pt x="0" y="149"/>
                  </a:lnTo>
                  <a:lnTo>
                    <a:pt x="65" y="149"/>
                  </a:lnTo>
                  <a:lnTo>
                    <a:pt x="65" y="249"/>
                  </a:lnTo>
                  <a:lnTo>
                    <a:pt x="0" y="249"/>
                  </a:lnTo>
                  <a:lnTo>
                    <a:pt x="0" y="279"/>
                  </a:lnTo>
                  <a:lnTo>
                    <a:pt x="65" y="279"/>
                  </a:lnTo>
                  <a:lnTo>
                    <a:pt x="95" y="279"/>
                  </a:lnTo>
                  <a:lnTo>
                    <a:pt x="95" y="249"/>
                  </a:lnTo>
                  <a:lnTo>
                    <a:pt x="95" y="149"/>
                  </a:lnTo>
                  <a:lnTo>
                    <a:pt x="95" y="124"/>
                  </a:lnTo>
                  <a:lnTo>
                    <a:pt x="95" y="25"/>
                  </a:lnTo>
                  <a:lnTo>
                    <a:pt x="95" y="0"/>
                  </a:lnTo>
                  <a:lnTo>
                    <a:pt x="6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Freeform 882">
              <a:extLst>
                <a:ext uri="{FF2B5EF4-FFF2-40B4-BE49-F238E27FC236}">
                  <a16:creationId xmlns:a16="http://schemas.microsoft.com/office/drawing/2014/main" id="{904FC418-EA03-47E2-9593-36116A33E163}"/>
                </a:ext>
              </a:extLst>
            </p:cNvPr>
            <p:cNvSpPr>
              <a:spLocks noEditPoints="1"/>
            </p:cNvSpPr>
            <p:nvPr/>
          </p:nvSpPr>
          <p:spPr bwMode="auto">
            <a:xfrm>
              <a:off x="6949064" y="2202807"/>
              <a:ext cx="436835" cy="122259"/>
            </a:xfrm>
            <a:custGeom>
              <a:avLst/>
              <a:gdLst>
                <a:gd name="T0" fmla="*/ 0 w 64"/>
                <a:gd name="T1" fmla="*/ 18 h 18"/>
                <a:gd name="T2" fmla="*/ 64 w 64"/>
                <a:gd name="T3" fmla="*/ 18 h 18"/>
                <a:gd name="T4" fmla="*/ 64 w 64"/>
                <a:gd name="T5" fmla="*/ 0 h 18"/>
                <a:gd name="T6" fmla="*/ 0 w 64"/>
                <a:gd name="T7" fmla="*/ 0 h 18"/>
                <a:gd name="T8" fmla="*/ 0 w 64"/>
                <a:gd name="T9" fmla="*/ 18 h 18"/>
                <a:gd name="T10" fmla="*/ 8 w 64"/>
                <a:gd name="T11" fmla="*/ 5 h 18"/>
                <a:gd name="T12" fmla="*/ 14 w 64"/>
                <a:gd name="T13" fmla="*/ 5 h 18"/>
                <a:gd name="T14" fmla="*/ 16 w 64"/>
                <a:gd name="T15" fmla="*/ 8 h 18"/>
                <a:gd name="T16" fmla="*/ 14 w 64"/>
                <a:gd name="T17" fmla="*/ 10 h 18"/>
                <a:gd name="T18" fmla="*/ 8 w 64"/>
                <a:gd name="T19" fmla="*/ 10 h 18"/>
                <a:gd name="T20" fmla="*/ 6 w 64"/>
                <a:gd name="T21" fmla="*/ 8 h 18"/>
                <a:gd name="T22" fmla="*/ 8 w 64"/>
                <a:gd name="T23"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18">
                  <a:moveTo>
                    <a:pt x="0" y="18"/>
                  </a:moveTo>
                  <a:cubicBezTo>
                    <a:pt x="64" y="18"/>
                    <a:pt x="64" y="18"/>
                    <a:pt x="64" y="18"/>
                  </a:cubicBezTo>
                  <a:cubicBezTo>
                    <a:pt x="64" y="0"/>
                    <a:pt x="64" y="0"/>
                    <a:pt x="64" y="0"/>
                  </a:cubicBezTo>
                  <a:cubicBezTo>
                    <a:pt x="0" y="0"/>
                    <a:pt x="0" y="0"/>
                    <a:pt x="0" y="0"/>
                  </a:cubicBezTo>
                  <a:lnTo>
                    <a:pt x="0" y="18"/>
                  </a:lnTo>
                  <a:close/>
                  <a:moveTo>
                    <a:pt x="8" y="5"/>
                  </a:moveTo>
                  <a:cubicBezTo>
                    <a:pt x="14" y="5"/>
                    <a:pt x="14" y="5"/>
                    <a:pt x="14" y="5"/>
                  </a:cubicBezTo>
                  <a:cubicBezTo>
                    <a:pt x="15" y="5"/>
                    <a:pt x="16" y="6"/>
                    <a:pt x="16" y="8"/>
                  </a:cubicBezTo>
                  <a:cubicBezTo>
                    <a:pt x="16" y="9"/>
                    <a:pt x="15" y="10"/>
                    <a:pt x="14" y="10"/>
                  </a:cubicBezTo>
                  <a:cubicBezTo>
                    <a:pt x="8" y="10"/>
                    <a:pt x="8" y="10"/>
                    <a:pt x="8" y="10"/>
                  </a:cubicBezTo>
                  <a:cubicBezTo>
                    <a:pt x="7" y="10"/>
                    <a:pt x="6" y="9"/>
                    <a:pt x="6" y="8"/>
                  </a:cubicBezTo>
                  <a:cubicBezTo>
                    <a:pt x="6" y="6"/>
                    <a:pt x="7" y="5"/>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Freeform 883">
              <a:extLst>
                <a:ext uri="{FF2B5EF4-FFF2-40B4-BE49-F238E27FC236}">
                  <a16:creationId xmlns:a16="http://schemas.microsoft.com/office/drawing/2014/main" id="{BAA7071B-FE30-43F6-9E28-463731DA23FC}"/>
                </a:ext>
              </a:extLst>
            </p:cNvPr>
            <p:cNvSpPr>
              <a:spLocks noEditPoints="1"/>
            </p:cNvSpPr>
            <p:nvPr/>
          </p:nvSpPr>
          <p:spPr bwMode="auto">
            <a:xfrm>
              <a:off x="6949064" y="2025600"/>
              <a:ext cx="436835" cy="129127"/>
            </a:xfrm>
            <a:custGeom>
              <a:avLst/>
              <a:gdLst>
                <a:gd name="T0" fmla="*/ 0 w 64"/>
                <a:gd name="T1" fmla="*/ 19 h 19"/>
                <a:gd name="T2" fmla="*/ 64 w 64"/>
                <a:gd name="T3" fmla="*/ 19 h 19"/>
                <a:gd name="T4" fmla="*/ 64 w 64"/>
                <a:gd name="T5" fmla="*/ 0 h 19"/>
                <a:gd name="T6" fmla="*/ 0 w 64"/>
                <a:gd name="T7" fmla="*/ 0 h 19"/>
                <a:gd name="T8" fmla="*/ 0 w 64"/>
                <a:gd name="T9" fmla="*/ 19 h 19"/>
                <a:gd name="T10" fmla="*/ 8 w 64"/>
                <a:gd name="T11" fmla="*/ 6 h 19"/>
                <a:gd name="T12" fmla="*/ 14 w 64"/>
                <a:gd name="T13" fmla="*/ 6 h 19"/>
                <a:gd name="T14" fmla="*/ 16 w 64"/>
                <a:gd name="T15" fmla="*/ 8 h 19"/>
                <a:gd name="T16" fmla="*/ 14 w 64"/>
                <a:gd name="T17" fmla="*/ 11 h 19"/>
                <a:gd name="T18" fmla="*/ 8 w 64"/>
                <a:gd name="T19" fmla="*/ 11 h 19"/>
                <a:gd name="T20" fmla="*/ 6 w 64"/>
                <a:gd name="T21" fmla="*/ 8 h 19"/>
                <a:gd name="T22" fmla="*/ 8 w 64"/>
                <a:gd name="T23" fmla="*/ 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19">
                  <a:moveTo>
                    <a:pt x="0" y="19"/>
                  </a:moveTo>
                  <a:cubicBezTo>
                    <a:pt x="64" y="19"/>
                    <a:pt x="64" y="19"/>
                    <a:pt x="64" y="19"/>
                  </a:cubicBezTo>
                  <a:cubicBezTo>
                    <a:pt x="64" y="0"/>
                    <a:pt x="64" y="0"/>
                    <a:pt x="64" y="0"/>
                  </a:cubicBezTo>
                  <a:cubicBezTo>
                    <a:pt x="0" y="0"/>
                    <a:pt x="0" y="0"/>
                    <a:pt x="0" y="0"/>
                  </a:cubicBezTo>
                  <a:lnTo>
                    <a:pt x="0" y="19"/>
                  </a:lnTo>
                  <a:close/>
                  <a:moveTo>
                    <a:pt x="8" y="6"/>
                  </a:moveTo>
                  <a:cubicBezTo>
                    <a:pt x="14" y="6"/>
                    <a:pt x="14" y="6"/>
                    <a:pt x="14" y="6"/>
                  </a:cubicBezTo>
                  <a:cubicBezTo>
                    <a:pt x="15" y="6"/>
                    <a:pt x="16" y="7"/>
                    <a:pt x="16" y="8"/>
                  </a:cubicBezTo>
                  <a:cubicBezTo>
                    <a:pt x="16" y="10"/>
                    <a:pt x="15" y="11"/>
                    <a:pt x="14" y="11"/>
                  </a:cubicBezTo>
                  <a:cubicBezTo>
                    <a:pt x="8" y="11"/>
                    <a:pt x="8" y="11"/>
                    <a:pt x="8" y="11"/>
                  </a:cubicBezTo>
                  <a:cubicBezTo>
                    <a:pt x="7" y="11"/>
                    <a:pt x="6" y="10"/>
                    <a:pt x="6" y="8"/>
                  </a:cubicBezTo>
                  <a:cubicBezTo>
                    <a:pt x="6" y="7"/>
                    <a:pt x="7" y="6"/>
                    <a:pt x="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1" name="Freeform 884">
              <a:extLst>
                <a:ext uri="{FF2B5EF4-FFF2-40B4-BE49-F238E27FC236}">
                  <a16:creationId xmlns:a16="http://schemas.microsoft.com/office/drawing/2014/main" id="{A3E30EFE-9F18-4556-8125-18F4D6784218}"/>
                </a:ext>
              </a:extLst>
            </p:cNvPr>
            <p:cNvSpPr>
              <a:spLocks noEditPoints="1"/>
            </p:cNvSpPr>
            <p:nvPr/>
          </p:nvSpPr>
          <p:spPr bwMode="auto">
            <a:xfrm>
              <a:off x="6949064" y="1853888"/>
              <a:ext cx="436835" cy="130501"/>
            </a:xfrm>
            <a:custGeom>
              <a:avLst/>
              <a:gdLst>
                <a:gd name="T0" fmla="*/ 0 w 64"/>
                <a:gd name="T1" fmla="*/ 19 h 19"/>
                <a:gd name="T2" fmla="*/ 64 w 64"/>
                <a:gd name="T3" fmla="*/ 19 h 19"/>
                <a:gd name="T4" fmla="*/ 64 w 64"/>
                <a:gd name="T5" fmla="*/ 0 h 19"/>
                <a:gd name="T6" fmla="*/ 0 w 64"/>
                <a:gd name="T7" fmla="*/ 0 h 19"/>
                <a:gd name="T8" fmla="*/ 0 w 64"/>
                <a:gd name="T9" fmla="*/ 19 h 19"/>
                <a:gd name="T10" fmla="*/ 8 w 64"/>
                <a:gd name="T11" fmla="*/ 5 h 19"/>
                <a:gd name="T12" fmla="*/ 14 w 64"/>
                <a:gd name="T13" fmla="*/ 5 h 19"/>
                <a:gd name="T14" fmla="*/ 16 w 64"/>
                <a:gd name="T15" fmla="*/ 8 h 19"/>
                <a:gd name="T16" fmla="*/ 14 w 64"/>
                <a:gd name="T17" fmla="*/ 11 h 19"/>
                <a:gd name="T18" fmla="*/ 8 w 64"/>
                <a:gd name="T19" fmla="*/ 11 h 19"/>
                <a:gd name="T20" fmla="*/ 6 w 64"/>
                <a:gd name="T21" fmla="*/ 8 h 19"/>
                <a:gd name="T22" fmla="*/ 8 w 64"/>
                <a:gd name="T23" fmla="*/ 5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19">
                  <a:moveTo>
                    <a:pt x="0" y="19"/>
                  </a:moveTo>
                  <a:cubicBezTo>
                    <a:pt x="64" y="19"/>
                    <a:pt x="64" y="19"/>
                    <a:pt x="64" y="19"/>
                  </a:cubicBezTo>
                  <a:cubicBezTo>
                    <a:pt x="64" y="0"/>
                    <a:pt x="64" y="0"/>
                    <a:pt x="64" y="0"/>
                  </a:cubicBezTo>
                  <a:cubicBezTo>
                    <a:pt x="0" y="0"/>
                    <a:pt x="0" y="0"/>
                    <a:pt x="0" y="0"/>
                  </a:cubicBezTo>
                  <a:lnTo>
                    <a:pt x="0" y="19"/>
                  </a:lnTo>
                  <a:close/>
                  <a:moveTo>
                    <a:pt x="8" y="5"/>
                  </a:moveTo>
                  <a:cubicBezTo>
                    <a:pt x="14" y="5"/>
                    <a:pt x="14" y="5"/>
                    <a:pt x="14" y="5"/>
                  </a:cubicBezTo>
                  <a:cubicBezTo>
                    <a:pt x="15" y="5"/>
                    <a:pt x="16" y="6"/>
                    <a:pt x="16" y="8"/>
                  </a:cubicBezTo>
                  <a:cubicBezTo>
                    <a:pt x="16" y="9"/>
                    <a:pt x="15" y="11"/>
                    <a:pt x="14" y="11"/>
                  </a:cubicBezTo>
                  <a:cubicBezTo>
                    <a:pt x="8" y="11"/>
                    <a:pt x="8" y="11"/>
                    <a:pt x="8" y="11"/>
                  </a:cubicBezTo>
                  <a:cubicBezTo>
                    <a:pt x="7" y="11"/>
                    <a:pt x="6" y="9"/>
                    <a:pt x="6" y="8"/>
                  </a:cubicBezTo>
                  <a:cubicBezTo>
                    <a:pt x="6" y="6"/>
                    <a:pt x="7" y="5"/>
                    <a:pt x="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2" name="Group 111">
            <a:extLst>
              <a:ext uri="{FF2B5EF4-FFF2-40B4-BE49-F238E27FC236}">
                <a16:creationId xmlns:a16="http://schemas.microsoft.com/office/drawing/2014/main" id="{BA6895B3-2789-4A47-9529-2B513EEBA303}"/>
              </a:ext>
            </a:extLst>
          </p:cNvPr>
          <p:cNvGrpSpPr>
            <a:grpSpLocks noChangeAspect="1"/>
          </p:cNvGrpSpPr>
          <p:nvPr/>
        </p:nvGrpSpPr>
        <p:grpSpPr>
          <a:xfrm>
            <a:off x="8054684" y="3434124"/>
            <a:ext cx="284430" cy="274320"/>
            <a:chOff x="7721080" y="1814051"/>
            <a:chExt cx="579699" cy="559094"/>
          </a:xfrm>
          <a:solidFill>
            <a:srgbClr val="595555"/>
          </a:solidFill>
        </p:grpSpPr>
        <p:sp>
          <p:nvSpPr>
            <p:cNvPr id="113" name="Freeform 941">
              <a:extLst>
                <a:ext uri="{FF2B5EF4-FFF2-40B4-BE49-F238E27FC236}">
                  <a16:creationId xmlns:a16="http://schemas.microsoft.com/office/drawing/2014/main" id="{A0653D5C-FC70-4377-ABC8-171F0D8AAC34}"/>
                </a:ext>
              </a:extLst>
            </p:cNvPr>
            <p:cNvSpPr>
              <a:spLocks/>
            </p:cNvSpPr>
            <p:nvPr/>
          </p:nvSpPr>
          <p:spPr bwMode="auto">
            <a:xfrm>
              <a:off x="7721080" y="1991258"/>
              <a:ext cx="211549" cy="326939"/>
            </a:xfrm>
            <a:custGeom>
              <a:avLst/>
              <a:gdLst>
                <a:gd name="T0" fmla="*/ 27 w 31"/>
                <a:gd name="T1" fmla="*/ 3 h 48"/>
                <a:gd name="T2" fmla="*/ 24 w 31"/>
                <a:gd name="T3" fmla="*/ 1 h 48"/>
                <a:gd name="T4" fmla="*/ 8 w 31"/>
                <a:gd name="T5" fmla="*/ 7 h 48"/>
                <a:gd name="T6" fmla="*/ 8 w 31"/>
                <a:gd name="T7" fmla="*/ 11 h 48"/>
                <a:gd name="T8" fmla="*/ 10 w 31"/>
                <a:gd name="T9" fmla="*/ 13 h 48"/>
                <a:gd name="T10" fmla="*/ 11 w 31"/>
                <a:gd name="T11" fmla="*/ 14 h 48"/>
                <a:gd name="T12" fmla="*/ 0 w 31"/>
                <a:gd name="T13" fmla="*/ 33 h 48"/>
                <a:gd name="T14" fmla="*/ 0 w 31"/>
                <a:gd name="T15" fmla="*/ 35 h 48"/>
                <a:gd name="T16" fmla="*/ 6 w 31"/>
                <a:gd name="T17" fmla="*/ 46 h 48"/>
                <a:gd name="T18" fmla="*/ 8 w 31"/>
                <a:gd name="T19" fmla="*/ 48 h 48"/>
                <a:gd name="T20" fmla="*/ 27 w 31"/>
                <a:gd name="T21" fmla="*/ 48 h 48"/>
                <a:gd name="T22" fmla="*/ 29 w 31"/>
                <a:gd name="T23" fmla="*/ 45 h 48"/>
                <a:gd name="T24" fmla="*/ 29 w 31"/>
                <a:gd name="T25" fmla="*/ 37 h 48"/>
                <a:gd name="T26" fmla="*/ 27 w 31"/>
                <a:gd name="T27" fmla="*/ 34 h 48"/>
                <a:gd name="T28" fmla="*/ 15 w 31"/>
                <a:gd name="T29" fmla="*/ 34 h 48"/>
                <a:gd name="T30" fmla="*/ 15 w 31"/>
                <a:gd name="T31" fmla="*/ 33 h 48"/>
                <a:gd name="T32" fmla="*/ 22 w 31"/>
                <a:gd name="T33" fmla="*/ 21 h 48"/>
                <a:gd name="T34" fmla="*/ 24 w 31"/>
                <a:gd name="T35" fmla="*/ 21 h 48"/>
                <a:gd name="T36" fmla="*/ 26 w 31"/>
                <a:gd name="T37" fmla="*/ 22 h 48"/>
                <a:gd name="T38" fmla="*/ 30 w 31"/>
                <a:gd name="T39" fmla="*/ 19 h 48"/>
                <a:gd name="T40" fmla="*/ 27 w 31"/>
                <a:gd name="T41" fmla="*/ 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 h="48">
                  <a:moveTo>
                    <a:pt x="27" y="3"/>
                  </a:moveTo>
                  <a:cubicBezTo>
                    <a:pt x="27" y="1"/>
                    <a:pt x="26" y="0"/>
                    <a:pt x="24" y="1"/>
                  </a:cubicBezTo>
                  <a:cubicBezTo>
                    <a:pt x="8" y="7"/>
                    <a:pt x="8" y="7"/>
                    <a:pt x="8" y="7"/>
                  </a:cubicBezTo>
                  <a:cubicBezTo>
                    <a:pt x="5" y="8"/>
                    <a:pt x="5" y="10"/>
                    <a:pt x="8" y="11"/>
                  </a:cubicBezTo>
                  <a:cubicBezTo>
                    <a:pt x="10" y="13"/>
                    <a:pt x="10" y="13"/>
                    <a:pt x="10" y="13"/>
                  </a:cubicBezTo>
                  <a:cubicBezTo>
                    <a:pt x="11" y="13"/>
                    <a:pt x="11" y="14"/>
                    <a:pt x="11" y="14"/>
                  </a:cubicBezTo>
                  <a:cubicBezTo>
                    <a:pt x="0" y="33"/>
                    <a:pt x="0" y="33"/>
                    <a:pt x="0" y="33"/>
                  </a:cubicBezTo>
                  <a:cubicBezTo>
                    <a:pt x="0" y="34"/>
                    <a:pt x="0" y="35"/>
                    <a:pt x="0" y="35"/>
                  </a:cubicBezTo>
                  <a:cubicBezTo>
                    <a:pt x="6" y="46"/>
                    <a:pt x="6" y="46"/>
                    <a:pt x="6" y="46"/>
                  </a:cubicBezTo>
                  <a:cubicBezTo>
                    <a:pt x="6" y="47"/>
                    <a:pt x="8" y="48"/>
                    <a:pt x="8" y="48"/>
                  </a:cubicBezTo>
                  <a:cubicBezTo>
                    <a:pt x="27" y="48"/>
                    <a:pt x="27" y="48"/>
                    <a:pt x="27" y="48"/>
                  </a:cubicBezTo>
                  <a:cubicBezTo>
                    <a:pt x="28" y="48"/>
                    <a:pt x="29" y="46"/>
                    <a:pt x="29" y="45"/>
                  </a:cubicBezTo>
                  <a:cubicBezTo>
                    <a:pt x="29" y="37"/>
                    <a:pt x="29" y="37"/>
                    <a:pt x="29" y="37"/>
                  </a:cubicBezTo>
                  <a:cubicBezTo>
                    <a:pt x="29" y="35"/>
                    <a:pt x="28" y="34"/>
                    <a:pt x="27" y="34"/>
                  </a:cubicBezTo>
                  <a:cubicBezTo>
                    <a:pt x="15" y="34"/>
                    <a:pt x="15" y="34"/>
                    <a:pt x="15" y="34"/>
                  </a:cubicBezTo>
                  <a:cubicBezTo>
                    <a:pt x="15" y="34"/>
                    <a:pt x="15" y="34"/>
                    <a:pt x="15" y="33"/>
                  </a:cubicBezTo>
                  <a:cubicBezTo>
                    <a:pt x="22" y="21"/>
                    <a:pt x="22" y="21"/>
                    <a:pt x="22" y="21"/>
                  </a:cubicBezTo>
                  <a:cubicBezTo>
                    <a:pt x="23" y="20"/>
                    <a:pt x="23" y="20"/>
                    <a:pt x="24" y="21"/>
                  </a:cubicBezTo>
                  <a:cubicBezTo>
                    <a:pt x="26" y="22"/>
                    <a:pt x="26" y="22"/>
                    <a:pt x="26" y="22"/>
                  </a:cubicBezTo>
                  <a:cubicBezTo>
                    <a:pt x="29" y="24"/>
                    <a:pt x="31" y="23"/>
                    <a:pt x="30" y="19"/>
                  </a:cubicBezTo>
                  <a:lnTo>
                    <a:pt x="27"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Freeform 942">
              <a:extLst>
                <a:ext uri="{FF2B5EF4-FFF2-40B4-BE49-F238E27FC236}">
                  <a16:creationId xmlns:a16="http://schemas.microsoft.com/office/drawing/2014/main" id="{AFC7A044-DC3D-4D72-AF74-05551FCFA2B3}"/>
                </a:ext>
              </a:extLst>
            </p:cNvPr>
            <p:cNvSpPr>
              <a:spLocks/>
            </p:cNvSpPr>
            <p:nvPr/>
          </p:nvSpPr>
          <p:spPr bwMode="auto">
            <a:xfrm>
              <a:off x="7953234" y="2092911"/>
              <a:ext cx="347545" cy="280234"/>
            </a:xfrm>
            <a:custGeom>
              <a:avLst/>
              <a:gdLst>
                <a:gd name="T0" fmla="*/ 50 w 51"/>
                <a:gd name="T1" fmla="*/ 18 h 41"/>
                <a:gd name="T2" fmla="*/ 41 w 51"/>
                <a:gd name="T3" fmla="*/ 2 h 41"/>
                <a:gd name="T4" fmla="*/ 37 w 51"/>
                <a:gd name="T5" fmla="*/ 1 h 41"/>
                <a:gd name="T6" fmla="*/ 30 w 51"/>
                <a:gd name="T7" fmla="*/ 5 h 41"/>
                <a:gd name="T8" fmla="*/ 29 w 51"/>
                <a:gd name="T9" fmla="*/ 9 h 41"/>
                <a:gd name="T10" fmla="*/ 35 w 51"/>
                <a:gd name="T11" fmla="*/ 19 h 41"/>
                <a:gd name="T12" fmla="*/ 35 w 51"/>
                <a:gd name="T13" fmla="*/ 19 h 41"/>
                <a:gd name="T14" fmla="*/ 20 w 51"/>
                <a:gd name="T15" fmla="*/ 19 h 41"/>
                <a:gd name="T16" fmla="*/ 19 w 51"/>
                <a:gd name="T17" fmla="*/ 18 h 41"/>
                <a:gd name="T18" fmla="*/ 19 w 51"/>
                <a:gd name="T19" fmla="*/ 15 h 41"/>
                <a:gd name="T20" fmla="*/ 15 w 51"/>
                <a:gd name="T21" fmla="*/ 13 h 41"/>
                <a:gd name="T22" fmla="*/ 2 w 51"/>
                <a:gd name="T23" fmla="*/ 24 h 41"/>
                <a:gd name="T24" fmla="*/ 2 w 51"/>
                <a:gd name="T25" fmla="*/ 28 h 41"/>
                <a:gd name="T26" fmla="*/ 15 w 51"/>
                <a:gd name="T27" fmla="*/ 39 h 41"/>
                <a:gd name="T28" fmla="*/ 19 w 51"/>
                <a:gd name="T29" fmla="*/ 37 h 41"/>
                <a:gd name="T30" fmla="*/ 19 w 51"/>
                <a:gd name="T31" fmla="*/ 33 h 41"/>
                <a:gd name="T32" fmla="*/ 20 w 51"/>
                <a:gd name="T33" fmla="*/ 33 h 41"/>
                <a:gd name="T34" fmla="*/ 42 w 51"/>
                <a:gd name="T35" fmla="*/ 33 h 41"/>
                <a:gd name="T36" fmla="*/ 44 w 51"/>
                <a:gd name="T37" fmla="*/ 31 h 41"/>
                <a:gd name="T38" fmla="*/ 50 w 51"/>
                <a:gd name="T39" fmla="*/ 21 h 41"/>
                <a:gd name="T40" fmla="*/ 50 w 51"/>
                <a:gd name="T41" fmla="*/ 1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41">
                  <a:moveTo>
                    <a:pt x="50" y="18"/>
                  </a:moveTo>
                  <a:cubicBezTo>
                    <a:pt x="41" y="2"/>
                    <a:pt x="41" y="2"/>
                    <a:pt x="41" y="2"/>
                  </a:cubicBezTo>
                  <a:cubicBezTo>
                    <a:pt x="40" y="1"/>
                    <a:pt x="39" y="0"/>
                    <a:pt x="37" y="1"/>
                  </a:cubicBezTo>
                  <a:cubicBezTo>
                    <a:pt x="30" y="5"/>
                    <a:pt x="30" y="5"/>
                    <a:pt x="30" y="5"/>
                  </a:cubicBezTo>
                  <a:cubicBezTo>
                    <a:pt x="29" y="6"/>
                    <a:pt x="29" y="7"/>
                    <a:pt x="29" y="9"/>
                  </a:cubicBezTo>
                  <a:cubicBezTo>
                    <a:pt x="35" y="19"/>
                    <a:pt x="35" y="19"/>
                    <a:pt x="35" y="19"/>
                  </a:cubicBezTo>
                  <a:cubicBezTo>
                    <a:pt x="35" y="19"/>
                    <a:pt x="35" y="19"/>
                    <a:pt x="35" y="19"/>
                  </a:cubicBezTo>
                  <a:cubicBezTo>
                    <a:pt x="20" y="19"/>
                    <a:pt x="20" y="19"/>
                    <a:pt x="20" y="19"/>
                  </a:cubicBezTo>
                  <a:cubicBezTo>
                    <a:pt x="20" y="19"/>
                    <a:pt x="19" y="19"/>
                    <a:pt x="19" y="18"/>
                  </a:cubicBezTo>
                  <a:cubicBezTo>
                    <a:pt x="19" y="15"/>
                    <a:pt x="19" y="15"/>
                    <a:pt x="19" y="15"/>
                  </a:cubicBezTo>
                  <a:cubicBezTo>
                    <a:pt x="19" y="12"/>
                    <a:pt x="17" y="11"/>
                    <a:pt x="15" y="13"/>
                  </a:cubicBezTo>
                  <a:cubicBezTo>
                    <a:pt x="2" y="24"/>
                    <a:pt x="2" y="24"/>
                    <a:pt x="2" y="24"/>
                  </a:cubicBezTo>
                  <a:cubicBezTo>
                    <a:pt x="0" y="25"/>
                    <a:pt x="0" y="27"/>
                    <a:pt x="2" y="28"/>
                  </a:cubicBezTo>
                  <a:cubicBezTo>
                    <a:pt x="15" y="39"/>
                    <a:pt x="15" y="39"/>
                    <a:pt x="15" y="39"/>
                  </a:cubicBezTo>
                  <a:cubicBezTo>
                    <a:pt x="17" y="41"/>
                    <a:pt x="19" y="40"/>
                    <a:pt x="19" y="37"/>
                  </a:cubicBezTo>
                  <a:cubicBezTo>
                    <a:pt x="19" y="33"/>
                    <a:pt x="19" y="33"/>
                    <a:pt x="19" y="33"/>
                  </a:cubicBezTo>
                  <a:cubicBezTo>
                    <a:pt x="19" y="33"/>
                    <a:pt x="20" y="33"/>
                    <a:pt x="20" y="33"/>
                  </a:cubicBezTo>
                  <a:cubicBezTo>
                    <a:pt x="42" y="33"/>
                    <a:pt x="42" y="33"/>
                    <a:pt x="42" y="33"/>
                  </a:cubicBezTo>
                  <a:cubicBezTo>
                    <a:pt x="42" y="33"/>
                    <a:pt x="43" y="32"/>
                    <a:pt x="44" y="31"/>
                  </a:cubicBezTo>
                  <a:cubicBezTo>
                    <a:pt x="50" y="21"/>
                    <a:pt x="50" y="21"/>
                    <a:pt x="50" y="21"/>
                  </a:cubicBezTo>
                  <a:cubicBezTo>
                    <a:pt x="51" y="20"/>
                    <a:pt x="51" y="19"/>
                    <a:pt x="5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Freeform 943">
              <a:extLst>
                <a:ext uri="{FF2B5EF4-FFF2-40B4-BE49-F238E27FC236}">
                  <a16:creationId xmlns:a16="http://schemas.microsoft.com/office/drawing/2014/main" id="{FC3D1A8D-0AA7-4DD6-95CE-FAA29C6D9AE9}"/>
                </a:ext>
              </a:extLst>
            </p:cNvPr>
            <p:cNvSpPr>
              <a:spLocks/>
            </p:cNvSpPr>
            <p:nvPr/>
          </p:nvSpPr>
          <p:spPr bwMode="auto">
            <a:xfrm>
              <a:off x="7877681" y="1814051"/>
              <a:ext cx="314576" cy="278860"/>
            </a:xfrm>
            <a:custGeom>
              <a:avLst/>
              <a:gdLst>
                <a:gd name="T0" fmla="*/ 12 w 46"/>
                <a:gd name="T1" fmla="*/ 24 h 41"/>
                <a:gd name="T2" fmla="*/ 17 w 46"/>
                <a:gd name="T3" fmla="*/ 14 h 41"/>
                <a:gd name="T4" fmla="*/ 18 w 46"/>
                <a:gd name="T5" fmla="*/ 14 h 41"/>
                <a:gd name="T6" fmla="*/ 26 w 46"/>
                <a:gd name="T7" fmla="*/ 27 h 41"/>
                <a:gd name="T8" fmla="*/ 26 w 46"/>
                <a:gd name="T9" fmla="*/ 28 h 41"/>
                <a:gd name="T10" fmla="*/ 23 w 46"/>
                <a:gd name="T11" fmla="*/ 30 h 41"/>
                <a:gd name="T12" fmla="*/ 23 w 46"/>
                <a:gd name="T13" fmla="*/ 35 h 41"/>
                <a:gd name="T14" fmla="*/ 39 w 46"/>
                <a:gd name="T15" fmla="*/ 40 h 41"/>
                <a:gd name="T16" fmla="*/ 43 w 46"/>
                <a:gd name="T17" fmla="*/ 38 h 41"/>
                <a:gd name="T18" fmla="*/ 45 w 46"/>
                <a:gd name="T19" fmla="*/ 21 h 41"/>
                <a:gd name="T20" fmla="*/ 41 w 46"/>
                <a:gd name="T21" fmla="*/ 18 h 41"/>
                <a:gd name="T22" fmla="*/ 39 w 46"/>
                <a:gd name="T23" fmla="*/ 20 h 41"/>
                <a:gd name="T24" fmla="*/ 37 w 46"/>
                <a:gd name="T25" fmla="*/ 20 h 41"/>
                <a:gd name="T26" fmla="*/ 26 w 46"/>
                <a:gd name="T27" fmla="*/ 2 h 41"/>
                <a:gd name="T28" fmla="*/ 24 w 46"/>
                <a:gd name="T29" fmla="*/ 0 h 41"/>
                <a:gd name="T30" fmla="*/ 12 w 46"/>
                <a:gd name="T31" fmla="*/ 0 h 41"/>
                <a:gd name="T32" fmla="*/ 9 w 46"/>
                <a:gd name="T33" fmla="*/ 2 h 41"/>
                <a:gd name="T34" fmla="*/ 0 w 46"/>
                <a:gd name="T35" fmla="*/ 18 h 41"/>
                <a:gd name="T36" fmla="*/ 1 w 46"/>
                <a:gd name="T37" fmla="*/ 22 h 41"/>
                <a:gd name="T38" fmla="*/ 8 w 46"/>
                <a:gd name="T39" fmla="*/ 25 h 41"/>
                <a:gd name="T40" fmla="*/ 12 w 46"/>
                <a:gd name="T41" fmla="*/ 2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 h="41">
                  <a:moveTo>
                    <a:pt x="12" y="24"/>
                  </a:moveTo>
                  <a:cubicBezTo>
                    <a:pt x="17" y="14"/>
                    <a:pt x="17" y="14"/>
                    <a:pt x="17" y="14"/>
                  </a:cubicBezTo>
                  <a:cubicBezTo>
                    <a:pt x="18" y="14"/>
                    <a:pt x="18" y="14"/>
                    <a:pt x="18" y="14"/>
                  </a:cubicBezTo>
                  <a:cubicBezTo>
                    <a:pt x="26" y="27"/>
                    <a:pt x="26" y="27"/>
                    <a:pt x="26" y="27"/>
                  </a:cubicBezTo>
                  <a:cubicBezTo>
                    <a:pt x="26" y="27"/>
                    <a:pt x="26" y="28"/>
                    <a:pt x="26" y="28"/>
                  </a:cubicBezTo>
                  <a:cubicBezTo>
                    <a:pt x="23" y="30"/>
                    <a:pt x="23" y="30"/>
                    <a:pt x="23" y="30"/>
                  </a:cubicBezTo>
                  <a:cubicBezTo>
                    <a:pt x="20" y="31"/>
                    <a:pt x="20" y="34"/>
                    <a:pt x="23" y="35"/>
                  </a:cubicBezTo>
                  <a:cubicBezTo>
                    <a:pt x="39" y="40"/>
                    <a:pt x="39" y="40"/>
                    <a:pt x="39" y="40"/>
                  </a:cubicBezTo>
                  <a:cubicBezTo>
                    <a:pt x="41" y="41"/>
                    <a:pt x="43" y="40"/>
                    <a:pt x="43" y="38"/>
                  </a:cubicBezTo>
                  <a:cubicBezTo>
                    <a:pt x="45" y="21"/>
                    <a:pt x="45" y="21"/>
                    <a:pt x="45" y="21"/>
                  </a:cubicBezTo>
                  <a:cubicBezTo>
                    <a:pt x="46" y="18"/>
                    <a:pt x="44" y="17"/>
                    <a:pt x="41" y="18"/>
                  </a:cubicBezTo>
                  <a:cubicBezTo>
                    <a:pt x="39" y="20"/>
                    <a:pt x="39" y="20"/>
                    <a:pt x="39" y="20"/>
                  </a:cubicBezTo>
                  <a:cubicBezTo>
                    <a:pt x="38" y="20"/>
                    <a:pt x="38" y="20"/>
                    <a:pt x="37" y="20"/>
                  </a:cubicBezTo>
                  <a:cubicBezTo>
                    <a:pt x="26" y="2"/>
                    <a:pt x="26" y="2"/>
                    <a:pt x="26" y="2"/>
                  </a:cubicBezTo>
                  <a:cubicBezTo>
                    <a:pt x="26" y="1"/>
                    <a:pt x="25" y="0"/>
                    <a:pt x="24" y="0"/>
                  </a:cubicBezTo>
                  <a:cubicBezTo>
                    <a:pt x="12" y="0"/>
                    <a:pt x="12" y="0"/>
                    <a:pt x="12" y="0"/>
                  </a:cubicBezTo>
                  <a:cubicBezTo>
                    <a:pt x="11" y="0"/>
                    <a:pt x="10" y="1"/>
                    <a:pt x="9" y="2"/>
                  </a:cubicBezTo>
                  <a:cubicBezTo>
                    <a:pt x="0" y="18"/>
                    <a:pt x="0" y="18"/>
                    <a:pt x="0" y="18"/>
                  </a:cubicBezTo>
                  <a:cubicBezTo>
                    <a:pt x="0" y="19"/>
                    <a:pt x="0" y="21"/>
                    <a:pt x="1" y="22"/>
                  </a:cubicBezTo>
                  <a:cubicBezTo>
                    <a:pt x="8" y="25"/>
                    <a:pt x="8" y="25"/>
                    <a:pt x="8" y="25"/>
                  </a:cubicBezTo>
                  <a:cubicBezTo>
                    <a:pt x="10" y="26"/>
                    <a:pt x="11" y="26"/>
                    <a:pt x="12"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16" name="Group 115">
            <a:extLst>
              <a:ext uri="{FF2B5EF4-FFF2-40B4-BE49-F238E27FC236}">
                <a16:creationId xmlns:a16="http://schemas.microsoft.com/office/drawing/2014/main" id="{09FCDF71-2EBB-46CE-B2A6-E39C8BE50876}"/>
              </a:ext>
            </a:extLst>
          </p:cNvPr>
          <p:cNvGrpSpPr>
            <a:grpSpLocks noChangeAspect="1"/>
          </p:cNvGrpSpPr>
          <p:nvPr/>
        </p:nvGrpSpPr>
        <p:grpSpPr>
          <a:xfrm>
            <a:off x="5445313" y="3417567"/>
            <a:ext cx="148860" cy="274320"/>
            <a:chOff x="5556138" y="1800314"/>
            <a:chExt cx="314576" cy="579699"/>
          </a:xfrm>
          <a:solidFill>
            <a:srgbClr val="595555"/>
          </a:solidFill>
        </p:grpSpPr>
        <p:sp>
          <p:nvSpPr>
            <p:cNvPr id="117" name="Freeform 944">
              <a:extLst>
                <a:ext uri="{FF2B5EF4-FFF2-40B4-BE49-F238E27FC236}">
                  <a16:creationId xmlns:a16="http://schemas.microsoft.com/office/drawing/2014/main" id="{C8F1221C-6BD9-4064-A18C-B9E103571096}"/>
                </a:ext>
              </a:extLst>
            </p:cNvPr>
            <p:cNvSpPr>
              <a:spLocks/>
            </p:cNvSpPr>
            <p:nvPr/>
          </p:nvSpPr>
          <p:spPr bwMode="auto">
            <a:xfrm>
              <a:off x="5597349" y="1800314"/>
              <a:ext cx="232154" cy="108522"/>
            </a:xfrm>
            <a:custGeom>
              <a:avLst/>
              <a:gdLst>
                <a:gd name="T0" fmla="*/ 34 w 34"/>
                <a:gd name="T1" fmla="*/ 14 h 16"/>
                <a:gd name="T2" fmla="*/ 31 w 34"/>
                <a:gd name="T3" fmla="*/ 3 h 16"/>
                <a:gd name="T4" fmla="*/ 27 w 34"/>
                <a:gd name="T5" fmla="*/ 0 h 16"/>
                <a:gd name="T6" fmla="*/ 7 w 34"/>
                <a:gd name="T7" fmla="*/ 0 h 16"/>
                <a:gd name="T8" fmla="*/ 4 w 34"/>
                <a:gd name="T9" fmla="*/ 3 h 16"/>
                <a:gd name="T10" fmla="*/ 1 w 34"/>
                <a:gd name="T11" fmla="*/ 14 h 16"/>
                <a:gd name="T12" fmla="*/ 0 w 34"/>
                <a:gd name="T13" fmla="*/ 16 h 16"/>
                <a:gd name="T14" fmla="*/ 34 w 34"/>
                <a:gd name="T15" fmla="*/ 16 h 16"/>
                <a:gd name="T16" fmla="*/ 34 w 34"/>
                <a:gd name="T17"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16">
                  <a:moveTo>
                    <a:pt x="34" y="14"/>
                  </a:moveTo>
                  <a:cubicBezTo>
                    <a:pt x="34" y="13"/>
                    <a:pt x="31" y="3"/>
                    <a:pt x="31" y="3"/>
                  </a:cubicBezTo>
                  <a:cubicBezTo>
                    <a:pt x="30" y="1"/>
                    <a:pt x="29" y="0"/>
                    <a:pt x="27" y="0"/>
                  </a:cubicBezTo>
                  <a:cubicBezTo>
                    <a:pt x="7" y="0"/>
                    <a:pt x="7" y="0"/>
                    <a:pt x="7" y="0"/>
                  </a:cubicBezTo>
                  <a:cubicBezTo>
                    <a:pt x="6" y="0"/>
                    <a:pt x="4" y="1"/>
                    <a:pt x="4" y="3"/>
                  </a:cubicBezTo>
                  <a:cubicBezTo>
                    <a:pt x="4" y="3"/>
                    <a:pt x="1" y="13"/>
                    <a:pt x="1" y="14"/>
                  </a:cubicBezTo>
                  <a:cubicBezTo>
                    <a:pt x="0" y="16"/>
                    <a:pt x="0" y="16"/>
                    <a:pt x="0" y="16"/>
                  </a:cubicBezTo>
                  <a:cubicBezTo>
                    <a:pt x="34" y="16"/>
                    <a:pt x="34" y="16"/>
                    <a:pt x="34" y="16"/>
                  </a:cubicBezTo>
                  <a:lnTo>
                    <a:pt x="3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Freeform 945">
              <a:extLst>
                <a:ext uri="{FF2B5EF4-FFF2-40B4-BE49-F238E27FC236}">
                  <a16:creationId xmlns:a16="http://schemas.microsoft.com/office/drawing/2014/main" id="{62A52531-07A1-4D02-A2BA-A0FD4FCF8BFC}"/>
                </a:ext>
              </a:extLst>
            </p:cNvPr>
            <p:cNvSpPr>
              <a:spLocks/>
            </p:cNvSpPr>
            <p:nvPr/>
          </p:nvSpPr>
          <p:spPr bwMode="auto">
            <a:xfrm>
              <a:off x="5597349" y="2271491"/>
              <a:ext cx="232154" cy="108522"/>
            </a:xfrm>
            <a:custGeom>
              <a:avLst/>
              <a:gdLst>
                <a:gd name="T0" fmla="*/ 1 w 34"/>
                <a:gd name="T1" fmla="*/ 3 h 16"/>
                <a:gd name="T2" fmla="*/ 4 w 34"/>
                <a:gd name="T3" fmla="*/ 14 h 16"/>
                <a:gd name="T4" fmla="*/ 7 w 34"/>
                <a:gd name="T5" fmla="*/ 16 h 16"/>
                <a:gd name="T6" fmla="*/ 27 w 34"/>
                <a:gd name="T7" fmla="*/ 16 h 16"/>
                <a:gd name="T8" fmla="*/ 31 w 34"/>
                <a:gd name="T9" fmla="*/ 14 h 16"/>
                <a:gd name="T10" fmla="*/ 34 w 34"/>
                <a:gd name="T11" fmla="*/ 3 h 16"/>
                <a:gd name="T12" fmla="*/ 34 w 34"/>
                <a:gd name="T13" fmla="*/ 0 h 16"/>
                <a:gd name="T14" fmla="*/ 0 w 34"/>
                <a:gd name="T15" fmla="*/ 0 h 16"/>
                <a:gd name="T16" fmla="*/ 1 w 34"/>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16">
                  <a:moveTo>
                    <a:pt x="1" y="3"/>
                  </a:moveTo>
                  <a:cubicBezTo>
                    <a:pt x="1" y="3"/>
                    <a:pt x="4" y="14"/>
                    <a:pt x="4" y="14"/>
                  </a:cubicBezTo>
                  <a:cubicBezTo>
                    <a:pt x="4" y="15"/>
                    <a:pt x="6" y="16"/>
                    <a:pt x="7" y="16"/>
                  </a:cubicBezTo>
                  <a:cubicBezTo>
                    <a:pt x="27" y="16"/>
                    <a:pt x="27" y="16"/>
                    <a:pt x="27" y="16"/>
                  </a:cubicBezTo>
                  <a:cubicBezTo>
                    <a:pt x="29" y="16"/>
                    <a:pt x="30" y="15"/>
                    <a:pt x="31" y="14"/>
                  </a:cubicBezTo>
                  <a:cubicBezTo>
                    <a:pt x="31" y="14"/>
                    <a:pt x="34" y="3"/>
                    <a:pt x="34" y="3"/>
                  </a:cubicBezTo>
                  <a:cubicBezTo>
                    <a:pt x="34" y="0"/>
                    <a:pt x="34" y="0"/>
                    <a:pt x="34" y="0"/>
                  </a:cubicBezTo>
                  <a:cubicBezTo>
                    <a:pt x="0" y="0"/>
                    <a:pt x="0" y="0"/>
                    <a:pt x="0" y="0"/>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Freeform 946">
              <a:extLst>
                <a:ext uri="{FF2B5EF4-FFF2-40B4-BE49-F238E27FC236}">
                  <a16:creationId xmlns:a16="http://schemas.microsoft.com/office/drawing/2014/main" id="{421AB95F-2F7B-4908-B34E-46242BB0CCDB}"/>
                </a:ext>
              </a:extLst>
            </p:cNvPr>
            <p:cNvSpPr>
              <a:spLocks noEditPoints="1"/>
            </p:cNvSpPr>
            <p:nvPr/>
          </p:nvSpPr>
          <p:spPr bwMode="auto">
            <a:xfrm>
              <a:off x="5556138" y="1929441"/>
              <a:ext cx="314576" cy="328313"/>
            </a:xfrm>
            <a:custGeom>
              <a:avLst/>
              <a:gdLst>
                <a:gd name="T0" fmla="*/ 40 w 46"/>
                <a:gd name="T1" fmla="*/ 0 h 48"/>
                <a:gd name="T2" fmla="*/ 6 w 46"/>
                <a:gd name="T3" fmla="*/ 0 h 48"/>
                <a:gd name="T4" fmla="*/ 0 w 46"/>
                <a:gd name="T5" fmla="*/ 5 h 48"/>
                <a:gd name="T6" fmla="*/ 0 w 46"/>
                <a:gd name="T7" fmla="*/ 42 h 48"/>
                <a:gd name="T8" fmla="*/ 6 w 46"/>
                <a:gd name="T9" fmla="*/ 48 h 48"/>
                <a:gd name="T10" fmla="*/ 40 w 46"/>
                <a:gd name="T11" fmla="*/ 48 h 48"/>
                <a:gd name="T12" fmla="*/ 46 w 46"/>
                <a:gd name="T13" fmla="*/ 42 h 48"/>
                <a:gd name="T14" fmla="*/ 46 w 46"/>
                <a:gd name="T15" fmla="*/ 5 h 48"/>
                <a:gd name="T16" fmla="*/ 40 w 46"/>
                <a:gd name="T17" fmla="*/ 0 h 48"/>
                <a:gd name="T18" fmla="*/ 40 w 46"/>
                <a:gd name="T19" fmla="*/ 37 h 48"/>
                <a:gd name="T20" fmla="*/ 35 w 46"/>
                <a:gd name="T21" fmla="*/ 42 h 48"/>
                <a:gd name="T22" fmla="*/ 11 w 46"/>
                <a:gd name="T23" fmla="*/ 42 h 48"/>
                <a:gd name="T24" fmla="*/ 6 w 46"/>
                <a:gd name="T25" fmla="*/ 37 h 48"/>
                <a:gd name="T26" fmla="*/ 6 w 46"/>
                <a:gd name="T27" fmla="*/ 10 h 48"/>
                <a:gd name="T28" fmla="*/ 11 w 46"/>
                <a:gd name="T29" fmla="*/ 5 h 48"/>
                <a:gd name="T30" fmla="*/ 35 w 46"/>
                <a:gd name="T31" fmla="*/ 5 h 48"/>
                <a:gd name="T32" fmla="*/ 40 w 46"/>
                <a:gd name="T33" fmla="*/ 10 h 48"/>
                <a:gd name="T34" fmla="*/ 40 w 46"/>
                <a:gd name="T35" fmla="*/ 3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6" h="48">
                  <a:moveTo>
                    <a:pt x="40" y="0"/>
                  </a:moveTo>
                  <a:cubicBezTo>
                    <a:pt x="6" y="0"/>
                    <a:pt x="6" y="0"/>
                    <a:pt x="6" y="0"/>
                  </a:cubicBezTo>
                  <a:cubicBezTo>
                    <a:pt x="3" y="0"/>
                    <a:pt x="0" y="2"/>
                    <a:pt x="0" y="5"/>
                  </a:cubicBezTo>
                  <a:cubicBezTo>
                    <a:pt x="0" y="42"/>
                    <a:pt x="0" y="42"/>
                    <a:pt x="0" y="42"/>
                  </a:cubicBezTo>
                  <a:cubicBezTo>
                    <a:pt x="0" y="45"/>
                    <a:pt x="3" y="48"/>
                    <a:pt x="6" y="48"/>
                  </a:cubicBezTo>
                  <a:cubicBezTo>
                    <a:pt x="40" y="48"/>
                    <a:pt x="40" y="48"/>
                    <a:pt x="40" y="48"/>
                  </a:cubicBezTo>
                  <a:cubicBezTo>
                    <a:pt x="43" y="48"/>
                    <a:pt x="46" y="45"/>
                    <a:pt x="46" y="42"/>
                  </a:cubicBezTo>
                  <a:cubicBezTo>
                    <a:pt x="46" y="5"/>
                    <a:pt x="46" y="5"/>
                    <a:pt x="46" y="5"/>
                  </a:cubicBezTo>
                  <a:cubicBezTo>
                    <a:pt x="46" y="2"/>
                    <a:pt x="43" y="0"/>
                    <a:pt x="40" y="0"/>
                  </a:cubicBezTo>
                  <a:close/>
                  <a:moveTo>
                    <a:pt x="40" y="37"/>
                  </a:moveTo>
                  <a:cubicBezTo>
                    <a:pt x="40" y="40"/>
                    <a:pt x="38" y="42"/>
                    <a:pt x="35" y="42"/>
                  </a:cubicBezTo>
                  <a:cubicBezTo>
                    <a:pt x="11" y="42"/>
                    <a:pt x="11" y="42"/>
                    <a:pt x="11" y="42"/>
                  </a:cubicBezTo>
                  <a:cubicBezTo>
                    <a:pt x="8" y="42"/>
                    <a:pt x="6" y="40"/>
                    <a:pt x="6" y="37"/>
                  </a:cubicBezTo>
                  <a:cubicBezTo>
                    <a:pt x="6" y="10"/>
                    <a:pt x="6" y="10"/>
                    <a:pt x="6" y="10"/>
                  </a:cubicBezTo>
                  <a:cubicBezTo>
                    <a:pt x="6" y="7"/>
                    <a:pt x="8" y="5"/>
                    <a:pt x="11" y="5"/>
                  </a:cubicBezTo>
                  <a:cubicBezTo>
                    <a:pt x="35" y="5"/>
                    <a:pt x="35" y="5"/>
                    <a:pt x="35" y="5"/>
                  </a:cubicBezTo>
                  <a:cubicBezTo>
                    <a:pt x="38" y="5"/>
                    <a:pt x="40" y="7"/>
                    <a:pt x="40" y="10"/>
                  </a:cubicBezTo>
                  <a:lnTo>
                    <a:pt x="4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0" name="Group 119">
            <a:extLst>
              <a:ext uri="{FF2B5EF4-FFF2-40B4-BE49-F238E27FC236}">
                <a16:creationId xmlns:a16="http://schemas.microsoft.com/office/drawing/2014/main" id="{D8E033FE-2B73-4307-900B-506773798BF8}"/>
              </a:ext>
            </a:extLst>
          </p:cNvPr>
          <p:cNvGrpSpPr>
            <a:grpSpLocks noChangeAspect="1"/>
          </p:cNvGrpSpPr>
          <p:nvPr/>
        </p:nvGrpSpPr>
        <p:grpSpPr>
          <a:xfrm>
            <a:off x="6203620" y="3417567"/>
            <a:ext cx="277569" cy="274320"/>
            <a:chOff x="6185290" y="1800314"/>
            <a:chExt cx="586567" cy="579699"/>
          </a:xfrm>
          <a:solidFill>
            <a:srgbClr val="595555"/>
          </a:solidFill>
        </p:grpSpPr>
        <p:sp>
          <p:nvSpPr>
            <p:cNvPr id="121" name="Oval 952">
              <a:extLst>
                <a:ext uri="{FF2B5EF4-FFF2-40B4-BE49-F238E27FC236}">
                  <a16:creationId xmlns:a16="http://schemas.microsoft.com/office/drawing/2014/main" id="{4826F7B0-D6B6-435E-9BE0-B18AF6F4F5F1}"/>
                </a:ext>
              </a:extLst>
            </p:cNvPr>
            <p:cNvSpPr>
              <a:spLocks noChangeArrowheads="1"/>
            </p:cNvSpPr>
            <p:nvPr/>
          </p:nvSpPr>
          <p:spPr bwMode="auto">
            <a:xfrm>
              <a:off x="6553440" y="2244017"/>
              <a:ext cx="54948" cy="5357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2" name="Oval 953">
              <a:extLst>
                <a:ext uri="{FF2B5EF4-FFF2-40B4-BE49-F238E27FC236}">
                  <a16:creationId xmlns:a16="http://schemas.microsoft.com/office/drawing/2014/main" id="{8EC43335-12AD-4138-A943-E775BEFD1812}"/>
                </a:ext>
              </a:extLst>
            </p:cNvPr>
            <p:cNvSpPr>
              <a:spLocks noChangeArrowheads="1"/>
            </p:cNvSpPr>
            <p:nvPr/>
          </p:nvSpPr>
          <p:spPr bwMode="auto">
            <a:xfrm>
              <a:off x="6553440" y="1874494"/>
              <a:ext cx="54948" cy="5494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3" name="Oval 954">
              <a:extLst>
                <a:ext uri="{FF2B5EF4-FFF2-40B4-BE49-F238E27FC236}">
                  <a16:creationId xmlns:a16="http://schemas.microsoft.com/office/drawing/2014/main" id="{AB18ADC6-BCF5-4B80-9D8A-5164E34F4116}"/>
                </a:ext>
              </a:extLst>
            </p:cNvPr>
            <p:cNvSpPr>
              <a:spLocks noChangeArrowheads="1"/>
            </p:cNvSpPr>
            <p:nvPr/>
          </p:nvSpPr>
          <p:spPr bwMode="auto">
            <a:xfrm>
              <a:off x="6252601" y="1970652"/>
              <a:ext cx="54948" cy="5494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4" name="Oval 955">
              <a:extLst>
                <a:ext uri="{FF2B5EF4-FFF2-40B4-BE49-F238E27FC236}">
                  <a16:creationId xmlns:a16="http://schemas.microsoft.com/office/drawing/2014/main" id="{DB91339E-0F95-4197-99E1-F3BBCF60E3F8}"/>
                </a:ext>
              </a:extLst>
            </p:cNvPr>
            <p:cNvSpPr>
              <a:spLocks noChangeArrowheads="1"/>
            </p:cNvSpPr>
            <p:nvPr/>
          </p:nvSpPr>
          <p:spPr bwMode="auto">
            <a:xfrm>
              <a:off x="6649599" y="2092911"/>
              <a:ext cx="53574" cy="5494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956">
              <a:extLst>
                <a:ext uri="{FF2B5EF4-FFF2-40B4-BE49-F238E27FC236}">
                  <a16:creationId xmlns:a16="http://schemas.microsoft.com/office/drawing/2014/main" id="{41983C29-64DC-4AA0-A71F-29E91EAC881E}"/>
                </a:ext>
              </a:extLst>
            </p:cNvPr>
            <p:cNvSpPr>
              <a:spLocks noEditPoints="1"/>
            </p:cNvSpPr>
            <p:nvPr/>
          </p:nvSpPr>
          <p:spPr bwMode="auto">
            <a:xfrm>
              <a:off x="6185290" y="1800314"/>
              <a:ext cx="586567" cy="579699"/>
            </a:xfrm>
            <a:custGeom>
              <a:avLst/>
              <a:gdLst>
                <a:gd name="T0" fmla="*/ 83 w 86"/>
                <a:gd name="T1" fmla="*/ 0 h 85"/>
                <a:gd name="T2" fmla="*/ 3 w 86"/>
                <a:gd name="T3" fmla="*/ 0 h 85"/>
                <a:gd name="T4" fmla="*/ 0 w 86"/>
                <a:gd name="T5" fmla="*/ 3 h 85"/>
                <a:gd name="T6" fmla="*/ 0 w 86"/>
                <a:gd name="T7" fmla="*/ 83 h 85"/>
                <a:gd name="T8" fmla="*/ 3 w 86"/>
                <a:gd name="T9" fmla="*/ 85 h 85"/>
                <a:gd name="T10" fmla="*/ 83 w 86"/>
                <a:gd name="T11" fmla="*/ 85 h 85"/>
                <a:gd name="T12" fmla="*/ 86 w 86"/>
                <a:gd name="T13" fmla="*/ 83 h 85"/>
                <a:gd name="T14" fmla="*/ 86 w 86"/>
                <a:gd name="T15" fmla="*/ 3 h 85"/>
                <a:gd name="T16" fmla="*/ 83 w 86"/>
                <a:gd name="T17" fmla="*/ 0 h 85"/>
                <a:gd name="T18" fmla="*/ 27 w 86"/>
                <a:gd name="T19" fmla="*/ 75 h 85"/>
                <a:gd name="T20" fmla="*/ 19 w 86"/>
                <a:gd name="T21" fmla="*/ 67 h 85"/>
                <a:gd name="T22" fmla="*/ 20 w 86"/>
                <a:gd name="T23" fmla="*/ 64 h 85"/>
                <a:gd name="T24" fmla="*/ 11 w 86"/>
                <a:gd name="T25" fmla="*/ 56 h 85"/>
                <a:gd name="T26" fmla="*/ 11 w 86"/>
                <a:gd name="T27" fmla="*/ 55 h 85"/>
                <a:gd name="T28" fmla="*/ 11 w 86"/>
                <a:gd name="T29" fmla="*/ 40 h 85"/>
                <a:gd name="T30" fmla="*/ 11 w 86"/>
                <a:gd name="T31" fmla="*/ 37 h 85"/>
                <a:gd name="T32" fmla="*/ 6 w 86"/>
                <a:gd name="T33" fmla="*/ 29 h 85"/>
                <a:gd name="T34" fmla="*/ 14 w 86"/>
                <a:gd name="T35" fmla="*/ 21 h 85"/>
                <a:gd name="T36" fmla="*/ 22 w 86"/>
                <a:gd name="T37" fmla="*/ 29 h 85"/>
                <a:gd name="T38" fmla="*/ 16 w 86"/>
                <a:gd name="T39" fmla="*/ 37 h 85"/>
                <a:gd name="T40" fmla="*/ 16 w 86"/>
                <a:gd name="T41" fmla="*/ 54 h 85"/>
                <a:gd name="T42" fmla="*/ 23 w 86"/>
                <a:gd name="T43" fmla="*/ 60 h 85"/>
                <a:gd name="T44" fmla="*/ 27 w 86"/>
                <a:gd name="T45" fmla="*/ 59 h 85"/>
                <a:gd name="T46" fmla="*/ 35 w 86"/>
                <a:gd name="T47" fmla="*/ 67 h 85"/>
                <a:gd name="T48" fmla="*/ 27 w 86"/>
                <a:gd name="T49" fmla="*/ 75 h 85"/>
                <a:gd name="T50" fmla="*/ 44 w 86"/>
                <a:gd name="T51" fmla="*/ 48 h 85"/>
                <a:gd name="T52" fmla="*/ 36 w 86"/>
                <a:gd name="T53" fmla="*/ 56 h 85"/>
                <a:gd name="T54" fmla="*/ 28 w 86"/>
                <a:gd name="T55" fmla="*/ 48 h 85"/>
                <a:gd name="T56" fmla="*/ 34 w 86"/>
                <a:gd name="T57" fmla="*/ 40 h 85"/>
                <a:gd name="T58" fmla="*/ 34 w 86"/>
                <a:gd name="T59" fmla="*/ 29 h 85"/>
                <a:gd name="T60" fmla="*/ 28 w 86"/>
                <a:gd name="T61" fmla="*/ 21 h 85"/>
                <a:gd name="T62" fmla="*/ 36 w 86"/>
                <a:gd name="T63" fmla="*/ 13 h 85"/>
                <a:gd name="T64" fmla="*/ 44 w 86"/>
                <a:gd name="T65" fmla="*/ 21 h 85"/>
                <a:gd name="T66" fmla="*/ 39 w 86"/>
                <a:gd name="T67" fmla="*/ 29 h 85"/>
                <a:gd name="T68" fmla="*/ 39 w 86"/>
                <a:gd name="T69" fmla="*/ 40 h 85"/>
                <a:gd name="T70" fmla="*/ 44 w 86"/>
                <a:gd name="T71" fmla="*/ 48 h 85"/>
                <a:gd name="T72" fmla="*/ 72 w 86"/>
                <a:gd name="T73" fmla="*/ 55 h 85"/>
                <a:gd name="T74" fmla="*/ 64 w 86"/>
                <a:gd name="T75" fmla="*/ 47 h 85"/>
                <a:gd name="T76" fmla="*/ 65 w 86"/>
                <a:gd name="T77" fmla="*/ 44 h 85"/>
                <a:gd name="T78" fmla="*/ 60 w 86"/>
                <a:gd name="T79" fmla="*/ 40 h 85"/>
                <a:gd name="T80" fmla="*/ 60 w 86"/>
                <a:gd name="T81" fmla="*/ 62 h 85"/>
                <a:gd name="T82" fmla="*/ 66 w 86"/>
                <a:gd name="T83" fmla="*/ 69 h 85"/>
                <a:gd name="T84" fmla="*/ 58 w 86"/>
                <a:gd name="T85" fmla="*/ 77 h 85"/>
                <a:gd name="T86" fmla="*/ 50 w 86"/>
                <a:gd name="T87" fmla="*/ 69 h 85"/>
                <a:gd name="T88" fmla="*/ 55 w 86"/>
                <a:gd name="T89" fmla="*/ 62 h 85"/>
                <a:gd name="T90" fmla="*/ 55 w 86"/>
                <a:gd name="T91" fmla="*/ 39 h 85"/>
                <a:gd name="T92" fmla="*/ 55 w 86"/>
                <a:gd name="T93" fmla="*/ 35 h 85"/>
                <a:gd name="T94" fmla="*/ 55 w 86"/>
                <a:gd name="T95" fmla="*/ 34 h 85"/>
                <a:gd name="T96" fmla="*/ 55 w 86"/>
                <a:gd name="T97" fmla="*/ 28 h 85"/>
                <a:gd name="T98" fmla="*/ 55 w 86"/>
                <a:gd name="T99" fmla="*/ 22 h 85"/>
                <a:gd name="T100" fmla="*/ 50 w 86"/>
                <a:gd name="T101" fmla="*/ 15 h 85"/>
                <a:gd name="T102" fmla="*/ 58 w 86"/>
                <a:gd name="T103" fmla="*/ 7 h 85"/>
                <a:gd name="T104" fmla="*/ 66 w 86"/>
                <a:gd name="T105" fmla="*/ 15 h 85"/>
                <a:gd name="T106" fmla="*/ 60 w 86"/>
                <a:gd name="T107" fmla="*/ 22 h 85"/>
                <a:gd name="T108" fmla="*/ 60 w 86"/>
                <a:gd name="T109" fmla="*/ 33 h 85"/>
                <a:gd name="T110" fmla="*/ 68 w 86"/>
                <a:gd name="T111" fmla="*/ 40 h 85"/>
                <a:gd name="T112" fmla="*/ 72 w 86"/>
                <a:gd name="T113" fmla="*/ 39 h 85"/>
                <a:gd name="T114" fmla="*/ 80 w 86"/>
                <a:gd name="T115" fmla="*/ 47 h 85"/>
                <a:gd name="T116" fmla="*/ 72 w 86"/>
                <a:gd name="T117" fmla="*/ 5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6" h="85">
                  <a:moveTo>
                    <a:pt x="83" y="0"/>
                  </a:moveTo>
                  <a:cubicBezTo>
                    <a:pt x="3" y="0"/>
                    <a:pt x="3" y="0"/>
                    <a:pt x="3" y="0"/>
                  </a:cubicBezTo>
                  <a:cubicBezTo>
                    <a:pt x="2" y="0"/>
                    <a:pt x="0" y="1"/>
                    <a:pt x="0" y="3"/>
                  </a:cubicBezTo>
                  <a:cubicBezTo>
                    <a:pt x="0" y="83"/>
                    <a:pt x="0" y="83"/>
                    <a:pt x="0" y="83"/>
                  </a:cubicBezTo>
                  <a:cubicBezTo>
                    <a:pt x="0" y="84"/>
                    <a:pt x="2" y="85"/>
                    <a:pt x="3" y="85"/>
                  </a:cubicBezTo>
                  <a:cubicBezTo>
                    <a:pt x="83" y="85"/>
                    <a:pt x="83" y="85"/>
                    <a:pt x="83" y="85"/>
                  </a:cubicBezTo>
                  <a:cubicBezTo>
                    <a:pt x="85" y="85"/>
                    <a:pt x="86" y="84"/>
                    <a:pt x="86" y="83"/>
                  </a:cubicBezTo>
                  <a:cubicBezTo>
                    <a:pt x="86" y="3"/>
                    <a:pt x="86" y="3"/>
                    <a:pt x="86" y="3"/>
                  </a:cubicBezTo>
                  <a:cubicBezTo>
                    <a:pt x="86" y="1"/>
                    <a:pt x="85" y="0"/>
                    <a:pt x="83" y="0"/>
                  </a:cubicBezTo>
                  <a:close/>
                  <a:moveTo>
                    <a:pt x="27" y="75"/>
                  </a:moveTo>
                  <a:cubicBezTo>
                    <a:pt x="23" y="75"/>
                    <a:pt x="19" y="71"/>
                    <a:pt x="19" y="67"/>
                  </a:cubicBezTo>
                  <a:cubicBezTo>
                    <a:pt x="19" y="66"/>
                    <a:pt x="19" y="65"/>
                    <a:pt x="20" y="64"/>
                  </a:cubicBezTo>
                  <a:cubicBezTo>
                    <a:pt x="11" y="56"/>
                    <a:pt x="11" y="56"/>
                    <a:pt x="11" y="56"/>
                  </a:cubicBezTo>
                  <a:cubicBezTo>
                    <a:pt x="11" y="55"/>
                    <a:pt x="11" y="55"/>
                    <a:pt x="11" y="55"/>
                  </a:cubicBezTo>
                  <a:cubicBezTo>
                    <a:pt x="11" y="40"/>
                    <a:pt x="11" y="40"/>
                    <a:pt x="11" y="40"/>
                  </a:cubicBezTo>
                  <a:cubicBezTo>
                    <a:pt x="11" y="37"/>
                    <a:pt x="11" y="37"/>
                    <a:pt x="11" y="37"/>
                  </a:cubicBezTo>
                  <a:cubicBezTo>
                    <a:pt x="8" y="36"/>
                    <a:pt x="6" y="33"/>
                    <a:pt x="6" y="29"/>
                  </a:cubicBezTo>
                  <a:cubicBezTo>
                    <a:pt x="6" y="25"/>
                    <a:pt x="9" y="21"/>
                    <a:pt x="14" y="21"/>
                  </a:cubicBezTo>
                  <a:cubicBezTo>
                    <a:pt x="18" y="21"/>
                    <a:pt x="22" y="25"/>
                    <a:pt x="22" y="29"/>
                  </a:cubicBezTo>
                  <a:cubicBezTo>
                    <a:pt x="22" y="33"/>
                    <a:pt x="20" y="36"/>
                    <a:pt x="16" y="37"/>
                  </a:cubicBezTo>
                  <a:cubicBezTo>
                    <a:pt x="16" y="54"/>
                    <a:pt x="16" y="54"/>
                    <a:pt x="16" y="54"/>
                  </a:cubicBezTo>
                  <a:cubicBezTo>
                    <a:pt x="23" y="60"/>
                    <a:pt x="23" y="60"/>
                    <a:pt x="23" y="60"/>
                  </a:cubicBezTo>
                  <a:cubicBezTo>
                    <a:pt x="24" y="59"/>
                    <a:pt x="26" y="59"/>
                    <a:pt x="27" y="59"/>
                  </a:cubicBezTo>
                  <a:cubicBezTo>
                    <a:pt x="32" y="59"/>
                    <a:pt x="35" y="62"/>
                    <a:pt x="35" y="67"/>
                  </a:cubicBezTo>
                  <a:cubicBezTo>
                    <a:pt x="35" y="71"/>
                    <a:pt x="32" y="75"/>
                    <a:pt x="27" y="75"/>
                  </a:cubicBezTo>
                  <a:close/>
                  <a:moveTo>
                    <a:pt x="44" y="48"/>
                  </a:moveTo>
                  <a:cubicBezTo>
                    <a:pt x="44" y="52"/>
                    <a:pt x="41" y="56"/>
                    <a:pt x="36" y="56"/>
                  </a:cubicBezTo>
                  <a:cubicBezTo>
                    <a:pt x="32" y="56"/>
                    <a:pt x="28" y="52"/>
                    <a:pt x="28" y="48"/>
                  </a:cubicBezTo>
                  <a:cubicBezTo>
                    <a:pt x="28" y="44"/>
                    <a:pt x="31" y="41"/>
                    <a:pt x="34" y="40"/>
                  </a:cubicBezTo>
                  <a:cubicBezTo>
                    <a:pt x="34" y="29"/>
                    <a:pt x="34" y="29"/>
                    <a:pt x="34" y="29"/>
                  </a:cubicBezTo>
                  <a:cubicBezTo>
                    <a:pt x="31" y="28"/>
                    <a:pt x="28" y="25"/>
                    <a:pt x="28" y="21"/>
                  </a:cubicBezTo>
                  <a:cubicBezTo>
                    <a:pt x="28" y="17"/>
                    <a:pt x="32" y="13"/>
                    <a:pt x="36" y="13"/>
                  </a:cubicBezTo>
                  <a:cubicBezTo>
                    <a:pt x="41" y="13"/>
                    <a:pt x="44" y="17"/>
                    <a:pt x="44" y="21"/>
                  </a:cubicBezTo>
                  <a:cubicBezTo>
                    <a:pt x="44" y="25"/>
                    <a:pt x="42" y="28"/>
                    <a:pt x="39" y="29"/>
                  </a:cubicBezTo>
                  <a:cubicBezTo>
                    <a:pt x="39" y="40"/>
                    <a:pt x="39" y="40"/>
                    <a:pt x="39" y="40"/>
                  </a:cubicBezTo>
                  <a:cubicBezTo>
                    <a:pt x="42" y="41"/>
                    <a:pt x="44" y="44"/>
                    <a:pt x="44" y="48"/>
                  </a:cubicBezTo>
                  <a:close/>
                  <a:moveTo>
                    <a:pt x="72" y="55"/>
                  </a:moveTo>
                  <a:cubicBezTo>
                    <a:pt x="68" y="55"/>
                    <a:pt x="64" y="51"/>
                    <a:pt x="64" y="47"/>
                  </a:cubicBezTo>
                  <a:cubicBezTo>
                    <a:pt x="64" y="46"/>
                    <a:pt x="65" y="45"/>
                    <a:pt x="65" y="44"/>
                  </a:cubicBezTo>
                  <a:cubicBezTo>
                    <a:pt x="60" y="40"/>
                    <a:pt x="60" y="40"/>
                    <a:pt x="60" y="40"/>
                  </a:cubicBezTo>
                  <a:cubicBezTo>
                    <a:pt x="60" y="62"/>
                    <a:pt x="60" y="62"/>
                    <a:pt x="60" y="62"/>
                  </a:cubicBezTo>
                  <a:cubicBezTo>
                    <a:pt x="64" y="63"/>
                    <a:pt x="66" y="66"/>
                    <a:pt x="66" y="69"/>
                  </a:cubicBezTo>
                  <a:cubicBezTo>
                    <a:pt x="66" y="74"/>
                    <a:pt x="62" y="77"/>
                    <a:pt x="58" y="77"/>
                  </a:cubicBezTo>
                  <a:cubicBezTo>
                    <a:pt x="53" y="77"/>
                    <a:pt x="50" y="74"/>
                    <a:pt x="50" y="69"/>
                  </a:cubicBezTo>
                  <a:cubicBezTo>
                    <a:pt x="50" y="66"/>
                    <a:pt x="52" y="63"/>
                    <a:pt x="55" y="62"/>
                  </a:cubicBezTo>
                  <a:cubicBezTo>
                    <a:pt x="55" y="39"/>
                    <a:pt x="55" y="39"/>
                    <a:pt x="55" y="39"/>
                  </a:cubicBezTo>
                  <a:cubicBezTo>
                    <a:pt x="55" y="35"/>
                    <a:pt x="55" y="35"/>
                    <a:pt x="55" y="35"/>
                  </a:cubicBezTo>
                  <a:cubicBezTo>
                    <a:pt x="55" y="34"/>
                    <a:pt x="55" y="34"/>
                    <a:pt x="55" y="34"/>
                  </a:cubicBezTo>
                  <a:cubicBezTo>
                    <a:pt x="55" y="28"/>
                    <a:pt x="55" y="28"/>
                    <a:pt x="55" y="28"/>
                  </a:cubicBezTo>
                  <a:cubicBezTo>
                    <a:pt x="55" y="22"/>
                    <a:pt x="55" y="22"/>
                    <a:pt x="55" y="22"/>
                  </a:cubicBezTo>
                  <a:cubicBezTo>
                    <a:pt x="52" y="21"/>
                    <a:pt x="50" y="18"/>
                    <a:pt x="50" y="15"/>
                  </a:cubicBezTo>
                  <a:cubicBezTo>
                    <a:pt x="50" y="10"/>
                    <a:pt x="53" y="7"/>
                    <a:pt x="58" y="7"/>
                  </a:cubicBezTo>
                  <a:cubicBezTo>
                    <a:pt x="62" y="7"/>
                    <a:pt x="66" y="10"/>
                    <a:pt x="66" y="15"/>
                  </a:cubicBezTo>
                  <a:cubicBezTo>
                    <a:pt x="66" y="18"/>
                    <a:pt x="64" y="21"/>
                    <a:pt x="60" y="22"/>
                  </a:cubicBezTo>
                  <a:cubicBezTo>
                    <a:pt x="60" y="33"/>
                    <a:pt x="60" y="33"/>
                    <a:pt x="60" y="33"/>
                  </a:cubicBezTo>
                  <a:cubicBezTo>
                    <a:pt x="68" y="40"/>
                    <a:pt x="68" y="40"/>
                    <a:pt x="68" y="40"/>
                  </a:cubicBezTo>
                  <a:cubicBezTo>
                    <a:pt x="70" y="39"/>
                    <a:pt x="71" y="39"/>
                    <a:pt x="72" y="39"/>
                  </a:cubicBezTo>
                  <a:cubicBezTo>
                    <a:pt x="77" y="39"/>
                    <a:pt x="80" y="42"/>
                    <a:pt x="80" y="47"/>
                  </a:cubicBezTo>
                  <a:cubicBezTo>
                    <a:pt x="80" y="51"/>
                    <a:pt x="77" y="55"/>
                    <a:pt x="7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26" name="Freeform 814">
            <a:extLst>
              <a:ext uri="{FF2B5EF4-FFF2-40B4-BE49-F238E27FC236}">
                <a16:creationId xmlns:a16="http://schemas.microsoft.com/office/drawing/2014/main" id="{7CB5342F-477B-4D9A-8C1F-18F97FFE1276}"/>
              </a:ext>
            </a:extLst>
          </p:cNvPr>
          <p:cNvSpPr>
            <a:spLocks noChangeAspect="1" noEditPoints="1"/>
          </p:cNvSpPr>
          <p:nvPr/>
        </p:nvSpPr>
        <p:spPr bwMode="auto">
          <a:xfrm>
            <a:off x="673608" y="5566732"/>
            <a:ext cx="454011" cy="274320"/>
          </a:xfrm>
          <a:custGeom>
            <a:avLst/>
            <a:gdLst>
              <a:gd name="T0" fmla="*/ 83 w 86"/>
              <a:gd name="T1" fmla="*/ 2 h 52"/>
              <a:gd name="T2" fmla="*/ 79 w 86"/>
              <a:gd name="T3" fmla="*/ 8 h 52"/>
              <a:gd name="T4" fmla="*/ 69 w 86"/>
              <a:gd name="T5" fmla="*/ 14 h 52"/>
              <a:gd name="T6" fmla="*/ 63 w 86"/>
              <a:gd name="T7" fmla="*/ 18 h 52"/>
              <a:gd name="T8" fmla="*/ 62 w 86"/>
              <a:gd name="T9" fmla="*/ 14 h 52"/>
              <a:gd name="T10" fmla="*/ 60 w 86"/>
              <a:gd name="T11" fmla="*/ 10 h 52"/>
              <a:gd name="T12" fmla="*/ 58 w 86"/>
              <a:gd name="T13" fmla="*/ 15 h 52"/>
              <a:gd name="T14" fmla="*/ 57 w 86"/>
              <a:gd name="T15" fmla="*/ 12 h 52"/>
              <a:gd name="T16" fmla="*/ 61 w 86"/>
              <a:gd name="T17" fmla="*/ 10 h 52"/>
              <a:gd name="T18" fmla="*/ 60 w 86"/>
              <a:gd name="T19" fmla="*/ 8 h 52"/>
              <a:gd name="T20" fmla="*/ 56 w 86"/>
              <a:gd name="T21" fmla="*/ 7 h 52"/>
              <a:gd name="T22" fmla="*/ 50 w 86"/>
              <a:gd name="T23" fmla="*/ 9 h 52"/>
              <a:gd name="T24" fmla="*/ 53 w 86"/>
              <a:gd name="T25" fmla="*/ 6 h 52"/>
              <a:gd name="T26" fmla="*/ 46 w 86"/>
              <a:gd name="T27" fmla="*/ 5 h 52"/>
              <a:gd name="T28" fmla="*/ 8 w 86"/>
              <a:gd name="T29" fmla="*/ 0 h 52"/>
              <a:gd name="T30" fmla="*/ 5 w 86"/>
              <a:gd name="T31" fmla="*/ 0 h 52"/>
              <a:gd name="T32" fmla="*/ 5 w 86"/>
              <a:gd name="T33" fmla="*/ 5 h 52"/>
              <a:gd name="T34" fmla="*/ 0 w 86"/>
              <a:gd name="T35" fmla="*/ 16 h 52"/>
              <a:gd name="T36" fmla="*/ 1 w 86"/>
              <a:gd name="T37" fmla="*/ 21 h 52"/>
              <a:gd name="T38" fmla="*/ 2 w 86"/>
              <a:gd name="T39" fmla="*/ 25 h 52"/>
              <a:gd name="T40" fmla="*/ 6 w 86"/>
              <a:gd name="T41" fmla="*/ 31 h 52"/>
              <a:gd name="T42" fmla="*/ 12 w 86"/>
              <a:gd name="T43" fmla="*/ 35 h 52"/>
              <a:gd name="T44" fmla="*/ 23 w 86"/>
              <a:gd name="T45" fmla="*/ 39 h 52"/>
              <a:gd name="T46" fmla="*/ 28 w 86"/>
              <a:gd name="T47" fmla="*/ 42 h 52"/>
              <a:gd name="T48" fmla="*/ 32 w 86"/>
              <a:gd name="T49" fmla="*/ 44 h 52"/>
              <a:gd name="T50" fmla="*/ 42 w 86"/>
              <a:gd name="T51" fmla="*/ 52 h 52"/>
              <a:gd name="T52" fmla="*/ 48 w 86"/>
              <a:gd name="T53" fmla="*/ 44 h 52"/>
              <a:gd name="T54" fmla="*/ 53 w 86"/>
              <a:gd name="T55" fmla="*/ 46 h 52"/>
              <a:gd name="T56" fmla="*/ 55 w 86"/>
              <a:gd name="T57" fmla="*/ 45 h 52"/>
              <a:gd name="T58" fmla="*/ 56 w 86"/>
              <a:gd name="T59" fmla="*/ 43 h 52"/>
              <a:gd name="T60" fmla="*/ 58 w 86"/>
              <a:gd name="T61" fmla="*/ 42 h 52"/>
              <a:gd name="T62" fmla="*/ 65 w 86"/>
              <a:gd name="T63" fmla="*/ 42 h 52"/>
              <a:gd name="T64" fmla="*/ 69 w 86"/>
              <a:gd name="T65" fmla="*/ 46 h 52"/>
              <a:gd name="T66" fmla="*/ 71 w 86"/>
              <a:gd name="T67" fmla="*/ 50 h 52"/>
              <a:gd name="T68" fmla="*/ 73 w 86"/>
              <a:gd name="T69" fmla="*/ 51 h 52"/>
              <a:gd name="T70" fmla="*/ 72 w 86"/>
              <a:gd name="T71" fmla="*/ 45 h 52"/>
              <a:gd name="T72" fmla="*/ 70 w 86"/>
              <a:gd name="T73" fmla="*/ 37 h 52"/>
              <a:gd name="T74" fmla="*/ 73 w 86"/>
              <a:gd name="T75" fmla="*/ 34 h 52"/>
              <a:gd name="T76" fmla="*/ 76 w 86"/>
              <a:gd name="T77" fmla="*/ 30 h 52"/>
              <a:gd name="T78" fmla="*/ 77 w 86"/>
              <a:gd name="T79" fmla="*/ 26 h 52"/>
              <a:gd name="T80" fmla="*/ 76 w 86"/>
              <a:gd name="T81" fmla="*/ 24 h 52"/>
              <a:gd name="T82" fmla="*/ 77 w 86"/>
              <a:gd name="T83" fmla="*/ 22 h 52"/>
              <a:gd name="T84" fmla="*/ 78 w 86"/>
              <a:gd name="T85" fmla="*/ 19 h 52"/>
              <a:gd name="T86" fmla="*/ 82 w 86"/>
              <a:gd name="T87" fmla="*/ 14 h 52"/>
              <a:gd name="T88" fmla="*/ 83 w 86"/>
              <a:gd name="T89" fmla="*/ 13 h 52"/>
              <a:gd name="T90" fmla="*/ 82 w 86"/>
              <a:gd name="T91" fmla="*/ 10 h 52"/>
              <a:gd name="T92" fmla="*/ 84 w 86"/>
              <a:gd name="T93" fmla="*/ 8 h 52"/>
              <a:gd name="T94" fmla="*/ 83 w 86"/>
              <a:gd name="T95" fmla="*/ 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6" h="52">
                <a:moveTo>
                  <a:pt x="85" y="6"/>
                </a:moveTo>
                <a:cubicBezTo>
                  <a:pt x="85" y="6"/>
                  <a:pt x="85" y="5"/>
                  <a:pt x="84" y="5"/>
                </a:cubicBezTo>
                <a:cubicBezTo>
                  <a:pt x="84" y="4"/>
                  <a:pt x="84" y="3"/>
                  <a:pt x="83" y="2"/>
                </a:cubicBezTo>
                <a:cubicBezTo>
                  <a:pt x="82" y="2"/>
                  <a:pt x="82" y="3"/>
                  <a:pt x="81" y="2"/>
                </a:cubicBezTo>
                <a:cubicBezTo>
                  <a:pt x="80" y="4"/>
                  <a:pt x="81" y="6"/>
                  <a:pt x="80" y="7"/>
                </a:cubicBezTo>
                <a:cubicBezTo>
                  <a:pt x="79" y="7"/>
                  <a:pt x="79" y="8"/>
                  <a:pt x="79" y="8"/>
                </a:cubicBezTo>
                <a:cubicBezTo>
                  <a:pt x="77" y="9"/>
                  <a:pt x="76" y="9"/>
                  <a:pt x="74" y="9"/>
                </a:cubicBezTo>
                <a:cubicBezTo>
                  <a:pt x="74" y="10"/>
                  <a:pt x="74" y="11"/>
                  <a:pt x="73" y="11"/>
                </a:cubicBezTo>
                <a:cubicBezTo>
                  <a:pt x="74" y="14"/>
                  <a:pt x="71" y="14"/>
                  <a:pt x="69" y="14"/>
                </a:cubicBezTo>
                <a:cubicBezTo>
                  <a:pt x="69" y="14"/>
                  <a:pt x="70" y="15"/>
                  <a:pt x="70" y="15"/>
                </a:cubicBezTo>
                <a:cubicBezTo>
                  <a:pt x="69" y="16"/>
                  <a:pt x="68" y="16"/>
                  <a:pt x="67" y="17"/>
                </a:cubicBezTo>
                <a:cubicBezTo>
                  <a:pt x="66" y="18"/>
                  <a:pt x="65" y="19"/>
                  <a:pt x="63" y="18"/>
                </a:cubicBezTo>
                <a:cubicBezTo>
                  <a:pt x="64" y="17"/>
                  <a:pt x="64" y="17"/>
                  <a:pt x="64" y="16"/>
                </a:cubicBezTo>
                <a:cubicBezTo>
                  <a:pt x="64" y="15"/>
                  <a:pt x="64" y="14"/>
                  <a:pt x="63" y="13"/>
                </a:cubicBezTo>
                <a:cubicBezTo>
                  <a:pt x="62" y="13"/>
                  <a:pt x="63" y="14"/>
                  <a:pt x="62" y="14"/>
                </a:cubicBezTo>
                <a:cubicBezTo>
                  <a:pt x="62" y="13"/>
                  <a:pt x="63" y="14"/>
                  <a:pt x="63" y="13"/>
                </a:cubicBezTo>
                <a:cubicBezTo>
                  <a:pt x="62" y="12"/>
                  <a:pt x="63" y="11"/>
                  <a:pt x="62" y="11"/>
                </a:cubicBezTo>
                <a:cubicBezTo>
                  <a:pt x="61" y="11"/>
                  <a:pt x="61" y="10"/>
                  <a:pt x="60" y="10"/>
                </a:cubicBezTo>
                <a:cubicBezTo>
                  <a:pt x="60" y="11"/>
                  <a:pt x="59" y="11"/>
                  <a:pt x="59" y="12"/>
                </a:cubicBezTo>
                <a:cubicBezTo>
                  <a:pt x="59" y="12"/>
                  <a:pt x="59" y="12"/>
                  <a:pt x="59" y="11"/>
                </a:cubicBezTo>
                <a:cubicBezTo>
                  <a:pt x="58" y="12"/>
                  <a:pt x="58" y="13"/>
                  <a:pt x="58" y="15"/>
                </a:cubicBezTo>
                <a:cubicBezTo>
                  <a:pt x="58" y="15"/>
                  <a:pt x="59" y="16"/>
                  <a:pt x="59" y="16"/>
                </a:cubicBezTo>
                <a:cubicBezTo>
                  <a:pt x="59" y="18"/>
                  <a:pt x="59" y="18"/>
                  <a:pt x="57" y="19"/>
                </a:cubicBezTo>
                <a:cubicBezTo>
                  <a:pt x="56" y="18"/>
                  <a:pt x="56" y="14"/>
                  <a:pt x="57" y="12"/>
                </a:cubicBezTo>
                <a:cubicBezTo>
                  <a:pt x="57" y="12"/>
                  <a:pt x="56" y="13"/>
                  <a:pt x="56" y="13"/>
                </a:cubicBezTo>
                <a:cubicBezTo>
                  <a:pt x="56" y="12"/>
                  <a:pt x="57" y="11"/>
                  <a:pt x="57" y="10"/>
                </a:cubicBezTo>
                <a:cubicBezTo>
                  <a:pt x="58" y="10"/>
                  <a:pt x="60" y="10"/>
                  <a:pt x="61" y="10"/>
                </a:cubicBezTo>
                <a:cubicBezTo>
                  <a:pt x="61" y="10"/>
                  <a:pt x="61" y="9"/>
                  <a:pt x="61" y="9"/>
                </a:cubicBezTo>
                <a:cubicBezTo>
                  <a:pt x="60" y="9"/>
                  <a:pt x="60" y="9"/>
                  <a:pt x="60" y="9"/>
                </a:cubicBezTo>
                <a:cubicBezTo>
                  <a:pt x="60" y="9"/>
                  <a:pt x="60" y="8"/>
                  <a:pt x="60" y="8"/>
                </a:cubicBezTo>
                <a:cubicBezTo>
                  <a:pt x="58" y="8"/>
                  <a:pt x="58" y="9"/>
                  <a:pt x="57" y="9"/>
                </a:cubicBezTo>
                <a:cubicBezTo>
                  <a:pt x="56" y="9"/>
                  <a:pt x="56" y="8"/>
                  <a:pt x="55" y="8"/>
                </a:cubicBezTo>
                <a:cubicBezTo>
                  <a:pt x="55" y="8"/>
                  <a:pt x="55" y="8"/>
                  <a:pt x="56" y="7"/>
                </a:cubicBezTo>
                <a:cubicBezTo>
                  <a:pt x="54" y="7"/>
                  <a:pt x="53" y="9"/>
                  <a:pt x="51" y="9"/>
                </a:cubicBezTo>
                <a:cubicBezTo>
                  <a:pt x="51" y="9"/>
                  <a:pt x="52" y="9"/>
                  <a:pt x="51" y="9"/>
                </a:cubicBezTo>
                <a:cubicBezTo>
                  <a:pt x="51" y="9"/>
                  <a:pt x="51" y="9"/>
                  <a:pt x="50" y="9"/>
                </a:cubicBezTo>
                <a:cubicBezTo>
                  <a:pt x="50" y="9"/>
                  <a:pt x="50" y="9"/>
                  <a:pt x="50" y="8"/>
                </a:cubicBezTo>
                <a:cubicBezTo>
                  <a:pt x="51" y="8"/>
                  <a:pt x="51" y="7"/>
                  <a:pt x="51" y="7"/>
                </a:cubicBezTo>
                <a:cubicBezTo>
                  <a:pt x="52" y="7"/>
                  <a:pt x="53" y="7"/>
                  <a:pt x="53" y="6"/>
                </a:cubicBezTo>
                <a:cubicBezTo>
                  <a:pt x="52" y="6"/>
                  <a:pt x="51" y="6"/>
                  <a:pt x="50" y="6"/>
                </a:cubicBezTo>
                <a:cubicBezTo>
                  <a:pt x="50" y="6"/>
                  <a:pt x="49" y="6"/>
                  <a:pt x="48" y="5"/>
                </a:cubicBezTo>
                <a:cubicBezTo>
                  <a:pt x="47" y="6"/>
                  <a:pt x="47" y="5"/>
                  <a:pt x="46" y="5"/>
                </a:cubicBezTo>
                <a:cubicBezTo>
                  <a:pt x="46" y="5"/>
                  <a:pt x="46" y="4"/>
                  <a:pt x="45" y="4"/>
                </a:cubicBezTo>
                <a:cubicBezTo>
                  <a:pt x="45" y="4"/>
                  <a:pt x="45" y="5"/>
                  <a:pt x="45" y="5"/>
                </a:cubicBezTo>
                <a:cubicBezTo>
                  <a:pt x="31" y="5"/>
                  <a:pt x="19" y="2"/>
                  <a:pt x="8" y="0"/>
                </a:cubicBezTo>
                <a:cubicBezTo>
                  <a:pt x="8" y="0"/>
                  <a:pt x="8" y="1"/>
                  <a:pt x="8" y="1"/>
                </a:cubicBezTo>
                <a:cubicBezTo>
                  <a:pt x="7" y="1"/>
                  <a:pt x="8" y="1"/>
                  <a:pt x="8" y="1"/>
                </a:cubicBezTo>
                <a:cubicBezTo>
                  <a:pt x="7" y="2"/>
                  <a:pt x="6" y="0"/>
                  <a:pt x="5" y="0"/>
                </a:cubicBezTo>
                <a:cubicBezTo>
                  <a:pt x="5" y="1"/>
                  <a:pt x="5" y="2"/>
                  <a:pt x="5" y="3"/>
                </a:cubicBezTo>
                <a:cubicBezTo>
                  <a:pt x="5" y="3"/>
                  <a:pt x="5" y="3"/>
                  <a:pt x="5" y="4"/>
                </a:cubicBezTo>
                <a:cubicBezTo>
                  <a:pt x="5" y="4"/>
                  <a:pt x="5" y="4"/>
                  <a:pt x="5" y="5"/>
                </a:cubicBezTo>
                <a:cubicBezTo>
                  <a:pt x="4" y="7"/>
                  <a:pt x="3" y="9"/>
                  <a:pt x="2" y="11"/>
                </a:cubicBezTo>
                <a:cubicBezTo>
                  <a:pt x="2" y="13"/>
                  <a:pt x="2" y="15"/>
                  <a:pt x="0" y="16"/>
                </a:cubicBezTo>
                <a:cubicBezTo>
                  <a:pt x="0" y="16"/>
                  <a:pt x="0" y="16"/>
                  <a:pt x="0" y="16"/>
                </a:cubicBezTo>
                <a:cubicBezTo>
                  <a:pt x="2" y="17"/>
                  <a:pt x="0" y="18"/>
                  <a:pt x="1" y="19"/>
                </a:cubicBezTo>
                <a:cubicBezTo>
                  <a:pt x="1" y="19"/>
                  <a:pt x="1" y="20"/>
                  <a:pt x="1" y="20"/>
                </a:cubicBezTo>
                <a:cubicBezTo>
                  <a:pt x="1" y="20"/>
                  <a:pt x="1" y="21"/>
                  <a:pt x="1" y="21"/>
                </a:cubicBezTo>
                <a:cubicBezTo>
                  <a:pt x="1" y="21"/>
                  <a:pt x="2" y="22"/>
                  <a:pt x="2" y="22"/>
                </a:cubicBezTo>
                <a:cubicBezTo>
                  <a:pt x="2" y="23"/>
                  <a:pt x="1" y="23"/>
                  <a:pt x="2" y="24"/>
                </a:cubicBezTo>
                <a:cubicBezTo>
                  <a:pt x="2" y="24"/>
                  <a:pt x="2" y="24"/>
                  <a:pt x="2" y="25"/>
                </a:cubicBezTo>
                <a:cubicBezTo>
                  <a:pt x="2" y="26"/>
                  <a:pt x="4" y="27"/>
                  <a:pt x="3" y="29"/>
                </a:cubicBezTo>
                <a:cubicBezTo>
                  <a:pt x="3" y="29"/>
                  <a:pt x="4" y="29"/>
                  <a:pt x="4" y="30"/>
                </a:cubicBezTo>
                <a:cubicBezTo>
                  <a:pt x="5" y="30"/>
                  <a:pt x="5" y="31"/>
                  <a:pt x="6" y="31"/>
                </a:cubicBezTo>
                <a:cubicBezTo>
                  <a:pt x="6" y="31"/>
                  <a:pt x="6" y="31"/>
                  <a:pt x="6" y="32"/>
                </a:cubicBezTo>
                <a:cubicBezTo>
                  <a:pt x="7" y="32"/>
                  <a:pt x="8" y="33"/>
                  <a:pt x="8" y="34"/>
                </a:cubicBezTo>
                <a:cubicBezTo>
                  <a:pt x="9" y="35"/>
                  <a:pt x="10" y="35"/>
                  <a:pt x="12" y="35"/>
                </a:cubicBezTo>
                <a:cubicBezTo>
                  <a:pt x="12" y="35"/>
                  <a:pt x="12" y="35"/>
                  <a:pt x="12" y="36"/>
                </a:cubicBezTo>
                <a:cubicBezTo>
                  <a:pt x="15" y="37"/>
                  <a:pt x="18" y="40"/>
                  <a:pt x="23" y="40"/>
                </a:cubicBezTo>
                <a:cubicBezTo>
                  <a:pt x="23" y="40"/>
                  <a:pt x="23" y="39"/>
                  <a:pt x="23" y="39"/>
                </a:cubicBezTo>
                <a:cubicBezTo>
                  <a:pt x="24" y="39"/>
                  <a:pt x="25" y="39"/>
                  <a:pt x="26" y="39"/>
                </a:cubicBezTo>
                <a:cubicBezTo>
                  <a:pt x="26" y="40"/>
                  <a:pt x="26" y="40"/>
                  <a:pt x="27" y="40"/>
                </a:cubicBezTo>
                <a:cubicBezTo>
                  <a:pt x="27" y="41"/>
                  <a:pt x="28" y="41"/>
                  <a:pt x="28" y="42"/>
                </a:cubicBezTo>
                <a:cubicBezTo>
                  <a:pt x="29" y="42"/>
                  <a:pt x="28" y="43"/>
                  <a:pt x="29" y="44"/>
                </a:cubicBezTo>
                <a:cubicBezTo>
                  <a:pt x="29" y="45"/>
                  <a:pt x="30" y="45"/>
                  <a:pt x="31" y="45"/>
                </a:cubicBezTo>
                <a:cubicBezTo>
                  <a:pt x="32" y="45"/>
                  <a:pt x="32" y="44"/>
                  <a:pt x="32" y="44"/>
                </a:cubicBezTo>
                <a:cubicBezTo>
                  <a:pt x="35" y="44"/>
                  <a:pt x="36" y="45"/>
                  <a:pt x="36" y="47"/>
                </a:cubicBezTo>
                <a:cubicBezTo>
                  <a:pt x="37" y="48"/>
                  <a:pt x="37" y="48"/>
                  <a:pt x="38" y="49"/>
                </a:cubicBezTo>
                <a:cubicBezTo>
                  <a:pt x="37" y="51"/>
                  <a:pt x="40" y="52"/>
                  <a:pt x="42" y="52"/>
                </a:cubicBezTo>
                <a:cubicBezTo>
                  <a:pt x="42" y="51"/>
                  <a:pt x="41" y="50"/>
                  <a:pt x="42" y="48"/>
                </a:cubicBezTo>
                <a:cubicBezTo>
                  <a:pt x="43" y="47"/>
                  <a:pt x="44" y="47"/>
                  <a:pt x="46" y="46"/>
                </a:cubicBezTo>
                <a:cubicBezTo>
                  <a:pt x="47" y="45"/>
                  <a:pt x="47" y="44"/>
                  <a:pt x="48" y="44"/>
                </a:cubicBezTo>
                <a:cubicBezTo>
                  <a:pt x="49" y="44"/>
                  <a:pt x="50" y="45"/>
                  <a:pt x="52" y="45"/>
                </a:cubicBezTo>
                <a:cubicBezTo>
                  <a:pt x="52" y="44"/>
                  <a:pt x="51" y="45"/>
                  <a:pt x="51" y="44"/>
                </a:cubicBezTo>
                <a:cubicBezTo>
                  <a:pt x="52" y="44"/>
                  <a:pt x="52" y="45"/>
                  <a:pt x="53" y="46"/>
                </a:cubicBezTo>
                <a:cubicBezTo>
                  <a:pt x="54" y="46"/>
                  <a:pt x="54" y="45"/>
                  <a:pt x="54" y="45"/>
                </a:cubicBezTo>
                <a:cubicBezTo>
                  <a:pt x="54" y="45"/>
                  <a:pt x="54" y="45"/>
                  <a:pt x="54" y="46"/>
                </a:cubicBezTo>
                <a:cubicBezTo>
                  <a:pt x="55" y="45"/>
                  <a:pt x="55" y="45"/>
                  <a:pt x="55" y="45"/>
                </a:cubicBezTo>
                <a:cubicBezTo>
                  <a:pt x="55" y="45"/>
                  <a:pt x="56" y="45"/>
                  <a:pt x="57" y="45"/>
                </a:cubicBezTo>
                <a:cubicBezTo>
                  <a:pt x="57" y="44"/>
                  <a:pt x="56" y="45"/>
                  <a:pt x="55" y="44"/>
                </a:cubicBezTo>
                <a:cubicBezTo>
                  <a:pt x="56" y="44"/>
                  <a:pt x="56" y="44"/>
                  <a:pt x="56" y="43"/>
                </a:cubicBezTo>
                <a:cubicBezTo>
                  <a:pt x="56" y="43"/>
                  <a:pt x="56" y="44"/>
                  <a:pt x="55" y="44"/>
                </a:cubicBezTo>
                <a:cubicBezTo>
                  <a:pt x="55" y="43"/>
                  <a:pt x="56" y="42"/>
                  <a:pt x="58" y="43"/>
                </a:cubicBezTo>
                <a:cubicBezTo>
                  <a:pt x="58" y="43"/>
                  <a:pt x="58" y="42"/>
                  <a:pt x="58" y="42"/>
                </a:cubicBezTo>
                <a:cubicBezTo>
                  <a:pt x="59" y="42"/>
                  <a:pt x="59" y="42"/>
                  <a:pt x="58" y="43"/>
                </a:cubicBezTo>
                <a:cubicBezTo>
                  <a:pt x="60" y="42"/>
                  <a:pt x="62" y="42"/>
                  <a:pt x="63" y="43"/>
                </a:cubicBezTo>
                <a:cubicBezTo>
                  <a:pt x="64" y="43"/>
                  <a:pt x="65" y="43"/>
                  <a:pt x="65" y="42"/>
                </a:cubicBezTo>
                <a:cubicBezTo>
                  <a:pt x="67" y="42"/>
                  <a:pt x="67" y="44"/>
                  <a:pt x="68" y="44"/>
                </a:cubicBezTo>
                <a:cubicBezTo>
                  <a:pt x="68" y="45"/>
                  <a:pt x="68" y="46"/>
                  <a:pt x="68" y="47"/>
                </a:cubicBezTo>
                <a:cubicBezTo>
                  <a:pt x="69" y="47"/>
                  <a:pt x="68" y="46"/>
                  <a:pt x="69" y="46"/>
                </a:cubicBezTo>
                <a:cubicBezTo>
                  <a:pt x="69" y="46"/>
                  <a:pt x="68" y="47"/>
                  <a:pt x="68" y="47"/>
                </a:cubicBezTo>
                <a:cubicBezTo>
                  <a:pt x="69" y="48"/>
                  <a:pt x="69" y="48"/>
                  <a:pt x="70" y="49"/>
                </a:cubicBezTo>
                <a:cubicBezTo>
                  <a:pt x="70" y="49"/>
                  <a:pt x="70" y="50"/>
                  <a:pt x="71" y="50"/>
                </a:cubicBezTo>
                <a:cubicBezTo>
                  <a:pt x="71" y="50"/>
                  <a:pt x="71" y="50"/>
                  <a:pt x="71" y="50"/>
                </a:cubicBezTo>
                <a:cubicBezTo>
                  <a:pt x="72" y="51"/>
                  <a:pt x="72" y="51"/>
                  <a:pt x="72" y="52"/>
                </a:cubicBezTo>
                <a:cubicBezTo>
                  <a:pt x="73" y="52"/>
                  <a:pt x="73" y="51"/>
                  <a:pt x="73" y="51"/>
                </a:cubicBezTo>
                <a:cubicBezTo>
                  <a:pt x="73" y="52"/>
                  <a:pt x="73" y="52"/>
                  <a:pt x="72" y="52"/>
                </a:cubicBezTo>
                <a:cubicBezTo>
                  <a:pt x="73" y="52"/>
                  <a:pt x="74" y="51"/>
                  <a:pt x="74" y="51"/>
                </a:cubicBezTo>
                <a:cubicBezTo>
                  <a:pt x="74" y="49"/>
                  <a:pt x="73" y="46"/>
                  <a:pt x="72" y="45"/>
                </a:cubicBezTo>
                <a:cubicBezTo>
                  <a:pt x="72" y="45"/>
                  <a:pt x="72" y="45"/>
                  <a:pt x="72" y="45"/>
                </a:cubicBezTo>
                <a:cubicBezTo>
                  <a:pt x="71" y="43"/>
                  <a:pt x="69" y="41"/>
                  <a:pt x="70" y="38"/>
                </a:cubicBezTo>
                <a:cubicBezTo>
                  <a:pt x="70" y="38"/>
                  <a:pt x="70" y="38"/>
                  <a:pt x="70" y="37"/>
                </a:cubicBezTo>
                <a:cubicBezTo>
                  <a:pt x="71" y="37"/>
                  <a:pt x="71" y="37"/>
                  <a:pt x="71" y="37"/>
                </a:cubicBezTo>
                <a:cubicBezTo>
                  <a:pt x="71" y="36"/>
                  <a:pt x="72" y="35"/>
                  <a:pt x="73" y="35"/>
                </a:cubicBezTo>
                <a:cubicBezTo>
                  <a:pt x="73" y="34"/>
                  <a:pt x="73" y="34"/>
                  <a:pt x="73" y="34"/>
                </a:cubicBezTo>
                <a:cubicBezTo>
                  <a:pt x="73" y="33"/>
                  <a:pt x="74" y="33"/>
                  <a:pt x="74" y="33"/>
                </a:cubicBezTo>
                <a:cubicBezTo>
                  <a:pt x="74" y="31"/>
                  <a:pt x="76" y="31"/>
                  <a:pt x="77" y="30"/>
                </a:cubicBezTo>
                <a:cubicBezTo>
                  <a:pt x="77" y="30"/>
                  <a:pt x="76" y="30"/>
                  <a:pt x="76" y="30"/>
                </a:cubicBezTo>
                <a:cubicBezTo>
                  <a:pt x="76" y="29"/>
                  <a:pt x="77" y="30"/>
                  <a:pt x="78" y="29"/>
                </a:cubicBezTo>
                <a:cubicBezTo>
                  <a:pt x="78" y="28"/>
                  <a:pt x="77" y="28"/>
                  <a:pt x="78" y="28"/>
                </a:cubicBezTo>
                <a:cubicBezTo>
                  <a:pt x="77" y="28"/>
                  <a:pt x="77" y="27"/>
                  <a:pt x="77" y="26"/>
                </a:cubicBezTo>
                <a:cubicBezTo>
                  <a:pt x="76" y="26"/>
                  <a:pt x="76" y="26"/>
                  <a:pt x="76" y="26"/>
                </a:cubicBezTo>
                <a:cubicBezTo>
                  <a:pt x="76" y="24"/>
                  <a:pt x="74" y="23"/>
                  <a:pt x="75" y="21"/>
                </a:cubicBezTo>
                <a:cubicBezTo>
                  <a:pt x="75" y="22"/>
                  <a:pt x="75" y="23"/>
                  <a:pt x="76" y="24"/>
                </a:cubicBezTo>
                <a:cubicBezTo>
                  <a:pt x="76" y="24"/>
                  <a:pt x="76" y="24"/>
                  <a:pt x="76" y="24"/>
                </a:cubicBezTo>
                <a:cubicBezTo>
                  <a:pt x="77" y="23"/>
                  <a:pt x="76" y="25"/>
                  <a:pt x="76" y="26"/>
                </a:cubicBezTo>
                <a:cubicBezTo>
                  <a:pt x="77" y="25"/>
                  <a:pt x="77" y="24"/>
                  <a:pt x="77" y="22"/>
                </a:cubicBezTo>
                <a:cubicBezTo>
                  <a:pt x="77" y="22"/>
                  <a:pt x="76" y="22"/>
                  <a:pt x="76" y="21"/>
                </a:cubicBezTo>
                <a:cubicBezTo>
                  <a:pt x="77" y="21"/>
                  <a:pt x="77" y="21"/>
                  <a:pt x="77" y="22"/>
                </a:cubicBezTo>
                <a:cubicBezTo>
                  <a:pt x="78" y="21"/>
                  <a:pt x="78" y="20"/>
                  <a:pt x="78" y="19"/>
                </a:cubicBezTo>
                <a:cubicBezTo>
                  <a:pt x="78" y="19"/>
                  <a:pt x="78" y="18"/>
                  <a:pt x="78" y="18"/>
                </a:cubicBezTo>
                <a:cubicBezTo>
                  <a:pt x="78" y="16"/>
                  <a:pt x="80" y="16"/>
                  <a:pt x="82" y="15"/>
                </a:cubicBezTo>
                <a:cubicBezTo>
                  <a:pt x="82" y="15"/>
                  <a:pt x="82" y="15"/>
                  <a:pt x="82" y="14"/>
                </a:cubicBezTo>
                <a:cubicBezTo>
                  <a:pt x="82" y="15"/>
                  <a:pt x="82" y="15"/>
                  <a:pt x="82" y="15"/>
                </a:cubicBezTo>
                <a:cubicBezTo>
                  <a:pt x="83" y="15"/>
                  <a:pt x="83" y="14"/>
                  <a:pt x="83" y="14"/>
                </a:cubicBezTo>
                <a:cubicBezTo>
                  <a:pt x="83" y="14"/>
                  <a:pt x="83" y="14"/>
                  <a:pt x="83" y="13"/>
                </a:cubicBezTo>
                <a:cubicBezTo>
                  <a:pt x="82" y="14"/>
                  <a:pt x="83" y="14"/>
                  <a:pt x="83" y="14"/>
                </a:cubicBezTo>
                <a:cubicBezTo>
                  <a:pt x="82" y="14"/>
                  <a:pt x="82" y="13"/>
                  <a:pt x="82" y="13"/>
                </a:cubicBezTo>
                <a:cubicBezTo>
                  <a:pt x="82" y="12"/>
                  <a:pt x="82" y="11"/>
                  <a:pt x="82" y="10"/>
                </a:cubicBezTo>
                <a:cubicBezTo>
                  <a:pt x="83" y="10"/>
                  <a:pt x="84" y="9"/>
                  <a:pt x="84" y="8"/>
                </a:cubicBezTo>
                <a:cubicBezTo>
                  <a:pt x="84" y="8"/>
                  <a:pt x="84" y="9"/>
                  <a:pt x="84" y="9"/>
                </a:cubicBezTo>
                <a:cubicBezTo>
                  <a:pt x="84" y="8"/>
                  <a:pt x="85" y="8"/>
                  <a:pt x="84" y="8"/>
                </a:cubicBezTo>
                <a:cubicBezTo>
                  <a:pt x="85" y="8"/>
                  <a:pt x="86" y="8"/>
                  <a:pt x="86" y="7"/>
                </a:cubicBezTo>
                <a:cubicBezTo>
                  <a:pt x="86" y="6"/>
                  <a:pt x="85" y="6"/>
                  <a:pt x="85" y="6"/>
                </a:cubicBezTo>
                <a:close/>
                <a:moveTo>
                  <a:pt x="83" y="9"/>
                </a:moveTo>
                <a:cubicBezTo>
                  <a:pt x="83" y="9"/>
                  <a:pt x="83" y="9"/>
                  <a:pt x="83" y="8"/>
                </a:cubicBezTo>
                <a:cubicBezTo>
                  <a:pt x="84" y="8"/>
                  <a:pt x="84" y="9"/>
                  <a:pt x="83" y="9"/>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815">
            <a:extLst>
              <a:ext uri="{FF2B5EF4-FFF2-40B4-BE49-F238E27FC236}">
                <a16:creationId xmlns:a16="http://schemas.microsoft.com/office/drawing/2014/main" id="{1BF475FA-AC19-4968-8602-066C86AA390A}"/>
              </a:ext>
            </a:extLst>
          </p:cNvPr>
          <p:cNvSpPr>
            <a:spLocks noChangeAspect="1"/>
          </p:cNvSpPr>
          <p:nvPr/>
        </p:nvSpPr>
        <p:spPr bwMode="auto">
          <a:xfrm>
            <a:off x="1604107" y="5550175"/>
            <a:ext cx="426834" cy="274320"/>
          </a:xfrm>
          <a:custGeom>
            <a:avLst/>
            <a:gdLst>
              <a:gd name="T0" fmla="*/ 73 w 84"/>
              <a:gd name="T1" fmla="*/ 28 h 54"/>
              <a:gd name="T2" fmla="*/ 79 w 84"/>
              <a:gd name="T3" fmla="*/ 29 h 54"/>
              <a:gd name="T4" fmla="*/ 79 w 84"/>
              <a:gd name="T5" fmla="*/ 30 h 54"/>
              <a:gd name="T6" fmla="*/ 78 w 84"/>
              <a:gd name="T7" fmla="*/ 29 h 54"/>
              <a:gd name="T8" fmla="*/ 74 w 84"/>
              <a:gd name="T9" fmla="*/ 31 h 54"/>
              <a:gd name="T10" fmla="*/ 73 w 84"/>
              <a:gd name="T11" fmla="*/ 33 h 54"/>
              <a:gd name="T12" fmla="*/ 70 w 84"/>
              <a:gd name="T13" fmla="*/ 35 h 54"/>
              <a:gd name="T14" fmla="*/ 69 w 84"/>
              <a:gd name="T15" fmla="*/ 35 h 54"/>
              <a:gd name="T16" fmla="*/ 69 w 84"/>
              <a:gd name="T17" fmla="*/ 38 h 54"/>
              <a:gd name="T18" fmla="*/ 67 w 84"/>
              <a:gd name="T19" fmla="*/ 40 h 54"/>
              <a:gd name="T20" fmla="*/ 65 w 84"/>
              <a:gd name="T21" fmla="*/ 47 h 54"/>
              <a:gd name="T22" fmla="*/ 62 w 84"/>
              <a:gd name="T23" fmla="*/ 43 h 54"/>
              <a:gd name="T24" fmla="*/ 59 w 84"/>
              <a:gd name="T25" fmla="*/ 43 h 54"/>
              <a:gd name="T26" fmla="*/ 55 w 84"/>
              <a:gd name="T27" fmla="*/ 43 h 54"/>
              <a:gd name="T28" fmla="*/ 53 w 84"/>
              <a:gd name="T29" fmla="*/ 47 h 54"/>
              <a:gd name="T30" fmla="*/ 60 w 84"/>
              <a:gd name="T31" fmla="*/ 51 h 54"/>
              <a:gd name="T32" fmla="*/ 48 w 84"/>
              <a:gd name="T33" fmla="*/ 51 h 54"/>
              <a:gd name="T34" fmla="*/ 40 w 84"/>
              <a:gd name="T35" fmla="*/ 41 h 54"/>
              <a:gd name="T36" fmla="*/ 40 w 84"/>
              <a:gd name="T37" fmla="*/ 44 h 54"/>
              <a:gd name="T38" fmla="*/ 35 w 84"/>
              <a:gd name="T39" fmla="*/ 36 h 54"/>
              <a:gd name="T40" fmla="*/ 33 w 84"/>
              <a:gd name="T41" fmla="*/ 28 h 54"/>
              <a:gd name="T42" fmla="*/ 33 w 84"/>
              <a:gd name="T43" fmla="*/ 25 h 54"/>
              <a:gd name="T44" fmla="*/ 31 w 84"/>
              <a:gd name="T45" fmla="*/ 24 h 54"/>
              <a:gd name="T46" fmla="*/ 31 w 84"/>
              <a:gd name="T47" fmla="*/ 23 h 54"/>
              <a:gd name="T48" fmla="*/ 29 w 84"/>
              <a:gd name="T49" fmla="*/ 21 h 54"/>
              <a:gd name="T50" fmla="*/ 28 w 84"/>
              <a:gd name="T51" fmla="*/ 20 h 54"/>
              <a:gd name="T52" fmla="*/ 26 w 84"/>
              <a:gd name="T53" fmla="*/ 17 h 54"/>
              <a:gd name="T54" fmla="*/ 24 w 84"/>
              <a:gd name="T55" fmla="*/ 16 h 54"/>
              <a:gd name="T56" fmla="*/ 17 w 84"/>
              <a:gd name="T57" fmla="*/ 14 h 54"/>
              <a:gd name="T58" fmla="*/ 13 w 84"/>
              <a:gd name="T59" fmla="*/ 15 h 54"/>
              <a:gd name="T60" fmla="*/ 12 w 84"/>
              <a:gd name="T61" fmla="*/ 13 h 54"/>
              <a:gd name="T62" fmla="*/ 8 w 84"/>
              <a:gd name="T63" fmla="*/ 18 h 54"/>
              <a:gd name="T64" fmla="*/ 5 w 84"/>
              <a:gd name="T65" fmla="*/ 19 h 54"/>
              <a:gd name="T66" fmla="*/ 6 w 84"/>
              <a:gd name="T67" fmla="*/ 16 h 54"/>
              <a:gd name="T68" fmla="*/ 3 w 84"/>
              <a:gd name="T69" fmla="*/ 14 h 54"/>
              <a:gd name="T70" fmla="*/ 4 w 84"/>
              <a:gd name="T71" fmla="*/ 10 h 54"/>
              <a:gd name="T72" fmla="*/ 1 w 84"/>
              <a:gd name="T73" fmla="*/ 9 h 54"/>
              <a:gd name="T74" fmla="*/ 5 w 84"/>
              <a:gd name="T75" fmla="*/ 7 h 54"/>
              <a:gd name="T76" fmla="*/ 5 w 84"/>
              <a:gd name="T77" fmla="*/ 2 h 54"/>
              <a:gd name="T78" fmla="*/ 12 w 84"/>
              <a:gd name="T79" fmla="*/ 1 h 54"/>
              <a:gd name="T80" fmla="*/ 26 w 84"/>
              <a:gd name="T81" fmla="*/ 3 h 54"/>
              <a:gd name="T82" fmla="*/ 29 w 84"/>
              <a:gd name="T83" fmla="*/ 2 h 54"/>
              <a:gd name="T84" fmla="*/ 33 w 84"/>
              <a:gd name="T85" fmla="*/ 3 h 54"/>
              <a:gd name="T86" fmla="*/ 45 w 84"/>
              <a:gd name="T87" fmla="*/ 6 h 54"/>
              <a:gd name="T88" fmla="*/ 47 w 84"/>
              <a:gd name="T89" fmla="*/ 4 h 54"/>
              <a:gd name="T90" fmla="*/ 54 w 84"/>
              <a:gd name="T91" fmla="*/ 5 h 54"/>
              <a:gd name="T92" fmla="*/ 55 w 84"/>
              <a:gd name="T93" fmla="*/ 4 h 54"/>
              <a:gd name="T94" fmla="*/ 55 w 84"/>
              <a:gd name="T95" fmla="*/ 0 h 54"/>
              <a:gd name="T96" fmla="*/ 59 w 84"/>
              <a:gd name="T97" fmla="*/ 3 h 54"/>
              <a:gd name="T98" fmla="*/ 63 w 84"/>
              <a:gd name="T99" fmla="*/ 2 h 54"/>
              <a:gd name="T100" fmla="*/ 62 w 84"/>
              <a:gd name="T101" fmla="*/ 6 h 54"/>
              <a:gd name="T102" fmla="*/ 61 w 84"/>
              <a:gd name="T103" fmla="*/ 9 h 54"/>
              <a:gd name="T104" fmla="*/ 57 w 84"/>
              <a:gd name="T105" fmla="*/ 10 h 54"/>
              <a:gd name="T106" fmla="*/ 55 w 84"/>
              <a:gd name="T107" fmla="*/ 15 h 54"/>
              <a:gd name="T108" fmla="*/ 64 w 84"/>
              <a:gd name="T109" fmla="*/ 20 h 54"/>
              <a:gd name="T110" fmla="*/ 67 w 84"/>
              <a:gd name="T111" fmla="*/ 21 h 54"/>
              <a:gd name="T112" fmla="*/ 68 w 84"/>
              <a:gd name="T113" fmla="*/ 12 h 54"/>
              <a:gd name="T114" fmla="*/ 74 w 84"/>
              <a:gd name="T115" fmla="*/ 14 h 54"/>
              <a:gd name="T116" fmla="*/ 76 w 84"/>
              <a:gd name="T117" fmla="*/ 16 h 54"/>
              <a:gd name="T118" fmla="*/ 78 w 84"/>
              <a:gd name="T119" fmla="*/ 15 h 54"/>
              <a:gd name="T120" fmla="*/ 80 w 84"/>
              <a:gd name="T121" fmla="*/ 19 h 54"/>
              <a:gd name="T122" fmla="*/ 81 w 84"/>
              <a:gd name="T123" fmla="*/ 2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4" h="54">
                <a:moveTo>
                  <a:pt x="84" y="23"/>
                </a:moveTo>
                <a:cubicBezTo>
                  <a:pt x="84" y="23"/>
                  <a:pt x="84" y="23"/>
                  <a:pt x="84" y="23"/>
                </a:cubicBezTo>
                <a:cubicBezTo>
                  <a:pt x="84" y="23"/>
                  <a:pt x="84" y="23"/>
                  <a:pt x="84" y="23"/>
                </a:cubicBezTo>
                <a:cubicBezTo>
                  <a:pt x="84" y="23"/>
                  <a:pt x="83" y="23"/>
                  <a:pt x="83" y="23"/>
                </a:cubicBezTo>
                <a:cubicBezTo>
                  <a:pt x="83" y="23"/>
                  <a:pt x="83" y="23"/>
                  <a:pt x="83" y="23"/>
                </a:cubicBezTo>
                <a:cubicBezTo>
                  <a:pt x="83" y="23"/>
                  <a:pt x="83" y="23"/>
                  <a:pt x="83" y="23"/>
                </a:cubicBezTo>
                <a:cubicBezTo>
                  <a:pt x="83" y="23"/>
                  <a:pt x="83" y="23"/>
                  <a:pt x="83" y="23"/>
                </a:cubicBezTo>
                <a:cubicBezTo>
                  <a:pt x="83" y="24"/>
                  <a:pt x="83" y="24"/>
                  <a:pt x="83" y="24"/>
                </a:cubicBezTo>
                <a:cubicBezTo>
                  <a:pt x="83" y="24"/>
                  <a:pt x="82" y="24"/>
                  <a:pt x="82" y="24"/>
                </a:cubicBezTo>
                <a:cubicBezTo>
                  <a:pt x="82" y="24"/>
                  <a:pt x="82" y="24"/>
                  <a:pt x="82" y="24"/>
                </a:cubicBezTo>
                <a:cubicBezTo>
                  <a:pt x="82" y="24"/>
                  <a:pt x="82" y="24"/>
                  <a:pt x="82" y="24"/>
                </a:cubicBezTo>
                <a:cubicBezTo>
                  <a:pt x="82" y="24"/>
                  <a:pt x="82" y="24"/>
                  <a:pt x="82" y="24"/>
                </a:cubicBezTo>
                <a:cubicBezTo>
                  <a:pt x="82" y="24"/>
                  <a:pt x="82" y="24"/>
                  <a:pt x="82" y="24"/>
                </a:cubicBezTo>
                <a:cubicBezTo>
                  <a:pt x="82" y="24"/>
                  <a:pt x="82" y="24"/>
                  <a:pt x="81" y="24"/>
                </a:cubicBezTo>
                <a:cubicBezTo>
                  <a:pt x="81" y="24"/>
                  <a:pt x="81" y="24"/>
                  <a:pt x="81" y="24"/>
                </a:cubicBezTo>
                <a:cubicBezTo>
                  <a:pt x="81" y="25"/>
                  <a:pt x="81" y="25"/>
                  <a:pt x="81" y="25"/>
                </a:cubicBezTo>
                <a:cubicBezTo>
                  <a:pt x="81" y="25"/>
                  <a:pt x="81" y="25"/>
                  <a:pt x="80" y="25"/>
                </a:cubicBezTo>
                <a:cubicBezTo>
                  <a:pt x="80" y="25"/>
                  <a:pt x="80" y="25"/>
                  <a:pt x="80" y="25"/>
                </a:cubicBezTo>
                <a:cubicBezTo>
                  <a:pt x="79" y="25"/>
                  <a:pt x="79" y="25"/>
                  <a:pt x="79" y="25"/>
                </a:cubicBezTo>
                <a:cubicBezTo>
                  <a:pt x="79" y="25"/>
                  <a:pt x="79" y="25"/>
                  <a:pt x="79" y="25"/>
                </a:cubicBezTo>
                <a:cubicBezTo>
                  <a:pt x="79" y="25"/>
                  <a:pt x="78" y="25"/>
                  <a:pt x="77" y="25"/>
                </a:cubicBezTo>
                <a:cubicBezTo>
                  <a:pt x="77" y="25"/>
                  <a:pt x="76" y="25"/>
                  <a:pt x="76" y="25"/>
                </a:cubicBezTo>
                <a:cubicBezTo>
                  <a:pt x="76" y="25"/>
                  <a:pt x="76" y="25"/>
                  <a:pt x="76" y="25"/>
                </a:cubicBezTo>
                <a:cubicBezTo>
                  <a:pt x="76" y="25"/>
                  <a:pt x="76" y="25"/>
                  <a:pt x="76" y="25"/>
                </a:cubicBezTo>
                <a:cubicBezTo>
                  <a:pt x="76" y="25"/>
                  <a:pt x="76" y="25"/>
                  <a:pt x="76" y="25"/>
                </a:cubicBezTo>
                <a:cubicBezTo>
                  <a:pt x="76" y="25"/>
                  <a:pt x="76" y="25"/>
                  <a:pt x="76" y="25"/>
                </a:cubicBezTo>
                <a:cubicBezTo>
                  <a:pt x="76" y="26"/>
                  <a:pt x="76" y="26"/>
                  <a:pt x="76" y="26"/>
                </a:cubicBezTo>
                <a:cubicBezTo>
                  <a:pt x="75" y="26"/>
                  <a:pt x="75" y="26"/>
                  <a:pt x="75" y="26"/>
                </a:cubicBezTo>
                <a:cubicBezTo>
                  <a:pt x="75" y="26"/>
                  <a:pt x="75" y="26"/>
                  <a:pt x="75" y="26"/>
                </a:cubicBezTo>
                <a:cubicBezTo>
                  <a:pt x="75" y="26"/>
                  <a:pt x="75" y="26"/>
                  <a:pt x="75" y="26"/>
                </a:cubicBezTo>
                <a:cubicBezTo>
                  <a:pt x="74" y="26"/>
                  <a:pt x="74" y="26"/>
                  <a:pt x="74" y="26"/>
                </a:cubicBezTo>
                <a:cubicBezTo>
                  <a:pt x="74" y="26"/>
                  <a:pt x="74" y="26"/>
                  <a:pt x="74" y="26"/>
                </a:cubicBezTo>
                <a:cubicBezTo>
                  <a:pt x="74" y="26"/>
                  <a:pt x="74" y="26"/>
                  <a:pt x="74" y="26"/>
                </a:cubicBezTo>
                <a:cubicBezTo>
                  <a:pt x="74" y="27"/>
                  <a:pt x="74" y="27"/>
                  <a:pt x="74" y="27"/>
                </a:cubicBezTo>
                <a:cubicBezTo>
                  <a:pt x="74" y="27"/>
                  <a:pt x="74" y="27"/>
                  <a:pt x="74" y="27"/>
                </a:cubicBezTo>
                <a:cubicBezTo>
                  <a:pt x="73" y="27"/>
                  <a:pt x="73" y="27"/>
                  <a:pt x="73" y="27"/>
                </a:cubicBezTo>
                <a:cubicBezTo>
                  <a:pt x="73" y="27"/>
                  <a:pt x="73" y="27"/>
                  <a:pt x="73" y="27"/>
                </a:cubicBezTo>
                <a:cubicBezTo>
                  <a:pt x="74" y="27"/>
                  <a:pt x="74" y="27"/>
                  <a:pt x="74" y="27"/>
                </a:cubicBezTo>
                <a:cubicBezTo>
                  <a:pt x="74" y="27"/>
                  <a:pt x="74" y="27"/>
                  <a:pt x="74" y="27"/>
                </a:cubicBezTo>
                <a:cubicBezTo>
                  <a:pt x="74" y="27"/>
                  <a:pt x="73" y="27"/>
                  <a:pt x="73" y="27"/>
                </a:cubicBezTo>
                <a:cubicBezTo>
                  <a:pt x="73" y="28"/>
                  <a:pt x="73" y="28"/>
                  <a:pt x="73" y="28"/>
                </a:cubicBezTo>
                <a:cubicBezTo>
                  <a:pt x="73" y="28"/>
                  <a:pt x="73" y="28"/>
                  <a:pt x="73" y="28"/>
                </a:cubicBezTo>
                <a:cubicBezTo>
                  <a:pt x="73" y="28"/>
                  <a:pt x="73" y="28"/>
                  <a:pt x="73" y="28"/>
                </a:cubicBezTo>
                <a:cubicBezTo>
                  <a:pt x="73" y="28"/>
                  <a:pt x="73" y="28"/>
                  <a:pt x="73" y="28"/>
                </a:cubicBezTo>
                <a:cubicBezTo>
                  <a:pt x="73" y="28"/>
                  <a:pt x="73" y="28"/>
                  <a:pt x="73" y="27"/>
                </a:cubicBezTo>
                <a:cubicBezTo>
                  <a:pt x="73" y="27"/>
                  <a:pt x="74" y="27"/>
                  <a:pt x="74" y="27"/>
                </a:cubicBezTo>
                <a:cubicBezTo>
                  <a:pt x="74" y="27"/>
                  <a:pt x="75" y="26"/>
                  <a:pt x="76" y="26"/>
                </a:cubicBezTo>
                <a:cubicBezTo>
                  <a:pt x="76" y="26"/>
                  <a:pt x="77" y="26"/>
                  <a:pt x="77" y="26"/>
                </a:cubicBezTo>
                <a:cubicBezTo>
                  <a:pt x="77" y="26"/>
                  <a:pt x="77" y="26"/>
                  <a:pt x="78" y="26"/>
                </a:cubicBezTo>
                <a:cubicBezTo>
                  <a:pt x="78" y="26"/>
                  <a:pt x="78" y="26"/>
                  <a:pt x="78" y="26"/>
                </a:cubicBezTo>
                <a:cubicBezTo>
                  <a:pt x="78" y="26"/>
                  <a:pt x="78" y="26"/>
                  <a:pt x="78" y="26"/>
                </a:cubicBezTo>
                <a:cubicBezTo>
                  <a:pt x="78" y="26"/>
                  <a:pt x="78" y="26"/>
                  <a:pt x="78" y="26"/>
                </a:cubicBezTo>
                <a:cubicBezTo>
                  <a:pt x="78" y="26"/>
                  <a:pt x="78" y="26"/>
                  <a:pt x="78" y="26"/>
                </a:cubicBezTo>
                <a:cubicBezTo>
                  <a:pt x="78" y="26"/>
                  <a:pt x="78" y="27"/>
                  <a:pt x="77" y="27"/>
                </a:cubicBezTo>
                <a:cubicBezTo>
                  <a:pt x="77" y="27"/>
                  <a:pt x="77" y="27"/>
                  <a:pt x="77" y="27"/>
                </a:cubicBezTo>
                <a:cubicBezTo>
                  <a:pt x="77" y="27"/>
                  <a:pt x="77" y="27"/>
                  <a:pt x="77" y="27"/>
                </a:cubicBezTo>
                <a:cubicBezTo>
                  <a:pt x="77" y="27"/>
                  <a:pt x="77" y="27"/>
                  <a:pt x="76" y="27"/>
                </a:cubicBezTo>
                <a:cubicBezTo>
                  <a:pt x="76" y="27"/>
                  <a:pt x="76" y="27"/>
                  <a:pt x="76" y="27"/>
                </a:cubicBezTo>
                <a:cubicBezTo>
                  <a:pt x="76" y="27"/>
                  <a:pt x="76" y="27"/>
                  <a:pt x="76" y="27"/>
                </a:cubicBezTo>
                <a:cubicBezTo>
                  <a:pt x="76" y="27"/>
                  <a:pt x="76" y="27"/>
                  <a:pt x="77" y="27"/>
                </a:cubicBezTo>
                <a:cubicBezTo>
                  <a:pt x="77" y="27"/>
                  <a:pt x="77" y="27"/>
                  <a:pt x="77" y="27"/>
                </a:cubicBezTo>
                <a:cubicBezTo>
                  <a:pt x="77" y="27"/>
                  <a:pt x="77" y="27"/>
                  <a:pt x="77" y="27"/>
                </a:cubicBezTo>
                <a:cubicBezTo>
                  <a:pt x="77" y="27"/>
                  <a:pt x="77" y="27"/>
                  <a:pt x="77" y="27"/>
                </a:cubicBezTo>
                <a:cubicBezTo>
                  <a:pt x="77" y="27"/>
                  <a:pt x="77" y="27"/>
                  <a:pt x="77" y="27"/>
                </a:cubicBezTo>
                <a:cubicBezTo>
                  <a:pt x="77" y="27"/>
                  <a:pt x="77" y="27"/>
                  <a:pt x="77" y="27"/>
                </a:cubicBezTo>
                <a:cubicBezTo>
                  <a:pt x="77" y="27"/>
                  <a:pt x="77" y="27"/>
                  <a:pt x="77" y="27"/>
                </a:cubicBezTo>
                <a:cubicBezTo>
                  <a:pt x="77" y="27"/>
                  <a:pt x="77" y="28"/>
                  <a:pt x="77" y="28"/>
                </a:cubicBezTo>
                <a:cubicBezTo>
                  <a:pt x="77" y="28"/>
                  <a:pt x="77" y="28"/>
                  <a:pt x="77" y="28"/>
                </a:cubicBezTo>
                <a:cubicBezTo>
                  <a:pt x="77" y="28"/>
                  <a:pt x="77" y="28"/>
                  <a:pt x="77" y="28"/>
                </a:cubicBezTo>
                <a:cubicBezTo>
                  <a:pt x="77" y="28"/>
                  <a:pt x="77" y="28"/>
                  <a:pt x="77" y="28"/>
                </a:cubicBezTo>
                <a:cubicBezTo>
                  <a:pt x="77" y="28"/>
                  <a:pt x="77" y="28"/>
                  <a:pt x="78" y="28"/>
                </a:cubicBezTo>
                <a:cubicBezTo>
                  <a:pt x="78" y="28"/>
                  <a:pt x="78" y="28"/>
                  <a:pt x="78" y="28"/>
                </a:cubicBezTo>
                <a:cubicBezTo>
                  <a:pt x="78" y="28"/>
                  <a:pt x="78" y="29"/>
                  <a:pt x="78" y="29"/>
                </a:cubicBezTo>
                <a:cubicBezTo>
                  <a:pt x="78" y="29"/>
                  <a:pt x="78" y="29"/>
                  <a:pt x="78" y="29"/>
                </a:cubicBezTo>
                <a:cubicBezTo>
                  <a:pt x="78" y="29"/>
                  <a:pt x="78" y="29"/>
                  <a:pt x="78" y="29"/>
                </a:cubicBezTo>
                <a:cubicBezTo>
                  <a:pt x="78" y="29"/>
                  <a:pt x="78" y="29"/>
                  <a:pt x="78" y="29"/>
                </a:cubicBezTo>
                <a:cubicBezTo>
                  <a:pt x="78" y="29"/>
                  <a:pt x="79" y="29"/>
                  <a:pt x="79" y="29"/>
                </a:cubicBezTo>
                <a:cubicBezTo>
                  <a:pt x="79" y="29"/>
                  <a:pt x="79" y="29"/>
                  <a:pt x="79" y="29"/>
                </a:cubicBezTo>
                <a:cubicBezTo>
                  <a:pt x="79" y="29"/>
                  <a:pt x="79" y="29"/>
                  <a:pt x="79" y="29"/>
                </a:cubicBezTo>
                <a:cubicBezTo>
                  <a:pt x="79" y="29"/>
                  <a:pt x="79" y="29"/>
                  <a:pt x="79" y="29"/>
                </a:cubicBezTo>
                <a:cubicBezTo>
                  <a:pt x="79" y="29"/>
                  <a:pt x="79" y="29"/>
                  <a:pt x="79" y="29"/>
                </a:cubicBezTo>
                <a:cubicBezTo>
                  <a:pt x="79" y="29"/>
                  <a:pt x="79" y="29"/>
                  <a:pt x="79"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8"/>
                </a:cubicBezTo>
                <a:cubicBezTo>
                  <a:pt x="80" y="28"/>
                  <a:pt x="80" y="28"/>
                  <a:pt x="80" y="28"/>
                </a:cubicBezTo>
                <a:cubicBezTo>
                  <a:pt x="81" y="28"/>
                  <a:pt x="81" y="28"/>
                  <a:pt x="81" y="28"/>
                </a:cubicBezTo>
                <a:cubicBezTo>
                  <a:pt x="81" y="28"/>
                  <a:pt x="81" y="28"/>
                  <a:pt x="81" y="28"/>
                </a:cubicBezTo>
                <a:cubicBezTo>
                  <a:pt x="81" y="28"/>
                  <a:pt x="81" y="28"/>
                  <a:pt x="81" y="28"/>
                </a:cubicBezTo>
                <a:cubicBezTo>
                  <a:pt x="81" y="28"/>
                  <a:pt x="81" y="28"/>
                  <a:pt x="81" y="28"/>
                </a:cubicBezTo>
                <a:cubicBezTo>
                  <a:pt x="81" y="28"/>
                  <a:pt x="81" y="28"/>
                  <a:pt x="81" y="28"/>
                </a:cubicBezTo>
                <a:cubicBezTo>
                  <a:pt x="81" y="28"/>
                  <a:pt x="81" y="28"/>
                  <a:pt x="81" y="28"/>
                </a:cubicBezTo>
                <a:cubicBezTo>
                  <a:pt x="81" y="28"/>
                  <a:pt x="81" y="28"/>
                  <a:pt x="81" y="28"/>
                </a:cubicBezTo>
                <a:cubicBezTo>
                  <a:pt x="81" y="28"/>
                  <a:pt x="81" y="28"/>
                  <a:pt x="81" y="28"/>
                </a:cubicBezTo>
                <a:cubicBezTo>
                  <a:pt x="81" y="28"/>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30"/>
                  <a:pt x="80" y="30"/>
                </a:cubicBezTo>
                <a:cubicBezTo>
                  <a:pt x="80" y="30"/>
                  <a:pt x="80" y="30"/>
                  <a:pt x="80" y="30"/>
                </a:cubicBezTo>
                <a:cubicBezTo>
                  <a:pt x="80"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0"/>
                  <a:pt x="78" y="30"/>
                  <a:pt x="78" y="30"/>
                </a:cubicBezTo>
                <a:cubicBezTo>
                  <a:pt x="78" y="31"/>
                  <a:pt x="78" y="31"/>
                  <a:pt x="78" y="31"/>
                </a:cubicBezTo>
                <a:cubicBezTo>
                  <a:pt x="78" y="31"/>
                  <a:pt x="77" y="31"/>
                  <a:pt x="77" y="31"/>
                </a:cubicBezTo>
                <a:cubicBezTo>
                  <a:pt x="77" y="31"/>
                  <a:pt x="77" y="31"/>
                  <a:pt x="77" y="31"/>
                </a:cubicBezTo>
                <a:cubicBezTo>
                  <a:pt x="77" y="31"/>
                  <a:pt x="77" y="31"/>
                  <a:pt x="77" y="31"/>
                </a:cubicBezTo>
                <a:cubicBezTo>
                  <a:pt x="77" y="31"/>
                  <a:pt x="77" y="31"/>
                  <a:pt x="77" y="31"/>
                </a:cubicBezTo>
                <a:cubicBezTo>
                  <a:pt x="77" y="31"/>
                  <a:pt x="77" y="31"/>
                  <a:pt x="77" y="31"/>
                </a:cubicBezTo>
                <a:cubicBezTo>
                  <a:pt x="77" y="31"/>
                  <a:pt x="77" y="31"/>
                  <a:pt x="77" y="31"/>
                </a:cubicBezTo>
                <a:cubicBezTo>
                  <a:pt x="77" y="31"/>
                  <a:pt x="76" y="31"/>
                  <a:pt x="76" y="31"/>
                </a:cubicBezTo>
                <a:cubicBezTo>
                  <a:pt x="76" y="31"/>
                  <a:pt x="76" y="31"/>
                  <a:pt x="76" y="31"/>
                </a:cubicBezTo>
                <a:cubicBezTo>
                  <a:pt x="76" y="30"/>
                  <a:pt x="76" y="30"/>
                  <a:pt x="76" y="30"/>
                </a:cubicBezTo>
                <a:cubicBezTo>
                  <a:pt x="76" y="30"/>
                  <a:pt x="76" y="30"/>
                  <a:pt x="76" y="30"/>
                </a:cubicBezTo>
                <a:cubicBezTo>
                  <a:pt x="76" y="30"/>
                  <a:pt x="77" y="30"/>
                  <a:pt x="77" y="30"/>
                </a:cubicBezTo>
                <a:cubicBezTo>
                  <a:pt x="77" y="30"/>
                  <a:pt x="77" y="30"/>
                  <a:pt x="77" y="30"/>
                </a:cubicBezTo>
                <a:cubicBezTo>
                  <a:pt x="77" y="30"/>
                  <a:pt x="77" y="30"/>
                  <a:pt x="77" y="30"/>
                </a:cubicBezTo>
                <a:cubicBezTo>
                  <a:pt x="77" y="30"/>
                  <a:pt x="77" y="30"/>
                  <a:pt x="77" y="30"/>
                </a:cubicBezTo>
                <a:cubicBezTo>
                  <a:pt x="78" y="29"/>
                  <a:pt x="78" y="29"/>
                  <a:pt x="78" y="29"/>
                </a:cubicBezTo>
                <a:cubicBezTo>
                  <a:pt x="78" y="29"/>
                  <a:pt x="78" y="29"/>
                  <a:pt x="78" y="29"/>
                </a:cubicBezTo>
                <a:cubicBezTo>
                  <a:pt x="78" y="29"/>
                  <a:pt x="78" y="29"/>
                  <a:pt x="78" y="29"/>
                </a:cubicBezTo>
                <a:cubicBezTo>
                  <a:pt x="78" y="30"/>
                  <a:pt x="78" y="30"/>
                  <a:pt x="78" y="30"/>
                </a:cubicBezTo>
                <a:cubicBezTo>
                  <a:pt x="78" y="30"/>
                  <a:pt x="78" y="30"/>
                  <a:pt x="78" y="30"/>
                </a:cubicBezTo>
                <a:cubicBezTo>
                  <a:pt x="78" y="29"/>
                  <a:pt x="78" y="29"/>
                  <a:pt x="78" y="29"/>
                </a:cubicBezTo>
                <a:cubicBezTo>
                  <a:pt x="78" y="29"/>
                  <a:pt x="78" y="29"/>
                  <a:pt x="78" y="29"/>
                </a:cubicBezTo>
                <a:cubicBezTo>
                  <a:pt x="78" y="29"/>
                  <a:pt x="78" y="29"/>
                  <a:pt x="78" y="29"/>
                </a:cubicBezTo>
                <a:cubicBezTo>
                  <a:pt x="78" y="29"/>
                  <a:pt x="78" y="29"/>
                  <a:pt x="78" y="29"/>
                </a:cubicBezTo>
                <a:cubicBezTo>
                  <a:pt x="78" y="29"/>
                  <a:pt x="77" y="29"/>
                  <a:pt x="77" y="29"/>
                </a:cubicBezTo>
                <a:cubicBezTo>
                  <a:pt x="77" y="29"/>
                  <a:pt x="77" y="29"/>
                  <a:pt x="77" y="29"/>
                </a:cubicBezTo>
                <a:cubicBezTo>
                  <a:pt x="77" y="29"/>
                  <a:pt x="78" y="29"/>
                  <a:pt x="78" y="29"/>
                </a:cubicBezTo>
                <a:cubicBezTo>
                  <a:pt x="78" y="29"/>
                  <a:pt x="78" y="29"/>
                  <a:pt x="78" y="29"/>
                </a:cubicBezTo>
                <a:cubicBezTo>
                  <a:pt x="78" y="29"/>
                  <a:pt x="78" y="29"/>
                  <a:pt x="78" y="29"/>
                </a:cubicBezTo>
                <a:cubicBezTo>
                  <a:pt x="78" y="29"/>
                  <a:pt x="78" y="29"/>
                  <a:pt x="78" y="29"/>
                </a:cubicBezTo>
                <a:cubicBezTo>
                  <a:pt x="78" y="29"/>
                  <a:pt x="78" y="29"/>
                  <a:pt x="78" y="29"/>
                </a:cubicBezTo>
                <a:cubicBezTo>
                  <a:pt x="78" y="29"/>
                  <a:pt x="78" y="29"/>
                  <a:pt x="78" y="29"/>
                </a:cubicBezTo>
                <a:cubicBezTo>
                  <a:pt x="78" y="29"/>
                  <a:pt x="78" y="29"/>
                  <a:pt x="78" y="29"/>
                </a:cubicBezTo>
                <a:cubicBezTo>
                  <a:pt x="77" y="29"/>
                  <a:pt x="77" y="29"/>
                  <a:pt x="77" y="29"/>
                </a:cubicBezTo>
                <a:cubicBezTo>
                  <a:pt x="77" y="29"/>
                  <a:pt x="77" y="29"/>
                  <a:pt x="77" y="29"/>
                </a:cubicBezTo>
                <a:cubicBezTo>
                  <a:pt x="77" y="29"/>
                  <a:pt x="77" y="29"/>
                  <a:pt x="77" y="29"/>
                </a:cubicBezTo>
                <a:cubicBezTo>
                  <a:pt x="77" y="29"/>
                  <a:pt x="77" y="29"/>
                  <a:pt x="77" y="29"/>
                </a:cubicBezTo>
                <a:cubicBezTo>
                  <a:pt x="77" y="29"/>
                  <a:pt x="77" y="29"/>
                  <a:pt x="77" y="29"/>
                </a:cubicBezTo>
                <a:cubicBezTo>
                  <a:pt x="77" y="29"/>
                  <a:pt x="77" y="29"/>
                  <a:pt x="77" y="29"/>
                </a:cubicBezTo>
                <a:cubicBezTo>
                  <a:pt x="77" y="29"/>
                  <a:pt x="77" y="29"/>
                  <a:pt x="77" y="29"/>
                </a:cubicBezTo>
                <a:cubicBezTo>
                  <a:pt x="77" y="29"/>
                  <a:pt x="77" y="29"/>
                  <a:pt x="77" y="29"/>
                </a:cubicBezTo>
                <a:cubicBezTo>
                  <a:pt x="76" y="29"/>
                  <a:pt x="76" y="29"/>
                  <a:pt x="76" y="29"/>
                </a:cubicBezTo>
                <a:cubicBezTo>
                  <a:pt x="76" y="29"/>
                  <a:pt x="76" y="29"/>
                  <a:pt x="76" y="29"/>
                </a:cubicBezTo>
                <a:cubicBezTo>
                  <a:pt x="76" y="29"/>
                  <a:pt x="76" y="30"/>
                  <a:pt x="76" y="30"/>
                </a:cubicBezTo>
                <a:cubicBezTo>
                  <a:pt x="76" y="30"/>
                  <a:pt x="76" y="30"/>
                  <a:pt x="76" y="30"/>
                </a:cubicBezTo>
                <a:cubicBezTo>
                  <a:pt x="76" y="30"/>
                  <a:pt x="76" y="30"/>
                  <a:pt x="76" y="30"/>
                </a:cubicBezTo>
                <a:cubicBezTo>
                  <a:pt x="76" y="30"/>
                  <a:pt x="76" y="30"/>
                  <a:pt x="76" y="30"/>
                </a:cubicBezTo>
                <a:cubicBezTo>
                  <a:pt x="76" y="30"/>
                  <a:pt x="76" y="30"/>
                  <a:pt x="76" y="30"/>
                </a:cubicBezTo>
                <a:cubicBezTo>
                  <a:pt x="76" y="30"/>
                  <a:pt x="76" y="30"/>
                  <a:pt x="76" y="30"/>
                </a:cubicBezTo>
                <a:cubicBezTo>
                  <a:pt x="76" y="30"/>
                  <a:pt x="75" y="30"/>
                  <a:pt x="75" y="30"/>
                </a:cubicBezTo>
                <a:cubicBezTo>
                  <a:pt x="75" y="30"/>
                  <a:pt x="75" y="30"/>
                  <a:pt x="75" y="30"/>
                </a:cubicBezTo>
                <a:cubicBezTo>
                  <a:pt x="75" y="30"/>
                  <a:pt x="75" y="30"/>
                  <a:pt x="75" y="30"/>
                </a:cubicBezTo>
                <a:cubicBezTo>
                  <a:pt x="75" y="30"/>
                  <a:pt x="75" y="30"/>
                  <a:pt x="75" y="30"/>
                </a:cubicBezTo>
                <a:cubicBezTo>
                  <a:pt x="75" y="30"/>
                  <a:pt x="75" y="30"/>
                  <a:pt x="75" y="30"/>
                </a:cubicBezTo>
                <a:cubicBezTo>
                  <a:pt x="75" y="30"/>
                  <a:pt x="75" y="30"/>
                  <a:pt x="75" y="30"/>
                </a:cubicBezTo>
                <a:cubicBezTo>
                  <a:pt x="75" y="30"/>
                  <a:pt x="75" y="30"/>
                  <a:pt x="75" y="30"/>
                </a:cubicBezTo>
                <a:cubicBezTo>
                  <a:pt x="75" y="30"/>
                  <a:pt x="75" y="30"/>
                  <a:pt x="75" y="30"/>
                </a:cubicBezTo>
                <a:cubicBezTo>
                  <a:pt x="75" y="30"/>
                  <a:pt x="75" y="30"/>
                  <a:pt x="75" y="30"/>
                </a:cubicBezTo>
                <a:cubicBezTo>
                  <a:pt x="75" y="30"/>
                  <a:pt x="75" y="30"/>
                  <a:pt x="75" y="30"/>
                </a:cubicBezTo>
                <a:cubicBezTo>
                  <a:pt x="74" y="30"/>
                  <a:pt x="74" y="30"/>
                  <a:pt x="74" y="30"/>
                </a:cubicBezTo>
                <a:cubicBezTo>
                  <a:pt x="74" y="30"/>
                  <a:pt x="74" y="30"/>
                  <a:pt x="74" y="30"/>
                </a:cubicBezTo>
                <a:cubicBezTo>
                  <a:pt x="74" y="30"/>
                  <a:pt x="74" y="30"/>
                  <a:pt x="74" y="30"/>
                </a:cubicBezTo>
                <a:cubicBezTo>
                  <a:pt x="74" y="30"/>
                  <a:pt x="74" y="30"/>
                  <a:pt x="74" y="30"/>
                </a:cubicBezTo>
                <a:cubicBezTo>
                  <a:pt x="74" y="30"/>
                  <a:pt x="74" y="30"/>
                  <a:pt x="74" y="30"/>
                </a:cubicBezTo>
                <a:cubicBezTo>
                  <a:pt x="74" y="30"/>
                  <a:pt x="74" y="30"/>
                  <a:pt x="74" y="30"/>
                </a:cubicBezTo>
                <a:cubicBezTo>
                  <a:pt x="74" y="30"/>
                  <a:pt x="74" y="30"/>
                  <a:pt x="74" y="30"/>
                </a:cubicBezTo>
                <a:cubicBezTo>
                  <a:pt x="74" y="30"/>
                  <a:pt x="74" y="30"/>
                  <a:pt x="74" y="30"/>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4" y="31"/>
                  <a:pt x="74" y="31"/>
                  <a:pt x="74" y="31"/>
                </a:cubicBezTo>
                <a:cubicBezTo>
                  <a:pt x="73" y="31"/>
                  <a:pt x="73" y="31"/>
                  <a:pt x="73" y="31"/>
                </a:cubicBezTo>
                <a:cubicBezTo>
                  <a:pt x="73" y="31"/>
                  <a:pt x="73" y="31"/>
                  <a:pt x="73" y="31"/>
                </a:cubicBezTo>
                <a:cubicBezTo>
                  <a:pt x="73" y="31"/>
                  <a:pt x="73" y="31"/>
                  <a:pt x="73" y="31"/>
                </a:cubicBezTo>
                <a:cubicBezTo>
                  <a:pt x="73" y="31"/>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2"/>
                  <a:pt x="73" y="32"/>
                  <a:pt x="73" y="32"/>
                </a:cubicBezTo>
                <a:cubicBezTo>
                  <a:pt x="73" y="33"/>
                  <a:pt x="73" y="33"/>
                  <a:pt x="73" y="33"/>
                </a:cubicBezTo>
                <a:cubicBezTo>
                  <a:pt x="73" y="33"/>
                  <a:pt x="73" y="33"/>
                  <a:pt x="73" y="33"/>
                </a:cubicBezTo>
                <a:cubicBezTo>
                  <a:pt x="73" y="33"/>
                  <a:pt x="73" y="33"/>
                  <a:pt x="73" y="33"/>
                </a:cubicBezTo>
                <a:cubicBezTo>
                  <a:pt x="73" y="33"/>
                  <a:pt x="73" y="33"/>
                  <a:pt x="73" y="33"/>
                </a:cubicBezTo>
                <a:cubicBezTo>
                  <a:pt x="74" y="33"/>
                  <a:pt x="74" y="33"/>
                  <a:pt x="74" y="33"/>
                </a:cubicBezTo>
                <a:cubicBezTo>
                  <a:pt x="74" y="33"/>
                  <a:pt x="74" y="33"/>
                  <a:pt x="74" y="33"/>
                </a:cubicBezTo>
                <a:cubicBezTo>
                  <a:pt x="73" y="32"/>
                  <a:pt x="73" y="32"/>
                  <a:pt x="73" y="32"/>
                </a:cubicBezTo>
                <a:cubicBezTo>
                  <a:pt x="74" y="32"/>
                  <a:pt x="74" y="32"/>
                  <a:pt x="74" y="32"/>
                </a:cubicBezTo>
                <a:cubicBezTo>
                  <a:pt x="74" y="33"/>
                  <a:pt x="74" y="33"/>
                  <a:pt x="74" y="33"/>
                </a:cubicBezTo>
                <a:cubicBezTo>
                  <a:pt x="74" y="33"/>
                  <a:pt x="74" y="33"/>
                  <a:pt x="74" y="33"/>
                </a:cubicBezTo>
                <a:cubicBezTo>
                  <a:pt x="74"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3" y="33"/>
                  <a:pt x="73" y="33"/>
                  <a:pt x="73" y="33"/>
                </a:cubicBezTo>
                <a:cubicBezTo>
                  <a:pt x="72" y="33"/>
                  <a:pt x="72" y="33"/>
                  <a:pt x="72" y="33"/>
                </a:cubicBezTo>
                <a:cubicBezTo>
                  <a:pt x="72" y="33"/>
                  <a:pt x="72" y="33"/>
                  <a:pt x="72" y="33"/>
                </a:cubicBezTo>
                <a:cubicBezTo>
                  <a:pt x="72" y="33"/>
                  <a:pt x="72" y="33"/>
                  <a:pt x="72" y="33"/>
                </a:cubicBezTo>
                <a:cubicBezTo>
                  <a:pt x="72" y="33"/>
                  <a:pt x="72" y="33"/>
                  <a:pt x="72" y="33"/>
                </a:cubicBezTo>
                <a:cubicBezTo>
                  <a:pt x="72" y="33"/>
                  <a:pt x="71" y="33"/>
                  <a:pt x="71" y="33"/>
                </a:cubicBezTo>
                <a:cubicBezTo>
                  <a:pt x="71" y="33"/>
                  <a:pt x="71" y="33"/>
                  <a:pt x="71" y="33"/>
                </a:cubicBezTo>
                <a:cubicBezTo>
                  <a:pt x="71" y="33"/>
                  <a:pt x="71" y="33"/>
                  <a:pt x="71" y="33"/>
                </a:cubicBezTo>
                <a:cubicBezTo>
                  <a:pt x="72" y="33"/>
                  <a:pt x="72" y="33"/>
                  <a:pt x="72" y="33"/>
                </a:cubicBezTo>
                <a:cubicBezTo>
                  <a:pt x="72" y="33"/>
                  <a:pt x="72" y="33"/>
                  <a:pt x="72" y="33"/>
                </a:cubicBezTo>
                <a:cubicBezTo>
                  <a:pt x="72" y="33"/>
                  <a:pt x="72" y="33"/>
                  <a:pt x="72" y="33"/>
                </a:cubicBezTo>
                <a:cubicBezTo>
                  <a:pt x="72" y="33"/>
                  <a:pt x="72" y="33"/>
                  <a:pt x="72" y="33"/>
                </a:cubicBezTo>
                <a:cubicBezTo>
                  <a:pt x="72" y="34"/>
                  <a:pt x="71" y="34"/>
                  <a:pt x="71" y="34"/>
                </a:cubicBezTo>
                <a:cubicBezTo>
                  <a:pt x="71" y="34"/>
                  <a:pt x="71" y="34"/>
                  <a:pt x="71" y="34"/>
                </a:cubicBezTo>
                <a:cubicBezTo>
                  <a:pt x="71" y="34"/>
                  <a:pt x="71" y="34"/>
                  <a:pt x="71" y="34"/>
                </a:cubicBezTo>
                <a:cubicBezTo>
                  <a:pt x="71" y="34"/>
                  <a:pt x="71" y="34"/>
                  <a:pt x="71" y="34"/>
                </a:cubicBezTo>
                <a:cubicBezTo>
                  <a:pt x="71" y="34"/>
                  <a:pt x="71" y="34"/>
                  <a:pt x="71" y="34"/>
                </a:cubicBezTo>
                <a:cubicBezTo>
                  <a:pt x="71" y="33"/>
                  <a:pt x="71" y="34"/>
                  <a:pt x="70" y="34"/>
                </a:cubicBezTo>
                <a:cubicBezTo>
                  <a:pt x="70" y="34"/>
                  <a:pt x="70" y="34"/>
                  <a:pt x="70" y="34"/>
                </a:cubicBezTo>
                <a:cubicBezTo>
                  <a:pt x="70" y="34"/>
                  <a:pt x="70" y="34"/>
                  <a:pt x="70" y="34"/>
                </a:cubicBezTo>
                <a:cubicBezTo>
                  <a:pt x="70" y="34"/>
                  <a:pt x="70" y="34"/>
                  <a:pt x="70" y="34"/>
                </a:cubicBezTo>
                <a:cubicBezTo>
                  <a:pt x="71" y="34"/>
                  <a:pt x="71" y="34"/>
                  <a:pt x="71" y="34"/>
                </a:cubicBezTo>
                <a:cubicBezTo>
                  <a:pt x="71" y="34"/>
                  <a:pt x="71" y="34"/>
                  <a:pt x="71" y="34"/>
                </a:cubicBezTo>
                <a:cubicBezTo>
                  <a:pt x="71" y="34"/>
                  <a:pt x="71" y="34"/>
                  <a:pt x="71" y="34"/>
                </a:cubicBezTo>
                <a:cubicBezTo>
                  <a:pt x="71" y="34"/>
                  <a:pt x="71" y="34"/>
                  <a:pt x="71" y="34"/>
                </a:cubicBezTo>
                <a:cubicBezTo>
                  <a:pt x="70" y="34"/>
                  <a:pt x="70" y="34"/>
                  <a:pt x="70" y="34"/>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70" y="35"/>
                </a:cubicBezTo>
                <a:cubicBezTo>
                  <a:pt x="70" y="35"/>
                  <a:pt x="70" y="35"/>
                  <a:pt x="69" y="35"/>
                </a:cubicBezTo>
                <a:cubicBezTo>
                  <a:pt x="69" y="35"/>
                  <a:pt x="69" y="35"/>
                  <a:pt x="69" y="35"/>
                </a:cubicBezTo>
                <a:cubicBezTo>
                  <a:pt x="69" y="34"/>
                  <a:pt x="70" y="34"/>
                  <a:pt x="70" y="34"/>
                </a:cubicBezTo>
                <a:cubicBezTo>
                  <a:pt x="70" y="34"/>
                  <a:pt x="70" y="34"/>
                  <a:pt x="70" y="34"/>
                </a:cubicBezTo>
                <a:cubicBezTo>
                  <a:pt x="70" y="34"/>
                  <a:pt x="70" y="34"/>
                  <a:pt x="70" y="34"/>
                </a:cubicBezTo>
                <a:cubicBezTo>
                  <a:pt x="69" y="34"/>
                  <a:pt x="69" y="35"/>
                  <a:pt x="69" y="35"/>
                </a:cubicBezTo>
                <a:cubicBezTo>
                  <a:pt x="69" y="35"/>
                  <a:pt x="69" y="35"/>
                  <a:pt x="70" y="35"/>
                </a:cubicBezTo>
                <a:cubicBezTo>
                  <a:pt x="70" y="35"/>
                  <a:pt x="70" y="35"/>
                  <a:pt x="70" y="36"/>
                </a:cubicBezTo>
                <a:cubicBezTo>
                  <a:pt x="70" y="36"/>
                  <a:pt x="70" y="36"/>
                  <a:pt x="70" y="36"/>
                </a:cubicBezTo>
                <a:cubicBezTo>
                  <a:pt x="70" y="36"/>
                  <a:pt x="70" y="36"/>
                  <a:pt x="70" y="36"/>
                </a:cubicBezTo>
                <a:cubicBezTo>
                  <a:pt x="70" y="36"/>
                  <a:pt x="70" y="36"/>
                  <a:pt x="70" y="36"/>
                </a:cubicBezTo>
                <a:cubicBezTo>
                  <a:pt x="70" y="36"/>
                  <a:pt x="69" y="36"/>
                  <a:pt x="69" y="36"/>
                </a:cubicBezTo>
                <a:cubicBezTo>
                  <a:pt x="69" y="36"/>
                  <a:pt x="69" y="36"/>
                  <a:pt x="69" y="37"/>
                </a:cubicBezTo>
                <a:cubicBezTo>
                  <a:pt x="69" y="37"/>
                  <a:pt x="69" y="37"/>
                  <a:pt x="69" y="37"/>
                </a:cubicBezTo>
                <a:cubicBezTo>
                  <a:pt x="69" y="37"/>
                  <a:pt x="69" y="37"/>
                  <a:pt x="69" y="37"/>
                </a:cubicBezTo>
                <a:cubicBezTo>
                  <a:pt x="69" y="37"/>
                  <a:pt x="69" y="37"/>
                  <a:pt x="69" y="37"/>
                </a:cubicBezTo>
                <a:cubicBezTo>
                  <a:pt x="69" y="37"/>
                  <a:pt x="69" y="36"/>
                  <a:pt x="69" y="36"/>
                </a:cubicBezTo>
                <a:cubicBezTo>
                  <a:pt x="69" y="36"/>
                  <a:pt x="69" y="36"/>
                  <a:pt x="69" y="36"/>
                </a:cubicBezTo>
                <a:cubicBezTo>
                  <a:pt x="69" y="36"/>
                  <a:pt x="69" y="36"/>
                  <a:pt x="69" y="36"/>
                </a:cubicBezTo>
                <a:cubicBezTo>
                  <a:pt x="69" y="36"/>
                  <a:pt x="69" y="36"/>
                  <a:pt x="69" y="36"/>
                </a:cubicBezTo>
                <a:cubicBezTo>
                  <a:pt x="69" y="36"/>
                  <a:pt x="69" y="36"/>
                  <a:pt x="69" y="36"/>
                </a:cubicBezTo>
                <a:cubicBezTo>
                  <a:pt x="69" y="36"/>
                  <a:pt x="69" y="36"/>
                  <a:pt x="69" y="36"/>
                </a:cubicBezTo>
                <a:cubicBezTo>
                  <a:pt x="69" y="36"/>
                  <a:pt x="69" y="36"/>
                  <a:pt x="69" y="36"/>
                </a:cubicBezTo>
                <a:cubicBezTo>
                  <a:pt x="69" y="36"/>
                  <a:pt x="69" y="36"/>
                  <a:pt x="69" y="36"/>
                </a:cubicBezTo>
                <a:cubicBezTo>
                  <a:pt x="69" y="36"/>
                  <a:pt x="69" y="36"/>
                  <a:pt x="69" y="36"/>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5"/>
                  <a:pt x="69" y="35"/>
                  <a:pt x="69" y="35"/>
                </a:cubicBezTo>
                <a:cubicBezTo>
                  <a:pt x="69" y="36"/>
                  <a:pt x="69" y="36"/>
                  <a:pt x="69" y="36"/>
                </a:cubicBezTo>
                <a:cubicBezTo>
                  <a:pt x="69" y="36"/>
                  <a:pt x="69" y="36"/>
                  <a:pt x="68" y="36"/>
                </a:cubicBezTo>
                <a:cubicBezTo>
                  <a:pt x="68" y="36"/>
                  <a:pt x="68" y="36"/>
                  <a:pt x="68" y="36"/>
                </a:cubicBezTo>
                <a:cubicBezTo>
                  <a:pt x="68" y="35"/>
                  <a:pt x="68" y="35"/>
                  <a:pt x="68" y="35"/>
                </a:cubicBezTo>
                <a:cubicBezTo>
                  <a:pt x="68" y="35"/>
                  <a:pt x="68" y="35"/>
                  <a:pt x="68" y="35"/>
                </a:cubicBezTo>
                <a:cubicBezTo>
                  <a:pt x="68" y="35"/>
                  <a:pt x="68" y="35"/>
                  <a:pt x="68" y="35"/>
                </a:cubicBezTo>
                <a:cubicBezTo>
                  <a:pt x="68" y="35"/>
                  <a:pt x="68" y="35"/>
                  <a:pt x="68" y="35"/>
                </a:cubicBezTo>
                <a:cubicBezTo>
                  <a:pt x="68" y="35"/>
                  <a:pt x="68" y="35"/>
                  <a:pt x="68" y="35"/>
                </a:cubicBezTo>
                <a:cubicBezTo>
                  <a:pt x="68" y="36"/>
                  <a:pt x="68" y="36"/>
                  <a:pt x="68" y="36"/>
                </a:cubicBezTo>
                <a:cubicBezTo>
                  <a:pt x="68" y="36"/>
                  <a:pt x="68" y="36"/>
                  <a:pt x="68" y="36"/>
                </a:cubicBezTo>
                <a:cubicBezTo>
                  <a:pt x="68" y="36"/>
                  <a:pt x="68" y="36"/>
                  <a:pt x="68" y="36"/>
                </a:cubicBezTo>
                <a:cubicBezTo>
                  <a:pt x="68" y="36"/>
                  <a:pt x="68" y="36"/>
                  <a:pt x="68" y="36"/>
                </a:cubicBezTo>
                <a:cubicBezTo>
                  <a:pt x="68" y="36"/>
                  <a:pt x="68" y="36"/>
                  <a:pt x="68" y="36"/>
                </a:cubicBezTo>
                <a:cubicBezTo>
                  <a:pt x="68" y="36"/>
                  <a:pt x="68" y="36"/>
                  <a:pt x="68" y="36"/>
                </a:cubicBezTo>
                <a:cubicBezTo>
                  <a:pt x="69" y="36"/>
                  <a:pt x="69" y="36"/>
                  <a:pt x="69" y="36"/>
                </a:cubicBezTo>
                <a:cubicBezTo>
                  <a:pt x="69" y="36"/>
                  <a:pt x="69" y="36"/>
                  <a:pt x="69" y="36"/>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8" y="37"/>
                  <a:pt x="68" y="37"/>
                </a:cubicBezTo>
                <a:cubicBezTo>
                  <a:pt x="68" y="37"/>
                  <a:pt x="68" y="37"/>
                  <a:pt x="68" y="37"/>
                </a:cubicBezTo>
                <a:cubicBezTo>
                  <a:pt x="68" y="37"/>
                  <a:pt x="68" y="37"/>
                  <a:pt x="68" y="37"/>
                </a:cubicBezTo>
                <a:cubicBezTo>
                  <a:pt x="68"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7"/>
                  <a:pt x="69" y="37"/>
                  <a:pt x="69" y="37"/>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8"/>
                  <a:pt x="69" y="38"/>
                  <a:pt x="69" y="38"/>
                </a:cubicBezTo>
                <a:cubicBezTo>
                  <a:pt x="69" y="39"/>
                  <a:pt x="69" y="39"/>
                  <a:pt x="69" y="39"/>
                </a:cubicBezTo>
                <a:cubicBezTo>
                  <a:pt x="69" y="39"/>
                  <a:pt x="69" y="39"/>
                  <a:pt x="69" y="39"/>
                </a:cubicBezTo>
                <a:cubicBezTo>
                  <a:pt x="69" y="39"/>
                  <a:pt x="69" y="39"/>
                  <a:pt x="69" y="39"/>
                </a:cubicBezTo>
                <a:cubicBezTo>
                  <a:pt x="69" y="39"/>
                  <a:pt x="69" y="39"/>
                  <a:pt x="69" y="39"/>
                </a:cubicBezTo>
                <a:cubicBezTo>
                  <a:pt x="69" y="39"/>
                  <a:pt x="69" y="39"/>
                  <a:pt x="69" y="39"/>
                </a:cubicBezTo>
                <a:cubicBezTo>
                  <a:pt x="69" y="39"/>
                  <a:pt x="69" y="39"/>
                  <a:pt x="69" y="39"/>
                </a:cubicBezTo>
                <a:cubicBezTo>
                  <a:pt x="69" y="39"/>
                  <a:pt x="69" y="39"/>
                  <a:pt x="68" y="39"/>
                </a:cubicBezTo>
                <a:cubicBezTo>
                  <a:pt x="68" y="39"/>
                  <a:pt x="68" y="39"/>
                  <a:pt x="68" y="39"/>
                </a:cubicBezTo>
                <a:cubicBezTo>
                  <a:pt x="68" y="39"/>
                  <a:pt x="68" y="39"/>
                  <a:pt x="68" y="39"/>
                </a:cubicBezTo>
                <a:cubicBezTo>
                  <a:pt x="68" y="39"/>
                  <a:pt x="68" y="39"/>
                  <a:pt x="68" y="39"/>
                </a:cubicBezTo>
                <a:cubicBezTo>
                  <a:pt x="68" y="39"/>
                  <a:pt x="68" y="39"/>
                  <a:pt x="68" y="39"/>
                </a:cubicBezTo>
                <a:cubicBezTo>
                  <a:pt x="67" y="39"/>
                  <a:pt x="67" y="39"/>
                  <a:pt x="67" y="39"/>
                </a:cubicBezTo>
                <a:cubicBezTo>
                  <a:pt x="67" y="40"/>
                  <a:pt x="67" y="40"/>
                  <a:pt x="67" y="40"/>
                </a:cubicBezTo>
                <a:cubicBezTo>
                  <a:pt x="67" y="40"/>
                  <a:pt x="67" y="40"/>
                  <a:pt x="67" y="40"/>
                </a:cubicBezTo>
                <a:cubicBezTo>
                  <a:pt x="67" y="40"/>
                  <a:pt x="67" y="40"/>
                  <a:pt x="67" y="40"/>
                </a:cubicBezTo>
                <a:cubicBezTo>
                  <a:pt x="67" y="40"/>
                  <a:pt x="67" y="40"/>
                  <a:pt x="67" y="40"/>
                </a:cubicBezTo>
                <a:cubicBezTo>
                  <a:pt x="67" y="40"/>
                  <a:pt x="67" y="40"/>
                  <a:pt x="67" y="40"/>
                </a:cubicBezTo>
                <a:cubicBezTo>
                  <a:pt x="66" y="40"/>
                  <a:pt x="66" y="40"/>
                  <a:pt x="66" y="40"/>
                </a:cubicBezTo>
                <a:cubicBezTo>
                  <a:pt x="66" y="40"/>
                  <a:pt x="66" y="40"/>
                  <a:pt x="66" y="40"/>
                </a:cubicBezTo>
                <a:cubicBezTo>
                  <a:pt x="66" y="40"/>
                  <a:pt x="66" y="40"/>
                  <a:pt x="66" y="40"/>
                </a:cubicBezTo>
                <a:cubicBezTo>
                  <a:pt x="66" y="40"/>
                  <a:pt x="66" y="40"/>
                  <a:pt x="66" y="41"/>
                </a:cubicBezTo>
                <a:cubicBezTo>
                  <a:pt x="66" y="41"/>
                  <a:pt x="66" y="41"/>
                  <a:pt x="66" y="41"/>
                </a:cubicBezTo>
                <a:cubicBezTo>
                  <a:pt x="66" y="41"/>
                  <a:pt x="66" y="41"/>
                  <a:pt x="66" y="41"/>
                </a:cubicBezTo>
                <a:cubicBezTo>
                  <a:pt x="66" y="41"/>
                  <a:pt x="66" y="41"/>
                  <a:pt x="66" y="41"/>
                </a:cubicBezTo>
                <a:cubicBezTo>
                  <a:pt x="66" y="41"/>
                  <a:pt x="66" y="41"/>
                  <a:pt x="66" y="41"/>
                </a:cubicBezTo>
                <a:cubicBezTo>
                  <a:pt x="66" y="41"/>
                  <a:pt x="66" y="41"/>
                  <a:pt x="66" y="41"/>
                </a:cubicBezTo>
                <a:cubicBezTo>
                  <a:pt x="66" y="41"/>
                  <a:pt x="66" y="41"/>
                  <a:pt x="66" y="41"/>
                </a:cubicBezTo>
                <a:cubicBezTo>
                  <a:pt x="66" y="41"/>
                  <a:pt x="66" y="41"/>
                  <a:pt x="66" y="41"/>
                </a:cubicBezTo>
                <a:cubicBezTo>
                  <a:pt x="65" y="41"/>
                  <a:pt x="65" y="41"/>
                  <a:pt x="65" y="41"/>
                </a:cubicBezTo>
                <a:cubicBezTo>
                  <a:pt x="65" y="41"/>
                  <a:pt x="65" y="41"/>
                  <a:pt x="65" y="41"/>
                </a:cubicBezTo>
                <a:cubicBezTo>
                  <a:pt x="65" y="41"/>
                  <a:pt x="65" y="41"/>
                  <a:pt x="65" y="41"/>
                </a:cubicBezTo>
                <a:cubicBezTo>
                  <a:pt x="65" y="41"/>
                  <a:pt x="65" y="41"/>
                  <a:pt x="65" y="41"/>
                </a:cubicBezTo>
                <a:cubicBezTo>
                  <a:pt x="65" y="41"/>
                  <a:pt x="65" y="41"/>
                  <a:pt x="65" y="41"/>
                </a:cubicBezTo>
                <a:cubicBezTo>
                  <a:pt x="65" y="41"/>
                  <a:pt x="65" y="41"/>
                  <a:pt x="65" y="41"/>
                </a:cubicBezTo>
                <a:cubicBezTo>
                  <a:pt x="65" y="41"/>
                  <a:pt x="65" y="41"/>
                  <a:pt x="65" y="41"/>
                </a:cubicBezTo>
                <a:cubicBezTo>
                  <a:pt x="65" y="41"/>
                  <a:pt x="65" y="41"/>
                  <a:pt x="65" y="41"/>
                </a:cubicBezTo>
                <a:cubicBezTo>
                  <a:pt x="65" y="41"/>
                  <a:pt x="65" y="42"/>
                  <a:pt x="65" y="42"/>
                </a:cubicBezTo>
                <a:cubicBezTo>
                  <a:pt x="65" y="42"/>
                  <a:pt x="65" y="42"/>
                  <a:pt x="65" y="42"/>
                </a:cubicBezTo>
                <a:cubicBezTo>
                  <a:pt x="65" y="42"/>
                  <a:pt x="65" y="42"/>
                  <a:pt x="65" y="42"/>
                </a:cubicBezTo>
                <a:cubicBezTo>
                  <a:pt x="65" y="42"/>
                  <a:pt x="65" y="42"/>
                  <a:pt x="65" y="42"/>
                </a:cubicBezTo>
                <a:cubicBezTo>
                  <a:pt x="65" y="42"/>
                  <a:pt x="65" y="42"/>
                  <a:pt x="65" y="42"/>
                </a:cubicBezTo>
                <a:cubicBezTo>
                  <a:pt x="65" y="42"/>
                  <a:pt x="65" y="43"/>
                  <a:pt x="65" y="43"/>
                </a:cubicBezTo>
                <a:cubicBezTo>
                  <a:pt x="65" y="43"/>
                  <a:pt x="65" y="43"/>
                  <a:pt x="65" y="43"/>
                </a:cubicBezTo>
                <a:cubicBezTo>
                  <a:pt x="65" y="43"/>
                  <a:pt x="65" y="44"/>
                  <a:pt x="65" y="44"/>
                </a:cubicBezTo>
                <a:cubicBezTo>
                  <a:pt x="66" y="44"/>
                  <a:pt x="66" y="44"/>
                  <a:pt x="66" y="44"/>
                </a:cubicBezTo>
                <a:cubicBezTo>
                  <a:pt x="66" y="44"/>
                  <a:pt x="66" y="44"/>
                  <a:pt x="66" y="44"/>
                </a:cubicBezTo>
                <a:cubicBezTo>
                  <a:pt x="66" y="45"/>
                  <a:pt x="66" y="45"/>
                  <a:pt x="66" y="45"/>
                </a:cubicBezTo>
                <a:cubicBezTo>
                  <a:pt x="66" y="45"/>
                  <a:pt x="66" y="45"/>
                  <a:pt x="66" y="45"/>
                </a:cubicBezTo>
                <a:cubicBezTo>
                  <a:pt x="66" y="45"/>
                  <a:pt x="66" y="45"/>
                  <a:pt x="66" y="45"/>
                </a:cubicBezTo>
                <a:cubicBezTo>
                  <a:pt x="66" y="45"/>
                  <a:pt x="66" y="46"/>
                  <a:pt x="66" y="46"/>
                </a:cubicBezTo>
                <a:cubicBezTo>
                  <a:pt x="66" y="46"/>
                  <a:pt x="66" y="46"/>
                  <a:pt x="66" y="46"/>
                </a:cubicBezTo>
                <a:cubicBezTo>
                  <a:pt x="66" y="46"/>
                  <a:pt x="66" y="46"/>
                  <a:pt x="66" y="46"/>
                </a:cubicBezTo>
                <a:cubicBezTo>
                  <a:pt x="66" y="47"/>
                  <a:pt x="66" y="47"/>
                  <a:pt x="66" y="47"/>
                </a:cubicBezTo>
                <a:cubicBezTo>
                  <a:pt x="66" y="47"/>
                  <a:pt x="66" y="47"/>
                  <a:pt x="66" y="47"/>
                </a:cubicBezTo>
                <a:cubicBezTo>
                  <a:pt x="65" y="47"/>
                  <a:pt x="65" y="47"/>
                  <a:pt x="65" y="47"/>
                </a:cubicBezTo>
                <a:cubicBezTo>
                  <a:pt x="65" y="47"/>
                  <a:pt x="65" y="47"/>
                  <a:pt x="65" y="47"/>
                </a:cubicBezTo>
                <a:cubicBezTo>
                  <a:pt x="65" y="46"/>
                  <a:pt x="65" y="46"/>
                  <a:pt x="65" y="46"/>
                </a:cubicBezTo>
                <a:cubicBezTo>
                  <a:pt x="65" y="46"/>
                  <a:pt x="65" y="46"/>
                  <a:pt x="65" y="46"/>
                </a:cubicBezTo>
                <a:cubicBezTo>
                  <a:pt x="65" y="46"/>
                  <a:pt x="65" y="46"/>
                  <a:pt x="65" y="46"/>
                </a:cubicBezTo>
                <a:cubicBezTo>
                  <a:pt x="65" y="46"/>
                  <a:pt x="65" y="46"/>
                  <a:pt x="65" y="46"/>
                </a:cubicBezTo>
                <a:cubicBezTo>
                  <a:pt x="65" y="46"/>
                  <a:pt x="65" y="46"/>
                  <a:pt x="65" y="46"/>
                </a:cubicBezTo>
                <a:cubicBezTo>
                  <a:pt x="65" y="46"/>
                  <a:pt x="65" y="46"/>
                  <a:pt x="65" y="46"/>
                </a:cubicBezTo>
                <a:cubicBezTo>
                  <a:pt x="65" y="46"/>
                  <a:pt x="65" y="46"/>
                  <a:pt x="65" y="46"/>
                </a:cubicBezTo>
                <a:cubicBezTo>
                  <a:pt x="65" y="46"/>
                  <a:pt x="65" y="46"/>
                  <a:pt x="65" y="46"/>
                </a:cubicBezTo>
                <a:cubicBezTo>
                  <a:pt x="65" y="46"/>
                  <a:pt x="65" y="46"/>
                  <a:pt x="65" y="46"/>
                </a:cubicBezTo>
                <a:cubicBezTo>
                  <a:pt x="65" y="46"/>
                  <a:pt x="65" y="46"/>
                  <a:pt x="65" y="46"/>
                </a:cubicBezTo>
                <a:cubicBezTo>
                  <a:pt x="65" y="45"/>
                  <a:pt x="65" y="45"/>
                  <a:pt x="65" y="45"/>
                </a:cubicBezTo>
                <a:cubicBezTo>
                  <a:pt x="65" y="45"/>
                  <a:pt x="65" y="45"/>
                  <a:pt x="65" y="45"/>
                </a:cubicBezTo>
                <a:cubicBezTo>
                  <a:pt x="65" y="45"/>
                  <a:pt x="65" y="45"/>
                  <a:pt x="65"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5"/>
                  <a:pt x="64" y="45"/>
                  <a:pt x="64" y="45"/>
                </a:cubicBezTo>
                <a:cubicBezTo>
                  <a:pt x="64" y="44"/>
                  <a:pt x="64" y="44"/>
                  <a:pt x="64" y="44"/>
                </a:cubicBezTo>
                <a:cubicBezTo>
                  <a:pt x="64" y="44"/>
                  <a:pt x="64" y="44"/>
                  <a:pt x="64" y="44"/>
                </a:cubicBezTo>
                <a:cubicBezTo>
                  <a:pt x="64" y="44"/>
                  <a:pt x="64" y="44"/>
                  <a:pt x="64" y="44"/>
                </a:cubicBezTo>
                <a:cubicBezTo>
                  <a:pt x="64" y="44"/>
                  <a:pt x="64" y="43"/>
                  <a:pt x="64" y="43"/>
                </a:cubicBezTo>
                <a:cubicBezTo>
                  <a:pt x="64" y="43"/>
                  <a:pt x="64" y="43"/>
                  <a:pt x="64" y="43"/>
                </a:cubicBezTo>
                <a:cubicBezTo>
                  <a:pt x="63" y="43"/>
                  <a:pt x="63" y="43"/>
                  <a:pt x="63" y="43"/>
                </a:cubicBezTo>
                <a:cubicBezTo>
                  <a:pt x="63" y="43"/>
                  <a:pt x="63" y="43"/>
                  <a:pt x="63" y="43"/>
                </a:cubicBezTo>
                <a:cubicBezTo>
                  <a:pt x="63" y="43"/>
                  <a:pt x="63" y="43"/>
                  <a:pt x="63" y="43"/>
                </a:cubicBezTo>
                <a:cubicBezTo>
                  <a:pt x="63" y="43"/>
                  <a:pt x="63" y="43"/>
                  <a:pt x="63" y="43"/>
                </a:cubicBezTo>
                <a:cubicBezTo>
                  <a:pt x="63" y="43"/>
                  <a:pt x="63" y="43"/>
                  <a:pt x="63" y="43"/>
                </a:cubicBezTo>
                <a:cubicBezTo>
                  <a:pt x="63" y="43"/>
                  <a:pt x="63" y="43"/>
                  <a:pt x="63" y="43"/>
                </a:cubicBezTo>
                <a:cubicBezTo>
                  <a:pt x="63"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2" y="43"/>
                  <a:pt x="62" y="43"/>
                  <a:pt x="62" y="43"/>
                </a:cubicBezTo>
                <a:cubicBezTo>
                  <a:pt x="61" y="42"/>
                  <a:pt x="61" y="42"/>
                  <a:pt x="61" y="42"/>
                </a:cubicBezTo>
                <a:cubicBezTo>
                  <a:pt x="61" y="42"/>
                  <a:pt x="61" y="42"/>
                  <a:pt x="61" y="42"/>
                </a:cubicBezTo>
                <a:cubicBezTo>
                  <a:pt x="61" y="42"/>
                  <a:pt x="61" y="42"/>
                  <a:pt x="61" y="42"/>
                </a:cubicBezTo>
                <a:cubicBezTo>
                  <a:pt x="61" y="42"/>
                  <a:pt x="61" y="42"/>
                  <a:pt x="61" y="42"/>
                </a:cubicBezTo>
                <a:cubicBezTo>
                  <a:pt x="61" y="42"/>
                  <a:pt x="61" y="42"/>
                  <a:pt x="61" y="42"/>
                </a:cubicBezTo>
                <a:cubicBezTo>
                  <a:pt x="60" y="43"/>
                  <a:pt x="60" y="43"/>
                  <a:pt x="60" y="43"/>
                </a:cubicBezTo>
                <a:cubicBezTo>
                  <a:pt x="60" y="43"/>
                  <a:pt x="60" y="43"/>
                  <a:pt x="60" y="43"/>
                </a:cubicBezTo>
                <a:cubicBezTo>
                  <a:pt x="60" y="43"/>
                  <a:pt x="60" y="43"/>
                  <a:pt x="60" y="43"/>
                </a:cubicBezTo>
                <a:cubicBezTo>
                  <a:pt x="60" y="43"/>
                  <a:pt x="60" y="43"/>
                  <a:pt x="60" y="43"/>
                </a:cubicBezTo>
                <a:cubicBezTo>
                  <a:pt x="60" y="43"/>
                  <a:pt x="60" y="43"/>
                  <a:pt x="60" y="43"/>
                </a:cubicBezTo>
                <a:cubicBezTo>
                  <a:pt x="60" y="43"/>
                  <a:pt x="60" y="43"/>
                  <a:pt x="60" y="43"/>
                </a:cubicBezTo>
                <a:cubicBezTo>
                  <a:pt x="60" y="42"/>
                  <a:pt x="60" y="42"/>
                  <a:pt x="60" y="42"/>
                </a:cubicBezTo>
                <a:cubicBezTo>
                  <a:pt x="60" y="42"/>
                  <a:pt x="60" y="42"/>
                  <a:pt x="60" y="42"/>
                </a:cubicBezTo>
                <a:cubicBezTo>
                  <a:pt x="60" y="42"/>
                  <a:pt x="60" y="42"/>
                  <a:pt x="60" y="42"/>
                </a:cubicBezTo>
                <a:cubicBezTo>
                  <a:pt x="60" y="42"/>
                  <a:pt x="60" y="42"/>
                  <a:pt x="60" y="42"/>
                </a:cubicBezTo>
                <a:cubicBezTo>
                  <a:pt x="60" y="42"/>
                  <a:pt x="60" y="42"/>
                  <a:pt x="60" y="42"/>
                </a:cubicBezTo>
                <a:cubicBezTo>
                  <a:pt x="60" y="42"/>
                  <a:pt x="60" y="42"/>
                  <a:pt x="60" y="42"/>
                </a:cubicBezTo>
                <a:cubicBezTo>
                  <a:pt x="60" y="42"/>
                  <a:pt x="60" y="42"/>
                  <a:pt x="60" y="42"/>
                </a:cubicBezTo>
                <a:cubicBezTo>
                  <a:pt x="60" y="42"/>
                  <a:pt x="60" y="42"/>
                  <a:pt x="60" y="42"/>
                </a:cubicBezTo>
                <a:cubicBezTo>
                  <a:pt x="60" y="42"/>
                  <a:pt x="60" y="42"/>
                  <a:pt x="60" y="42"/>
                </a:cubicBezTo>
                <a:cubicBezTo>
                  <a:pt x="60" y="42"/>
                  <a:pt x="60" y="42"/>
                  <a:pt x="59" y="42"/>
                </a:cubicBezTo>
                <a:cubicBezTo>
                  <a:pt x="59" y="42"/>
                  <a:pt x="59" y="42"/>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9" y="43"/>
                  <a:pt x="59" y="43"/>
                </a:cubicBezTo>
                <a:cubicBezTo>
                  <a:pt x="59" y="44"/>
                  <a:pt x="59" y="44"/>
                  <a:pt x="59" y="44"/>
                </a:cubicBezTo>
                <a:cubicBezTo>
                  <a:pt x="59" y="44"/>
                  <a:pt x="59" y="44"/>
                  <a:pt x="59" y="44"/>
                </a:cubicBezTo>
                <a:cubicBezTo>
                  <a:pt x="59" y="44"/>
                  <a:pt x="59" y="44"/>
                  <a:pt x="59" y="44"/>
                </a:cubicBezTo>
                <a:cubicBezTo>
                  <a:pt x="59" y="43"/>
                  <a:pt x="59" y="43"/>
                  <a:pt x="59" y="43"/>
                </a:cubicBezTo>
                <a:cubicBezTo>
                  <a:pt x="59" y="43"/>
                  <a:pt x="59" y="43"/>
                  <a:pt x="59" y="43"/>
                </a:cubicBezTo>
                <a:cubicBezTo>
                  <a:pt x="59" y="43"/>
                  <a:pt x="59" y="43"/>
                  <a:pt x="59" y="43"/>
                </a:cubicBezTo>
                <a:cubicBezTo>
                  <a:pt x="59" y="43"/>
                  <a:pt x="59" y="43"/>
                  <a:pt x="59" y="43"/>
                </a:cubicBezTo>
                <a:cubicBezTo>
                  <a:pt x="59" y="43"/>
                  <a:pt x="58" y="43"/>
                  <a:pt x="58" y="43"/>
                </a:cubicBezTo>
                <a:cubicBezTo>
                  <a:pt x="58" y="43"/>
                  <a:pt x="58" y="43"/>
                  <a:pt x="58" y="43"/>
                </a:cubicBezTo>
                <a:cubicBezTo>
                  <a:pt x="59" y="43"/>
                  <a:pt x="59" y="43"/>
                  <a:pt x="59"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8" y="43"/>
                  <a:pt x="58" y="43"/>
                  <a:pt x="58" y="43"/>
                </a:cubicBezTo>
                <a:cubicBezTo>
                  <a:pt x="57" y="43"/>
                  <a:pt x="57" y="43"/>
                  <a:pt x="57" y="43"/>
                </a:cubicBezTo>
                <a:cubicBezTo>
                  <a:pt x="57" y="43"/>
                  <a:pt x="57" y="43"/>
                  <a:pt x="57" y="43"/>
                </a:cubicBezTo>
                <a:cubicBezTo>
                  <a:pt x="57" y="43"/>
                  <a:pt x="57" y="43"/>
                  <a:pt x="57" y="43"/>
                </a:cubicBezTo>
                <a:cubicBezTo>
                  <a:pt x="57" y="43"/>
                  <a:pt x="57" y="43"/>
                  <a:pt x="57" y="43"/>
                </a:cubicBezTo>
                <a:cubicBezTo>
                  <a:pt x="57" y="43"/>
                  <a:pt x="57" y="43"/>
                  <a:pt x="57" y="43"/>
                </a:cubicBezTo>
                <a:cubicBezTo>
                  <a:pt x="57" y="43"/>
                  <a:pt x="57" y="43"/>
                  <a:pt x="57" y="43"/>
                </a:cubicBezTo>
                <a:cubicBezTo>
                  <a:pt x="56" y="43"/>
                  <a:pt x="56" y="43"/>
                  <a:pt x="56" y="43"/>
                </a:cubicBezTo>
                <a:cubicBezTo>
                  <a:pt x="56" y="43"/>
                  <a:pt x="56" y="43"/>
                  <a:pt x="56" y="43"/>
                </a:cubicBezTo>
                <a:cubicBezTo>
                  <a:pt x="56" y="43"/>
                  <a:pt x="56" y="43"/>
                  <a:pt x="56" y="43"/>
                </a:cubicBezTo>
                <a:cubicBezTo>
                  <a:pt x="56" y="43"/>
                  <a:pt x="56" y="43"/>
                  <a:pt x="56" y="43"/>
                </a:cubicBezTo>
                <a:cubicBezTo>
                  <a:pt x="56" y="43"/>
                  <a:pt x="56" y="43"/>
                  <a:pt x="56" y="43"/>
                </a:cubicBezTo>
                <a:cubicBezTo>
                  <a:pt x="56" y="43"/>
                  <a:pt x="56" y="43"/>
                  <a:pt x="56" y="43"/>
                </a:cubicBezTo>
                <a:cubicBezTo>
                  <a:pt x="56" y="43"/>
                  <a:pt x="56" y="43"/>
                  <a:pt x="56" y="43"/>
                </a:cubicBezTo>
                <a:cubicBezTo>
                  <a:pt x="56" y="43"/>
                  <a:pt x="56" y="43"/>
                  <a:pt x="56" y="43"/>
                </a:cubicBezTo>
                <a:cubicBezTo>
                  <a:pt x="56" y="43"/>
                  <a:pt x="56" y="43"/>
                  <a:pt x="56" y="43"/>
                </a:cubicBezTo>
                <a:cubicBezTo>
                  <a:pt x="56" y="43"/>
                  <a:pt x="56" y="43"/>
                  <a:pt x="56"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3"/>
                  <a:pt x="55" y="43"/>
                </a:cubicBezTo>
                <a:cubicBezTo>
                  <a:pt x="55" y="43"/>
                  <a:pt x="55" y="44"/>
                  <a:pt x="55" y="44"/>
                </a:cubicBezTo>
                <a:cubicBezTo>
                  <a:pt x="54" y="44"/>
                  <a:pt x="54" y="44"/>
                  <a:pt x="54" y="44"/>
                </a:cubicBezTo>
                <a:cubicBezTo>
                  <a:pt x="54" y="44"/>
                  <a:pt x="54" y="44"/>
                  <a:pt x="54" y="44"/>
                </a:cubicBezTo>
                <a:cubicBezTo>
                  <a:pt x="54" y="44"/>
                  <a:pt x="54" y="44"/>
                  <a:pt x="54" y="44"/>
                </a:cubicBezTo>
                <a:cubicBezTo>
                  <a:pt x="54" y="44"/>
                  <a:pt x="54" y="44"/>
                  <a:pt x="54" y="44"/>
                </a:cubicBezTo>
                <a:cubicBezTo>
                  <a:pt x="54" y="44"/>
                  <a:pt x="54" y="44"/>
                  <a:pt x="54" y="44"/>
                </a:cubicBezTo>
                <a:cubicBezTo>
                  <a:pt x="54" y="44"/>
                  <a:pt x="54" y="44"/>
                  <a:pt x="54" y="44"/>
                </a:cubicBezTo>
                <a:cubicBezTo>
                  <a:pt x="54" y="44"/>
                  <a:pt x="54" y="44"/>
                  <a:pt x="54" y="44"/>
                </a:cubicBezTo>
                <a:cubicBezTo>
                  <a:pt x="54" y="44"/>
                  <a:pt x="54" y="44"/>
                  <a:pt x="54" y="44"/>
                </a:cubicBezTo>
                <a:cubicBezTo>
                  <a:pt x="54" y="44"/>
                  <a:pt x="54" y="44"/>
                  <a:pt x="54" y="44"/>
                </a:cubicBezTo>
                <a:cubicBezTo>
                  <a:pt x="53" y="44"/>
                  <a:pt x="53" y="44"/>
                  <a:pt x="53" y="44"/>
                </a:cubicBezTo>
                <a:cubicBezTo>
                  <a:pt x="53" y="44"/>
                  <a:pt x="53" y="44"/>
                  <a:pt x="53" y="44"/>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5"/>
                  <a:pt x="53" y="45"/>
                </a:cubicBezTo>
                <a:cubicBezTo>
                  <a:pt x="53" y="45"/>
                  <a:pt x="53" y="46"/>
                  <a:pt x="53" y="46"/>
                </a:cubicBezTo>
                <a:cubicBezTo>
                  <a:pt x="53" y="46"/>
                  <a:pt x="53" y="46"/>
                  <a:pt x="53" y="46"/>
                </a:cubicBezTo>
                <a:cubicBezTo>
                  <a:pt x="53" y="46"/>
                  <a:pt x="53" y="46"/>
                  <a:pt x="53" y="46"/>
                </a:cubicBezTo>
                <a:cubicBezTo>
                  <a:pt x="53" y="46"/>
                  <a:pt x="53" y="46"/>
                  <a:pt x="53" y="46"/>
                </a:cubicBezTo>
                <a:cubicBezTo>
                  <a:pt x="53" y="46"/>
                  <a:pt x="53" y="46"/>
                  <a:pt x="53" y="46"/>
                </a:cubicBezTo>
                <a:cubicBezTo>
                  <a:pt x="53" y="46"/>
                  <a:pt x="53" y="46"/>
                  <a:pt x="53" y="46"/>
                </a:cubicBezTo>
                <a:cubicBezTo>
                  <a:pt x="53" y="47"/>
                  <a:pt x="53" y="47"/>
                  <a:pt x="53" y="47"/>
                </a:cubicBezTo>
                <a:cubicBezTo>
                  <a:pt x="53" y="47"/>
                  <a:pt x="53" y="47"/>
                  <a:pt x="53" y="47"/>
                </a:cubicBezTo>
                <a:cubicBezTo>
                  <a:pt x="53" y="47"/>
                  <a:pt x="53" y="47"/>
                  <a:pt x="53" y="47"/>
                </a:cubicBezTo>
                <a:cubicBezTo>
                  <a:pt x="53" y="47"/>
                  <a:pt x="53" y="47"/>
                  <a:pt x="53" y="47"/>
                </a:cubicBezTo>
                <a:cubicBezTo>
                  <a:pt x="53" y="47"/>
                  <a:pt x="53" y="47"/>
                  <a:pt x="53" y="47"/>
                </a:cubicBezTo>
                <a:cubicBezTo>
                  <a:pt x="53" y="47"/>
                  <a:pt x="53" y="48"/>
                  <a:pt x="53" y="48"/>
                </a:cubicBezTo>
                <a:cubicBezTo>
                  <a:pt x="53" y="49"/>
                  <a:pt x="53" y="49"/>
                  <a:pt x="53" y="49"/>
                </a:cubicBezTo>
                <a:cubicBezTo>
                  <a:pt x="53" y="49"/>
                  <a:pt x="53" y="49"/>
                  <a:pt x="53" y="49"/>
                </a:cubicBezTo>
                <a:cubicBezTo>
                  <a:pt x="53" y="50"/>
                  <a:pt x="53" y="50"/>
                  <a:pt x="53" y="50"/>
                </a:cubicBezTo>
                <a:cubicBezTo>
                  <a:pt x="53" y="50"/>
                  <a:pt x="53" y="50"/>
                  <a:pt x="53" y="50"/>
                </a:cubicBezTo>
                <a:cubicBezTo>
                  <a:pt x="54" y="51"/>
                  <a:pt x="54" y="51"/>
                  <a:pt x="54" y="51"/>
                </a:cubicBezTo>
                <a:cubicBezTo>
                  <a:pt x="54" y="51"/>
                  <a:pt x="54" y="51"/>
                  <a:pt x="54" y="51"/>
                </a:cubicBezTo>
                <a:cubicBezTo>
                  <a:pt x="54" y="51"/>
                  <a:pt x="54" y="51"/>
                  <a:pt x="54" y="52"/>
                </a:cubicBezTo>
                <a:cubicBezTo>
                  <a:pt x="54" y="52"/>
                  <a:pt x="54" y="52"/>
                  <a:pt x="54" y="52"/>
                </a:cubicBezTo>
                <a:cubicBezTo>
                  <a:pt x="55" y="52"/>
                  <a:pt x="55" y="52"/>
                  <a:pt x="55" y="52"/>
                </a:cubicBezTo>
                <a:cubicBezTo>
                  <a:pt x="55" y="52"/>
                  <a:pt x="55" y="52"/>
                  <a:pt x="55" y="52"/>
                </a:cubicBezTo>
                <a:cubicBezTo>
                  <a:pt x="55" y="52"/>
                  <a:pt x="55" y="52"/>
                  <a:pt x="55" y="52"/>
                </a:cubicBezTo>
                <a:cubicBezTo>
                  <a:pt x="55" y="52"/>
                  <a:pt x="55" y="52"/>
                  <a:pt x="55" y="52"/>
                </a:cubicBezTo>
                <a:cubicBezTo>
                  <a:pt x="55" y="52"/>
                  <a:pt x="56" y="52"/>
                  <a:pt x="56" y="52"/>
                </a:cubicBezTo>
                <a:cubicBezTo>
                  <a:pt x="56" y="52"/>
                  <a:pt x="57" y="52"/>
                  <a:pt x="57" y="52"/>
                </a:cubicBezTo>
                <a:cubicBezTo>
                  <a:pt x="57" y="52"/>
                  <a:pt x="57" y="52"/>
                  <a:pt x="57" y="52"/>
                </a:cubicBezTo>
                <a:cubicBezTo>
                  <a:pt x="57" y="52"/>
                  <a:pt x="57" y="52"/>
                  <a:pt x="58" y="52"/>
                </a:cubicBezTo>
                <a:cubicBezTo>
                  <a:pt x="58" y="52"/>
                  <a:pt x="58" y="52"/>
                  <a:pt x="58" y="52"/>
                </a:cubicBezTo>
                <a:cubicBezTo>
                  <a:pt x="58" y="51"/>
                  <a:pt x="58" y="51"/>
                  <a:pt x="58" y="51"/>
                </a:cubicBezTo>
                <a:cubicBezTo>
                  <a:pt x="58" y="51"/>
                  <a:pt x="58" y="51"/>
                  <a:pt x="58" y="51"/>
                </a:cubicBezTo>
                <a:cubicBezTo>
                  <a:pt x="58" y="51"/>
                  <a:pt x="58" y="51"/>
                  <a:pt x="58" y="51"/>
                </a:cubicBezTo>
                <a:cubicBezTo>
                  <a:pt x="58" y="51"/>
                  <a:pt x="58" y="51"/>
                  <a:pt x="58" y="51"/>
                </a:cubicBezTo>
                <a:cubicBezTo>
                  <a:pt x="58" y="51"/>
                  <a:pt x="58" y="51"/>
                  <a:pt x="58" y="51"/>
                </a:cubicBezTo>
                <a:cubicBezTo>
                  <a:pt x="58" y="50"/>
                  <a:pt x="58" y="50"/>
                  <a:pt x="58" y="50"/>
                </a:cubicBezTo>
                <a:cubicBezTo>
                  <a:pt x="59" y="50"/>
                  <a:pt x="59" y="50"/>
                  <a:pt x="59" y="50"/>
                </a:cubicBezTo>
                <a:cubicBezTo>
                  <a:pt x="59" y="50"/>
                  <a:pt x="59" y="50"/>
                  <a:pt x="59" y="50"/>
                </a:cubicBezTo>
                <a:cubicBezTo>
                  <a:pt x="59" y="50"/>
                  <a:pt x="59" y="50"/>
                  <a:pt x="59" y="50"/>
                </a:cubicBezTo>
                <a:cubicBezTo>
                  <a:pt x="59" y="50"/>
                  <a:pt x="59" y="50"/>
                  <a:pt x="60" y="50"/>
                </a:cubicBezTo>
                <a:cubicBezTo>
                  <a:pt x="60" y="50"/>
                  <a:pt x="60" y="50"/>
                  <a:pt x="60" y="50"/>
                </a:cubicBezTo>
                <a:cubicBezTo>
                  <a:pt x="60" y="50"/>
                  <a:pt x="60" y="50"/>
                  <a:pt x="60" y="50"/>
                </a:cubicBezTo>
                <a:cubicBezTo>
                  <a:pt x="60" y="50"/>
                  <a:pt x="61" y="50"/>
                  <a:pt x="61" y="50"/>
                </a:cubicBezTo>
                <a:cubicBezTo>
                  <a:pt x="61" y="50"/>
                  <a:pt x="61" y="50"/>
                  <a:pt x="61" y="50"/>
                </a:cubicBezTo>
                <a:cubicBezTo>
                  <a:pt x="61" y="50"/>
                  <a:pt x="61" y="50"/>
                  <a:pt x="61" y="50"/>
                </a:cubicBezTo>
                <a:cubicBezTo>
                  <a:pt x="61" y="50"/>
                  <a:pt x="61" y="50"/>
                  <a:pt x="61" y="50"/>
                </a:cubicBezTo>
                <a:cubicBezTo>
                  <a:pt x="61" y="50"/>
                  <a:pt x="61" y="50"/>
                  <a:pt x="61" y="50"/>
                </a:cubicBezTo>
                <a:cubicBezTo>
                  <a:pt x="61" y="50"/>
                  <a:pt x="61" y="50"/>
                  <a:pt x="61" y="50"/>
                </a:cubicBezTo>
                <a:cubicBezTo>
                  <a:pt x="61" y="51"/>
                  <a:pt x="61" y="51"/>
                  <a:pt x="61" y="51"/>
                </a:cubicBezTo>
                <a:cubicBezTo>
                  <a:pt x="61" y="51"/>
                  <a:pt x="61" y="51"/>
                  <a:pt x="60" y="51"/>
                </a:cubicBezTo>
                <a:cubicBezTo>
                  <a:pt x="60" y="51"/>
                  <a:pt x="60" y="51"/>
                  <a:pt x="60" y="51"/>
                </a:cubicBezTo>
                <a:cubicBezTo>
                  <a:pt x="60" y="51"/>
                  <a:pt x="60" y="51"/>
                  <a:pt x="60" y="51"/>
                </a:cubicBezTo>
                <a:cubicBezTo>
                  <a:pt x="60" y="51"/>
                  <a:pt x="60" y="52"/>
                  <a:pt x="60" y="52"/>
                </a:cubicBezTo>
                <a:cubicBezTo>
                  <a:pt x="60" y="52"/>
                  <a:pt x="60" y="52"/>
                  <a:pt x="60" y="52"/>
                </a:cubicBezTo>
                <a:cubicBezTo>
                  <a:pt x="60" y="52"/>
                  <a:pt x="60" y="52"/>
                  <a:pt x="60" y="52"/>
                </a:cubicBezTo>
                <a:cubicBezTo>
                  <a:pt x="60" y="52"/>
                  <a:pt x="60" y="52"/>
                  <a:pt x="60" y="52"/>
                </a:cubicBezTo>
                <a:cubicBezTo>
                  <a:pt x="60" y="52"/>
                  <a:pt x="60" y="52"/>
                  <a:pt x="60" y="52"/>
                </a:cubicBezTo>
                <a:cubicBezTo>
                  <a:pt x="60" y="52"/>
                  <a:pt x="60" y="52"/>
                  <a:pt x="60" y="52"/>
                </a:cubicBezTo>
                <a:cubicBezTo>
                  <a:pt x="60" y="52"/>
                  <a:pt x="60" y="52"/>
                  <a:pt x="60" y="52"/>
                </a:cubicBezTo>
                <a:cubicBezTo>
                  <a:pt x="60" y="52"/>
                  <a:pt x="60" y="52"/>
                  <a:pt x="60" y="52"/>
                </a:cubicBezTo>
                <a:cubicBezTo>
                  <a:pt x="60" y="52"/>
                  <a:pt x="60" y="52"/>
                  <a:pt x="60" y="52"/>
                </a:cubicBezTo>
                <a:cubicBezTo>
                  <a:pt x="60" y="52"/>
                  <a:pt x="60" y="52"/>
                  <a:pt x="60" y="52"/>
                </a:cubicBezTo>
                <a:cubicBezTo>
                  <a:pt x="60" y="52"/>
                  <a:pt x="59" y="52"/>
                  <a:pt x="59" y="52"/>
                </a:cubicBezTo>
                <a:cubicBezTo>
                  <a:pt x="59" y="52"/>
                  <a:pt x="59" y="52"/>
                  <a:pt x="59" y="52"/>
                </a:cubicBezTo>
                <a:cubicBezTo>
                  <a:pt x="59" y="52"/>
                  <a:pt x="59" y="52"/>
                  <a:pt x="58" y="52"/>
                </a:cubicBezTo>
                <a:cubicBezTo>
                  <a:pt x="58" y="52"/>
                  <a:pt x="58" y="52"/>
                  <a:pt x="58" y="53"/>
                </a:cubicBezTo>
                <a:cubicBezTo>
                  <a:pt x="58" y="53"/>
                  <a:pt x="58" y="53"/>
                  <a:pt x="58" y="53"/>
                </a:cubicBezTo>
                <a:cubicBezTo>
                  <a:pt x="58" y="53"/>
                  <a:pt x="58" y="53"/>
                  <a:pt x="58" y="53"/>
                </a:cubicBezTo>
                <a:cubicBezTo>
                  <a:pt x="58" y="53"/>
                  <a:pt x="58" y="53"/>
                  <a:pt x="58" y="53"/>
                </a:cubicBezTo>
                <a:cubicBezTo>
                  <a:pt x="58" y="53"/>
                  <a:pt x="58" y="53"/>
                  <a:pt x="58" y="53"/>
                </a:cubicBezTo>
                <a:cubicBezTo>
                  <a:pt x="58" y="53"/>
                  <a:pt x="58" y="54"/>
                  <a:pt x="58" y="54"/>
                </a:cubicBezTo>
                <a:cubicBezTo>
                  <a:pt x="58" y="54"/>
                  <a:pt x="58" y="54"/>
                  <a:pt x="58" y="54"/>
                </a:cubicBezTo>
                <a:cubicBezTo>
                  <a:pt x="58" y="54"/>
                  <a:pt x="58" y="54"/>
                  <a:pt x="57" y="54"/>
                </a:cubicBezTo>
                <a:cubicBezTo>
                  <a:pt x="57" y="54"/>
                  <a:pt x="57" y="54"/>
                  <a:pt x="57" y="54"/>
                </a:cubicBezTo>
                <a:cubicBezTo>
                  <a:pt x="57" y="54"/>
                  <a:pt x="56" y="54"/>
                  <a:pt x="56" y="54"/>
                </a:cubicBezTo>
                <a:cubicBezTo>
                  <a:pt x="56" y="54"/>
                  <a:pt x="56" y="54"/>
                  <a:pt x="56" y="54"/>
                </a:cubicBezTo>
                <a:cubicBezTo>
                  <a:pt x="56" y="54"/>
                  <a:pt x="56" y="54"/>
                  <a:pt x="56" y="54"/>
                </a:cubicBezTo>
                <a:cubicBezTo>
                  <a:pt x="56" y="54"/>
                  <a:pt x="55" y="54"/>
                  <a:pt x="55" y="54"/>
                </a:cubicBezTo>
                <a:cubicBezTo>
                  <a:pt x="55" y="54"/>
                  <a:pt x="55" y="54"/>
                  <a:pt x="55" y="54"/>
                </a:cubicBezTo>
                <a:cubicBezTo>
                  <a:pt x="55" y="54"/>
                  <a:pt x="55" y="54"/>
                  <a:pt x="55" y="54"/>
                </a:cubicBezTo>
                <a:cubicBezTo>
                  <a:pt x="55" y="54"/>
                  <a:pt x="55" y="54"/>
                  <a:pt x="55" y="54"/>
                </a:cubicBezTo>
                <a:cubicBezTo>
                  <a:pt x="55" y="54"/>
                  <a:pt x="55" y="54"/>
                  <a:pt x="54" y="54"/>
                </a:cubicBezTo>
                <a:cubicBezTo>
                  <a:pt x="54" y="54"/>
                  <a:pt x="54" y="54"/>
                  <a:pt x="54" y="54"/>
                </a:cubicBezTo>
                <a:cubicBezTo>
                  <a:pt x="54" y="54"/>
                  <a:pt x="53" y="54"/>
                  <a:pt x="53" y="54"/>
                </a:cubicBezTo>
                <a:cubicBezTo>
                  <a:pt x="53" y="54"/>
                  <a:pt x="53" y="54"/>
                  <a:pt x="52" y="54"/>
                </a:cubicBezTo>
                <a:cubicBezTo>
                  <a:pt x="52" y="54"/>
                  <a:pt x="52" y="54"/>
                  <a:pt x="52" y="54"/>
                </a:cubicBezTo>
                <a:cubicBezTo>
                  <a:pt x="52" y="54"/>
                  <a:pt x="52" y="53"/>
                  <a:pt x="52" y="53"/>
                </a:cubicBezTo>
                <a:cubicBezTo>
                  <a:pt x="51" y="53"/>
                  <a:pt x="51" y="53"/>
                  <a:pt x="51" y="53"/>
                </a:cubicBezTo>
                <a:cubicBezTo>
                  <a:pt x="51" y="53"/>
                  <a:pt x="51" y="53"/>
                  <a:pt x="51" y="53"/>
                </a:cubicBezTo>
                <a:cubicBezTo>
                  <a:pt x="50" y="53"/>
                  <a:pt x="50" y="53"/>
                  <a:pt x="50" y="53"/>
                </a:cubicBezTo>
                <a:cubicBezTo>
                  <a:pt x="50" y="53"/>
                  <a:pt x="49" y="52"/>
                  <a:pt x="49" y="52"/>
                </a:cubicBezTo>
                <a:cubicBezTo>
                  <a:pt x="49" y="52"/>
                  <a:pt x="48" y="52"/>
                  <a:pt x="48" y="52"/>
                </a:cubicBezTo>
                <a:cubicBezTo>
                  <a:pt x="48" y="52"/>
                  <a:pt x="48" y="52"/>
                  <a:pt x="48" y="51"/>
                </a:cubicBezTo>
                <a:cubicBezTo>
                  <a:pt x="48" y="51"/>
                  <a:pt x="47" y="51"/>
                  <a:pt x="47" y="51"/>
                </a:cubicBezTo>
                <a:cubicBezTo>
                  <a:pt x="47" y="51"/>
                  <a:pt x="47" y="51"/>
                  <a:pt x="47" y="51"/>
                </a:cubicBezTo>
                <a:cubicBezTo>
                  <a:pt x="47" y="51"/>
                  <a:pt x="47" y="50"/>
                  <a:pt x="47" y="50"/>
                </a:cubicBezTo>
                <a:cubicBezTo>
                  <a:pt x="47" y="50"/>
                  <a:pt x="47" y="50"/>
                  <a:pt x="47" y="50"/>
                </a:cubicBezTo>
                <a:cubicBezTo>
                  <a:pt x="47" y="50"/>
                  <a:pt x="47" y="50"/>
                  <a:pt x="47" y="50"/>
                </a:cubicBezTo>
                <a:cubicBezTo>
                  <a:pt x="47" y="50"/>
                  <a:pt x="47" y="50"/>
                  <a:pt x="47" y="50"/>
                </a:cubicBezTo>
                <a:cubicBezTo>
                  <a:pt x="47" y="50"/>
                  <a:pt x="47" y="50"/>
                  <a:pt x="47" y="50"/>
                </a:cubicBezTo>
                <a:cubicBezTo>
                  <a:pt x="47" y="49"/>
                  <a:pt x="47" y="49"/>
                  <a:pt x="47" y="49"/>
                </a:cubicBezTo>
                <a:cubicBezTo>
                  <a:pt x="47" y="49"/>
                  <a:pt x="47" y="49"/>
                  <a:pt x="47" y="49"/>
                </a:cubicBezTo>
                <a:cubicBezTo>
                  <a:pt x="47" y="49"/>
                  <a:pt x="47" y="49"/>
                  <a:pt x="47" y="49"/>
                </a:cubicBezTo>
                <a:cubicBezTo>
                  <a:pt x="47" y="49"/>
                  <a:pt x="46" y="48"/>
                  <a:pt x="46" y="48"/>
                </a:cubicBezTo>
                <a:cubicBezTo>
                  <a:pt x="46" y="48"/>
                  <a:pt x="46" y="48"/>
                  <a:pt x="46" y="48"/>
                </a:cubicBezTo>
                <a:cubicBezTo>
                  <a:pt x="46" y="48"/>
                  <a:pt x="46" y="47"/>
                  <a:pt x="45" y="47"/>
                </a:cubicBezTo>
                <a:cubicBezTo>
                  <a:pt x="45" y="47"/>
                  <a:pt x="45" y="47"/>
                  <a:pt x="45" y="47"/>
                </a:cubicBezTo>
                <a:cubicBezTo>
                  <a:pt x="45" y="47"/>
                  <a:pt x="45" y="47"/>
                  <a:pt x="45" y="47"/>
                </a:cubicBezTo>
                <a:cubicBezTo>
                  <a:pt x="45" y="47"/>
                  <a:pt x="45" y="47"/>
                  <a:pt x="45" y="47"/>
                </a:cubicBezTo>
                <a:cubicBezTo>
                  <a:pt x="45" y="47"/>
                  <a:pt x="45" y="47"/>
                  <a:pt x="45" y="46"/>
                </a:cubicBezTo>
                <a:cubicBezTo>
                  <a:pt x="44" y="46"/>
                  <a:pt x="44" y="46"/>
                  <a:pt x="44" y="46"/>
                </a:cubicBezTo>
                <a:cubicBezTo>
                  <a:pt x="44" y="46"/>
                  <a:pt x="44" y="46"/>
                  <a:pt x="44" y="46"/>
                </a:cubicBezTo>
                <a:cubicBezTo>
                  <a:pt x="44" y="46"/>
                  <a:pt x="44" y="46"/>
                  <a:pt x="44" y="46"/>
                </a:cubicBezTo>
                <a:cubicBezTo>
                  <a:pt x="44" y="46"/>
                  <a:pt x="44" y="46"/>
                  <a:pt x="44" y="46"/>
                </a:cubicBezTo>
                <a:cubicBezTo>
                  <a:pt x="44" y="46"/>
                  <a:pt x="44" y="46"/>
                  <a:pt x="44" y="46"/>
                </a:cubicBezTo>
                <a:cubicBezTo>
                  <a:pt x="44" y="46"/>
                  <a:pt x="44" y="46"/>
                  <a:pt x="44" y="46"/>
                </a:cubicBezTo>
                <a:cubicBezTo>
                  <a:pt x="44" y="45"/>
                  <a:pt x="44" y="45"/>
                  <a:pt x="44" y="45"/>
                </a:cubicBezTo>
                <a:cubicBezTo>
                  <a:pt x="44" y="45"/>
                  <a:pt x="44" y="45"/>
                  <a:pt x="44" y="45"/>
                </a:cubicBezTo>
                <a:cubicBezTo>
                  <a:pt x="44" y="45"/>
                  <a:pt x="44" y="45"/>
                  <a:pt x="43" y="45"/>
                </a:cubicBezTo>
                <a:cubicBezTo>
                  <a:pt x="43" y="45"/>
                  <a:pt x="43" y="45"/>
                  <a:pt x="43" y="45"/>
                </a:cubicBezTo>
                <a:cubicBezTo>
                  <a:pt x="43" y="45"/>
                  <a:pt x="43" y="45"/>
                  <a:pt x="43" y="45"/>
                </a:cubicBezTo>
                <a:cubicBezTo>
                  <a:pt x="43" y="45"/>
                  <a:pt x="43" y="45"/>
                  <a:pt x="43" y="45"/>
                </a:cubicBezTo>
                <a:cubicBezTo>
                  <a:pt x="43" y="44"/>
                  <a:pt x="43" y="44"/>
                  <a:pt x="43" y="44"/>
                </a:cubicBezTo>
                <a:cubicBezTo>
                  <a:pt x="43" y="45"/>
                  <a:pt x="43" y="44"/>
                  <a:pt x="42" y="44"/>
                </a:cubicBezTo>
                <a:cubicBezTo>
                  <a:pt x="42" y="43"/>
                  <a:pt x="42" y="43"/>
                  <a:pt x="42" y="43"/>
                </a:cubicBezTo>
                <a:cubicBezTo>
                  <a:pt x="42" y="43"/>
                  <a:pt x="41" y="42"/>
                  <a:pt x="41" y="42"/>
                </a:cubicBezTo>
                <a:cubicBezTo>
                  <a:pt x="41" y="42"/>
                  <a:pt x="41" y="42"/>
                  <a:pt x="41" y="42"/>
                </a:cubicBezTo>
                <a:cubicBezTo>
                  <a:pt x="41" y="42"/>
                  <a:pt x="41" y="42"/>
                  <a:pt x="41" y="42"/>
                </a:cubicBezTo>
                <a:cubicBezTo>
                  <a:pt x="41" y="42"/>
                  <a:pt x="41" y="42"/>
                  <a:pt x="41" y="42"/>
                </a:cubicBezTo>
                <a:cubicBezTo>
                  <a:pt x="41" y="41"/>
                  <a:pt x="41" y="41"/>
                  <a:pt x="41" y="41"/>
                </a:cubicBezTo>
                <a:cubicBezTo>
                  <a:pt x="40" y="41"/>
                  <a:pt x="40" y="41"/>
                  <a:pt x="40" y="41"/>
                </a:cubicBezTo>
                <a:cubicBezTo>
                  <a:pt x="40" y="42"/>
                  <a:pt x="40" y="41"/>
                  <a:pt x="40" y="41"/>
                </a:cubicBezTo>
                <a:cubicBezTo>
                  <a:pt x="40" y="41"/>
                  <a:pt x="40" y="41"/>
                  <a:pt x="40" y="41"/>
                </a:cubicBezTo>
                <a:cubicBezTo>
                  <a:pt x="40" y="41"/>
                  <a:pt x="40" y="41"/>
                  <a:pt x="40" y="41"/>
                </a:cubicBezTo>
                <a:cubicBezTo>
                  <a:pt x="40" y="41"/>
                  <a:pt x="40" y="41"/>
                  <a:pt x="40" y="42"/>
                </a:cubicBezTo>
                <a:cubicBezTo>
                  <a:pt x="40" y="42"/>
                  <a:pt x="40" y="42"/>
                  <a:pt x="40" y="42"/>
                </a:cubicBezTo>
                <a:cubicBezTo>
                  <a:pt x="40" y="42"/>
                  <a:pt x="40" y="42"/>
                  <a:pt x="40" y="42"/>
                </a:cubicBezTo>
                <a:cubicBezTo>
                  <a:pt x="40" y="43"/>
                  <a:pt x="40" y="43"/>
                  <a:pt x="40" y="43"/>
                </a:cubicBezTo>
                <a:cubicBezTo>
                  <a:pt x="40" y="43"/>
                  <a:pt x="40" y="43"/>
                  <a:pt x="41" y="43"/>
                </a:cubicBezTo>
                <a:cubicBezTo>
                  <a:pt x="41" y="44"/>
                  <a:pt x="41" y="44"/>
                  <a:pt x="41" y="44"/>
                </a:cubicBezTo>
                <a:cubicBezTo>
                  <a:pt x="41" y="44"/>
                  <a:pt x="42" y="45"/>
                  <a:pt x="42" y="45"/>
                </a:cubicBezTo>
                <a:cubicBezTo>
                  <a:pt x="42" y="45"/>
                  <a:pt x="42" y="46"/>
                  <a:pt x="43" y="46"/>
                </a:cubicBezTo>
                <a:cubicBezTo>
                  <a:pt x="43" y="47"/>
                  <a:pt x="43" y="47"/>
                  <a:pt x="43" y="47"/>
                </a:cubicBezTo>
                <a:cubicBezTo>
                  <a:pt x="43" y="47"/>
                  <a:pt x="43" y="47"/>
                  <a:pt x="43" y="47"/>
                </a:cubicBezTo>
                <a:cubicBezTo>
                  <a:pt x="43" y="47"/>
                  <a:pt x="43" y="47"/>
                  <a:pt x="43" y="47"/>
                </a:cubicBezTo>
                <a:cubicBezTo>
                  <a:pt x="43" y="47"/>
                  <a:pt x="43" y="47"/>
                  <a:pt x="43" y="47"/>
                </a:cubicBezTo>
                <a:cubicBezTo>
                  <a:pt x="44" y="48"/>
                  <a:pt x="44" y="48"/>
                  <a:pt x="44" y="48"/>
                </a:cubicBezTo>
                <a:cubicBezTo>
                  <a:pt x="44" y="48"/>
                  <a:pt x="44" y="48"/>
                  <a:pt x="44" y="48"/>
                </a:cubicBezTo>
                <a:cubicBezTo>
                  <a:pt x="44" y="48"/>
                  <a:pt x="44" y="48"/>
                  <a:pt x="44" y="48"/>
                </a:cubicBezTo>
                <a:cubicBezTo>
                  <a:pt x="44" y="48"/>
                  <a:pt x="44" y="48"/>
                  <a:pt x="44" y="48"/>
                </a:cubicBezTo>
                <a:cubicBezTo>
                  <a:pt x="44" y="48"/>
                  <a:pt x="43" y="48"/>
                  <a:pt x="43" y="48"/>
                </a:cubicBezTo>
                <a:cubicBezTo>
                  <a:pt x="43" y="48"/>
                  <a:pt x="43" y="48"/>
                  <a:pt x="43" y="48"/>
                </a:cubicBezTo>
                <a:cubicBezTo>
                  <a:pt x="43" y="48"/>
                  <a:pt x="43" y="47"/>
                  <a:pt x="43" y="47"/>
                </a:cubicBezTo>
                <a:cubicBezTo>
                  <a:pt x="43" y="47"/>
                  <a:pt x="42" y="47"/>
                  <a:pt x="42" y="47"/>
                </a:cubicBezTo>
                <a:cubicBezTo>
                  <a:pt x="42" y="47"/>
                  <a:pt x="42" y="47"/>
                  <a:pt x="42" y="47"/>
                </a:cubicBezTo>
                <a:cubicBezTo>
                  <a:pt x="42" y="47"/>
                  <a:pt x="42" y="47"/>
                  <a:pt x="42" y="47"/>
                </a:cubicBezTo>
                <a:cubicBezTo>
                  <a:pt x="42" y="47"/>
                  <a:pt x="42" y="47"/>
                  <a:pt x="42" y="46"/>
                </a:cubicBezTo>
                <a:cubicBezTo>
                  <a:pt x="42" y="46"/>
                  <a:pt x="42" y="46"/>
                  <a:pt x="42" y="46"/>
                </a:cubicBezTo>
                <a:cubicBezTo>
                  <a:pt x="42" y="46"/>
                  <a:pt x="42" y="46"/>
                  <a:pt x="42" y="46"/>
                </a:cubicBezTo>
                <a:cubicBezTo>
                  <a:pt x="41" y="46"/>
                  <a:pt x="41" y="45"/>
                  <a:pt x="41"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0" y="45"/>
                  <a:pt x="40" y="45"/>
                </a:cubicBezTo>
                <a:cubicBezTo>
                  <a:pt x="40" y="45"/>
                  <a:pt x="40" y="45"/>
                  <a:pt x="40" y="45"/>
                </a:cubicBezTo>
                <a:cubicBezTo>
                  <a:pt x="40" y="45"/>
                  <a:pt x="40" y="45"/>
                  <a:pt x="40" y="45"/>
                </a:cubicBezTo>
                <a:cubicBezTo>
                  <a:pt x="40" y="45"/>
                  <a:pt x="40" y="45"/>
                  <a:pt x="40" y="45"/>
                </a:cubicBezTo>
                <a:cubicBezTo>
                  <a:pt x="40" y="45"/>
                  <a:pt x="40" y="45"/>
                  <a:pt x="40" y="45"/>
                </a:cubicBezTo>
                <a:cubicBezTo>
                  <a:pt x="41" y="45"/>
                  <a:pt x="41" y="45"/>
                  <a:pt x="41" y="45"/>
                </a:cubicBezTo>
                <a:cubicBezTo>
                  <a:pt x="41" y="45"/>
                  <a:pt x="41" y="45"/>
                  <a:pt x="41" y="45"/>
                </a:cubicBezTo>
                <a:cubicBezTo>
                  <a:pt x="41" y="45"/>
                  <a:pt x="41" y="45"/>
                  <a:pt x="41" y="45"/>
                </a:cubicBezTo>
                <a:cubicBezTo>
                  <a:pt x="41" y="45"/>
                  <a:pt x="41" y="45"/>
                  <a:pt x="41" y="45"/>
                </a:cubicBezTo>
                <a:cubicBezTo>
                  <a:pt x="40" y="44"/>
                  <a:pt x="40" y="44"/>
                  <a:pt x="40" y="44"/>
                </a:cubicBezTo>
                <a:cubicBezTo>
                  <a:pt x="40" y="44"/>
                  <a:pt x="40" y="44"/>
                  <a:pt x="40" y="44"/>
                </a:cubicBezTo>
                <a:cubicBezTo>
                  <a:pt x="41" y="44"/>
                  <a:pt x="41" y="44"/>
                  <a:pt x="41" y="44"/>
                </a:cubicBezTo>
                <a:cubicBezTo>
                  <a:pt x="41" y="44"/>
                  <a:pt x="40" y="44"/>
                  <a:pt x="40" y="44"/>
                </a:cubicBezTo>
                <a:cubicBezTo>
                  <a:pt x="40" y="43"/>
                  <a:pt x="40" y="43"/>
                  <a:pt x="40" y="43"/>
                </a:cubicBezTo>
                <a:cubicBezTo>
                  <a:pt x="39" y="43"/>
                  <a:pt x="39" y="43"/>
                  <a:pt x="39" y="43"/>
                </a:cubicBezTo>
                <a:cubicBezTo>
                  <a:pt x="39" y="43"/>
                  <a:pt x="39" y="43"/>
                  <a:pt x="39" y="43"/>
                </a:cubicBezTo>
                <a:cubicBezTo>
                  <a:pt x="39" y="42"/>
                  <a:pt x="39" y="42"/>
                  <a:pt x="39" y="42"/>
                </a:cubicBezTo>
                <a:cubicBezTo>
                  <a:pt x="39" y="42"/>
                  <a:pt x="39" y="42"/>
                  <a:pt x="39" y="42"/>
                </a:cubicBezTo>
                <a:cubicBezTo>
                  <a:pt x="39" y="42"/>
                  <a:pt x="39" y="42"/>
                  <a:pt x="39" y="42"/>
                </a:cubicBezTo>
                <a:cubicBezTo>
                  <a:pt x="39" y="42"/>
                  <a:pt x="39" y="42"/>
                  <a:pt x="39" y="42"/>
                </a:cubicBezTo>
                <a:cubicBezTo>
                  <a:pt x="39" y="42"/>
                  <a:pt x="39" y="42"/>
                  <a:pt x="39" y="42"/>
                </a:cubicBezTo>
                <a:cubicBezTo>
                  <a:pt x="39" y="42"/>
                  <a:pt x="39" y="41"/>
                  <a:pt x="39" y="41"/>
                </a:cubicBezTo>
                <a:cubicBezTo>
                  <a:pt x="39" y="41"/>
                  <a:pt x="38" y="41"/>
                  <a:pt x="38" y="41"/>
                </a:cubicBezTo>
                <a:cubicBezTo>
                  <a:pt x="38" y="41"/>
                  <a:pt x="38" y="40"/>
                  <a:pt x="38" y="40"/>
                </a:cubicBezTo>
                <a:cubicBezTo>
                  <a:pt x="38" y="40"/>
                  <a:pt x="38" y="40"/>
                  <a:pt x="38" y="40"/>
                </a:cubicBezTo>
                <a:cubicBezTo>
                  <a:pt x="38" y="40"/>
                  <a:pt x="38" y="40"/>
                  <a:pt x="38" y="40"/>
                </a:cubicBezTo>
                <a:cubicBezTo>
                  <a:pt x="37" y="40"/>
                  <a:pt x="37" y="39"/>
                  <a:pt x="37" y="39"/>
                </a:cubicBezTo>
                <a:cubicBezTo>
                  <a:pt x="37" y="39"/>
                  <a:pt x="37" y="39"/>
                  <a:pt x="37" y="39"/>
                </a:cubicBezTo>
                <a:cubicBezTo>
                  <a:pt x="37" y="39"/>
                  <a:pt x="37" y="39"/>
                  <a:pt x="37" y="39"/>
                </a:cubicBezTo>
                <a:cubicBezTo>
                  <a:pt x="36" y="39"/>
                  <a:pt x="36" y="39"/>
                  <a:pt x="36" y="39"/>
                </a:cubicBezTo>
                <a:cubicBezTo>
                  <a:pt x="36" y="39"/>
                  <a:pt x="36" y="39"/>
                  <a:pt x="36" y="39"/>
                </a:cubicBezTo>
                <a:cubicBezTo>
                  <a:pt x="36" y="39"/>
                  <a:pt x="36" y="39"/>
                  <a:pt x="36" y="39"/>
                </a:cubicBezTo>
                <a:cubicBezTo>
                  <a:pt x="36" y="39"/>
                  <a:pt x="36" y="39"/>
                  <a:pt x="36" y="39"/>
                </a:cubicBezTo>
                <a:cubicBezTo>
                  <a:pt x="36" y="39"/>
                  <a:pt x="36" y="39"/>
                  <a:pt x="36" y="39"/>
                </a:cubicBezTo>
                <a:cubicBezTo>
                  <a:pt x="35" y="38"/>
                  <a:pt x="35" y="38"/>
                  <a:pt x="35" y="38"/>
                </a:cubicBezTo>
                <a:cubicBezTo>
                  <a:pt x="35" y="38"/>
                  <a:pt x="35" y="38"/>
                  <a:pt x="35" y="38"/>
                </a:cubicBezTo>
                <a:cubicBezTo>
                  <a:pt x="35" y="38"/>
                  <a:pt x="35" y="38"/>
                  <a:pt x="35" y="38"/>
                </a:cubicBezTo>
                <a:cubicBezTo>
                  <a:pt x="35" y="38"/>
                  <a:pt x="35" y="38"/>
                  <a:pt x="35" y="38"/>
                </a:cubicBezTo>
                <a:cubicBezTo>
                  <a:pt x="35" y="38"/>
                  <a:pt x="35" y="38"/>
                  <a:pt x="35" y="38"/>
                </a:cubicBezTo>
                <a:cubicBezTo>
                  <a:pt x="35" y="37"/>
                  <a:pt x="35" y="37"/>
                  <a:pt x="35" y="37"/>
                </a:cubicBezTo>
                <a:cubicBezTo>
                  <a:pt x="35" y="37"/>
                  <a:pt x="35" y="37"/>
                  <a:pt x="35" y="37"/>
                </a:cubicBezTo>
                <a:cubicBezTo>
                  <a:pt x="35" y="37"/>
                  <a:pt x="35" y="37"/>
                  <a:pt x="35" y="37"/>
                </a:cubicBezTo>
                <a:cubicBezTo>
                  <a:pt x="35" y="37"/>
                  <a:pt x="35" y="37"/>
                  <a:pt x="35" y="37"/>
                </a:cubicBezTo>
                <a:cubicBezTo>
                  <a:pt x="34" y="37"/>
                  <a:pt x="34" y="37"/>
                  <a:pt x="34" y="37"/>
                </a:cubicBezTo>
                <a:cubicBezTo>
                  <a:pt x="34" y="37"/>
                  <a:pt x="34" y="36"/>
                  <a:pt x="34" y="36"/>
                </a:cubicBezTo>
                <a:cubicBezTo>
                  <a:pt x="34" y="36"/>
                  <a:pt x="34" y="36"/>
                  <a:pt x="34" y="36"/>
                </a:cubicBezTo>
                <a:cubicBezTo>
                  <a:pt x="34" y="36"/>
                  <a:pt x="34" y="36"/>
                  <a:pt x="34" y="36"/>
                </a:cubicBezTo>
                <a:cubicBezTo>
                  <a:pt x="34" y="36"/>
                  <a:pt x="34" y="36"/>
                  <a:pt x="34" y="36"/>
                </a:cubicBezTo>
                <a:cubicBezTo>
                  <a:pt x="34" y="36"/>
                  <a:pt x="34" y="36"/>
                  <a:pt x="34" y="36"/>
                </a:cubicBezTo>
                <a:cubicBezTo>
                  <a:pt x="34" y="36"/>
                  <a:pt x="34" y="36"/>
                  <a:pt x="34" y="36"/>
                </a:cubicBezTo>
                <a:cubicBezTo>
                  <a:pt x="34" y="36"/>
                  <a:pt x="34" y="36"/>
                  <a:pt x="34" y="36"/>
                </a:cubicBezTo>
                <a:cubicBezTo>
                  <a:pt x="34" y="36"/>
                  <a:pt x="34" y="36"/>
                  <a:pt x="35" y="36"/>
                </a:cubicBezTo>
                <a:cubicBezTo>
                  <a:pt x="35" y="36"/>
                  <a:pt x="35" y="36"/>
                  <a:pt x="35" y="36"/>
                </a:cubicBezTo>
                <a:cubicBezTo>
                  <a:pt x="35" y="36"/>
                  <a:pt x="35" y="36"/>
                  <a:pt x="35" y="36"/>
                </a:cubicBezTo>
                <a:cubicBezTo>
                  <a:pt x="34" y="36"/>
                  <a:pt x="34" y="36"/>
                  <a:pt x="34" y="36"/>
                </a:cubicBezTo>
                <a:cubicBezTo>
                  <a:pt x="34" y="36"/>
                  <a:pt x="34" y="36"/>
                  <a:pt x="34" y="36"/>
                </a:cubicBezTo>
                <a:cubicBezTo>
                  <a:pt x="34" y="36"/>
                  <a:pt x="34" y="36"/>
                  <a:pt x="34" y="36"/>
                </a:cubicBezTo>
                <a:cubicBezTo>
                  <a:pt x="34" y="36"/>
                  <a:pt x="34" y="36"/>
                  <a:pt x="34" y="36"/>
                </a:cubicBezTo>
                <a:cubicBezTo>
                  <a:pt x="34" y="36"/>
                  <a:pt x="34" y="36"/>
                  <a:pt x="34" y="35"/>
                </a:cubicBezTo>
                <a:cubicBezTo>
                  <a:pt x="33" y="35"/>
                  <a:pt x="33" y="35"/>
                  <a:pt x="33" y="35"/>
                </a:cubicBezTo>
                <a:cubicBezTo>
                  <a:pt x="33" y="35"/>
                  <a:pt x="33" y="35"/>
                  <a:pt x="33" y="35"/>
                </a:cubicBezTo>
                <a:cubicBezTo>
                  <a:pt x="33" y="35"/>
                  <a:pt x="33" y="35"/>
                  <a:pt x="33" y="35"/>
                </a:cubicBezTo>
                <a:cubicBezTo>
                  <a:pt x="33" y="34"/>
                  <a:pt x="33" y="34"/>
                  <a:pt x="33" y="34"/>
                </a:cubicBezTo>
                <a:cubicBezTo>
                  <a:pt x="33" y="34"/>
                  <a:pt x="33" y="34"/>
                  <a:pt x="33" y="34"/>
                </a:cubicBezTo>
                <a:cubicBezTo>
                  <a:pt x="33" y="34"/>
                  <a:pt x="33" y="34"/>
                  <a:pt x="33" y="34"/>
                </a:cubicBezTo>
                <a:cubicBezTo>
                  <a:pt x="33" y="34"/>
                  <a:pt x="33" y="34"/>
                  <a:pt x="33" y="34"/>
                </a:cubicBezTo>
                <a:cubicBezTo>
                  <a:pt x="33" y="34"/>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1"/>
                  <a:pt x="33" y="31"/>
                </a:cubicBezTo>
                <a:cubicBezTo>
                  <a:pt x="33" y="31"/>
                  <a:pt x="33" y="30"/>
                  <a:pt x="33" y="30"/>
                </a:cubicBezTo>
                <a:cubicBezTo>
                  <a:pt x="33" y="29"/>
                  <a:pt x="33" y="29"/>
                  <a:pt x="33" y="29"/>
                </a:cubicBezTo>
                <a:cubicBezTo>
                  <a:pt x="33" y="29"/>
                  <a:pt x="33" y="29"/>
                  <a:pt x="33" y="29"/>
                </a:cubicBezTo>
                <a:cubicBezTo>
                  <a:pt x="34" y="29"/>
                  <a:pt x="34" y="29"/>
                  <a:pt x="34" y="29"/>
                </a:cubicBezTo>
                <a:cubicBezTo>
                  <a:pt x="34" y="29"/>
                  <a:pt x="33" y="28"/>
                  <a:pt x="33" y="28"/>
                </a:cubicBezTo>
                <a:cubicBezTo>
                  <a:pt x="33" y="28"/>
                  <a:pt x="33" y="28"/>
                  <a:pt x="33" y="28"/>
                </a:cubicBezTo>
                <a:cubicBezTo>
                  <a:pt x="33" y="28"/>
                  <a:pt x="33" y="28"/>
                  <a:pt x="33" y="28"/>
                </a:cubicBezTo>
                <a:cubicBezTo>
                  <a:pt x="33" y="28"/>
                  <a:pt x="33" y="28"/>
                  <a:pt x="33" y="28"/>
                </a:cubicBezTo>
                <a:cubicBezTo>
                  <a:pt x="33" y="28"/>
                  <a:pt x="33" y="28"/>
                  <a:pt x="33" y="28"/>
                </a:cubicBezTo>
                <a:cubicBezTo>
                  <a:pt x="33" y="28"/>
                  <a:pt x="33" y="28"/>
                  <a:pt x="33" y="28"/>
                </a:cubicBezTo>
                <a:cubicBezTo>
                  <a:pt x="33" y="28"/>
                  <a:pt x="33" y="28"/>
                  <a:pt x="33" y="28"/>
                </a:cubicBezTo>
                <a:cubicBezTo>
                  <a:pt x="33" y="28"/>
                  <a:pt x="33" y="28"/>
                  <a:pt x="33" y="28"/>
                </a:cubicBezTo>
                <a:cubicBezTo>
                  <a:pt x="33" y="28"/>
                  <a:pt x="33" y="27"/>
                  <a:pt x="33" y="27"/>
                </a:cubicBezTo>
                <a:cubicBezTo>
                  <a:pt x="33" y="27"/>
                  <a:pt x="33" y="27"/>
                  <a:pt x="33" y="27"/>
                </a:cubicBezTo>
                <a:cubicBezTo>
                  <a:pt x="33" y="27"/>
                  <a:pt x="33" y="27"/>
                  <a:pt x="33" y="27"/>
                </a:cubicBezTo>
                <a:cubicBezTo>
                  <a:pt x="33" y="27"/>
                  <a:pt x="33" y="27"/>
                  <a:pt x="33" y="27"/>
                </a:cubicBezTo>
                <a:cubicBezTo>
                  <a:pt x="33" y="27"/>
                  <a:pt x="33" y="27"/>
                  <a:pt x="33" y="27"/>
                </a:cubicBezTo>
                <a:cubicBezTo>
                  <a:pt x="33" y="27"/>
                  <a:pt x="33" y="27"/>
                  <a:pt x="33"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8"/>
                  <a:pt x="34" y="28"/>
                  <a:pt x="34" y="28"/>
                </a:cubicBezTo>
                <a:cubicBezTo>
                  <a:pt x="34" y="28"/>
                  <a:pt x="34" y="28"/>
                  <a:pt x="34" y="28"/>
                </a:cubicBezTo>
                <a:cubicBezTo>
                  <a:pt x="34" y="28"/>
                  <a:pt x="34" y="28"/>
                  <a:pt x="34" y="28"/>
                </a:cubicBezTo>
                <a:cubicBezTo>
                  <a:pt x="34" y="28"/>
                  <a:pt x="34" y="28"/>
                  <a:pt x="34" y="28"/>
                </a:cubicBezTo>
                <a:cubicBezTo>
                  <a:pt x="34" y="28"/>
                  <a:pt x="34" y="28"/>
                  <a:pt x="34" y="28"/>
                </a:cubicBezTo>
                <a:cubicBezTo>
                  <a:pt x="34" y="28"/>
                  <a:pt x="34" y="27"/>
                  <a:pt x="34" y="27"/>
                </a:cubicBezTo>
                <a:cubicBezTo>
                  <a:pt x="34" y="27"/>
                  <a:pt x="34" y="27"/>
                  <a:pt x="34" y="27"/>
                </a:cubicBezTo>
                <a:cubicBezTo>
                  <a:pt x="34" y="27"/>
                  <a:pt x="34" y="27"/>
                  <a:pt x="34" y="27"/>
                </a:cubicBezTo>
                <a:cubicBezTo>
                  <a:pt x="34" y="26"/>
                  <a:pt x="34" y="26"/>
                  <a:pt x="34" y="26"/>
                </a:cubicBezTo>
                <a:cubicBezTo>
                  <a:pt x="34" y="26"/>
                  <a:pt x="34" y="26"/>
                  <a:pt x="34" y="26"/>
                </a:cubicBezTo>
                <a:cubicBezTo>
                  <a:pt x="34" y="26"/>
                  <a:pt x="34" y="26"/>
                  <a:pt x="34" y="26"/>
                </a:cubicBezTo>
                <a:cubicBezTo>
                  <a:pt x="34" y="26"/>
                  <a:pt x="34" y="26"/>
                  <a:pt x="34" y="26"/>
                </a:cubicBezTo>
                <a:cubicBezTo>
                  <a:pt x="34" y="26"/>
                  <a:pt x="34" y="26"/>
                  <a:pt x="34" y="26"/>
                </a:cubicBezTo>
                <a:cubicBezTo>
                  <a:pt x="34" y="26"/>
                  <a:pt x="34" y="26"/>
                  <a:pt x="34" y="26"/>
                </a:cubicBezTo>
                <a:cubicBezTo>
                  <a:pt x="34" y="25"/>
                  <a:pt x="34" y="25"/>
                  <a:pt x="34" y="25"/>
                </a:cubicBezTo>
                <a:cubicBezTo>
                  <a:pt x="34" y="25"/>
                  <a:pt x="34" y="25"/>
                  <a:pt x="34" y="25"/>
                </a:cubicBezTo>
                <a:cubicBezTo>
                  <a:pt x="34" y="25"/>
                  <a:pt x="34" y="25"/>
                  <a:pt x="34" y="25"/>
                </a:cubicBezTo>
                <a:cubicBezTo>
                  <a:pt x="34" y="25"/>
                  <a:pt x="34" y="25"/>
                  <a:pt x="34" y="25"/>
                </a:cubicBezTo>
                <a:cubicBezTo>
                  <a:pt x="34" y="25"/>
                  <a:pt x="34" y="25"/>
                  <a:pt x="34"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4"/>
                  <a:pt x="33" y="24"/>
                  <a:pt x="33" y="24"/>
                </a:cubicBezTo>
                <a:cubicBezTo>
                  <a:pt x="33" y="24"/>
                  <a:pt x="33" y="24"/>
                  <a:pt x="33" y="24"/>
                </a:cubicBezTo>
                <a:cubicBezTo>
                  <a:pt x="33" y="24"/>
                  <a:pt x="33" y="24"/>
                  <a:pt x="33" y="24"/>
                </a:cubicBezTo>
                <a:cubicBezTo>
                  <a:pt x="32" y="25"/>
                  <a:pt x="32" y="25"/>
                  <a:pt x="32" y="25"/>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2" y="24"/>
                  <a:pt x="32" y="24"/>
                  <a:pt x="32"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1" y="24"/>
                  <a:pt x="31" y="24"/>
                </a:cubicBezTo>
                <a:cubicBezTo>
                  <a:pt x="31" y="24"/>
                  <a:pt x="30" y="24"/>
                  <a:pt x="30" y="24"/>
                </a:cubicBezTo>
                <a:cubicBezTo>
                  <a:pt x="30" y="24"/>
                  <a:pt x="30" y="24"/>
                  <a:pt x="30" y="24"/>
                </a:cubicBezTo>
                <a:cubicBezTo>
                  <a:pt x="30" y="24"/>
                  <a:pt x="30" y="24"/>
                  <a:pt x="31" y="24"/>
                </a:cubicBezTo>
                <a:cubicBezTo>
                  <a:pt x="31" y="24"/>
                  <a:pt x="31" y="24"/>
                  <a:pt x="31" y="24"/>
                </a:cubicBezTo>
                <a:cubicBezTo>
                  <a:pt x="31" y="24"/>
                  <a:pt x="31" y="24"/>
                  <a:pt x="31" y="24"/>
                </a:cubicBezTo>
                <a:cubicBezTo>
                  <a:pt x="30" y="24"/>
                  <a:pt x="30" y="24"/>
                  <a:pt x="30" y="24"/>
                </a:cubicBezTo>
                <a:cubicBezTo>
                  <a:pt x="30" y="23"/>
                  <a:pt x="30" y="23"/>
                  <a:pt x="30"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3"/>
                  <a:pt x="31" y="23"/>
                </a:cubicBezTo>
                <a:cubicBezTo>
                  <a:pt x="30" y="23"/>
                  <a:pt x="30" y="23"/>
                  <a:pt x="30" y="23"/>
                </a:cubicBezTo>
                <a:cubicBezTo>
                  <a:pt x="30" y="23"/>
                  <a:pt x="30" y="23"/>
                  <a:pt x="30" y="23"/>
                </a:cubicBezTo>
                <a:cubicBezTo>
                  <a:pt x="30" y="23"/>
                  <a:pt x="30" y="23"/>
                  <a:pt x="30" y="23"/>
                </a:cubicBezTo>
                <a:cubicBezTo>
                  <a:pt x="30" y="23"/>
                  <a:pt x="30" y="23"/>
                  <a:pt x="30" y="23"/>
                </a:cubicBezTo>
                <a:cubicBezTo>
                  <a:pt x="30" y="23"/>
                  <a:pt x="30" y="23"/>
                  <a:pt x="30" y="23"/>
                </a:cubicBezTo>
                <a:cubicBezTo>
                  <a:pt x="30" y="23"/>
                  <a:pt x="30" y="23"/>
                  <a:pt x="30" y="23"/>
                </a:cubicBezTo>
                <a:cubicBezTo>
                  <a:pt x="30" y="23"/>
                  <a:pt x="30" y="23"/>
                  <a:pt x="30" y="23"/>
                </a:cubicBezTo>
                <a:cubicBezTo>
                  <a:pt x="30" y="23"/>
                  <a:pt x="30" y="23"/>
                  <a:pt x="30" y="23"/>
                </a:cubicBezTo>
                <a:cubicBezTo>
                  <a:pt x="30" y="23"/>
                  <a:pt x="30" y="23"/>
                  <a:pt x="30" y="23"/>
                </a:cubicBezTo>
                <a:cubicBezTo>
                  <a:pt x="30" y="23"/>
                  <a:pt x="30" y="23"/>
                  <a:pt x="30"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3"/>
                  <a:pt x="31" y="23"/>
                </a:cubicBezTo>
                <a:cubicBezTo>
                  <a:pt x="31" y="23"/>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0" y="22"/>
                  <a:pt x="30" y="23"/>
                  <a:pt x="30" y="23"/>
                </a:cubicBezTo>
                <a:cubicBezTo>
                  <a:pt x="30" y="22"/>
                  <a:pt x="30" y="22"/>
                  <a:pt x="30" y="22"/>
                </a:cubicBezTo>
                <a:cubicBezTo>
                  <a:pt x="30" y="22"/>
                  <a:pt x="30" y="22"/>
                  <a:pt x="30" y="22"/>
                </a:cubicBezTo>
                <a:cubicBezTo>
                  <a:pt x="30" y="22"/>
                  <a:pt x="30" y="22"/>
                  <a:pt x="30" y="22"/>
                </a:cubicBezTo>
                <a:cubicBezTo>
                  <a:pt x="30" y="22"/>
                  <a:pt x="30" y="22"/>
                  <a:pt x="30" y="22"/>
                </a:cubicBezTo>
                <a:cubicBezTo>
                  <a:pt x="30" y="22"/>
                  <a:pt x="30" y="22"/>
                  <a:pt x="30" y="22"/>
                </a:cubicBezTo>
                <a:cubicBezTo>
                  <a:pt x="30" y="22"/>
                  <a:pt x="30" y="22"/>
                  <a:pt x="30" y="22"/>
                </a:cubicBezTo>
                <a:cubicBezTo>
                  <a:pt x="30" y="22"/>
                  <a:pt x="30" y="22"/>
                  <a:pt x="30" y="22"/>
                </a:cubicBezTo>
                <a:cubicBezTo>
                  <a:pt x="30" y="22"/>
                  <a:pt x="30" y="22"/>
                  <a:pt x="30" y="22"/>
                </a:cubicBezTo>
                <a:cubicBezTo>
                  <a:pt x="30" y="22"/>
                  <a:pt x="30" y="22"/>
                  <a:pt x="30" y="22"/>
                </a:cubicBezTo>
                <a:cubicBezTo>
                  <a:pt x="30" y="22"/>
                  <a:pt x="30" y="22"/>
                  <a:pt x="30" y="22"/>
                </a:cubicBezTo>
                <a:cubicBezTo>
                  <a:pt x="29" y="22"/>
                  <a:pt x="29" y="22"/>
                  <a:pt x="29" y="22"/>
                </a:cubicBezTo>
                <a:cubicBezTo>
                  <a:pt x="29" y="22"/>
                  <a:pt x="29" y="22"/>
                  <a:pt x="29" y="22"/>
                </a:cubicBezTo>
                <a:cubicBezTo>
                  <a:pt x="30" y="21"/>
                  <a:pt x="30" y="21"/>
                  <a:pt x="30" y="21"/>
                </a:cubicBezTo>
                <a:cubicBezTo>
                  <a:pt x="30" y="22"/>
                  <a:pt x="30" y="22"/>
                  <a:pt x="30" y="22"/>
                </a:cubicBezTo>
                <a:cubicBezTo>
                  <a:pt x="30" y="21"/>
                  <a:pt x="30" y="21"/>
                  <a:pt x="30" y="21"/>
                </a:cubicBezTo>
                <a:cubicBezTo>
                  <a:pt x="30" y="21"/>
                  <a:pt x="30" y="21"/>
                  <a:pt x="30" y="21"/>
                </a:cubicBezTo>
                <a:cubicBezTo>
                  <a:pt x="30" y="22"/>
                  <a:pt x="30" y="22"/>
                  <a:pt x="30" y="22"/>
                </a:cubicBezTo>
                <a:cubicBezTo>
                  <a:pt x="30" y="22"/>
                  <a:pt x="30" y="22"/>
                  <a:pt x="30" y="22"/>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30" y="21"/>
                  <a:pt x="30" y="21"/>
                </a:cubicBezTo>
                <a:cubicBezTo>
                  <a:pt x="30"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1"/>
                </a:cubicBezTo>
                <a:cubicBezTo>
                  <a:pt x="29" y="21"/>
                  <a:pt x="29" y="21"/>
                  <a:pt x="29" y="20"/>
                </a:cubicBezTo>
                <a:cubicBezTo>
                  <a:pt x="29" y="20"/>
                  <a:pt x="29" y="20"/>
                  <a:pt x="29" y="20"/>
                </a:cubicBezTo>
                <a:cubicBezTo>
                  <a:pt x="28" y="20"/>
                  <a:pt x="28" y="20"/>
                  <a:pt x="28" y="20"/>
                </a:cubicBezTo>
                <a:cubicBezTo>
                  <a:pt x="28" y="20"/>
                  <a:pt x="28" y="20"/>
                  <a:pt x="28" y="20"/>
                </a:cubicBezTo>
                <a:cubicBezTo>
                  <a:pt x="28" y="20"/>
                  <a:pt x="28" y="20"/>
                  <a:pt x="28" y="20"/>
                </a:cubicBezTo>
                <a:cubicBezTo>
                  <a:pt x="28" y="20"/>
                  <a:pt x="28" y="20"/>
                  <a:pt x="28" y="20"/>
                </a:cubicBezTo>
                <a:cubicBezTo>
                  <a:pt x="28" y="20"/>
                  <a:pt x="28" y="20"/>
                  <a:pt x="28"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19"/>
                  <a:pt x="29" y="19"/>
                  <a:pt x="29" y="19"/>
                </a:cubicBezTo>
                <a:cubicBezTo>
                  <a:pt x="29" y="19"/>
                  <a:pt x="29" y="19"/>
                  <a:pt x="29" y="19"/>
                </a:cubicBezTo>
                <a:cubicBezTo>
                  <a:pt x="29" y="19"/>
                  <a:pt x="29" y="19"/>
                  <a:pt x="29" y="19"/>
                </a:cubicBezTo>
                <a:cubicBezTo>
                  <a:pt x="29" y="19"/>
                  <a:pt x="29" y="19"/>
                  <a:pt x="29" y="19"/>
                </a:cubicBezTo>
                <a:cubicBezTo>
                  <a:pt x="29" y="19"/>
                  <a:pt x="29" y="19"/>
                  <a:pt x="29" y="19"/>
                </a:cubicBezTo>
                <a:cubicBezTo>
                  <a:pt x="29" y="19"/>
                  <a:pt x="29" y="19"/>
                  <a:pt x="29" y="19"/>
                </a:cubicBezTo>
                <a:cubicBezTo>
                  <a:pt x="29" y="19"/>
                  <a:pt x="29" y="19"/>
                  <a:pt x="29" y="19"/>
                </a:cubicBezTo>
                <a:cubicBezTo>
                  <a:pt x="29" y="19"/>
                  <a:pt x="29" y="19"/>
                  <a:pt x="29" y="19"/>
                </a:cubicBezTo>
                <a:cubicBezTo>
                  <a:pt x="29" y="19"/>
                  <a:pt x="29" y="19"/>
                  <a:pt x="29" y="19"/>
                </a:cubicBezTo>
                <a:cubicBezTo>
                  <a:pt x="28" y="19"/>
                  <a:pt x="28" y="19"/>
                  <a:pt x="28" y="19"/>
                </a:cubicBezTo>
                <a:cubicBezTo>
                  <a:pt x="28" y="19"/>
                  <a:pt x="28" y="19"/>
                  <a:pt x="28" y="19"/>
                </a:cubicBezTo>
                <a:cubicBezTo>
                  <a:pt x="28" y="19"/>
                  <a:pt x="28" y="19"/>
                  <a:pt x="28" y="19"/>
                </a:cubicBezTo>
                <a:cubicBezTo>
                  <a:pt x="28" y="19"/>
                  <a:pt x="28" y="19"/>
                  <a:pt x="28" y="19"/>
                </a:cubicBezTo>
                <a:cubicBezTo>
                  <a:pt x="28" y="19"/>
                  <a:pt x="28" y="19"/>
                  <a:pt x="28" y="19"/>
                </a:cubicBezTo>
                <a:cubicBezTo>
                  <a:pt x="28" y="20"/>
                  <a:pt x="28" y="20"/>
                  <a:pt x="28" y="20"/>
                </a:cubicBezTo>
                <a:cubicBezTo>
                  <a:pt x="28" y="20"/>
                  <a:pt x="28" y="20"/>
                  <a:pt x="28" y="20"/>
                </a:cubicBezTo>
                <a:cubicBezTo>
                  <a:pt x="28" y="20"/>
                  <a:pt x="28" y="20"/>
                  <a:pt x="28" y="20"/>
                </a:cubicBezTo>
                <a:cubicBezTo>
                  <a:pt x="28" y="20"/>
                  <a:pt x="28" y="20"/>
                  <a:pt x="28" y="20"/>
                </a:cubicBezTo>
                <a:cubicBezTo>
                  <a:pt x="28" y="20"/>
                  <a:pt x="28" y="20"/>
                  <a:pt x="28" y="20"/>
                </a:cubicBezTo>
                <a:cubicBezTo>
                  <a:pt x="28" y="20"/>
                  <a:pt x="28" y="20"/>
                  <a:pt x="28" y="20"/>
                </a:cubicBezTo>
                <a:cubicBezTo>
                  <a:pt x="28" y="20"/>
                  <a:pt x="28" y="20"/>
                  <a:pt x="28" y="20"/>
                </a:cubicBezTo>
                <a:cubicBezTo>
                  <a:pt x="28" y="20"/>
                  <a:pt x="28" y="20"/>
                  <a:pt x="28" y="20"/>
                </a:cubicBezTo>
                <a:cubicBezTo>
                  <a:pt x="28" y="20"/>
                  <a:pt x="28" y="20"/>
                  <a:pt x="28" y="20"/>
                </a:cubicBezTo>
                <a:cubicBezTo>
                  <a:pt x="28" y="19"/>
                  <a:pt x="28" y="19"/>
                  <a:pt x="28" y="19"/>
                </a:cubicBezTo>
                <a:cubicBezTo>
                  <a:pt x="28" y="20"/>
                  <a:pt x="28" y="20"/>
                  <a:pt x="28" y="20"/>
                </a:cubicBezTo>
                <a:cubicBezTo>
                  <a:pt x="28" y="20"/>
                  <a:pt x="28" y="20"/>
                  <a:pt x="28" y="20"/>
                </a:cubicBezTo>
                <a:cubicBezTo>
                  <a:pt x="28" y="20"/>
                  <a:pt x="28" y="20"/>
                  <a:pt x="28" y="20"/>
                </a:cubicBezTo>
                <a:cubicBezTo>
                  <a:pt x="28" y="20"/>
                  <a:pt x="28" y="20"/>
                  <a:pt x="28" y="20"/>
                </a:cubicBezTo>
                <a:cubicBezTo>
                  <a:pt x="28" y="19"/>
                  <a:pt x="28" y="19"/>
                  <a:pt x="28" y="19"/>
                </a:cubicBezTo>
                <a:cubicBezTo>
                  <a:pt x="28" y="19"/>
                  <a:pt x="28" y="19"/>
                  <a:pt x="28" y="19"/>
                </a:cubicBezTo>
                <a:cubicBezTo>
                  <a:pt x="28" y="19"/>
                  <a:pt x="28" y="19"/>
                  <a:pt x="28" y="19"/>
                </a:cubicBezTo>
                <a:cubicBezTo>
                  <a:pt x="28" y="19"/>
                  <a:pt x="28"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9"/>
                  <a:pt x="27" y="19"/>
                </a:cubicBezTo>
                <a:cubicBezTo>
                  <a:pt x="27" y="19"/>
                  <a:pt x="27" y="18"/>
                  <a:pt x="27" y="18"/>
                </a:cubicBezTo>
                <a:cubicBezTo>
                  <a:pt x="27" y="18"/>
                  <a:pt x="26" y="18"/>
                  <a:pt x="26" y="18"/>
                </a:cubicBezTo>
                <a:cubicBezTo>
                  <a:pt x="26" y="18"/>
                  <a:pt x="26" y="18"/>
                  <a:pt x="26" y="18"/>
                </a:cubicBezTo>
                <a:cubicBezTo>
                  <a:pt x="26" y="18"/>
                  <a:pt x="26" y="18"/>
                  <a:pt x="26" y="18"/>
                </a:cubicBezTo>
                <a:cubicBezTo>
                  <a:pt x="26" y="18"/>
                  <a:pt x="26" y="18"/>
                  <a:pt x="26" y="18"/>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7"/>
                  <a:pt x="26" y="17"/>
                  <a:pt x="26" y="17"/>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6" y="16"/>
                  <a:pt x="26" y="16"/>
                  <a:pt x="26" y="16"/>
                </a:cubicBezTo>
                <a:cubicBezTo>
                  <a:pt x="25" y="16"/>
                  <a:pt x="25" y="16"/>
                  <a:pt x="25" y="16"/>
                </a:cubicBezTo>
                <a:cubicBezTo>
                  <a:pt x="25" y="16"/>
                  <a:pt x="25" y="16"/>
                  <a:pt x="25" y="16"/>
                </a:cubicBezTo>
                <a:cubicBezTo>
                  <a:pt x="25" y="16"/>
                  <a:pt x="25" y="16"/>
                  <a:pt x="25" y="16"/>
                </a:cubicBezTo>
                <a:cubicBezTo>
                  <a:pt x="25" y="16"/>
                  <a:pt x="25" y="16"/>
                  <a:pt x="25" y="16"/>
                </a:cubicBezTo>
                <a:cubicBezTo>
                  <a:pt x="25" y="16"/>
                  <a:pt x="25" y="16"/>
                  <a:pt x="25" y="16"/>
                </a:cubicBezTo>
                <a:cubicBezTo>
                  <a:pt x="25" y="16"/>
                  <a:pt x="25" y="16"/>
                  <a:pt x="25" y="16"/>
                </a:cubicBezTo>
                <a:cubicBezTo>
                  <a:pt x="25" y="16"/>
                  <a:pt x="25" y="16"/>
                  <a:pt x="25" y="16"/>
                </a:cubicBezTo>
                <a:cubicBezTo>
                  <a:pt x="25" y="16"/>
                  <a:pt x="25" y="15"/>
                  <a:pt x="25" y="15"/>
                </a:cubicBezTo>
                <a:cubicBezTo>
                  <a:pt x="25" y="15"/>
                  <a:pt x="25" y="15"/>
                  <a:pt x="25" y="15"/>
                </a:cubicBezTo>
                <a:cubicBezTo>
                  <a:pt x="24" y="15"/>
                  <a:pt x="24" y="15"/>
                  <a:pt x="24" y="15"/>
                </a:cubicBezTo>
                <a:cubicBezTo>
                  <a:pt x="24" y="15"/>
                  <a:pt x="24" y="15"/>
                  <a:pt x="24" y="15"/>
                </a:cubicBezTo>
                <a:cubicBezTo>
                  <a:pt x="24" y="15"/>
                  <a:pt x="24" y="15"/>
                  <a:pt x="25" y="16"/>
                </a:cubicBezTo>
                <a:cubicBezTo>
                  <a:pt x="25" y="16"/>
                  <a:pt x="25" y="16"/>
                  <a:pt x="25" y="16"/>
                </a:cubicBezTo>
                <a:cubicBezTo>
                  <a:pt x="25" y="16"/>
                  <a:pt x="25" y="16"/>
                  <a:pt x="25" y="16"/>
                </a:cubicBezTo>
                <a:cubicBezTo>
                  <a:pt x="25" y="16"/>
                  <a:pt x="25" y="16"/>
                  <a:pt x="25"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3" y="15"/>
                  <a:pt x="23" y="15"/>
                  <a:pt x="23" y="15"/>
                </a:cubicBezTo>
                <a:cubicBezTo>
                  <a:pt x="23" y="16"/>
                  <a:pt x="23" y="16"/>
                  <a:pt x="23" y="16"/>
                </a:cubicBezTo>
                <a:cubicBezTo>
                  <a:pt x="23" y="16"/>
                  <a:pt x="23" y="16"/>
                  <a:pt x="23" y="16"/>
                </a:cubicBezTo>
                <a:cubicBezTo>
                  <a:pt x="23"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4" y="16"/>
                  <a:pt x="24" y="16"/>
                </a:cubicBezTo>
                <a:cubicBezTo>
                  <a:pt x="24" y="16"/>
                  <a:pt x="23" y="16"/>
                  <a:pt x="23" y="16"/>
                </a:cubicBezTo>
                <a:cubicBezTo>
                  <a:pt x="23" y="16"/>
                  <a:pt x="23" y="16"/>
                  <a:pt x="23" y="16"/>
                </a:cubicBezTo>
                <a:cubicBezTo>
                  <a:pt x="23" y="16"/>
                  <a:pt x="23" y="16"/>
                  <a:pt x="23" y="16"/>
                </a:cubicBezTo>
                <a:cubicBezTo>
                  <a:pt x="22" y="16"/>
                  <a:pt x="22" y="15"/>
                  <a:pt x="22" y="15"/>
                </a:cubicBezTo>
                <a:cubicBezTo>
                  <a:pt x="21" y="15"/>
                  <a:pt x="21" y="15"/>
                  <a:pt x="21" y="15"/>
                </a:cubicBezTo>
                <a:cubicBezTo>
                  <a:pt x="21" y="15"/>
                  <a:pt x="21" y="15"/>
                  <a:pt x="21" y="15"/>
                </a:cubicBezTo>
                <a:cubicBezTo>
                  <a:pt x="21" y="15"/>
                  <a:pt x="21" y="15"/>
                  <a:pt x="21" y="15"/>
                </a:cubicBezTo>
                <a:cubicBezTo>
                  <a:pt x="21" y="15"/>
                  <a:pt x="21" y="15"/>
                  <a:pt x="21" y="15"/>
                </a:cubicBezTo>
                <a:cubicBezTo>
                  <a:pt x="22" y="15"/>
                  <a:pt x="22" y="15"/>
                  <a:pt x="22" y="15"/>
                </a:cubicBezTo>
                <a:cubicBezTo>
                  <a:pt x="22" y="15"/>
                  <a:pt x="22" y="15"/>
                  <a:pt x="22" y="15"/>
                </a:cubicBezTo>
                <a:cubicBezTo>
                  <a:pt x="22" y="15"/>
                  <a:pt x="22" y="15"/>
                  <a:pt x="22" y="15"/>
                </a:cubicBezTo>
                <a:cubicBezTo>
                  <a:pt x="22" y="15"/>
                  <a:pt x="22" y="15"/>
                  <a:pt x="22" y="15"/>
                </a:cubicBezTo>
                <a:cubicBezTo>
                  <a:pt x="22" y="15"/>
                  <a:pt x="22" y="15"/>
                  <a:pt x="22" y="15"/>
                </a:cubicBezTo>
                <a:cubicBezTo>
                  <a:pt x="22" y="14"/>
                  <a:pt x="22" y="14"/>
                  <a:pt x="22" y="14"/>
                </a:cubicBezTo>
                <a:cubicBezTo>
                  <a:pt x="22" y="14"/>
                  <a:pt x="22" y="14"/>
                  <a:pt x="22" y="14"/>
                </a:cubicBezTo>
                <a:cubicBezTo>
                  <a:pt x="22" y="14"/>
                  <a:pt x="21" y="14"/>
                  <a:pt x="21" y="14"/>
                </a:cubicBezTo>
                <a:cubicBezTo>
                  <a:pt x="21" y="14"/>
                  <a:pt x="21" y="14"/>
                  <a:pt x="21" y="15"/>
                </a:cubicBezTo>
                <a:cubicBezTo>
                  <a:pt x="21" y="15"/>
                  <a:pt x="21" y="15"/>
                  <a:pt x="21" y="15"/>
                </a:cubicBezTo>
                <a:cubicBezTo>
                  <a:pt x="21" y="15"/>
                  <a:pt x="21" y="15"/>
                  <a:pt x="21" y="15"/>
                </a:cubicBezTo>
                <a:cubicBezTo>
                  <a:pt x="21" y="15"/>
                  <a:pt x="21" y="15"/>
                  <a:pt x="21" y="15"/>
                </a:cubicBezTo>
                <a:cubicBezTo>
                  <a:pt x="20" y="15"/>
                  <a:pt x="20" y="15"/>
                  <a:pt x="20" y="15"/>
                </a:cubicBezTo>
                <a:cubicBezTo>
                  <a:pt x="20" y="14"/>
                  <a:pt x="20" y="14"/>
                  <a:pt x="20" y="14"/>
                </a:cubicBezTo>
                <a:cubicBezTo>
                  <a:pt x="20" y="14"/>
                  <a:pt x="20" y="14"/>
                  <a:pt x="20" y="14"/>
                </a:cubicBezTo>
                <a:cubicBezTo>
                  <a:pt x="20" y="14"/>
                  <a:pt x="20" y="14"/>
                  <a:pt x="20" y="14"/>
                </a:cubicBezTo>
                <a:cubicBezTo>
                  <a:pt x="20" y="14"/>
                  <a:pt x="20" y="14"/>
                  <a:pt x="19" y="14"/>
                </a:cubicBezTo>
                <a:cubicBezTo>
                  <a:pt x="19" y="14"/>
                  <a:pt x="19" y="14"/>
                  <a:pt x="18" y="14"/>
                </a:cubicBezTo>
                <a:cubicBezTo>
                  <a:pt x="18" y="14"/>
                  <a:pt x="18" y="14"/>
                  <a:pt x="18" y="14"/>
                </a:cubicBezTo>
                <a:cubicBezTo>
                  <a:pt x="18" y="14"/>
                  <a:pt x="18" y="14"/>
                  <a:pt x="18" y="14"/>
                </a:cubicBezTo>
                <a:cubicBezTo>
                  <a:pt x="18" y="14"/>
                  <a:pt x="18" y="14"/>
                  <a:pt x="18" y="14"/>
                </a:cubicBezTo>
                <a:cubicBezTo>
                  <a:pt x="18" y="14"/>
                  <a:pt x="18" y="14"/>
                  <a:pt x="18" y="14"/>
                </a:cubicBezTo>
                <a:cubicBezTo>
                  <a:pt x="17" y="14"/>
                  <a:pt x="17" y="14"/>
                  <a:pt x="17" y="14"/>
                </a:cubicBezTo>
                <a:cubicBezTo>
                  <a:pt x="17" y="14"/>
                  <a:pt x="17" y="14"/>
                  <a:pt x="17" y="14"/>
                </a:cubicBezTo>
                <a:cubicBezTo>
                  <a:pt x="17" y="14"/>
                  <a:pt x="17" y="14"/>
                  <a:pt x="17" y="14"/>
                </a:cubicBezTo>
                <a:cubicBezTo>
                  <a:pt x="18" y="14"/>
                  <a:pt x="18" y="14"/>
                  <a:pt x="18" y="14"/>
                </a:cubicBezTo>
                <a:cubicBezTo>
                  <a:pt x="18" y="14"/>
                  <a:pt x="17" y="14"/>
                  <a:pt x="17" y="14"/>
                </a:cubicBezTo>
                <a:cubicBezTo>
                  <a:pt x="17" y="14"/>
                  <a:pt x="17" y="14"/>
                  <a:pt x="17" y="14"/>
                </a:cubicBezTo>
                <a:cubicBezTo>
                  <a:pt x="17" y="14"/>
                  <a:pt x="17" y="14"/>
                  <a:pt x="17" y="14"/>
                </a:cubicBezTo>
                <a:cubicBezTo>
                  <a:pt x="17" y="14"/>
                  <a:pt x="17" y="14"/>
                  <a:pt x="17" y="14"/>
                </a:cubicBezTo>
                <a:cubicBezTo>
                  <a:pt x="16" y="14"/>
                  <a:pt x="16" y="14"/>
                  <a:pt x="16" y="14"/>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4" y="14"/>
                  <a:pt x="14" y="14"/>
                </a:cubicBezTo>
                <a:cubicBezTo>
                  <a:pt x="14" y="14"/>
                  <a:pt x="14" y="14"/>
                  <a:pt x="14" y="14"/>
                </a:cubicBezTo>
                <a:cubicBezTo>
                  <a:pt x="14" y="14"/>
                  <a:pt x="14" y="14"/>
                  <a:pt x="14" y="14"/>
                </a:cubicBezTo>
                <a:cubicBezTo>
                  <a:pt x="14" y="14"/>
                  <a:pt x="14" y="14"/>
                  <a:pt x="14" y="14"/>
                </a:cubicBezTo>
                <a:cubicBezTo>
                  <a:pt x="14" y="15"/>
                  <a:pt x="14" y="15"/>
                  <a:pt x="14" y="15"/>
                </a:cubicBezTo>
                <a:cubicBezTo>
                  <a:pt x="14" y="15"/>
                  <a:pt x="14" y="15"/>
                  <a:pt x="14" y="15"/>
                </a:cubicBezTo>
                <a:cubicBezTo>
                  <a:pt x="14" y="15"/>
                  <a:pt x="14" y="15"/>
                  <a:pt x="14" y="15"/>
                </a:cubicBezTo>
                <a:cubicBezTo>
                  <a:pt x="14" y="15"/>
                  <a:pt x="14" y="15"/>
                  <a:pt x="14"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2" y="15"/>
                </a:cubicBezTo>
                <a:cubicBezTo>
                  <a:pt x="12" y="15"/>
                  <a:pt x="12" y="15"/>
                  <a:pt x="12" y="15"/>
                </a:cubicBezTo>
                <a:cubicBezTo>
                  <a:pt x="12" y="15"/>
                  <a:pt x="12" y="15"/>
                  <a:pt x="12" y="15"/>
                </a:cubicBezTo>
                <a:cubicBezTo>
                  <a:pt x="12" y="15"/>
                  <a:pt x="12" y="15"/>
                  <a:pt x="12" y="15"/>
                </a:cubicBezTo>
                <a:cubicBezTo>
                  <a:pt x="12" y="15"/>
                  <a:pt x="12" y="15"/>
                  <a:pt x="12" y="15"/>
                </a:cubicBezTo>
                <a:cubicBezTo>
                  <a:pt x="12" y="15"/>
                  <a:pt x="12" y="15"/>
                  <a:pt x="13" y="15"/>
                </a:cubicBezTo>
                <a:cubicBezTo>
                  <a:pt x="13" y="15"/>
                  <a:pt x="13" y="15"/>
                  <a:pt x="13" y="15"/>
                </a:cubicBezTo>
                <a:cubicBezTo>
                  <a:pt x="13" y="15"/>
                  <a:pt x="13" y="15"/>
                  <a:pt x="13" y="15"/>
                </a:cubicBezTo>
                <a:cubicBezTo>
                  <a:pt x="13" y="15"/>
                  <a:pt x="12" y="15"/>
                  <a:pt x="12" y="15"/>
                </a:cubicBezTo>
                <a:cubicBezTo>
                  <a:pt x="12" y="15"/>
                  <a:pt x="12" y="15"/>
                  <a:pt x="12" y="15"/>
                </a:cubicBezTo>
                <a:cubicBezTo>
                  <a:pt x="12" y="14"/>
                  <a:pt x="12" y="14"/>
                  <a:pt x="12" y="14"/>
                </a:cubicBezTo>
                <a:cubicBezTo>
                  <a:pt x="12" y="14"/>
                  <a:pt x="12" y="14"/>
                  <a:pt x="12" y="14"/>
                </a:cubicBezTo>
                <a:cubicBezTo>
                  <a:pt x="12" y="14"/>
                  <a:pt x="13" y="14"/>
                  <a:pt x="13" y="14"/>
                </a:cubicBezTo>
                <a:cubicBezTo>
                  <a:pt x="13" y="14"/>
                  <a:pt x="13" y="14"/>
                  <a:pt x="13" y="14"/>
                </a:cubicBezTo>
                <a:cubicBezTo>
                  <a:pt x="13" y="14"/>
                  <a:pt x="13" y="14"/>
                  <a:pt x="13" y="14"/>
                </a:cubicBezTo>
                <a:cubicBezTo>
                  <a:pt x="13" y="14"/>
                  <a:pt x="13" y="14"/>
                  <a:pt x="13" y="14"/>
                </a:cubicBezTo>
                <a:cubicBezTo>
                  <a:pt x="13" y="13"/>
                  <a:pt x="13" y="13"/>
                  <a:pt x="13" y="13"/>
                </a:cubicBezTo>
                <a:cubicBezTo>
                  <a:pt x="13" y="13"/>
                  <a:pt x="13" y="13"/>
                  <a:pt x="13" y="13"/>
                </a:cubicBezTo>
                <a:cubicBezTo>
                  <a:pt x="13" y="13"/>
                  <a:pt x="13" y="13"/>
                  <a:pt x="13" y="13"/>
                </a:cubicBezTo>
                <a:cubicBezTo>
                  <a:pt x="13" y="13"/>
                  <a:pt x="13" y="13"/>
                  <a:pt x="13"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3" y="13"/>
                  <a:pt x="13" y="13"/>
                </a:cubicBezTo>
                <a:cubicBezTo>
                  <a:pt x="13" y="13"/>
                  <a:pt x="13" y="13"/>
                  <a:pt x="13" y="13"/>
                </a:cubicBezTo>
                <a:cubicBezTo>
                  <a:pt x="13" y="13"/>
                  <a:pt x="13" y="13"/>
                  <a:pt x="13" y="13"/>
                </a:cubicBezTo>
                <a:cubicBezTo>
                  <a:pt x="13" y="13"/>
                  <a:pt x="13" y="13"/>
                  <a:pt x="13" y="13"/>
                </a:cubicBezTo>
                <a:cubicBezTo>
                  <a:pt x="13" y="13"/>
                  <a:pt x="13" y="13"/>
                  <a:pt x="12" y="13"/>
                </a:cubicBezTo>
                <a:cubicBezTo>
                  <a:pt x="12" y="13"/>
                  <a:pt x="12" y="13"/>
                  <a:pt x="12" y="13"/>
                </a:cubicBezTo>
                <a:cubicBezTo>
                  <a:pt x="12" y="13"/>
                  <a:pt x="12" y="13"/>
                  <a:pt x="12" y="13"/>
                </a:cubicBezTo>
                <a:cubicBezTo>
                  <a:pt x="12" y="13"/>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1" y="14"/>
                  <a:pt x="11" y="14"/>
                  <a:pt x="11" y="14"/>
                </a:cubicBezTo>
                <a:cubicBezTo>
                  <a:pt x="11" y="14"/>
                  <a:pt x="11" y="14"/>
                  <a:pt x="11" y="14"/>
                </a:cubicBezTo>
                <a:cubicBezTo>
                  <a:pt x="11" y="14"/>
                  <a:pt x="12" y="14"/>
                  <a:pt x="12" y="14"/>
                </a:cubicBezTo>
                <a:cubicBezTo>
                  <a:pt x="11" y="14"/>
                  <a:pt x="11" y="14"/>
                  <a:pt x="11" y="14"/>
                </a:cubicBezTo>
                <a:cubicBezTo>
                  <a:pt x="11" y="14"/>
                  <a:pt x="11" y="14"/>
                  <a:pt x="11" y="14"/>
                </a:cubicBezTo>
                <a:cubicBezTo>
                  <a:pt x="11" y="14"/>
                  <a:pt x="11" y="14"/>
                  <a:pt x="11" y="14"/>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0" y="15"/>
                  <a:pt x="10" y="15"/>
                  <a:pt x="10" y="15"/>
                </a:cubicBezTo>
                <a:cubicBezTo>
                  <a:pt x="10" y="15"/>
                  <a:pt x="10" y="15"/>
                  <a:pt x="10" y="15"/>
                </a:cubicBezTo>
                <a:cubicBezTo>
                  <a:pt x="10" y="15"/>
                  <a:pt x="10" y="15"/>
                  <a:pt x="11" y="15"/>
                </a:cubicBezTo>
                <a:cubicBezTo>
                  <a:pt x="11" y="15"/>
                  <a:pt x="11" y="15"/>
                  <a:pt x="11" y="15"/>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ubicBezTo>
                  <a:pt x="10" y="17"/>
                  <a:pt x="10" y="17"/>
                  <a:pt x="10" y="17"/>
                </a:cubicBezTo>
                <a:cubicBezTo>
                  <a:pt x="10" y="17"/>
                  <a:pt x="10" y="17"/>
                  <a:pt x="9" y="17"/>
                </a:cubicBezTo>
                <a:cubicBezTo>
                  <a:pt x="9" y="17"/>
                  <a:pt x="9" y="17"/>
                  <a:pt x="9" y="17"/>
                </a:cubicBezTo>
                <a:cubicBezTo>
                  <a:pt x="9" y="17"/>
                  <a:pt x="9" y="17"/>
                  <a:pt x="9" y="17"/>
                </a:cubicBezTo>
                <a:cubicBezTo>
                  <a:pt x="9" y="18"/>
                  <a:pt x="9" y="18"/>
                  <a:pt x="8" y="18"/>
                </a:cubicBezTo>
                <a:cubicBezTo>
                  <a:pt x="8" y="18"/>
                  <a:pt x="8" y="18"/>
                  <a:pt x="8" y="18"/>
                </a:cubicBezTo>
                <a:cubicBezTo>
                  <a:pt x="8" y="18"/>
                  <a:pt x="8" y="18"/>
                  <a:pt x="8" y="18"/>
                </a:cubicBezTo>
                <a:cubicBezTo>
                  <a:pt x="8" y="18"/>
                  <a:pt x="8" y="18"/>
                  <a:pt x="8" y="18"/>
                </a:cubicBezTo>
                <a:cubicBezTo>
                  <a:pt x="8" y="18"/>
                  <a:pt x="8" y="18"/>
                  <a:pt x="7" y="18"/>
                </a:cubicBezTo>
                <a:cubicBezTo>
                  <a:pt x="7" y="18"/>
                  <a:pt x="7" y="18"/>
                  <a:pt x="7" y="18"/>
                </a:cubicBezTo>
                <a:cubicBezTo>
                  <a:pt x="7" y="18"/>
                  <a:pt x="7" y="18"/>
                  <a:pt x="7" y="18"/>
                </a:cubicBezTo>
                <a:cubicBezTo>
                  <a:pt x="7" y="18"/>
                  <a:pt x="7" y="18"/>
                  <a:pt x="7" y="18"/>
                </a:cubicBezTo>
                <a:cubicBezTo>
                  <a:pt x="7" y="18"/>
                  <a:pt x="7" y="18"/>
                  <a:pt x="7" y="18"/>
                </a:cubicBezTo>
                <a:cubicBezTo>
                  <a:pt x="7" y="19"/>
                  <a:pt x="7" y="19"/>
                  <a:pt x="7" y="19"/>
                </a:cubicBezTo>
                <a:cubicBezTo>
                  <a:pt x="7" y="19"/>
                  <a:pt x="7" y="19"/>
                  <a:pt x="7" y="19"/>
                </a:cubicBezTo>
                <a:cubicBezTo>
                  <a:pt x="7" y="19"/>
                  <a:pt x="7" y="19"/>
                  <a:pt x="7" y="19"/>
                </a:cubicBezTo>
                <a:cubicBezTo>
                  <a:pt x="7" y="19"/>
                  <a:pt x="7" y="19"/>
                  <a:pt x="7" y="19"/>
                </a:cubicBezTo>
                <a:cubicBezTo>
                  <a:pt x="7" y="19"/>
                  <a:pt x="7" y="19"/>
                  <a:pt x="7" y="19"/>
                </a:cubicBezTo>
                <a:cubicBezTo>
                  <a:pt x="7" y="19"/>
                  <a:pt x="7" y="19"/>
                  <a:pt x="7" y="19"/>
                </a:cubicBezTo>
                <a:cubicBezTo>
                  <a:pt x="7" y="19"/>
                  <a:pt x="6" y="19"/>
                  <a:pt x="6" y="19"/>
                </a:cubicBezTo>
                <a:cubicBezTo>
                  <a:pt x="6" y="19"/>
                  <a:pt x="6" y="19"/>
                  <a:pt x="6" y="19"/>
                </a:cubicBezTo>
                <a:cubicBezTo>
                  <a:pt x="6" y="19"/>
                  <a:pt x="6" y="19"/>
                  <a:pt x="6" y="19"/>
                </a:cubicBezTo>
                <a:cubicBezTo>
                  <a:pt x="6" y="19"/>
                  <a:pt x="6" y="19"/>
                  <a:pt x="6" y="19"/>
                </a:cubicBezTo>
                <a:cubicBezTo>
                  <a:pt x="6" y="19"/>
                  <a:pt x="6" y="19"/>
                  <a:pt x="6" y="19"/>
                </a:cubicBezTo>
                <a:cubicBezTo>
                  <a:pt x="6" y="19"/>
                  <a:pt x="6" y="19"/>
                  <a:pt x="6" y="19"/>
                </a:cubicBezTo>
                <a:cubicBezTo>
                  <a:pt x="6" y="19"/>
                  <a:pt x="6"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5" y="20"/>
                  <a:pt x="5" y="20"/>
                  <a:pt x="5" y="20"/>
                </a:cubicBezTo>
                <a:cubicBezTo>
                  <a:pt x="4" y="20"/>
                  <a:pt x="4" y="20"/>
                  <a:pt x="4" y="20"/>
                </a:cubicBezTo>
                <a:cubicBezTo>
                  <a:pt x="4" y="20"/>
                  <a:pt x="4" y="20"/>
                  <a:pt x="4" y="20"/>
                </a:cubicBezTo>
                <a:cubicBezTo>
                  <a:pt x="4" y="20"/>
                  <a:pt x="4" y="20"/>
                  <a:pt x="4" y="20"/>
                </a:cubicBezTo>
                <a:cubicBezTo>
                  <a:pt x="4" y="20"/>
                  <a:pt x="4" y="20"/>
                  <a:pt x="4" y="20"/>
                </a:cubicBezTo>
                <a:cubicBezTo>
                  <a:pt x="4" y="19"/>
                  <a:pt x="4" y="19"/>
                  <a:pt x="4" y="19"/>
                </a:cubicBezTo>
                <a:cubicBezTo>
                  <a:pt x="4" y="19"/>
                  <a:pt x="4" y="19"/>
                  <a:pt x="4" y="19"/>
                </a:cubicBezTo>
                <a:cubicBezTo>
                  <a:pt x="4" y="19"/>
                  <a:pt x="4" y="19"/>
                  <a:pt x="4" y="19"/>
                </a:cubicBezTo>
                <a:cubicBezTo>
                  <a:pt x="4" y="19"/>
                  <a:pt x="4" y="19"/>
                  <a:pt x="4" y="19"/>
                </a:cubicBezTo>
                <a:cubicBezTo>
                  <a:pt x="5" y="19"/>
                  <a:pt x="5" y="19"/>
                  <a:pt x="5" y="19"/>
                </a:cubicBezTo>
                <a:cubicBezTo>
                  <a:pt x="5" y="19"/>
                  <a:pt x="5" y="19"/>
                  <a:pt x="5" y="19"/>
                </a:cubicBezTo>
                <a:cubicBezTo>
                  <a:pt x="5" y="19"/>
                  <a:pt x="5" y="19"/>
                  <a:pt x="5" y="19"/>
                </a:cubicBezTo>
                <a:cubicBezTo>
                  <a:pt x="5" y="19"/>
                  <a:pt x="5" y="19"/>
                  <a:pt x="5" y="19"/>
                </a:cubicBezTo>
                <a:cubicBezTo>
                  <a:pt x="5" y="19"/>
                  <a:pt x="5" y="19"/>
                  <a:pt x="5" y="19"/>
                </a:cubicBezTo>
                <a:cubicBezTo>
                  <a:pt x="6" y="19"/>
                  <a:pt x="6" y="19"/>
                  <a:pt x="6" y="19"/>
                </a:cubicBezTo>
                <a:cubicBezTo>
                  <a:pt x="6" y="19"/>
                  <a:pt x="6" y="19"/>
                  <a:pt x="6" y="19"/>
                </a:cubicBezTo>
                <a:cubicBezTo>
                  <a:pt x="6" y="19"/>
                  <a:pt x="6" y="19"/>
                  <a:pt x="6" y="19"/>
                </a:cubicBezTo>
                <a:cubicBezTo>
                  <a:pt x="6" y="19"/>
                  <a:pt x="6" y="19"/>
                  <a:pt x="6" y="19"/>
                </a:cubicBezTo>
                <a:cubicBezTo>
                  <a:pt x="6" y="19"/>
                  <a:pt x="6" y="19"/>
                  <a:pt x="6" y="19"/>
                </a:cubicBezTo>
                <a:cubicBezTo>
                  <a:pt x="6" y="19"/>
                  <a:pt x="6" y="18"/>
                  <a:pt x="6" y="18"/>
                </a:cubicBezTo>
                <a:cubicBezTo>
                  <a:pt x="6" y="18"/>
                  <a:pt x="6" y="18"/>
                  <a:pt x="7" y="18"/>
                </a:cubicBezTo>
                <a:cubicBezTo>
                  <a:pt x="7" y="18"/>
                  <a:pt x="7" y="18"/>
                  <a:pt x="7" y="18"/>
                </a:cubicBezTo>
                <a:cubicBezTo>
                  <a:pt x="7" y="18"/>
                  <a:pt x="7" y="18"/>
                  <a:pt x="7" y="18"/>
                </a:cubicBezTo>
                <a:cubicBezTo>
                  <a:pt x="7" y="18"/>
                  <a:pt x="7" y="18"/>
                  <a:pt x="7" y="18"/>
                </a:cubicBezTo>
                <a:cubicBezTo>
                  <a:pt x="7" y="18"/>
                  <a:pt x="7" y="17"/>
                  <a:pt x="7" y="17"/>
                </a:cubicBezTo>
                <a:cubicBezTo>
                  <a:pt x="8" y="17"/>
                  <a:pt x="8" y="17"/>
                  <a:pt x="8" y="17"/>
                </a:cubicBezTo>
                <a:cubicBezTo>
                  <a:pt x="8" y="17"/>
                  <a:pt x="8" y="17"/>
                  <a:pt x="8" y="17"/>
                </a:cubicBezTo>
                <a:cubicBezTo>
                  <a:pt x="8" y="17"/>
                  <a:pt x="8" y="17"/>
                  <a:pt x="8" y="17"/>
                </a:cubicBezTo>
                <a:cubicBezTo>
                  <a:pt x="8" y="17"/>
                  <a:pt x="8" y="17"/>
                  <a:pt x="8" y="17"/>
                </a:cubicBezTo>
                <a:cubicBezTo>
                  <a:pt x="8" y="16"/>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6"/>
                  <a:pt x="8" y="16"/>
                  <a:pt x="8" y="16"/>
                </a:cubicBezTo>
                <a:cubicBezTo>
                  <a:pt x="8" y="15"/>
                  <a:pt x="8" y="16"/>
                  <a:pt x="8" y="16"/>
                </a:cubicBezTo>
                <a:cubicBezTo>
                  <a:pt x="8"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5"/>
                  <a:pt x="7" y="15"/>
                  <a:pt x="7" y="15"/>
                </a:cubicBezTo>
                <a:cubicBezTo>
                  <a:pt x="7" y="15"/>
                  <a:pt x="7" y="15"/>
                  <a:pt x="7" y="15"/>
                </a:cubicBezTo>
                <a:cubicBezTo>
                  <a:pt x="7" y="15"/>
                  <a:pt x="7" y="15"/>
                  <a:pt x="7" y="15"/>
                </a:cubicBezTo>
                <a:cubicBezTo>
                  <a:pt x="7" y="15"/>
                  <a:pt x="7" y="15"/>
                  <a:pt x="7" y="15"/>
                </a:cubicBezTo>
                <a:cubicBezTo>
                  <a:pt x="7" y="15"/>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7" y="16"/>
                  <a:pt x="7" y="16"/>
                  <a:pt x="7" y="16"/>
                </a:cubicBezTo>
                <a:cubicBezTo>
                  <a:pt x="6" y="16"/>
                  <a:pt x="6" y="16"/>
                  <a:pt x="6" y="16"/>
                </a:cubicBezTo>
                <a:cubicBezTo>
                  <a:pt x="6" y="16"/>
                  <a:pt x="6" y="16"/>
                  <a:pt x="6" y="16"/>
                </a:cubicBezTo>
                <a:cubicBezTo>
                  <a:pt x="6" y="16"/>
                  <a:pt x="6" y="16"/>
                  <a:pt x="6" y="16"/>
                </a:cubicBezTo>
                <a:cubicBezTo>
                  <a:pt x="6" y="16"/>
                  <a:pt x="6" y="16"/>
                  <a:pt x="6" y="16"/>
                </a:cubicBezTo>
                <a:cubicBezTo>
                  <a:pt x="6" y="15"/>
                  <a:pt x="6" y="15"/>
                  <a:pt x="6" y="15"/>
                </a:cubicBezTo>
                <a:cubicBezTo>
                  <a:pt x="6" y="16"/>
                  <a:pt x="6" y="16"/>
                  <a:pt x="6" y="16"/>
                </a:cubicBezTo>
                <a:cubicBezTo>
                  <a:pt x="5" y="16"/>
                  <a:pt x="5" y="16"/>
                  <a:pt x="5" y="16"/>
                </a:cubicBezTo>
                <a:cubicBezTo>
                  <a:pt x="5" y="16"/>
                  <a:pt x="5" y="16"/>
                  <a:pt x="5" y="16"/>
                </a:cubicBezTo>
                <a:cubicBezTo>
                  <a:pt x="5" y="16"/>
                  <a:pt x="5" y="16"/>
                  <a:pt x="5" y="16"/>
                </a:cubicBezTo>
                <a:cubicBezTo>
                  <a:pt x="5" y="16"/>
                  <a:pt x="5" y="16"/>
                  <a:pt x="5" y="16"/>
                </a:cubicBezTo>
                <a:cubicBezTo>
                  <a:pt x="5" y="16"/>
                  <a:pt x="4" y="16"/>
                  <a:pt x="5" y="16"/>
                </a:cubicBezTo>
                <a:cubicBezTo>
                  <a:pt x="5" y="16"/>
                  <a:pt x="5" y="16"/>
                  <a:pt x="5" y="16"/>
                </a:cubicBezTo>
                <a:cubicBezTo>
                  <a:pt x="5" y="16"/>
                  <a:pt x="5" y="15"/>
                  <a:pt x="5" y="15"/>
                </a:cubicBezTo>
                <a:cubicBezTo>
                  <a:pt x="5" y="15"/>
                  <a:pt x="5" y="15"/>
                  <a:pt x="5" y="15"/>
                </a:cubicBezTo>
                <a:cubicBezTo>
                  <a:pt x="5" y="15"/>
                  <a:pt x="5" y="15"/>
                  <a:pt x="5" y="15"/>
                </a:cubicBezTo>
                <a:cubicBezTo>
                  <a:pt x="5" y="15"/>
                  <a:pt x="5" y="15"/>
                  <a:pt x="4" y="15"/>
                </a:cubicBezTo>
                <a:cubicBezTo>
                  <a:pt x="4" y="14"/>
                  <a:pt x="4" y="14"/>
                  <a:pt x="4" y="14"/>
                </a:cubicBezTo>
                <a:cubicBezTo>
                  <a:pt x="4" y="14"/>
                  <a:pt x="4" y="14"/>
                  <a:pt x="4" y="14"/>
                </a:cubicBezTo>
                <a:cubicBezTo>
                  <a:pt x="5" y="14"/>
                  <a:pt x="5" y="14"/>
                  <a:pt x="5" y="14"/>
                </a:cubicBezTo>
                <a:cubicBezTo>
                  <a:pt x="4" y="14"/>
                  <a:pt x="4" y="14"/>
                  <a:pt x="4" y="14"/>
                </a:cubicBezTo>
                <a:cubicBezTo>
                  <a:pt x="4" y="14"/>
                  <a:pt x="4" y="14"/>
                  <a:pt x="4" y="14"/>
                </a:cubicBezTo>
                <a:cubicBezTo>
                  <a:pt x="4" y="14"/>
                  <a:pt x="4" y="14"/>
                  <a:pt x="4" y="14"/>
                </a:cubicBezTo>
                <a:cubicBezTo>
                  <a:pt x="4" y="14"/>
                  <a:pt x="4" y="14"/>
                  <a:pt x="4" y="14"/>
                </a:cubicBezTo>
                <a:cubicBezTo>
                  <a:pt x="4" y="15"/>
                  <a:pt x="4" y="15"/>
                  <a:pt x="3" y="15"/>
                </a:cubicBezTo>
                <a:cubicBezTo>
                  <a:pt x="3" y="15"/>
                  <a:pt x="3" y="15"/>
                  <a:pt x="3" y="15"/>
                </a:cubicBezTo>
                <a:cubicBezTo>
                  <a:pt x="3" y="15"/>
                  <a:pt x="3" y="14"/>
                  <a:pt x="3" y="14"/>
                </a:cubicBezTo>
                <a:cubicBezTo>
                  <a:pt x="3" y="14"/>
                  <a:pt x="3" y="14"/>
                  <a:pt x="3" y="14"/>
                </a:cubicBezTo>
                <a:cubicBezTo>
                  <a:pt x="3" y="14"/>
                  <a:pt x="3" y="14"/>
                  <a:pt x="3" y="14"/>
                </a:cubicBezTo>
                <a:cubicBezTo>
                  <a:pt x="3" y="14"/>
                  <a:pt x="3" y="14"/>
                  <a:pt x="3" y="14"/>
                </a:cubicBezTo>
                <a:cubicBezTo>
                  <a:pt x="2" y="14"/>
                  <a:pt x="2" y="14"/>
                  <a:pt x="2" y="14"/>
                </a:cubicBezTo>
                <a:cubicBezTo>
                  <a:pt x="2" y="14"/>
                  <a:pt x="2" y="14"/>
                  <a:pt x="2" y="14"/>
                </a:cubicBezTo>
                <a:cubicBezTo>
                  <a:pt x="2" y="14"/>
                  <a:pt x="2" y="14"/>
                  <a:pt x="2" y="14"/>
                </a:cubicBezTo>
                <a:cubicBezTo>
                  <a:pt x="2" y="14"/>
                  <a:pt x="2" y="14"/>
                  <a:pt x="2" y="14"/>
                </a:cubicBezTo>
                <a:cubicBezTo>
                  <a:pt x="2" y="14"/>
                  <a:pt x="2" y="14"/>
                  <a:pt x="2" y="13"/>
                </a:cubicBezTo>
                <a:cubicBezTo>
                  <a:pt x="2" y="13"/>
                  <a:pt x="2" y="13"/>
                  <a:pt x="2" y="13"/>
                </a:cubicBezTo>
                <a:cubicBezTo>
                  <a:pt x="3" y="13"/>
                  <a:pt x="3" y="13"/>
                  <a:pt x="3" y="13"/>
                </a:cubicBezTo>
                <a:cubicBezTo>
                  <a:pt x="3" y="14"/>
                  <a:pt x="3" y="14"/>
                  <a:pt x="3" y="14"/>
                </a:cubicBezTo>
                <a:cubicBezTo>
                  <a:pt x="3" y="14"/>
                  <a:pt x="3" y="14"/>
                  <a:pt x="3" y="14"/>
                </a:cubicBezTo>
                <a:cubicBezTo>
                  <a:pt x="3" y="14"/>
                  <a:pt x="3" y="14"/>
                  <a:pt x="3" y="14"/>
                </a:cubicBezTo>
                <a:cubicBezTo>
                  <a:pt x="3" y="14"/>
                  <a:pt x="3" y="14"/>
                  <a:pt x="3" y="14"/>
                </a:cubicBezTo>
                <a:cubicBezTo>
                  <a:pt x="3" y="14"/>
                  <a:pt x="3" y="14"/>
                  <a:pt x="3" y="14"/>
                </a:cubicBezTo>
                <a:cubicBezTo>
                  <a:pt x="3" y="14"/>
                  <a:pt x="3" y="14"/>
                  <a:pt x="3" y="14"/>
                </a:cubicBezTo>
                <a:cubicBezTo>
                  <a:pt x="3" y="14"/>
                  <a:pt x="3" y="14"/>
                  <a:pt x="3" y="14"/>
                </a:cubicBezTo>
                <a:cubicBezTo>
                  <a:pt x="3" y="13"/>
                  <a:pt x="3" y="13"/>
                  <a:pt x="3" y="13"/>
                </a:cubicBezTo>
                <a:cubicBezTo>
                  <a:pt x="3" y="13"/>
                  <a:pt x="3" y="13"/>
                  <a:pt x="3" y="13"/>
                </a:cubicBezTo>
                <a:cubicBezTo>
                  <a:pt x="3" y="13"/>
                  <a:pt x="3" y="13"/>
                  <a:pt x="3" y="13"/>
                </a:cubicBezTo>
                <a:cubicBezTo>
                  <a:pt x="3" y="13"/>
                  <a:pt x="3" y="13"/>
                  <a:pt x="3"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1" y="13"/>
                  <a:pt x="2" y="12"/>
                  <a:pt x="2" y="12"/>
                </a:cubicBezTo>
                <a:cubicBezTo>
                  <a:pt x="2" y="12"/>
                  <a:pt x="2" y="12"/>
                  <a:pt x="2" y="12"/>
                </a:cubicBezTo>
                <a:cubicBezTo>
                  <a:pt x="2" y="12"/>
                  <a:pt x="2" y="12"/>
                  <a:pt x="2" y="12"/>
                </a:cubicBezTo>
                <a:cubicBezTo>
                  <a:pt x="2" y="12"/>
                  <a:pt x="2" y="12"/>
                  <a:pt x="2" y="12"/>
                </a:cubicBezTo>
                <a:cubicBezTo>
                  <a:pt x="2" y="12"/>
                  <a:pt x="2" y="12"/>
                  <a:pt x="2" y="12"/>
                </a:cubicBezTo>
                <a:cubicBezTo>
                  <a:pt x="2" y="12"/>
                  <a:pt x="2" y="12"/>
                  <a:pt x="2" y="11"/>
                </a:cubicBezTo>
                <a:cubicBezTo>
                  <a:pt x="2" y="11"/>
                  <a:pt x="2" y="11"/>
                  <a:pt x="2" y="11"/>
                </a:cubicBezTo>
                <a:cubicBezTo>
                  <a:pt x="3" y="12"/>
                  <a:pt x="3" y="12"/>
                  <a:pt x="3" y="12"/>
                </a:cubicBezTo>
                <a:cubicBezTo>
                  <a:pt x="3" y="11"/>
                  <a:pt x="3" y="11"/>
                  <a:pt x="3" y="11"/>
                </a:cubicBezTo>
                <a:cubicBezTo>
                  <a:pt x="3" y="11"/>
                  <a:pt x="3" y="11"/>
                  <a:pt x="3" y="11"/>
                </a:cubicBezTo>
                <a:cubicBezTo>
                  <a:pt x="3" y="11"/>
                  <a:pt x="3" y="11"/>
                  <a:pt x="3" y="11"/>
                </a:cubicBezTo>
                <a:cubicBezTo>
                  <a:pt x="2" y="11"/>
                  <a:pt x="2" y="11"/>
                  <a:pt x="2" y="11"/>
                </a:cubicBezTo>
                <a:cubicBezTo>
                  <a:pt x="2" y="11"/>
                  <a:pt x="2" y="11"/>
                  <a:pt x="2"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4" y="11"/>
                  <a:pt x="4" y="11"/>
                  <a:pt x="4" y="11"/>
                </a:cubicBezTo>
                <a:cubicBezTo>
                  <a:pt x="4" y="11"/>
                  <a:pt x="4" y="11"/>
                  <a:pt x="4" y="10"/>
                </a:cubicBezTo>
                <a:cubicBezTo>
                  <a:pt x="4" y="10"/>
                  <a:pt x="4" y="10"/>
                  <a:pt x="4" y="10"/>
                </a:cubicBezTo>
                <a:cubicBezTo>
                  <a:pt x="4"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5" y="10"/>
                  <a:pt x="5" y="10"/>
                  <a:pt x="5" y="10"/>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4" y="9"/>
                  <a:pt x="4" y="9"/>
                </a:cubicBezTo>
                <a:cubicBezTo>
                  <a:pt x="4" y="9"/>
                  <a:pt x="4" y="9"/>
                  <a:pt x="4" y="9"/>
                </a:cubicBezTo>
                <a:cubicBezTo>
                  <a:pt x="4" y="9"/>
                  <a:pt x="4" y="9"/>
                  <a:pt x="4" y="9"/>
                </a:cubicBezTo>
                <a:cubicBezTo>
                  <a:pt x="4" y="9"/>
                  <a:pt x="4" y="9"/>
                  <a:pt x="4" y="9"/>
                </a:cubicBezTo>
                <a:cubicBezTo>
                  <a:pt x="4" y="9"/>
                  <a:pt x="4" y="9"/>
                  <a:pt x="4" y="9"/>
                </a:cubicBezTo>
                <a:cubicBezTo>
                  <a:pt x="4" y="9"/>
                  <a:pt x="4" y="9"/>
                  <a:pt x="4" y="9"/>
                </a:cubicBezTo>
                <a:cubicBezTo>
                  <a:pt x="4" y="9"/>
                  <a:pt x="4" y="9"/>
                  <a:pt x="4" y="9"/>
                </a:cubicBezTo>
                <a:cubicBezTo>
                  <a:pt x="4" y="9"/>
                  <a:pt x="4" y="9"/>
                  <a:pt x="4" y="9"/>
                </a:cubicBezTo>
                <a:cubicBezTo>
                  <a:pt x="4" y="9"/>
                  <a:pt x="4" y="9"/>
                  <a:pt x="4" y="9"/>
                </a:cubicBezTo>
                <a:cubicBezTo>
                  <a:pt x="3" y="9"/>
                  <a:pt x="3" y="9"/>
                  <a:pt x="3" y="9"/>
                </a:cubicBezTo>
                <a:cubicBezTo>
                  <a:pt x="3" y="9"/>
                  <a:pt x="3" y="9"/>
                  <a:pt x="3" y="9"/>
                </a:cubicBezTo>
                <a:cubicBezTo>
                  <a:pt x="3" y="9"/>
                  <a:pt x="3" y="9"/>
                  <a:pt x="3" y="9"/>
                </a:cubicBezTo>
                <a:cubicBezTo>
                  <a:pt x="3" y="9"/>
                  <a:pt x="3" y="9"/>
                  <a:pt x="3" y="9"/>
                </a:cubicBezTo>
                <a:cubicBezTo>
                  <a:pt x="2" y="9"/>
                  <a:pt x="2" y="9"/>
                  <a:pt x="2" y="9"/>
                </a:cubicBezTo>
                <a:cubicBezTo>
                  <a:pt x="2" y="9"/>
                  <a:pt x="2" y="9"/>
                  <a:pt x="2" y="9"/>
                </a:cubicBezTo>
                <a:cubicBezTo>
                  <a:pt x="2" y="9"/>
                  <a:pt x="1" y="9"/>
                  <a:pt x="1" y="9"/>
                </a:cubicBezTo>
                <a:cubicBezTo>
                  <a:pt x="1" y="9"/>
                  <a:pt x="1" y="9"/>
                  <a:pt x="1" y="9"/>
                </a:cubicBezTo>
                <a:cubicBezTo>
                  <a:pt x="1" y="9"/>
                  <a:pt x="1" y="9"/>
                  <a:pt x="1" y="9"/>
                </a:cubicBezTo>
                <a:cubicBezTo>
                  <a:pt x="1" y="9"/>
                  <a:pt x="1" y="9"/>
                  <a:pt x="1" y="9"/>
                </a:cubicBezTo>
                <a:cubicBezTo>
                  <a:pt x="1" y="9"/>
                  <a:pt x="1" y="9"/>
                  <a:pt x="1" y="9"/>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0" y="8"/>
                  <a:pt x="0" y="8"/>
                  <a:pt x="0" y="8"/>
                </a:cubicBezTo>
                <a:cubicBezTo>
                  <a:pt x="0" y="8"/>
                  <a:pt x="0" y="8"/>
                  <a:pt x="0" y="8"/>
                </a:cubicBezTo>
                <a:cubicBezTo>
                  <a:pt x="0" y="8"/>
                  <a:pt x="0" y="8"/>
                  <a:pt x="0" y="8"/>
                </a:cubicBezTo>
                <a:cubicBezTo>
                  <a:pt x="0" y="7"/>
                  <a:pt x="0" y="7"/>
                  <a:pt x="0" y="7"/>
                </a:cubicBezTo>
                <a:cubicBezTo>
                  <a:pt x="1" y="7"/>
                  <a:pt x="1" y="7"/>
                  <a:pt x="1" y="7"/>
                </a:cubicBezTo>
                <a:cubicBezTo>
                  <a:pt x="1" y="7"/>
                  <a:pt x="1" y="7"/>
                  <a:pt x="1" y="7"/>
                </a:cubicBezTo>
                <a:cubicBezTo>
                  <a:pt x="1" y="7"/>
                  <a:pt x="1" y="7"/>
                  <a:pt x="1" y="7"/>
                </a:cubicBezTo>
                <a:cubicBezTo>
                  <a:pt x="1"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4" y="7"/>
                </a:cubicBezTo>
                <a:cubicBezTo>
                  <a:pt x="4" y="7"/>
                  <a:pt x="4" y="7"/>
                  <a:pt x="4" y="7"/>
                </a:cubicBezTo>
                <a:cubicBezTo>
                  <a:pt x="4" y="7"/>
                  <a:pt x="4" y="7"/>
                  <a:pt x="4" y="7"/>
                </a:cubicBezTo>
                <a:cubicBezTo>
                  <a:pt x="4" y="7"/>
                  <a:pt x="4" y="7"/>
                  <a:pt x="4"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5" y="6"/>
                  <a:pt x="5" y="6"/>
                  <a:pt x="5" y="6"/>
                </a:cubicBezTo>
                <a:cubicBezTo>
                  <a:pt x="5" y="6"/>
                  <a:pt x="5" y="6"/>
                  <a:pt x="5" y="6"/>
                </a:cubicBezTo>
                <a:cubicBezTo>
                  <a:pt x="5" y="7"/>
                  <a:pt x="5" y="7"/>
                  <a:pt x="5" y="7"/>
                </a:cubicBezTo>
                <a:cubicBezTo>
                  <a:pt x="5" y="7"/>
                  <a:pt x="5" y="7"/>
                  <a:pt x="5" y="7"/>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4" y="6"/>
                  <a:pt x="3" y="6"/>
                </a:cubicBezTo>
                <a:cubicBezTo>
                  <a:pt x="3" y="6"/>
                  <a:pt x="3" y="6"/>
                  <a:pt x="3" y="6"/>
                </a:cubicBezTo>
                <a:cubicBezTo>
                  <a:pt x="3" y="6"/>
                  <a:pt x="3" y="6"/>
                  <a:pt x="3" y="6"/>
                </a:cubicBezTo>
                <a:cubicBezTo>
                  <a:pt x="3" y="5"/>
                  <a:pt x="3" y="5"/>
                  <a:pt x="2" y="5"/>
                </a:cubicBezTo>
                <a:cubicBezTo>
                  <a:pt x="2" y="5"/>
                  <a:pt x="1" y="4"/>
                  <a:pt x="1" y="4"/>
                </a:cubicBezTo>
                <a:cubicBezTo>
                  <a:pt x="1" y="4"/>
                  <a:pt x="1" y="4"/>
                  <a:pt x="1" y="4"/>
                </a:cubicBezTo>
                <a:cubicBezTo>
                  <a:pt x="1" y="4"/>
                  <a:pt x="1" y="4"/>
                  <a:pt x="1" y="4"/>
                </a:cubicBezTo>
                <a:cubicBezTo>
                  <a:pt x="1" y="4"/>
                  <a:pt x="1" y="4"/>
                  <a:pt x="1" y="4"/>
                </a:cubicBezTo>
                <a:cubicBezTo>
                  <a:pt x="1" y="4"/>
                  <a:pt x="2" y="4"/>
                  <a:pt x="2" y="4"/>
                </a:cubicBezTo>
                <a:cubicBezTo>
                  <a:pt x="2" y="4"/>
                  <a:pt x="3" y="4"/>
                  <a:pt x="3" y="4"/>
                </a:cubicBezTo>
                <a:cubicBezTo>
                  <a:pt x="3" y="4"/>
                  <a:pt x="3" y="4"/>
                  <a:pt x="3" y="4"/>
                </a:cubicBezTo>
                <a:cubicBezTo>
                  <a:pt x="3" y="3"/>
                  <a:pt x="3" y="3"/>
                  <a:pt x="3" y="3"/>
                </a:cubicBezTo>
                <a:cubicBezTo>
                  <a:pt x="3" y="3"/>
                  <a:pt x="3" y="3"/>
                  <a:pt x="3" y="3"/>
                </a:cubicBezTo>
                <a:cubicBezTo>
                  <a:pt x="3" y="3"/>
                  <a:pt x="4" y="3"/>
                  <a:pt x="4" y="3"/>
                </a:cubicBezTo>
                <a:cubicBezTo>
                  <a:pt x="4" y="3"/>
                  <a:pt x="4" y="2"/>
                  <a:pt x="4" y="2"/>
                </a:cubicBezTo>
                <a:cubicBezTo>
                  <a:pt x="4" y="2"/>
                  <a:pt x="5" y="2"/>
                  <a:pt x="5" y="2"/>
                </a:cubicBezTo>
                <a:cubicBezTo>
                  <a:pt x="5" y="2"/>
                  <a:pt x="5" y="2"/>
                  <a:pt x="5" y="2"/>
                </a:cubicBezTo>
                <a:cubicBezTo>
                  <a:pt x="5" y="2"/>
                  <a:pt x="5" y="2"/>
                  <a:pt x="5" y="2"/>
                </a:cubicBezTo>
                <a:cubicBezTo>
                  <a:pt x="5" y="2"/>
                  <a:pt x="5" y="2"/>
                  <a:pt x="6" y="2"/>
                </a:cubicBezTo>
                <a:cubicBezTo>
                  <a:pt x="6" y="1"/>
                  <a:pt x="6" y="1"/>
                  <a:pt x="6" y="1"/>
                </a:cubicBezTo>
                <a:cubicBezTo>
                  <a:pt x="6" y="1"/>
                  <a:pt x="6" y="1"/>
                  <a:pt x="6" y="1"/>
                </a:cubicBezTo>
                <a:cubicBezTo>
                  <a:pt x="6" y="2"/>
                  <a:pt x="6" y="2"/>
                  <a:pt x="6" y="2"/>
                </a:cubicBezTo>
                <a:cubicBezTo>
                  <a:pt x="6" y="2"/>
                  <a:pt x="6" y="2"/>
                  <a:pt x="6" y="2"/>
                </a:cubicBezTo>
                <a:cubicBezTo>
                  <a:pt x="6" y="2"/>
                  <a:pt x="6" y="2"/>
                  <a:pt x="6" y="2"/>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7" y="1"/>
                  <a:pt x="7" y="1"/>
                  <a:pt x="7" y="1"/>
                </a:cubicBezTo>
                <a:cubicBezTo>
                  <a:pt x="7" y="1"/>
                  <a:pt x="7" y="1"/>
                  <a:pt x="7" y="1"/>
                </a:cubicBezTo>
                <a:cubicBezTo>
                  <a:pt x="8" y="1"/>
                  <a:pt x="8" y="1"/>
                  <a:pt x="8" y="1"/>
                </a:cubicBezTo>
                <a:cubicBezTo>
                  <a:pt x="8" y="0"/>
                  <a:pt x="9" y="0"/>
                  <a:pt x="9" y="0"/>
                </a:cubicBezTo>
                <a:cubicBezTo>
                  <a:pt x="9" y="0"/>
                  <a:pt x="9" y="0"/>
                  <a:pt x="9" y="0"/>
                </a:cubicBezTo>
                <a:cubicBezTo>
                  <a:pt x="9" y="0"/>
                  <a:pt x="9" y="0"/>
                  <a:pt x="9" y="0"/>
                </a:cubicBezTo>
                <a:cubicBezTo>
                  <a:pt x="9" y="0"/>
                  <a:pt x="9" y="0"/>
                  <a:pt x="9" y="0"/>
                </a:cubicBezTo>
                <a:cubicBezTo>
                  <a:pt x="9" y="0"/>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9" y="1"/>
                </a:cubicBezTo>
                <a:cubicBezTo>
                  <a:pt x="10" y="1"/>
                  <a:pt x="10" y="1"/>
                  <a:pt x="10" y="1"/>
                </a:cubicBezTo>
                <a:cubicBezTo>
                  <a:pt x="10" y="1"/>
                  <a:pt x="10" y="1"/>
                  <a:pt x="10" y="1"/>
                </a:cubicBezTo>
                <a:cubicBezTo>
                  <a:pt x="10" y="1"/>
                  <a:pt x="10" y="1"/>
                  <a:pt x="10" y="1"/>
                </a:cubicBezTo>
                <a:cubicBezTo>
                  <a:pt x="10" y="1"/>
                  <a:pt x="10" y="1"/>
                  <a:pt x="10" y="1"/>
                </a:cubicBezTo>
                <a:cubicBezTo>
                  <a:pt x="10" y="1"/>
                  <a:pt x="10" y="1"/>
                  <a:pt x="10" y="1"/>
                </a:cubicBezTo>
                <a:cubicBezTo>
                  <a:pt x="10" y="1"/>
                  <a:pt x="10" y="1"/>
                  <a:pt x="10" y="1"/>
                </a:cubicBezTo>
                <a:cubicBezTo>
                  <a:pt x="11" y="1"/>
                  <a:pt x="11" y="1"/>
                  <a:pt x="11" y="1"/>
                </a:cubicBezTo>
                <a:cubicBezTo>
                  <a:pt x="11" y="1"/>
                  <a:pt x="11" y="1"/>
                  <a:pt x="11" y="1"/>
                </a:cubicBezTo>
                <a:cubicBezTo>
                  <a:pt x="11" y="1"/>
                  <a:pt x="11" y="1"/>
                  <a:pt x="11" y="1"/>
                </a:cubicBezTo>
                <a:cubicBezTo>
                  <a:pt x="11" y="1"/>
                  <a:pt x="12" y="1"/>
                  <a:pt x="12" y="1"/>
                </a:cubicBezTo>
                <a:cubicBezTo>
                  <a:pt x="12" y="1"/>
                  <a:pt x="12" y="1"/>
                  <a:pt x="12" y="1"/>
                </a:cubicBezTo>
                <a:cubicBezTo>
                  <a:pt x="12" y="1"/>
                  <a:pt x="12" y="1"/>
                  <a:pt x="12" y="1"/>
                </a:cubicBezTo>
                <a:cubicBezTo>
                  <a:pt x="12" y="1"/>
                  <a:pt x="12" y="1"/>
                  <a:pt x="12" y="1"/>
                </a:cubicBezTo>
                <a:cubicBezTo>
                  <a:pt x="12" y="1"/>
                  <a:pt x="12" y="1"/>
                  <a:pt x="12" y="1"/>
                </a:cubicBezTo>
                <a:cubicBezTo>
                  <a:pt x="12" y="1"/>
                  <a:pt x="12" y="2"/>
                  <a:pt x="12" y="2"/>
                </a:cubicBezTo>
                <a:cubicBezTo>
                  <a:pt x="12" y="2"/>
                  <a:pt x="12" y="2"/>
                  <a:pt x="13" y="2"/>
                </a:cubicBezTo>
                <a:cubicBezTo>
                  <a:pt x="13" y="2"/>
                  <a:pt x="13" y="2"/>
                  <a:pt x="13" y="2"/>
                </a:cubicBezTo>
                <a:cubicBezTo>
                  <a:pt x="13" y="1"/>
                  <a:pt x="13" y="1"/>
                  <a:pt x="13" y="1"/>
                </a:cubicBezTo>
                <a:cubicBezTo>
                  <a:pt x="13" y="1"/>
                  <a:pt x="13" y="1"/>
                  <a:pt x="14" y="1"/>
                </a:cubicBezTo>
                <a:cubicBezTo>
                  <a:pt x="14" y="1"/>
                  <a:pt x="14" y="1"/>
                  <a:pt x="14" y="1"/>
                </a:cubicBezTo>
                <a:cubicBezTo>
                  <a:pt x="14" y="2"/>
                  <a:pt x="15" y="2"/>
                  <a:pt x="15" y="2"/>
                </a:cubicBezTo>
                <a:cubicBezTo>
                  <a:pt x="15" y="2"/>
                  <a:pt x="15" y="2"/>
                  <a:pt x="15" y="2"/>
                </a:cubicBezTo>
                <a:cubicBezTo>
                  <a:pt x="15" y="2"/>
                  <a:pt x="16" y="2"/>
                  <a:pt x="16" y="2"/>
                </a:cubicBezTo>
                <a:cubicBezTo>
                  <a:pt x="16" y="2"/>
                  <a:pt x="17" y="2"/>
                  <a:pt x="17" y="2"/>
                </a:cubicBezTo>
                <a:cubicBezTo>
                  <a:pt x="17" y="2"/>
                  <a:pt x="17" y="2"/>
                  <a:pt x="17" y="2"/>
                </a:cubicBezTo>
                <a:cubicBezTo>
                  <a:pt x="17" y="2"/>
                  <a:pt x="18" y="2"/>
                  <a:pt x="18" y="2"/>
                </a:cubicBezTo>
                <a:cubicBezTo>
                  <a:pt x="18" y="2"/>
                  <a:pt x="18" y="2"/>
                  <a:pt x="18" y="2"/>
                </a:cubicBezTo>
                <a:cubicBezTo>
                  <a:pt x="18" y="2"/>
                  <a:pt x="18" y="2"/>
                  <a:pt x="18" y="2"/>
                </a:cubicBezTo>
                <a:cubicBezTo>
                  <a:pt x="18" y="2"/>
                  <a:pt x="18" y="2"/>
                  <a:pt x="19" y="2"/>
                </a:cubicBezTo>
                <a:cubicBezTo>
                  <a:pt x="19" y="2"/>
                  <a:pt x="19" y="2"/>
                  <a:pt x="19" y="2"/>
                </a:cubicBezTo>
                <a:cubicBezTo>
                  <a:pt x="20" y="2"/>
                  <a:pt x="20" y="2"/>
                  <a:pt x="20" y="2"/>
                </a:cubicBezTo>
                <a:cubicBezTo>
                  <a:pt x="20" y="3"/>
                  <a:pt x="20" y="3"/>
                  <a:pt x="20" y="3"/>
                </a:cubicBezTo>
                <a:cubicBezTo>
                  <a:pt x="20" y="3"/>
                  <a:pt x="20" y="3"/>
                  <a:pt x="21" y="3"/>
                </a:cubicBezTo>
                <a:cubicBezTo>
                  <a:pt x="21" y="3"/>
                  <a:pt x="21" y="3"/>
                  <a:pt x="21" y="3"/>
                </a:cubicBezTo>
                <a:cubicBezTo>
                  <a:pt x="22" y="3"/>
                  <a:pt x="22" y="3"/>
                  <a:pt x="22" y="3"/>
                </a:cubicBezTo>
                <a:cubicBezTo>
                  <a:pt x="22" y="3"/>
                  <a:pt x="22" y="3"/>
                  <a:pt x="22" y="3"/>
                </a:cubicBezTo>
                <a:cubicBezTo>
                  <a:pt x="22" y="3"/>
                  <a:pt x="22" y="3"/>
                  <a:pt x="22" y="3"/>
                </a:cubicBezTo>
                <a:cubicBezTo>
                  <a:pt x="22" y="3"/>
                  <a:pt x="23" y="3"/>
                  <a:pt x="23" y="3"/>
                </a:cubicBezTo>
                <a:cubicBezTo>
                  <a:pt x="24" y="4"/>
                  <a:pt x="24" y="4"/>
                  <a:pt x="24" y="4"/>
                </a:cubicBezTo>
                <a:cubicBezTo>
                  <a:pt x="25" y="4"/>
                  <a:pt x="25" y="4"/>
                  <a:pt x="25" y="4"/>
                </a:cubicBezTo>
                <a:cubicBezTo>
                  <a:pt x="25" y="4"/>
                  <a:pt x="25" y="4"/>
                  <a:pt x="25" y="4"/>
                </a:cubicBezTo>
                <a:cubicBezTo>
                  <a:pt x="25" y="4"/>
                  <a:pt x="25" y="4"/>
                  <a:pt x="25" y="4"/>
                </a:cubicBezTo>
                <a:cubicBezTo>
                  <a:pt x="25" y="4"/>
                  <a:pt x="25" y="4"/>
                  <a:pt x="25" y="4"/>
                </a:cubicBezTo>
                <a:cubicBezTo>
                  <a:pt x="25" y="4"/>
                  <a:pt x="25" y="4"/>
                  <a:pt x="25" y="4"/>
                </a:cubicBezTo>
                <a:cubicBezTo>
                  <a:pt x="25" y="4"/>
                  <a:pt x="25" y="4"/>
                  <a:pt x="25" y="4"/>
                </a:cubicBezTo>
                <a:cubicBezTo>
                  <a:pt x="25" y="4"/>
                  <a:pt x="25" y="3"/>
                  <a:pt x="25" y="3"/>
                </a:cubicBezTo>
                <a:cubicBezTo>
                  <a:pt x="25" y="3"/>
                  <a:pt x="25" y="3"/>
                  <a:pt x="25" y="3"/>
                </a:cubicBezTo>
                <a:cubicBezTo>
                  <a:pt x="25" y="3"/>
                  <a:pt x="26" y="3"/>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6" y="3"/>
                  <a:pt x="27" y="3"/>
                </a:cubicBezTo>
                <a:cubicBezTo>
                  <a:pt x="27" y="3"/>
                  <a:pt x="27" y="3"/>
                  <a:pt x="27" y="3"/>
                </a:cubicBezTo>
                <a:cubicBezTo>
                  <a:pt x="27" y="2"/>
                  <a:pt x="27" y="2"/>
                  <a:pt x="27" y="2"/>
                </a:cubicBezTo>
                <a:cubicBezTo>
                  <a:pt x="27" y="2"/>
                  <a:pt x="27" y="2"/>
                  <a:pt x="27" y="2"/>
                </a:cubicBezTo>
                <a:cubicBezTo>
                  <a:pt x="27" y="2"/>
                  <a:pt x="28" y="2"/>
                  <a:pt x="28" y="2"/>
                </a:cubicBezTo>
                <a:cubicBezTo>
                  <a:pt x="28" y="2"/>
                  <a:pt x="28" y="2"/>
                  <a:pt x="28" y="2"/>
                </a:cubicBezTo>
                <a:cubicBezTo>
                  <a:pt x="28" y="2"/>
                  <a:pt x="28" y="2"/>
                  <a:pt x="28" y="2"/>
                </a:cubicBezTo>
                <a:cubicBezTo>
                  <a:pt x="28" y="2"/>
                  <a:pt x="28" y="2"/>
                  <a:pt x="28" y="2"/>
                </a:cubicBezTo>
                <a:cubicBezTo>
                  <a:pt x="28" y="2"/>
                  <a:pt x="28" y="2"/>
                  <a:pt x="29" y="2"/>
                </a:cubicBezTo>
                <a:cubicBezTo>
                  <a:pt x="29" y="2"/>
                  <a:pt x="29" y="2"/>
                  <a:pt x="29" y="2"/>
                </a:cubicBezTo>
                <a:cubicBezTo>
                  <a:pt x="29" y="2"/>
                  <a:pt x="29" y="2"/>
                  <a:pt x="29" y="2"/>
                </a:cubicBezTo>
                <a:cubicBezTo>
                  <a:pt x="29" y="2"/>
                  <a:pt x="29" y="2"/>
                  <a:pt x="29" y="2"/>
                </a:cubicBezTo>
                <a:cubicBezTo>
                  <a:pt x="29" y="2"/>
                  <a:pt x="29" y="2"/>
                  <a:pt x="28" y="2"/>
                </a:cubicBezTo>
                <a:cubicBezTo>
                  <a:pt x="28" y="3"/>
                  <a:pt x="28" y="3"/>
                  <a:pt x="27" y="3"/>
                </a:cubicBezTo>
                <a:cubicBezTo>
                  <a:pt x="27" y="3"/>
                  <a:pt x="27" y="3"/>
                  <a:pt x="27" y="3"/>
                </a:cubicBezTo>
                <a:cubicBezTo>
                  <a:pt x="27" y="3"/>
                  <a:pt x="27" y="3"/>
                  <a:pt x="27" y="3"/>
                </a:cubicBezTo>
                <a:cubicBezTo>
                  <a:pt x="27" y="3"/>
                  <a:pt x="27" y="3"/>
                  <a:pt x="27" y="3"/>
                </a:cubicBezTo>
                <a:cubicBezTo>
                  <a:pt x="27" y="3"/>
                  <a:pt x="27" y="3"/>
                  <a:pt x="27" y="3"/>
                </a:cubicBezTo>
                <a:cubicBezTo>
                  <a:pt x="26" y="3"/>
                  <a:pt x="26" y="3"/>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6" y="3"/>
                  <a:pt x="26" y="3"/>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7" y="4"/>
                  <a:pt x="27" y="4"/>
                  <a:pt x="27" y="4"/>
                </a:cubicBezTo>
                <a:cubicBezTo>
                  <a:pt x="26" y="4"/>
                  <a:pt x="26" y="4"/>
                  <a:pt x="26" y="4"/>
                </a:cubicBezTo>
                <a:cubicBezTo>
                  <a:pt x="26" y="3"/>
                  <a:pt x="26" y="3"/>
                  <a:pt x="26" y="3"/>
                </a:cubicBezTo>
                <a:cubicBezTo>
                  <a:pt x="26" y="3"/>
                  <a:pt x="27" y="3"/>
                  <a:pt x="27" y="3"/>
                </a:cubicBezTo>
                <a:cubicBezTo>
                  <a:pt x="27" y="3"/>
                  <a:pt x="27" y="3"/>
                  <a:pt x="27" y="3"/>
                </a:cubicBezTo>
                <a:cubicBezTo>
                  <a:pt x="27" y="3"/>
                  <a:pt x="27" y="3"/>
                  <a:pt x="27" y="3"/>
                </a:cubicBezTo>
                <a:cubicBezTo>
                  <a:pt x="27" y="3"/>
                  <a:pt x="27" y="3"/>
                  <a:pt x="27" y="3"/>
                </a:cubicBezTo>
                <a:cubicBezTo>
                  <a:pt x="28" y="3"/>
                  <a:pt x="28" y="3"/>
                  <a:pt x="28" y="3"/>
                </a:cubicBezTo>
                <a:cubicBezTo>
                  <a:pt x="28" y="3"/>
                  <a:pt x="28" y="3"/>
                  <a:pt x="28" y="3"/>
                </a:cubicBezTo>
                <a:cubicBezTo>
                  <a:pt x="28" y="3"/>
                  <a:pt x="29" y="2"/>
                  <a:pt x="29" y="2"/>
                </a:cubicBezTo>
                <a:cubicBezTo>
                  <a:pt x="29" y="2"/>
                  <a:pt x="29" y="2"/>
                  <a:pt x="29" y="2"/>
                </a:cubicBezTo>
                <a:cubicBezTo>
                  <a:pt x="29" y="2"/>
                  <a:pt x="29" y="2"/>
                  <a:pt x="29" y="2"/>
                </a:cubicBezTo>
                <a:cubicBezTo>
                  <a:pt x="29" y="2"/>
                  <a:pt x="29" y="2"/>
                  <a:pt x="30" y="2"/>
                </a:cubicBezTo>
                <a:cubicBezTo>
                  <a:pt x="30" y="2"/>
                  <a:pt x="30" y="2"/>
                  <a:pt x="30" y="2"/>
                </a:cubicBezTo>
                <a:cubicBezTo>
                  <a:pt x="30" y="2"/>
                  <a:pt x="30" y="2"/>
                  <a:pt x="30" y="2"/>
                </a:cubicBezTo>
                <a:cubicBezTo>
                  <a:pt x="30" y="2"/>
                  <a:pt x="30" y="2"/>
                  <a:pt x="30" y="2"/>
                </a:cubicBezTo>
                <a:cubicBezTo>
                  <a:pt x="30" y="2"/>
                  <a:pt x="30" y="2"/>
                  <a:pt x="30" y="2"/>
                </a:cubicBezTo>
                <a:cubicBezTo>
                  <a:pt x="30" y="2"/>
                  <a:pt x="30" y="2"/>
                  <a:pt x="30" y="2"/>
                </a:cubicBezTo>
                <a:cubicBezTo>
                  <a:pt x="30" y="2"/>
                  <a:pt x="30" y="2"/>
                  <a:pt x="30" y="2"/>
                </a:cubicBezTo>
                <a:cubicBezTo>
                  <a:pt x="30" y="2"/>
                  <a:pt x="30" y="2"/>
                  <a:pt x="30" y="1"/>
                </a:cubicBezTo>
                <a:cubicBezTo>
                  <a:pt x="30" y="1"/>
                  <a:pt x="30" y="1"/>
                  <a:pt x="30" y="1"/>
                </a:cubicBezTo>
                <a:cubicBezTo>
                  <a:pt x="30" y="1"/>
                  <a:pt x="30" y="1"/>
                  <a:pt x="30" y="1"/>
                </a:cubicBezTo>
                <a:cubicBezTo>
                  <a:pt x="30" y="1"/>
                  <a:pt x="30" y="1"/>
                  <a:pt x="30" y="1"/>
                </a:cubicBezTo>
                <a:cubicBezTo>
                  <a:pt x="31" y="2"/>
                  <a:pt x="31" y="2"/>
                  <a:pt x="31" y="2"/>
                </a:cubicBezTo>
                <a:cubicBezTo>
                  <a:pt x="31" y="2"/>
                  <a:pt x="31" y="2"/>
                  <a:pt x="31" y="2"/>
                </a:cubicBezTo>
                <a:cubicBezTo>
                  <a:pt x="31" y="2"/>
                  <a:pt x="31" y="2"/>
                  <a:pt x="31" y="2"/>
                </a:cubicBezTo>
                <a:cubicBezTo>
                  <a:pt x="31" y="2"/>
                  <a:pt x="31" y="2"/>
                  <a:pt x="31" y="2"/>
                </a:cubicBezTo>
                <a:cubicBezTo>
                  <a:pt x="31" y="3"/>
                  <a:pt x="31" y="3"/>
                  <a:pt x="31" y="3"/>
                </a:cubicBezTo>
                <a:cubicBezTo>
                  <a:pt x="31" y="3"/>
                  <a:pt x="31" y="3"/>
                  <a:pt x="31" y="3"/>
                </a:cubicBezTo>
                <a:cubicBezTo>
                  <a:pt x="31" y="3"/>
                  <a:pt x="31" y="3"/>
                  <a:pt x="31" y="3"/>
                </a:cubicBezTo>
                <a:cubicBezTo>
                  <a:pt x="32" y="3"/>
                  <a:pt x="32" y="3"/>
                  <a:pt x="32" y="3"/>
                </a:cubicBezTo>
                <a:cubicBezTo>
                  <a:pt x="32" y="3"/>
                  <a:pt x="32" y="3"/>
                  <a:pt x="32" y="3"/>
                </a:cubicBezTo>
                <a:cubicBezTo>
                  <a:pt x="32" y="3"/>
                  <a:pt x="32" y="3"/>
                  <a:pt x="32" y="3"/>
                </a:cubicBezTo>
                <a:cubicBezTo>
                  <a:pt x="32" y="3"/>
                  <a:pt x="32" y="3"/>
                  <a:pt x="32" y="3"/>
                </a:cubicBezTo>
                <a:cubicBezTo>
                  <a:pt x="32" y="3"/>
                  <a:pt x="32" y="3"/>
                  <a:pt x="32" y="3"/>
                </a:cubicBezTo>
                <a:cubicBezTo>
                  <a:pt x="32" y="3"/>
                  <a:pt x="32" y="3"/>
                  <a:pt x="32" y="3"/>
                </a:cubicBezTo>
                <a:cubicBezTo>
                  <a:pt x="32" y="3"/>
                  <a:pt x="32" y="3"/>
                  <a:pt x="32" y="3"/>
                </a:cubicBezTo>
                <a:cubicBezTo>
                  <a:pt x="32" y="3"/>
                  <a:pt x="32" y="3"/>
                  <a:pt x="32" y="3"/>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3" y="2"/>
                  <a:pt x="33" y="2"/>
                  <a:pt x="33" y="2"/>
                </a:cubicBezTo>
                <a:cubicBezTo>
                  <a:pt x="33" y="2"/>
                  <a:pt x="33" y="2"/>
                  <a:pt x="33" y="2"/>
                </a:cubicBezTo>
                <a:cubicBezTo>
                  <a:pt x="33" y="2"/>
                  <a:pt x="33" y="2"/>
                  <a:pt x="33" y="2"/>
                </a:cubicBezTo>
                <a:cubicBezTo>
                  <a:pt x="33" y="2"/>
                  <a:pt x="33" y="2"/>
                  <a:pt x="33" y="2"/>
                </a:cubicBezTo>
                <a:cubicBezTo>
                  <a:pt x="33" y="3"/>
                  <a:pt x="33" y="3"/>
                  <a:pt x="33" y="3"/>
                </a:cubicBezTo>
                <a:cubicBezTo>
                  <a:pt x="33" y="3"/>
                  <a:pt x="33" y="3"/>
                  <a:pt x="33" y="3"/>
                </a:cubicBezTo>
                <a:cubicBezTo>
                  <a:pt x="33" y="3"/>
                  <a:pt x="33" y="3"/>
                  <a:pt x="33" y="3"/>
                </a:cubicBezTo>
                <a:cubicBezTo>
                  <a:pt x="33" y="3"/>
                  <a:pt x="33" y="3"/>
                  <a:pt x="33" y="3"/>
                </a:cubicBezTo>
                <a:cubicBezTo>
                  <a:pt x="33" y="3"/>
                  <a:pt x="33" y="3"/>
                  <a:pt x="33" y="3"/>
                </a:cubicBezTo>
                <a:cubicBezTo>
                  <a:pt x="33" y="3"/>
                  <a:pt x="33" y="3"/>
                  <a:pt x="33" y="3"/>
                </a:cubicBezTo>
                <a:cubicBezTo>
                  <a:pt x="33" y="3"/>
                  <a:pt x="33" y="3"/>
                  <a:pt x="34" y="3"/>
                </a:cubicBezTo>
                <a:cubicBezTo>
                  <a:pt x="34" y="3"/>
                  <a:pt x="34" y="3"/>
                  <a:pt x="34" y="3"/>
                </a:cubicBezTo>
                <a:cubicBezTo>
                  <a:pt x="34" y="3"/>
                  <a:pt x="34" y="3"/>
                  <a:pt x="34" y="3"/>
                </a:cubicBezTo>
                <a:cubicBezTo>
                  <a:pt x="34" y="2"/>
                  <a:pt x="34" y="2"/>
                  <a:pt x="34" y="2"/>
                </a:cubicBezTo>
                <a:cubicBezTo>
                  <a:pt x="34" y="2"/>
                  <a:pt x="35" y="2"/>
                  <a:pt x="35" y="2"/>
                </a:cubicBezTo>
                <a:cubicBezTo>
                  <a:pt x="35" y="2"/>
                  <a:pt x="35" y="3"/>
                  <a:pt x="36" y="3"/>
                </a:cubicBezTo>
                <a:cubicBezTo>
                  <a:pt x="36" y="3"/>
                  <a:pt x="36" y="3"/>
                  <a:pt x="36" y="3"/>
                </a:cubicBezTo>
                <a:cubicBezTo>
                  <a:pt x="37" y="3"/>
                  <a:pt x="37" y="3"/>
                  <a:pt x="37" y="3"/>
                </a:cubicBezTo>
                <a:cubicBezTo>
                  <a:pt x="37" y="3"/>
                  <a:pt x="38" y="4"/>
                  <a:pt x="38" y="4"/>
                </a:cubicBezTo>
                <a:cubicBezTo>
                  <a:pt x="39" y="4"/>
                  <a:pt x="39" y="4"/>
                  <a:pt x="39" y="4"/>
                </a:cubicBezTo>
                <a:cubicBezTo>
                  <a:pt x="39" y="4"/>
                  <a:pt x="39" y="4"/>
                  <a:pt x="39" y="4"/>
                </a:cubicBezTo>
                <a:cubicBezTo>
                  <a:pt x="39" y="4"/>
                  <a:pt x="39" y="4"/>
                  <a:pt x="39" y="4"/>
                </a:cubicBezTo>
                <a:cubicBezTo>
                  <a:pt x="39" y="4"/>
                  <a:pt x="40" y="4"/>
                  <a:pt x="40" y="4"/>
                </a:cubicBezTo>
                <a:cubicBezTo>
                  <a:pt x="40" y="4"/>
                  <a:pt x="41" y="4"/>
                  <a:pt x="41" y="4"/>
                </a:cubicBezTo>
                <a:cubicBezTo>
                  <a:pt x="40" y="4"/>
                  <a:pt x="40" y="4"/>
                  <a:pt x="40" y="4"/>
                </a:cubicBezTo>
                <a:cubicBezTo>
                  <a:pt x="40" y="4"/>
                  <a:pt x="40" y="4"/>
                  <a:pt x="40" y="4"/>
                </a:cubicBezTo>
                <a:cubicBezTo>
                  <a:pt x="40" y="4"/>
                  <a:pt x="40" y="4"/>
                  <a:pt x="40" y="4"/>
                </a:cubicBezTo>
                <a:cubicBezTo>
                  <a:pt x="40" y="5"/>
                  <a:pt x="40" y="5"/>
                  <a:pt x="40" y="5"/>
                </a:cubicBezTo>
                <a:cubicBezTo>
                  <a:pt x="40" y="5"/>
                  <a:pt x="40" y="5"/>
                  <a:pt x="40" y="5"/>
                </a:cubicBezTo>
                <a:cubicBezTo>
                  <a:pt x="40" y="5"/>
                  <a:pt x="40" y="5"/>
                  <a:pt x="40" y="5"/>
                </a:cubicBezTo>
                <a:cubicBezTo>
                  <a:pt x="40" y="5"/>
                  <a:pt x="40" y="5"/>
                  <a:pt x="40" y="5"/>
                </a:cubicBezTo>
                <a:cubicBezTo>
                  <a:pt x="40" y="5"/>
                  <a:pt x="41" y="5"/>
                  <a:pt x="41" y="5"/>
                </a:cubicBezTo>
                <a:cubicBezTo>
                  <a:pt x="41" y="5"/>
                  <a:pt x="41" y="5"/>
                  <a:pt x="41" y="5"/>
                </a:cubicBezTo>
                <a:cubicBezTo>
                  <a:pt x="41" y="5"/>
                  <a:pt x="42" y="5"/>
                  <a:pt x="42" y="5"/>
                </a:cubicBezTo>
                <a:cubicBezTo>
                  <a:pt x="42" y="5"/>
                  <a:pt x="42" y="5"/>
                  <a:pt x="42" y="5"/>
                </a:cubicBezTo>
                <a:cubicBezTo>
                  <a:pt x="42" y="5"/>
                  <a:pt x="42" y="5"/>
                  <a:pt x="43" y="5"/>
                </a:cubicBezTo>
                <a:cubicBezTo>
                  <a:pt x="43" y="5"/>
                  <a:pt x="43" y="5"/>
                  <a:pt x="43" y="5"/>
                </a:cubicBezTo>
                <a:cubicBezTo>
                  <a:pt x="43" y="5"/>
                  <a:pt x="43" y="5"/>
                  <a:pt x="43" y="5"/>
                </a:cubicBezTo>
                <a:cubicBezTo>
                  <a:pt x="43" y="5"/>
                  <a:pt x="43" y="5"/>
                  <a:pt x="43" y="5"/>
                </a:cubicBezTo>
                <a:cubicBezTo>
                  <a:pt x="44" y="5"/>
                  <a:pt x="44" y="5"/>
                  <a:pt x="44" y="5"/>
                </a:cubicBezTo>
                <a:cubicBezTo>
                  <a:pt x="44" y="5"/>
                  <a:pt x="44" y="5"/>
                  <a:pt x="44" y="5"/>
                </a:cubicBezTo>
                <a:cubicBezTo>
                  <a:pt x="44" y="5"/>
                  <a:pt x="44" y="5"/>
                  <a:pt x="44" y="5"/>
                </a:cubicBezTo>
                <a:cubicBezTo>
                  <a:pt x="44" y="5"/>
                  <a:pt x="44" y="5"/>
                  <a:pt x="44" y="5"/>
                </a:cubicBezTo>
                <a:cubicBezTo>
                  <a:pt x="44" y="5"/>
                  <a:pt x="44" y="5"/>
                  <a:pt x="44" y="5"/>
                </a:cubicBezTo>
                <a:cubicBezTo>
                  <a:pt x="45" y="5"/>
                  <a:pt x="45" y="5"/>
                  <a:pt x="45" y="5"/>
                </a:cubicBezTo>
                <a:cubicBezTo>
                  <a:pt x="45" y="5"/>
                  <a:pt x="45" y="5"/>
                  <a:pt x="45" y="6"/>
                </a:cubicBezTo>
                <a:cubicBezTo>
                  <a:pt x="45" y="6"/>
                  <a:pt x="45" y="6"/>
                  <a:pt x="45" y="6"/>
                </a:cubicBezTo>
                <a:cubicBezTo>
                  <a:pt x="45" y="6"/>
                  <a:pt x="45" y="6"/>
                  <a:pt x="45" y="6"/>
                </a:cubicBezTo>
                <a:cubicBezTo>
                  <a:pt x="45" y="6"/>
                  <a:pt x="45" y="6"/>
                  <a:pt x="45" y="6"/>
                </a:cubicBezTo>
                <a:cubicBezTo>
                  <a:pt x="45" y="6"/>
                  <a:pt x="45" y="6"/>
                  <a:pt x="45" y="6"/>
                </a:cubicBezTo>
                <a:cubicBezTo>
                  <a:pt x="45" y="6"/>
                  <a:pt x="45" y="6"/>
                  <a:pt x="45" y="6"/>
                </a:cubicBezTo>
                <a:cubicBezTo>
                  <a:pt x="45" y="6"/>
                  <a:pt x="45" y="6"/>
                  <a:pt x="45" y="6"/>
                </a:cubicBezTo>
                <a:cubicBezTo>
                  <a:pt x="45" y="6"/>
                  <a:pt x="45" y="6"/>
                  <a:pt x="45" y="6"/>
                </a:cubicBezTo>
                <a:cubicBezTo>
                  <a:pt x="45" y="7"/>
                  <a:pt x="45" y="7"/>
                  <a:pt x="45" y="7"/>
                </a:cubicBezTo>
                <a:cubicBezTo>
                  <a:pt x="46" y="7"/>
                  <a:pt x="46" y="7"/>
                  <a:pt x="46" y="7"/>
                </a:cubicBezTo>
                <a:cubicBezTo>
                  <a:pt x="45" y="6"/>
                  <a:pt x="45" y="6"/>
                  <a:pt x="45" y="6"/>
                </a:cubicBezTo>
                <a:cubicBezTo>
                  <a:pt x="45" y="6"/>
                  <a:pt x="45" y="6"/>
                  <a:pt x="45" y="6"/>
                </a:cubicBezTo>
                <a:cubicBezTo>
                  <a:pt x="45" y="6"/>
                  <a:pt x="45" y="6"/>
                  <a:pt x="45" y="6"/>
                </a:cubicBezTo>
                <a:cubicBezTo>
                  <a:pt x="45" y="6"/>
                  <a:pt x="45" y="6"/>
                  <a:pt x="45" y="6"/>
                </a:cubicBezTo>
                <a:cubicBezTo>
                  <a:pt x="46" y="6"/>
                  <a:pt x="46" y="6"/>
                  <a:pt x="46" y="6"/>
                </a:cubicBezTo>
                <a:cubicBezTo>
                  <a:pt x="46" y="6"/>
                  <a:pt x="46" y="6"/>
                  <a:pt x="46" y="6"/>
                </a:cubicBezTo>
                <a:cubicBezTo>
                  <a:pt x="46" y="6"/>
                  <a:pt x="46" y="6"/>
                  <a:pt x="46" y="6"/>
                </a:cubicBezTo>
                <a:cubicBezTo>
                  <a:pt x="46" y="6"/>
                  <a:pt x="46" y="6"/>
                  <a:pt x="46" y="6"/>
                </a:cubicBezTo>
                <a:cubicBezTo>
                  <a:pt x="45" y="6"/>
                  <a:pt x="45" y="6"/>
                  <a:pt x="45" y="6"/>
                </a:cubicBezTo>
                <a:cubicBezTo>
                  <a:pt x="45" y="6"/>
                  <a:pt x="45" y="6"/>
                  <a:pt x="45" y="6"/>
                </a:cubicBezTo>
                <a:cubicBezTo>
                  <a:pt x="45" y="5"/>
                  <a:pt x="45" y="5"/>
                  <a:pt x="45" y="5"/>
                </a:cubicBezTo>
                <a:cubicBezTo>
                  <a:pt x="45" y="5"/>
                  <a:pt x="45" y="5"/>
                  <a:pt x="45" y="5"/>
                </a:cubicBezTo>
                <a:cubicBezTo>
                  <a:pt x="45" y="5"/>
                  <a:pt x="45" y="5"/>
                  <a:pt x="45" y="5"/>
                </a:cubicBezTo>
                <a:cubicBezTo>
                  <a:pt x="45" y="5"/>
                  <a:pt x="45" y="5"/>
                  <a:pt x="45" y="5"/>
                </a:cubicBezTo>
                <a:cubicBezTo>
                  <a:pt x="45" y="5"/>
                  <a:pt x="45" y="5"/>
                  <a:pt x="46" y="5"/>
                </a:cubicBezTo>
                <a:cubicBezTo>
                  <a:pt x="46" y="5"/>
                  <a:pt x="46" y="5"/>
                  <a:pt x="46" y="4"/>
                </a:cubicBezTo>
                <a:cubicBezTo>
                  <a:pt x="46" y="4"/>
                  <a:pt x="46" y="4"/>
                  <a:pt x="46" y="4"/>
                </a:cubicBezTo>
                <a:cubicBezTo>
                  <a:pt x="46" y="4"/>
                  <a:pt x="46" y="4"/>
                  <a:pt x="47" y="4"/>
                </a:cubicBezTo>
                <a:cubicBezTo>
                  <a:pt x="47" y="4"/>
                  <a:pt x="47" y="4"/>
                  <a:pt x="47" y="4"/>
                </a:cubicBezTo>
                <a:cubicBezTo>
                  <a:pt x="47" y="4"/>
                  <a:pt x="47" y="4"/>
                  <a:pt x="47" y="4"/>
                </a:cubicBezTo>
                <a:cubicBezTo>
                  <a:pt x="47" y="4"/>
                  <a:pt x="46" y="4"/>
                  <a:pt x="46" y="4"/>
                </a:cubicBezTo>
                <a:cubicBezTo>
                  <a:pt x="46" y="4"/>
                  <a:pt x="46" y="4"/>
                  <a:pt x="46" y="4"/>
                </a:cubicBezTo>
                <a:cubicBezTo>
                  <a:pt x="46" y="4"/>
                  <a:pt x="46" y="4"/>
                  <a:pt x="46" y="4"/>
                </a:cubicBezTo>
                <a:cubicBezTo>
                  <a:pt x="46" y="4"/>
                  <a:pt x="45" y="4"/>
                  <a:pt x="45" y="4"/>
                </a:cubicBezTo>
                <a:cubicBezTo>
                  <a:pt x="45" y="4"/>
                  <a:pt x="45" y="4"/>
                  <a:pt x="45" y="4"/>
                </a:cubicBezTo>
                <a:cubicBezTo>
                  <a:pt x="45" y="4"/>
                  <a:pt x="45" y="4"/>
                  <a:pt x="45" y="4"/>
                </a:cubicBezTo>
                <a:cubicBezTo>
                  <a:pt x="45" y="4"/>
                  <a:pt x="45" y="5"/>
                  <a:pt x="45" y="5"/>
                </a:cubicBezTo>
                <a:cubicBezTo>
                  <a:pt x="45" y="5"/>
                  <a:pt x="45" y="4"/>
                  <a:pt x="45" y="4"/>
                </a:cubicBezTo>
                <a:cubicBezTo>
                  <a:pt x="44" y="4"/>
                  <a:pt x="44" y="4"/>
                  <a:pt x="45" y="4"/>
                </a:cubicBezTo>
                <a:cubicBezTo>
                  <a:pt x="45" y="4"/>
                  <a:pt x="45" y="4"/>
                  <a:pt x="45" y="4"/>
                </a:cubicBezTo>
                <a:cubicBezTo>
                  <a:pt x="45" y="4"/>
                  <a:pt x="46" y="4"/>
                  <a:pt x="46" y="4"/>
                </a:cubicBezTo>
                <a:cubicBezTo>
                  <a:pt x="46" y="4"/>
                  <a:pt x="46" y="4"/>
                  <a:pt x="46" y="4"/>
                </a:cubicBezTo>
                <a:cubicBezTo>
                  <a:pt x="46" y="4"/>
                  <a:pt x="46" y="4"/>
                  <a:pt x="47" y="4"/>
                </a:cubicBezTo>
                <a:cubicBezTo>
                  <a:pt x="47" y="4"/>
                  <a:pt x="47" y="4"/>
                  <a:pt x="47" y="4"/>
                </a:cubicBezTo>
                <a:cubicBezTo>
                  <a:pt x="47" y="4"/>
                  <a:pt x="47" y="4"/>
                  <a:pt x="47" y="4"/>
                </a:cubicBezTo>
                <a:cubicBezTo>
                  <a:pt x="47" y="4"/>
                  <a:pt x="47" y="4"/>
                  <a:pt x="47" y="4"/>
                </a:cubicBezTo>
                <a:cubicBezTo>
                  <a:pt x="47" y="4"/>
                  <a:pt x="47" y="4"/>
                  <a:pt x="48" y="5"/>
                </a:cubicBezTo>
                <a:cubicBezTo>
                  <a:pt x="48" y="5"/>
                  <a:pt x="48" y="5"/>
                  <a:pt x="48" y="5"/>
                </a:cubicBezTo>
                <a:cubicBezTo>
                  <a:pt x="48" y="5"/>
                  <a:pt x="49" y="5"/>
                  <a:pt x="49" y="5"/>
                </a:cubicBezTo>
                <a:cubicBezTo>
                  <a:pt x="49" y="5"/>
                  <a:pt x="49" y="5"/>
                  <a:pt x="49" y="5"/>
                </a:cubicBezTo>
                <a:cubicBezTo>
                  <a:pt x="49" y="5"/>
                  <a:pt x="50" y="5"/>
                  <a:pt x="50" y="5"/>
                </a:cubicBezTo>
                <a:cubicBezTo>
                  <a:pt x="50" y="5"/>
                  <a:pt x="50" y="5"/>
                  <a:pt x="50" y="5"/>
                </a:cubicBezTo>
                <a:cubicBezTo>
                  <a:pt x="51" y="5"/>
                  <a:pt x="51" y="5"/>
                  <a:pt x="51" y="5"/>
                </a:cubicBezTo>
                <a:cubicBezTo>
                  <a:pt x="52" y="5"/>
                  <a:pt x="52" y="5"/>
                  <a:pt x="52" y="5"/>
                </a:cubicBezTo>
                <a:cubicBezTo>
                  <a:pt x="52" y="5"/>
                  <a:pt x="52" y="5"/>
                  <a:pt x="52" y="5"/>
                </a:cubicBezTo>
                <a:cubicBezTo>
                  <a:pt x="52" y="5"/>
                  <a:pt x="52" y="5"/>
                  <a:pt x="52" y="5"/>
                </a:cubicBezTo>
                <a:cubicBezTo>
                  <a:pt x="52" y="5"/>
                  <a:pt x="52" y="5"/>
                  <a:pt x="52" y="5"/>
                </a:cubicBezTo>
                <a:cubicBezTo>
                  <a:pt x="52" y="5"/>
                  <a:pt x="52" y="5"/>
                  <a:pt x="52" y="5"/>
                </a:cubicBezTo>
                <a:cubicBezTo>
                  <a:pt x="53" y="5"/>
                  <a:pt x="53" y="5"/>
                  <a:pt x="53" y="5"/>
                </a:cubicBezTo>
                <a:cubicBezTo>
                  <a:pt x="53" y="5"/>
                  <a:pt x="53" y="5"/>
                  <a:pt x="53" y="5"/>
                </a:cubicBezTo>
                <a:cubicBezTo>
                  <a:pt x="53" y="5"/>
                  <a:pt x="53" y="5"/>
                  <a:pt x="53" y="5"/>
                </a:cubicBezTo>
                <a:cubicBezTo>
                  <a:pt x="53" y="5"/>
                  <a:pt x="53" y="5"/>
                  <a:pt x="53" y="5"/>
                </a:cubicBezTo>
                <a:cubicBezTo>
                  <a:pt x="53" y="5"/>
                  <a:pt x="53" y="5"/>
                  <a:pt x="53" y="5"/>
                </a:cubicBezTo>
                <a:cubicBezTo>
                  <a:pt x="53" y="5"/>
                  <a:pt x="53" y="5"/>
                  <a:pt x="53" y="5"/>
                </a:cubicBezTo>
                <a:cubicBezTo>
                  <a:pt x="53" y="5"/>
                  <a:pt x="53" y="5"/>
                  <a:pt x="53" y="5"/>
                </a:cubicBezTo>
                <a:cubicBezTo>
                  <a:pt x="52" y="5"/>
                  <a:pt x="52" y="5"/>
                  <a:pt x="52" y="5"/>
                </a:cubicBezTo>
                <a:cubicBezTo>
                  <a:pt x="52" y="5"/>
                  <a:pt x="52" y="5"/>
                  <a:pt x="52" y="5"/>
                </a:cubicBezTo>
                <a:cubicBezTo>
                  <a:pt x="52" y="5"/>
                  <a:pt x="52" y="5"/>
                  <a:pt x="52" y="5"/>
                </a:cubicBezTo>
                <a:cubicBezTo>
                  <a:pt x="52" y="4"/>
                  <a:pt x="52" y="4"/>
                  <a:pt x="52" y="4"/>
                </a:cubicBezTo>
                <a:cubicBezTo>
                  <a:pt x="52" y="4"/>
                  <a:pt x="52" y="4"/>
                  <a:pt x="52" y="4"/>
                </a:cubicBezTo>
                <a:cubicBezTo>
                  <a:pt x="52" y="4"/>
                  <a:pt x="52" y="4"/>
                  <a:pt x="52" y="4"/>
                </a:cubicBezTo>
                <a:cubicBezTo>
                  <a:pt x="52" y="4"/>
                  <a:pt x="52" y="4"/>
                  <a:pt x="52" y="4"/>
                </a:cubicBezTo>
                <a:cubicBezTo>
                  <a:pt x="53" y="4"/>
                  <a:pt x="53" y="4"/>
                  <a:pt x="53" y="4"/>
                </a:cubicBezTo>
                <a:cubicBezTo>
                  <a:pt x="53" y="4"/>
                  <a:pt x="53" y="4"/>
                  <a:pt x="53" y="4"/>
                </a:cubicBezTo>
                <a:cubicBezTo>
                  <a:pt x="53" y="4"/>
                  <a:pt x="53" y="4"/>
                  <a:pt x="53" y="4"/>
                </a:cubicBezTo>
                <a:cubicBezTo>
                  <a:pt x="53" y="4"/>
                  <a:pt x="53" y="4"/>
                  <a:pt x="53" y="4"/>
                </a:cubicBezTo>
                <a:cubicBezTo>
                  <a:pt x="54" y="4"/>
                  <a:pt x="54" y="4"/>
                  <a:pt x="54" y="4"/>
                </a:cubicBezTo>
                <a:cubicBezTo>
                  <a:pt x="54" y="5"/>
                  <a:pt x="54" y="5"/>
                  <a:pt x="54" y="5"/>
                </a:cubicBezTo>
                <a:cubicBezTo>
                  <a:pt x="54" y="5"/>
                  <a:pt x="54" y="5"/>
                  <a:pt x="54" y="5"/>
                </a:cubicBezTo>
                <a:cubicBezTo>
                  <a:pt x="54" y="5"/>
                  <a:pt x="54" y="5"/>
                  <a:pt x="54" y="5"/>
                </a:cubicBezTo>
                <a:cubicBezTo>
                  <a:pt x="54" y="5"/>
                  <a:pt x="54" y="5"/>
                  <a:pt x="54" y="5"/>
                </a:cubicBezTo>
                <a:cubicBezTo>
                  <a:pt x="54" y="5"/>
                  <a:pt x="54" y="5"/>
                  <a:pt x="54" y="5"/>
                </a:cubicBezTo>
                <a:cubicBezTo>
                  <a:pt x="54" y="5"/>
                  <a:pt x="54" y="5"/>
                  <a:pt x="54" y="5"/>
                </a:cubicBezTo>
                <a:cubicBezTo>
                  <a:pt x="54" y="5"/>
                  <a:pt x="54" y="5"/>
                  <a:pt x="54" y="5"/>
                </a:cubicBezTo>
                <a:cubicBezTo>
                  <a:pt x="54" y="5"/>
                  <a:pt x="54" y="5"/>
                  <a:pt x="54" y="5"/>
                </a:cubicBezTo>
                <a:cubicBezTo>
                  <a:pt x="54" y="5"/>
                  <a:pt x="54" y="5"/>
                  <a:pt x="54" y="5"/>
                </a:cubicBezTo>
                <a:cubicBezTo>
                  <a:pt x="54" y="5"/>
                  <a:pt x="54" y="5"/>
                  <a:pt x="54" y="5"/>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4" y="6"/>
                  <a:pt x="54" y="6"/>
                </a:cubicBezTo>
                <a:cubicBezTo>
                  <a:pt x="54" y="6"/>
                  <a:pt x="55" y="6"/>
                  <a:pt x="55" y="6"/>
                </a:cubicBezTo>
                <a:cubicBezTo>
                  <a:pt x="55" y="6"/>
                  <a:pt x="55" y="6"/>
                  <a:pt x="55" y="6"/>
                </a:cubicBezTo>
                <a:cubicBezTo>
                  <a:pt x="55" y="6"/>
                  <a:pt x="55" y="6"/>
                  <a:pt x="55" y="6"/>
                </a:cubicBezTo>
                <a:cubicBezTo>
                  <a:pt x="55" y="6"/>
                  <a:pt x="55" y="6"/>
                  <a:pt x="55" y="6"/>
                </a:cubicBezTo>
                <a:cubicBezTo>
                  <a:pt x="55" y="5"/>
                  <a:pt x="55" y="5"/>
                  <a:pt x="55" y="5"/>
                </a:cubicBezTo>
                <a:cubicBezTo>
                  <a:pt x="55" y="5"/>
                  <a:pt x="55" y="5"/>
                  <a:pt x="54" y="5"/>
                </a:cubicBezTo>
                <a:cubicBezTo>
                  <a:pt x="54" y="5"/>
                  <a:pt x="54" y="5"/>
                  <a:pt x="54" y="5"/>
                </a:cubicBezTo>
                <a:cubicBezTo>
                  <a:pt x="54" y="5"/>
                  <a:pt x="55" y="5"/>
                  <a:pt x="55" y="5"/>
                </a:cubicBezTo>
                <a:cubicBezTo>
                  <a:pt x="55" y="5"/>
                  <a:pt x="55" y="5"/>
                  <a:pt x="55" y="5"/>
                </a:cubicBezTo>
                <a:cubicBezTo>
                  <a:pt x="55" y="5"/>
                  <a:pt x="55" y="5"/>
                  <a:pt x="55" y="4"/>
                </a:cubicBezTo>
                <a:cubicBezTo>
                  <a:pt x="55" y="4"/>
                  <a:pt x="55" y="4"/>
                  <a:pt x="55" y="4"/>
                </a:cubicBezTo>
                <a:cubicBezTo>
                  <a:pt x="55" y="4"/>
                  <a:pt x="56" y="4"/>
                  <a:pt x="56" y="4"/>
                </a:cubicBezTo>
                <a:cubicBezTo>
                  <a:pt x="56" y="4"/>
                  <a:pt x="56" y="4"/>
                  <a:pt x="56" y="4"/>
                </a:cubicBezTo>
                <a:cubicBezTo>
                  <a:pt x="56" y="4"/>
                  <a:pt x="56" y="4"/>
                  <a:pt x="56" y="4"/>
                </a:cubicBezTo>
                <a:cubicBezTo>
                  <a:pt x="56" y="4"/>
                  <a:pt x="56" y="4"/>
                  <a:pt x="56" y="4"/>
                </a:cubicBezTo>
                <a:cubicBezTo>
                  <a:pt x="56" y="3"/>
                  <a:pt x="56" y="3"/>
                  <a:pt x="56" y="3"/>
                </a:cubicBezTo>
                <a:cubicBezTo>
                  <a:pt x="56" y="3"/>
                  <a:pt x="56" y="3"/>
                  <a:pt x="56" y="3"/>
                </a:cubicBezTo>
                <a:cubicBezTo>
                  <a:pt x="56" y="4"/>
                  <a:pt x="56" y="4"/>
                  <a:pt x="56" y="4"/>
                </a:cubicBezTo>
                <a:cubicBezTo>
                  <a:pt x="56" y="4"/>
                  <a:pt x="56" y="4"/>
                  <a:pt x="55" y="4"/>
                </a:cubicBezTo>
                <a:cubicBezTo>
                  <a:pt x="55" y="4"/>
                  <a:pt x="55" y="4"/>
                  <a:pt x="55" y="4"/>
                </a:cubicBezTo>
                <a:cubicBezTo>
                  <a:pt x="55" y="4"/>
                  <a:pt x="55" y="4"/>
                  <a:pt x="55" y="4"/>
                </a:cubicBezTo>
                <a:cubicBezTo>
                  <a:pt x="55" y="4"/>
                  <a:pt x="55" y="4"/>
                  <a:pt x="55" y="3"/>
                </a:cubicBezTo>
                <a:cubicBezTo>
                  <a:pt x="55" y="3"/>
                  <a:pt x="55" y="3"/>
                  <a:pt x="55" y="3"/>
                </a:cubicBezTo>
                <a:cubicBezTo>
                  <a:pt x="55" y="3"/>
                  <a:pt x="55" y="3"/>
                  <a:pt x="55" y="3"/>
                </a:cubicBezTo>
                <a:cubicBezTo>
                  <a:pt x="55" y="3"/>
                  <a:pt x="55" y="3"/>
                  <a:pt x="55" y="3"/>
                </a:cubicBezTo>
                <a:cubicBezTo>
                  <a:pt x="56" y="3"/>
                  <a:pt x="56" y="3"/>
                  <a:pt x="56" y="3"/>
                </a:cubicBezTo>
                <a:cubicBezTo>
                  <a:pt x="56" y="3"/>
                  <a:pt x="56" y="3"/>
                  <a:pt x="56" y="3"/>
                </a:cubicBezTo>
                <a:cubicBezTo>
                  <a:pt x="56" y="3"/>
                  <a:pt x="56" y="3"/>
                  <a:pt x="56" y="3"/>
                </a:cubicBezTo>
                <a:cubicBezTo>
                  <a:pt x="56" y="3"/>
                  <a:pt x="56" y="3"/>
                  <a:pt x="56" y="3"/>
                </a:cubicBezTo>
                <a:cubicBezTo>
                  <a:pt x="56" y="3"/>
                  <a:pt x="56" y="3"/>
                  <a:pt x="56" y="3"/>
                </a:cubicBezTo>
                <a:cubicBezTo>
                  <a:pt x="56" y="3"/>
                  <a:pt x="56" y="3"/>
                  <a:pt x="56" y="3"/>
                </a:cubicBezTo>
                <a:cubicBezTo>
                  <a:pt x="56" y="3"/>
                  <a:pt x="55" y="3"/>
                  <a:pt x="55" y="3"/>
                </a:cubicBezTo>
                <a:cubicBezTo>
                  <a:pt x="55" y="3"/>
                  <a:pt x="55" y="3"/>
                  <a:pt x="55" y="3"/>
                </a:cubicBezTo>
                <a:cubicBezTo>
                  <a:pt x="55" y="3"/>
                  <a:pt x="55" y="3"/>
                  <a:pt x="55" y="3"/>
                </a:cubicBezTo>
                <a:cubicBezTo>
                  <a:pt x="55" y="3"/>
                  <a:pt x="55" y="3"/>
                  <a:pt x="55" y="3"/>
                </a:cubicBezTo>
                <a:cubicBezTo>
                  <a:pt x="55" y="3"/>
                  <a:pt x="55" y="3"/>
                  <a:pt x="55" y="3"/>
                </a:cubicBezTo>
                <a:cubicBezTo>
                  <a:pt x="55" y="3"/>
                  <a:pt x="55" y="3"/>
                  <a:pt x="54" y="2"/>
                </a:cubicBezTo>
                <a:cubicBezTo>
                  <a:pt x="54" y="2"/>
                  <a:pt x="54" y="2"/>
                  <a:pt x="54" y="2"/>
                </a:cubicBezTo>
                <a:cubicBezTo>
                  <a:pt x="54" y="2"/>
                  <a:pt x="54" y="2"/>
                  <a:pt x="54" y="2"/>
                </a:cubicBezTo>
                <a:cubicBezTo>
                  <a:pt x="54" y="2"/>
                  <a:pt x="54" y="2"/>
                  <a:pt x="54" y="2"/>
                </a:cubicBezTo>
                <a:cubicBezTo>
                  <a:pt x="54" y="2"/>
                  <a:pt x="54" y="2"/>
                  <a:pt x="54" y="2"/>
                </a:cubicBezTo>
                <a:cubicBezTo>
                  <a:pt x="54" y="2"/>
                  <a:pt x="54" y="2"/>
                  <a:pt x="54" y="2"/>
                </a:cubicBezTo>
                <a:cubicBezTo>
                  <a:pt x="54" y="2"/>
                  <a:pt x="54" y="2"/>
                  <a:pt x="54" y="2"/>
                </a:cubicBezTo>
                <a:cubicBezTo>
                  <a:pt x="54" y="1"/>
                  <a:pt x="54" y="1"/>
                  <a:pt x="54" y="1"/>
                </a:cubicBezTo>
                <a:cubicBezTo>
                  <a:pt x="54" y="1"/>
                  <a:pt x="54" y="1"/>
                  <a:pt x="54" y="1"/>
                </a:cubicBezTo>
                <a:cubicBezTo>
                  <a:pt x="54" y="1"/>
                  <a:pt x="54" y="1"/>
                  <a:pt x="54" y="1"/>
                </a:cubicBezTo>
                <a:cubicBezTo>
                  <a:pt x="54" y="1"/>
                  <a:pt x="54" y="1"/>
                  <a:pt x="54" y="1"/>
                </a:cubicBezTo>
                <a:cubicBezTo>
                  <a:pt x="54" y="1"/>
                  <a:pt x="54" y="1"/>
                  <a:pt x="54" y="1"/>
                </a:cubicBezTo>
                <a:cubicBezTo>
                  <a:pt x="54" y="1"/>
                  <a:pt x="54" y="0"/>
                  <a:pt x="54" y="0"/>
                </a:cubicBezTo>
                <a:cubicBezTo>
                  <a:pt x="54" y="0"/>
                  <a:pt x="54" y="0"/>
                  <a:pt x="54" y="0"/>
                </a:cubicBezTo>
                <a:cubicBezTo>
                  <a:pt x="54" y="0"/>
                  <a:pt x="54" y="0"/>
                  <a:pt x="54" y="0"/>
                </a:cubicBezTo>
                <a:cubicBezTo>
                  <a:pt x="54" y="0"/>
                  <a:pt x="54" y="0"/>
                  <a:pt x="54" y="0"/>
                </a:cubicBezTo>
                <a:cubicBezTo>
                  <a:pt x="54" y="0"/>
                  <a:pt x="54" y="0"/>
                  <a:pt x="54" y="0"/>
                </a:cubicBezTo>
                <a:cubicBezTo>
                  <a:pt x="54" y="0"/>
                  <a:pt x="54" y="0"/>
                  <a:pt x="54" y="0"/>
                </a:cubicBezTo>
                <a:cubicBezTo>
                  <a:pt x="54" y="0"/>
                  <a:pt x="54" y="0"/>
                  <a:pt x="54" y="0"/>
                </a:cubicBezTo>
                <a:cubicBezTo>
                  <a:pt x="54" y="0"/>
                  <a:pt x="54" y="0"/>
                  <a:pt x="54" y="0"/>
                </a:cubicBezTo>
                <a:cubicBezTo>
                  <a:pt x="54" y="0"/>
                  <a:pt x="54" y="0"/>
                  <a:pt x="54" y="0"/>
                </a:cubicBezTo>
                <a:cubicBezTo>
                  <a:pt x="54" y="0"/>
                  <a:pt x="54" y="0"/>
                  <a:pt x="54" y="0"/>
                </a:cubicBezTo>
                <a:cubicBezTo>
                  <a:pt x="54" y="0"/>
                  <a:pt x="54" y="0"/>
                  <a:pt x="55" y="0"/>
                </a:cubicBezTo>
                <a:cubicBezTo>
                  <a:pt x="55" y="0"/>
                  <a:pt x="55" y="0"/>
                  <a:pt x="55" y="0"/>
                </a:cubicBezTo>
                <a:cubicBezTo>
                  <a:pt x="55" y="0"/>
                  <a:pt x="55" y="0"/>
                  <a:pt x="55" y="0"/>
                </a:cubicBezTo>
                <a:cubicBezTo>
                  <a:pt x="55" y="0"/>
                  <a:pt x="55" y="0"/>
                  <a:pt x="55" y="0"/>
                </a:cubicBezTo>
                <a:cubicBezTo>
                  <a:pt x="56" y="0"/>
                  <a:pt x="56" y="0"/>
                  <a:pt x="56" y="0"/>
                </a:cubicBezTo>
                <a:cubicBezTo>
                  <a:pt x="56" y="0"/>
                  <a:pt x="56" y="0"/>
                  <a:pt x="56" y="0"/>
                </a:cubicBezTo>
                <a:cubicBezTo>
                  <a:pt x="56" y="0"/>
                  <a:pt x="56" y="0"/>
                  <a:pt x="56" y="0"/>
                </a:cubicBezTo>
                <a:cubicBezTo>
                  <a:pt x="56" y="0"/>
                  <a:pt x="56" y="0"/>
                  <a:pt x="56" y="0"/>
                </a:cubicBezTo>
                <a:cubicBezTo>
                  <a:pt x="56" y="0"/>
                  <a:pt x="56" y="0"/>
                  <a:pt x="56" y="1"/>
                </a:cubicBezTo>
                <a:cubicBezTo>
                  <a:pt x="56" y="1"/>
                  <a:pt x="56" y="1"/>
                  <a:pt x="56" y="1"/>
                </a:cubicBezTo>
                <a:cubicBezTo>
                  <a:pt x="56" y="1"/>
                  <a:pt x="56" y="1"/>
                  <a:pt x="56" y="1"/>
                </a:cubicBezTo>
                <a:cubicBezTo>
                  <a:pt x="57" y="1"/>
                  <a:pt x="57" y="1"/>
                  <a:pt x="57" y="1"/>
                </a:cubicBezTo>
                <a:cubicBezTo>
                  <a:pt x="57" y="1"/>
                  <a:pt x="57" y="1"/>
                  <a:pt x="57" y="1"/>
                </a:cubicBezTo>
                <a:cubicBezTo>
                  <a:pt x="57" y="1"/>
                  <a:pt x="57" y="1"/>
                  <a:pt x="57" y="1"/>
                </a:cubicBezTo>
                <a:cubicBezTo>
                  <a:pt x="57" y="1"/>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2"/>
                  <a:pt x="57" y="2"/>
                </a:cubicBezTo>
                <a:cubicBezTo>
                  <a:pt x="57" y="2"/>
                  <a:pt x="57" y="3"/>
                  <a:pt x="57" y="3"/>
                </a:cubicBezTo>
                <a:cubicBezTo>
                  <a:pt x="57" y="3"/>
                  <a:pt x="57" y="3"/>
                  <a:pt x="57" y="3"/>
                </a:cubicBezTo>
                <a:cubicBezTo>
                  <a:pt x="57" y="3"/>
                  <a:pt x="57" y="3"/>
                  <a:pt x="57" y="3"/>
                </a:cubicBezTo>
                <a:cubicBezTo>
                  <a:pt x="58" y="3"/>
                  <a:pt x="58" y="3"/>
                  <a:pt x="58" y="3"/>
                </a:cubicBezTo>
                <a:cubicBezTo>
                  <a:pt x="58" y="3"/>
                  <a:pt x="58" y="3"/>
                  <a:pt x="58" y="3"/>
                </a:cubicBezTo>
                <a:cubicBezTo>
                  <a:pt x="58" y="3"/>
                  <a:pt x="58" y="3"/>
                  <a:pt x="58" y="3"/>
                </a:cubicBezTo>
                <a:cubicBezTo>
                  <a:pt x="58" y="3"/>
                  <a:pt x="58" y="3"/>
                  <a:pt x="58" y="3"/>
                </a:cubicBezTo>
                <a:cubicBezTo>
                  <a:pt x="58" y="3"/>
                  <a:pt x="58" y="3"/>
                  <a:pt x="58" y="3"/>
                </a:cubicBezTo>
                <a:cubicBezTo>
                  <a:pt x="58" y="3"/>
                  <a:pt x="58" y="3"/>
                  <a:pt x="58" y="3"/>
                </a:cubicBezTo>
                <a:cubicBezTo>
                  <a:pt x="58" y="3"/>
                  <a:pt x="58" y="3"/>
                  <a:pt x="58" y="3"/>
                </a:cubicBezTo>
                <a:cubicBezTo>
                  <a:pt x="58" y="3"/>
                  <a:pt x="58" y="3"/>
                  <a:pt x="58" y="3"/>
                </a:cubicBezTo>
                <a:cubicBezTo>
                  <a:pt x="58" y="3"/>
                  <a:pt x="58" y="3"/>
                  <a:pt x="58" y="3"/>
                </a:cubicBezTo>
                <a:cubicBezTo>
                  <a:pt x="58" y="3"/>
                  <a:pt x="58" y="4"/>
                  <a:pt x="58" y="4"/>
                </a:cubicBezTo>
                <a:cubicBezTo>
                  <a:pt x="58" y="4"/>
                  <a:pt x="58" y="4"/>
                  <a:pt x="58" y="4"/>
                </a:cubicBezTo>
                <a:cubicBezTo>
                  <a:pt x="58" y="4"/>
                  <a:pt x="58" y="4"/>
                  <a:pt x="58" y="4"/>
                </a:cubicBezTo>
                <a:cubicBezTo>
                  <a:pt x="58" y="4"/>
                  <a:pt x="58" y="4"/>
                  <a:pt x="58" y="4"/>
                </a:cubicBezTo>
                <a:cubicBezTo>
                  <a:pt x="59" y="4"/>
                  <a:pt x="59" y="4"/>
                  <a:pt x="59" y="4"/>
                </a:cubicBezTo>
                <a:cubicBezTo>
                  <a:pt x="59" y="4"/>
                  <a:pt x="59" y="4"/>
                  <a:pt x="59" y="4"/>
                </a:cubicBezTo>
                <a:cubicBezTo>
                  <a:pt x="59" y="4"/>
                  <a:pt x="59" y="4"/>
                  <a:pt x="59" y="4"/>
                </a:cubicBezTo>
                <a:cubicBezTo>
                  <a:pt x="59" y="4"/>
                  <a:pt x="59" y="4"/>
                  <a:pt x="59" y="3"/>
                </a:cubicBezTo>
                <a:cubicBezTo>
                  <a:pt x="59" y="3"/>
                  <a:pt x="59" y="3"/>
                  <a:pt x="59" y="3"/>
                </a:cubicBezTo>
                <a:cubicBezTo>
                  <a:pt x="59" y="3"/>
                  <a:pt x="59" y="3"/>
                  <a:pt x="59" y="3"/>
                </a:cubicBezTo>
                <a:cubicBezTo>
                  <a:pt x="59" y="3"/>
                  <a:pt x="59" y="3"/>
                  <a:pt x="59" y="3"/>
                </a:cubicBezTo>
                <a:cubicBezTo>
                  <a:pt x="59" y="3"/>
                  <a:pt x="59" y="3"/>
                  <a:pt x="59" y="3"/>
                </a:cubicBezTo>
                <a:cubicBezTo>
                  <a:pt x="60" y="3"/>
                  <a:pt x="60" y="3"/>
                  <a:pt x="60" y="3"/>
                </a:cubicBezTo>
                <a:cubicBezTo>
                  <a:pt x="60" y="3"/>
                  <a:pt x="60" y="4"/>
                  <a:pt x="60" y="4"/>
                </a:cubicBezTo>
                <a:cubicBezTo>
                  <a:pt x="60" y="4"/>
                  <a:pt x="60" y="4"/>
                  <a:pt x="60" y="4"/>
                </a:cubicBezTo>
                <a:cubicBezTo>
                  <a:pt x="60" y="4"/>
                  <a:pt x="60" y="4"/>
                  <a:pt x="60" y="4"/>
                </a:cubicBezTo>
                <a:cubicBezTo>
                  <a:pt x="60" y="4"/>
                  <a:pt x="60" y="4"/>
                  <a:pt x="60" y="4"/>
                </a:cubicBezTo>
                <a:cubicBezTo>
                  <a:pt x="60" y="4"/>
                  <a:pt x="60" y="4"/>
                  <a:pt x="60" y="4"/>
                </a:cubicBezTo>
                <a:cubicBezTo>
                  <a:pt x="60" y="4"/>
                  <a:pt x="60" y="4"/>
                  <a:pt x="60" y="4"/>
                </a:cubicBezTo>
                <a:cubicBezTo>
                  <a:pt x="60" y="4"/>
                  <a:pt x="60" y="4"/>
                  <a:pt x="60" y="5"/>
                </a:cubicBezTo>
                <a:cubicBezTo>
                  <a:pt x="60" y="5"/>
                  <a:pt x="60" y="5"/>
                  <a:pt x="60" y="5"/>
                </a:cubicBezTo>
                <a:cubicBezTo>
                  <a:pt x="60" y="5"/>
                  <a:pt x="60" y="5"/>
                  <a:pt x="60" y="5"/>
                </a:cubicBezTo>
                <a:cubicBezTo>
                  <a:pt x="60" y="5"/>
                  <a:pt x="60" y="5"/>
                  <a:pt x="60" y="6"/>
                </a:cubicBezTo>
                <a:cubicBezTo>
                  <a:pt x="60" y="6"/>
                  <a:pt x="60" y="6"/>
                  <a:pt x="60" y="6"/>
                </a:cubicBezTo>
                <a:cubicBezTo>
                  <a:pt x="60" y="6"/>
                  <a:pt x="60" y="6"/>
                  <a:pt x="60" y="6"/>
                </a:cubicBezTo>
                <a:cubicBezTo>
                  <a:pt x="61" y="6"/>
                  <a:pt x="61" y="6"/>
                  <a:pt x="61" y="6"/>
                </a:cubicBezTo>
                <a:cubicBezTo>
                  <a:pt x="61" y="6"/>
                  <a:pt x="61" y="6"/>
                  <a:pt x="61" y="6"/>
                </a:cubicBezTo>
                <a:cubicBezTo>
                  <a:pt x="61" y="6"/>
                  <a:pt x="61" y="6"/>
                  <a:pt x="61" y="6"/>
                </a:cubicBezTo>
                <a:cubicBezTo>
                  <a:pt x="61" y="6"/>
                  <a:pt x="61" y="5"/>
                  <a:pt x="61" y="5"/>
                </a:cubicBezTo>
                <a:cubicBezTo>
                  <a:pt x="61" y="5"/>
                  <a:pt x="61" y="5"/>
                  <a:pt x="61" y="5"/>
                </a:cubicBezTo>
                <a:cubicBezTo>
                  <a:pt x="61" y="5"/>
                  <a:pt x="61" y="5"/>
                  <a:pt x="61" y="5"/>
                </a:cubicBezTo>
                <a:cubicBezTo>
                  <a:pt x="62" y="5"/>
                  <a:pt x="62" y="5"/>
                  <a:pt x="62" y="5"/>
                </a:cubicBezTo>
                <a:cubicBezTo>
                  <a:pt x="62" y="4"/>
                  <a:pt x="62" y="4"/>
                  <a:pt x="62" y="4"/>
                </a:cubicBezTo>
                <a:cubicBezTo>
                  <a:pt x="62" y="4"/>
                  <a:pt x="62" y="4"/>
                  <a:pt x="62" y="4"/>
                </a:cubicBezTo>
                <a:cubicBezTo>
                  <a:pt x="62" y="4"/>
                  <a:pt x="62" y="4"/>
                  <a:pt x="62" y="4"/>
                </a:cubicBezTo>
                <a:cubicBezTo>
                  <a:pt x="62" y="4"/>
                  <a:pt x="62" y="4"/>
                  <a:pt x="62" y="4"/>
                </a:cubicBezTo>
                <a:cubicBezTo>
                  <a:pt x="62" y="4"/>
                  <a:pt x="62" y="4"/>
                  <a:pt x="62" y="4"/>
                </a:cubicBezTo>
                <a:cubicBezTo>
                  <a:pt x="62" y="4"/>
                  <a:pt x="62" y="4"/>
                  <a:pt x="62" y="4"/>
                </a:cubicBezTo>
                <a:cubicBezTo>
                  <a:pt x="62" y="4"/>
                  <a:pt x="62" y="4"/>
                  <a:pt x="62" y="4"/>
                </a:cubicBezTo>
                <a:cubicBezTo>
                  <a:pt x="62" y="3"/>
                  <a:pt x="62" y="3"/>
                  <a:pt x="62" y="3"/>
                </a:cubicBezTo>
                <a:cubicBezTo>
                  <a:pt x="62" y="3"/>
                  <a:pt x="62" y="3"/>
                  <a:pt x="62" y="3"/>
                </a:cubicBezTo>
                <a:cubicBezTo>
                  <a:pt x="62" y="3"/>
                  <a:pt x="62" y="3"/>
                  <a:pt x="62" y="3"/>
                </a:cubicBezTo>
                <a:cubicBezTo>
                  <a:pt x="62" y="3"/>
                  <a:pt x="62" y="3"/>
                  <a:pt x="62" y="3"/>
                </a:cubicBezTo>
                <a:cubicBezTo>
                  <a:pt x="62" y="3"/>
                  <a:pt x="62" y="3"/>
                  <a:pt x="62" y="3"/>
                </a:cubicBezTo>
                <a:cubicBezTo>
                  <a:pt x="62" y="2"/>
                  <a:pt x="62" y="2"/>
                  <a:pt x="62" y="2"/>
                </a:cubicBezTo>
                <a:cubicBezTo>
                  <a:pt x="62" y="2"/>
                  <a:pt x="62" y="2"/>
                  <a:pt x="62" y="2"/>
                </a:cubicBezTo>
                <a:cubicBezTo>
                  <a:pt x="62" y="2"/>
                  <a:pt x="62" y="2"/>
                  <a:pt x="62" y="2"/>
                </a:cubicBezTo>
                <a:cubicBezTo>
                  <a:pt x="62" y="2"/>
                  <a:pt x="63" y="2"/>
                  <a:pt x="63" y="2"/>
                </a:cubicBezTo>
                <a:cubicBezTo>
                  <a:pt x="63" y="2"/>
                  <a:pt x="63" y="2"/>
                  <a:pt x="63" y="2"/>
                </a:cubicBezTo>
                <a:cubicBezTo>
                  <a:pt x="63" y="2"/>
                  <a:pt x="63" y="2"/>
                  <a:pt x="64" y="2"/>
                </a:cubicBezTo>
                <a:cubicBezTo>
                  <a:pt x="64" y="2"/>
                  <a:pt x="64" y="3"/>
                  <a:pt x="64" y="3"/>
                </a:cubicBezTo>
                <a:cubicBezTo>
                  <a:pt x="64" y="3"/>
                  <a:pt x="64" y="3"/>
                  <a:pt x="64" y="3"/>
                </a:cubicBezTo>
                <a:cubicBezTo>
                  <a:pt x="64" y="3"/>
                  <a:pt x="64" y="3"/>
                  <a:pt x="64" y="3"/>
                </a:cubicBezTo>
                <a:cubicBezTo>
                  <a:pt x="64" y="3"/>
                  <a:pt x="64" y="3"/>
                  <a:pt x="64" y="3"/>
                </a:cubicBezTo>
                <a:cubicBezTo>
                  <a:pt x="64" y="3"/>
                  <a:pt x="64" y="3"/>
                  <a:pt x="65" y="3"/>
                </a:cubicBezTo>
                <a:cubicBezTo>
                  <a:pt x="65" y="3"/>
                  <a:pt x="65" y="3"/>
                  <a:pt x="65" y="3"/>
                </a:cubicBezTo>
                <a:cubicBezTo>
                  <a:pt x="65" y="3"/>
                  <a:pt x="65" y="3"/>
                  <a:pt x="65" y="3"/>
                </a:cubicBezTo>
                <a:cubicBezTo>
                  <a:pt x="65" y="3"/>
                  <a:pt x="65" y="3"/>
                  <a:pt x="65" y="3"/>
                </a:cubicBezTo>
                <a:cubicBezTo>
                  <a:pt x="65" y="3"/>
                  <a:pt x="65" y="3"/>
                  <a:pt x="65" y="3"/>
                </a:cubicBezTo>
                <a:cubicBezTo>
                  <a:pt x="65" y="3"/>
                  <a:pt x="65" y="3"/>
                  <a:pt x="65" y="3"/>
                </a:cubicBezTo>
                <a:cubicBezTo>
                  <a:pt x="65" y="4"/>
                  <a:pt x="65" y="4"/>
                  <a:pt x="65" y="4"/>
                </a:cubicBezTo>
                <a:cubicBezTo>
                  <a:pt x="65" y="4"/>
                  <a:pt x="65" y="4"/>
                  <a:pt x="65" y="4"/>
                </a:cubicBezTo>
                <a:cubicBezTo>
                  <a:pt x="65" y="4"/>
                  <a:pt x="65" y="4"/>
                  <a:pt x="65" y="4"/>
                </a:cubicBezTo>
                <a:cubicBezTo>
                  <a:pt x="65" y="4"/>
                  <a:pt x="65" y="4"/>
                  <a:pt x="65" y="4"/>
                </a:cubicBezTo>
                <a:cubicBezTo>
                  <a:pt x="65" y="4"/>
                  <a:pt x="65" y="4"/>
                  <a:pt x="65" y="4"/>
                </a:cubicBezTo>
                <a:cubicBezTo>
                  <a:pt x="65" y="4"/>
                  <a:pt x="65" y="4"/>
                  <a:pt x="65" y="4"/>
                </a:cubicBezTo>
                <a:cubicBezTo>
                  <a:pt x="65" y="4"/>
                  <a:pt x="65" y="4"/>
                  <a:pt x="65" y="4"/>
                </a:cubicBezTo>
                <a:cubicBezTo>
                  <a:pt x="65" y="4"/>
                  <a:pt x="65" y="4"/>
                  <a:pt x="65" y="4"/>
                </a:cubicBezTo>
                <a:cubicBezTo>
                  <a:pt x="65" y="4"/>
                  <a:pt x="65" y="4"/>
                  <a:pt x="65" y="4"/>
                </a:cubicBezTo>
                <a:cubicBezTo>
                  <a:pt x="65" y="4"/>
                  <a:pt x="64" y="4"/>
                  <a:pt x="64" y="4"/>
                </a:cubicBezTo>
                <a:cubicBezTo>
                  <a:pt x="64" y="4"/>
                  <a:pt x="64" y="4"/>
                  <a:pt x="64" y="4"/>
                </a:cubicBezTo>
                <a:cubicBezTo>
                  <a:pt x="64" y="4"/>
                  <a:pt x="64" y="4"/>
                  <a:pt x="64" y="4"/>
                </a:cubicBezTo>
                <a:cubicBezTo>
                  <a:pt x="64" y="4"/>
                  <a:pt x="64" y="4"/>
                  <a:pt x="64" y="5"/>
                </a:cubicBezTo>
                <a:cubicBezTo>
                  <a:pt x="64" y="5"/>
                  <a:pt x="65" y="5"/>
                  <a:pt x="65" y="5"/>
                </a:cubicBezTo>
                <a:cubicBezTo>
                  <a:pt x="65" y="5"/>
                  <a:pt x="65" y="6"/>
                  <a:pt x="65" y="6"/>
                </a:cubicBezTo>
                <a:cubicBezTo>
                  <a:pt x="65" y="6"/>
                  <a:pt x="65" y="6"/>
                  <a:pt x="65" y="6"/>
                </a:cubicBezTo>
                <a:cubicBezTo>
                  <a:pt x="65" y="6"/>
                  <a:pt x="65" y="6"/>
                  <a:pt x="65" y="6"/>
                </a:cubicBezTo>
                <a:cubicBezTo>
                  <a:pt x="65" y="6"/>
                  <a:pt x="65" y="6"/>
                  <a:pt x="65" y="6"/>
                </a:cubicBezTo>
                <a:cubicBezTo>
                  <a:pt x="65" y="6"/>
                  <a:pt x="64" y="6"/>
                  <a:pt x="64" y="6"/>
                </a:cubicBezTo>
                <a:cubicBezTo>
                  <a:pt x="64" y="6"/>
                  <a:pt x="64" y="6"/>
                  <a:pt x="64" y="6"/>
                </a:cubicBezTo>
                <a:cubicBezTo>
                  <a:pt x="64" y="6"/>
                  <a:pt x="64" y="6"/>
                  <a:pt x="64" y="7"/>
                </a:cubicBezTo>
                <a:cubicBezTo>
                  <a:pt x="64" y="7"/>
                  <a:pt x="63" y="7"/>
                  <a:pt x="63" y="7"/>
                </a:cubicBezTo>
                <a:cubicBezTo>
                  <a:pt x="63" y="7"/>
                  <a:pt x="63" y="7"/>
                  <a:pt x="63" y="6"/>
                </a:cubicBezTo>
                <a:cubicBezTo>
                  <a:pt x="63" y="6"/>
                  <a:pt x="63" y="6"/>
                  <a:pt x="63" y="6"/>
                </a:cubicBezTo>
                <a:cubicBezTo>
                  <a:pt x="63" y="6"/>
                  <a:pt x="63" y="6"/>
                  <a:pt x="63" y="6"/>
                </a:cubicBezTo>
                <a:cubicBezTo>
                  <a:pt x="63" y="6"/>
                  <a:pt x="63" y="6"/>
                  <a:pt x="63" y="6"/>
                </a:cubicBezTo>
                <a:cubicBezTo>
                  <a:pt x="63" y="6"/>
                  <a:pt x="63" y="6"/>
                  <a:pt x="63" y="6"/>
                </a:cubicBezTo>
                <a:cubicBezTo>
                  <a:pt x="63" y="6"/>
                  <a:pt x="63" y="6"/>
                  <a:pt x="63" y="6"/>
                </a:cubicBezTo>
                <a:cubicBezTo>
                  <a:pt x="63" y="6"/>
                  <a:pt x="63" y="6"/>
                  <a:pt x="63" y="6"/>
                </a:cubicBezTo>
                <a:cubicBezTo>
                  <a:pt x="62" y="6"/>
                  <a:pt x="62" y="6"/>
                  <a:pt x="62" y="6"/>
                </a:cubicBezTo>
                <a:cubicBezTo>
                  <a:pt x="62" y="6"/>
                  <a:pt x="62" y="6"/>
                  <a:pt x="62" y="6"/>
                </a:cubicBezTo>
                <a:cubicBezTo>
                  <a:pt x="62" y="6"/>
                  <a:pt x="63" y="6"/>
                  <a:pt x="63" y="6"/>
                </a:cubicBezTo>
                <a:cubicBezTo>
                  <a:pt x="63" y="6"/>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3" y="7"/>
                  <a:pt x="63" y="7"/>
                  <a:pt x="63" y="7"/>
                </a:cubicBezTo>
                <a:cubicBezTo>
                  <a:pt x="62" y="7"/>
                  <a:pt x="62" y="7"/>
                  <a:pt x="62" y="7"/>
                </a:cubicBezTo>
                <a:cubicBezTo>
                  <a:pt x="62" y="7"/>
                  <a:pt x="62" y="7"/>
                  <a:pt x="62" y="7"/>
                </a:cubicBezTo>
                <a:cubicBezTo>
                  <a:pt x="62" y="7"/>
                  <a:pt x="62" y="7"/>
                  <a:pt x="62" y="7"/>
                </a:cubicBezTo>
                <a:cubicBezTo>
                  <a:pt x="62" y="7"/>
                  <a:pt x="62" y="7"/>
                  <a:pt x="62" y="7"/>
                </a:cubicBezTo>
                <a:cubicBezTo>
                  <a:pt x="62" y="7"/>
                  <a:pt x="62" y="7"/>
                  <a:pt x="62" y="7"/>
                </a:cubicBezTo>
                <a:cubicBezTo>
                  <a:pt x="62" y="7"/>
                  <a:pt x="62" y="7"/>
                  <a:pt x="61" y="7"/>
                </a:cubicBezTo>
                <a:cubicBezTo>
                  <a:pt x="61" y="7"/>
                  <a:pt x="61" y="7"/>
                  <a:pt x="61" y="7"/>
                </a:cubicBezTo>
                <a:cubicBezTo>
                  <a:pt x="61" y="7"/>
                  <a:pt x="61" y="7"/>
                  <a:pt x="61" y="7"/>
                </a:cubicBezTo>
                <a:cubicBezTo>
                  <a:pt x="61" y="7"/>
                  <a:pt x="61" y="7"/>
                  <a:pt x="61" y="7"/>
                </a:cubicBezTo>
                <a:cubicBezTo>
                  <a:pt x="61" y="7"/>
                  <a:pt x="61" y="7"/>
                  <a:pt x="61" y="7"/>
                </a:cubicBezTo>
                <a:cubicBezTo>
                  <a:pt x="61" y="7"/>
                  <a:pt x="61" y="7"/>
                  <a:pt x="61" y="7"/>
                </a:cubicBezTo>
                <a:cubicBezTo>
                  <a:pt x="61" y="7"/>
                  <a:pt x="61" y="7"/>
                  <a:pt x="61" y="7"/>
                </a:cubicBezTo>
                <a:cubicBezTo>
                  <a:pt x="61" y="7"/>
                  <a:pt x="61" y="7"/>
                  <a:pt x="61" y="7"/>
                </a:cubicBezTo>
                <a:cubicBezTo>
                  <a:pt x="61" y="7"/>
                  <a:pt x="61" y="7"/>
                  <a:pt x="61" y="7"/>
                </a:cubicBezTo>
                <a:cubicBezTo>
                  <a:pt x="61" y="8"/>
                  <a:pt x="61" y="8"/>
                  <a:pt x="61" y="8"/>
                </a:cubicBezTo>
                <a:cubicBezTo>
                  <a:pt x="61" y="8"/>
                  <a:pt x="61" y="8"/>
                  <a:pt x="61" y="8"/>
                </a:cubicBezTo>
                <a:cubicBezTo>
                  <a:pt x="61" y="8"/>
                  <a:pt x="61" y="8"/>
                  <a:pt x="61" y="8"/>
                </a:cubicBezTo>
                <a:cubicBezTo>
                  <a:pt x="61" y="8"/>
                  <a:pt x="60" y="8"/>
                  <a:pt x="60" y="8"/>
                </a:cubicBezTo>
                <a:cubicBezTo>
                  <a:pt x="60" y="8"/>
                  <a:pt x="60" y="8"/>
                  <a:pt x="59" y="8"/>
                </a:cubicBezTo>
                <a:cubicBezTo>
                  <a:pt x="59" y="8"/>
                  <a:pt x="59" y="7"/>
                  <a:pt x="59" y="7"/>
                </a:cubicBezTo>
                <a:cubicBezTo>
                  <a:pt x="59" y="7"/>
                  <a:pt x="59" y="7"/>
                  <a:pt x="59" y="7"/>
                </a:cubicBezTo>
                <a:cubicBezTo>
                  <a:pt x="59" y="7"/>
                  <a:pt x="58" y="7"/>
                  <a:pt x="58" y="7"/>
                </a:cubicBezTo>
                <a:cubicBezTo>
                  <a:pt x="58" y="7"/>
                  <a:pt x="58" y="7"/>
                  <a:pt x="58" y="7"/>
                </a:cubicBezTo>
                <a:cubicBezTo>
                  <a:pt x="58" y="7"/>
                  <a:pt x="58" y="8"/>
                  <a:pt x="59" y="8"/>
                </a:cubicBezTo>
                <a:cubicBezTo>
                  <a:pt x="59" y="8"/>
                  <a:pt x="59" y="8"/>
                  <a:pt x="59" y="8"/>
                </a:cubicBezTo>
                <a:cubicBezTo>
                  <a:pt x="59" y="8"/>
                  <a:pt x="59" y="8"/>
                  <a:pt x="59" y="8"/>
                </a:cubicBezTo>
                <a:cubicBezTo>
                  <a:pt x="59" y="8"/>
                  <a:pt x="60" y="8"/>
                  <a:pt x="60" y="8"/>
                </a:cubicBezTo>
                <a:cubicBezTo>
                  <a:pt x="60" y="8"/>
                  <a:pt x="61" y="8"/>
                  <a:pt x="61" y="8"/>
                </a:cubicBezTo>
                <a:cubicBezTo>
                  <a:pt x="61" y="8"/>
                  <a:pt x="61" y="8"/>
                  <a:pt x="61" y="8"/>
                </a:cubicBezTo>
                <a:cubicBezTo>
                  <a:pt x="61" y="9"/>
                  <a:pt x="61" y="9"/>
                  <a:pt x="61" y="9"/>
                </a:cubicBezTo>
                <a:cubicBezTo>
                  <a:pt x="61" y="9"/>
                  <a:pt x="61" y="9"/>
                  <a:pt x="61" y="9"/>
                </a:cubicBezTo>
                <a:cubicBezTo>
                  <a:pt x="61" y="9"/>
                  <a:pt x="60" y="9"/>
                  <a:pt x="60" y="9"/>
                </a:cubicBezTo>
                <a:cubicBezTo>
                  <a:pt x="60" y="9"/>
                  <a:pt x="60" y="9"/>
                  <a:pt x="60" y="9"/>
                </a:cubicBezTo>
                <a:cubicBezTo>
                  <a:pt x="60" y="9"/>
                  <a:pt x="60" y="9"/>
                  <a:pt x="60" y="9"/>
                </a:cubicBezTo>
                <a:cubicBezTo>
                  <a:pt x="60" y="10"/>
                  <a:pt x="60" y="10"/>
                  <a:pt x="60" y="10"/>
                </a:cubicBezTo>
                <a:cubicBezTo>
                  <a:pt x="60" y="10"/>
                  <a:pt x="60" y="10"/>
                  <a:pt x="60" y="10"/>
                </a:cubicBezTo>
                <a:cubicBezTo>
                  <a:pt x="60" y="10"/>
                  <a:pt x="59" y="10"/>
                  <a:pt x="59" y="10"/>
                </a:cubicBezTo>
                <a:cubicBezTo>
                  <a:pt x="59" y="10"/>
                  <a:pt x="59" y="10"/>
                  <a:pt x="59" y="10"/>
                </a:cubicBezTo>
                <a:cubicBezTo>
                  <a:pt x="59" y="10"/>
                  <a:pt x="59" y="10"/>
                  <a:pt x="59" y="10"/>
                </a:cubicBezTo>
                <a:cubicBezTo>
                  <a:pt x="59" y="10"/>
                  <a:pt x="59" y="10"/>
                  <a:pt x="59" y="10"/>
                </a:cubicBezTo>
                <a:cubicBezTo>
                  <a:pt x="59" y="10"/>
                  <a:pt x="59" y="10"/>
                  <a:pt x="59" y="10"/>
                </a:cubicBezTo>
                <a:cubicBezTo>
                  <a:pt x="59" y="10"/>
                  <a:pt x="59" y="10"/>
                  <a:pt x="59" y="10"/>
                </a:cubicBezTo>
                <a:cubicBezTo>
                  <a:pt x="59" y="10"/>
                  <a:pt x="59" y="10"/>
                  <a:pt x="59" y="10"/>
                </a:cubicBezTo>
                <a:cubicBezTo>
                  <a:pt x="59" y="10"/>
                  <a:pt x="59" y="10"/>
                  <a:pt x="59" y="10"/>
                </a:cubicBezTo>
                <a:cubicBezTo>
                  <a:pt x="58" y="10"/>
                  <a:pt x="58" y="10"/>
                  <a:pt x="58" y="10"/>
                </a:cubicBezTo>
                <a:cubicBezTo>
                  <a:pt x="59" y="10"/>
                  <a:pt x="59" y="10"/>
                  <a:pt x="59" y="10"/>
                </a:cubicBezTo>
                <a:cubicBezTo>
                  <a:pt x="58" y="10"/>
                  <a:pt x="58" y="10"/>
                  <a:pt x="58" y="10"/>
                </a:cubicBezTo>
                <a:cubicBezTo>
                  <a:pt x="58" y="10"/>
                  <a:pt x="58" y="10"/>
                  <a:pt x="58" y="10"/>
                </a:cubicBezTo>
                <a:cubicBezTo>
                  <a:pt x="58" y="10"/>
                  <a:pt x="58" y="10"/>
                  <a:pt x="58" y="10"/>
                </a:cubicBezTo>
                <a:cubicBezTo>
                  <a:pt x="58" y="10"/>
                  <a:pt x="58" y="10"/>
                  <a:pt x="58" y="10"/>
                </a:cubicBezTo>
                <a:cubicBezTo>
                  <a:pt x="58" y="10"/>
                  <a:pt x="58" y="10"/>
                  <a:pt x="58" y="10"/>
                </a:cubicBezTo>
                <a:cubicBezTo>
                  <a:pt x="58" y="10"/>
                  <a:pt x="58" y="10"/>
                  <a:pt x="58" y="10"/>
                </a:cubicBezTo>
                <a:cubicBezTo>
                  <a:pt x="58" y="10"/>
                  <a:pt x="58" y="10"/>
                  <a:pt x="57" y="10"/>
                </a:cubicBezTo>
                <a:cubicBezTo>
                  <a:pt x="57" y="10"/>
                  <a:pt x="57" y="10"/>
                  <a:pt x="57" y="10"/>
                </a:cubicBezTo>
                <a:cubicBezTo>
                  <a:pt x="57" y="10"/>
                  <a:pt x="57" y="10"/>
                  <a:pt x="57" y="10"/>
                </a:cubicBezTo>
                <a:cubicBezTo>
                  <a:pt x="57" y="10"/>
                  <a:pt x="57" y="10"/>
                  <a:pt x="57" y="10"/>
                </a:cubicBezTo>
                <a:cubicBezTo>
                  <a:pt x="56" y="10"/>
                  <a:pt x="56" y="10"/>
                  <a:pt x="56" y="10"/>
                </a:cubicBezTo>
                <a:cubicBezTo>
                  <a:pt x="56" y="10"/>
                  <a:pt x="56" y="10"/>
                  <a:pt x="56" y="10"/>
                </a:cubicBezTo>
                <a:cubicBezTo>
                  <a:pt x="56" y="10"/>
                  <a:pt x="56" y="10"/>
                  <a:pt x="56" y="10"/>
                </a:cubicBezTo>
                <a:cubicBezTo>
                  <a:pt x="56" y="10"/>
                  <a:pt x="56" y="10"/>
                  <a:pt x="56" y="10"/>
                </a:cubicBezTo>
                <a:cubicBezTo>
                  <a:pt x="56" y="10"/>
                  <a:pt x="56" y="10"/>
                  <a:pt x="56" y="10"/>
                </a:cubicBezTo>
                <a:cubicBezTo>
                  <a:pt x="56" y="10"/>
                  <a:pt x="56" y="10"/>
                  <a:pt x="56" y="10"/>
                </a:cubicBezTo>
                <a:cubicBezTo>
                  <a:pt x="56" y="10"/>
                  <a:pt x="56" y="10"/>
                  <a:pt x="56" y="10"/>
                </a:cubicBezTo>
                <a:cubicBezTo>
                  <a:pt x="56" y="10"/>
                  <a:pt x="56" y="10"/>
                  <a:pt x="56" y="10"/>
                </a:cubicBezTo>
                <a:cubicBezTo>
                  <a:pt x="56" y="10"/>
                  <a:pt x="56" y="10"/>
                  <a:pt x="56" y="10"/>
                </a:cubicBezTo>
                <a:cubicBezTo>
                  <a:pt x="56" y="10"/>
                  <a:pt x="56" y="10"/>
                  <a:pt x="56" y="10"/>
                </a:cubicBezTo>
                <a:cubicBezTo>
                  <a:pt x="57" y="10"/>
                  <a:pt x="57" y="10"/>
                  <a:pt x="57" y="10"/>
                </a:cubicBezTo>
                <a:cubicBezTo>
                  <a:pt x="57" y="10"/>
                  <a:pt x="57" y="10"/>
                  <a:pt x="57" y="10"/>
                </a:cubicBezTo>
                <a:cubicBezTo>
                  <a:pt x="57" y="10"/>
                  <a:pt x="57" y="10"/>
                  <a:pt x="57" y="10"/>
                </a:cubicBezTo>
                <a:cubicBezTo>
                  <a:pt x="57" y="10"/>
                  <a:pt x="57" y="10"/>
                  <a:pt x="57" y="10"/>
                </a:cubicBezTo>
                <a:cubicBezTo>
                  <a:pt x="57" y="10"/>
                  <a:pt x="57" y="10"/>
                  <a:pt x="57" y="10"/>
                </a:cubicBezTo>
                <a:cubicBezTo>
                  <a:pt x="57" y="10"/>
                  <a:pt x="57" y="10"/>
                  <a:pt x="57" y="10"/>
                </a:cubicBezTo>
                <a:cubicBezTo>
                  <a:pt x="57" y="10"/>
                  <a:pt x="58" y="10"/>
                  <a:pt x="58" y="10"/>
                </a:cubicBezTo>
                <a:cubicBezTo>
                  <a:pt x="58" y="10"/>
                  <a:pt x="58" y="10"/>
                  <a:pt x="58" y="10"/>
                </a:cubicBezTo>
                <a:cubicBezTo>
                  <a:pt x="58" y="11"/>
                  <a:pt x="58" y="11"/>
                  <a:pt x="58" y="11"/>
                </a:cubicBezTo>
                <a:cubicBezTo>
                  <a:pt x="58" y="11"/>
                  <a:pt x="58" y="11"/>
                  <a:pt x="58" y="11"/>
                </a:cubicBezTo>
                <a:cubicBezTo>
                  <a:pt x="58" y="11"/>
                  <a:pt x="58" y="11"/>
                  <a:pt x="58" y="11"/>
                </a:cubicBezTo>
                <a:cubicBezTo>
                  <a:pt x="58" y="11"/>
                  <a:pt x="58" y="11"/>
                  <a:pt x="58" y="11"/>
                </a:cubicBezTo>
                <a:cubicBezTo>
                  <a:pt x="58" y="11"/>
                  <a:pt x="57" y="11"/>
                  <a:pt x="57" y="11"/>
                </a:cubicBezTo>
                <a:cubicBezTo>
                  <a:pt x="57" y="11"/>
                  <a:pt x="57" y="11"/>
                  <a:pt x="57" y="11"/>
                </a:cubicBezTo>
                <a:cubicBezTo>
                  <a:pt x="57" y="11"/>
                  <a:pt x="57" y="11"/>
                  <a:pt x="57" y="11"/>
                </a:cubicBezTo>
                <a:cubicBezTo>
                  <a:pt x="57" y="11"/>
                  <a:pt x="57" y="11"/>
                  <a:pt x="57" y="11"/>
                </a:cubicBezTo>
                <a:cubicBezTo>
                  <a:pt x="57" y="11"/>
                  <a:pt x="57" y="11"/>
                  <a:pt x="57" y="11"/>
                </a:cubicBezTo>
                <a:cubicBezTo>
                  <a:pt x="57" y="11"/>
                  <a:pt x="57" y="11"/>
                  <a:pt x="57" y="11"/>
                </a:cubicBezTo>
                <a:cubicBezTo>
                  <a:pt x="57" y="11"/>
                  <a:pt x="57" y="11"/>
                  <a:pt x="57" y="11"/>
                </a:cubicBezTo>
                <a:cubicBezTo>
                  <a:pt x="57" y="11"/>
                  <a:pt x="57" y="11"/>
                  <a:pt x="57" y="11"/>
                </a:cubicBezTo>
                <a:cubicBezTo>
                  <a:pt x="57" y="11"/>
                  <a:pt x="57" y="11"/>
                  <a:pt x="57" y="11"/>
                </a:cubicBezTo>
                <a:cubicBezTo>
                  <a:pt x="57" y="12"/>
                  <a:pt x="57" y="12"/>
                  <a:pt x="57" y="12"/>
                </a:cubicBezTo>
                <a:cubicBezTo>
                  <a:pt x="57" y="12"/>
                  <a:pt x="57" y="12"/>
                  <a:pt x="57"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2"/>
                  <a:pt x="56" y="12"/>
                </a:cubicBezTo>
                <a:cubicBezTo>
                  <a:pt x="56" y="12"/>
                  <a:pt x="56" y="13"/>
                  <a:pt x="56" y="13"/>
                </a:cubicBezTo>
                <a:cubicBezTo>
                  <a:pt x="56" y="13"/>
                  <a:pt x="56" y="13"/>
                  <a:pt x="56" y="13"/>
                </a:cubicBezTo>
                <a:cubicBezTo>
                  <a:pt x="56" y="13"/>
                  <a:pt x="56" y="13"/>
                  <a:pt x="56" y="13"/>
                </a:cubicBezTo>
                <a:cubicBezTo>
                  <a:pt x="56" y="13"/>
                  <a:pt x="55" y="13"/>
                  <a:pt x="55" y="13"/>
                </a:cubicBezTo>
                <a:cubicBezTo>
                  <a:pt x="55" y="14"/>
                  <a:pt x="55" y="14"/>
                  <a:pt x="55" y="14"/>
                </a:cubicBezTo>
                <a:cubicBezTo>
                  <a:pt x="55" y="14"/>
                  <a:pt x="55" y="14"/>
                  <a:pt x="55" y="14"/>
                </a:cubicBezTo>
                <a:cubicBezTo>
                  <a:pt x="55" y="14"/>
                  <a:pt x="55" y="14"/>
                  <a:pt x="55" y="14"/>
                </a:cubicBezTo>
                <a:cubicBezTo>
                  <a:pt x="55" y="14"/>
                  <a:pt x="55" y="14"/>
                  <a:pt x="55" y="14"/>
                </a:cubicBezTo>
                <a:cubicBezTo>
                  <a:pt x="55" y="14"/>
                  <a:pt x="55" y="14"/>
                  <a:pt x="55" y="14"/>
                </a:cubicBezTo>
                <a:cubicBezTo>
                  <a:pt x="55" y="14"/>
                  <a:pt x="55" y="14"/>
                  <a:pt x="55" y="14"/>
                </a:cubicBezTo>
                <a:cubicBezTo>
                  <a:pt x="55" y="14"/>
                  <a:pt x="55" y="14"/>
                  <a:pt x="55" y="15"/>
                </a:cubicBezTo>
                <a:cubicBezTo>
                  <a:pt x="55" y="15"/>
                  <a:pt x="55" y="15"/>
                  <a:pt x="55" y="15"/>
                </a:cubicBezTo>
                <a:cubicBezTo>
                  <a:pt x="55" y="15"/>
                  <a:pt x="55" y="15"/>
                  <a:pt x="55" y="15"/>
                </a:cubicBezTo>
                <a:cubicBezTo>
                  <a:pt x="55" y="15"/>
                  <a:pt x="55" y="15"/>
                  <a:pt x="55" y="15"/>
                </a:cubicBezTo>
                <a:cubicBezTo>
                  <a:pt x="55" y="15"/>
                  <a:pt x="55" y="15"/>
                  <a:pt x="55" y="15"/>
                </a:cubicBezTo>
                <a:cubicBezTo>
                  <a:pt x="55" y="15"/>
                  <a:pt x="55" y="15"/>
                  <a:pt x="55" y="15"/>
                </a:cubicBezTo>
                <a:cubicBezTo>
                  <a:pt x="55" y="16"/>
                  <a:pt x="55" y="16"/>
                  <a:pt x="55" y="16"/>
                </a:cubicBezTo>
                <a:cubicBezTo>
                  <a:pt x="55" y="16"/>
                  <a:pt x="55" y="16"/>
                  <a:pt x="55" y="16"/>
                </a:cubicBezTo>
                <a:cubicBezTo>
                  <a:pt x="55" y="16"/>
                  <a:pt x="55" y="16"/>
                  <a:pt x="55" y="16"/>
                </a:cubicBezTo>
                <a:cubicBezTo>
                  <a:pt x="55" y="16"/>
                  <a:pt x="55" y="16"/>
                  <a:pt x="55" y="16"/>
                </a:cubicBezTo>
                <a:cubicBezTo>
                  <a:pt x="55" y="16"/>
                  <a:pt x="55" y="16"/>
                  <a:pt x="55" y="16"/>
                </a:cubicBezTo>
                <a:cubicBezTo>
                  <a:pt x="55" y="16"/>
                  <a:pt x="55" y="16"/>
                  <a:pt x="55" y="16"/>
                </a:cubicBezTo>
                <a:cubicBezTo>
                  <a:pt x="55" y="16"/>
                  <a:pt x="56" y="16"/>
                  <a:pt x="56" y="16"/>
                </a:cubicBezTo>
                <a:cubicBezTo>
                  <a:pt x="56" y="16"/>
                  <a:pt x="56" y="16"/>
                  <a:pt x="56" y="16"/>
                </a:cubicBezTo>
                <a:cubicBezTo>
                  <a:pt x="56" y="16"/>
                  <a:pt x="56" y="16"/>
                  <a:pt x="56" y="16"/>
                </a:cubicBezTo>
                <a:cubicBezTo>
                  <a:pt x="56" y="16"/>
                  <a:pt x="56" y="16"/>
                  <a:pt x="56" y="16"/>
                </a:cubicBezTo>
                <a:cubicBezTo>
                  <a:pt x="56" y="16"/>
                  <a:pt x="56" y="16"/>
                  <a:pt x="56" y="16"/>
                </a:cubicBezTo>
                <a:cubicBezTo>
                  <a:pt x="56" y="16"/>
                  <a:pt x="56" y="16"/>
                  <a:pt x="56" y="16"/>
                </a:cubicBezTo>
                <a:cubicBezTo>
                  <a:pt x="56" y="16"/>
                  <a:pt x="56" y="16"/>
                  <a:pt x="56" y="16"/>
                </a:cubicBezTo>
                <a:cubicBezTo>
                  <a:pt x="56" y="16"/>
                  <a:pt x="56" y="17"/>
                  <a:pt x="56" y="17"/>
                </a:cubicBezTo>
                <a:cubicBezTo>
                  <a:pt x="56" y="17"/>
                  <a:pt x="57" y="17"/>
                  <a:pt x="57" y="17"/>
                </a:cubicBezTo>
                <a:cubicBezTo>
                  <a:pt x="57" y="17"/>
                  <a:pt x="57" y="17"/>
                  <a:pt x="57" y="17"/>
                </a:cubicBezTo>
                <a:cubicBezTo>
                  <a:pt x="57" y="17"/>
                  <a:pt x="57" y="17"/>
                  <a:pt x="57" y="18"/>
                </a:cubicBezTo>
                <a:cubicBezTo>
                  <a:pt x="57" y="18"/>
                  <a:pt x="56" y="18"/>
                  <a:pt x="56" y="18"/>
                </a:cubicBezTo>
                <a:cubicBezTo>
                  <a:pt x="56" y="18"/>
                  <a:pt x="57" y="18"/>
                  <a:pt x="57" y="18"/>
                </a:cubicBezTo>
                <a:cubicBezTo>
                  <a:pt x="57" y="18"/>
                  <a:pt x="58" y="17"/>
                  <a:pt x="58" y="17"/>
                </a:cubicBezTo>
                <a:cubicBezTo>
                  <a:pt x="58" y="17"/>
                  <a:pt x="58" y="17"/>
                  <a:pt x="58" y="18"/>
                </a:cubicBezTo>
                <a:cubicBezTo>
                  <a:pt x="58" y="18"/>
                  <a:pt x="58" y="18"/>
                  <a:pt x="59" y="18"/>
                </a:cubicBezTo>
                <a:cubicBezTo>
                  <a:pt x="59" y="18"/>
                  <a:pt x="59" y="18"/>
                  <a:pt x="59" y="18"/>
                </a:cubicBezTo>
                <a:cubicBezTo>
                  <a:pt x="59" y="18"/>
                  <a:pt x="59" y="18"/>
                  <a:pt x="60" y="18"/>
                </a:cubicBezTo>
                <a:cubicBezTo>
                  <a:pt x="60" y="18"/>
                  <a:pt x="60" y="18"/>
                  <a:pt x="60" y="18"/>
                </a:cubicBezTo>
                <a:cubicBezTo>
                  <a:pt x="60" y="19"/>
                  <a:pt x="60" y="19"/>
                  <a:pt x="60" y="19"/>
                </a:cubicBezTo>
                <a:cubicBezTo>
                  <a:pt x="60" y="19"/>
                  <a:pt x="61" y="19"/>
                  <a:pt x="61" y="19"/>
                </a:cubicBezTo>
                <a:cubicBezTo>
                  <a:pt x="62" y="19"/>
                  <a:pt x="62" y="19"/>
                  <a:pt x="62" y="19"/>
                </a:cubicBezTo>
                <a:cubicBezTo>
                  <a:pt x="62" y="19"/>
                  <a:pt x="62" y="19"/>
                  <a:pt x="62" y="19"/>
                </a:cubicBezTo>
                <a:cubicBezTo>
                  <a:pt x="62" y="20"/>
                  <a:pt x="62" y="20"/>
                  <a:pt x="62" y="20"/>
                </a:cubicBezTo>
                <a:cubicBezTo>
                  <a:pt x="62" y="20"/>
                  <a:pt x="62" y="20"/>
                  <a:pt x="62" y="20"/>
                </a:cubicBezTo>
                <a:cubicBezTo>
                  <a:pt x="62" y="20"/>
                  <a:pt x="62" y="20"/>
                  <a:pt x="63" y="20"/>
                </a:cubicBezTo>
                <a:cubicBezTo>
                  <a:pt x="63" y="19"/>
                  <a:pt x="63" y="20"/>
                  <a:pt x="63" y="20"/>
                </a:cubicBezTo>
                <a:cubicBezTo>
                  <a:pt x="63" y="20"/>
                  <a:pt x="63" y="20"/>
                  <a:pt x="63" y="20"/>
                </a:cubicBezTo>
                <a:cubicBezTo>
                  <a:pt x="64" y="20"/>
                  <a:pt x="64" y="20"/>
                  <a:pt x="64" y="20"/>
                </a:cubicBezTo>
                <a:cubicBezTo>
                  <a:pt x="64" y="20"/>
                  <a:pt x="64" y="20"/>
                  <a:pt x="64" y="20"/>
                </a:cubicBezTo>
                <a:cubicBezTo>
                  <a:pt x="64" y="20"/>
                  <a:pt x="64" y="20"/>
                  <a:pt x="64" y="20"/>
                </a:cubicBezTo>
                <a:cubicBezTo>
                  <a:pt x="64" y="20"/>
                  <a:pt x="64" y="20"/>
                  <a:pt x="64" y="20"/>
                </a:cubicBezTo>
                <a:cubicBezTo>
                  <a:pt x="64" y="20"/>
                  <a:pt x="64" y="20"/>
                  <a:pt x="64" y="20"/>
                </a:cubicBezTo>
                <a:cubicBezTo>
                  <a:pt x="64" y="20"/>
                  <a:pt x="64" y="20"/>
                  <a:pt x="64" y="20"/>
                </a:cubicBezTo>
                <a:cubicBezTo>
                  <a:pt x="64" y="20"/>
                  <a:pt x="64" y="21"/>
                  <a:pt x="64" y="21"/>
                </a:cubicBezTo>
                <a:cubicBezTo>
                  <a:pt x="64" y="21"/>
                  <a:pt x="64" y="21"/>
                  <a:pt x="64" y="21"/>
                </a:cubicBezTo>
                <a:cubicBezTo>
                  <a:pt x="64" y="21"/>
                  <a:pt x="64" y="21"/>
                  <a:pt x="64" y="22"/>
                </a:cubicBezTo>
                <a:cubicBezTo>
                  <a:pt x="64" y="22"/>
                  <a:pt x="64" y="22"/>
                  <a:pt x="64" y="22"/>
                </a:cubicBezTo>
                <a:cubicBezTo>
                  <a:pt x="64" y="22"/>
                  <a:pt x="64" y="22"/>
                  <a:pt x="65" y="22"/>
                </a:cubicBezTo>
                <a:cubicBezTo>
                  <a:pt x="65" y="22"/>
                  <a:pt x="65" y="22"/>
                  <a:pt x="65" y="22"/>
                </a:cubicBezTo>
                <a:cubicBezTo>
                  <a:pt x="65" y="22"/>
                  <a:pt x="65" y="22"/>
                  <a:pt x="65" y="23"/>
                </a:cubicBezTo>
                <a:cubicBezTo>
                  <a:pt x="65" y="23"/>
                  <a:pt x="65" y="23"/>
                  <a:pt x="65" y="23"/>
                </a:cubicBezTo>
                <a:cubicBezTo>
                  <a:pt x="65" y="23"/>
                  <a:pt x="65" y="23"/>
                  <a:pt x="65" y="23"/>
                </a:cubicBezTo>
                <a:cubicBezTo>
                  <a:pt x="65" y="23"/>
                  <a:pt x="65" y="23"/>
                  <a:pt x="65" y="23"/>
                </a:cubicBezTo>
                <a:cubicBezTo>
                  <a:pt x="65" y="23"/>
                  <a:pt x="65" y="23"/>
                  <a:pt x="65" y="23"/>
                </a:cubicBezTo>
                <a:cubicBezTo>
                  <a:pt x="65" y="23"/>
                  <a:pt x="66" y="23"/>
                  <a:pt x="66" y="23"/>
                </a:cubicBezTo>
                <a:cubicBezTo>
                  <a:pt x="66" y="23"/>
                  <a:pt x="66" y="23"/>
                  <a:pt x="66" y="23"/>
                </a:cubicBezTo>
                <a:cubicBezTo>
                  <a:pt x="66" y="23"/>
                  <a:pt x="66" y="23"/>
                  <a:pt x="66" y="23"/>
                </a:cubicBezTo>
                <a:cubicBezTo>
                  <a:pt x="66" y="24"/>
                  <a:pt x="66" y="24"/>
                  <a:pt x="66" y="24"/>
                </a:cubicBezTo>
                <a:cubicBezTo>
                  <a:pt x="66" y="24"/>
                  <a:pt x="66" y="24"/>
                  <a:pt x="66" y="24"/>
                </a:cubicBezTo>
                <a:cubicBezTo>
                  <a:pt x="66" y="24"/>
                  <a:pt x="66" y="24"/>
                  <a:pt x="66" y="24"/>
                </a:cubicBezTo>
                <a:cubicBezTo>
                  <a:pt x="66" y="24"/>
                  <a:pt x="66" y="24"/>
                  <a:pt x="66" y="24"/>
                </a:cubicBezTo>
                <a:cubicBezTo>
                  <a:pt x="66" y="24"/>
                  <a:pt x="66" y="24"/>
                  <a:pt x="66" y="24"/>
                </a:cubicBezTo>
                <a:cubicBezTo>
                  <a:pt x="66" y="24"/>
                  <a:pt x="66" y="24"/>
                  <a:pt x="66" y="24"/>
                </a:cubicBezTo>
                <a:cubicBezTo>
                  <a:pt x="66" y="24"/>
                  <a:pt x="66" y="24"/>
                  <a:pt x="66" y="24"/>
                </a:cubicBezTo>
                <a:cubicBezTo>
                  <a:pt x="66" y="24"/>
                  <a:pt x="66" y="24"/>
                  <a:pt x="66" y="24"/>
                </a:cubicBezTo>
                <a:cubicBezTo>
                  <a:pt x="66" y="24"/>
                  <a:pt x="66" y="24"/>
                  <a:pt x="66" y="24"/>
                </a:cubicBezTo>
                <a:cubicBezTo>
                  <a:pt x="66" y="23"/>
                  <a:pt x="66" y="23"/>
                  <a:pt x="66" y="23"/>
                </a:cubicBezTo>
                <a:cubicBezTo>
                  <a:pt x="66" y="23"/>
                  <a:pt x="66" y="23"/>
                  <a:pt x="66" y="23"/>
                </a:cubicBezTo>
                <a:cubicBezTo>
                  <a:pt x="67" y="23"/>
                  <a:pt x="67" y="23"/>
                  <a:pt x="67" y="23"/>
                </a:cubicBezTo>
                <a:cubicBezTo>
                  <a:pt x="67" y="23"/>
                  <a:pt x="67" y="23"/>
                  <a:pt x="67" y="23"/>
                </a:cubicBezTo>
                <a:cubicBezTo>
                  <a:pt x="67" y="23"/>
                  <a:pt x="67" y="23"/>
                  <a:pt x="67" y="23"/>
                </a:cubicBezTo>
                <a:cubicBezTo>
                  <a:pt x="67" y="24"/>
                  <a:pt x="67" y="24"/>
                  <a:pt x="67" y="24"/>
                </a:cubicBezTo>
                <a:cubicBezTo>
                  <a:pt x="67" y="23"/>
                  <a:pt x="67" y="23"/>
                  <a:pt x="67" y="23"/>
                </a:cubicBezTo>
                <a:cubicBezTo>
                  <a:pt x="67" y="23"/>
                  <a:pt x="67" y="23"/>
                  <a:pt x="67" y="23"/>
                </a:cubicBezTo>
                <a:cubicBezTo>
                  <a:pt x="67" y="23"/>
                  <a:pt x="67" y="23"/>
                  <a:pt x="67" y="23"/>
                </a:cubicBezTo>
                <a:cubicBezTo>
                  <a:pt x="67" y="23"/>
                  <a:pt x="67" y="23"/>
                  <a:pt x="67" y="23"/>
                </a:cubicBezTo>
                <a:cubicBezTo>
                  <a:pt x="67" y="23"/>
                  <a:pt x="67" y="23"/>
                  <a:pt x="67" y="23"/>
                </a:cubicBezTo>
                <a:cubicBezTo>
                  <a:pt x="67" y="23"/>
                  <a:pt x="67" y="23"/>
                  <a:pt x="67" y="22"/>
                </a:cubicBezTo>
                <a:cubicBezTo>
                  <a:pt x="67" y="22"/>
                  <a:pt x="67" y="22"/>
                  <a:pt x="67" y="22"/>
                </a:cubicBezTo>
                <a:cubicBezTo>
                  <a:pt x="67" y="22"/>
                  <a:pt x="67" y="22"/>
                  <a:pt x="67" y="22"/>
                </a:cubicBezTo>
                <a:cubicBezTo>
                  <a:pt x="67" y="21"/>
                  <a:pt x="67" y="21"/>
                  <a:pt x="67" y="21"/>
                </a:cubicBezTo>
                <a:cubicBezTo>
                  <a:pt x="67" y="21"/>
                  <a:pt x="67" y="21"/>
                  <a:pt x="67" y="21"/>
                </a:cubicBezTo>
                <a:cubicBezTo>
                  <a:pt x="67" y="21"/>
                  <a:pt x="67" y="21"/>
                  <a:pt x="67" y="21"/>
                </a:cubicBezTo>
                <a:cubicBezTo>
                  <a:pt x="67" y="21"/>
                  <a:pt x="67" y="21"/>
                  <a:pt x="67" y="21"/>
                </a:cubicBezTo>
                <a:cubicBezTo>
                  <a:pt x="67" y="21"/>
                  <a:pt x="67" y="21"/>
                  <a:pt x="67" y="21"/>
                </a:cubicBezTo>
                <a:cubicBezTo>
                  <a:pt x="67" y="21"/>
                  <a:pt x="67" y="21"/>
                  <a:pt x="67" y="21"/>
                </a:cubicBezTo>
                <a:cubicBezTo>
                  <a:pt x="66" y="20"/>
                  <a:pt x="66" y="20"/>
                  <a:pt x="66" y="20"/>
                </a:cubicBezTo>
                <a:cubicBezTo>
                  <a:pt x="66" y="20"/>
                  <a:pt x="67" y="20"/>
                  <a:pt x="67" y="20"/>
                </a:cubicBezTo>
                <a:cubicBezTo>
                  <a:pt x="67" y="20"/>
                  <a:pt x="68" y="19"/>
                  <a:pt x="68" y="19"/>
                </a:cubicBezTo>
                <a:cubicBezTo>
                  <a:pt x="68" y="19"/>
                  <a:pt x="69" y="19"/>
                  <a:pt x="69" y="19"/>
                </a:cubicBezTo>
                <a:cubicBezTo>
                  <a:pt x="69" y="19"/>
                  <a:pt x="69" y="18"/>
                  <a:pt x="69" y="18"/>
                </a:cubicBezTo>
                <a:cubicBezTo>
                  <a:pt x="69" y="18"/>
                  <a:pt x="69" y="18"/>
                  <a:pt x="68" y="17"/>
                </a:cubicBezTo>
                <a:cubicBezTo>
                  <a:pt x="68" y="17"/>
                  <a:pt x="68" y="17"/>
                  <a:pt x="68" y="17"/>
                </a:cubicBezTo>
                <a:cubicBezTo>
                  <a:pt x="68" y="16"/>
                  <a:pt x="68" y="16"/>
                  <a:pt x="68" y="16"/>
                </a:cubicBezTo>
                <a:cubicBezTo>
                  <a:pt x="68" y="16"/>
                  <a:pt x="68" y="16"/>
                  <a:pt x="68" y="16"/>
                </a:cubicBezTo>
                <a:cubicBezTo>
                  <a:pt x="67" y="16"/>
                  <a:pt x="67" y="16"/>
                  <a:pt x="67" y="16"/>
                </a:cubicBezTo>
                <a:cubicBezTo>
                  <a:pt x="67" y="16"/>
                  <a:pt x="67" y="16"/>
                  <a:pt x="67" y="16"/>
                </a:cubicBezTo>
                <a:cubicBezTo>
                  <a:pt x="67" y="16"/>
                  <a:pt x="67" y="16"/>
                  <a:pt x="67" y="16"/>
                </a:cubicBezTo>
                <a:cubicBezTo>
                  <a:pt x="67" y="16"/>
                  <a:pt x="67" y="16"/>
                  <a:pt x="67" y="16"/>
                </a:cubicBezTo>
                <a:cubicBezTo>
                  <a:pt x="67" y="16"/>
                  <a:pt x="67" y="16"/>
                  <a:pt x="67" y="16"/>
                </a:cubicBezTo>
                <a:cubicBezTo>
                  <a:pt x="67" y="15"/>
                  <a:pt x="67" y="15"/>
                  <a:pt x="67" y="15"/>
                </a:cubicBezTo>
                <a:cubicBezTo>
                  <a:pt x="67" y="15"/>
                  <a:pt x="67" y="15"/>
                  <a:pt x="67" y="15"/>
                </a:cubicBezTo>
                <a:cubicBezTo>
                  <a:pt x="68" y="15"/>
                  <a:pt x="68" y="15"/>
                  <a:pt x="68" y="15"/>
                </a:cubicBezTo>
                <a:cubicBezTo>
                  <a:pt x="68" y="15"/>
                  <a:pt x="68" y="15"/>
                  <a:pt x="68" y="15"/>
                </a:cubicBezTo>
                <a:cubicBezTo>
                  <a:pt x="68" y="15"/>
                  <a:pt x="68" y="15"/>
                  <a:pt x="68" y="15"/>
                </a:cubicBezTo>
                <a:cubicBezTo>
                  <a:pt x="68" y="15"/>
                  <a:pt x="68" y="15"/>
                  <a:pt x="68" y="15"/>
                </a:cubicBezTo>
                <a:cubicBezTo>
                  <a:pt x="68" y="15"/>
                  <a:pt x="68" y="15"/>
                  <a:pt x="68" y="15"/>
                </a:cubicBezTo>
                <a:cubicBezTo>
                  <a:pt x="68" y="15"/>
                  <a:pt x="68" y="15"/>
                  <a:pt x="68" y="15"/>
                </a:cubicBezTo>
                <a:cubicBezTo>
                  <a:pt x="68" y="15"/>
                  <a:pt x="68" y="15"/>
                  <a:pt x="68" y="15"/>
                </a:cubicBezTo>
                <a:cubicBezTo>
                  <a:pt x="68" y="15"/>
                  <a:pt x="68" y="15"/>
                  <a:pt x="68" y="15"/>
                </a:cubicBezTo>
                <a:cubicBezTo>
                  <a:pt x="68" y="15"/>
                  <a:pt x="68" y="14"/>
                  <a:pt x="68" y="14"/>
                </a:cubicBezTo>
                <a:cubicBezTo>
                  <a:pt x="68" y="14"/>
                  <a:pt x="68" y="14"/>
                  <a:pt x="68" y="14"/>
                </a:cubicBezTo>
                <a:cubicBezTo>
                  <a:pt x="68" y="14"/>
                  <a:pt x="68" y="14"/>
                  <a:pt x="68" y="14"/>
                </a:cubicBezTo>
                <a:cubicBezTo>
                  <a:pt x="68" y="14"/>
                  <a:pt x="68" y="14"/>
                  <a:pt x="68" y="14"/>
                </a:cubicBezTo>
                <a:cubicBezTo>
                  <a:pt x="68" y="14"/>
                  <a:pt x="68" y="14"/>
                  <a:pt x="68" y="14"/>
                </a:cubicBezTo>
                <a:cubicBezTo>
                  <a:pt x="68" y="14"/>
                  <a:pt x="68" y="14"/>
                  <a:pt x="68" y="14"/>
                </a:cubicBezTo>
                <a:cubicBezTo>
                  <a:pt x="68" y="13"/>
                  <a:pt x="68" y="13"/>
                  <a:pt x="68" y="13"/>
                </a:cubicBezTo>
                <a:cubicBezTo>
                  <a:pt x="68" y="13"/>
                  <a:pt x="68" y="13"/>
                  <a:pt x="68" y="13"/>
                </a:cubicBezTo>
                <a:cubicBezTo>
                  <a:pt x="68" y="13"/>
                  <a:pt x="68" y="13"/>
                  <a:pt x="68" y="13"/>
                </a:cubicBezTo>
                <a:cubicBezTo>
                  <a:pt x="68" y="13"/>
                  <a:pt x="68" y="13"/>
                  <a:pt x="68" y="13"/>
                </a:cubicBezTo>
                <a:cubicBezTo>
                  <a:pt x="68" y="13"/>
                  <a:pt x="68" y="13"/>
                  <a:pt x="68" y="13"/>
                </a:cubicBezTo>
                <a:cubicBezTo>
                  <a:pt x="68" y="13"/>
                  <a:pt x="68" y="13"/>
                  <a:pt x="68" y="13"/>
                </a:cubicBezTo>
                <a:cubicBezTo>
                  <a:pt x="68" y="12"/>
                  <a:pt x="68" y="12"/>
                  <a:pt x="68" y="12"/>
                </a:cubicBezTo>
                <a:cubicBezTo>
                  <a:pt x="68" y="12"/>
                  <a:pt x="68" y="12"/>
                  <a:pt x="68" y="12"/>
                </a:cubicBezTo>
                <a:cubicBezTo>
                  <a:pt x="68" y="12"/>
                  <a:pt x="68" y="12"/>
                  <a:pt x="68" y="12"/>
                </a:cubicBezTo>
                <a:cubicBezTo>
                  <a:pt x="68" y="12"/>
                  <a:pt x="67" y="12"/>
                  <a:pt x="67" y="12"/>
                </a:cubicBezTo>
                <a:cubicBezTo>
                  <a:pt x="67" y="12"/>
                  <a:pt x="68" y="12"/>
                  <a:pt x="68" y="12"/>
                </a:cubicBezTo>
                <a:cubicBezTo>
                  <a:pt x="68" y="12"/>
                  <a:pt x="68" y="12"/>
                  <a:pt x="68" y="12"/>
                </a:cubicBezTo>
                <a:cubicBezTo>
                  <a:pt x="68" y="11"/>
                  <a:pt x="68" y="11"/>
                  <a:pt x="68" y="11"/>
                </a:cubicBezTo>
                <a:cubicBezTo>
                  <a:pt x="68" y="11"/>
                  <a:pt x="68" y="11"/>
                  <a:pt x="68" y="11"/>
                </a:cubicBezTo>
                <a:cubicBezTo>
                  <a:pt x="68" y="11"/>
                  <a:pt x="69" y="12"/>
                  <a:pt x="69" y="12"/>
                </a:cubicBezTo>
                <a:cubicBezTo>
                  <a:pt x="69" y="12"/>
                  <a:pt x="69" y="12"/>
                  <a:pt x="69" y="12"/>
                </a:cubicBezTo>
                <a:cubicBezTo>
                  <a:pt x="69" y="12"/>
                  <a:pt x="69" y="12"/>
                  <a:pt x="69" y="12"/>
                </a:cubicBezTo>
                <a:cubicBezTo>
                  <a:pt x="69" y="12"/>
                  <a:pt x="69" y="12"/>
                  <a:pt x="70" y="12"/>
                </a:cubicBezTo>
                <a:cubicBezTo>
                  <a:pt x="70" y="12"/>
                  <a:pt x="70" y="12"/>
                  <a:pt x="70" y="12"/>
                </a:cubicBezTo>
                <a:cubicBezTo>
                  <a:pt x="70" y="12"/>
                  <a:pt x="70" y="12"/>
                  <a:pt x="70" y="12"/>
                </a:cubicBezTo>
                <a:cubicBezTo>
                  <a:pt x="70" y="12"/>
                  <a:pt x="70" y="12"/>
                  <a:pt x="70" y="12"/>
                </a:cubicBezTo>
                <a:cubicBezTo>
                  <a:pt x="71" y="12"/>
                  <a:pt x="71" y="12"/>
                  <a:pt x="71" y="12"/>
                </a:cubicBezTo>
                <a:cubicBezTo>
                  <a:pt x="71" y="12"/>
                  <a:pt x="71" y="12"/>
                  <a:pt x="71" y="12"/>
                </a:cubicBezTo>
                <a:cubicBezTo>
                  <a:pt x="71" y="12"/>
                  <a:pt x="71" y="12"/>
                  <a:pt x="71" y="12"/>
                </a:cubicBezTo>
                <a:cubicBezTo>
                  <a:pt x="72" y="12"/>
                  <a:pt x="72"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2" y="12"/>
                  <a:pt x="72" y="12"/>
                  <a:pt x="72" y="12"/>
                </a:cubicBezTo>
                <a:cubicBezTo>
                  <a:pt x="72" y="12"/>
                  <a:pt x="72" y="13"/>
                  <a:pt x="72" y="13"/>
                </a:cubicBezTo>
                <a:cubicBezTo>
                  <a:pt x="72" y="13"/>
                  <a:pt x="72" y="13"/>
                  <a:pt x="72" y="13"/>
                </a:cubicBezTo>
                <a:cubicBezTo>
                  <a:pt x="72" y="13"/>
                  <a:pt x="72" y="13"/>
                  <a:pt x="72" y="13"/>
                </a:cubicBezTo>
                <a:cubicBezTo>
                  <a:pt x="72" y="13"/>
                  <a:pt x="72" y="13"/>
                  <a:pt x="72" y="13"/>
                </a:cubicBezTo>
                <a:cubicBezTo>
                  <a:pt x="72" y="13"/>
                  <a:pt x="73" y="13"/>
                  <a:pt x="73" y="13"/>
                </a:cubicBezTo>
                <a:cubicBezTo>
                  <a:pt x="73" y="13"/>
                  <a:pt x="73" y="13"/>
                  <a:pt x="73" y="13"/>
                </a:cubicBezTo>
                <a:cubicBezTo>
                  <a:pt x="73" y="13"/>
                  <a:pt x="73" y="13"/>
                  <a:pt x="73" y="13"/>
                </a:cubicBezTo>
                <a:cubicBezTo>
                  <a:pt x="73" y="13"/>
                  <a:pt x="73" y="13"/>
                  <a:pt x="73" y="13"/>
                </a:cubicBezTo>
                <a:cubicBezTo>
                  <a:pt x="73" y="13"/>
                  <a:pt x="73" y="13"/>
                  <a:pt x="73" y="13"/>
                </a:cubicBezTo>
                <a:cubicBezTo>
                  <a:pt x="73" y="13"/>
                  <a:pt x="73" y="13"/>
                  <a:pt x="73" y="13"/>
                </a:cubicBezTo>
                <a:cubicBezTo>
                  <a:pt x="73" y="13"/>
                  <a:pt x="73" y="13"/>
                  <a:pt x="73" y="13"/>
                </a:cubicBezTo>
                <a:cubicBezTo>
                  <a:pt x="74" y="13"/>
                  <a:pt x="74" y="13"/>
                  <a:pt x="74" y="13"/>
                </a:cubicBezTo>
                <a:cubicBezTo>
                  <a:pt x="74" y="13"/>
                  <a:pt x="74" y="13"/>
                  <a:pt x="74" y="13"/>
                </a:cubicBezTo>
                <a:cubicBezTo>
                  <a:pt x="74" y="13"/>
                  <a:pt x="74" y="13"/>
                  <a:pt x="74" y="13"/>
                </a:cubicBezTo>
                <a:cubicBezTo>
                  <a:pt x="74" y="13"/>
                  <a:pt x="74" y="13"/>
                  <a:pt x="74" y="13"/>
                </a:cubicBezTo>
                <a:cubicBezTo>
                  <a:pt x="74" y="14"/>
                  <a:pt x="74" y="14"/>
                  <a:pt x="74" y="14"/>
                </a:cubicBezTo>
                <a:cubicBezTo>
                  <a:pt x="74" y="14"/>
                  <a:pt x="74" y="14"/>
                  <a:pt x="74" y="14"/>
                </a:cubicBezTo>
                <a:cubicBezTo>
                  <a:pt x="74" y="14"/>
                  <a:pt x="74" y="14"/>
                  <a:pt x="74" y="14"/>
                </a:cubicBezTo>
                <a:cubicBezTo>
                  <a:pt x="74" y="14"/>
                  <a:pt x="74" y="14"/>
                  <a:pt x="74" y="14"/>
                </a:cubicBezTo>
                <a:cubicBezTo>
                  <a:pt x="74" y="14"/>
                  <a:pt x="74" y="14"/>
                  <a:pt x="74" y="14"/>
                </a:cubicBezTo>
                <a:cubicBezTo>
                  <a:pt x="74" y="14"/>
                  <a:pt x="74" y="14"/>
                  <a:pt x="74" y="14"/>
                </a:cubicBezTo>
                <a:cubicBezTo>
                  <a:pt x="74" y="14"/>
                  <a:pt x="73" y="14"/>
                  <a:pt x="73" y="14"/>
                </a:cubicBezTo>
                <a:cubicBezTo>
                  <a:pt x="73" y="14"/>
                  <a:pt x="73" y="14"/>
                  <a:pt x="73" y="14"/>
                </a:cubicBezTo>
                <a:cubicBezTo>
                  <a:pt x="74" y="14"/>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5" y="16"/>
                  <a:pt x="75" y="16"/>
                </a:cubicBezTo>
                <a:cubicBezTo>
                  <a:pt x="75" y="16"/>
                  <a:pt x="75" y="16"/>
                  <a:pt x="75" y="16"/>
                </a:cubicBezTo>
                <a:cubicBezTo>
                  <a:pt x="75" y="16"/>
                  <a:pt x="75" y="16"/>
                  <a:pt x="75" y="16"/>
                </a:cubicBezTo>
                <a:cubicBezTo>
                  <a:pt x="75" y="16"/>
                  <a:pt x="75" y="16"/>
                  <a:pt x="75" y="16"/>
                </a:cubicBezTo>
                <a:cubicBezTo>
                  <a:pt x="75" y="16"/>
                  <a:pt x="75" y="17"/>
                  <a:pt x="74" y="17"/>
                </a:cubicBezTo>
                <a:cubicBezTo>
                  <a:pt x="74" y="17"/>
                  <a:pt x="74" y="17"/>
                  <a:pt x="74" y="17"/>
                </a:cubicBezTo>
                <a:cubicBezTo>
                  <a:pt x="75" y="17"/>
                  <a:pt x="75" y="17"/>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5"/>
                  <a:pt x="77" y="15"/>
                  <a:pt x="77" y="15"/>
                </a:cubicBezTo>
                <a:cubicBezTo>
                  <a:pt x="77" y="15"/>
                  <a:pt x="77" y="15"/>
                  <a:pt x="77" y="15"/>
                </a:cubicBezTo>
                <a:cubicBezTo>
                  <a:pt x="77" y="15"/>
                  <a:pt x="77" y="15"/>
                  <a:pt x="77" y="15"/>
                </a:cubicBezTo>
                <a:cubicBezTo>
                  <a:pt x="77" y="15"/>
                  <a:pt x="77" y="15"/>
                  <a:pt x="77" y="15"/>
                </a:cubicBezTo>
                <a:cubicBezTo>
                  <a:pt x="77" y="15"/>
                  <a:pt x="77" y="15"/>
                  <a:pt x="77" y="15"/>
                </a:cubicBezTo>
                <a:cubicBezTo>
                  <a:pt x="77" y="15"/>
                  <a:pt x="77" y="15"/>
                  <a:pt x="77" y="15"/>
                </a:cubicBezTo>
                <a:cubicBezTo>
                  <a:pt x="77" y="15"/>
                  <a:pt x="77" y="15"/>
                  <a:pt x="77" y="14"/>
                </a:cubicBezTo>
                <a:cubicBezTo>
                  <a:pt x="77" y="14"/>
                  <a:pt x="77" y="14"/>
                  <a:pt x="77" y="14"/>
                </a:cubicBezTo>
                <a:cubicBezTo>
                  <a:pt x="77" y="14"/>
                  <a:pt x="77" y="14"/>
                  <a:pt x="77" y="14"/>
                </a:cubicBezTo>
                <a:cubicBezTo>
                  <a:pt x="77" y="14"/>
                  <a:pt x="77" y="14"/>
                  <a:pt x="77" y="14"/>
                </a:cubicBezTo>
                <a:cubicBezTo>
                  <a:pt x="77" y="14"/>
                  <a:pt x="77" y="14"/>
                  <a:pt x="77" y="14"/>
                </a:cubicBezTo>
                <a:cubicBezTo>
                  <a:pt x="78" y="14"/>
                  <a:pt x="78" y="14"/>
                  <a:pt x="78" y="14"/>
                </a:cubicBezTo>
                <a:cubicBezTo>
                  <a:pt x="78" y="14"/>
                  <a:pt x="78" y="14"/>
                  <a:pt x="78" y="14"/>
                </a:cubicBezTo>
                <a:cubicBezTo>
                  <a:pt x="78" y="14"/>
                  <a:pt x="78" y="14"/>
                  <a:pt x="78" y="14"/>
                </a:cubicBezTo>
                <a:cubicBezTo>
                  <a:pt x="78" y="14"/>
                  <a:pt x="78" y="14"/>
                  <a:pt x="78" y="14"/>
                </a:cubicBezTo>
                <a:cubicBezTo>
                  <a:pt x="78" y="14"/>
                  <a:pt x="78" y="14"/>
                  <a:pt x="78" y="14"/>
                </a:cubicBezTo>
                <a:cubicBezTo>
                  <a:pt x="78" y="15"/>
                  <a:pt x="78" y="15"/>
                  <a:pt x="78" y="15"/>
                </a:cubicBezTo>
                <a:cubicBezTo>
                  <a:pt x="78" y="15"/>
                  <a:pt x="78" y="15"/>
                  <a:pt x="78" y="15"/>
                </a:cubicBezTo>
                <a:cubicBezTo>
                  <a:pt x="78" y="15"/>
                  <a:pt x="78" y="15"/>
                  <a:pt x="78" y="15"/>
                </a:cubicBezTo>
                <a:cubicBezTo>
                  <a:pt x="78" y="15"/>
                  <a:pt x="78" y="15"/>
                  <a:pt x="78" y="15"/>
                </a:cubicBezTo>
                <a:cubicBezTo>
                  <a:pt x="78" y="15"/>
                  <a:pt x="78" y="15"/>
                  <a:pt x="78" y="15"/>
                </a:cubicBezTo>
                <a:cubicBezTo>
                  <a:pt x="78" y="15"/>
                  <a:pt x="78" y="15"/>
                  <a:pt x="78" y="15"/>
                </a:cubicBezTo>
                <a:cubicBezTo>
                  <a:pt x="78" y="15"/>
                  <a:pt x="78" y="15"/>
                  <a:pt x="78" y="15"/>
                </a:cubicBezTo>
                <a:cubicBezTo>
                  <a:pt x="78" y="15"/>
                  <a:pt x="78" y="15"/>
                  <a:pt x="78" y="15"/>
                </a:cubicBezTo>
                <a:cubicBezTo>
                  <a:pt x="78" y="15"/>
                  <a:pt x="78" y="15"/>
                  <a:pt x="78" y="15"/>
                </a:cubicBezTo>
                <a:cubicBezTo>
                  <a:pt x="79" y="15"/>
                  <a:pt x="79" y="15"/>
                  <a:pt x="79" y="15"/>
                </a:cubicBezTo>
                <a:cubicBezTo>
                  <a:pt x="79" y="15"/>
                  <a:pt x="79" y="15"/>
                  <a:pt x="79" y="15"/>
                </a:cubicBezTo>
                <a:cubicBezTo>
                  <a:pt x="79" y="15"/>
                  <a:pt x="79" y="15"/>
                  <a:pt x="79" y="15"/>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7"/>
                  <a:pt x="79" y="17"/>
                </a:cubicBezTo>
                <a:cubicBezTo>
                  <a:pt x="79" y="17"/>
                  <a:pt x="79" y="17"/>
                  <a:pt x="79" y="17"/>
                </a:cubicBezTo>
                <a:cubicBezTo>
                  <a:pt x="79" y="17"/>
                  <a:pt x="79" y="17"/>
                  <a:pt x="79" y="17"/>
                </a:cubicBezTo>
                <a:cubicBezTo>
                  <a:pt x="80" y="17"/>
                  <a:pt x="80" y="17"/>
                  <a:pt x="80" y="17"/>
                </a:cubicBezTo>
                <a:cubicBezTo>
                  <a:pt x="80" y="17"/>
                  <a:pt x="80" y="17"/>
                  <a:pt x="80" y="17"/>
                </a:cubicBezTo>
                <a:cubicBezTo>
                  <a:pt x="80" y="17"/>
                  <a:pt x="80" y="17"/>
                  <a:pt x="80" y="17"/>
                </a:cubicBezTo>
                <a:cubicBezTo>
                  <a:pt x="79" y="17"/>
                  <a:pt x="79" y="17"/>
                  <a:pt x="79" y="17"/>
                </a:cubicBezTo>
                <a:cubicBezTo>
                  <a:pt x="80" y="17"/>
                  <a:pt x="80" y="17"/>
                  <a:pt x="80" y="17"/>
                </a:cubicBezTo>
                <a:cubicBezTo>
                  <a:pt x="80" y="17"/>
                  <a:pt x="80" y="17"/>
                  <a:pt x="80" y="17"/>
                </a:cubicBezTo>
                <a:cubicBezTo>
                  <a:pt x="80" y="17"/>
                  <a:pt x="80" y="17"/>
                  <a:pt x="80" y="17"/>
                </a:cubicBezTo>
                <a:cubicBezTo>
                  <a:pt x="80" y="18"/>
                  <a:pt x="80" y="18"/>
                  <a:pt x="80" y="18"/>
                </a:cubicBezTo>
                <a:cubicBezTo>
                  <a:pt x="80" y="18"/>
                  <a:pt x="80" y="18"/>
                  <a:pt x="80" y="18"/>
                </a:cubicBezTo>
                <a:cubicBezTo>
                  <a:pt x="80" y="18"/>
                  <a:pt x="80" y="18"/>
                  <a:pt x="80" y="18"/>
                </a:cubicBezTo>
                <a:cubicBezTo>
                  <a:pt x="80" y="18"/>
                  <a:pt x="80" y="18"/>
                  <a:pt x="80" y="18"/>
                </a:cubicBezTo>
                <a:cubicBezTo>
                  <a:pt x="80" y="18"/>
                  <a:pt x="80" y="18"/>
                  <a:pt x="80" y="18"/>
                </a:cubicBezTo>
                <a:cubicBezTo>
                  <a:pt x="79" y="18"/>
                  <a:pt x="79" y="18"/>
                  <a:pt x="79" y="18"/>
                </a:cubicBezTo>
                <a:cubicBezTo>
                  <a:pt x="79" y="18"/>
                  <a:pt x="79" y="18"/>
                  <a:pt x="79" y="18"/>
                </a:cubicBezTo>
                <a:cubicBezTo>
                  <a:pt x="79" y="18"/>
                  <a:pt x="79" y="18"/>
                  <a:pt x="79" y="18"/>
                </a:cubicBezTo>
                <a:cubicBezTo>
                  <a:pt x="79" y="18"/>
                  <a:pt x="79" y="18"/>
                  <a:pt x="79" y="18"/>
                </a:cubicBezTo>
                <a:cubicBezTo>
                  <a:pt x="79" y="18"/>
                  <a:pt x="79" y="18"/>
                  <a:pt x="79" y="18"/>
                </a:cubicBezTo>
                <a:cubicBezTo>
                  <a:pt x="80" y="18"/>
                  <a:pt x="80" y="18"/>
                  <a:pt x="80" y="18"/>
                </a:cubicBezTo>
                <a:cubicBezTo>
                  <a:pt x="80" y="18"/>
                  <a:pt x="80" y="18"/>
                  <a:pt x="80" y="18"/>
                </a:cubicBezTo>
                <a:cubicBezTo>
                  <a:pt x="80" y="18"/>
                  <a:pt x="80" y="18"/>
                  <a:pt x="80" y="18"/>
                </a:cubicBezTo>
                <a:cubicBezTo>
                  <a:pt x="80" y="19"/>
                  <a:pt x="80" y="19"/>
                  <a:pt x="80" y="19"/>
                </a:cubicBezTo>
                <a:cubicBezTo>
                  <a:pt x="80" y="19"/>
                  <a:pt x="80" y="19"/>
                  <a:pt x="80" y="19"/>
                </a:cubicBezTo>
                <a:cubicBezTo>
                  <a:pt x="80" y="19"/>
                  <a:pt x="80" y="19"/>
                  <a:pt x="80" y="19"/>
                </a:cubicBezTo>
                <a:cubicBezTo>
                  <a:pt x="80" y="19"/>
                  <a:pt x="80" y="19"/>
                  <a:pt x="80" y="19"/>
                </a:cubicBezTo>
                <a:cubicBezTo>
                  <a:pt x="80" y="19"/>
                  <a:pt x="80" y="19"/>
                  <a:pt x="80" y="19"/>
                </a:cubicBezTo>
                <a:cubicBezTo>
                  <a:pt x="80" y="19"/>
                  <a:pt x="80" y="19"/>
                  <a:pt x="80" y="19"/>
                </a:cubicBezTo>
                <a:cubicBezTo>
                  <a:pt x="80" y="19"/>
                  <a:pt x="80" y="19"/>
                  <a:pt x="80" y="19"/>
                </a:cubicBezTo>
                <a:cubicBezTo>
                  <a:pt x="80" y="19"/>
                  <a:pt x="80" y="19"/>
                  <a:pt x="80" y="19"/>
                </a:cubicBezTo>
                <a:cubicBezTo>
                  <a:pt x="80" y="19"/>
                  <a:pt x="80" y="19"/>
                  <a:pt x="80" y="19"/>
                </a:cubicBezTo>
                <a:cubicBezTo>
                  <a:pt x="80" y="19"/>
                  <a:pt x="80" y="19"/>
                  <a:pt x="80" y="19"/>
                </a:cubicBezTo>
                <a:cubicBezTo>
                  <a:pt x="81" y="19"/>
                  <a:pt x="81" y="19"/>
                  <a:pt x="81" y="19"/>
                </a:cubicBezTo>
                <a:cubicBezTo>
                  <a:pt x="81" y="19"/>
                  <a:pt x="81" y="19"/>
                  <a:pt x="81" y="19"/>
                </a:cubicBezTo>
                <a:cubicBezTo>
                  <a:pt x="81" y="19"/>
                  <a:pt x="81" y="19"/>
                  <a:pt x="81" y="19"/>
                </a:cubicBezTo>
                <a:cubicBezTo>
                  <a:pt x="81" y="19"/>
                  <a:pt x="81" y="19"/>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1" y="20"/>
                  <a:pt x="81" y="20"/>
                </a:cubicBezTo>
                <a:cubicBezTo>
                  <a:pt x="81" y="20"/>
                  <a:pt x="82" y="20"/>
                  <a:pt x="82" y="20"/>
                </a:cubicBezTo>
                <a:cubicBezTo>
                  <a:pt x="82" y="20"/>
                  <a:pt x="82" y="20"/>
                  <a:pt x="82" y="20"/>
                </a:cubicBezTo>
                <a:cubicBezTo>
                  <a:pt x="82" y="20"/>
                  <a:pt x="82" y="20"/>
                  <a:pt x="82" y="20"/>
                </a:cubicBezTo>
                <a:cubicBezTo>
                  <a:pt x="82" y="20"/>
                  <a:pt x="82" y="20"/>
                  <a:pt x="82" y="20"/>
                </a:cubicBezTo>
                <a:cubicBezTo>
                  <a:pt x="82" y="20"/>
                  <a:pt x="82" y="20"/>
                  <a:pt x="82" y="20"/>
                </a:cubicBezTo>
                <a:cubicBezTo>
                  <a:pt x="82" y="20"/>
                  <a:pt x="83" y="20"/>
                  <a:pt x="83" y="20"/>
                </a:cubicBezTo>
                <a:cubicBezTo>
                  <a:pt x="83" y="20"/>
                  <a:pt x="83" y="20"/>
                  <a:pt x="83" y="20"/>
                </a:cubicBezTo>
                <a:cubicBezTo>
                  <a:pt x="83" y="20"/>
                  <a:pt x="83" y="20"/>
                  <a:pt x="83" y="20"/>
                </a:cubicBezTo>
                <a:cubicBezTo>
                  <a:pt x="83" y="20"/>
                  <a:pt x="83" y="21"/>
                  <a:pt x="82" y="21"/>
                </a:cubicBezTo>
                <a:cubicBezTo>
                  <a:pt x="82" y="21"/>
                  <a:pt x="82" y="21"/>
                  <a:pt x="82" y="21"/>
                </a:cubicBezTo>
                <a:cubicBezTo>
                  <a:pt x="82" y="21"/>
                  <a:pt x="82" y="21"/>
                  <a:pt x="82" y="21"/>
                </a:cubicBezTo>
                <a:cubicBezTo>
                  <a:pt x="82" y="21"/>
                  <a:pt x="81" y="21"/>
                  <a:pt x="81" y="21"/>
                </a:cubicBezTo>
                <a:cubicBezTo>
                  <a:pt x="81" y="21"/>
                  <a:pt x="81" y="21"/>
                  <a:pt x="81" y="21"/>
                </a:cubicBezTo>
                <a:cubicBezTo>
                  <a:pt x="81" y="21"/>
                  <a:pt x="81" y="21"/>
                  <a:pt x="81" y="21"/>
                </a:cubicBezTo>
                <a:cubicBezTo>
                  <a:pt x="81" y="21"/>
                  <a:pt x="81" y="21"/>
                  <a:pt x="81" y="21"/>
                </a:cubicBezTo>
                <a:cubicBezTo>
                  <a:pt x="81" y="21"/>
                  <a:pt x="80" y="21"/>
                  <a:pt x="80" y="21"/>
                </a:cubicBezTo>
                <a:cubicBezTo>
                  <a:pt x="80" y="21"/>
                  <a:pt x="80" y="21"/>
                  <a:pt x="80" y="21"/>
                </a:cubicBezTo>
                <a:cubicBezTo>
                  <a:pt x="81" y="21"/>
                  <a:pt x="81" y="21"/>
                  <a:pt x="81" y="21"/>
                </a:cubicBezTo>
                <a:cubicBezTo>
                  <a:pt x="81" y="21"/>
                  <a:pt x="81" y="21"/>
                  <a:pt x="81" y="21"/>
                </a:cubicBezTo>
                <a:cubicBezTo>
                  <a:pt x="81" y="21"/>
                  <a:pt x="81" y="21"/>
                  <a:pt x="81" y="21"/>
                </a:cubicBezTo>
                <a:cubicBezTo>
                  <a:pt x="81" y="21"/>
                  <a:pt x="81" y="21"/>
                  <a:pt x="81" y="21"/>
                </a:cubicBezTo>
                <a:cubicBezTo>
                  <a:pt x="81" y="21"/>
                  <a:pt x="81" y="21"/>
                  <a:pt x="81" y="21"/>
                </a:cubicBezTo>
                <a:cubicBezTo>
                  <a:pt x="81" y="22"/>
                  <a:pt x="81" y="22"/>
                  <a:pt x="81" y="22"/>
                </a:cubicBezTo>
                <a:cubicBezTo>
                  <a:pt x="81" y="22"/>
                  <a:pt x="81" y="22"/>
                  <a:pt x="81" y="22"/>
                </a:cubicBezTo>
                <a:cubicBezTo>
                  <a:pt x="81" y="22"/>
                  <a:pt x="81" y="22"/>
                  <a:pt x="81" y="22"/>
                </a:cubicBezTo>
                <a:cubicBezTo>
                  <a:pt x="81" y="22"/>
                  <a:pt x="81" y="21"/>
                  <a:pt x="81" y="21"/>
                </a:cubicBezTo>
                <a:cubicBezTo>
                  <a:pt x="81" y="21"/>
                  <a:pt x="81" y="21"/>
                  <a:pt x="81" y="21"/>
                </a:cubicBezTo>
                <a:cubicBezTo>
                  <a:pt x="81" y="21"/>
                  <a:pt x="82" y="21"/>
                  <a:pt x="82" y="21"/>
                </a:cubicBezTo>
                <a:cubicBezTo>
                  <a:pt x="82" y="21"/>
                  <a:pt x="83" y="21"/>
                  <a:pt x="83" y="21"/>
                </a:cubicBezTo>
                <a:cubicBezTo>
                  <a:pt x="83" y="21"/>
                  <a:pt x="83" y="21"/>
                  <a:pt x="83" y="21"/>
                </a:cubicBezTo>
                <a:cubicBezTo>
                  <a:pt x="83" y="21"/>
                  <a:pt x="83" y="21"/>
                  <a:pt x="83" y="21"/>
                </a:cubicBezTo>
                <a:cubicBezTo>
                  <a:pt x="83" y="21"/>
                  <a:pt x="83" y="21"/>
                  <a:pt x="83" y="21"/>
                </a:cubicBezTo>
                <a:cubicBezTo>
                  <a:pt x="83" y="21"/>
                  <a:pt x="83" y="21"/>
                  <a:pt x="83" y="21"/>
                </a:cubicBezTo>
                <a:cubicBezTo>
                  <a:pt x="83" y="21"/>
                  <a:pt x="83" y="21"/>
                  <a:pt x="83" y="21"/>
                </a:cubicBezTo>
                <a:cubicBezTo>
                  <a:pt x="83" y="21"/>
                  <a:pt x="83" y="21"/>
                  <a:pt x="83" y="21"/>
                </a:cubicBezTo>
                <a:cubicBezTo>
                  <a:pt x="83" y="21"/>
                  <a:pt x="83" y="21"/>
                  <a:pt x="83" y="21"/>
                </a:cubicBezTo>
                <a:cubicBezTo>
                  <a:pt x="83" y="21"/>
                  <a:pt x="83" y="21"/>
                  <a:pt x="83" y="21"/>
                </a:cubicBezTo>
                <a:cubicBezTo>
                  <a:pt x="83" y="21"/>
                  <a:pt x="83" y="21"/>
                  <a:pt x="83" y="21"/>
                </a:cubicBezTo>
                <a:cubicBezTo>
                  <a:pt x="83" y="21"/>
                  <a:pt x="84" y="21"/>
                  <a:pt x="84" y="21"/>
                </a:cubicBezTo>
                <a:cubicBezTo>
                  <a:pt x="84" y="21"/>
                  <a:pt x="84" y="21"/>
                  <a:pt x="84" y="21"/>
                </a:cubicBezTo>
                <a:cubicBezTo>
                  <a:pt x="84" y="22"/>
                  <a:pt x="84" y="22"/>
                  <a:pt x="84" y="22"/>
                </a:cubicBezTo>
                <a:cubicBezTo>
                  <a:pt x="84" y="22"/>
                  <a:pt x="84" y="22"/>
                  <a:pt x="84" y="22"/>
                </a:cubicBezTo>
                <a:cubicBezTo>
                  <a:pt x="84" y="22"/>
                  <a:pt x="84" y="22"/>
                  <a:pt x="84" y="22"/>
                </a:cubicBezTo>
                <a:cubicBezTo>
                  <a:pt x="84" y="22"/>
                  <a:pt x="84" y="22"/>
                  <a:pt x="84" y="22"/>
                </a:cubicBezTo>
                <a:cubicBezTo>
                  <a:pt x="84" y="22"/>
                  <a:pt x="84" y="22"/>
                  <a:pt x="84" y="22"/>
                </a:cubicBezTo>
                <a:cubicBezTo>
                  <a:pt x="84" y="22"/>
                  <a:pt x="84" y="22"/>
                  <a:pt x="84" y="22"/>
                </a:cubicBezTo>
                <a:cubicBezTo>
                  <a:pt x="84" y="22"/>
                  <a:pt x="84" y="22"/>
                  <a:pt x="84" y="22"/>
                </a:cubicBezTo>
                <a:cubicBezTo>
                  <a:pt x="84" y="22"/>
                  <a:pt x="84" y="22"/>
                  <a:pt x="84" y="22"/>
                </a:cubicBezTo>
                <a:cubicBezTo>
                  <a:pt x="84" y="22"/>
                  <a:pt x="84" y="22"/>
                  <a:pt x="84" y="22"/>
                </a:cubicBezTo>
                <a:cubicBezTo>
                  <a:pt x="84" y="22"/>
                  <a:pt x="84" y="22"/>
                  <a:pt x="84" y="22"/>
                </a:cubicBezTo>
                <a:cubicBezTo>
                  <a:pt x="84" y="23"/>
                  <a:pt x="84" y="23"/>
                  <a:pt x="84" y="23"/>
                </a:cubicBezTo>
                <a:cubicBezTo>
                  <a:pt x="84" y="23"/>
                  <a:pt x="84" y="23"/>
                  <a:pt x="84" y="2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8" name="Freeform 816">
            <a:extLst>
              <a:ext uri="{FF2B5EF4-FFF2-40B4-BE49-F238E27FC236}">
                <a16:creationId xmlns:a16="http://schemas.microsoft.com/office/drawing/2014/main" id="{84D65EF3-7D25-4285-B3C8-D2C199E013F8}"/>
              </a:ext>
            </a:extLst>
          </p:cNvPr>
          <p:cNvSpPr>
            <a:spLocks noChangeAspect="1" noEditPoints="1"/>
          </p:cNvSpPr>
          <p:nvPr/>
        </p:nvSpPr>
        <p:spPr bwMode="auto">
          <a:xfrm>
            <a:off x="2549506" y="5425998"/>
            <a:ext cx="254865" cy="274320"/>
          </a:xfrm>
          <a:custGeom>
            <a:avLst/>
            <a:gdLst>
              <a:gd name="T0" fmla="*/ 89 w 393"/>
              <a:gd name="T1" fmla="*/ 298 h 423"/>
              <a:gd name="T2" fmla="*/ 134 w 393"/>
              <a:gd name="T3" fmla="*/ 278 h 423"/>
              <a:gd name="T4" fmla="*/ 109 w 393"/>
              <a:gd name="T5" fmla="*/ 234 h 423"/>
              <a:gd name="T6" fmla="*/ 94 w 393"/>
              <a:gd name="T7" fmla="*/ 199 h 423"/>
              <a:gd name="T8" fmla="*/ 94 w 393"/>
              <a:gd name="T9" fmla="*/ 249 h 423"/>
              <a:gd name="T10" fmla="*/ 89 w 393"/>
              <a:gd name="T11" fmla="*/ 278 h 423"/>
              <a:gd name="T12" fmla="*/ 333 w 393"/>
              <a:gd name="T13" fmla="*/ 30 h 423"/>
              <a:gd name="T14" fmla="*/ 323 w 393"/>
              <a:gd name="T15" fmla="*/ 129 h 423"/>
              <a:gd name="T16" fmla="*/ 273 w 393"/>
              <a:gd name="T17" fmla="*/ 174 h 423"/>
              <a:gd name="T18" fmla="*/ 293 w 393"/>
              <a:gd name="T19" fmla="*/ 100 h 423"/>
              <a:gd name="T20" fmla="*/ 244 w 393"/>
              <a:gd name="T21" fmla="*/ 174 h 423"/>
              <a:gd name="T22" fmla="*/ 209 w 393"/>
              <a:gd name="T23" fmla="*/ 239 h 423"/>
              <a:gd name="T24" fmla="*/ 164 w 393"/>
              <a:gd name="T25" fmla="*/ 199 h 423"/>
              <a:gd name="T26" fmla="*/ 234 w 393"/>
              <a:gd name="T27" fmla="*/ 50 h 423"/>
              <a:gd name="T28" fmla="*/ 239 w 393"/>
              <a:gd name="T29" fmla="*/ 60 h 423"/>
              <a:gd name="T30" fmla="*/ 80 w 393"/>
              <a:gd name="T31" fmla="*/ 239 h 423"/>
              <a:gd name="T32" fmla="*/ 15 w 393"/>
              <a:gd name="T33" fmla="*/ 149 h 423"/>
              <a:gd name="T34" fmla="*/ 75 w 393"/>
              <a:gd name="T35" fmla="*/ 149 h 423"/>
              <a:gd name="T36" fmla="*/ 5 w 393"/>
              <a:gd name="T37" fmla="*/ 129 h 423"/>
              <a:gd name="T38" fmla="*/ 368 w 393"/>
              <a:gd name="T39" fmla="*/ 293 h 423"/>
              <a:gd name="T40" fmla="*/ 343 w 393"/>
              <a:gd name="T41" fmla="*/ 274 h 423"/>
              <a:gd name="T42" fmla="*/ 343 w 393"/>
              <a:gd name="T43" fmla="*/ 264 h 423"/>
              <a:gd name="T44" fmla="*/ 328 w 393"/>
              <a:gd name="T45" fmla="*/ 234 h 423"/>
              <a:gd name="T46" fmla="*/ 308 w 393"/>
              <a:gd name="T47" fmla="*/ 199 h 423"/>
              <a:gd name="T48" fmla="*/ 288 w 393"/>
              <a:gd name="T49" fmla="*/ 204 h 423"/>
              <a:gd name="T50" fmla="*/ 268 w 393"/>
              <a:gd name="T51" fmla="*/ 234 h 423"/>
              <a:gd name="T52" fmla="*/ 253 w 393"/>
              <a:gd name="T53" fmla="*/ 249 h 423"/>
              <a:gd name="T54" fmla="*/ 209 w 393"/>
              <a:gd name="T55" fmla="*/ 254 h 423"/>
              <a:gd name="T56" fmla="*/ 199 w 393"/>
              <a:gd name="T57" fmla="*/ 229 h 423"/>
              <a:gd name="T58" fmla="*/ 184 w 393"/>
              <a:gd name="T59" fmla="*/ 224 h 423"/>
              <a:gd name="T60" fmla="*/ 174 w 393"/>
              <a:gd name="T61" fmla="*/ 259 h 423"/>
              <a:gd name="T62" fmla="*/ 139 w 393"/>
              <a:gd name="T63" fmla="*/ 288 h 423"/>
              <a:gd name="T64" fmla="*/ 109 w 393"/>
              <a:gd name="T65" fmla="*/ 323 h 423"/>
              <a:gd name="T66" fmla="*/ 89 w 393"/>
              <a:gd name="T67" fmla="*/ 358 h 423"/>
              <a:gd name="T68" fmla="*/ 70 w 393"/>
              <a:gd name="T69" fmla="*/ 383 h 423"/>
              <a:gd name="T70" fmla="*/ 70 w 393"/>
              <a:gd name="T71" fmla="*/ 418 h 423"/>
              <a:gd name="T72" fmla="*/ 94 w 393"/>
              <a:gd name="T73" fmla="*/ 418 h 423"/>
              <a:gd name="T74" fmla="*/ 124 w 393"/>
              <a:gd name="T75" fmla="*/ 393 h 423"/>
              <a:gd name="T76" fmla="*/ 174 w 393"/>
              <a:gd name="T77" fmla="*/ 363 h 423"/>
              <a:gd name="T78" fmla="*/ 209 w 393"/>
              <a:gd name="T79" fmla="*/ 373 h 423"/>
              <a:gd name="T80" fmla="*/ 224 w 393"/>
              <a:gd name="T81" fmla="*/ 383 h 423"/>
              <a:gd name="T82" fmla="*/ 234 w 393"/>
              <a:gd name="T83" fmla="*/ 413 h 423"/>
              <a:gd name="T84" fmla="*/ 249 w 393"/>
              <a:gd name="T85" fmla="*/ 393 h 423"/>
              <a:gd name="T86" fmla="*/ 229 w 393"/>
              <a:gd name="T87" fmla="*/ 378 h 423"/>
              <a:gd name="T88" fmla="*/ 224 w 393"/>
              <a:gd name="T89" fmla="*/ 348 h 423"/>
              <a:gd name="T90" fmla="*/ 234 w 393"/>
              <a:gd name="T91" fmla="*/ 358 h 423"/>
              <a:gd name="T92" fmla="*/ 258 w 393"/>
              <a:gd name="T93" fmla="*/ 378 h 423"/>
              <a:gd name="T94" fmla="*/ 263 w 393"/>
              <a:gd name="T95" fmla="*/ 403 h 423"/>
              <a:gd name="T96" fmla="*/ 273 w 393"/>
              <a:gd name="T97" fmla="*/ 408 h 423"/>
              <a:gd name="T98" fmla="*/ 268 w 393"/>
              <a:gd name="T99" fmla="*/ 413 h 423"/>
              <a:gd name="T100" fmla="*/ 273 w 393"/>
              <a:gd name="T101" fmla="*/ 418 h 423"/>
              <a:gd name="T102" fmla="*/ 278 w 393"/>
              <a:gd name="T103" fmla="*/ 423 h 423"/>
              <a:gd name="T104" fmla="*/ 283 w 393"/>
              <a:gd name="T105" fmla="*/ 403 h 423"/>
              <a:gd name="T106" fmla="*/ 288 w 393"/>
              <a:gd name="T107" fmla="*/ 388 h 423"/>
              <a:gd name="T108" fmla="*/ 318 w 393"/>
              <a:gd name="T109" fmla="*/ 383 h 423"/>
              <a:gd name="T110" fmla="*/ 318 w 393"/>
              <a:gd name="T111" fmla="*/ 348 h 423"/>
              <a:gd name="T112" fmla="*/ 348 w 393"/>
              <a:gd name="T113" fmla="*/ 338 h 423"/>
              <a:gd name="T114" fmla="*/ 353 w 393"/>
              <a:gd name="T115" fmla="*/ 353 h 423"/>
              <a:gd name="T116" fmla="*/ 363 w 393"/>
              <a:gd name="T117" fmla="*/ 333 h 423"/>
              <a:gd name="T118" fmla="*/ 393 w 393"/>
              <a:gd name="T119" fmla="*/ 308 h 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3" h="423">
                <a:moveTo>
                  <a:pt x="209" y="229"/>
                </a:moveTo>
                <a:lnTo>
                  <a:pt x="209" y="234"/>
                </a:lnTo>
                <a:lnTo>
                  <a:pt x="204" y="244"/>
                </a:lnTo>
                <a:lnTo>
                  <a:pt x="199" y="239"/>
                </a:lnTo>
                <a:lnTo>
                  <a:pt x="199" y="234"/>
                </a:lnTo>
                <a:lnTo>
                  <a:pt x="209" y="229"/>
                </a:lnTo>
                <a:close/>
                <a:moveTo>
                  <a:pt x="89" y="298"/>
                </a:moveTo>
                <a:lnTo>
                  <a:pt x="89" y="298"/>
                </a:lnTo>
                <a:lnTo>
                  <a:pt x="94" y="293"/>
                </a:lnTo>
                <a:lnTo>
                  <a:pt x="104" y="298"/>
                </a:lnTo>
                <a:lnTo>
                  <a:pt x="104" y="293"/>
                </a:lnTo>
                <a:lnTo>
                  <a:pt x="109" y="293"/>
                </a:lnTo>
                <a:lnTo>
                  <a:pt x="119" y="293"/>
                </a:lnTo>
                <a:lnTo>
                  <a:pt x="129" y="293"/>
                </a:lnTo>
                <a:lnTo>
                  <a:pt x="134" y="283"/>
                </a:lnTo>
                <a:lnTo>
                  <a:pt x="134" y="278"/>
                </a:lnTo>
                <a:lnTo>
                  <a:pt x="134" y="278"/>
                </a:lnTo>
                <a:lnTo>
                  <a:pt x="139" y="269"/>
                </a:lnTo>
                <a:lnTo>
                  <a:pt x="129" y="269"/>
                </a:lnTo>
                <a:lnTo>
                  <a:pt x="129" y="264"/>
                </a:lnTo>
                <a:lnTo>
                  <a:pt x="124" y="249"/>
                </a:lnTo>
                <a:lnTo>
                  <a:pt x="119" y="249"/>
                </a:lnTo>
                <a:lnTo>
                  <a:pt x="114" y="234"/>
                </a:lnTo>
                <a:lnTo>
                  <a:pt x="109" y="234"/>
                </a:lnTo>
                <a:lnTo>
                  <a:pt x="104" y="234"/>
                </a:lnTo>
                <a:lnTo>
                  <a:pt x="109" y="224"/>
                </a:lnTo>
                <a:lnTo>
                  <a:pt x="114" y="214"/>
                </a:lnTo>
                <a:lnTo>
                  <a:pt x="104" y="214"/>
                </a:lnTo>
                <a:lnTo>
                  <a:pt x="99" y="214"/>
                </a:lnTo>
                <a:lnTo>
                  <a:pt x="104" y="199"/>
                </a:lnTo>
                <a:lnTo>
                  <a:pt x="99" y="199"/>
                </a:lnTo>
                <a:lnTo>
                  <a:pt x="94" y="199"/>
                </a:lnTo>
                <a:lnTo>
                  <a:pt x="89" y="209"/>
                </a:lnTo>
                <a:lnTo>
                  <a:pt x="85" y="224"/>
                </a:lnTo>
                <a:lnTo>
                  <a:pt x="89" y="229"/>
                </a:lnTo>
                <a:lnTo>
                  <a:pt x="89" y="239"/>
                </a:lnTo>
                <a:lnTo>
                  <a:pt x="94" y="234"/>
                </a:lnTo>
                <a:lnTo>
                  <a:pt x="94" y="239"/>
                </a:lnTo>
                <a:lnTo>
                  <a:pt x="94" y="244"/>
                </a:lnTo>
                <a:lnTo>
                  <a:pt x="94" y="249"/>
                </a:lnTo>
                <a:lnTo>
                  <a:pt x="104" y="249"/>
                </a:lnTo>
                <a:lnTo>
                  <a:pt x="104" y="249"/>
                </a:lnTo>
                <a:lnTo>
                  <a:pt x="104" y="259"/>
                </a:lnTo>
                <a:lnTo>
                  <a:pt x="104" y="264"/>
                </a:lnTo>
                <a:lnTo>
                  <a:pt x="94" y="264"/>
                </a:lnTo>
                <a:lnTo>
                  <a:pt x="94" y="269"/>
                </a:lnTo>
                <a:lnTo>
                  <a:pt x="99" y="274"/>
                </a:lnTo>
                <a:lnTo>
                  <a:pt x="89" y="278"/>
                </a:lnTo>
                <a:lnTo>
                  <a:pt x="94" y="283"/>
                </a:lnTo>
                <a:lnTo>
                  <a:pt x="104" y="283"/>
                </a:lnTo>
                <a:lnTo>
                  <a:pt x="104" y="283"/>
                </a:lnTo>
                <a:lnTo>
                  <a:pt x="99" y="288"/>
                </a:lnTo>
                <a:lnTo>
                  <a:pt x="89" y="298"/>
                </a:lnTo>
                <a:close/>
                <a:moveTo>
                  <a:pt x="333" y="15"/>
                </a:moveTo>
                <a:lnTo>
                  <a:pt x="323" y="20"/>
                </a:lnTo>
                <a:lnTo>
                  <a:pt x="333" y="30"/>
                </a:lnTo>
                <a:lnTo>
                  <a:pt x="318" y="40"/>
                </a:lnTo>
                <a:lnTo>
                  <a:pt x="313" y="55"/>
                </a:lnTo>
                <a:lnTo>
                  <a:pt x="323" y="65"/>
                </a:lnTo>
                <a:lnTo>
                  <a:pt x="318" y="80"/>
                </a:lnTo>
                <a:lnTo>
                  <a:pt x="323" y="95"/>
                </a:lnTo>
                <a:lnTo>
                  <a:pt x="318" y="109"/>
                </a:lnTo>
                <a:lnTo>
                  <a:pt x="328" y="124"/>
                </a:lnTo>
                <a:lnTo>
                  <a:pt x="323" y="129"/>
                </a:lnTo>
                <a:lnTo>
                  <a:pt x="333" y="139"/>
                </a:lnTo>
                <a:lnTo>
                  <a:pt x="333" y="149"/>
                </a:lnTo>
                <a:lnTo>
                  <a:pt x="323" y="159"/>
                </a:lnTo>
                <a:lnTo>
                  <a:pt x="313" y="174"/>
                </a:lnTo>
                <a:lnTo>
                  <a:pt x="298" y="174"/>
                </a:lnTo>
                <a:lnTo>
                  <a:pt x="288" y="179"/>
                </a:lnTo>
                <a:lnTo>
                  <a:pt x="278" y="184"/>
                </a:lnTo>
                <a:lnTo>
                  <a:pt x="273" y="174"/>
                </a:lnTo>
                <a:lnTo>
                  <a:pt x="268" y="174"/>
                </a:lnTo>
                <a:lnTo>
                  <a:pt x="268" y="159"/>
                </a:lnTo>
                <a:lnTo>
                  <a:pt x="263" y="144"/>
                </a:lnTo>
                <a:lnTo>
                  <a:pt x="268" y="139"/>
                </a:lnTo>
                <a:lnTo>
                  <a:pt x="273" y="129"/>
                </a:lnTo>
                <a:lnTo>
                  <a:pt x="288" y="109"/>
                </a:lnTo>
                <a:lnTo>
                  <a:pt x="293" y="109"/>
                </a:lnTo>
                <a:lnTo>
                  <a:pt x="293" y="100"/>
                </a:lnTo>
                <a:lnTo>
                  <a:pt x="283" y="95"/>
                </a:lnTo>
                <a:lnTo>
                  <a:pt x="273" y="100"/>
                </a:lnTo>
                <a:lnTo>
                  <a:pt x="263" y="109"/>
                </a:lnTo>
                <a:lnTo>
                  <a:pt x="268" y="119"/>
                </a:lnTo>
                <a:lnTo>
                  <a:pt x="258" y="129"/>
                </a:lnTo>
                <a:lnTo>
                  <a:pt x="244" y="144"/>
                </a:lnTo>
                <a:lnTo>
                  <a:pt x="239" y="164"/>
                </a:lnTo>
                <a:lnTo>
                  <a:pt x="244" y="174"/>
                </a:lnTo>
                <a:lnTo>
                  <a:pt x="249" y="179"/>
                </a:lnTo>
                <a:lnTo>
                  <a:pt x="244" y="194"/>
                </a:lnTo>
                <a:lnTo>
                  <a:pt x="239" y="199"/>
                </a:lnTo>
                <a:lnTo>
                  <a:pt x="234" y="219"/>
                </a:lnTo>
                <a:lnTo>
                  <a:pt x="229" y="229"/>
                </a:lnTo>
                <a:lnTo>
                  <a:pt x="224" y="229"/>
                </a:lnTo>
                <a:lnTo>
                  <a:pt x="219" y="239"/>
                </a:lnTo>
                <a:lnTo>
                  <a:pt x="209" y="239"/>
                </a:lnTo>
                <a:lnTo>
                  <a:pt x="209" y="229"/>
                </a:lnTo>
                <a:lnTo>
                  <a:pt x="204" y="214"/>
                </a:lnTo>
                <a:lnTo>
                  <a:pt x="199" y="194"/>
                </a:lnTo>
                <a:lnTo>
                  <a:pt x="199" y="194"/>
                </a:lnTo>
                <a:lnTo>
                  <a:pt x="194" y="189"/>
                </a:lnTo>
                <a:lnTo>
                  <a:pt x="179" y="204"/>
                </a:lnTo>
                <a:lnTo>
                  <a:pt x="174" y="204"/>
                </a:lnTo>
                <a:lnTo>
                  <a:pt x="164" y="199"/>
                </a:lnTo>
                <a:lnTo>
                  <a:pt x="159" y="184"/>
                </a:lnTo>
                <a:lnTo>
                  <a:pt x="159" y="154"/>
                </a:lnTo>
                <a:lnTo>
                  <a:pt x="164" y="144"/>
                </a:lnTo>
                <a:lnTo>
                  <a:pt x="184" y="134"/>
                </a:lnTo>
                <a:lnTo>
                  <a:pt x="194" y="119"/>
                </a:lnTo>
                <a:lnTo>
                  <a:pt x="209" y="95"/>
                </a:lnTo>
                <a:lnTo>
                  <a:pt x="224" y="65"/>
                </a:lnTo>
                <a:lnTo>
                  <a:pt x="234" y="50"/>
                </a:lnTo>
                <a:lnTo>
                  <a:pt x="253" y="25"/>
                </a:lnTo>
                <a:lnTo>
                  <a:pt x="268" y="20"/>
                </a:lnTo>
                <a:lnTo>
                  <a:pt x="278" y="20"/>
                </a:lnTo>
                <a:lnTo>
                  <a:pt x="288" y="5"/>
                </a:lnTo>
                <a:lnTo>
                  <a:pt x="298" y="5"/>
                </a:lnTo>
                <a:lnTo>
                  <a:pt x="313" y="0"/>
                </a:lnTo>
                <a:lnTo>
                  <a:pt x="333" y="15"/>
                </a:lnTo>
                <a:close/>
                <a:moveTo>
                  <a:pt x="239" y="60"/>
                </a:moveTo>
                <a:lnTo>
                  <a:pt x="239" y="60"/>
                </a:lnTo>
                <a:lnTo>
                  <a:pt x="239" y="60"/>
                </a:lnTo>
                <a:close/>
                <a:moveTo>
                  <a:pt x="70" y="278"/>
                </a:moveTo>
                <a:lnTo>
                  <a:pt x="80" y="274"/>
                </a:lnTo>
                <a:lnTo>
                  <a:pt x="85" y="264"/>
                </a:lnTo>
                <a:lnTo>
                  <a:pt x="85" y="254"/>
                </a:lnTo>
                <a:lnTo>
                  <a:pt x="89" y="249"/>
                </a:lnTo>
                <a:lnTo>
                  <a:pt x="80" y="239"/>
                </a:lnTo>
                <a:lnTo>
                  <a:pt x="75" y="239"/>
                </a:lnTo>
                <a:lnTo>
                  <a:pt x="75" y="239"/>
                </a:lnTo>
                <a:lnTo>
                  <a:pt x="70" y="249"/>
                </a:lnTo>
                <a:lnTo>
                  <a:pt x="60" y="254"/>
                </a:lnTo>
                <a:lnTo>
                  <a:pt x="65" y="269"/>
                </a:lnTo>
                <a:lnTo>
                  <a:pt x="60" y="278"/>
                </a:lnTo>
                <a:lnTo>
                  <a:pt x="70" y="278"/>
                </a:lnTo>
                <a:close/>
                <a:moveTo>
                  <a:pt x="15" y="149"/>
                </a:moveTo>
                <a:lnTo>
                  <a:pt x="5" y="154"/>
                </a:lnTo>
                <a:lnTo>
                  <a:pt x="20" y="159"/>
                </a:lnTo>
                <a:lnTo>
                  <a:pt x="10" y="169"/>
                </a:lnTo>
                <a:lnTo>
                  <a:pt x="30" y="169"/>
                </a:lnTo>
                <a:lnTo>
                  <a:pt x="40" y="174"/>
                </a:lnTo>
                <a:lnTo>
                  <a:pt x="45" y="169"/>
                </a:lnTo>
                <a:lnTo>
                  <a:pt x="65" y="159"/>
                </a:lnTo>
                <a:lnTo>
                  <a:pt x="75" y="149"/>
                </a:lnTo>
                <a:lnTo>
                  <a:pt x="65" y="139"/>
                </a:lnTo>
                <a:lnTo>
                  <a:pt x="65" y="129"/>
                </a:lnTo>
                <a:lnTo>
                  <a:pt x="55" y="124"/>
                </a:lnTo>
                <a:lnTo>
                  <a:pt x="45" y="134"/>
                </a:lnTo>
                <a:lnTo>
                  <a:pt x="35" y="129"/>
                </a:lnTo>
                <a:lnTo>
                  <a:pt x="25" y="139"/>
                </a:lnTo>
                <a:lnTo>
                  <a:pt x="15" y="129"/>
                </a:lnTo>
                <a:lnTo>
                  <a:pt x="5" y="129"/>
                </a:lnTo>
                <a:lnTo>
                  <a:pt x="0" y="139"/>
                </a:lnTo>
                <a:lnTo>
                  <a:pt x="15" y="144"/>
                </a:lnTo>
                <a:lnTo>
                  <a:pt x="15" y="149"/>
                </a:lnTo>
                <a:close/>
                <a:moveTo>
                  <a:pt x="393" y="303"/>
                </a:moveTo>
                <a:lnTo>
                  <a:pt x="383" y="298"/>
                </a:lnTo>
                <a:lnTo>
                  <a:pt x="378" y="298"/>
                </a:lnTo>
                <a:lnTo>
                  <a:pt x="378" y="293"/>
                </a:lnTo>
                <a:lnTo>
                  <a:pt x="368" y="293"/>
                </a:lnTo>
                <a:lnTo>
                  <a:pt x="363" y="293"/>
                </a:lnTo>
                <a:lnTo>
                  <a:pt x="363" y="288"/>
                </a:lnTo>
                <a:lnTo>
                  <a:pt x="358" y="283"/>
                </a:lnTo>
                <a:lnTo>
                  <a:pt x="353" y="283"/>
                </a:lnTo>
                <a:lnTo>
                  <a:pt x="353" y="283"/>
                </a:lnTo>
                <a:lnTo>
                  <a:pt x="358" y="278"/>
                </a:lnTo>
                <a:lnTo>
                  <a:pt x="353" y="274"/>
                </a:lnTo>
                <a:lnTo>
                  <a:pt x="343" y="274"/>
                </a:lnTo>
                <a:lnTo>
                  <a:pt x="343" y="274"/>
                </a:lnTo>
                <a:lnTo>
                  <a:pt x="343" y="278"/>
                </a:lnTo>
                <a:lnTo>
                  <a:pt x="338" y="274"/>
                </a:lnTo>
                <a:lnTo>
                  <a:pt x="338" y="269"/>
                </a:lnTo>
                <a:lnTo>
                  <a:pt x="333" y="264"/>
                </a:lnTo>
                <a:lnTo>
                  <a:pt x="338" y="264"/>
                </a:lnTo>
                <a:lnTo>
                  <a:pt x="343" y="264"/>
                </a:lnTo>
                <a:lnTo>
                  <a:pt x="343" y="264"/>
                </a:lnTo>
                <a:lnTo>
                  <a:pt x="343" y="259"/>
                </a:lnTo>
                <a:lnTo>
                  <a:pt x="338" y="259"/>
                </a:lnTo>
                <a:lnTo>
                  <a:pt x="338" y="254"/>
                </a:lnTo>
                <a:lnTo>
                  <a:pt x="333" y="254"/>
                </a:lnTo>
                <a:lnTo>
                  <a:pt x="333" y="249"/>
                </a:lnTo>
                <a:lnTo>
                  <a:pt x="333" y="244"/>
                </a:lnTo>
                <a:lnTo>
                  <a:pt x="333" y="239"/>
                </a:lnTo>
                <a:lnTo>
                  <a:pt x="328" y="234"/>
                </a:lnTo>
                <a:lnTo>
                  <a:pt x="323" y="239"/>
                </a:lnTo>
                <a:lnTo>
                  <a:pt x="323" y="234"/>
                </a:lnTo>
                <a:lnTo>
                  <a:pt x="313" y="229"/>
                </a:lnTo>
                <a:lnTo>
                  <a:pt x="313" y="224"/>
                </a:lnTo>
                <a:lnTo>
                  <a:pt x="313" y="219"/>
                </a:lnTo>
                <a:lnTo>
                  <a:pt x="308" y="214"/>
                </a:lnTo>
                <a:lnTo>
                  <a:pt x="313" y="209"/>
                </a:lnTo>
                <a:lnTo>
                  <a:pt x="308" y="199"/>
                </a:lnTo>
                <a:lnTo>
                  <a:pt x="313" y="194"/>
                </a:lnTo>
                <a:lnTo>
                  <a:pt x="313" y="189"/>
                </a:lnTo>
                <a:lnTo>
                  <a:pt x="308" y="189"/>
                </a:lnTo>
                <a:lnTo>
                  <a:pt x="298" y="189"/>
                </a:lnTo>
                <a:lnTo>
                  <a:pt x="288" y="189"/>
                </a:lnTo>
                <a:lnTo>
                  <a:pt x="283" y="194"/>
                </a:lnTo>
                <a:lnTo>
                  <a:pt x="283" y="199"/>
                </a:lnTo>
                <a:lnTo>
                  <a:pt x="288" y="204"/>
                </a:lnTo>
                <a:lnTo>
                  <a:pt x="288" y="204"/>
                </a:lnTo>
                <a:lnTo>
                  <a:pt x="288" y="209"/>
                </a:lnTo>
                <a:lnTo>
                  <a:pt x="288" y="219"/>
                </a:lnTo>
                <a:lnTo>
                  <a:pt x="283" y="219"/>
                </a:lnTo>
                <a:lnTo>
                  <a:pt x="278" y="214"/>
                </a:lnTo>
                <a:lnTo>
                  <a:pt x="268" y="214"/>
                </a:lnTo>
                <a:lnTo>
                  <a:pt x="268" y="224"/>
                </a:lnTo>
                <a:lnTo>
                  <a:pt x="268" y="234"/>
                </a:lnTo>
                <a:lnTo>
                  <a:pt x="268" y="244"/>
                </a:lnTo>
                <a:lnTo>
                  <a:pt x="273" y="244"/>
                </a:lnTo>
                <a:lnTo>
                  <a:pt x="278" y="244"/>
                </a:lnTo>
                <a:lnTo>
                  <a:pt x="278" y="249"/>
                </a:lnTo>
                <a:lnTo>
                  <a:pt x="278" y="254"/>
                </a:lnTo>
                <a:lnTo>
                  <a:pt x="263" y="254"/>
                </a:lnTo>
                <a:lnTo>
                  <a:pt x="258" y="249"/>
                </a:lnTo>
                <a:lnTo>
                  <a:pt x="253" y="249"/>
                </a:lnTo>
                <a:lnTo>
                  <a:pt x="249" y="249"/>
                </a:lnTo>
                <a:lnTo>
                  <a:pt x="244" y="244"/>
                </a:lnTo>
                <a:lnTo>
                  <a:pt x="234" y="249"/>
                </a:lnTo>
                <a:lnTo>
                  <a:pt x="224" y="254"/>
                </a:lnTo>
                <a:lnTo>
                  <a:pt x="219" y="259"/>
                </a:lnTo>
                <a:lnTo>
                  <a:pt x="219" y="254"/>
                </a:lnTo>
                <a:lnTo>
                  <a:pt x="209" y="249"/>
                </a:lnTo>
                <a:lnTo>
                  <a:pt x="209" y="254"/>
                </a:lnTo>
                <a:lnTo>
                  <a:pt x="199" y="254"/>
                </a:lnTo>
                <a:lnTo>
                  <a:pt x="199" y="254"/>
                </a:lnTo>
                <a:lnTo>
                  <a:pt x="194" y="249"/>
                </a:lnTo>
                <a:lnTo>
                  <a:pt x="194" y="244"/>
                </a:lnTo>
                <a:lnTo>
                  <a:pt x="189" y="239"/>
                </a:lnTo>
                <a:lnTo>
                  <a:pt x="194" y="229"/>
                </a:lnTo>
                <a:lnTo>
                  <a:pt x="199" y="234"/>
                </a:lnTo>
                <a:lnTo>
                  <a:pt x="199" y="229"/>
                </a:lnTo>
                <a:lnTo>
                  <a:pt x="194" y="224"/>
                </a:lnTo>
                <a:lnTo>
                  <a:pt x="194" y="224"/>
                </a:lnTo>
                <a:lnTo>
                  <a:pt x="199" y="219"/>
                </a:lnTo>
                <a:lnTo>
                  <a:pt x="199" y="214"/>
                </a:lnTo>
                <a:lnTo>
                  <a:pt x="194" y="214"/>
                </a:lnTo>
                <a:lnTo>
                  <a:pt x="189" y="219"/>
                </a:lnTo>
                <a:lnTo>
                  <a:pt x="184" y="219"/>
                </a:lnTo>
                <a:lnTo>
                  <a:pt x="184" y="224"/>
                </a:lnTo>
                <a:lnTo>
                  <a:pt x="179" y="224"/>
                </a:lnTo>
                <a:lnTo>
                  <a:pt x="179" y="239"/>
                </a:lnTo>
                <a:lnTo>
                  <a:pt x="184" y="244"/>
                </a:lnTo>
                <a:lnTo>
                  <a:pt x="184" y="249"/>
                </a:lnTo>
                <a:lnTo>
                  <a:pt x="184" y="254"/>
                </a:lnTo>
                <a:lnTo>
                  <a:pt x="179" y="259"/>
                </a:lnTo>
                <a:lnTo>
                  <a:pt x="179" y="259"/>
                </a:lnTo>
                <a:lnTo>
                  <a:pt x="174" y="259"/>
                </a:lnTo>
                <a:lnTo>
                  <a:pt x="174" y="259"/>
                </a:lnTo>
                <a:lnTo>
                  <a:pt x="169" y="259"/>
                </a:lnTo>
                <a:lnTo>
                  <a:pt x="159" y="264"/>
                </a:lnTo>
                <a:lnTo>
                  <a:pt x="154" y="283"/>
                </a:lnTo>
                <a:lnTo>
                  <a:pt x="149" y="283"/>
                </a:lnTo>
                <a:lnTo>
                  <a:pt x="144" y="288"/>
                </a:lnTo>
                <a:lnTo>
                  <a:pt x="144" y="288"/>
                </a:lnTo>
                <a:lnTo>
                  <a:pt x="139" y="288"/>
                </a:lnTo>
                <a:lnTo>
                  <a:pt x="134" y="298"/>
                </a:lnTo>
                <a:lnTo>
                  <a:pt x="119" y="303"/>
                </a:lnTo>
                <a:lnTo>
                  <a:pt x="114" y="298"/>
                </a:lnTo>
                <a:lnTo>
                  <a:pt x="114" y="313"/>
                </a:lnTo>
                <a:lnTo>
                  <a:pt x="104" y="308"/>
                </a:lnTo>
                <a:lnTo>
                  <a:pt x="94" y="313"/>
                </a:lnTo>
                <a:lnTo>
                  <a:pt x="99" y="318"/>
                </a:lnTo>
                <a:lnTo>
                  <a:pt x="109" y="323"/>
                </a:lnTo>
                <a:lnTo>
                  <a:pt x="114" y="328"/>
                </a:lnTo>
                <a:lnTo>
                  <a:pt x="119" y="338"/>
                </a:lnTo>
                <a:lnTo>
                  <a:pt x="119" y="353"/>
                </a:lnTo>
                <a:lnTo>
                  <a:pt x="114" y="363"/>
                </a:lnTo>
                <a:lnTo>
                  <a:pt x="114" y="358"/>
                </a:lnTo>
                <a:lnTo>
                  <a:pt x="104" y="358"/>
                </a:lnTo>
                <a:lnTo>
                  <a:pt x="99" y="358"/>
                </a:lnTo>
                <a:lnTo>
                  <a:pt x="89" y="358"/>
                </a:lnTo>
                <a:lnTo>
                  <a:pt x="80" y="358"/>
                </a:lnTo>
                <a:lnTo>
                  <a:pt x="75" y="358"/>
                </a:lnTo>
                <a:lnTo>
                  <a:pt x="65" y="363"/>
                </a:lnTo>
                <a:lnTo>
                  <a:pt x="65" y="368"/>
                </a:lnTo>
                <a:lnTo>
                  <a:pt x="65" y="373"/>
                </a:lnTo>
                <a:lnTo>
                  <a:pt x="65" y="378"/>
                </a:lnTo>
                <a:lnTo>
                  <a:pt x="70" y="378"/>
                </a:lnTo>
                <a:lnTo>
                  <a:pt x="70" y="383"/>
                </a:lnTo>
                <a:lnTo>
                  <a:pt x="65" y="388"/>
                </a:lnTo>
                <a:lnTo>
                  <a:pt x="65" y="393"/>
                </a:lnTo>
                <a:lnTo>
                  <a:pt x="65" y="393"/>
                </a:lnTo>
                <a:lnTo>
                  <a:pt x="65" y="398"/>
                </a:lnTo>
                <a:lnTo>
                  <a:pt x="65" y="403"/>
                </a:lnTo>
                <a:lnTo>
                  <a:pt x="70" y="403"/>
                </a:lnTo>
                <a:lnTo>
                  <a:pt x="70" y="408"/>
                </a:lnTo>
                <a:lnTo>
                  <a:pt x="70" y="418"/>
                </a:lnTo>
                <a:lnTo>
                  <a:pt x="70" y="413"/>
                </a:lnTo>
                <a:lnTo>
                  <a:pt x="75" y="418"/>
                </a:lnTo>
                <a:lnTo>
                  <a:pt x="80" y="413"/>
                </a:lnTo>
                <a:lnTo>
                  <a:pt x="85" y="413"/>
                </a:lnTo>
                <a:lnTo>
                  <a:pt x="85" y="418"/>
                </a:lnTo>
                <a:lnTo>
                  <a:pt x="89" y="423"/>
                </a:lnTo>
                <a:lnTo>
                  <a:pt x="89" y="423"/>
                </a:lnTo>
                <a:lnTo>
                  <a:pt x="94" y="418"/>
                </a:lnTo>
                <a:lnTo>
                  <a:pt x="99" y="418"/>
                </a:lnTo>
                <a:lnTo>
                  <a:pt x="104" y="418"/>
                </a:lnTo>
                <a:lnTo>
                  <a:pt x="114" y="418"/>
                </a:lnTo>
                <a:lnTo>
                  <a:pt x="119" y="413"/>
                </a:lnTo>
                <a:lnTo>
                  <a:pt x="124" y="408"/>
                </a:lnTo>
                <a:lnTo>
                  <a:pt x="124" y="403"/>
                </a:lnTo>
                <a:lnTo>
                  <a:pt x="129" y="398"/>
                </a:lnTo>
                <a:lnTo>
                  <a:pt x="124" y="393"/>
                </a:lnTo>
                <a:lnTo>
                  <a:pt x="129" y="388"/>
                </a:lnTo>
                <a:lnTo>
                  <a:pt x="134" y="383"/>
                </a:lnTo>
                <a:lnTo>
                  <a:pt x="134" y="383"/>
                </a:lnTo>
                <a:lnTo>
                  <a:pt x="144" y="378"/>
                </a:lnTo>
                <a:lnTo>
                  <a:pt x="149" y="373"/>
                </a:lnTo>
                <a:lnTo>
                  <a:pt x="149" y="363"/>
                </a:lnTo>
                <a:lnTo>
                  <a:pt x="159" y="358"/>
                </a:lnTo>
                <a:lnTo>
                  <a:pt x="174" y="363"/>
                </a:lnTo>
                <a:lnTo>
                  <a:pt x="179" y="358"/>
                </a:lnTo>
                <a:lnTo>
                  <a:pt x="184" y="353"/>
                </a:lnTo>
                <a:lnTo>
                  <a:pt x="189" y="348"/>
                </a:lnTo>
                <a:lnTo>
                  <a:pt x="194" y="353"/>
                </a:lnTo>
                <a:lnTo>
                  <a:pt x="199" y="353"/>
                </a:lnTo>
                <a:lnTo>
                  <a:pt x="199" y="363"/>
                </a:lnTo>
                <a:lnTo>
                  <a:pt x="204" y="368"/>
                </a:lnTo>
                <a:lnTo>
                  <a:pt x="209" y="373"/>
                </a:lnTo>
                <a:lnTo>
                  <a:pt x="209" y="373"/>
                </a:lnTo>
                <a:lnTo>
                  <a:pt x="209" y="373"/>
                </a:lnTo>
                <a:lnTo>
                  <a:pt x="214" y="373"/>
                </a:lnTo>
                <a:lnTo>
                  <a:pt x="219" y="378"/>
                </a:lnTo>
                <a:lnTo>
                  <a:pt x="219" y="378"/>
                </a:lnTo>
                <a:lnTo>
                  <a:pt x="224" y="383"/>
                </a:lnTo>
                <a:lnTo>
                  <a:pt x="229" y="383"/>
                </a:lnTo>
                <a:lnTo>
                  <a:pt x="224" y="383"/>
                </a:lnTo>
                <a:lnTo>
                  <a:pt x="229" y="383"/>
                </a:lnTo>
                <a:lnTo>
                  <a:pt x="229" y="388"/>
                </a:lnTo>
                <a:lnTo>
                  <a:pt x="234" y="388"/>
                </a:lnTo>
                <a:lnTo>
                  <a:pt x="234" y="393"/>
                </a:lnTo>
                <a:lnTo>
                  <a:pt x="239" y="398"/>
                </a:lnTo>
                <a:lnTo>
                  <a:pt x="234" y="398"/>
                </a:lnTo>
                <a:lnTo>
                  <a:pt x="234" y="403"/>
                </a:lnTo>
                <a:lnTo>
                  <a:pt x="234" y="413"/>
                </a:lnTo>
                <a:lnTo>
                  <a:pt x="239" y="408"/>
                </a:lnTo>
                <a:lnTo>
                  <a:pt x="239" y="403"/>
                </a:lnTo>
                <a:lnTo>
                  <a:pt x="244" y="403"/>
                </a:lnTo>
                <a:lnTo>
                  <a:pt x="244" y="398"/>
                </a:lnTo>
                <a:lnTo>
                  <a:pt x="239" y="398"/>
                </a:lnTo>
                <a:lnTo>
                  <a:pt x="244" y="388"/>
                </a:lnTo>
                <a:lnTo>
                  <a:pt x="249" y="393"/>
                </a:lnTo>
                <a:lnTo>
                  <a:pt x="249" y="393"/>
                </a:lnTo>
                <a:lnTo>
                  <a:pt x="253" y="393"/>
                </a:lnTo>
                <a:lnTo>
                  <a:pt x="249" y="393"/>
                </a:lnTo>
                <a:lnTo>
                  <a:pt x="244" y="388"/>
                </a:lnTo>
                <a:lnTo>
                  <a:pt x="239" y="383"/>
                </a:lnTo>
                <a:lnTo>
                  <a:pt x="234" y="383"/>
                </a:lnTo>
                <a:lnTo>
                  <a:pt x="239" y="378"/>
                </a:lnTo>
                <a:lnTo>
                  <a:pt x="234" y="378"/>
                </a:lnTo>
                <a:lnTo>
                  <a:pt x="229" y="378"/>
                </a:lnTo>
                <a:lnTo>
                  <a:pt x="224" y="373"/>
                </a:lnTo>
                <a:lnTo>
                  <a:pt x="219" y="363"/>
                </a:lnTo>
                <a:lnTo>
                  <a:pt x="214" y="358"/>
                </a:lnTo>
                <a:lnTo>
                  <a:pt x="214" y="353"/>
                </a:lnTo>
                <a:lnTo>
                  <a:pt x="214" y="353"/>
                </a:lnTo>
                <a:lnTo>
                  <a:pt x="214" y="348"/>
                </a:lnTo>
                <a:lnTo>
                  <a:pt x="219" y="343"/>
                </a:lnTo>
                <a:lnTo>
                  <a:pt x="224" y="348"/>
                </a:lnTo>
                <a:lnTo>
                  <a:pt x="224" y="348"/>
                </a:lnTo>
                <a:lnTo>
                  <a:pt x="224" y="348"/>
                </a:lnTo>
                <a:lnTo>
                  <a:pt x="224" y="348"/>
                </a:lnTo>
                <a:lnTo>
                  <a:pt x="224" y="353"/>
                </a:lnTo>
                <a:lnTo>
                  <a:pt x="224" y="348"/>
                </a:lnTo>
                <a:lnTo>
                  <a:pt x="229" y="353"/>
                </a:lnTo>
                <a:lnTo>
                  <a:pt x="229" y="353"/>
                </a:lnTo>
                <a:lnTo>
                  <a:pt x="234" y="358"/>
                </a:lnTo>
                <a:lnTo>
                  <a:pt x="229" y="358"/>
                </a:lnTo>
                <a:lnTo>
                  <a:pt x="234" y="363"/>
                </a:lnTo>
                <a:lnTo>
                  <a:pt x="244" y="368"/>
                </a:lnTo>
                <a:lnTo>
                  <a:pt x="244" y="368"/>
                </a:lnTo>
                <a:lnTo>
                  <a:pt x="253" y="373"/>
                </a:lnTo>
                <a:lnTo>
                  <a:pt x="253" y="373"/>
                </a:lnTo>
                <a:lnTo>
                  <a:pt x="253" y="378"/>
                </a:lnTo>
                <a:lnTo>
                  <a:pt x="258" y="378"/>
                </a:lnTo>
                <a:lnTo>
                  <a:pt x="258" y="378"/>
                </a:lnTo>
                <a:lnTo>
                  <a:pt x="258" y="383"/>
                </a:lnTo>
                <a:lnTo>
                  <a:pt x="258" y="388"/>
                </a:lnTo>
                <a:lnTo>
                  <a:pt x="258" y="393"/>
                </a:lnTo>
                <a:lnTo>
                  <a:pt x="258" y="393"/>
                </a:lnTo>
                <a:lnTo>
                  <a:pt x="258" y="398"/>
                </a:lnTo>
                <a:lnTo>
                  <a:pt x="263" y="398"/>
                </a:lnTo>
                <a:lnTo>
                  <a:pt x="263" y="403"/>
                </a:lnTo>
                <a:lnTo>
                  <a:pt x="263" y="403"/>
                </a:lnTo>
                <a:lnTo>
                  <a:pt x="263" y="403"/>
                </a:lnTo>
                <a:lnTo>
                  <a:pt x="268" y="408"/>
                </a:lnTo>
                <a:lnTo>
                  <a:pt x="268" y="408"/>
                </a:lnTo>
                <a:lnTo>
                  <a:pt x="273" y="408"/>
                </a:lnTo>
                <a:lnTo>
                  <a:pt x="273" y="408"/>
                </a:lnTo>
                <a:lnTo>
                  <a:pt x="278" y="408"/>
                </a:lnTo>
                <a:lnTo>
                  <a:pt x="273" y="408"/>
                </a:lnTo>
                <a:lnTo>
                  <a:pt x="273" y="408"/>
                </a:lnTo>
                <a:lnTo>
                  <a:pt x="273" y="408"/>
                </a:lnTo>
                <a:lnTo>
                  <a:pt x="273" y="408"/>
                </a:lnTo>
                <a:lnTo>
                  <a:pt x="273" y="408"/>
                </a:lnTo>
                <a:lnTo>
                  <a:pt x="268" y="408"/>
                </a:lnTo>
                <a:lnTo>
                  <a:pt x="268" y="408"/>
                </a:lnTo>
                <a:lnTo>
                  <a:pt x="268" y="413"/>
                </a:lnTo>
                <a:lnTo>
                  <a:pt x="268" y="413"/>
                </a:lnTo>
                <a:lnTo>
                  <a:pt x="268" y="413"/>
                </a:lnTo>
                <a:lnTo>
                  <a:pt x="268" y="413"/>
                </a:lnTo>
                <a:lnTo>
                  <a:pt x="273" y="413"/>
                </a:lnTo>
                <a:lnTo>
                  <a:pt x="268" y="418"/>
                </a:lnTo>
                <a:lnTo>
                  <a:pt x="273" y="418"/>
                </a:lnTo>
                <a:lnTo>
                  <a:pt x="273" y="418"/>
                </a:lnTo>
                <a:lnTo>
                  <a:pt x="273" y="418"/>
                </a:lnTo>
                <a:lnTo>
                  <a:pt x="273" y="418"/>
                </a:lnTo>
                <a:lnTo>
                  <a:pt x="273" y="418"/>
                </a:lnTo>
                <a:lnTo>
                  <a:pt x="273" y="418"/>
                </a:lnTo>
                <a:lnTo>
                  <a:pt x="273" y="418"/>
                </a:lnTo>
                <a:lnTo>
                  <a:pt x="273" y="423"/>
                </a:lnTo>
                <a:lnTo>
                  <a:pt x="273" y="418"/>
                </a:lnTo>
                <a:lnTo>
                  <a:pt x="278" y="418"/>
                </a:lnTo>
                <a:lnTo>
                  <a:pt x="278" y="423"/>
                </a:lnTo>
                <a:lnTo>
                  <a:pt x="278" y="423"/>
                </a:lnTo>
                <a:lnTo>
                  <a:pt x="273" y="413"/>
                </a:lnTo>
                <a:lnTo>
                  <a:pt x="278" y="413"/>
                </a:lnTo>
                <a:lnTo>
                  <a:pt x="278" y="413"/>
                </a:lnTo>
                <a:lnTo>
                  <a:pt x="278" y="408"/>
                </a:lnTo>
                <a:lnTo>
                  <a:pt x="283" y="408"/>
                </a:lnTo>
                <a:lnTo>
                  <a:pt x="283" y="408"/>
                </a:lnTo>
                <a:lnTo>
                  <a:pt x="283" y="403"/>
                </a:lnTo>
                <a:lnTo>
                  <a:pt x="283" y="403"/>
                </a:lnTo>
                <a:lnTo>
                  <a:pt x="278" y="398"/>
                </a:lnTo>
                <a:lnTo>
                  <a:pt x="278" y="398"/>
                </a:lnTo>
                <a:lnTo>
                  <a:pt x="278" y="393"/>
                </a:lnTo>
                <a:lnTo>
                  <a:pt x="273" y="388"/>
                </a:lnTo>
                <a:lnTo>
                  <a:pt x="278" y="388"/>
                </a:lnTo>
                <a:lnTo>
                  <a:pt x="278" y="393"/>
                </a:lnTo>
                <a:lnTo>
                  <a:pt x="288" y="393"/>
                </a:lnTo>
                <a:lnTo>
                  <a:pt x="288" y="388"/>
                </a:lnTo>
                <a:lnTo>
                  <a:pt x="283" y="383"/>
                </a:lnTo>
                <a:lnTo>
                  <a:pt x="293" y="383"/>
                </a:lnTo>
                <a:lnTo>
                  <a:pt x="298" y="383"/>
                </a:lnTo>
                <a:lnTo>
                  <a:pt x="298" y="383"/>
                </a:lnTo>
                <a:lnTo>
                  <a:pt x="303" y="388"/>
                </a:lnTo>
                <a:lnTo>
                  <a:pt x="308" y="383"/>
                </a:lnTo>
                <a:lnTo>
                  <a:pt x="308" y="383"/>
                </a:lnTo>
                <a:lnTo>
                  <a:pt x="318" y="383"/>
                </a:lnTo>
                <a:lnTo>
                  <a:pt x="318" y="378"/>
                </a:lnTo>
                <a:lnTo>
                  <a:pt x="313" y="378"/>
                </a:lnTo>
                <a:lnTo>
                  <a:pt x="313" y="373"/>
                </a:lnTo>
                <a:lnTo>
                  <a:pt x="313" y="373"/>
                </a:lnTo>
                <a:lnTo>
                  <a:pt x="313" y="368"/>
                </a:lnTo>
                <a:lnTo>
                  <a:pt x="313" y="363"/>
                </a:lnTo>
                <a:lnTo>
                  <a:pt x="318" y="358"/>
                </a:lnTo>
                <a:lnTo>
                  <a:pt x="318" y="348"/>
                </a:lnTo>
                <a:lnTo>
                  <a:pt x="323" y="348"/>
                </a:lnTo>
                <a:lnTo>
                  <a:pt x="323" y="348"/>
                </a:lnTo>
                <a:lnTo>
                  <a:pt x="323" y="343"/>
                </a:lnTo>
                <a:lnTo>
                  <a:pt x="328" y="338"/>
                </a:lnTo>
                <a:lnTo>
                  <a:pt x="333" y="333"/>
                </a:lnTo>
                <a:lnTo>
                  <a:pt x="338" y="328"/>
                </a:lnTo>
                <a:lnTo>
                  <a:pt x="338" y="333"/>
                </a:lnTo>
                <a:lnTo>
                  <a:pt x="348" y="338"/>
                </a:lnTo>
                <a:lnTo>
                  <a:pt x="348" y="338"/>
                </a:lnTo>
                <a:lnTo>
                  <a:pt x="348" y="338"/>
                </a:lnTo>
                <a:lnTo>
                  <a:pt x="353" y="338"/>
                </a:lnTo>
                <a:lnTo>
                  <a:pt x="343" y="343"/>
                </a:lnTo>
                <a:lnTo>
                  <a:pt x="343" y="343"/>
                </a:lnTo>
                <a:lnTo>
                  <a:pt x="348" y="348"/>
                </a:lnTo>
                <a:lnTo>
                  <a:pt x="348" y="348"/>
                </a:lnTo>
                <a:lnTo>
                  <a:pt x="353" y="353"/>
                </a:lnTo>
                <a:lnTo>
                  <a:pt x="363" y="348"/>
                </a:lnTo>
                <a:lnTo>
                  <a:pt x="368" y="343"/>
                </a:lnTo>
                <a:lnTo>
                  <a:pt x="368" y="343"/>
                </a:lnTo>
                <a:lnTo>
                  <a:pt x="363" y="343"/>
                </a:lnTo>
                <a:lnTo>
                  <a:pt x="358" y="338"/>
                </a:lnTo>
                <a:lnTo>
                  <a:pt x="358" y="338"/>
                </a:lnTo>
                <a:lnTo>
                  <a:pt x="358" y="333"/>
                </a:lnTo>
                <a:lnTo>
                  <a:pt x="363" y="333"/>
                </a:lnTo>
                <a:lnTo>
                  <a:pt x="373" y="328"/>
                </a:lnTo>
                <a:lnTo>
                  <a:pt x="378" y="328"/>
                </a:lnTo>
                <a:lnTo>
                  <a:pt x="383" y="328"/>
                </a:lnTo>
                <a:lnTo>
                  <a:pt x="383" y="323"/>
                </a:lnTo>
                <a:lnTo>
                  <a:pt x="383" y="318"/>
                </a:lnTo>
                <a:lnTo>
                  <a:pt x="393" y="318"/>
                </a:lnTo>
                <a:lnTo>
                  <a:pt x="393" y="313"/>
                </a:lnTo>
                <a:lnTo>
                  <a:pt x="393" y="308"/>
                </a:lnTo>
                <a:lnTo>
                  <a:pt x="393" y="303"/>
                </a:lnTo>
                <a:lnTo>
                  <a:pt x="393" y="303"/>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9" name="Freeform 817">
            <a:extLst>
              <a:ext uri="{FF2B5EF4-FFF2-40B4-BE49-F238E27FC236}">
                <a16:creationId xmlns:a16="http://schemas.microsoft.com/office/drawing/2014/main" id="{AF7B97D4-148D-49AD-B000-6D9E334E75FA}"/>
              </a:ext>
            </a:extLst>
          </p:cNvPr>
          <p:cNvSpPr>
            <a:spLocks noChangeAspect="1" noEditPoints="1"/>
          </p:cNvSpPr>
          <p:nvPr/>
        </p:nvSpPr>
        <p:spPr bwMode="auto">
          <a:xfrm>
            <a:off x="3438614" y="5533618"/>
            <a:ext cx="399777" cy="274320"/>
          </a:xfrm>
          <a:custGeom>
            <a:avLst/>
            <a:gdLst>
              <a:gd name="T0" fmla="*/ 48 w 86"/>
              <a:gd name="T1" fmla="*/ 55 h 59"/>
              <a:gd name="T2" fmla="*/ 45 w 86"/>
              <a:gd name="T3" fmla="*/ 56 h 59"/>
              <a:gd name="T4" fmla="*/ 43 w 86"/>
              <a:gd name="T5" fmla="*/ 53 h 59"/>
              <a:gd name="T6" fmla="*/ 46 w 86"/>
              <a:gd name="T7" fmla="*/ 52 h 59"/>
              <a:gd name="T8" fmla="*/ 55 w 86"/>
              <a:gd name="T9" fmla="*/ 54 h 59"/>
              <a:gd name="T10" fmla="*/ 53 w 86"/>
              <a:gd name="T11" fmla="*/ 55 h 59"/>
              <a:gd name="T12" fmla="*/ 56 w 86"/>
              <a:gd name="T13" fmla="*/ 56 h 59"/>
              <a:gd name="T14" fmla="*/ 70 w 86"/>
              <a:gd name="T15" fmla="*/ 16 h 59"/>
              <a:gd name="T16" fmla="*/ 65 w 86"/>
              <a:gd name="T17" fmla="*/ 17 h 59"/>
              <a:gd name="T18" fmla="*/ 61 w 86"/>
              <a:gd name="T19" fmla="*/ 21 h 59"/>
              <a:gd name="T20" fmla="*/ 55 w 86"/>
              <a:gd name="T21" fmla="*/ 30 h 59"/>
              <a:gd name="T22" fmla="*/ 52 w 86"/>
              <a:gd name="T23" fmla="*/ 33 h 59"/>
              <a:gd name="T24" fmla="*/ 51 w 86"/>
              <a:gd name="T25" fmla="*/ 31 h 59"/>
              <a:gd name="T26" fmla="*/ 49 w 86"/>
              <a:gd name="T27" fmla="*/ 31 h 59"/>
              <a:gd name="T28" fmla="*/ 50 w 86"/>
              <a:gd name="T29" fmla="*/ 34 h 59"/>
              <a:gd name="T30" fmla="*/ 51 w 86"/>
              <a:gd name="T31" fmla="*/ 38 h 59"/>
              <a:gd name="T32" fmla="*/ 47 w 86"/>
              <a:gd name="T33" fmla="*/ 41 h 59"/>
              <a:gd name="T34" fmla="*/ 44 w 86"/>
              <a:gd name="T35" fmla="*/ 44 h 59"/>
              <a:gd name="T36" fmla="*/ 41 w 86"/>
              <a:gd name="T37" fmla="*/ 48 h 59"/>
              <a:gd name="T38" fmla="*/ 42 w 86"/>
              <a:gd name="T39" fmla="*/ 51 h 59"/>
              <a:gd name="T40" fmla="*/ 43 w 86"/>
              <a:gd name="T41" fmla="*/ 57 h 59"/>
              <a:gd name="T42" fmla="*/ 46 w 86"/>
              <a:gd name="T43" fmla="*/ 59 h 59"/>
              <a:gd name="T44" fmla="*/ 39 w 86"/>
              <a:gd name="T45" fmla="*/ 55 h 59"/>
              <a:gd name="T46" fmla="*/ 37 w 86"/>
              <a:gd name="T47" fmla="*/ 50 h 59"/>
              <a:gd name="T48" fmla="*/ 39 w 86"/>
              <a:gd name="T49" fmla="*/ 51 h 59"/>
              <a:gd name="T50" fmla="*/ 38 w 86"/>
              <a:gd name="T51" fmla="*/ 46 h 59"/>
              <a:gd name="T52" fmla="*/ 34 w 86"/>
              <a:gd name="T53" fmla="*/ 41 h 59"/>
              <a:gd name="T54" fmla="*/ 30 w 86"/>
              <a:gd name="T55" fmla="*/ 45 h 59"/>
              <a:gd name="T56" fmla="*/ 26 w 86"/>
              <a:gd name="T57" fmla="*/ 47 h 59"/>
              <a:gd name="T58" fmla="*/ 24 w 86"/>
              <a:gd name="T59" fmla="*/ 43 h 59"/>
              <a:gd name="T60" fmla="*/ 19 w 86"/>
              <a:gd name="T61" fmla="*/ 40 h 59"/>
              <a:gd name="T62" fmla="*/ 19 w 86"/>
              <a:gd name="T63" fmla="*/ 42 h 59"/>
              <a:gd name="T64" fmla="*/ 16 w 86"/>
              <a:gd name="T65" fmla="*/ 44 h 59"/>
              <a:gd name="T66" fmla="*/ 11 w 86"/>
              <a:gd name="T67" fmla="*/ 47 h 59"/>
              <a:gd name="T68" fmla="*/ 7 w 86"/>
              <a:gd name="T69" fmla="*/ 40 h 59"/>
              <a:gd name="T70" fmla="*/ 6 w 86"/>
              <a:gd name="T71" fmla="*/ 34 h 59"/>
              <a:gd name="T72" fmla="*/ 1 w 86"/>
              <a:gd name="T73" fmla="*/ 29 h 59"/>
              <a:gd name="T74" fmla="*/ 9 w 86"/>
              <a:gd name="T75" fmla="*/ 27 h 59"/>
              <a:gd name="T76" fmla="*/ 13 w 86"/>
              <a:gd name="T77" fmla="*/ 31 h 59"/>
              <a:gd name="T78" fmla="*/ 15 w 86"/>
              <a:gd name="T79" fmla="*/ 30 h 59"/>
              <a:gd name="T80" fmla="*/ 14 w 86"/>
              <a:gd name="T81" fmla="*/ 28 h 59"/>
              <a:gd name="T82" fmla="*/ 12 w 86"/>
              <a:gd name="T83" fmla="*/ 26 h 59"/>
              <a:gd name="T84" fmla="*/ 15 w 86"/>
              <a:gd name="T85" fmla="*/ 23 h 59"/>
              <a:gd name="T86" fmla="*/ 16 w 86"/>
              <a:gd name="T87" fmla="*/ 17 h 59"/>
              <a:gd name="T88" fmla="*/ 21 w 86"/>
              <a:gd name="T89" fmla="*/ 9 h 59"/>
              <a:gd name="T90" fmla="*/ 26 w 86"/>
              <a:gd name="T91" fmla="*/ 7 h 59"/>
              <a:gd name="T92" fmla="*/ 28 w 86"/>
              <a:gd name="T93" fmla="*/ 6 h 59"/>
              <a:gd name="T94" fmla="*/ 36 w 86"/>
              <a:gd name="T95" fmla="*/ 2 h 59"/>
              <a:gd name="T96" fmla="*/ 40 w 86"/>
              <a:gd name="T97" fmla="*/ 0 h 59"/>
              <a:gd name="T98" fmla="*/ 47 w 86"/>
              <a:gd name="T99" fmla="*/ 2 h 59"/>
              <a:gd name="T100" fmla="*/ 51 w 86"/>
              <a:gd name="T101" fmla="*/ 5 h 59"/>
              <a:gd name="T102" fmla="*/ 55 w 86"/>
              <a:gd name="T103" fmla="*/ 6 h 59"/>
              <a:gd name="T104" fmla="*/ 59 w 86"/>
              <a:gd name="T105" fmla="*/ 6 h 59"/>
              <a:gd name="T106" fmla="*/ 66 w 86"/>
              <a:gd name="T107" fmla="*/ 6 h 59"/>
              <a:gd name="T108" fmla="*/ 73 w 86"/>
              <a:gd name="T109" fmla="*/ 8 h 59"/>
              <a:gd name="T110" fmla="*/ 76 w 86"/>
              <a:gd name="T111" fmla="*/ 8 h 59"/>
              <a:gd name="T112" fmla="*/ 86 w 86"/>
              <a:gd name="T113" fmla="*/ 11 h 59"/>
              <a:gd name="T114" fmla="*/ 81 w 86"/>
              <a:gd name="T115" fmla="*/ 12 h 59"/>
              <a:gd name="T116" fmla="*/ 78 w 86"/>
              <a:gd name="T117" fmla="*/ 15 h 59"/>
              <a:gd name="T118" fmla="*/ 73 w 86"/>
              <a:gd name="T119" fmla="*/ 17 h 59"/>
              <a:gd name="T120" fmla="*/ 14 w 86"/>
              <a:gd name="T121" fmla="*/ 38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6" h="59">
                <a:moveTo>
                  <a:pt x="49" y="52"/>
                </a:moveTo>
                <a:cubicBezTo>
                  <a:pt x="49" y="52"/>
                  <a:pt x="49" y="52"/>
                  <a:pt x="49" y="52"/>
                </a:cubicBezTo>
                <a:cubicBezTo>
                  <a:pt x="49" y="52"/>
                  <a:pt x="49" y="52"/>
                  <a:pt x="49" y="52"/>
                </a:cubicBezTo>
                <a:cubicBezTo>
                  <a:pt x="49" y="52"/>
                  <a:pt x="49" y="53"/>
                  <a:pt x="49" y="53"/>
                </a:cubicBezTo>
                <a:cubicBezTo>
                  <a:pt x="49" y="53"/>
                  <a:pt x="49" y="53"/>
                  <a:pt x="49" y="53"/>
                </a:cubicBezTo>
                <a:cubicBezTo>
                  <a:pt x="49" y="53"/>
                  <a:pt x="49" y="53"/>
                  <a:pt x="49" y="53"/>
                </a:cubicBezTo>
                <a:cubicBezTo>
                  <a:pt x="49" y="54"/>
                  <a:pt x="49" y="54"/>
                  <a:pt x="49" y="54"/>
                </a:cubicBezTo>
                <a:cubicBezTo>
                  <a:pt x="49" y="54"/>
                  <a:pt x="49" y="54"/>
                  <a:pt x="49" y="54"/>
                </a:cubicBezTo>
                <a:cubicBezTo>
                  <a:pt x="49" y="54"/>
                  <a:pt x="49" y="54"/>
                  <a:pt x="49" y="54"/>
                </a:cubicBezTo>
                <a:cubicBezTo>
                  <a:pt x="49" y="54"/>
                  <a:pt x="49" y="54"/>
                  <a:pt x="49" y="54"/>
                </a:cubicBezTo>
                <a:cubicBezTo>
                  <a:pt x="48" y="54"/>
                  <a:pt x="48" y="55"/>
                  <a:pt x="48" y="55"/>
                </a:cubicBezTo>
                <a:cubicBezTo>
                  <a:pt x="48" y="55"/>
                  <a:pt x="48" y="55"/>
                  <a:pt x="48" y="55"/>
                </a:cubicBezTo>
                <a:cubicBezTo>
                  <a:pt x="48" y="55"/>
                  <a:pt x="48" y="55"/>
                  <a:pt x="48" y="55"/>
                </a:cubicBezTo>
                <a:cubicBezTo>
                  <a:pt x="48" y="55"/>
                  <a:pt x="48" y="55"/>
                  <a:pt x="48" y="55"/>
                </a:cubicBezTo>
                <a:cubicBezTo>
                  <a:pt x="48" y="55"/>
                  <a:pt x="48" y="55"/>
                  <a:pt x="48" y="55"/>
                </a:cubicBezTo>
                <a:cubicBezTo>
                  <a:pt x="48" y="55"/>
                  <a:pt x="48" y="56"/>
                  <a:pt x="48" y="56"/>
                </a:cubicBezTo>
                <a:cubicBezTo>
                  <a:pt x="48" y="56"/>
                  <a:pt x="47" y="57"/>
                  <a:pt x="47" y="57"/>
                </a:cubicBezTo>
                <a:cubicBezTo>
                  <a:pt x="47" y="57"/>
                  <a:pt x="47" y="57"/>
                  <a:pt x="47" y="57"/>
                </a:cubicBezTo>
                <a:cubicBezTo>
                  <a:pt x="46" y="56"/>
                  <a:pt x="46" y="56"/>
                  <a:pt x="46" y="56"/>
                </a:cubicBezTo>
                <a:cubicBezTo>
                  <a:pt x="46" y="56"/>
                  <a:pt x="46" y="56"/>
                  <a:pt x="46" y="56"/>
                </a:cubicBezTo>
                <a:cubicBezTo>
                  <a:pt x="46" y="56"/>
                  <a:pt x="46" y="56"/>
                  <a:pt x="46" y="56"/>
                </a:cubicBezTo>
                <a:cubicBezTo>
                  <a:pt x="45" y="56"/>
                  <a:pt x="45" y="56"/>
                  <a:pt x="45" y="56"/>
                </a:cubicBezTo>
                <a:cubicBezTo>
                  <a:pt x="45" y="56"/>
                  <a:pt x="45" y="56"/>
                  <a:pt x="45" y="56"/>
                </a:cubicBezTo>
                <a:cubicBezTo>
                  <a:pt x="45" y="56"/>
                  <a:pt x="45" y="56"/>
                  <a:pt x="45" y="56"/>
                </a:cubicBezTo>
                <a:cubicBezTo>
                  <a:pt x="45" y="56"/>
                  <a:pt x="45" y="56"/>
                  <a:pt x="45" y="56"/>
                </a:cubicBezTo>
                <a:cubicBezTo>
                  <a:pt x="44" y="56"/>
                  <a:pt x="44" y="56"/>
                  <a:pt x="44" y="56"/>
                </a:cubicBezTo>
                <a:cubicBezTo>
                  <a:pt x="44" y="56"/>
                  <a:pt x="44" y="56"/>
                  <a:pt x="44" y="55"/>
                </a:cubicBezTo>
                <a:cubicBezTo>
                  <a:pt x="44" y="55"/>
                  <a:pt x="44" y="55"/>
                  <a:pt x="44" y="55"/>
                </a:cubicBezTo>
                <a:cubicBezTo>
                  <a:pt x="44" y="54"/>
                  <a:pt x="44" y="54"/>
                  <a:pt x="44" y="54"/>
                </a:cubicBezTo>
                <a:cubicBezTo>
                  <a:pt x="43" y="54"/>
                  <a:pt x="43" y="54"/>
                  <a:pt x="43" y="54"/>
                </a:cubicBezTo>
                <a:cubicBezTo>
                  <a:pt x="43" y="54"/>
                  <a:pt x="43" y="54"/>
                  <a:pt x="44" y="54"/>
                </a:cubicBezTo>
                <a:cubicBezTo>
                  <a:pt x="44" y="54"/>
                  <a:pt x="43" y="54"/>
                  <a:pt x="43" y="54"/>
                </a:cubicBezTo>
                <a:cubicBezTo>
                  <a:pt x="44" y="54"/>
                  <a:pt x="44" y="54"/>
                  <a:pt x="44" y="54"/>
                </a:cubicBezTo>
                <a:cubicBezTo>
                  <a:pt x="44" y="54"/>
                  <a:pt x="44" y="54"/>
                  <a:pt x="44" y="54"/>
                </a:cubicBezTo>
                <a:cubicBezTo>
                  <a:pt x="44" y="53"/>
                  <a:pt x="44" y="53"/>
                  <a:pt x="44" y="53"/>
                </a:cubicBezTo>
                <a:cubicBezTo>
                  <a:pt x="43" y="53"/>
                  <a:pt x="43" y="53"/>
                  <a:pt x="43" y="53"/>
                </a:cubicBezTo>
                <a:cubicBezTo>
                  <a:pt x="43" y="53"/>
                  <a:pt x="43" y="53"/>
                  <a:pt x="43" y="53"/>
                </a:cubicBezTo>
                <a:cubicBezTo>
                  <a:pt x="43" y="53"/>
                  <a:pt x="43" y="53"/>
                  <a:pt x="43" y="53"/>
                </a:cubicBezTo>
                <a:cubicBezTo>
                  <a:pt x="43" y="53"/>
                  <a:pt x="43" y="53"/>
                  <a:pt x="43" y="53"/>
                </a:cubicBezTo>
                <a:cubicBezTo>
                  <a:pt x="44" y="53"/>
                  <a:pt x="44" y="53"/>
                  <a:pt x="44" y="53"/>
                </a:cubicBezTo>
                <a:cubicBezTo>
                  <a:pt x="44" y="53"/>
                  <a:pt x="44" y="53"/>
                  <a:pt x="44" y="53"/>
                </a:cubicBezTo>
                <a:cubicBezTo>
                  <a:pt x="44" y="52"/>
                  <a:pt x="44" y="52"/>
                  <a:pt x="44" y="52"/>
                </a:cubicBezTo>
                <a:cubicBezTo>
                  <a:pt x="44" y="53"/>
                  <a:pt x="44" y="53"/>
                  <a:pt x="44" y="53"/>
                </a:cubicBezTo>
                <a:cubicBezTo>
                  <a:pt x="44" y="52"/>
                  <a:pt x="44" y="52"/>
                  <a:pt x="44" y="52"/>
                </a:cubicBezTo>
                <a:cubicBezTo>
                  <a:pt x="45" y="52"/>
                  <a:pt x="45" y="52"/>
                  <a:pt x="45" y="52"/>
                </a:cubicBezTo>
                <a:cubicBezTo>
                  <a:pt x="45" y="52"/>
                  <a:pt x="45" y="52"/>
                  <a:pt x="45" y="52"/>
                </a:cubicBezTo>
                <a:cubicBezTo>
                  <a:pt x="45" y="52"/>
                  <a:pt x="45" y="52"/>
                  <a:pt x="45" y="52"/>
                </a:cubicBezTo>
                <a:cubicBezTo>
                  <a:pt x="46" y="52"/>
                  <a:pt x="46" y="52"/>
                  <a:pt x="46" y="52"/>
                </a:cubicBezTo>
                <a:cubicBezTo>
                  <a:pt x="46" y="51"/>
                  <a:pt x="46" y="51"/>
                  <a:pt x="47" y="51"/>
                </a:cubicBezTo>
                <a:cubicBezTo>
                  <a:pt x="47" y="51"/>
                  <a:pt x="47" y="51"/>
                  <a:pt x="47" y="51"/>
                </a:cubicBezTo>
                <a:cubicBezTo>
                  <a:pt x="47" y="50"/>
                  <a:pt x="48" y="50"/>
                  <a:pt x="48" y="50"/>
                </a:cubicBezTo>
                <a:cubicBezTo>
                  <a:pt x="48" y="50"/>
                  <a:pt x="48" y="50"/>
                  <a:pt x="48" y="50"/>
                </a:cubicBezTo>
                <a:cubicBezTo>
                  <a:pt x="48" y="50"/>
                  <a:pt x="48" y="50"/>
                  <a:pt x="48" y="50"/>
                </a:cubicBezTo>
                <a:cubicBezTo>
                  <a:pt x="48" y="50"/>
                  <a:pt x="49" y="50"/>
                  <a:pt x="49" y="50"/>
                </a:cubicBezTo>
                <a:cubicBezTo>
                  <a:pt x="49" y="50"/>
                  <a:pt x="49" y="51"/>
                  <a:pt x="49" y="51"/>
                </a:cubicBezTo>
                <a:cubicBezTo>
                  <a:pt x="49" y="51"/>
                  <a:pt x="49" y="51"/>
                  <a:pt x="49" y="51"/>
                </a:cubicBezTo>
                <a:lnTo>
                  <a:pt x="49" y="52"/>
                </a:lnTo>
                <a:close/>
                <a:moveTo>
                  <a:pt x="56" y="53"/>
                </a:moveTo>
                <a:cubicBezTo>
                  <a:pt x="56" y="53"/>
                  <a:pt x="56" y="53"/>
                  <a:pt x="56" y="53"/>
                </a:cubicBezTo>
                <a:cubicBezTo>
                  <a:pt x="56" y="53"/>
                  <a:pt x="55" y="54"/>
                  <a:pt x="55" y="54"/>
                </a:cubicBezTo>
                <a:cubicBezTo>
                  <a:pt x="54" y="54"/>
                  <a:pt x="54" y="54"/>
                  <a:pt x="54" y="54"/>
                </a:cubicBezTo>
                <a:cubicBezTo>
                  <a:pt x="54" y="53"/>
                  <a:pt x="54" y="52"/>
                  <a:pt x="53" y="52"/>
                </a:cubicBezTo>
                <a:cubicBezTo>
                  <a:pt x="53" y="52"/>
                  <a:pt x="53" y="52"/>
                  <a:pt x="53" y="52"/>
                </a:cubicBezTo>
                <a:cubicBezTo>
                  <a:pt x="53" y="52"/>
                  <a:pt x="52" y="53"/>
                  <a:pt x="52" y="53"/>
                </a:cubicBezTo>
                <a:cubicBezTo>
                  <a:pt x="52" y="54"/>
                  <a:pt x="52" y="54"/>
                  <a:pt x="52" y="54"/>
                </a:cubicBezTo>
                <a:cubicBezTo>
                  <a:pt x="52" y="54"/>
                  <a:pt x="52" y="54"/>
                  <a:pt x="52" y="54"/>
                </a:cubicBezTo>
                <a:cubicBezTo>
                  <a:pt x="52" y="54"/>
                  <a:pt x="53" y="54"/>
                  <a:pt x="53" y="54"/>
                </a:cubicBezTo>
                <a:cubicBezTo>
                  <a:pt x="53" y="54"/>
                  <a:pt x="53" y="54"/>
                  <a:pt x="53" y="54"/>
                </a:cubicBezTo>
                <a:cubicBezTo>
                  <a:pt x="53" y="54"/>
                  <a:pt x="53" y="54"/>
                  <a:pt x="53" y="54"/>
                </a:cubicBezTo>
                <a:cubicBezTo>
                  <a:pt x="53" y="55"/>
                  <a:pt x="53" y="55"/>
                  <a:pt x="53" y="55"/>
                </a:cubicBezTo>
                <a:cubicBezTo>
                  <a:pt x="53" y="55"/>
                  <a:pt x="53" y="55"/>
                  <a:pt x="53" y="55"/>
                </a:cubicBezTo>
                <a:cubicBezTo>
                  <a:pt x="53" y="55"/>
                  <a:pt x="53" y="55"/>
                  <a:pt x="53" y="55"/>
                </a:cubicBezTo>
                <a:cubicBezTo>
                  <a:pt x="54" y="55"/>
                  <a:pt x="54" y="55"/>
                  <a:pt x="54" y="55"/>
                </a:cubicBezTo>
                <a:cubicBezTo>
                  <a:pt x="54" y="55"/>
                  <a:pt x="54" y="55"/>
                  <a:pt x="54" y="55"/>
                </a:cubicBezTo>
                <a:cubicBezTo>
                  <a:pt x="54" y="55"/>
                  <a:pt x="54" y="55"/>
                  <a:pt x="54" y="55"/>
                </a:cubicBezTo>
                <a:cubicBezTo>
                  <a:pt x="54" y="55"/>
                  <a:pt x="54" y="55"/>
                  <a:pt x="54" y="55"/>
                </a:cubicBezTo>
                <a:cubicBezTo>
                  <a:pt x="55" y="56"/>
                  <a:pt x="55" y="56"/>
                  <a:pt x="55" y="56"/>
                </a:cubicBezTo>
                <a:cubicBezTo>
                  <a:pt x="55" y="55"/>
                  <a:pt x="55" y="55"/>
                  <a:pt x="55" y="55"/>
                </a:cubicBezTo>
                <a:cubicBezTo>
                  <a:pt x="55" y="56"/>
                  <a:pt x="55" y="56"/>
                  <a:pt x="55" y="56"/>
                </a:cubicBezTo>
                <a:cubicBezTo>
                  <a:pt x="55" y="56"/>
                  <a:pt x="55" y="56"/>
                  <a:pt x="55" y="56"/>
                </a:cubicBezTo>
                <a:cubicBezTo>
                  <a:pt x="56" y="56"/>
                  <a:pt x="56" y="56"/>
                  <a:pt x="56" y="56"/>
                </a:cubicBezTo>
                <a:cubicBezTo>
                  <a:pt x="56" y="56"/>
                  <a:pt x="56" y="56"/>
                  <a:pt x="56" y="56"/>
                </a:cubicBezTo>
                <a:cubicBezTo>
                  <a:pt x="56" y="56"/>
                  <a:pt x="56" y="56"/>
                  <a:pt x="56" y="56"/>
                </a:cubicBezTo>
                <a:cubicBezTo>
                  <a:pt x="56" y="56"/>
                  <a:pt x="56" y="56"/>
                  <a:pt x="56" y="56"/>
                </a:cubicBezTo>
                <a:cubicBezTo>
                  <a:pt x="56" y="56"/>
                  <a:pt x="56" y="56"/>
                  <a:pt x="56" y="56"/>
                </a:cubicBezTo>
                <a:cubicBezTo>
                  <a:pt x="53" y="58"/>
                  <a:pt x="53" y="58"/>
                  <a:pt x="53" y="58"/>
                </a:cubicBezTo>
                <a:cubicBezTo>
                  <a:pt x="56" y="58"/>
                  <a:pt x="56" y="58"/>
                  <a:pt x="56" y="58"/>
                </a:cubicBezTo>
                <a:cubicBezTo>
                  <a:pt x="56" y="58"/>
                  <a:pt x="57" y="58"/>
                  <a:pt x="57" y="58"/>
                </a:cubicBezTo>
                <a:cubicBezTo>
                  <a:pt x="57" y="58"/>
                  <a:pt x="57" y="58"/>
                  <a:pt x="57" y="58"/>
                </a:cubicBezTo>
                <a:cubicBezTo>
                  <a:pt x="57" y="58"/>
                  <a:pt x="57" y="58"/>
                  <a:pt x="58" y="57"/>
                </a:cubicBezTo>
                <a:cubicBezTo>
                  <a:pt x="58" y="57"/>
                  <a:pt x="58" y="57"/>
                  <a:pt x="58" y="56"/>
                </a:cubicBezTo>
                <a:cubicBezTo>
                  <a:pt x="58" y="55"/>
                  <a:pt x="58" y="54"/>
                  <a:pt x="57" y="53"/>
                </a:cubicBezTo>
                <a:lnTo>
                  <a:pt x="56" y="53"/>
                </a:lnTo>
                <a:close/>
                <a:moveTo>
                  <a:pt x="70" y="16"/>
                </a:moveTo>
                <a:cubicBezTo>
                  <a:pt x="70" y="16"/>
                  <a:pt x="71" y="16"/>
                  <a:pt x="71" y="16"/>
                </a:cubicBezTo>
                <a:cubicBezTo>
                  <a:pt x="71" y="16"/>
                  <a:pt x="70" y="16"/>
                  <a:pt x="70" y="16"/>
                </a:cubicBezTo>
                <a:cubicBezTo>
                  <a:pt x="70" y="16"/>
                  <a:pt x="70" y="15"/>
                  <a:pt x="70" y="15"/>
                </a:cubicBezTo>
                <a:cubicBezTo>
                  <a:pt x="69" y="15"/>
                  <a:pt x="69" y="15"/>
                  <a:pt x="69" y="15"/>
                </a:cubicBezTo>
                <a:cubicBezTo>
                  <a:pt x="68" y="16"/>
                  <a:pt x="68" y="16"/>
                  <a:pt x="68" y="17"/>
                </a:cubicBezTo>
                <a:cubicBezTo>
                  <a:pt x="68" y="17"/>
                  <a:pt x="68" y="17"/>
                  <a:pt x="68" y="17"/>
                </a:cubicBezTo>
                <a:cubicBezTo>
                  <a:pt x="68" y="17"/>
                  <a:pt x="68" y="17"/>
                  <a:pt x="68" y="17"/>
                </a:cubicBezTo>
                <a:cubicBezTo>
                  <a:pt x="68" y="17"/>
                  <a:pt x="67" y="17"/>
                  <a:pt x="67" y="17"/>
                </a:cubicBezTo>
                <a:cubicBezTo>
                  <a:pt x="67" y="17"/>
                  <a:pt x="67" y="17"/>
                  <a:pt x="66" y="17"/>
                </a:cubicBezTo>
                <a:cubicBezTo>
                  <a:pt x="66" y="17"/>
                  <a:pt x="66" y="17"/>
                  <a:pt x="66" y="17"/>
                </a:cubicBezTo>
                <a:cubicBezTo>
                  <a:pt x="66" y="17"/>
                  <a:pt x="66" y="17"/>
                  <a:pt x="66" y="17"/>
                </a:cubicBezTo>
                <a:cubicBezTo>
                  <a:pt x="66" y="17"/>
                  <a:pt x="66" y="17"/>
                  <a:pt x="66" y="17"/>
                </a:cubicBezTo>
                <a:cubicBezTo>
                  <a:pt x="66" y="17"/>
                  <a:pt x="65" y="17"/>
                  <a:pt x="65" y="17"/>
                </a:cubicBezTo>
                <a:cubicBezTo>
                  <a:pt x="65" y="17"/>
                  <a:pt x="65" y="17"/>
                  <a:pt x="65" y="17"/>
                </a:cubicBezTo>
                <a:cubicBezTo>
                  <a:pt x="65" y="17"/>
                  <a:pt x="65" y="17"/>
                  <a:pt x="65" y="17"/>
                </a:cubicBezTo>
                <a:cubicBezTo>
                  <a:pt x="65" y="17"/>
                  <a:pt x="65" y="17"/>
                  <a:pt x="65" y="17"/>
                </a:cubicBezTo>
                <a:cubicBezTo>
                  <a:pt x="64" y="17"/>
                  <a:pt x="62" y="17"/>
                  <a:pt x="62" y="17"/>
                </a:cubicBezTo>
                <a:cubicBezTo>
                  <a:pt x="62" y="17"/>
                  <a:pt x="60" y="18"/>
                  <a:pt x="59" y="19"/>
                </a:cubicBezTo>
                <a:cubicBezTo>
                  <a:pt x="59" y="19"/>
                  <a:pt x="59" y="20"/>
                  <a:pt x="59" y="20"/>
                </a:cubicBezTo>
                <a:cubicBezTo>
                  <a:pt x="59" y="20"/>
                  <a:pt x="59" y="20"/>
                  <a:pt x="59" y="20"/>
                </a:cubicBezTo>
                <a:cubicBezTo>
                  <a:pt x="59" y="20"/>
                  <a:pt x="59" y="20"/>
                  <a:pt x="59" y="20"/>
                </a:cubicBezTo>
                <a:cubicBezTo>
                  <a:pt x="59" y="20"/>
                  <a:pt x="59" y="20"/>
                  <a:pt x="59" y="20"/>
                </a:cubicBezTo>
                <a:cubicBezTo>
                  <a:pt x="59" y="20"/>
                  <a:pt x="59" y="20"/>
                  <a:pt x="60" y="20"/>
                </a:cubicBezTo>
                <a:cubicBezTo>
                  <a:pt x="60" y="20"/>
                  <a:pt x="60" y="20"/>
                  <a:pt x="60" y="20"/>
                </a:cubicBezTo>
                <a:cubicBezTo>
                  <a:pt x="61" y="20"/>
                  <a:pt x="61" y="20"/>
                  <a:pt x="61" y="20"/>
                </a:cubicBezTo>
                <a:cubicBezTo>
                  <a:pt x="61" y="21"/>
                  <a:pt x="61" y="21"/>
                  <a:pt x="61" y="21"/>
                </a:cubicBezTo>
                <a:cubicBezTo>
                  <a:pt x="61" y="21"/>
                  <a:pt x="61" y="21"/>
                  <a:pt x="61" y="21"/>
                </a:cubicBezTo>
                <a:cubicBezTo>
                  <a:pt x="61" y="22"/>
                  <a:pt x="61" y="22"/>
                  <a:pt x="61" y="22"/>
                </a:cubicBezTo>
                <a:cubicBezTo>
                  <a:pt x="61" y="22"/>
                  <a:pt x="61" y="23"/>
                  <a:pt x="61" y="23"/>
                </a:cubicBezTo>
                <a:cubicBezTo>
                  <a:pt x="61" y="23"/>
                  <a:pt x="60" y="24"/>
                  <a:pt x="60" y="25"/>
                </a:cubicBezTo>
                <a:cubicBezTo>
                  <a:pt x="60" y="25"/>
                  <a:pt x="60" y="25"/>
                  <a:pt x="60" y="25"/>
                </a:cubicBezTo>
                <a:cubicBezTo>
                  <a:pt x="59" y="27"/>
                  <a:pt x="59" y="27"/>
                  <a:pt x="59" y="27"/>
                </a:cubicBezTo>
                <a:cubicBezTo>
                  <a:pt x="58" y="28"/>
                  <a:pt x="57" y="29"/>
                  <a:pt x="56" y="29"/>
                </a:cubicBezTo>
                <a:cubicBezTo>
                  <a:pt x="56" y="29"/>
                  <a:pt x="56" y="29"/>
                  <a:pt x="56" y="29"/>
                </a:cubicBezTo>
                <a:cubicBezTo>
                  <a:pt x="56" y="28"/>
                  <a:pt x="56" y="28"/>
                  <a:pt x="56" y="28"/>
                </a:cubicBezTo>
                <a:cubicBezTo>
                  <a:pt x="56" y="28"/>
                  <a:pt x="56" y="28"/>
                  <a:pt x="56" y="28"/>
                </a:cubicBezTo>
                <a:cubicBezTo>
                  <a:pt x="56" y="29"/>
                  <a:pt x="56" y="29"/>
                  <a:pt x="56" y="29"/>
                </a:cubicBezTo>
                <a:cubicBezTo>
                  <a:pt x="55" y="30"/>
                  <a:pt x="55" y="30"/>
                  <a:pt x="55" y="30"/>
                </a:cubicBezTo>
                <a:cubicBezTo>
                  <a:pt x="54" y="30"/>
                  <a:pt x="54" y="30"/>
                  <a:pt x="54" y="30"/>
                </a:cubicBezTo>
                <a:cubicBezTo>
                  <a:pt x="54" y="30"/>
                  <a:pt x="54" y="30"/>
                  <a:pt x="54" y="30"/>
                </a:cubicBezTo>
                <a:cubicBezTo>
                  <a:pt x="54" y="31"/>
                  <a:pt x="54" y="31"/>
                  <a:pt x="54" y="31"/>
                </a:cubicBezTo>
                <a:cubicBezTo>
                  <a:pt x="54" y="31"/>
                  <a:pt x="54" y="31"/>
                  <a:pt x="54" y="31"/>
                </a:cubicBezTo>
                <a:cubicBezTo>
                  <a:pt x="54" y="31"/>
                  <a:pt x="54" y="31"/>
                  <a:pt x="54" y="31"/>
                </a:cubicBezTo>
                <a:cubicBezTo>
                  <a:pt x="54" y="31"/>
                  <a:pt x="55" y="32"/>
                  <a:pt x="55" y="32"/>
                </a:cubicBezTo>
                <a:cubicBezTo>
                  <a:pt x="55" y="32"/>
                  <a:pt x="55" y="32"/>
                  <a:pt x="55" y="33"/>
                </a:cubicBezTo>
                <a:cubicBezTo>
                  <a:pt x="55" y="33"/>
                  <a:pt x="55" y="34"/>
                  <a:pt x="54" y="34"/>
                </a:cubicBezTo>
                <a:cubicBezTo>
                  <a:pt x="54" y="34"/>
                  <a:pt x="54" y="34"/>
                  <a:pt x="54" y="34"/>
                </a:cubicBezTo>
                <a:cubicBezTo>
                  <a:pt x="54" y="34"/>
                  <a:pt x="53" y="34"/>
                  <a:pt x="53" y="34"/>
                </a:cubicBezTo>
                <a:cubicBezTo>
                  <a:pt x="53" y="34"/>
                  <a:pt x="52" y="34"/>
                  <a:pt x="52" y="34"/>
                </a:cubicBezTo>
                <a:cubicBezTo>
                  <a:pt x="52" y="33"/>
                  <a:pt x="52" y="33"/>
                  <a:pt x="52" y="33"/>
                </a:cubicBezTo>
                <a:cubicBezTo>
                  <a:pt x="52" y="33"/>
                  <a:pt x="52" y="33"/>
                  <a:pt x="52" y="33"/>
                </a:cubicBezTo>
                <a:cubicBezTo>
                  <a:pt x="52" y="33"/>
                  <a:pt x="52" y="32"/>
                  <a:pt x="52" y="32"/>
                </a:cubicBezTo>
                <a:cubicBezTo>
                  <a:pt x="52" y="32"/>
                  <a:pt x="52" y="32"/>
                  <a:pt x="53" y="32"/>
                </a:cubicBezTo>
                <a:cubicBezTo>
                  <a:pt x="52" y="32"/>
                  <a:pt x="52" y="32"/>
                  <a:pt x="52" y="32"/>
                </a:cubicBezTo>
                <a:cubicBezTo>
                  <a:pt x="52" y="32"/>
                  <a:pt x="52" y="32"/>
                  <a:pt x="52" y="32"/>
                </a:cubicBezTo>
                <a:cubicBezTo>
                  <a:pt x="52" y="32"/>
                  <a:pt x="52" y="32"/>
                  <a:pt x="52" y="31"/>
                </a:cubicBezTo>
                <a:cubicBezTo>
                  <a:pt x="52" y="31"/>
                  <a:pt x="52" y="31"/>
                  <a:pt x="52" y="31"/>
                </a:cubicBezTo>
                <a:cubicBezTo>
                  <a:pt x="52" y="31"/>
                  <a:pt x="52" y="31"/>
                  <a:pt x="52" y="31"/>
                </a:cubicBezTo>
                <a:cubicBezTo>
                  <a:pt x="52" y="31"/>
                  <a:pt x="52" y="31"/>
                  <a:pt x="52" y="31"/>
                </a:cubicBezTo>
                <a:cubicBezTo>
                  <a:pt x="52" y="31"/>
                  <a:pt x="52" y="31"/>
                  <a:pt x="52" y="31"/>
                </a:cubicBezTo>
                <a:cubicBezTo>
                  <a:pt x="52" y="31"/>
                  <a:pt x="52" y="31"/>
                  <a:pt x="52" y="31"/>
                </a:cubicBezTo>
                <a:cubicBezTo>
                  <a:pt x="52" y="31"/>
                  <a:pt x="51" y="31"/>
                  <a:pt x="51" y="31"/>
                </a:cubicBezTo>
                <a:cubicBezTo>
                  <a:pt x="51" y="31"/>
                  <a:pt x="51" y="31"/>
                  <a:pt x="51" y="31"/>
                </a:cubicBezTo>
                <a:cubicBezTo>
                  <a:pt x="51" y="31"/>
                  <a:pt x="51" y="31"/>
                  <a:pt x="51" y="31"/>
                </a:cubicBezTo>
                <a:cubicBezTo>
                  <a:pt x="51" y="31"/>
                  <a:pt x="50" y="31"/>
                  <a:pt x="50" y="31"/>
                </a:cubicBezTo>
                <a:cubicBezTo>
                  <a:pt x="50" y="31"/>
                  <a:pt x="50" y="31"/>
                  <a:pt x="50" y="31"/>
                </a:cubicBezTo>
                <a:cubicBezTo>
                  <a:pt x="50" y="31"/>
                  <a:pt x="50" y="31"/>
                  <a:pt x="50" y="31"/>
                </a:cubicBezTo>
                <a:cubicBezTo>
                  <a:pt x="50" y="31"/>
                  <a:pt x="50" y="31"/>
                  <a:pt x="50" y="30"/>
                </a:cubicBezTo>
                <a:cubicBezTo>
                  <a:pt x="50" y="31"/>
                  <a:pt x="50" y="31"/>
                  <a:pt x="50" y="31"/>
                </a:cubicBezTo>
                <a:cubicBezTo>
                  <a:pt x="49" y="31"/>
                  <a:pt x="49" y="31"/>
                  <a:pt x="49" y="31"/>
                </a:cubicBezTo>
                <a:cubicBezTo>
                  <a:pt x="49" y="31"/>
                  <a:pt x="49" y="31"/>
                  <a:pt x="49" y="31"/>
                </a:cubicBezTo>
                <a:cubicBezTo>
                  <a:pt x="49" y="31"/>
                  <a:pt x="49" y="31"/>
                  <a:pt x="49" y="31"/>
                </a:cubicBezTo>
                <a:cubicBezTo>
                  <a:pt x="49" y="31"/>
                  <a:pt x="49" y="31"/>
                  <a:pt x="49" y="31"/>
                </a:cubicBezTo>
                <a:cubicBezTo>
                  <a:pt x="49" y="31"/>
                  <a:pt x="49" y="31"/>
                  <a:pt x="49" y="31"/>
                </a:cubicBezTo>
                <a:cubicBezTo>
                  <a:pt x="49" y="31"/>
                  <a:pt x="50" y="31"/>
                  <a:pt x="50" y="31"/>
                </a:cubicBezTo>
                <a:cubicBezTo>
                  <a:pt x="50" y="31"/>
                  <a:pt x="50" y="31"/>
                  <a:pt x="50" y="31"/>
                </a:cubicBezTo>
                <a:cubicBezTo>
                  <a:pt x="50" y="31"/>
                  <a:pt x="50" y="31"/>
                  <a:pt x="50" y="31"/>
                </a:cubicBezTo>
                <a:cubicBezTo>
                  <a:pt x="51" y="31"/>
                  <a:pt x="51" y="32"/>
                  <a:pt x="51" y="32"/>
                </a:cubicBezTo>
                <a:cubicBezTo>
                  <a:pt x="51" y="32"/>
                  <a:pt x="51" y="32"/>
                  <a:pt x="51" y="32"/>
                </a:cubicBezTo>
                <a:cubicBezTo>
                  <a:pt x="51" y="32"/>
                  <a:pt x="51" y="32"/>
                  <a:pt x="51" y="32"/>
                </a:cubicBezTo>
                <a:cubicBezTo>
                  <a:pt x="51" y="32"/>
                  <a:pt x="51" y="33"/>
                  <a:pt x="50" y="33"/>
                </a:cubicBezTo>
                <a:cubicBezTo>
                  <a:pt x="50" y="33"/>
                  <a:pt x="50" y="33"/>
                  <a:pt x="50" y="33"/>
                </a:cubicBezTo>
                <a:cubicBezTo>
                  <a:pt x="50" y="33"/>
                  <a:pt x="50" y="33"/>
                  <a:pt x="50" y="33"/>
                </a:cubicBezTo>
                <a:cubicBezTo>
                  <a:pt x="50" y="33"/>
                  <a:pt x="50" y="33"/>
                  <a:pt x="50" y="33"/>
                </a:cubicBezTo>
                <a:cubicBezTo>
                  <a:pt x="50" y="34"/>
                  <a:pt x="50" y="34"/>
                  <a:pt x="50" y="34"/>
                </a:cubicBezTo>
                <a:cubicBezTo>
                  <a:pt x="50" y="34"/>
                  <a:pt x="50" y="34"/>
                  <a:pt x="50" y="34"/>
                </a:cubicBezTo>
                <a:cubicBezTo>
                  <a:pt x="50" y="34"/>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6"/>
                  <a:pt x="51" y="36"/>
                </a:cubicBezTo>
                <a:cubicBezTo>
                  <a:pt x="51" y="36"/>
                  <a:pt x="51" y="36"/>
                  <a:pt x="51" y="36"/>
                </a:cubicBezTo>
                <a:cubicBezTo>
                  <a:pt x="51" y="36"/>
                  <a:pt x="51" y="36"/>
                  <a:pt x="51" y="36"/>
                </a:cubicBezTo>
                <a:cubicBezTo>
                  <a:pt x="51" y="37"/>
                  <a:pt x="51" y="37"/>
                  <a:pt x="51" y="37"/>
                </a:cubicBezTo>
                <a:cubicBezTo>
                  <a:pt x="51" y="37"/>
                  <a:pt x="51" y="37"/>
                  <a:pt x="51" y="37"/>
                </a:cubicBezTo>
                <a:cubicBezTo>
                  <a:pt x="51" y="37"/>
                  <a:pt x="51" y="37"/>
                  <a:pt x="51" y="37"/>
                </a:cubicBezTo>
                <a:cubicBezTo>
                  <a:pt x="51" y="38"/>
                  <a:pt x="51" y="38"/>
                  <a:pt x="51" y="38"/>
                </a:cubicBezTo>
                <a:cubicBezTo>
                  <a:pt x="50" y="38"/>
                  <a:pt x="50" y="38"/>
                  <a:pt x="50" y="38"/>
                </a:cubicBezTo>
                <a:cubicBezTo>
                  <a:pt x="50" y="38"/>
                  <a:pt x="50" y="38"/>
                  <a:pt x="50" y="38"/>
                </a:cubicBezTo>
                <a:cubicBezTo>
                  <a:pt x="50" y="38"/>
                  <a:pt x="50" y="38"/>
                  <a:pt x="50" y="39"/>
                </a:cubicBezTo>
                <a:cubicBezTo>
                  <a:pt x="50" y="39"/>
                  <a:pt x="50" y="39"/>
                  <a:pt x="50" y="39"/>
                </a:cubicBezTo>
                <a:cubicBezTo>
                  <a:pt x="50" y="39"/>
                  <a:pt x="50" y="39"/>
                  <a:pt x="50" y="39"/>
                </a:cubicBezTo>
                <a:cubicBezTo>
                  <a:pt x="50" y="40"/>
                  <a:pt x="50" y="40"/>
                  <a:pt x="50" y="40"/>
                </a:cubicBezTo>
                <a:cubicBezTo>
                  <a:pt x="49" y="40"/>
                  <a:pt x="49" y="40"/>
                  <a:pt x="49" y="40"/>
                </a:cubicBezTo>
                <a:cubicBezTo>
                  <a:pt x="49" y="40"/>
                  <a:pt x="49" y="40"/>
                  <a:pt x="49" y="40"/>
                </a:cubicBezTo>
                <a:cubicBezTo>
                  <a:pt x="49" y="40"/>
                  <a:pt x="48" y="40"/>
                  <a:pt x="48" y="40"/>
                </a:cubicBezTo>
                <a:cubicBezTo>
                  <a:pt x="48" y="41"/>
                  <a:pt x="48" y="41"/>
                  <a:pt x="48" y="41"/>
                </a:cubicBezTo>
                <a:cubicBezTo>
                  <a:pt x="48" y="41"/>
                  <a:pt x="48" y="41"/>
                  <a:pt x="48" y="41"/>
                </a:cubicBezTo>
                <a:cubicBezTo>
                  <a:pt x="47" y="41"/>
                  <a:pt x="47" y="41"/>
                  <a:pt x="47" y="41"/>
                </a:cubicBezTo>
                <a:cubicBezTo>
                  <a:pt x="47" y="41"/>
                  <a:pt x="47" y="41"/>
                  <a:pt x="47" y="41"/>
                </a:cubicBezTo>
                <a:cubicBezTo>
                  <a:pt x="47" y="41"/>
                  <a:pt x="47" y="41"/>
                  <a:pt x="46" y="41"/>
                </a:cubicBezTo>
                <a:cubicBezTo>
                  <a:pt x="46" y="42"/>
                  <a:pt x="45" y="42"/>
                  <a:pt x="45" y="42"/>
                </a:cubicBezTo>
                <a:cubicBezTo>
                  <a:pt x="45" y="42"/>
                  <a:pt x="45" y="42"/>
                  <a:pt x="45" y="42"/>
                </a:cubicBezTo>
                <a:cubicBezTo>
                  <a:pt x="45" y="43"/>
                  <a:pt x="44" y="43"/>
                  <a:pt x="44" y="42"/>
                </a:cubicBezTo>
                <a:cubicBezTo>
                  <a:pt x="44" y="42"/>
                  <a:pt x="44" y="42"/>
                  <a:pt x="44" y="42"/>
                </a:cubicBezTo>
                <a:cubicBezTo>
                  <a:pt x="44" y="42"/>
                  <a:pt x="43" y="42"/>
                  <a:pt x="43" y="42"/>
                </a:cubicBezTo>
                <a:cubicBezTo>
                  <a:pt x="43" y="42"/>
                  <a:pt x="43" y="42"/>
                  <a:pt x="43" y="42"/>
                </a:cubicBezTo>
                <a:cubicBezTo>
                  <a:pt x="43" y="43"/>
                  <a:pt x="43" y="43"/>
                  <a:pt x="43" y="43"/>
                </a:cubicBezTo>
                <a:cubicBezTo>
                  <a:pt x="43" y="43"/>
                  <a:pt x="43" y="43"/>
                  <a:pt x="43" y="44"/>
                </a:cubicBezTo>
                <a:cubicBezTo>
                  <a:pt x="43" y="44"/>
                  <a:pt x="43" y="44"/>
                  <a:pt x="43" y="44"/>
                </a:cubicBezTo>
                <a:cubicBezTo>
                  <a:pt x="44" y="44"/>
                  <a:pt x="44" y="44"/>
                  <a:pt x="44" y="44"/>
                </a:cubicBezTo>
                <a:cubicBezTo>
                  <a:pt x="44" y="44"/>
                  <a:pt x="44" y="44"/>
                  <a:pt x="44" y="44"/>
                </a:cubicBezTo>
                <a:cubicBezTo>
                  <a:pt x="44" y="44"/>
                  <a:pt x="44" y="45"/>
                  <a:pt x="44" y="45"/>
                </a:cubicBezTo>
                <a:cubicBezTo>
                  <a:pt x="44" y="45"/>
                  <a:pt x="44" y="45"/>
                  <a:pt x="44" y="45"/>
                </a:cubicBezTo>
                <a:cubicBezTo>
                  <a:pt x="45" y="45"/>
                  <a:pt x="45" y="46"/>
                  <a:pt x="44" y="46"/>
                </a:cubicBezTo>
                <a:cubicBezTo>
                  <a:pt x="44" y="47"/>
                  <a:pt x="44" y="47"/>
                  <a:pt x="44" y="47"/>
                </a:cubicBezTo>
                <a:cubicBezTo>
                  <a:pt x="44" y="47"/>
                  <a:pt x="44" y="48"/>
                  <a:pt x="44" y="48"/>
                </a:cubicBezTo>
                <a:cubicBezTo>
                  <a:pt x="44" y="48"/>
                  <a:pt x="43" y="48"/>
                  <a:pt x="43" y="49"/>
                </a:cubicBezTo>
                <a:cubicBezTo>
                  <a:pt x="43" y="49"/>
                  <a:pt x="43" y="49"/>
                  <a:pt x="43" y="49"/>
                </a:cubicBezTo>
                <a:cubicBezTo>
                  <a:pt x="43" y="49"/>
                  <a:pt x="42" y="49"/>
                  <a:pt x="42" y="49"/>
                </a:cubicBezTo>
                <a:cubicBezTo>
                  <a:pt x="42" y="49"/>
                  <a:pt x="42" y="49"/>
                  <a:pt x="42" y="49"/>
                </a:cubicBezTo>
                <a:cubicBezTo>
                  <a:pt x="42" y="49"/>
                  <a:pt x="41" y="49"/>
                  <a:pt x="41" y="48"/>
                </a:cubicBezTo>
                <a:cubicBezTo>
                  <a:pt x="41" y="48"/>
                  <a:pt x="41" y="48"/>
                  <a:pt x="41" y="48"/>
                </a:cubicBezTo>
                <a:cubicBezTo>
                  <a:pt x="41" y="48"/>
                  <a:pt x="41" y="48"/>
                  <a:pt x="40" y="47"/>
                </a:cubicBezTo>
                <a:cubicBezTo>
                  <a:pt x="40" y="47"/>
                  <a:pt x="40" y="47"/>
                  <a:pt x="40" y="47"/>
                </a:cubicBezTo>
                <a:cubicBezTo>
                  <a:pt x="40" y="47"/>
                  <a:pt x="40" y="47"/>
                  <a:pt x="40" y="47"/>
                </a:cubicBezTo>
                <a:cubicBezTo>
                  <a:pt x="40" y="47"/>
                  <a:pt x="40" y="47"/>
                  <a:pt x="40" y="47"/>
                </a:cubicBezTo>
                <a:cubicBezTo>
                  <a:pt x="40" y="47"/>
                  <a:pt x="40" y="47"/>
                  <a:pt x="40" y="47"/>
                </a:cubicBezTo>
                <a:cubicBezTo>
                  <a:pt x="39" y="48"/>
                  <a:pt x="39" y="48"/>
                  <a:pt x="39" y="48"/>
                </a:cubicBezTo>
                <a:cubicBezTo>
                  <a:pt x="39" y="48"/>
                  <a:pt x="40" y="48"/>
                  <a:pt x="40" y="49"/>
                </a:cubicBezTo>
                <a:cubicBezTo>
                  <a:pt x="40" y="49"/>
                  <a:pt x="40" y="49"/>
                  <a:pt x="40" y="49"/>
                </a:cubicBezTo>
                <a:cubicBezTo>
                  <a:pt x="40" y="49"/>
                  <a:pt x="40" y="49"/>
                  <a:pt x="40" y="49"/>
                </a:cubicBezTo>
                <a:cubicBezTo>
                  <a:pt x="40" y="49"/>
                  <a:pt x="40" y="50"/>
                  <a:pt x="41" y="50"/>
                </a:cubicBezTo>
                <a:cubicBezTo>
                  <a:pt x="41" y="50"/>
                  <a:pt x="41" y="50"/>
                  <a:pt x="41" y="50"/>
                </a:cubicBezTo>
                <a:cubicBezTo>
                  <a:pt x="42" y="51"/>
                  <a:pt x="42" y="51"/>
                  <a:pt x="42" y="51"/>
                </a:cubicBezTo>
                <a:cubicBezTo>
                  <a:pt x="42" y="51"/>
                  <a:pt x="42" y="51"/>
                  <a:pt x="42" y="51"/>
                </a:cubicBezTo>
                <a:cubicBezTo>
                  <a:pt x="42" y="52"/>
                  <a:pt x="42" y="53"/>
                  <a:pt x="42" y="53"/>
                </a:cubicBezTo>
                <a:cubicBezTo>
                  <a:pt x="43" y="54"/>
                  <a:pt x="43" y="54"/>
                  <a:pt x="43" y="54"/>
                </a:cubicBezTo>
                <a:cubicBezTo>
                  <a:pt x="41" y="54"/>
                  <a:pt x="41" y="54"/>
                  <a:pt x="41" y="54"/>
                </a:cubicBezTo>
                <a:cubicBezTo>
                  <a:pt x="41" y="54"/>
                  <a:pt x="41" y="54"/>
                  <a:pt x="41" y="54"/>
                </a:cubicBezTo>
                <a:cubicBezTo>
                  <a:pt x="42" y="54"/>
                  <a:pt x="42" y="54"/>
                  <a:pt x="42" y="54"/>
                </a:cubicBezTo>
                <a:cubicBezTo>
                  <a:pt x="42" y="54"/>
                  <a:pt x="42" y="54"/>
                  <a:pt x="42" y="55"/>
                </a:cubicBezTo>
                <a:cubicBezTo>
                  <a:pt x="42" y="55"/>
                  <a:pt x="42" y="55"/>
                  <a:pt x="42" y="55"/>
                </a:cubicBezTo>
                <a:cubicBezTo>
                  <a:pt x="42" y="55"/>
                  <a:pt x="42" y="55"/>
                  <a:pt x="42" y="55"/>
                </a:cubicBezTo>
                <a:cubicBezTo>
                  <a:pt x="43" y="55"/>
                  <a:pt x="43" y="56"/>
                  <a:pt x="43" y="57"/>
                </a:cubicBezTo>
                <a:cubicBezTo>
                  <a:pt x="43" y="57"/>
                  <a:pt x="43" y="57"/>
                  <a:pt x="43" y="57"/>
                </a:cubicBezTo>
                <a:cubicBezTo>
                  <a:pt x="43" y="57"/>
                  <a:pt x="43" y="57"/>
                  <a:pt x="43" y="57"/>
                </a:cubicBezTo>
                <a:cubicBezTo>
                  <a:pt x="43" y="57"/>
                  <a:pt x="43" y="57"/>
                  <a:pt x="43" y="57"/>
                </a:cubicBezTo>
                <a:cubicBezTo>
                  <a:pt x="44" y="57"/>
                  <a:pt x="44" y="57"/>
                  <a:pt x="44" y="57"/>
                </a:cubicBezTo>
                <a:cubicBezTo>
                  <a:pt x="44" y="57"/>
                  <a:pt x="44" y="57"/>
                  <a:pt x="44" y="57"/>
                </a:cubicBezTo>
                <a:cubicBezTo>
                  <a:pt x="44" y="57"/>
                  <a:pt x="44" y="57"/>
                  <a:pt x="44" y="57"/>
                </a:cubicBezTo>
                <a:cubicBezTo>
                  <a:pt x="44" y="57"/>
                  <a:pt x="44" y="57"/>
                  <a:pt x="44" y="57"/>
                </a:cubicBezTo>
                <a:cubicBezTo>
                  <a:pt x="45" y="57"/>
                  <a:pt x="45" y="57"/>
                  <a:pt x="45" y="57"/>
                </a:cubicBezTo>
                <a:cubicBezTo>
                  <a:pt x="45" y="57"/>
                  <a:pt x="45" y="57"/>
                  <a:pt x="46" y="58"/>
                </a:cubicBezTo>
                <a:cubicBezTo>
                  <a:pt x="46" y="58"/>
                  <a:pt x="46" y="58"/>
                  <a:pt x="46" y="58"/>
                </a:cubicBezTo>
                <a:cubicBezTo>
                  <a:pt x="46" y="58"/>
                  <a:pt x="46" y="58"/>
                  <a:pt x="46" y="58"/>
                </a:cubicBezTo>
                <a:cubicBezTo>
                  <a:pt x="46" y="58"/>
                  <a:pt x="47" y="58"/>
                  <a:pt x="47" y="58"/>
                </a:cubicBezTo>
                <a:cubicBezTo>
                  <a:pt x="47" y="58"/>
                  <a:pt x="47" y="59"/>
                  <a:pt x="47" y="59"/>
                </a:cubicBezTo>
                <a:cubicBezTo>
                  <a:pt x="47" y="59"/>
                  <a:pt x="47" y="59"/>
                  <a:pt x="46" y="59"/>
                </a:cubicBezTo>
                <a:cubicBezTo>
                  <a:pt x="46" y="59"/>
                  <a:pt x="46" y="59"/>
                  <a:pt x="46" y="59"/>
                </a:cubicBezTo>
                <a:cubicBezTo>
                  <a:pt x="46" y="59"/>
                  <a:pt x="46" y="59"/>
                  <a:pt x="46" y="59"/>
                </a:cubicBezTo>
                <a:cubicBezTo>
                  <a:pt x="46" y="59"/>
                  <a:pt x="45" y="59"/>
                  <a:pt x="45" y="59"/>
                </a:cubicBezTo>
                <a:cubicBezTo>
                  <a:pt x="45" y="59"/>
                  <a:pt x="45" y="59"/>
                  <a:pt x="44" y="59"/>
                </a:cubicBezTo>
                <a:cubicBezTo>
                  <a:pt x="44" y="59"/>
                  <a:pt x="44" y="59"/>
                  <a:pt x="44" y="59"/>
                </a:cubicBezTo>
                <a:cubicBezTo>
                  <a:pt x="43" y="59"/>
                  <a:pt x="43" y="59"/>
                  <a:pt x="43" y="59"/>
                </a:cubicBezTo>
                <a:cubicBezTo>
                  <a:pt x="43" y="59"/>
                  <a:pt x="42" y="58"/>
                  <a:pt x="42" y="58"/>
                </a:cubicBezTo>
                <a:cubicBezTo>
                  <a:pt x="42" y="58"/>
                  <a:pt x="42" y="58"/>
                  <a:pt x="42" y="57"/>
                </a:cubicBezTo>
                <a:cubicBezTo>
                  <a:pt x="42" y="57"/>
                  <a:pt x="42" y="57"/>
                  <a:pt x="42" y="57"/>
                </a:cubicBezTo>
                <a:cubicBezTo>
                  <a:pt x="42" y="57"/>
                  <a:pt x="41" y="57"/>
                  <a:pt x="41" y="57"/>
                </a:cubicBezTo>
                <a:cubicBezTo>
                  <a:pt x="40" y="56"/>
                  <a:pt x="40" y="56"/>
                  <a:pt x="40" y="56"/>
                </a:cubicBezTo>
                <a:cubicBezTo>
                  <a:pt x="39" y="56"/>
                  <a:pt x="39" y="55"/>
                  <a:pt x="39" y="55"/>
                </a:cubicBezTo>
                <a:cubicBezTo>
                  <a:pt x="39" y="54"/>
                  <a:pt x="39" y="54"/>
                  <a:pt x="39" y="54"/>
                </a:cubicBezTo>
                <a:cubicBezTo>
                  <a:pt x="39" y="54"/>
                  <a:pt x="39" y="54"/>
                  <a:pt x="39" y="54"/>
                </a:cubicBezTo>
                <a:cubicBezTo>
                  <a:pt x="39" y="54"/>
                  <a:pt x="38" y="54"/>
                  <a:pt x="38" y="54"/>
                </a:cubicBezTo>
                <a:cubicBezTo>
                  <a:pt x="38" y="53"/>
                  <a:pt x="38" y="53"/>
                  <a:pt x="38" y="53"/>
                </a:cubicBezTo>
                <a:cubicBezTo>
                  <a:pt x="38" y="53"/>
                  <a:pt x="38" y="53"/>
                  <a:pt x="38" y="53"/>
                </a:cubicBezTo>
                <a:cubicBezTo>
                  <a:pt x="38" y="53"/>
                  <a:pt x="38" y="53"/>
                  <a:pt x="38" y="53"/>
                </a:cubicBezTo>
                <a:cubicBezTo>
                  <a:pt x="38" y="53"/>
                  <a:pt x="38" y="53"/>
                  <a:pt x="38" y="53"/>
                </a:cubicBezTo>
                <a:cubicBezTo>
                  <a:pt x="38" y="53"/>
                  <a:pt x="38" y="53"/>
                  <a:pt x="38" y="53"/>
                </a:cubicBezTo>
                <a:cubicBezTo>
                  <a:pt x="37" y="52"/>
                  <a:pt x="36" y="52"/>
                  <a:pt x="36" y="51"/>
                </a:cubicBezTo>
                <a:cubicBezTo>
                  <a:pt x="36" y="51"/>
                  <a:pt x="36" y="51"/>
                  <a:pt x="37" y="50"/>
                </a:cubicBezTo>
                <a:cubicBezTo>
                  <a:pt x="37" y="50"/>
                  <a:pt x="37" y="50"/>
                  <a:pt x="37" y="50"/>
                </a:cubicBezTo>
                <a:cubicBezTo>
                  <a:pt x="37" y="50"/>
                  <a:pt x="37" y="50"/>
                  <a:pt x="37" y="50"/>
                </a:cubicBezTo>
                <a:cubicBezTo>
                  <a:pt x="37" y="50"/>
                  <a:pt x="37" y="50"/>
                  <a:pt x="37" y="51"/>
                </a:cubicBezTo>
                <a:cubicBezTo>
                  <a:pt x="38" y="50"/>
                  <a:pt x="38" y="50"/>
                  <a:pt x="38" y="50"/>
                </a:cubicBezTo>
                <a:cubicBezTo>
                  <a:pt x="38" y="50"/>
                  <a:pt x="38" y="50"/>
                  <a:pt x="38" y="50"/>
                </a:cubicBezTo>
                <a:cubicBezTo>
                  <a:pt x="38" y="51"/>
                  <a:pt x="38" y="51"/>
                  <a:pt x="38" y="51"/>
                </a:cubicBezTo>
                <a:cubicBezTo>
                  <a:pt x="38" y="51"/>
                  <a:pt x="38" y="51"/>
                  <a:pt x="38" y="51"/>
                </a:cubicBezTo>
                <a:cubicBezTo>
                  <a:pt x="38" y="51"/>
                  <a:pt x="39" y="51"/>
                  <a:pt x="39" y="51"/>
                </a:cubicBezTo>
                <a:cubicBezTo>
                  <a:pt x="39" y="52"/>
                  <a:pt x="39" y="52"/>
                  <a:pt x="39" y="52"/>
                </a:cubicBezTo>
                <a:cubicBezTo>
                  <a:pt x="39" y="52"/>
                  <a:pt x="40" y="52"/>
                  <a:pt x="40" y="52"/>
                </a:cubicBezTo>
                <a:cubicBezTo>
                  <a:pt x="40" y="52"/>
                  <a:pt x="40" y="52"/>
                  <a:pt x="40" y="52"/>
                </a:cubicBezTo>
                <a:cubicBezTo>
                  <a:pt x="40" y="52"/>
                  <a:pt x="40" y="52"/>
                  <a:pt x="40" y="52"/>
                </a:cubicBezTo>
                <a:cubicBezTo>
                  <a:pt x="39" y="52"/>
                  <a:pt x="39" y="52"/>
                  <a:pt x="39" y="52"/>
                </a:cubicBezTo>
                <a:cubicBezTo>
                  <a:pt x="39" y="51"/>
                  <a:pt x="39" y="51"/>
                  <a:pt x="39" y="51"/>
                </a:cubicBezTo>
                <a:cubicBezTo>
                  <a:pt x="39" y="51"/>
                  <a:pt x="39" y="51"/>
                  <a:pt x="39" y="51"/>
                </a:cubicBezTo>
                <a:cubicBezTo>
                  <a:pt x="39" y="51"/>
                  <a:pt x="39" y="51"/>
                  <a:pt x="39" y="51"/>
                </a:cubicBezTo>
                <a:cubicBezTo>
                  <a:pt x="39" y="50"/>
                  <a:pt x="39" y="50"/>
                  <a:pt x="39" y="50"/>
                </a:cubicBezTo>
                <a:cubicBezTo>
                  <a:pt x="39" y="50"/>
                  <a:pt x="39" y="50"/>
                  <a:pt x="39" y="50"/>
                </a:cubicBezTo>
                <a:cubicBezTo>
                  <a:pt x="39" y="50"/>
                  <a:pt x="38" y="50"/>
                  <a:pt x="38" y="50"/>
                </a:cubicBezTo>
                <a:cubicBezTo>
                  <a:pt x="38" y="50"/>
                  <a:pt x="38" y="50"/>
                  <a:pt x="38" y="50"/>
                </a:cubicBezTo>
                <a:cubicBezTo>
                  <a:pt x="38" y="50"/>
                  <a:pt x="38" y="49"/>
                  <a:pt x="38" y="49"/>
                </a:cubicBezTo>
                <a:cubicBezTo>
                  <a:pt x="38" y="49"/>
                  <a:pt x="38" y="48"/>
                  <a:pt x="38" y="48"/>
                </a:cubicBezTo>
                <a:cubicBezTo>
                  <a:pt x="38" y="48"/>
                  <a:pt x="38" y="48"/>
                  <a:pt x="38" y="47"/>
                </a:cubicBezTo>
                <a:cubicBezTo>
                  <a:pt x="38" y="47"/>
                  <a:pt x="38" y="47"/>
                  <a:pt x="38" y="47"/>
                </a:cubicBezTo>
                <a:cubicBezTo>
                  <a:pt x="38" y="47"/>
                  <a:pt x="38" y="46"/>
                  <a:pt x="38" y="46"/>
                </a:cubicBezTo>
                <a:cubicBezTo>
                  <a:pt x="38" y="46"/>
                  <a:pt x="38" y="46"/>
                  <a:pt x="38" y="46"/>
                </a:cubicBezTo>
                <a:cubicBezTo>
                  <a:pt x="38" y="46"/>
                  <a:pt x="38" y="46"/>
                  <a:pt x="38" y="45"/>
                </a:cubicBezTo>
                <a:cubicBezTo>
                  <a:pt x="38" y="45"/>
                  <a:pt x="38" y="45"/>
                  <a:pt x="38" y="45"/>
                </a:cubicBezTo>
                <a:cubicBezTo>
                  <a:pt x="38" y="45"/>
                  <a:pt x="38" y="45"/>
                  <a:pt x="38" y="45"/>
                </a:cubicBezTo>
                <a:cubicBezTo>
                  <a:pt x="37" y="45"/>
                  <a:pt x="37" y="45"/>
                  <a:pt x="37" y="45"/>
                </a:cubicBezTo>
                <a:cubicBezTo>
                  <a:pt x="37" y="45"/>
                  <a:pt x="37" y="45"/>
                  <a:pt x="37" y="45"/>
                </a:cubicBezTo>
                <a:cubicBezTo>
                  <a:pt x="37" y="45"/>
                  <a:pt x="37" y="45"/>
                  <a:pt x="37" y="45"/>
                </a:cubicBezTo>
                <a:cubicBezTo>
                  <a:pt x="36" y="45"/>
                  <a:pt x="36" y="45"/>
                  <a:pt x="36" y="45"/>
                </a:cubicBezTo>
                <a:cubicBezTo>
                  <a:pt x="36" y="45"/>
                  <a:pt x="36" y="45"/>
                  <a:pt x="36" y="43"/>
                </a:cubicBezTo>
                <a:cubicBezTo>
                  <a:pt x="35" y="42"/>
                  <a:pt x="35" y="42"/>
                  <a:pt x="35" y="42"/>
                </a:cubicBezTo>
                <a:cubicBezTo>
                  <a:pt x="35" y="42"/>
                  <a:pt x="35" y="42"/>
                  <a:pt x="35" y="42"/>
                </a:cubicBezTo>
                <a:cubicBezTo>
                  <a:pt x="34" y="41"/>
                  <a:pt x="34" y="41"/>
                  <a:pt x="34" y="41"/>
                </a:cubicBezTo>
                <a:cubicBezTo>
                  <a:pt x="34" y="41"/>
                  <a:pt x="34" y="41"/>
                  <a:pt x="34" y="41"/>
                </a:cubicBezTo>
                <a:cubicBezTo>
                  <a:pt x="34" y="41"/>
                  <a:pt x="34" y="41"/>
                  <a:pt x="34" y="42"/>
                </a:cubicBezTo>
                <a:cubicBezTo>
                  <a:pt x="34" y="42"/>
                  <a:pt x="34" y="42"/>
                  <a:pt x="34" y="42"/>
                </a:cubicBezTo>
                <a:cubicBezTo>
                  <a:pt x="33" y="42"/>
                  <a:pt x="33" y="42"/>
                  <a:pt x="33" y="42"/>
                </a:cubicBezTo>
                <a:cubicBezTo>
                  <a:pt x="33" y="42"/>
                  <a:pt x="33" y="42"/>
                  <a:pt x="33" y="42"/>
                </a:cubicBezTo>
                <a:cubicBezTo>
                  <a:pt x="33" y="42"/>
                  <a:pt x="33" y="42"/>
                  <a:pt x="33" y="42"/>
                </a:cubicBezTo>
                <a:cubicBezTo>
                  <a:pt x="33" y="42"/>
                  <a:pt x="33" y="42"/>
                  <a:pt x="33" y="42"/>
                </a:cubicBezTo>
                <a:cubicBezTo>
                  <a:pt x="33" y="42"/>
                  <a:pt x="33" y="42"/>
                  <a:pt x="33" y="42"/>
                </a:cubicBezTo>
                <a:cubicBezTo>
                  <a:pt x="33" y="42"/>
                  <a:pt x="33" y="42"/>
                  <a:pt x="33" y="42"/>
                </a:cubicBezTo>
                <a:cubicBezTo>
                  <a:pt x="32" y="43"/>
                  <a:pt x="32" y="43"/>
                  <a:pt x="32" y="43"/>
                </a:cubicBezTo>
                <a:cubicBezTo>
                  <a:pt x="32" y="43"/>
                  <a:pt x="32" y="43"/>
                  <a:pt x="32" y="43"/>
                </a:cubicBezTo>
                <a:cubicBezTo>
                  <a:pt x="31" y="44"/>
                  <a:pt x="31" y="44"/>
                  <a:pt x="31" y="44"/>
                </a:cubicBezTo>
                <a:cubicBezTo>
                  <a:pt x="31" y="44"/>
                  <a:pt x="30" y="45"/>
                  <a:pt x="30" y="45"/>
                </a:cubicBezTo>
                <a:cubicBezTo>
                  <a:pt x="30" y="45"/>
                  <a:pt x="30" y="45"/>
                  <a:pt x="30" y="45"/>
                </a:cubicBezTo>
                <a:cubicBezTo>
                  <a:pt x="30" y="45"/>
                  <a:pt x="29" y="46"/>
                  <a:pt x="29" y="46"/>
                </a:cubicBezTo>
                <a:cubicBezTo>
                  <a:pt x="29" y="46"/>
                  <a:pt x="29" y="46"/>
                  <a:pt x="29" y="46"/>
                </a:cubicBezTo>
                <a:cubicBezTo>
                  <a:pt x="29" y="47"/>
                  <a:pt x="29" y="48"/>
                  <a:pt x="29" y="48"/>
                </a:cubicBezTo>
                <a:cubicBezTo>
                  <a:pt x="29" y="48"/>
                  <a:pt x="29" y="48"/>
                  <a:pt x="29" y="48"/>
                </a:cubicBezTo>
                <a:cubicBezTo>
                  <a:pt x="29" y="49"/>
                  <a:pt x="29" y="49"/>
                  <a:pt x="29" y="49"/>
                </a:cubicBezTo>
                <a:cubicBezTo>
                  <a:pt x="29" y="49"/>
                  <a:pt x="28" y="49"/>
                  <a:pt x="28" y="49"/>
                </a:cubicBezTo>
                <a:cubicBezTo>
                  <a:pt x="28" y="49"/>
                  <a:pt x="28" y="50"/>
                  <a:pt x="28" y="50"/>
                </a:cubicBezTo>
                <a:cubicBezTo>
                  <a:pt x="27" y="50"/>
                  <a:pt x="27" y="50"/>
                  <a:pt x="27" y="49"/>
                </a:cubicBezTo>
                <a:cubicBezTo>
                  <a:pt x="27" y="49"/>
                  <a:pt x="26" y="49"/>
                  <a:pt x="26" y="48"/>
                </a:cubicBezTo>
                <a:cubicBezTo>
                  <a:pt x="26" y="48"/>
                  <a:pt x="26" y="48"/>
                  <a:pt x="26" y="48"/>
                </a:cubicBezTo>
                <a:cubicBezTo>
                  <a:pt x="26" y="47"/>
                  <a:pt x="26" y="47"/>
                  <a:pt x="26" y="47"/>
                </a:cubicBezTo>
                <a:cubicBezTo>
                  <a:pt x="26" y="47"/>
                  <a:pt x="26" y="47"/>
                  <a:pt x="26" y="47"/>
                </a:cubicBezTo>
                <a:cubicBezTo>
                  <a:pt x="26" y="46"/>
                  <a:pt x="26" y="46"/>
                  <a:pt x="26" y="46"/>
                </a:cubicBezTo>
                <a:cubicBezTo>
                  <a:pt x="26" y="46"/>
                  <a:pt x="25" y="46"/>
                  <a:pt x="25" y="46"/>
                </a:cubicBezTo>
                <a:cubicBezTo>
                  <a:pt x="25" y="46"/>
                  <a:pt x="25" y="46"/>
                  <a:pt x="25" y="46"/>
                </a:cubicBezTo>
                <a:cubicBezTo>
                  <a:pt x="25" y="45"/>
                  <a:pt x="25" y="45"/>
                  <a:pt x="25" y="44"/>
                </a:cubicBezTo>
                <a:cubicBezTo>
                  <a:pt x="25" y="44"/>
                  <a:pt x="25" y="44"/>
                  <a:pt x="25" y="44"/>
                </a:cubicBezTo>
                <a:cubicBezTo>
                  <a:pt x="25" y="44"/>
                  <a:pt x="25" y="43"/>
                  <a:pt x="25" y="43"/>
                </a:cubicBezTo>
                <a:cubicBezTo>
                  <a:pt x="25" y="43"/>
                  <a:pt x="25" y="43"/>
                  <a:pt x="25" y="43"/>
                </a:cubicBezTo>
                <a:cubicBezTo>
                  <a:pt x="25" y="43"/>
                  <a:pt x="25" y="43"/>
                  <a:pt x="25" y="43"/>
                </a:cubicBezTo>
                <a:cubicBezTo>
                  <a:pt x="25" y="43"/>
                  <a:pt x="24" y="43"/>
                  <a:pt x="24" y="42"/>
                </a:cubicBezTo>
                <a:cubicBezTo>
                  <a:pt x="24" y="42"/>
                  <a:pt x="24" y="42"/>
                  <a:pt x="24" y="42"/>
                </a:cubicBezTo>
                <a:cubicBezTo>
                  <a:pt x="24" y="43"/>
                  <a:pt x="24" y="43"/>
                  <a:pt x="24" y="43"/>
                </a:cubicBezTo>
                <a:cubicBezTo>
                  <a:pt x="23" y="42"/>
                  <a:pt x="23" y="42"/>
                  <a:pt x="23" y="42"/>
                </a:cubicBezTo>
                <a:cubicBezTo>
                  <a:pt x="23" y="42"/>
                  <a:pt x="23" y="42"/>
                  <a:pt x="23" y="42"/>
                </a:cubicBezTo>
                <a:cubicBezTo>
                  <a:pt x="23" y="42"/>
                  <a:pt x="23" y="41"/>
                  <a:pt x="23" y="41"/>
                </a:cubicBezTo>
                <a:cubicBezTo>
                  <a:pt x="23" y="41"/>
                  <a:pt x="22" y="40"/>
                  <a:pt x="22" y="40"/>
                </a:cubicBezTo>
                <a:cubicBezTo>
                  <a:pt x="22" y="40"/>
                  <a:pt x="22" y="40"/>
                  <a:pt x="22" y="40"/>
                </a:cubicBezTo>
                <a:cubicBezTo>
                  <a:pt x="22" y="40"/>
                  <a:pt x="22" y="40"/>
                  <a:pt x="21" y="40"/>
                </a:cubicBezTo>
                <a:cubicBezTo>
                  <a:pt x="21" y="40"/>
                  <a:pt x="21" y="40"/>
                  <a:pt x="21" y="40"/>
                </a:cubicBezTo>
                <a:cubicBezTo>
                  <a:pt x="21" y="40"/>
                  <a:pt x="21" y="40"/>
                  <a:pt x="21" y="40"/>
                </a:cubicBezTo>
                <a:cubicBezTo>
                  <a:pt x="21" y="40"/>
                  <a:pt x="20" y="40"/>
                  <a:pt x="20" y="40"/>
                </a:cubicBezTo>
                <a:cubicBezTo>
                  <a:pt x="20" y="40"/>
                  <a:pt x="20" y="40"/>
                  <a:pt x="20" y="40"/>
                </a:cubicBezTo>
                <a:cubicBezTo>
                  <a:pt x="20" y="40"/>
                  <a:pt x="20" y="40"/>
                  <a:pt x="20" y="40"/>
                </a:cubicBezTo>
                <a:cubicBezTo>
                  <a:pt x="20" y="40"/>
                  <a:pt x="19" y="40"/>
                  <a:pt x="19" y="40"/>
                </a:cubicBezTo>
                <a:cubicBezTo>
                  <a:pt x="19" y="40"/>
                  <a:pt x="19" y="40"/>
                  <a:pt x="18" y="40"/>
                </a:cubicBezTo>
                <a:cubicBezTo>
                  <a:pt x="18" y="40"/>
                  <a:pt x="18" y="40"/>
                  <a:pt x="18" y="40"/>
                </a:cubicBezTo>
                <a:cubicBezTo>
                  <a:pt x="18" y="40"/>
                  <a:pt x="18" y="40"/>
                  <a:pt x="18" y="40"/>
                </a:cubicBezTo>
                <a:cubicBezTo>
                  <a:pt x="18" y="40"/>
                  <a:pt x="18" y="40"/>
                  <a:pt x="17" y="40"/>
                </a:cubicBezTo>
                <a:cubicBezTo>
                  <a:pt x="18" y="40"/>
                  <a:pt x="18" y="40"/>
                  <a:pt x="18" y="40"/>
                </a:cubicBezTo>
                <a:cubicBezTo>
                  <a:pt x="18" y="40"/>
                  <a:pt x="18" y="40"/>
                  <a:pt x="18" y="40"/>
                </a:cubicBezTo>
                <a:cubicBezTo>
                  <a:pt x="18" y="40"/>
                  <a:pt x="18" y="40"/>
                  <a:pt x="18" y="40"/>
                </a:cubicBezTo>
                <a:cubicBezTo>
                  <a:pt x="19" y="40"/>
                  <a:pt x="19" y="41"/>
                  <a:pt x="19" y="41"/>
                </a:cubicBezTo>
                <a:cubicBezTo>
                  <a:pt x="19" y="41"/>
                  <a:pt x="19" y="41"/>
                  <a:pt x="19" y="41"/>
                </a:cubicBezTo>
                <a:cubicBezTo>
                  <a:pt x="19" y="41"/>
                  <a:pt x="19" y="41"/>
                  <a:pt x="19" y="41"/>
                </a:cubicBezTo>
                <a:cubicBezTo>
                  <a:pt x="19" y="41"/>
                  <a:pt x="19" y="41"/>
                  <a:pt x="19" y="41"/>
                </a:cubicBezTo>
                <a:cubicBezTo>
                  <a:pt x="19" y="41"/>
                  <a:pt x="19" y="42"/>
                  <a:pt x="19" y="42"/>
                </a:cubicBezTo>
                <a:cubicBezTo>
                  <a:pt x="19" y="42"/>
                  <a:pt x="19" y="42"/>
                  <a:pt x="19" y="42"/>
                </a:cubicBezTo>
                <a:cubicBezTo>
                  <a:pt x="19" y="42"/>
                  <a:pt x="19" y="42"/>
                  <a:pt x="19" y="42"/>
                </a:cubicBezTo>
                <a:cubicBezTo>
                  <a:pt x="19" y="42"/>
                  <a:pt x="19" y="42"/>
                  <a:pt x="19" y="42"/>
                </a:cubicBezTo>
                <a:cubicBezTo>
                  <a:pt x="19" y="42"/>
                  <a:pt x="19" y="42"/>
                  <a:pt x="19" y="42"/>
                </a:cubicBezTo>
                <a:cubicBezTo>
                  <a:pt x="19" y="42"/>
                  <a:pt x="19" y="42"/>
                  <a:pt x="19" y="42"/>
                </a:cubicBezTo>
                <a:cubicBezTo>
                  <a:pt x="19" y="42"/>
                  <a:pt x="19" y="42"/>
                  <a:pt x="19" y="42"/>
                </a:cubicBezTo>
                <a:cubicBezTo>
                  <a:pt x="18" y="42"/>
                  <a:pt x="18" y="42"/>
                  <a:pt x="18" y="42"/>
                </a:cubicBezTo>
                <a:cubicBezTo>
                  <a:pt x="18" y="42"/>
                  <a:pt x="18" y="43"/>
                  <a:pt x="18" y="43"/>
                </a:cubicBezTo>
                <a:cubicBezTo>
                  <a:pt x="18" y="43"/>
                  <a:pt x="18" y="43"/>
                  <a:pt x="17" y="43"/>
                </a:cubicBezTo>
                <a:cubicBezTo>
                  <a:pt x="17" y="44"/>
                  <a:pt x="17" y="44"/>
                  <a:pt x="17" y="44"/>
                </a:cubicBezTo>
                <a:cubicBezTo>
                  <a:pt x="17" y="44"/>
                  <a:pt x="17" y="44"/>
                  <a:pt x="17" y="44"/>
                </a:cubicBezTo>
                <a:cubicBezTo>
                  <a:pt x="16" y="44"/>
                  <a:pt x="16" y="44"/>
                  <a:pt x="16" y="44"/>
                </a:cubicBezTo>
                <a:cubicBezTo>
                  <a:pt x="16" y="44"/>
                  <a:pt x="16" y="44"/>
                  <a:pt x="16" y="45"/>
                </a:cubicBezTo>
                <a:cubicBezTo>
                  <a:pt x="15" y="45"/>
                  <a:pt x="15" y="45"/>
                  <a:pt x="15" y="45"/>
                </a:cubicBezTo>
                <a:cubicBezTo>
                  <a:pt x="15" y="45"/>
                  <a:pt x="15" y="45"/>
                  <a:pt x="15" y="45"/>
                </a:cubicBezTo>
                <a:cubicBezTo>
                  <a:pt x="15" y="45"/>
                  <a:pt x="15" y="45"/>
                  <a:pt x="15" y="45"/>
                </a:cubicBezTo>
                <a:cubicBezTo>
                  <a:pt x="15" y="45"/>
                  <a:pt x="15" y="46"/>
                  <a:pt x="14" y="46"/>
                </a:cubicBezTo>
                <a:cubicBezTo>
                  <a:pt x="14" y="46"/>
                  <a:pt x="14" y="46"/>
                  <a:pt x="14" y="46"/>
                </a:cubicBezTo>
                <a:cubicBezTo>
                  <a:pt x="14" y="46"/>
                  <a:pt x="13" y="46"/>
                  <a:pt x="13" y="46"/>
                </a:cubicBezTo>
                <a:cubicBezTo>
                  <a:pt x="13" y="46"/>
                  <a:pt x="13" y="46"/>
                  <a:pt x="13" y="46"/>
                </a:cubicBezTo>
                <a:cubicBezTo>
                  <a:pt x="13" y="46"/>
                  <a:pt x="13" y="46"/>
                  <a:pt x="13" y="46"/>
                </a:cubicBezTo>
                <a:cubicBezTo>
                  <a:pt x="13" y="46"/>
                  <a:pt x="13" y="46"/>
                  <a:pt x="13" y="46"/>
                </a:cubicBezTo>
                <a:cubicBezTo>
                  <a:pt x="12" y="46"/>
                  <a:pt x="12" y="46"/>
                  <a:pt x="12" y="46"/>
                </a:cubicBezTo>
                <a:cubicBezTo>
                  <a:pt x="12" y="47"/>
                  <a:pt x="12" y="47"/>
                  <a:pt x="11" y="47"/>
                </a:cubicBezTo>
                <a:cubicBezTo>
                  <a:pt x="11" y="47"/>
                  <a:pt x="11" y="47"/>
                  <a:pt x="10" y="47"/>
                </a:cubicBezTo>
                <a:cubicBezTo>
                  <a:pt x="10" y="47"/>
                  <a:pt x="10" y="47"/>
                  <a:pt x="10" y="47"/>
                </a:cubicBezTo>
                <a:cubicBezTo>
                  <a:pt x="10" y="47"/>
                  <a:pt x="9" y="46"/>
                  <a:pt x="9" y="46"/>
                </a:cubicBezTo>
                <a:cubicBezTo>
                  <a:pt x="9" y="46"/>
                  <a:pt x="9" y="46"/>
                  <a:pt x="9" y="46"/>
                </a:cubicBezTo>
                <a:cubicBezTo>
                  <a:pt x="9" y="45"/>
                  <a:pt x="9" y="45"/>
                  <a:pt x="9" y="45"/>
                </a:cubicBezTo>
                <a:cubicBezTo>
                  <a:pt x="9" y="45"/>
                  <a:pt x="9" y="45"/>
                  <a:pt x="9" y="45"/>
                </a:cubicBezTo>
                <a:cubicBezTo>
                  <a:pt x="9" y="45"/>
                  <a:pt x="9" y="45"/>
                  <a:pt x="9" y="44"/>
                </a:cubicBezTo>
                <a:cubicBezTo>
                  <a:pt x="9" y="44"/>
                  <a:pt x="9" y="44"/>
                  <a:pt x="9" y="44"/>
                </a:cubicBezTo>
                <a:cubicBezTo>
                  <a:pt x="9" y="43"/>
                  <a:pt x="8" y="43"/>
                  <a:pt x="8" y="43"/>
                </a:cubicBezTo>
                <a:cubicBezTo>
                  <a:pt x="8" y="43"/>
                  <a:pt x="8" y="43"/>
                  <a:pt x="8" y="43"/>
                </a:cubicBezTo>
                <a:cubicBezTo>
                  <a:pt x="8" y="42"/>
                  <a:pt x="7" y="41"/>
                  <a:pt x="7" y="41"/>
                </a:cubicBezTo>
                <a:cubicBezTo>
                  <a:pt x="7" y="41"/>
                  <a:pt x="7" y="40"/>
                  <a:pt x="7" y="40"/>
                </a:cubicBezTo>
                <a:cubicBezTo>
                  <a:pt x="6" y="39"/>
                  <a:pt x="6" y="39"/>
                  <a:pt x="6" y="39"/>
                </a:cubicBezTo>
                <a:cubicBezTo>
                  <a:pt x="6" y="39"/>
                  <a:pt x="6" y="39"/>
                  <a:pt x="6" y="39"/>
                </a:cubicBezTo>
                <a:cubicBezTo>
                  <a:pt x="6" y="39"/>
                  <a:pt x="6" y="39"/>
                  <a:pt x="6" y="38"/>
                </a:cubicBezTo>
                <a:cubicBezTo>
                  <a:pt x="5" y="38"/>
                  <a:pt x="5" y="38"/>
                  <a:pt x="5" y="37"/>
                </a:cubicBezTo>
                <a:cubicBezTo>
                  <a:pt x="5" y="37"/>
                  <a:pt x="5" y="37"/>
                  <a:pt x="5" y="37"/>
                </a:cubicBezTo>
                <a:cubicBezTo>
                  <a:pt x="5" y="37"/>
                  <a:pt x="5" y="37"/>
                  <a:pt x="5" y="37"/>
                </a:cubicBezTo>
                <a:cubicBezTo>
                  <a:pt x="5" y="36"/>
                  <a:pt x="5" y="36"/>
                  <a:pt x="5" y="36"/>
                </a:cubicBezTo>
                <a:cubicBezTo>
                  <a:pt x="5" y="36"/>
                  <a:pt x="5" y="36"/>
                  <a:pt x="5" y="36"/>
                </a:cubicBezTo>
                <a:cubicBezTo>
                  <a:pt x="5" y="35"/>
                  <a:pt x="5" y="35"/>
                  <a:pt x="5" y="35"/>
                </a:cubicBezTo>
                <a:cubicBezTo>
                  <a:pt x="5" y="35"/>
                  <a:pt x="5" y="35"/>
                  <a:pt x="6" y="34"/>
                </a:cubicBezTo>
                <a:cubicBezTo>
                  <a:pt x="6" y="34"/>
                  <a:pt x="6" y="34"/>
                  <a:pt x="6" y="34"/>
                </a:cubicBezTo>
                <a:cubicBezTo>
                  <a:pt x="6" y="34"/>
                  <a:pt x="6" y="34"/>
                  <a:pt x="6" y="34"/>
                </a:cubicBezTo>
                <a:cubicBezTo>
                  <a:pt x="5" y="34"/>
                  <a:pt x="5" y="33"/>
                  <a:pt x="5" y="33"/>
                </a:cubicBezTo>
                <a:cubicBezTo>
                  <a:pt x="5" y="33"/>
                  <a:pt x="5" y="33"/>
                  <a:pt x="5" y="33"/>
                </a:cubicBezTo>
                <a:cubicBezTo>
                  <a:pt x="5" y="33"/>
                  <a:pt x="5" y="33"/>
                  <a:pt x="4" y="33"/>
                </a:cubicBezTo>
                <a:cubicBezTo>
                  <a:pt x="4" y="33"/>
                  <a:pt x="4" y="33"/>
                  <a:pt x="3" y="33"/>
                </a:cubicBezTo>
                <a:cubicBezTo>
                  <a:pt x="3" y="33"/>
                  <a:pt x="3" y="33"/>
                  <a:pt x="3" y="33"/>
                </a:cubicBezTo>
                <a:cubicBezTo>
                  <a:pt x="3" y="33"/>
                  <a:pt x="3" y="33"/>
                  <a:pt x="3" y="33"/>
                </a:cubicBezTo>
                <a:cubicBezTo>
                  <a:pt x="2" y="33"/>
                  <a:pt x="1" y="32"/>
                  <a:pt x="1" y="32"/>
                </a:cubicBezTo>
                <a:cubicBezTo>
                  <a:pt x="1" y="32"/>
                  <a:pt x="1" y="32"/>
                  <a:pt x="1" y="32"/>
                </a:cubicBezTo>
                <a:cubicBezTo>
                  <a:pt x="1" y="31"/>
                  <a:pt x="1" y="31"/>
                  <a:pt x="1" y="31"/>
                </a:cubicBezTo>
                <a:cubicBezTo>
                  <a:pt x="0" y="30"/>
                  <a:pt x="0" y="30"/>
                  <a:pt x="0" y="30"/>
                </a:cubicBezTo>
                <a:cubicBezTo>
                  <a:pt x="1" y="29"/>
                  <a:pt x="1" y="29"/>
                  <a:pt x="1" y="29"/>
                </a:cubicBezTo>
                <a:cubicBezTo>
                  <a:pt x="1" y="29"/>
                  <a:pt x="1" y="29"/>
                  <a:pt x="1" y="29"/>
                </a:cubicBezTo>
                <a:cubicBezTo>
                  <a:pt x="2" y="29"/>
                  <a:pt x="2" y="29"/>
                  <a:pt x="2" y="29"/>
                </a:cubicBezTo>
                <a:cubicBezTo>
                  <a:pt x="3" y="29"/>
                  <a:pt x="3" y="29"/>
                  <a:pt x="4" y="29"/>
                </a:cubicBezTo>
                <a:cubicBezTo>
                  <a:pt x="4" y="29"/>
                  <a:pt x="4" y="29"/>
                  <a:pt x="4" y="29"/>
                </a:cubicBezTo>
                <a:cubicBezTo>
                  <a:pt x="6" y="29"/>
                  <a:pt x="6" y="29"/>
                  <a:pt x="6" y="29"/>
                </a:cubicBezTo>
                <a:cubicBezTo>
                  <a:pt x="7" y="29"/>
                  <a:pt x="8" y="29"/>
                  <a:pt x="8" y="29"/>
                </a:cubicBezTo>
                <a:cubicBezTo>
                  <a:pt x="8" y="29"/>
                  <a:pt x="8" y="29"/>
                  <a:pt x="8" y="29"/>
                </a:cubicBezTo>
                <a:cubicBezTo>
                  <a:pt x="8" y="29"/>
                  <a:pt x="8" y="29"/>
                  <a:pt x="8" y="29"/>
                </a:cubicBezTo>
                <a:cubicBezTo>
                  <a:pt x="8" y="29"/>
                  <a:pt x="8" y="29"/>
                  <a:pt x="9" y="28"/>
                </a:cubicBezTo>
                <a:cubicBezTo>
                  <a:pt x="9" y="28"/>
                  <a:pt x="9" y="28"/>
                  <a:pt x="9" y="28"/>
                </a:cubicBezTo>
                <a:cubicBezTo>
                  <a:pt x="8" y="28"/>
                  <a:pt x="8" y="28"/>
                  <a:pt x="8" y="28"/>
                </a:cubicBezTo>
                <a:cubicBezTo>
                  <a:pt x="8" y="28"/>
                  <a:pt x="8" y="28"/>
                  <a:pt x="8" y="28"/>
                </a:cubicBezTo>
                <a:cubicBezTo>
                  <a:pt x="8" y="27"/>
                  <a:pt x="9" y="27"/>
                  <a:pt x="9" y="27"/>
                </a:cubicBezTo>
                <a:cubicBezTo>
                  <a:pt x="10" y="28"/>
                  <a:pt x="10" y="28"/>
                  <a:pt x="10" y="28"/>
                </a:cubicBezTo>
                <a:cubicBezTo>
                  <a:pt x="10" y="28"/>
                  <a:pt x="11" y="28"/>
                  <a:pt x="11" y="28"/>
                </a:cubicBezTo>
                <a:cubicBezTo>
                  <a:pt x="11" y="28"/>
                  <a:pt x="12" y="29"/>
                  <a:pt x="12" y="29"/>
                </a:cubicBezTo>
                <a:cubicBezTo>
                  <a:pt x="12" y="29"/>
                  <a:pt x="12" y="29"/>
                  <a:pt x="12" y="29"/>
                </a:cubicBezTo>
                <a:cubicBezTo>
                  <a:pt x="13" y="29"/>
                  <a:pt x="13" y="29"/>
                  <a:pt x="13" y="29"/>
                </a:cubicBezTo>
                <a:cubicBezTo>
                  <a:pt x="13" y="29"/>
                  <a:pt x="13" y="29"/>
                  <a:pt x="13" y="29"/>
                </a:cubicBezTo>
                <a:cubicBezTo>
                  <a:pt x="13" y="29"/>
                  <a:pt x="13" y="29"/>
                  <a:pt x="13" y="29"/>
                </a:cubicBezTo>
                <a:cubicBezTo>
                  <a:pt x="14" y="29"/>
                  <a:pt x="14" y="30"/>
                  <a:pt x="14" y="30"/>
                </a:cubicBezTo>
                <a:cubicBezTo>
                  <a:pt x="14" y="30"/>
                  <a:pt x="14" y="30"/>
                  <a:pt x="14" y="30"/>
                </a:cubicBezTo>
                <a:cubicBezTo>
                  <a:pt x="14" y="30"/>
                  <a:pt x="13" y="30"/>
                  <a:pt x="13" y="30"/>
                </a:cubicBezTo>
                <a:cubicBezTo>
                  <a:pt x="13" y="31"/>
                  <a:pt x="13" y="31"/>
                  <a:pt x="13" y="31"/>
                </a:cubicBezTo>
                <a:cubicBezTo>
                  <a:pt x="13" y="31"/>
                  <a:pt x="13" y="31"/>
                  <a:pt x="13" y="31"/>
                </a:cubicBezTo>
                <a:cubicBezTo>
                  <a:pt x="14" y="31"/>
                  <a:pt x="14" y="31"/>
                  <a:pt x="14" y="31"/>
                </a:cubicBezTo>
                <a:cubicBezTo>
                  <a:pt x="14" y="32"/>
                  <a:pt x="14" y="32"/>
                  <a:pt x="14" y="32"/>
                </a:cubicBezTo>
                <a:cubicBezTo>
                  <a:pt x="14" y="32"/>
                  <a:pt x="14" y="32"/>
                  <a:pt x="14" y="32"/>
                </a:cubicBezTo>
                <a:cubicBezTo>
                  <a:pt x="14" y="32"/>
                  <a:pt x="14" y="32"/>
                  <a:pt x="14" y="32"/>
                </a:cubicBezTo>
                <a:cubicBezTo>
                  <a:pt x="14" y="32"/>
                  <a:pt x="14" y="32"/>
                  <a:pt x="14" y="32"/>
                </a:cubicBezTo>
                <a:cubicBezTo>
                  <a:pt x="14" y="32"/>
                  <a:pt x="14" y="32"/>
                  <a:pt x="14" y="32"/>
                </a:cubicBezTo>
                <a:cubicBezTo>
                  <a:pt x="14" y="32"/>
                  <a:pt x="15" y="32"/>
                  <a:pt x="15" y="32"/>
                </a:cubicBezTo>
                <a:cubicBezTo>
                  <a:pt x="15" y="32"/>
                  <a:pt x="15" y="32"/>
                  <a:pt x="15" y="32"/>
                </a:cubicBezTo>
                <a:cubicBezTo>
                  <a:pt x="15" y="32"/>
                  <a:pt x="15" y="32"/>
                  <a:pt x="15" y="32"/>
                </a:cubicBezTo>
                <a:cubicBezTo>
                  <a:pt x="15" y="32"/>
                  <a:pt x="15" y="31"/>
                  <a:pt x="15" y="31"/>
                </a:cubicBezTo>
                <a:cubicBezTo>
                  <a:pt x="15" y="31"/>
                  <a:pt x="15" y="31"/>
                  <a:pt x="15" y="31"/>
                </a:cubicBezTo>
                <a:cubicBezTo>
                  <a:pt x="15" y="31"/>
                  <a:pt x="14" y="31"/>
                  <a:pt x="15" y="30"/>
                </a:cubicBezTo>
                <a:cubicBezTo>
                  <a:pt x="15" y="30"/>
                  <a:pt x="15" y="30"/>
                  <a:pt x="15" y="30"/>
                </a:cubicBezTo>
                <a:cubicBezTo>
                  <a:pt x="15" y="30"/>
                  <a:pt x="15" y="30"/>
                  <a:pt x="15" y="30"/>
                </a:cubicBezTo>
                <a:cubicBezTo>
                  <a:pt x="14" y="30"/>
                  <a:pt x="14" y="30"/>
                  <a:pt x="14" y="30"/>
                </a:cubicBezTo>
                <a:cubicBezTo>
                  <a:pt x="15" y="29"/>
                  <a:pt x="15" y="29"/>
                  <a:pt x="15" y="29"/>
                </a:cubicBezTo>
                <a:cubicBezTo>
                  <a:pt x="15" y="29"/>
                  <a:pt x="15" y="29"/>
                  <a:pt x="15" y="29"/>
                </a:cubicBezTo>
                <a:cubicBezTo>
                  <a:pt x="15" y="29"/>
                  <a:pt x="15" y="29"/>
                  <a:pt x="15" y="30"/>
                </a:cubicBezTo>
                <a:cubicBezTo>
                  <a:pt x="15" y="29"/>
                  <a:pt x="15" y="29"/>
                  <a:pt x="15" y="29"/>
                </a:cubicBezTo>
                <a:cubicBezTo>
                  <a:pt x="15" y="29"/>
                  <a:pt x="15" y="29"/>
                  <a:pt x="15" y="29"/>
                </a:cubicBezTo>
                <a:cubicBezTo>
                  <a:pt x="14" y="29"/>
                  <a:pt x="14" y="29"/>
                  <a:pt x="14" y="29"/>
                </a:cubicBezTo>
                <a:cubicBezTo>
                  <a:pt x="14" y="29"/>
                  <a:pt x="14" y="29"/>
                  <a:pt x="14" y="29"/>
                </a:cubicBezTo>
                <a:cubicBezTo>
                  <a:pt x="14" y="29"/>
                  <a:pt x="14" y="29"/>
                  <a:pt x="14" y="29"/>
                </a:cubicBezTo>
                <a:cubicBezTo>
                  <a:pt x="14" y="29"/>
                  <a:pt x="14" y="29"/>
                  <a:pt x="14" y="28"/>
                </a:cubicBezTo>
                <a:cubicBezTo>
                  <a:pt x="13" y="28"/>
                  <a:pt x="13" y="28"/>
                  <a:pt x="13" y="28"/>
                </a:cubicBezTo>
                <a:cubicBezTo>
                  <a:pt x="13" y="28"/>
                  <a:pt x="13" y="27"/>
                  <a:pt x="13" y="27"/>
                </a:cubicBezTo>
                <a:cubicBezTo>
                  <a:pt x="13" y="27"/>
                  <a:pt x="13" y="27"/>
                  <a:pt x="13" y="27"/>
                </a:cubicBezTo>
                <a:cubicBezTo>
                  <a:pt x="14" y="27"/>
                  <a:pt x="14" y="27"/>
                  <a:pt x="14" y="27"/>
                </a:cubicBezTo>
                <a:cubicBezTo>
                  <a:pt x="14" y="27"/>
                  <a:pt x="14" y="27"/>
                  <a:pt x="14" y="27"/>
                </a:cubicBezTo>
                <a:cubicBezTo>
                  <a:pt x="14" y="26"/>
                  <a:pt x="14" y="26"/>
                  <a:pt x="14" y="26"/>
                </a:cubicBezTo>
                <a:cubicBezTo>
                  <a:pt x="14" y="26"/>
                  <a:pt x="14" y="26"/>
                  <a:pt x="15" y="26"/>
                </a:cubicBezTo>
                <a:cubicBezTo>
                  <a:pt x="14" y="26"/>
                  <a:pt x="14" y="26"/>
                  <a:pt x="14" y="26"/>
                </a:cubicBezTo>
                <a:cubicBezTo>
                  <a:pt x="14" y="26"/>
                  <a:pt x="14" y="26"/>
                  <a:pt x="14" y="26"/>
                </a:cubicBezTo>
                <a:cubicBezTo>
                  <a:pt x="14" y="26"/>
                  <a:pt x="14" y="26"/>
                  <a:pt x="14" y="26"/>
                </a:cubicBezTo>
                <a:cubicBezTo>
                  <a:pt x="13" y="26"/>
                  <a:pt x="13" y="26"/>
                  <a:pt x="13" y="26"/>
                </a:cubicBezTo>
                <a:cubicBezTo>
                  <a:pt x="12" y="26"/>
                  <a:pt x="12" y="26"/>
                  <a:pt x="12" y="26"/>
                </a:cubicBezTo>
                <a:cubicBezTo>
                  <a:pt x="12" y="26"/>
                  <a:pt x="12" y="26"/>
                  <a:pt x="12" y="26"/>
                </a:cubicBezTo>
                <a:cubicBezTo>
                  <a:pt x="12" y="26"/>
                  <a:pt x="12" y="26"/>
                  <a:pt x="12" y="26"/>
                </a:cubicBezTo>
                <a:cubicBezTo>
                  <a:pt x="12" y="26"/>
                  <a:pt x="12" y="25"/>
                  <a:pt x="12" y="25"/>
                </a:cubicBezTo>
                <a:cubicBezTo>
                  <a:pt x="12" y="25"/>
                  <a:pt x="12" y="25"/>
                  <a:pt x="12" y="25"/>
                </a:cubicBezTo>
                <a:cubicBezTo>
                  <a:pt x="12" y="25"/>
                  <a:pt x="12" y="24"/>
                  <a:pt x="12" y="24"/>
                </a:cubicBezTo>
                <a:cubicBezTo>
                  <a:pt x="12" y="24"/>
                  <a:pt x="12" y="24"/>
                  <a:pt x="12" y="24"/>
                </a:cubicBezTo>
                <a:cubicBezTo>
                  <a:pt x="12" y="23"/>
                  <a:pt x="12" y="23"/>
                  <a:pt x="12" y="23"/>
                </a:cubicBezTo>
                <a:cubicBezTo>
                  <a:pt x="12" y="23"/>
                  <a:pt x="13" y="23"/>
                  <a:pt x="13" y="23"/>
                </a:cubicBezTo>
                <a:cubicBezTo>
                  <a:pt x="13" y="23"/>
                  <a:pt x="13" y="23"/>
                  <a:pt x="13" y="23"/>
                </a:cubicBezTo>
                <a:cubicBezTo>
                  <a:pt x="14" y="23"/>
                  <a:pt x="14" y="23"/>
                  <a:pt x="14" y="23"/>
                </a:cubicBezTo>
                <a:cubicBezTo>
                  <a:pt x="14" y="23"/>
                  <a:pt x="14" y="23"/>
                  <a:pt x="14" y="23"/>
                </a:cubicBezTo>
                <a:cubicBezTo>
                  <a:pt x="15" y="23"/>
                  <a:pt x="15" y="23"/>
                  <a:pt x="15" y="23"/>
                </a:cubicBezTo>
                <a:cubicBezTo>
                  <a:pt x="15" y="23"/>
                  <a:pt x="15" y="23"/>
                  <a:pt x="15" y="23"/>
                </a:cubicBezTo>
                <a:cubicBezTo>
                  <a:pt x="16" y="23"/>
                  <a:pt x="16" y="23"/>
                  <a:pt x="16" y="23"/>
                </a:cubicBezTo>
                <a:cubicBezTo>
                  <a:pt x="16" y="23"/>
                  <a:pt x="16" y="23"/>
                  <a:pt x="16" y="22"/>
                </a:cubicBezTo>
                <a:cubicBezTo>
                  <a:pt x="16" y="22"/>
                  <a:pt x="16" y="22"/>
                  <a:pt x="16" y="22"/>
                </a:cubicBezTo>
                <a:cubicBezTo>
                  <a:pt x="16" y="22"/>
                  <a:pt x="16" y="22"/>
                  <a:pt x="16" y="22"/>
                </a:cubicBezTo>
                <a:cubicBezTo>
                  <a:pt x="16" y="22"/>
                  <a:pt x="16" y="22"/>
                  <a:pt x="16" y="22"/>
                </a:cubicBezTo>
                <a:cubicBezTo>
                  <a:pt x="16" y="21"/>
                  <a:pt x="16" y="21"/>
                  <a:pt x="16" y="21"/>
                </a:cubicBezTo>
                <a:cubicBezTo>
                  <a:pt x="16" y="21"/>
                  <a:pt x="16" y="21"/>
                  <a:pt x="16" y="21"/>
                </a:cubicBezTo>
                <a:cubicBezTo>
                  <a:pt x="16" y="20"/>
                  <a:pt x="16" y="19"/>
                  <a:pt x="16" y="19"/>
                </a:cubicBezTo>
                <a:cubicBezTo>
                  <a:pt x="16" y="18"/>
                  <a:pt x="16" y="18"/>
                  <a:pt x="16" y="18"/>
                </a:cubicBezTo>
                <a:cubicBezTo>
                  <a:pt x="16" y="18"/>
                  <a:pt x="16" y="18"/>
                  <a:pt x="16" y="17"/>
                </a:cubicBezTo>
                <a:cubicBezTo>
                  <a:pt x="16" y="17"/>
                  <a:pt x="16" y="17"/>
                  <a:pt x="16" y="17"/>
                </a:cubicBezTo>
                <a:cubicBezTo>
                  <a:pt x="16" y="16"/>
                  <a:pt x="16" y="16"/>
                  <a:pt x="16" y="16"/>
                </a:cubicBezTo>
                <a:cubicBezTo>
                  <a:pt x="15" y="15"/>
                  <a:pt x="15" y="13"/>
                  <a:pt x="17" y="12"/>
                </a:cubicBezTo>
                <a:cubicBezTo>
                  <a:pt x="17" y="12"/>
                  <a:pt x="17" y="12"/>
                  <a:pt x="17" y="12"/>
                </a:cubicBezTo>
                <a:cubicBezTo>
                  <a:pt x="17" y="12"/>
                  <a:pt x="17" y="12"/>
                  <a:pt x="17" y="12"/>
                </a:cubicBezTo>
                <a:cubicBezTo>
                  <a:pt x="18" y="11"/>
                  <a:pt x="18" y="11"/>
                  <a:pt x="18" y="11"/>
                </a:cubicBezTo>
                <a:cubicBezTo>
                  <a:pt x="18" y="11"/>
                  <a:pt x="18" y="11"/>
                  <a:pt x="18" y="11"/>
                </a:cubicBezTo>
                <a:cubicBezTo>
                  <a:pt x="18" y="10"/>
                  <a:pt x="19" y="10"/>
                  <a:pt x="19" y="10"/>
                </a:cubicBezTo>
                <a:cubicBezTo>
                  <a:pt x="19" y="10"/>
                  <a:pt x="19" y="10"/>
                  <a:pt x="20" y="10"/>
                </a:cubicBezTo>
                <a:cubicBezTo>
                  <a:pt x="20" y="10"/>
                  <a:pt x="20" y="10"/>
                  <a:pt x="20" y="10"/>
                </a:cubicBezTo>
                <a:cubicBezTo>
                  <a:pt x="20" y="10"/>
                  <a:pt x="20" y="10"/>
                  <a:pt x="20" y="9"/>
                </a:cubicBezTo>
                <a:cubicBezTo>
                  <a:pt x="21" y="9"/>
                  <a:pt x="21" y="9"/>
                  <a:pt x="21" y="9"/>
                </a:cubicBezTo>
                <a:cubicBezTo>
                  <a:pt x="21" y="9"/>
                  <a:pt x="21" y="9"/>
                  <a:pt x="21" y="9"/>
                </a:cubicBezTo>
                <a:cubicBezTo>
                  <a:pt x="22" y="9"/>
                  <a:pt x="22" y="9"/>
                  <a:pt x="22" y="9"/>
                </a:cubicBezTo>
                <a:cubicBezTo>
                  <a:pt x="22" y="9"/>
                  <a:pt x="22" y="9"/>
                  <a:pt x="22" y="9"/>
                </a:cubicBezTo>
                <a:cubicBezTo>
                  <a:pt x="22" y="8"/>
                  <a:pt x="22" y="8"/>
                  <a:pt x="22" y="8"/>
                </a:cubicBezTo>
                <a:cubicBezTo>
                  <a:pt x="22" y="8"/>
                  <a:pt x="22" y="8"/>
                  <a:pt x="22" y="8"/>
                </a:cubicBezTo>
                <a:cubicBezTo>
                  <a:pt x="22" y="8"/>
                  <a:pt x="22" y="7"/>
                  <a:pt x="22" y="7"/>
                </a:cubicBezTo>
                <a:cubicBezTo>
                  <a:pt x="22" y="7"/>
                  <a:pt x="22" y="7"/>
                  <a:pt x="22" y="7"/>
                </a:cubicBezTo>
                <a:cubicBezTo>
                  <a:pt x="22" y="7"/>
                  <a:pt x="22" y="7"/>
                  <a:pt x="22" y="7"/>
                </a:cubicBezTo>
                <a:cubicBezTo>
                  <a:pt x="22" y="7"/>
                  <a:pt x="22" y="7"/>
                  <a:pt x="24" y="6"/>
                </a:cubicBezTo>
                <a:cubicBezTo>
                  <a:pt x="24" y="5"/>
                  <a:pt x="25" y="5"/>
                  <a:pt x="25" y="5"/>
                </a:cubicBezTo>
                <a:cubicBezTo>
                  <a:pt x="25" y="5"/>
                  <a:pt x="25" y="5"/>
                  <a:pt x="25" y="5"/>
                </a:cubicBezTo>
                <a:cubicBezTo>
                  <a:pt x="25" y="6"/>
                  <a:pt x="25" y="6"/>
                  <a:pt x="25" y="6"/>
                </a:cubicBezTo>
                <a:cubicBezTo>
                  <a:pt x="25" y="6"/>
                  <a:pt x="25" y="7"/>
                  <a:pt x="26" y="7"/>
                </a:cubicBezTo>
                <a:cubicBezTo>
                  <a:pt x="26" y="7"/>
                  <a:pt x="26" y="7"/>
                  <a:pt x="26" y="7"/>
                </a:cubicBezTo>
                <a:cubicBezTo>
                  <a:pt x="26" y="7"/>
                  <a:pt x="26" y="7"/>
                  <a:pt x="26" y="7"/>
                </a:cubicBezTo>
                <a:cubicBezTo>
                  <a:pt x="26" y="7"/>
                  <a:pt x="26" y="7"/>
                  <a:pt x="26" y="7"/>
                </a:cubicBezTo>
                <a:cubicBezTo>
                  <a:pt x="26" y="7"/>
                  <a:pt x="26" y="7"/>
                  <a:pt x="26" y="7"/>
                </a:cubicBezTo>
                <a:cubicBezTo>
                  <a:pt x="26" y="7"/>
                  <a:pt x="26" y="7"/>
                  <a:pt x="26" y="7"/>
                </a:cubicBezTo>
                <a:cubicBezTo>
                  <a:pt x="26" y="6"/>
                  <a:pt x="26" y="6"/>
                  <a:pt x="26" y="6"/>
                </a:cubicBezTo>
                <a:cubicBezTo>
                  <a:pt x="26" y="6"/>
                  <a:pt x="26" y="6"/>
                  <a:pt x="26" y="6"/>
                </a:cubicBezTo>
                <a:cubicBezTo>
                  <a:pt x="26" y="6"/>
                  <a:pt x="26" y="6"/>
                  <a:pt x="26" y="6"/>
                </a:cubicBezTo>
                <a:cubicBezTo>
                  <a:pt x="26" y="5"/>
                  <a:pt x="26" y="5"/>
                  <a:pt x="27" y="5"/>
                </a:cubicBezTo>
                <a:cubicBezTo>
                  <a:pt x="27" y="5"/>
                  <a:pt x="27" y="5"/>
                  <a:pt x="27" y="5"/>
                </a:cubicBezTo>
                <a:cubicBezTo>
                  <a:pt x="27" y="5"/>
                  <a:pt x="27" y="6"/>
                  <a:pt x="27" y="6"/>
                </a:cubicBezTo>
                <a:cubicBezTo>
                  <a:pt x="27" y="6"/>
                  <a:pt x="28" y="6"/>
                  <a:pt x="28" y="6"/>
                </a:cubicBezTo>
                <a:cubicBezTo>
                  <a:pt x="28" y="6"/>
                  <a:pt x="28" y="6"/>
                  <a:pt x="28" y="6"/>
                </a:cubicBezTo>
                <a:cubicBezTo>
                  <a:pt x="29" y="5"/>
                  <a:pt x="29" y="5"/>
                  <a:pt x="29" y="5"/>
                </a:cubicBezTo>
                <a:cubicBezTo>
                  <a:pt x="29" y="5"/>
                  <a:pt x="29" y="5"/>
                  <a:pt x="29" y="5"/>
                </a:cubicBezTo>
                <a:cubicBezTo>
                  <a:pt x="30" y="4"/>
                  <a:pt x="31" y="4"/>
                  <a:pt x="31" y="4"/>
                </a:cubicBezTo>
                <a:cubicBezTo>
                  <a:pt x="31" y="4"/>
                  <a:pt x="31" y="4"/>
                  <a:pt x="31" y="4"/>
                </a:cubicBezTo>
                <a:cubicBezTo>
                  <a:pt x="31" y="4"/>
                  <a:pt x="32" y="4"/>
                  <a:pt x="32" y="4"/>
                </a:cubicBezTo>
                <a:cubicBezTo>
                  <a:pt x="32" y="4"/>
                  <a:pt x="32" y="4"/>
                  <a:pt x="32" y="4"/>
                </a:cubicBezTo>
                <a:cubicBezTo>
                  <a:pt x="32" y="4"/>
                  <a:pt x="33" y="3"/>
                  <a:pt x="33" y="3"/>
                </a:cubicBezTo>
                <a:cubicBezTo>
                  <a:pt x="34" y="3"/>
                  <a:pt x="35" y="2"/>
                  <a:pt x="35" y="2"/>
                </a:cubicBezTo>
                <a:cubicBezTo>
                  <a:pt x="35" y="2"/>
                  <a:pt x="35" y="2"/>
                  <a:pt x="35" y="2"/>
                </a:cubicBezTo>
                <a:cubicBezTo>
                  <a:pt x="36" y="2"/>
                  <a:pt x="36" y="2"/>
                  <a:pt x="36" y="2"/>
                </a:cubicBezTo>
                <a:cubicBezTo>
                  <a:pt x="36" y="2"/>
                  <a:pt x="36" y="2"/>
                  <a:pt x="36" y="2"/>
                </a:cubicBezTo>
                <a:cubicBezTo>
                  <a:pt x="37" y="2"/>
                  <a:pt x="37" y="2"/>
                  <a:pt x="37" y="2"/>
                </a:cubicBezTo>
                <a:cubicBezTo>
                  <a:pt x="37" y="2"/>
                  <a:pt x="37" y="2"/>
                  <a:pt x="37" y="2"/>
                </a:cubicBezTo>
                <a:cubicBezTo>
                  <a:pt x="37" y="2"/>
                  <a:pt x="37" y="2"/>
                  <a:pt x="37" y="2"/>
                </a:cubicBezTo>
                <a:cubicBezTo>
                  <a:pt x="38" y="2"/>
                  <a:pt x="38" y="2"/>
                  <a:pt x="38" y="2"/>
                </a:cubicBezTo>
                <a:cubicBezTo>
                  <a:pt x="38" y="2"/>
                  <a:pt x="38" y="2"/>
                  <a:pt x="38" y="2"/>
                </a:cubicBezTo>
                <a:cubicBezTo>
                  <a:pt x="39" y="2"/>
                  <a:pt x="39" y="2"/>
                  <a:pt x="39" y="2"/>
                </a:cubicBezTo>
                <a:cubicBezTo>
                  <a:pt x="39" y="2"/>
                  <a:pt x="39" y="2"/>
                  <a:pt x="39" y="2"/>
                </a:cubicBezTo>
                <a:cubicBezTo>
                  <a:pt x="40" y="2"/>
                  <a:pt x="40" y="2"/>
                  <a:pt x="40" y="2"/>
                </a:cubicBezTo>
                <a:cubicBezTo>
                  <a:pt x="40" y="2"/>
                  <a:pt x="40" y="2"/>
                  <a:pt x="40" y="2"/>
                </a:cubicBezTo>
                <a:cubicBezTo>
                  <a:pt x="40" y="2"/>
                  <a:pt x="40" y="2"/>
                  <a:pt x="40" y="2"/>
                </a:cubicBezTo>
                <a:cubicBezTo>
                  <a:pt x="40" y="1"/>
                  <a:pt x="40" y="1"/>
                  <a:pt x="40" y="1"/>
                </a:cubicBezTo>
                <a:cubicBezTo>
                  <a:pt x="40" y="0"/>
                  <a:pt x="40" y="0"/>
                  <a:pt x="40" y="0"/>
                </a:cubicBezTo>
                <a:cubicBezTo>
                  <a:pt x="40" y="0"/>
                  <a:pt x="40" y="0"/>
                  <a:pt x="40" y="0"/>
                </a:cubicBezTo>
                <a:cubicBezTo>
                  <a:pt x="42" y="0"/>
                  <a:pt x="42" y="0"/>
                  <a:pt x="42" y="1"/>
                </a:cubicBezTo>
                <a:cubicBezTo>
                  <a:pt x="42" y="1"/>
                  <a:pt x="42" y="1"/>
                  <a:pt x="42" y="1"/>
                </a:cubicBezTo>
                <a:cubicBezTo>
                  <a:pt x="42" y="1"/>
                  <a:pt x="42" y="1"/>
                  <a:pt x="42" y="1"/>
                </a:cubicBezTo>
                <a:cubicBezTo>
                  <a:pt x="42" y="1"/>
                  <a:pt x="42" y="1"/>
                  <a:pt x="42" y="1"/>
                </a:cubicBezTo>
                <a:cubicBezTo>
                  <a:pt x="42" y="1"/>
                  <a:pt x="42" y="1"/>
                  <a:pt x="42" y="1"/>
                </a:cubicBezTo>
                <a:cubicBezTo>
                  <a:pt x="44" y="1"/>
                  <a:pt x="44" y="1"/>
                  <a:pt x="44" y="1"/>
                </a:cubicBezTo>
                <a:cubicBezTo>
                  <a:pt x="44" y="1"/>
                  <a:pt x="44" y="1"/>
                  <a:pt x="44" y="1"/>
                </a:cubicBezTo>
                <a:cubicBezTo>
                  <a:pt x="44" y="1"/>
                  <a:pt x="44" y="1"/>
                  <a:pt x="44" y="1"/>
                </a:cubicBezTo>
                <a:cubicBezTo>
                  <a:pt x="45" y="1"/>
                  <a:pt x="45" y="1"/>
                  <a:pt x="46" y="2"/>
                </a:cubicBezTo>
                <a:cubicBezTo>
                  <a:pt x="46" y="2"/>
                  <a:pt x="46" y="2"/>
                  <a:pt x="46" y="2"/>
                </a:cubicBezTo>
                <a:cubicBezTo>
                  <a:pt x="47" y="2"/>
                  <a:pt x="47" y="2"/>
                  <a:pt x="47" y="2"/>
                </a:cubicBezTo>
                <a:cubicBezTo>
                  <a:pt x="47" y="3"/>
                  <a:pt x="47" y="3"/>
                  <a:pt x="47" y="3"/>
                </a:cubicBezTo>
                <a:cubicBezTo>
                  <a:pt x="47" y="3"/>
                  <a:pt x="46" y="4"/>
                  <a:pt x="46" y="4"/>
                </a:cubicBezTo>
                <a:cubicBezTo>
                  <a:pt x="46" y="4"/>
                  <a:pt x="46" y="4"/>
                  <a:pt x="46" y="4"/>
                </a:cubicBezTo>
                <a:cubicBezTo>
                  <a:pt x="46" y="4"/>
                  <a:pt x="46" y="4"/>
                  <a:pt x="46" y="4"/>
                </a:cubicBezTo>
                <a:cubicBezTo>
                  <a:pt x="47" y="4"/>
                  <a:pt x="48" y="4"/>
                  <a:pt x="48" y="4"/>
                </a:cubicBezTo>
                <a:cubicBezTo>
                  <a:pt x="49" y="4"/>
                  <a:pt x="49" y="4"/>
                  <a:pt x="49" y="4"/>
                </a:cubicBezTo>
                <a:cubicBezTo>
                  <a:pt x="49" y="5"/>
                  <a:pt x="49" y="5"/>
                  <a:pt x="49" y="5"/>
                </a:cubicBezTo>
                <a:cubicBezTo>
                  <a:pt x="49" y="5"/>
                  <a:pt x="50" y="5"/>
                  <a:pt x="50" y="5"/>
                </a:cubicBezTo>
                <a:cubicBezTo>
                  <a:pt x="50" y="5"/>
                  <a:pt x="50" y="5"/>
                  <a:pt x="50" y="5"/>
                </a:cubicBezTo>
                <a:cubicBezTo>
                  <a:pt x="51" y="5"/>
                  <a:pt x="51" y="5"/>
                  <a:pt x="51" y="5"/>
                </a:cubicBezTo>
                <a:cubicBezTo>
                  <a:pt x="51" y="5"/>
                  <a:pt x="51" y="5"/>
                  <a:pt x="51" y="5"/>
                </a:cubicBezTo>
                <a:cubicBezTo>
                  <a:pt x="51" y="5"/>
                  <a:pt x="51" y="5"/>
                  <a:pt x="51" y="5"/>
                </a:cubicBezTo>
                <a:cubicBezTo>
                  <a:pt x="51" y="5"/>
                  <a:pt x="51" y="4"/>
                  <a:pt x="52" y="4"/>
                </a:cubicBezTo>
                <a:cubicBezTo>
                  <a:pt x="52" y="4"/>
                  <a:pt x="52" y="4"/>
                  <a:pt x="52" y="4"/>
                </a:cubicBezTo>
                <a:cubicBezTo>
                  <a:pt x="52" y="4"/>
                  <a:pt x="52" y="4"/>
                  <a:pt x="52" y="4"/>
                </a:cubicBezTo>
                <a:cubicBezTo>
                  <a:pt x="52" y="4"/>
                  <a:pt x="52" y="4"/>
                  <a:pt x="52" y="4"/>
                </a:cubicBezTo>
                <a:cubicBezTo>
                  <a:pt x="52" y="4"/>
                  <a:pt x="53" y="4"/>
                  <a:pt x="53" y="4"/>
                </a:cubicBezTo>
                <a:cubicBezTo>
                  <a:pt x="53" y="4"/>
                  <a:pt x="53" y="4"/>
                  <a:pt x="53" y="4"/>
                </a:cubicBezTo>
                <a:cubicBezTo>
                  <a:pt x="53" y="5"/>
                  <a:pt x="53" y="5"/>
                  <a:pt x="53" y="5"/>
                </a:cubicBezTo>
                <a:cubicBezTo>
                  <a:pt x="54" y="5"/>
                  <a:pt x="54" y="5"/>
                  <a:pt x="55" y="5"/>
                </a:cubicBezTo>
                <a:cubicBezTo>
                  <a:pt x="55" y="5"/>
                  <a:pt x="55" y="5"/>
                  <a:pt x="55" y="5"/>
                </a:cubicBezTo>
                <a:cubicBezTo>
                  <a:pt x="55" y="5"/>
                  <a:pt x="55" y="5"/>
                  <a:pt x="55" y="5"/>
                </a:cubicBezTo>
                <a:cubicBezTo>
                  <a:pt x="55" y="5"/>
                  <a:pt x="55" y="6"/>
                  <a:pt x="55" y="6"/>
                </a:cubicBezTo>
                <a:cubicBezTo>
                  <a:pt x="55" y="6"/>
                  <a:pt x="55" y="6"/>
                  <a:pt x="55" y="6"/>
                </a:cubicBezTo>
                <a:cubicBezTo>
                  <a:pt x="55" y="6"/>
                  <a:pt x="55" y="6"/>
                  <a:pt x="55" y="6"/>
                </a:cubicBezTo>
                <a:cubicBezTo>
                  <a:pt x="55" y="6"/>
                  <a:pt x="55" y="6"/>
                  <a:pt x="55" y="6"/>
                </a:cubicBezTo>
                <a:cubicBezTo>
                  <a:pt x="55" y="6"/>
                  <a:pt x="56" y="6"/>
                  <a:pt x="56" y="6"/>
                </a:cubicBezTo>
                <a:cubicBezTo>
                  <a:pt x="56" y="6"/>
                  <a:pt x="56" y="6"/>
                  <a:pt x="56" y="6"/>
                </a:cubicBezTo>
                <a:cubicBezTo>
                  <a:pt x="56" y="6"/>
                  <a:pt x="56" y="6"/>
                  <a:pt x="56" y="6"/>
                </a:cubicBezTo>
                <a:cubicBezTo>
                  <a:pt x="56" y="6"/>
                  <a:pt x="56" y="6"/>
                  <a:pt x="57" y="6"/>
                </a:cubicBezTo>
                <a:cubicBezTo>
                  <a:pt x="57" y="6"/>
                  <a:pt x="57" y="6"/>
                  <a:pt x="58" y="6"/>
                </a:cubicBezTo>
                <a:cubicBezTo>
                  <a:pt x="58" y="6"/>
                  <a:pt x="59" y="6"/>
                  <a:pt x="59" y="6"/>
                </a:cubicBezTo>
                <a:cubicBezTo>
                  <a:pt x="59" y="6"/>
                  <a:pt x="59" y="6"/>
                  <a:pt x="59" y="6"/>
                </a:cubicBezTo>
                <a:cubicBezTo>
                  <a:pt x="59" y="6"/>
                  <a:pt x="59" y="6"/>
                  <a:pt x="59" y="6"/>
                </a:cubicBezTo>
                <a:cubicBezTo>
                  <a:pt x="59" y="6"/>
                  <a:pt x="59" y="6"/>
                  <a:pt x="59" y="6"/>
                </a:cubicBezTo>
                <a:cubicBezTo>
                  <a:pt x="59" y="6"/>
                  <a:pt x="59" y="6"/>
                  <a:pt x="59" y="6"/>
                </a:cubicBezTo>
                <a:cubicBezTo>
                  <a:pt x="59" y="6"/>
                  <a:pt x="59" y="5"/>
                  <a:pt x="60" y="5"/>
                </a:cubicBezTo>
                <a:cubicBezTo>
                  <a:pt x="60" y="5"/>
                  <a:pt x="61" y="5"/>
                  <a:pt x="61" y="5"/>
                </a:cubicBezTo>
                <a:cubicBezTo>
                  <a:pt x="62" y="5"/>
                  <a:pt x="62" y="5"/>
                  <a:pt x="62" y="5"/>
                </a:cubicBezTo>
                <a:cubicBezTo>
                  <a:pt x="62" y="5"/>
                  <a:pt x="62" y="5"/>
                  <a:pt x="62" y="5"/>
                </a:cubicBezTo>
                <a:cubicBezTo>
                  <a:pt x="63" y="5"/>
                  <a:pt x="63" y="5"/>
                  <a:pt x="63" y="6"/>
                </a:cubicBezTo>
                <a:cubicBezTo>
                  <a:pt x="64" y="5"/>
                  <a:pt x="64" y="5"/>
                  <a:pt x="64" y="5"/>
                </a:cubicBezTo>
                <a:cubicBezTo>
                  <a:pt x="64" y="6"/>
                  <a:pt x="64" y="6"/>
                  <a:pt x="64" y="6"/>
                </a:cubicBezTo>
                <a:cubicBezTo>
                  <a:pt x="64" y="6"/>
                  <a:pt x="65" y="6"/>
                  <a:pt x="65" y="6"/>
                </a:cubicBezTo>
                <a:cubicBezTo>
                  <a:pt x="65" y="6"/>
                  <a:pt x="65" y="6"/>
                  <a:pt x="65" y="6"/>
                </a:cubicBezTo>
                <a:cubicBezTo>
                  <a:pt x="65" y="6"/>
                  <a:pt x="65" y="6"/>
                  <a:pt x="66" y="6"/>
                </a:cubicBezTo>
                <a:cubicBezTo>
                  <a:pt x="66" y="6"/>
                  <a:pt x="66" y="6"/>
                  <a:pt x="66" y="6"/>
                </a:cubicBezTo>
                <a:cubicBezTo>
                  <a:pt x="66" y="6"/>
                  <a:pt x="66" y="6"/>
                  <a:pt x="66" y="6"/>
                </a:cubicBezTo>
                <a:cubicBezTo>
                  <a:pt x="66" y="6"/>
                  <a:pt x="66" y="6"/>
                  <a:pt x="66" y="6"/>
                </a:cubicBezTo>
                <a:cubicBezTo>
                  <a:pt x="66" y="7"/>
                  <a:pt x="66" y="7"/>
                  <a:pt x="66" y="7"/>
                </a:cubicBezTo>
                <a:cubicBezTo>
                  <a:pt x="66" y="7"/>
                  <a:pt x="66" y="7"/>
                  <a:pt x="66" y="7"/>
                </a:cubicBezTo>
                <a:cubicBezTo>
                  <a:pt x="66" y="6"/>
                  <a:pt x="66" y="6"/>
                  <a:pt x="66" y="6"/>
                </a:cubicBezTo>
                <a:cubicBezTo>
                  <a:pt x="66" y="6"/>
                  <a:pt x="66" y="6"/>
                  <a:pt x="66" y="6"/>
                </a:cubicBezTo>
                <a:cubicBezTo>
                  <a:pt x="66" y="7"/>
                  <a:pt x="66" y="7"/>
                  <a:pt x="66" y="7"/>
                </a:cubicBezTo>
                <a:cubicBezTo>
                  <a:pt x="66" y="7"/>
                  <a:pt x="66" y="7"/>
                  <a:pt x="67" y="7"/>
                </a:cubicBezTo>
                <a:cubicBezTo>
                  <a:pt x="67" y="7"/>
                  <a:pt x="67" y="7"/>
                  <a:pt x="68" y="7"/>
                </a:cubicBezTo>
                <a:cubicBezTo>
                  <a:pt x="70" y="7"/>
                  <a:pt x="70" y="7"/>
                  <a:pt x="70" y="7"/>
                </a:cubicBezTo>
                <a:cubicBezTo>
                  <a:pt x="70" y="7"/>
                  <a:pt x="70" y="7"/>
                  <a:pt x="70" y="7"/>
                </a:cubicBezTo>
                <a:cubicBezTo>
                  <a:pt x="70" y="7"/>
                  <a:pt x="70" y="8"/>
                  <a:pt x="71" y="8"/>
                </a:cubicBezTo>
                <a:cubicBezTo>
                  <a:pt x="71" y="8"/>
                  <a:pt x="72" y="8"/>
                  <a:pt x="73" y="8"/>
                </a:cubicBezTo>
                <a:cubicBezTo>
                  <a:pt x="73" y="8"/>
                  <a:pt x="73" y="8"/>
                  <a:pt x="73" y="8"/>
                </a:cubicBezTo>
                <a:cubicBezTo>
                  <a:pt x="73" y="8"/>
                  <a:pt x="74" y="8"/>
                  <a:pt x="74" y="8"/>
                </a:cubicBezTo>
                <a:cubicBezTo>
                  <a:pt x="74" y="8"/>
                  <a:pt x="74" y="8"/>
                  <a:pt x="74" y="8"/>
                </a:cubicBezTo>
                <a:cubicBezTo>
                  <a:pt x="74" y="8"/>
                  <a:pt x="74" y="8"/>
                  <a:pt x="74" y="8"/>
                </a:cubicBezTo>
                <a:cubicBezTo>
                  <a:pt x="75" y="8"/>
                  <a:pt x="75" y="8"/>
                  <a:pt x="75" y="8"/>
                </a:cubicBezTo>
                <a:cubicBezTo>
                  <a:pt x="75" y="8"/>
                  <a:pt x="75" y="8"/>
                  <a:pt x="75" y="8"/>
                </a:cubicBezTo>
                <a:cubicBezTo>
                  <a:pt x="75" y="8"/>
                  <a:pt x="75" y="8"/>
                  <a:pt x="75" y="8"/>
                </a:cubicBezTo>
                <a:cubicBezTo>
                  <a:pt x="75" y="8"/>
                  <a:pt x="75" y="9"/>
                  <a:pt x="75" y="9"/>
                </a:cubicBezTo>
                <a:cubicBezTo>
                  <a:pt x="75" y="8"/>
                  <a:pt x="75" y="8"/>
                  <a:pt x="75" y="8"/>
                </a:cubicBezTo>
                <a:cubicBezTo>
                  <a:pt x="76" y="8"/>
                  <a:pt x="76" y="8"/>
                  <a:pt x="76" y="8"/>
                </a:cubicBezTo>
                <a:cubicBezTo>
                  <a:pt x="76" y="8"/>
                  <a:pt x="76" y="8"/>
                  <a:pt x="76" y="8"/>
                </a:cubicBezTo>
                <a:cubicBezTo>
                  <a:pt x="76" y="8"/>
                  <a:pt x="76" y="7"/>
                  <a:pt x="76" y="8"/>
                </a:cubicBezTo>
                <a:cubicBezTo>
                  <a:pt x="77" y="8"/>
                  <a:pt x="77" y="8"/>
                  <a:pt x="78" y="8"/>
                </a:cubicBezTo>
                <a:cubicBezTo>
                  <a:pt x="78" y="8"/>
                  <a:pt x="78" y="8"/>
                  <a:pt x="78" y="8"/>
                </a:cubicBezTo>
                <a:cubicBezTo>
                  <a:pt x="78" y="8"/>
                  <a:pt x="79" y="8"/>
                  <a:pt x="79" y="8"/>
                </a:cubicBezTo>
                <a:cubicBezTo>
                  <a:pt x="80" y="8"/>
                  <a:pt x="80" y="8"/>
                  <a:pt x="80" y="8"/>
                </a:cubicBezTo>
                <a:cubicBezTo>
                  <a:pt x="80" y="8"/>
                  <a:pt x="81" y="9"/>
                  <a:pt x="81" y="9"/>
                </a:cubicBezTo>
                <a:cubicBezTo>
                  <a:pt x="81" y="9"/>
                  <a:pt x="81" y="9"/>
                  <a:pt x="81" y="9"/>
                </a:cubicBezTo>
                <a:cubicBezTo>
                  <a:pt x="82" y="9"/>
                  <a:pt x="83" y="9"/>
                  <a:pt x="83" y="10"/>
                </a:cubicBezTo>
                <a:cubicBezTo>
                  <a:pt x="83" y="10"/>
                  <a:pt x="83" y="10"/>
                  <a:pt x="84" y="10"/>
                </a:cubicBezTo>
                <a:cubicBezTo>
                  <a:pt x="84" y="10"/>
                  <a:pt x="84" y="11"/>
                  <a:pt x="84" y="11"/>
                </a:cubicBezTo>
                <a:cubicBezTo>
                  <a:pt x="84" y="11"/>
                  <a:pt x="84" y="11"/>
                  <a:pt x="84" y="11"/>
                </a:cubicBezTo>
                <a:cubicBezTo>
                  <a:pt x="84" y="10"/>
                  <a:pt x="84" y="10"/>
                  <a:pt x="85" y="10"/>
                </a:cubicBezTo>
                <a:cubicBezTo>
                  <a:pt x="85" y="10"/>
                  <a:pt x="86" y="10"/>
                  <a:pt x="86" y="11"/>
                </a:cubicBezTo>
                <a:cubicBezTo>
                  <a:pt x="86" y="11"/>
                  <a:pt x="86" y="12"/>
                  <a:pt x="85" y="12"/>
                </a:cubicBezTo>
                <a:cubicBezTo>
                  <a:pt x="85" y="12"/>
                  <a:pt x="85" y="12"/>
                  <a:pt x="85" y="12"/>
                </a:cubicBezTo>
                <a:cubicBezTo>
                  <a:pt x="85" y="12"/>
                  <a:pt x="85" y="12"/>
                  <a:pt x="85" y="12"/>
                </a:cubicBezTo>
                <a:cubicBezTo>
                  <a:pt x="85" y="12"/>
                  <a:pt x="85" y="12"/>
                  <a:pt x="85" y="12"/>
                </a:cubicBezTo>
                <a:cubicBezTo>
                  <a:pt x="85" y="12"/>
                  <a:pt x="85" y="13"/>
                  <a:pt x="84" y="13"/>
                </a:cubicBezTo>
                <a:cubicBezTo>
                  <a:pt x="84" y="13"/>
                  <a:pt x="84" y="13"/>
                  <a:pt x="84" y="13"/>
                </a:cubicBezTo>
                <a:cubicBezTo>
                  <a:pt x="83" y="13"/>
                  <a:pt x="83" y="13"/>
                  <a:pt x="83" y="13"/>
                </a:cubicBezTo>
                <a:cubicBezTo>
                  <a:pt x="83" y="13"/>
                  <a:pt x="83" y="12"/>
                  <a:pt x="83" y="12"/>
                </a:cubicBezTo>
                <a:cubicBezTo>
                  <a:pt x="82" y="12"/>
                  <a:pt x="82" y="12"/>
                  <a:pt x="82" y="12"/>
                </a:cubicBezTo>
                <a:cubicBezTo>
                  <a:pt x="82" y="12"/>
                  <a:pt x="82" y="12"/>
                  <a:pt x="82" y="12"/>
                </a:cubicBezTo>
                <a:cubicBezTo>
                  <a:pt x="82" y="12"/>
                  <a:pt x="81" y="12"/>
                  <a:pt x="81" y="12"/>
                </a:cubicBezTo>
                <a:cubicBezTo>
                  <a:pt x="81" y="12"/>
                  <a:pt x="81" y="12"/>
                  <a:pt x="81" y="12"/>
                </a:cubicBezTo>
                <a:cubicBezTo>
                  <a:pt x="81" y="12"/>
                  <a:pt x="80" y="13"/>
                  <a:pt x="80" y="13"/>
                </a:cubicBezTo>
                <a:cubicBezTo>
                  <a:pt x="80" y="13"/>
                  <a:pt x="80" y="13"/>
                  <a:pt x="80" y="13"/>
                </a:cubicBezTo>
                <a:cubicBezTo>
                  <a:pt x="80" y="13"/>
                  <a:pt x="80" y="13"/>
                  <a:pt x="80" y="13"/>
                </a:cubicBezTo>
                <a:cubicBezTo>
                  <a:pt x="80" y="13"/>
                  <a:pt x="80" y="13"/>
                  <a:pt x="80" y="13"/>
                </a:cubicBezTo>
                <a:cubicBezTo>
                  <a:pt x="80" y="13"/>
                  <a:pt x="81" y="14"/>
                  <a:pt x="81" y="14"/>
                </a:cubicBezTo>
                <a:cubicBezTo>
                  <a:pt x="82" y="15"/>
                  <a:pt x="82" y="15"/>
                  <a:pt x="82" y="15"/>
                </a:cubicBezTo>
                <a:cubicBezTo>
                  <a:pt x="80" y="15"/>
                  <a:pt x="80" y="15"/>
                  <a:pt x="80" y="15"/>
                </a:cubicBezTo>
                <a:cubicBezTo>
                  <a:pt x="80" y="15"/>
                  <a:pt x="80" y="15"/>
                  <a:pt x="80" y="15"/>
                </a:cubicBezTo>
                <a:cubicBezTo>
                  <a:pt x="80" y="15"/>
                  <a:pt x="80" y="15"/>
                  <a:pt x="80" y="15"/>
                </a:cubicBezTo>
                <a:cubicBezTo>
                  <a:pt x="79" y="15"/>
                  <a:pt x="79" y="14"/>
                  <a:pt x="79" y="14"/>
                </a:cubicBezTo>
                <a:cubicBezTo>
                  <a:pt x="79" y="15"/>
                  <a:pt x="79" y="15"/>
                  <a:pt x="79" y="15"/>
                </a:cubicBezTo>
                <a:cubicBezTo>
                  <a:pt x="78" y="15"/>
                  <a:pt x="78" y="15"/>
                  <a:pt x="78" y="15"/>
                </a:cubicBezTo>
                <a:cubicBezTo>
                  <a:pt x="78" y="15"/>
                  <a:pt x="78" y="15"/>
                  <a:pt x="78" y="15"/>
                </a:cubicBezTo>
                <a:cubicBezTo>
                  <a:pt x="77" y="15"/>
                  <a:pt x="77" y="16"/>
                  <a:pt x="77" y="16"/>
                </a:cubicBezTo>
                <a:cubicBezTo>
                  <a:pt x="76" y="16"/>
                  <a:pt x="76" y="16"/>
                  <a:pt x="76" y="16"/>
                </a:cubicBezTo>
                <a:cubicBezTo>
                  <a:pt x="76" y="16"/>
                  <a:pt x="76" y="16"/>
                  <a:pt x="75" y="16"/>
                </a:cubicBezTo>
                <a:cubicBezTo>
                  <a:pt x="75" y="16"/>
                  <a:pt x="75" y="16"/>
                  <a:pt x="75" y="16"/>
                </a:cubicBezTo>
                <a:cubicBezTo>
                  <a:pt x="75" y="16"/>
                  <a:pt x="75" y="16"/>
                  <a:pt x="75" y="16"/>
                </a:cubicBezTo>
                <a:cubicBezTo>
                  <a:pt x="75" y="16"/>
                  <a:pt x="75" y="16"/>
                  <a:pt x="75" y="16"/>
                </a:cubicBezTo>
                <a:cubicBezTo>
                  <a:pt x="74" y="16"/>
                  <a:pt x="74" y="16"/>
                  <a:pt x="74" y="16"/>
                </a:cubicBezTo>
                <a:cubicBezTo>
                  <a:pt x="74" y="16"/>
                  <a:pt x="74" y="16"/>
                  <a:pt x="74" y="16"/>
                </a:cubicBezTo>
                <a:cubicBezTo>
                  <a:pt x="74" y="16"/>
                  <a:pt x="74" y="16"/>
                  <a:pt x="74" y="16"/>
                </a:cubicBezTo>
                <a:cubicBezTo>
                  <a:pt x="73" y="16"/>
                  <a:pt x="73" y="16"/>
                  <a:pt x="73" y="16"/>
                </a:cubicBezTo>
                <a:cubicBezTo>
                  <a:pt x="73" y="16"/>
                  <a:pt x="73" y="16"/>
                  <a:pt x="73" y="17"/>
                </a:cubicBezTo>
                <a:cubicBezTo>
                  <a:pt x="73" y="17"/>
                  <a:pt x="73" y="17"/>
                  <a:pt x="73" y="17"/>
                </a:cubicBezTo>
                <a:cubicBezTo>
                  <a:pt x="73" y="17"/>
                  <a:pt x="73" y="17"/>
                  <a:pt x="73" y="17"/>
                </a:cubicBezTo>
                <a:cubicBezTo>
                  <a:pt x="72" y="17"/>
                  <a:pt x="70" y="17"/>
                  <a:pt x="70" y="16"/>
                </a:cubicBezTo>
                <a:close/>
                <a:moveTo>
                  <a:pt x="15" y="39"/>
                </a:moveTo>
                <a:cubicBezTo>
                  <a:pt x="15" y="39"/>
                  <a:pt x="15" y="39"/>
                  <a:pt x="15" y="39"/>
                </a:cubicBezTo>
                <a:cubicBezTo>
                  <a:pt x="15" y="39"/>
                  <a:pt x="15" y="39"/>
                  <a:pt x="15" y="39"/>
                </a:cubicBezTo>
                <a:cubicBezTo>
                  <a:pt x="15" y="39"/>
                  <a:pt x="15" y="39"/>
                  <a:pt x="15" y="39"/>
                </a:cubicBezTo>
                <a:cubicBezTo>
                  <a:pt x="15" y="39"/>
                  <a:pt x="16" y="39"/>
                  <a:pt x="16" y="39"/>
                </a:cubicBezTo>
                <a:cubicBezTo>
                  <a:pt x="16" y="39"/>
                  <a:pt x="16" y="39"/>
                  <a:pt x="16" y="39"/>
                </a:cubicBezTo>
                <a:cubicBezTo>
                  <a:pt x="16" y="39"/>
                  <a:pt x="16" y="39"/>
                  <a:pt x="16" y="39"/>
                </a:cubicBezTo>
                <a:cubicBezTo>
                  <a:pt x="15" y="39"/>
                  <a:pt x="15" y="39"/>
                  <a:pt x="15" y="38"/>
                </a:cubicBezTo>
                <a:cubicBezTo>
                  <a:pt x="15" y="38"/>
                  <a:pt x="15" y="38"/>
                  <a:pt x="14" y="38"/>
                </a:cubicBezTo>
                <a:cubicBezTo>
                  <a:pt x="14" y="38"/>
                  <a:pt x="14" y="38"/>
                  <a:pt x="14" y="38"/>
                </a:cubicBezTo>
                <a:cubicBezTo>
                  <a:pt x="14" y="38"/>
                  <a:pt x="14" y="38"/>
                  <a:pt x="14" y="38"/>
                </a:cubicBezTo>
                <a:lnTo>
                  <a:pt x="15" y="39"/>
                </a:lnTo>
                <a:close/>
                <a:moveTo>
                  <a:pt x="76" y="8"/>
                </a:moveTo>
                <a:cubicBezTo>
                  <a:pt x="76" y="8"/>
                  <a:pt x="76" y="8"/>
                  <a:pt x="76" y="8"/>
                </a:cubicBezTo>
                <a:cubicBezTo>
                  <a:pt x="76" y="8"/>
                  <a:pt x="76" y="8"/>
                  <a:pt x="76" y="8"/>
                </a:cubicBezTo>
                <a:close/>
                <a:moveTo>
                  <a:pt x="13" y="46"/>
                </a:moveTo>
                <a:cubicBezTo>
                  <a:pt x="13" y="46"/>
                  <a:pt x="13" y="46"/>
                  <a:pt x="13" y="46"/>
                </a:cubicBezTo>
                <a:cubicBezTo>
                  <a:pt x="13" y="46"/>
                  <a:pt x="13" y="46"/>
                  <a:pt x="13" y="46"/>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0" name="Group 129">
            <a:extLst>
              <a:ext uri="{FF2B5EF4-FFF2-40B4-BE49-F238E27FC236}">
                <a16:creationId xmlns:a16="http://schemas.microsoft.com/office/drawing/2014/main" id="{54288273-D40F-463D-A726-38079608C86A}"/>
              </a:ext>
            </a:extLst>
          </p:cNvPr>
          <p:cNvGrpSpPr>
            <a:grpSpLocks noChangeAspect="1"/>
          </p:cNvGrpSpPr>
          <p:nvPr/>
        </p:nvGrpSpPr>
        <p:grpSpPr>
          <a:xfrm>
            <a:off x="9889191" y="5525338"/>
            <a:ext cx="380307" cy="274320"/>
            <a:chOff x="9243133" y="3411657"/>
            <a:chExt cx="586567" cy="423098"/>
          </a:xfrm>
          <a:solidFill>
            <a:srgbClr val="595555"/>
          </a:solidFill>
        </p:grpSpPr>
        <p:sp>
          <p:nvSpPr>
            <p:cNvPr id="131" name="Freeform 827">
              <a:extLst>
                <a:ext uri="{FF2B5EF4-FFF2-40B4-BE49-F238E27FC236}">
                  <a16:creationId xmlns:a16="http://schemas.microsoft.com/office/drawing/2014/main" id="{5435FF9E-EB58-452E-AA9F-4F75A8588210}"/>
                </a:ext>
              </a:extLst>
            </p:cNvPr>
            <p:cNvSpPr>
              <a:spLocks/>
            </p:cNvSpPr>
            <p:nvPr/>
          </p:nvSpPr>
          <p:spPr bwMode="auto">
            <a:xfrm>
              <a:off x="9379129" y="3616338"/>
              <a:ext cx="314576" cy="142864"/>
            </a:xfrm>
            <a:custGeom>
              <a:avLst/>
              <a:gdLst>
                <a:gd name="T0" fmla="*/ 23 w 46"/>
                <a:gd name="T1" fmla="*/ 7 h 21"/>
                <a:gd name="T2" fmla="*/ 23 w 46"/>
                <a:gd name="T3" fmla="*/ 7 h 21"/>
                <a:gd name="T4" fmla="*/ 0 w 46"/>
                <a:gd name="T5" fmla="*/ 0 h 21"/>
                <a:gd name="T6" fmla="*/ 0 w 46"/>
                <a:gd name="T7" fmla="*/ 9 h 21"/>
                <a:gd name="T8" fmla="*/ 0 w 46"/>
                <a:gd name="T9" fmla="*/ 14 h 21"/>
                <a:gd name="T10" fmla="*/ 0 w 46"/>
                <a:gd name="T11" fmla="*/ 14 h 21"/>
                <a:gd name="T12" fmla="*/ 5 w 46"/>
                <a:gd name="T13" fmla="*/ 20 h 21"/>
                <a:gd name="T14" fmla="*/ 18 w 46"/>
                <a:gd name="T15" fmla="*/ 20 h 21"/>
                <a:gd name="T16" fmla="*/ 23 w 46"/>
                <a:gd name="T17" fmla="*/ 21 h 21"/>
                <a:gd name="T18" fmla="*/ 28 w 46"/>
                <a:gd name="T19" fmla="*/ 20 h 21"/>
                <a:gd name="T20" fmla="*/ 41 w 46"/>
                <a:gd name="T21" fmla="*/ 20 h 21"/>
                <a:gd name="T22" fmla="*/ 46 w 46"/>
                <a:gd name="T23" fmla="*/ 14 h 21"/>
                <a:gd name="T24" fmla="*/ 46 w 46"/>
                <a:gd name="T25" fmla="*/ 14 h 21"/>
                <a:gd name="T26" fmla="*/ 46 w 46"/>
                <a:gd name="T27" fmla="*/ 9 h 21"/>
                <a:gd name="T28" fmla="*/ 46 w 46"/>
                <a:gd name="T29" fmla="*/ 0 h 21"/>
                <a:gd name="T30" fmla="*/ 24 w 46"/>
                <a:gd name="T31" fmla="*/ 7 h 21"/>
                <a:gd name="T32" fmla="*/ 23 w 46"/>
                <a:gd name="T33"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21">
                  <a:moveTo>
                    <a:pt x="23" y="7"/>
                  </a:moveTo>
                  <a:cubicBezTo>
                    <a:pt x="23" y="7"/>
                    <a:pt x="23" y="7"/>
                    <a:pt x="23" y="7"/>
                  </a:cubicBezTo>
                  <a:cubicBezTo>
                    <a:pt x="0" y="0"/>
                    <a:pt x="0" y="0"/>
                    <a:pt x="0" y="0"/>
                  </a:cubicBezTo>
                  <a:cubicBezTo>
                    <a:pt x="0" y="1"/>
                    <a:pt x="0" y="5"/>
                    <a:pt x="0" y="9"/>
                  </a:cubicBezTo>
                  <a:cubicBezTo>
                    <a:pt x="0" y="12"/>
                    <a:pt x="0" y="14"/>
                    <a:pt x="0" y="14"/>
                  </a:cubicBezTo>
                  <a:cubicBezTo>
                    <a:pt x="0" y="14"/>
                    <a:pt x="0" y="14"/>
                    <a:pt x="0" y="14"/>
                  </a:cubicBezTo>
                  <a:cubicBezTo>
                    <a:pt x="0" y="17"/>
                    <a:pt x="3" y="19"/>
                    <a:pt x="5" y="20"/>
                  </a:cubicBezTo>
                  <a:cubicBezTo>
                    <a:pt x="18" y="20"/>
                    <a:pt x="18" y="20"/>
                    <a:pt x="18" y="20"/>
                  </a:cubicBezTo>
                  <a:cubicBezTo>
                    <a:pt x="20" y="20"/>
                    <a:pt x="21" y="21"/>
                    <a:pt x="23" y="21"/>
                  </a:cubicBezTo>
                  <a:cubicBezTo>
                    <a:pt x="25" y="21"/>
                    <a:pt x="27" y="20"/>
                    <a:pt x="28" y="20"/>
                  </a:cubicBezTo>
                  <a:cubicBezTo>
                    <a:pt x="41" y="20"/>
                    <a:pt x="41" y="20"/>
                    <a:pt x="41" y="20"/>
                  </a:cubicBezTo>
                  <a:cubicBezTo>
                    <a:pt x="44" y="19"/>
                    <a:pt x="46" y="17"/>
                    <a:pt x="46" y="14"/>
                  </a:cubicBezTo>
                  <a:cubicBezTo>
                    <a:pt x="46" y="14"/>
                    <a:pt x="46" y="14"/>
                    <a:pt x="46" y="14"/>
                  </a:cubicBezTo>
                  <a:cubicBezTo>
                    <a:pt x="46" y="14"/>
                    <a:pt x="46" y="12"/>
                    <a:pt x="46" y="9"/>
                  </a:cubicBezTo>
                  <a:cubicBezTo>
                    <a:pt x="46" y="6"/>
                    <a:pt x="46" y="1"/>
                    <a:pt x="46" y="0"/>
                  </a:cubicBezTo>
                  <a:cubicBezTo>
                    <a:pt x="24" y="7"/>
                    <a:pt x="24" y="7"/>
                    <a:pt x="24" y="7"/>
                  </a:cubicBezTo>
                  <a:lnTo>
                    <a:pt x="23"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2" name="Freeform 828">
              <a:extLst>
                <a:ext uri="{FF2B5EF4-FFF2-40B4-BE49-F238E27FC236}">
                  <a16:creationId xmlns:a16="http://schemas.microsoft.com/office/drawing/2014/main" id="{0B50EC52-DB9B-4AA1-84C4-3201B051E2A5}"/>
                </a:ext>
              </a:extLst>
            </p:cNvPr>
            <p:cNvSpPr>
              <a:spLocks/>
            </p:cNvSpPr>
            <p:nvPr/>
          </p:nvSpPr>
          <p:spPr bwMode="auto">
            <a:xfrm>
              <a:off x="9243133" y="3411657"/>
              <a:ext cx="586567" cy="423098"/>
            </a:xfrm>
            <a:custGeom>
              <a:avLst/>
              <a:gdLst>
                <a:gd name="T0" fmla="*/ 14 w 86"/>
                <a:gd name="T1" fmla="*/ 35 h 62"/>
                <a:gd name="T2" fmla="*/ 10 w 86"/>
                <a:gd name="T3" fmla="*/ 31 h 62"/>
                <a:gd name="T4" fmla="*/ 10 w 86"/>
                <a:gd name="T5" fmla="*/ 31 h 62"/>
                <a:gd name="T6" fmla="*/ 10 w 86"/>
                <a:gd name="T7" fmla="*/ 27 h 62"/>
                <a:gd name="T8" fmla="*/ 10 w 86"/>
                <a:gd name="T9" fmla="*/ 23 h 62"/>
                <a:gd name="T10" fmla="*/ 10 w 86"/>
                <a:gd name="T11" fmla="*/ 20 h 62"/>
                <a:gd name="T12" fmla="*/ 30 w 86"/>
                <a:gd name="T13" fmla="*/ 27 h 62"/>
                <a:gd name="T14" fmla="*/ 43 w 86"/>
                <a:gd name="T15" fmla="*/ 31 h 62"/>
                <a:gd name="T16" fmla="*/ 55 w 86"/>
                <a:gd name="T17" fmla="*/ 28 h 62"/>
                <a:gd name="T18" fmla="*/ 86 w 86"/>
                <a:gd name="T19" fmla="*/ 17 h 62"/>
                <a:gd name="T20" fmla="*/ 43 w 86"/>
                <a:gd name="T21" fmla="*/ 0 h 62"/>
                <a:gd name="T22" fmla="*/ 0 w 86"/>
                <a:gd name="T23" fmla="*/ 17 h 62"/>
                <a:gd name="T24" fmla="*/ 9 w 86"/>
                <a:gd name="T25" fmla="*/ 20 h 62"/>
                <a:gd name="T26" fmla="*/ 8 w 86"/>
                <a:gd name="T27" fmla="*/ 21 h 62"/>
                <a:gd name="T28" fmla="*/ 8 w 86"/>
                <a:gd name="T29" fmla="*/ 21 h 62"/>
                <a:gd name="T30" fmla="*/ 8 w 86"/>
                <a:gd name="T31" fmla="*/ 31 h 62"/>
                <a:gd name="T32" fmla="*/ 8 w 86"/>
                <a:gd name="T33" fmla="*/ 31 h 62"/>
                <a:gd name="T34" fmla="*/ 4 w 86"/>
                <a:gd name="T35" fmla="*/ 35 h 62"/>
                <a:gd name="T36" fmla="*/ 8 w 86"/>
                <a:gd name="T37" fmla="*/ 40 h 62"/>
                <a:gd name="T38" fmla="*/ 4 w 86"/>
                <a:gd name="T39" fmla="*/ 59 h 62"/>
                <a:gd name="T40" fmla="*/ 9 w 86"/>
                <a:gd name="T41" fmla="*/ 62 h 62"/>
                <a:gd name="T42" fmla="*/ 15 w 86"/>
                <a:gd name="T43" fmla="*/ 59 h 62"/>
                <a:gd name="T44" fmla="*/ 12 w 86"/>
                <a:gd name="T45" fmla="*/ 39 h 62"/>
                <a:gd name="T46" fmla="*/ 14 w 86"/>
                <a:gd name="T47" fmla="*/ 3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62">
                  <a:moveTo>
                    <a:pt x="14" y="35"/>
                  </a:moveTo>
                  <a:cubicBezTo>
                    <a:pt x="14" y="33"/>
                    <a:pt x="12" y="31"/>
                    <a:pt x="10" y="31"/>
                  </a:cubicBezTo>
                  <a:cubicBezTo>
                    <a:pt x="10" y="31"/>
                    <a:pt x="10" y="31"/>
                    <a:pt x="10" y="31"/>
                  </a:cubicBezTo>
                  <a:cubicBezTo>
                    <a:pt x="10" y="27"/>
                    <a:pt x="10" y="27"/>
                    <a:pt x="10" y="27"/>
                  </a:cubicBezTo>
                  <a:cubicBezTo>
                    <a:pt x="10" y="23"/>
                    <a:pt x="10" y="23"/>
                    <a:pt x="10" y="23"/>
                  </a:cubicBezTo>
                  <a:cubicBezTo>
                    <a:pt x="10" y="23"/>
                    <a:pt x="10" y="21"/>
                    <a:pt x="10" y="20"/>
                  </a:cubicBezTo>
                  <a:cubicBezTo>
                    <a:pt x="30" y="27"/>
                    <a:pt x="30" y="27"/>
                    <a:pt x="30" y="27"/>
                  </a:cubicBezTo>
                  <a:cubicBezTo>
                    <a:pt x="43" y="31"/>
                    <a:pt x="43" y="31"/>
                    <a:pt x="43" y="31"/>
                  </a:cubicBezTo>
                  <a:cubicBezTo>
                    <a:pt x="55" y="28"/>
                    <a:pt x="55" y="28"/>
                    <a:pt x="55" y="28"/>
                  </a:cubicBezTo>
                  <a:cubicBezTo>
                    <a:pt x="86" y="17"/>
                    <a:pt x="86" y="17"/>
                    <a:pt x="86" y="17"/>
                  </a:cubicBezTo>
                  <a:cubicBezTo>
                    <a:pt x="43" y="0"/>
                    <a:pt x="43" y="0"/>
                    <a:pt x="43" y="0"/>
                  </a:cubicBezTo>
                  <a:cubicBezTo>
                    <a:pt x="0" y="17"/>
                    <a:pt x="0" y="17"/>
                    <a:pt x="0" y="17"/>
                  </a:cubicBezTo>
                  <a:cubicBezTo>
                    <a:pt x="9" y="20"/>
                    <a:pt x="9" y="20"/>
                    <a:pt x="9" y="20"/>
                  </a:cubicBezTo>
                  <a:cubicBezTo>
                    <a:pt x="9" y="20"/>
                    <a:pt x="9" y="21"/>
                    <a:pt x="8" y="21"/>
                  </a:cubicBezTo>
                  <a:cubicBezTo>
                    <a:pt x="8" y="21"/>
                    <a:pt x="8" y="21"/>
                    <a:pt x="8" y="21"/>
                  </a:cubicBezTo>
                  <a:cubicBezTo>
                    <a:pt x="8" y="31"/>
                    <a:pt x="8" y="31"/>
                    <a:pt x="8" y="31"/>
                  </a:cubicBezTo>
                  <a:cubicBezTo>
                    <a:pt x="8" y="31"/>
                    <a:pt x="8" y="31"/>
                    <a:pt x="8" y="31"/>
                  </a:cubicBezTo>
                  <a:cubicBezTo>
                    <a:pt x="6" y="31"/>
                    <a:pt x="4" y="33"/>
                    <a:pt x="4" y="35"/>
                  </a:cubicBezTo>
                  <a:cubicBezTo>
                    <a:pt x="4" y="38"/>
                    <a:pt x="6" y="40"/>
                    <a:pt x="8" y="40"/>
                  </a:cubicBezTo>
                  <a:cubicBezTo>
                    <a:pt x="9" y="47"/>
                    <a:pt x="4" y="59"/>
                    <a:pt x="4" y="59"/>
                  </a:cubicBezTo>
                  <a:cubicBezTo>
                    <a:pt x="4" y="59"/>
                    <a:pt x="4" y="62"/>
                    <a:pt x="9" y="62"/>
                  </a:cubicBezTo>
                  <a:cubicBezTo>
                    <a:pt x="14" y="62"/>
                    <a:pt x="15" y="59"/>
                    <a:pt x="15" y="59"/>
                  </a:cubicBezTo>
                  <a:cubicBezTo>
                    <a:pt x="15" y="59"/>
                    <a:pt x="14" y="45"/>
                    <a:pt x="12" y="39"/>
                  </a:cubicBezTo>
                  <a:cubicBezTo>
                    <a:pt x="13" y="38"/>
                    <a:pt x="14" y="37"/>
                    <a:pt x="14"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33" name="Freeform 858">
            <a:extLst>
              <a:ext uri="{FF2B5EF4-FFF2-40B4-BE49-F238E27FC236}">
                <a16:creationId xmlns:a16="http://schemas.microsoft.com/office/drawing/2014/main" id="{4F7E856F-5640-48A3-982F-E106529B086A}"/>
              </a:ext>
            </a:extLst>
          </p:cNvPr>
          <p:cNvSpPr>
            <a:spLocks noChangeAspect="1" noEditPoints="1"/>
          </p:cNvSpPr>
          <p:nvPr/>
        </p:nvSpPr>
        <p:spPr bwMode="auto">
          <a:xfrm>
            <a:off x="4408850" y="5425998"/>
            <a:ext cx="238653" cy="274320"/>
          </a:xfrm>
          <a:custGeom>
            <a:avLst/>
            <a:gdLst>
              <a:gd name="T0" fmla="*/ 45 w 74"/>
              <a:gd name="T1" fmla="*/ 11 h 85"/>
              <a:gd name="T2" fmla="*/ 45 w 74"/>
              <a:gd name="T3" fmla="*/ 8 h 85"/>
              <a:gd name="T4" fmla="*/ 50 w 74"/>
              <a:gd name="T5" fmla="*/ 8 h 85"/>
              <a:gd name="T6" fmla="*/ 53 w 74"/>
              <a:gd name="T7" fmla="*/ 5 h 85"/>
              <a:gd name="T8" fmla="*/ 53 w 74"/>
              <a:gd name="T9" fmla="*/ 3 h 85"/>
              <a:gd name="T10" fmla="*/ 50 w 74"/>
              <a:gd name="T11" fmla="*/ 0 h 85"/>
              <a:gd name="T12" fmla="*/ 24 w 74"/>
              <a:gd name="T13" fmla="*/ 0 h 85"/>
              <a:gd name="T14" fmla="*/ 21 w 74"/>
              <a:gd name="T15" fmla="*/ 3 h 85"/>
              <a:gd name="T16" fmla="*/ 21 w 74"/>
              <a:gd name="T17" fmla="*/ 5 h 85"/>
              <a:gd name="T18" fmla="*/ 24 w 74"/>
              <a:gd name="T19" fmla="*/ 8 h 85"/>
              <a:gd name="T20" fmla="*/ 29 w 74"/>
              <a:gd name="T21" fmla="*/ 8 h 85"/>
              <a:gd name="T22" fmla="*/ 29 w 74"/>
              <a:gd name="T23" fmla="*/ 11 h 85"/>
              <a:gd name="T24" fmla="*/ 0 w 74"/>
              <a:gd name="T25" fmla="*/ 48 h 85"/>
              <a:gd name="T26" fmla="*/ 37 w 74"/>
              <a:gd name="T27" fmla="*/ 85 h 85"/>
              <a:gd name="T28" fmla="*/ 74 w 74"/>
              <a:gd name="T29" fmla="*/ 48 h 85"/>
              <a:gd name="T30" fmla="*/ 45 w 74"/>
              <a:gd name="T31" fmla="*/ 11 h 85"/>
              <a:gd name="T32" fmla="*/ 49 w 74"/>
              <a:gd name="T33" fmla="*/ 65 h 85"/>
              <a:gd name="T34" fmla="*/ 33 w 74"/>
              <a:gd name="T35" fmla="*/ 50 h 85"/>
              <a:gd name="T36" fmla="*/ 33 w 74"/>
              <a:gd name="T37" fmla="*/ 49 h 85"/>
              <a:gd name="T38" fmla="*/ 33 w 74"/>
              <a:gd name="T39" fmla="*/ 48 h 85"/>
              <a:gd name="T40" fmla="*/ 33 w 74"/>
              <a:gd name="T41" fmla="*/ 25 h 85"/>
              <a:gd name="T42" fmla="*/ 41 w 74"/>
              <a:gd name="T43" fmla="*/ 25 h 85"/>
              <a:gd name="T44" fmla="*/ 41 w 74"/>
              <a:gd name="T45" fmla="*/ 46 h 85"/>
              <a:gd name="T46" fmla="*/ 55 w 74"/>
              <a:gd name="T47" fmla="*/ 60 h 85"/>
              <a:gd name="T48" fmla="*/ 49 w 74"/>
              <a:gd name="T49" fmla="*/ 6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4" h="85">
                <a:moveTo>
                  <a:pt x="45" y="11"/>
                </a:moveTo>
                <a:cubicBezTo>
                  <a:pt x="45" y="8"/>
                  <a:pt x="45" y="8"/>
                  <a:pt x="45" y="8"/>
                </a:cubicBezTo>
                <a:cubicBezTo>
                  <a:pt x="50" y="8"/>
                  <a:pt x="50" y="8"/>
                  <a:pt x="50" y="8"/>
                </a:cubicBezTo>
                <a:cubicBezTo>
                  <a:pt x="52" y="8"/>
                  <a:pt x="53" y="7"/>
                  <a:pt x="53" y="5"/>
                </a:cubicBezTo>
                <a:cubicBezTo>
                  <a:pt x="53" y="3"/>
                  <a:pt x="53" y="3"/>
                  <a:pt x="53" y="3"/>
                </a:cubicBezTo>
                <a:cubicBezTo>
                  <a:pt x="53" y="1"/>
                  <a:pt x="52" y="0"/>
                  <a:pt x="50" y="0"/>
                </a:cubicBezTo>
                <a:cubicBezTo>
                  <a:pt x="24" y="0"/>
                  <a:pt x="24" y="0"/>
                  <a:pt x="24" y="0"/>
                </a:cubicBezTo>
                <a:cubicBezTo>
                  <a:pt x="22" y="0"/>
                  <a:pt x="21" y="1"/>
                  <a:pt x="21" y="3"/>
                </a:cubicBezTo>
                <a:cubicBezTo>
                  <a:pt x="21" y="5"/>
                  <a:pt x="21" y="5"/>
                  <a:pt x="21" y="5"/>
                </a:cubicBezTo>
                <a:cubicBezTo>
                  <a:pt x="21" y="7"/>
                  <a:pt x="22" y="8"/>
                  <a:pt x="24" y="8"/>
                </a:cubicBezTo>
                <a:cubicBezTo>
                  <a:pt x="29" y="8"/>
                  <a:pt x="29" y="8"/>
                  <a:pt x="29" y="8"/>
                </a:cubicBezTo>
                <a:cubicBezTo>
                  <a:pt x="29" y="11"/>
                  <a:pt x="29" y="11"/>
                  <a:pt x="29" y="11"/>
                </a:cubicBezTo>
                <a:cubicBezTo>
                  <a:pt x="12" y="15"/>
                  <a:pt x="0" y="30"/>
                  <a:pt x="0" y="48"/>
                </a:cubicBezTo>
                <a:cubicBezTo>
                  <a:pt x="0" y="69"/>
                  <a:pt x="16" y="85"/>
                  <a:pt x="37" y="85"/>
                </a:cubicBezTo>
                <a:cubicBezTo>
                  <a:pt x="58" y="85"/>
                  <a:pt x="74" y="69"/>
                  <a:pt x="74" y="48"/>
                </a:cubicBezTo>
                <a:cubicBezTo>
                  <a:pt x="74" y="30"/>
                  <a:pt x="62" y="15"/>
                  <a:pt x="45" y="11"/>
                </a:cubicBezTo>
                <a:close/>
                <a:moveTo>
                  <a:pt x="49" y="65"/>
                </a:moveTo>
                <a:cubicBezTo>
                  <a:pt x="33" y="50"/>
                  <a:pt x="33" y="50"/>
                  <a:pt x="33" y="50"/>
                </a:cubicBezTo>
                <a:cubicBezTo>
                  <a:pt x="33" y="49"/>
                  <a:pt x="33" y="49"/>
                  <a:pt x="33" y="49"/>
                </a:cubicBezTo>
                <a:cubicBezTo>
                  <a:pt x="33" y="48"/>
                  <a:pt x="33" y="48"/>
                  <a:pt x="33" y="48"/>
                </a:cubicBezTo>
                <a:cubicBezTo>
                  <a:pt x="33" y="25"/>
                  <a:pt x="33" y="25"/>
                  <a:pt x="33" y="25"/>
                </a:cubicBezTo>
                <a:cubicBezTo>
                  <a:pt x="41" y="25"/>
                  <a:pt x="41" y="25"/>
                  <a:pt x="41" y="25"/>
                </a:cubicBezTo>
                <a:cubicBezTo>
                  <a:pt x="41" y="46"/>
                  <a:pt x="41" y="46"/>
                  <a:pt x="41" y="46"/>
                </a:cubicBezTo>
                <a:cubicBezTo>
                  <a:pt x="55" y="60"/>
                  <a:pt x="55" y="60"/>
                  <a:pt x="55" y="60"/>
                </a:cubicBezTo>
                <a:lnTo>
                  <a:pt x="49" y="6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4" name="Group 133">
            <a:extLst>
              <a:ext uri="{FF2B5EF4-FFF2-40B4-BE49-F238E27FC236}">
                <a16:creationId xmlns:a16="http://schemas.microsoft.com/office/drawing/2014/main" id="{6697B45B-CD0D-4619-9E73-1A47BB1B7979}"/>
              </a:ext>
            </a:extLst>
          </p:cNvPr>
          <p:cNvGrpSpPr>
            <a:grpSpLocks noChangeAspect="1"/>
          </p:cNvGrpSpPr>
          <p:nvPr/>
        </p:nvGrpSpPr>
        <p:grpSpPr>
          <a:xfrm>
            <a:off x="10811412" y="5417719"/>
            <a:ext cx="273678" cy="274320"/>
            <a:chOff x="10008281" y="3322367"/>
            <a:chExt cx="586567" cy="587942"/>
          </a:xfrm>
          <a:solidFill>
            <a:srgbClr val="595555"/>
          </a:solidFill>
        </p:grpSpPr>
        <p:sp>
          <p:nvSpPr>
            <p:cNvPr id="135" name="Freeform 907">
              <a:extLst>
                <a:ext uri="{FF2B5EF4-FFF2-40B4-BE49-F238E27FC236}">
                  <a16:creationId xmlns:a16="http://schemas.microsoft.com/office/drawing/2014/main" id="{E64A59DB-976D-4066-96C7-17100AD9CA53}"/>
                </a:ext>
              </a:extLst>
            </p:cNvPr>
            <p:cNvSpPr>
              <a:spLocks noEditPoints="1"/>
            </p:cNvSpPr>
            <p:nvPr/>
          </p:nvSpPr>
          <p:spPr bwMode="auto">
            <a:xfrm>
              <a:off x="10008281" y="3322367"/>
              <a:ext cx="586567" cy="498651"/>
            </a:xfrm>
            <a:custGeom>
              <a:avLst/>
              <a:gdLst>
                <a:gd name="T0" fmla="*/ 83 w 86"/>
                <a:gd name="T1" fmla="*/ 54 h 73"/>
                <a:gd name="T2" fmla="*/ 56 w 86"/>
                <a:gd name="T3" fmla="*/ 54 h 73"/>
                <a:gd name="T4" fmla="*/ 54 w 86"/>
                <a:gd name="T5" fmla="*/ 52 h 73"/>
                <a:gd name="T6" fmla="*/ 54 w 86"/>
                <a:gd name="T7" fmla="*/ 39 h 73"/>
                <a:gd name="T8" fmla="*/ 55 w 86"/>
                <a:gd name="T9" fmla="*/ 37 h 73"/>
                <a:gd name="T10" fmla="*/ 63 w 86"/>
                <a:gd name="T11" fmla="*/ 21 h 73"/>
                <a:gd name="T12" fmla="*/ 44 w 86"/>
                <a:gd name="T13" fmla="*/ 1 h 73"/>
                <a:gd name="T14" fmla="*/ 23 w 86"/>
                <a:gd name="T15" fmla="*/ 21 h 73"/>
                <a:gd name="T16" fmla="*/ 31 w 86"/>
                <a:gd name="T17" fmla="*/ 37 h 73"/>
                <a:gd name="T18" fmla="*/ 32 w 86"/>
                <a:gd name="T19" fmla="*/ 39 h 73"/>
                <a:gd name="T20" fmla="*/ 32 w 86"/>
                <a:gd name="T21" fmla="*/ 52 h 73"/>
                <a:gd name="T22" fmla="*/ 30 w 86"/>
                <a:gd name="T23" fmla="*/ 54 h 73"/>
                <a:gd name="T24" fmla="*/ 3 w 86"/>
                <a:gd name="T25" fmla="*/ 54 h 73"/>
                <a:gd name="T26" fmla="*/ 0 w 86"/>
                <a:gd name="T27" fmla="*/ 57 h 73"/>
                <a:gd name="T28" fmla="*/ 0 w 86"/>
                <a:gd name="T29" fmla="*/ 70 h 73"/>
                <a:gd name="T30" fmla="*/ 3 w 86"/>
                <a:gd name="T31" fmla="*/ 73 h 73"/>
                <a:gd name="T32" fmla="*/ 83 w 86"/>
                <a:gd name="T33" fmla="*/ 73 h 73"/>
                <a:gd name="T34" fmla="*/ 86 w 86"/>
                <a:gd name="T35" fmla="*/ 70 h 73"/>
                <a:gd name="T36" fmla="*/ 86 w 86"/>
                <a:gd name="T37" fmla="*/ 57 h 73"/>
                <a:gd name="T38" fmla="*/ 83 w 86"/>
                <a:gd name="T39" fmla="*/ 54 h 73"/>
                <a:gd name="T40" fmla="*/ 43 w 86"/>
                <a:gd name="T41" fmla="*/ 68 h 73"/>
                <a:gd name="T42" fmla="*/ 38 w 86"/>
                <a:gd name="T43" fmla="*/ 62 h 73"/>
                <a:gd name="T44" fmla="*/ 43 w 86"/>
                <a:gd name="T45" fmla="*/ 57 h 73"/>
                <a:gd name="T46" fmla="*/ 48 w 86"/>
                <a:gd name="T47" fmla="*/ 62 h 73"/>
                <a:gd name="T48" fmla="*/ 43 w 86"/>
                <a:gd name="T49" fmla="*/ 68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6" h="73">
                  <a:moveTo>
                    <a:pt x="83" y="54"/>
                  </a:moveTo>
                  <a:cubicBezTo>
                    <a:pt x="56" y="54"/>
                    <a:pt x="56" y="54"/>
                    <a:pt x="56" y="54"/>
                  </a:cubicBezTo>
                  <a:cubicBezTo>
                    <a:pt x="55" y="54"/>
                    <a:pt x="54" y="53"/>
                    <a:pt x="54" y="52"/>
                  </a:cubicBezTo>
                  <a:cubicBezTo>
                    <a:pt x="54" y="39"/>
                    <a:pt x="54" y="39"/>
                    <a:pt x="54" y="39"/>
                  </a:cubicBezTo>
                  <a:cubicBezTo>
                    <a:pt x="54" y="38"/>
                    <a:pt x="54" y="38"/>
                    <a:pt x="55" y="37"/>
                  </a:cubicBezTo>
                  <a:cubicBezTo>
                    <a:pt x="60" y="33"/>
                    <a:pt x="63" y="28"/>
                    <a:pt x="63" y="21"/>
                  </a:cubicBezTo>
                  <a:cubicBezTo>
                    <a:pt x="63" y="10"/>
                    <a:pt x="55" y="1"/>
                    <a:pt x="44" y="1"/>
                  </a:cubicBezTo>
                  <a:cubicBezTo>
                    <a:pt x="33" y="0"/>
                    <a:pt x="23" y="10"/>
                    <a:pt x="23" y="21"/>
                  </a:cubicBezTo>
                  <a:cubicBezTo>
                    <a:pt x="23" y="28"/>
                    <a:pt x="26" y="33"/>
                    <a:pt x="31" y="37"/>
                  </a:cubicBezTo>
                  <a:cubicBezTo>
                    <a:pt x="32" y="38"/>
                    <a:pt x="32" y="38"/>
                    <a:pt x="32" y="39"/>
                  </a:cubicBezTo>
                  <a:cubicBezTo>
                    <a:pt x="32" y="52"/>
                    <a:pt x="32" y="52"/>
                    <a:pt x="32" y="52"/>
                  </a:cubicBezTo>
                  <a:cubicBezTo>
                    <a:pt x="32" y="53"/>
                    <a:pt x="31" y="54"/>
                    <a:pt x="30" y="54"/>
                  </a:cubicBezTo>
                  <a:cubicBezTo>
                    <a:pt x="3" y="54"/>
                    <a:pt x="3" y="54"/>
                    <a:pt x="3" y="54"/>
                  </a:cubicBezTo>
                  <a:cubicBezTo>
                    <a:pt x="2" y="54"/>
                    <a:pt x="0" y="55"/>
                    <a:pt x="0" y="57"/>
                  </a:cubicBezTo>
                  <a:cubicBezTo>
                    <a:pt x="0" y="70"/>
                    <a:pt x="0" y="70"/>
                    <a:pt x="0" y="70"/>
                  </a:cubicBezTo>
                  <a:cubicBezTo>
                    <a:pt x="0" y="72"/>
                    <a:pt x="2" y="73"/>
                    <a:pt x="3" y="73"/>
                  </a:cubicBezTo>
                  <a:cubicBezTo>
                    <a:pt x="83" y="73"/>
                    <a:pt x="83" y="73"/>
                    <a:pt x="83" y="73"/>
                  </a:cubicBezTo>
                  <a:cubicBezTo>
                    <a:pt x="85" y="73"/>
                    <a:pt x="86" y="72"/>
                    <a:pt x="86" y="70"/>
                  </a:cubicBezTo>
                  <a:cubicBezTo>
                    <a:pt x="86" y="57"/>
                    <a:pt x="86" y="57"/>
                    <a:pt x="86" y="57"/>
                  </a:cubicBezTo>
                  <a:cubicBezTo>
                    <a:pt x="86" y="55"/>
                    <a:pt x="85" y="54"/>
                    <a:pt x="83" y="54"/>
                  </a:cubicBezTo>
                  <a:close/>
                  <a:moveTo>
                    <a:pt x="43" y="68"/>
                  </a:moveTo>
                  <a:cubicBezTo>
                    <a:pt x="40" y="68"/>
                    <a:pt x="38" y="65"/>
                    <a:pt x="38" y="62"/>
                  </a:cubicBezTo>
                  <a:cubicBezTo>
                    <a:pt x="38" y="59"/>
                    <a:pt x="40" y="57"/>
                    <a:pt x="43" y="57"/>
                  </a:cubicBezTo>
                  <a:cubicBezTo>
                    <a:pt x="46" y="57"/>
                    <a:pt x="48" y="59"/>
                    <a:pt x="48" y="62"/>
                  </a:cubicBezTo>
                  <a:cubicBezTo>
                    <a:pt x="48" y="65"/>
                    <a:pt x="46" y="68"/>
                    <a:pt x="43" y="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6" name="Freeform 908">
              <a:extLst>
                <a:ext uri="{FF2B5EF4-FFF2-40B4-BE49-F238E27FC236}">
                  <a16:creationId xmlns:a16="http://schemas.microsoft.com/office/drawing/2014/main" id="{133E6A66-8F68-4B66-BD75-377ED45045F0}"/>
                </a:ext>
              </a:extLst>
            </p:cNvPr>
            <p:cNvSpPr>
              <a:spLocks/>
            </p:cNvSpPr>
            <p:nvPr/>
          </p:nvSpPr>
          <p:spPr bwMode="auto">
            <a:xfrm>
              <a:off x="10054986" y="3855361"/>
              <a:ext cx="491782" cy="54948"/>
            </a:xfrm>
            <a:custGeom>
              <a:avLst/>
              <a:gdLst>
                <a:gd name="T0" fmla="*/ 69 w 72"/>
                <a:gd name="T1" fmla="*/ 0 h 8"/>
                <a:gd name="T2" fmla="*/ 3 w 72"/>
                <a:gd name="T3" fmla="*/ 0 h 8"/>
                <a:gd name="T4" fmla="*/ 0 w 72"/>
                <a:gd name="T5" fmla="*/ 3 h 8"/>
                <a:gd name="T6" fmla="*/ 0 w 72"/>
                <a:gd name="T7" fmla="*/ 6 h 8"/>
                <a:gd name="T8" fmla="*/ 3 w 72"/>
                <a:gd name="T9" fmla="*/ 8 h 8"/>
                <a:gd name="T10" fmla="*/ 69 w 72"/>
                <a:gd name="T11" fmla="*/ 8 h 8"/>
                <a:gd name="T12" fmla="*/ 72 w 72"/>
                <a:gd name="T13" fmla="*/ 6 h 8"/>
                <a:gd name="T14" fmla="*/ 72 w 72"/>
                <a:gd name="T15" fmla="*/ 3 h 8"/>
                <a:gd name="T16" fmla="*/ 69 w 72"/>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8">
                  <a:moveTo>
                    <a:pt x="69" y="0"/>
                  </a:moveTo>
                  <a:cubicBezTo>
                    <a:pt x="3" y="0"/>
                    <a:pt x="3" y="0"/>
                    <a:pt x="3" y="0"/>
                  </a:cubicBezTo>
                  <a:cubicBezTo>
                    <a:pt x="1" y="0"/>
                    <a:pt x="0" y="1"/>
                    <a:pt x="0" y="3"/>
                  </a:cubicBezTo>
                  <a:cubicBezTo>
                    <a:pt x="0" y="6"/>
                    <a:pt x="0" y="6"/>
                    <a:pt x="0" y="6"/>
                  </a:cubicBezTo>
                  <a:cubicBezTo>
                    <a:pt x="0" y="7"/>
                    <a:pt x="1" y="8"/>
                    <a:pt x="3" y="8"/>
                  </a:cubicBezTo>
                  <a:cubicBezTo>
                    <a:pt x="69" y="8"/>
                    <a:pt x="69" y="8"/>
                    <a:pt x="69" y="8"/>
                  </a:cubicBezTo>
                  <a:cubicBezTo>
                    <a:pt x="71" y="8"/>
                    <a:pt x="72" y="7"/>
                    <a:pt x="72" y="6"/>
                  </a:cubicBezTo>
                  <a:cubicBezTo>
                    <a:pt x="72" y="3"/>
                    <a:pt x="72" y="3"/>
                    <a:pt x="72" y="3"/>
                  </a:cubicBezTo>
                  <a:cubicBezTo>
                    <a:pt x="72" y="1"/>
                    <a:pt x="71" y="0"/>
                    <a:pt x="6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7" name="Group 136">
            <a:extLst>
              <a:ext uri="{FF2B5EF4-FFF2-40B4-BE49-F238E27FC236}">
                <a16:creationId xmlns:a16="http://schemas.microsoft.com/office/drawing/2014/main" id="{005C9030-7D11-41F3-92C5-0FA1C6F532AE}"/>
              </a:ext>
            </a:extLst>
          </p:cNvPr>
          <p:cNvGrpSpPr>
            <a:grpSpLocks noChangeAspect="1"/>
          </p:cNvGrpSpPr>
          <p:nvPr/>
        </p:nvGrpSpPr>
        <p:grpSpPr>
          <a:xfrm>
            <a:off x="7124185" y="5425998"/>
            <a:ext cx="277563" cy="274320"/>
            <a:chOff x="6949064" y="3329236"/>
            <a:chExt cx="587941" cy="581073"/>
          </a:xfrm>
          <a:solidFill>
            <a:srgbClr val="595555"/>
          </a:solidFill>
        </p:grpSpPr>
        <p:sp>
          <p:nvSpPr>
            <p:cNvPr id="138" name="Freeform 918">
              <a:extLst>
                <a:ext uri="{FF2B5EF4-FFF2-40B4-BE49-F238E27FC236}">
                  <a16:creationId xmlns:a16="http://schemas.microsoft.com/office/drawing/2014/main" id="{592CE5C4-F331-4B30-8932-36D5218F2FE0}"/>
                </a:ext>
              </a:extLst>
            </p:cNvPr>
            <p:cNvSpPr>
              <a:spLocks noEditPoints="1"/>
            </p:cNvSpPr>
            <p:nvPr/>
          </p:nvSpPr>
          <p:spPr bwMode="auto">
            <a:xfrm>
              <a:off x="6949064" y="3329236"/>
              <a:ext cx="587941" cy="581073"/>
            </a:xfrm>
            <a:custGeom>
              <a:avLst/>
              <a:gdLst>
                <a:gd name="T0" fmla="*/ 85 w 86"/>
                <a:gd name="T1" fmla="*/ 27 h 85"/>
                <a:gd name="T2" fmla="*/ 45 w 86"/>
                <a:gd name="T3" fmla="*/ 1 h 85"/>
                <a:gd name="T4" fmla="*/ 42 w 86"/>
                <a:gd name="T5" fmla="*/ 1 h 85"/>
                <a:gd name="T6" fmla="*/ 2 w 86"/>
                <a:gd name="T7" fmla="*/ 27 h 85"/>
                <a:gd name="T8" fmla="*/ 0 w 86"/>
                <a:gd name="T9" fmla="*/ 29 h 85"/>
                <a:gd name="T10" fmla="*/ 0 w 86"/>
                <a:gd name="T11" fmla="*/ 83 h 85"/>
                <a:gd name="T12" fmla="*/ 3 w 86"/>
                <a:gd name="T13" fmla="*/ 85 h 85"/>
                <a:gd name="T14" fmla="*/ 19 w 86"/>
                <a:gd name="T15" fmla="*/ 85 h 85"/>
                <a:gd name="T16" fmla="*/ 22 w 86"/>
                <a:gd name="T17" fmla="*/ 85 h 85"/>
                <a:gd name="T18" fmla="*/ 22 w 86"/>
                <a:gd name="T19" fmla="*/ 53 h 85"/>
                <a:gd name="T20" fmla="*/ 64 w 86"/>
                <a:gd name="T21" fmla="*/ 53 h 85"/>
                <a:gd name="T22" fmla="*/ 64 w 86"/>
                <a:gd name="T23" fmla="*/ 85 h 85"/>
                <a:gd name="T24" fmla="*/ 67 w 86"/>
                <a:gd name="T25" fmla="*/ 85 h 85"/>
                <a:gd name="T26" fmla="*/ 83 w 86"/>
                <a:gd name="T27" fmla="*/ 85 h 85"/>
                <a:gd name="T28" fmla="*/ 86 w 86"/>
                <a:gd name="T29" fmla="*/ 83 h 85"/>
                <a:gd name="T30" fmla="*/ 86 w 86"/>
                <a:gd name="T31" fmla="*/ 29 h 85"/>
                <a:gd name="T32" fmla="*/ 85 w 86"/>
                <a:gd name="T33" fmla="*/ 27 h 85"/>
                <a:gd name="T34" fmla="*/ 32 w 86"/>
                <a:gd name="T35" fmla="*/ 32 h 85"/>
                <a:gd name="T36" fmla="*/ 54 w 86"/>
                <a:gd name="T37" fmla="*/ 32 h 85"/>
                <a:gd name="T38" fmla="*/ 56 w 86"/>
                <a:gd name="T39" fmla="*/ 35 h 85"/>
                <a:gd name="T40" fmla="*/ 54 w 86"/>
                <a:gd name="T41" fmla="*/ 37 h 85"/>
                <a:gd name="T42" fmla="*/ 32 w 86"/>
                <a:gd name="T43" fmla="*/ 37 h 85"/>
                <a:gd name="T44" fmla="*/ 30 w 86"/>
                <a:gd name="T45" fmla="*/ 35 h 85"/>
                <a:gd name="T46" fmla="*/ 32 w 86"/>
                <a:gd name="T47" fmla="*/ 3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 h="85">
                  <a:moveTo>
                    <a:pt x="85" y="27"/>
                  </a:moveTo>
                  <a:cubicBezTo>
                    <a:pt x="45" y="1"/>
                    <a:pt x="45" y="1"/>
                    <a:pt x="45" y="1"/>
                  </a:cubicBezTo>
                  <a:cubicBezTo>
                    <a:pt x="44" y="0"/>
                    <a:pt x="43" y="0"/>
                    <a:pt x="42" y="1"/>
                  </a:cubicBezTo>
                  <a:cubicBezTo>
                    <a:pt x="2" y="27"/>
                    <a:pt x="2" y="27"/>
                    <a:pt x="2" y="27"/>
                  </a:cubicBezTo>
                  <a:cubicBezTo>
                    <a:pt x="1" y="28"/>
                    <a:pt x="0" y="28"/>
                    <a:pt x="0" y="29"/>
                  </a:cubicBezTo>
                  <a:cubicBezTo>
                    <a:pt x="0" y="83"/>
                    <a:pt x="0" y="83"/>
                    <a:pt x="0" y="83"/>
                  </a:cubicBezTo>
                  <a:cubicBezTo>
                    <a:pt x="0" y="84"/>
                    <a:pt x="2" y="85"/>
                    <a:pt x="3" y="85"/>
                  </a:cubicBezTo>
                  <a:cubicBezTo>
                    <a:pt x="19" y="85"/>
                    <a:pt x="19" y="85"/>
                    <a:pt x="19" y="85"/>
                  </a:cubicBezTo>
                  <a:cubicBezTo>
                    <a:pt x="22" y="85"/>
                    <a:pt x="22" y="85"/>
                    <a:pt x="22" y="85"/>
                  </a:cubicBezTo>
                  <a:cubicBezTo>
                    <a:pt x="22" y="53"/>
                    <a:pt x="22" y="53"/>
                    <a:pt x="22" y="53"/>
                  </a:cubicBezTo>
                  <a:cubicBezTo>
                    <a:pt x="64" y="53"/>
                    <a:pt x="64" y="53"/>
                    <a:pt x="64" y="53"/>
                  </a:cubicBezTo>
                  <a:cubicBezTo>
                    <a:pt x="64" y="85"/>
                    <a:pt x="64" y="85"/>
                    <a:pt x="64" y="85"/>
                  </a:cubicBezTo>
                  <a:cubicBezTo>
                    <a:pt x="67" y="85"/>
                    <a:pt x="67" y="85"/>
                    <a:pt x="67" y="85"/>
                  </a:cubicBezTo>
                  <a:cubicBezTo>
                    <a:pt x="83" y="85"/>
                    <a:pt x="83" y="85"/>
                    <a:pt x="83" y="85"/>
                  </a:cubicBezTo>
                  <a:cubicBezTo>
                    <a:pt x="85" y="85"/>
                    <a:pt x="86" y="84"/>
                    <a:pt x="86" y="83"/>
                  </a:cubicBezTo>
                  <a:cubicBezTo>
                    <a:pt x="86" y="29"/>
                    <a:pt x="86" y="29"/>
                    <a:pt x="86" y="29"/>
                  </a:cubicBezTo>
                  <a:cubicBezTo>
                    <a:pt x="86" y="28"/>
                    <a:pt x="85" y="28"/>
                    <a:pt x="85" y="27"/>
                  </a:cubicBezTo>
                  <a:close/>
                  <a:moveTo>
                    <a:pt x="32" y="32"/>
                  </a:moveTo>
                  <a:cubicBezTo>
                    <a:pt x="54" y="32"/>
                    <a:pt x="54" y="32"/>
                    <a:pt x="54" y="32"/>
                  </a:cubicBezTo>
                  <a:cubicBezTo>
                    <a:pt x="55" y="32"/>
                    <a:pt x="56" y="33"/>
                    <a:pt x="56" y="35"/>
                  </a:cubicBezTo>
                  <a:cubicBezTo>
                    <a:pt x="56" y="36"/>
                    <a:pt x="55" y="37"/>
                    <a:pt x="54" y="37"/>
                  </a:cubicBezTo>
                  <a:cubicBezTo>
                    <a:pt x="32" y="37"/>
                    <a:pt x="32" y="37"/>
                    <a:pt x="32" y="37"/>
                  </a:cubicBezTo>
                  <a:cubicBezTo>
                    <a:pt x="31" y="37"/>
                    <a:pt x="30" y="36"/>
                    <a:pt x="30" y="35"/>
                  </a:cubicBezTo>
                  <a:cubicBezTo>
                    <a:pt x="30" y="33"/>
                    <a:pt x="31" y="32"/>
                    <a:pt x="32"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Rectangle 919">
              <a:extLst>
                <a:ext uri="{FF2B5EF4-FFF2-40B4-BE49-F238E27FC236}">
                  <a16:creationId xmlns:a16="http://schemas.microsoft.com/office/drawing/2014/main" id="{338EBF2D-4BF6-4DC4-BE03-B0ABF709BD98}"/>
                </a:ext>
              </a:extLst>
            </p:cNvPr>
            <p:cNvSpPr>
              <a:spLocks noChangeArrowheads="1"/>
            </p:cNvSpPr>
            <p:nvPr/>
          </p:nvSpPr>
          <p:spPr bwMode="auto">
            <a:xfrm>
              <a:off x="7112534" y="3711123"/>
              <a:ext cx="259628" cy="549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0" name="Rectangle 920">
              <a:extLst>
                <a:ext uri="{FF2B5EF4-FFF2-40B4-BE49-F238E27FC236}">
                  <a16:creationId xmlns:a16="http://schemas.microsoft.com/office/drawing/2014/main" id="{6CBFDB89-8541-4A17-A88D-B77EAFB9939C}"/>
                </a:ext>
              </a:extLst>
            </p:cNvPr>
            <p:cNvSpPr>
              <a:spLocks noChangeArrowheads="1"/>
            </p:cNvSpPr>
            <p:nvPr/>
          </p:nvSpPr>
          <p:spPr bwMode="auto">
            <a:xfrm>
              <a:off x="7112534" y="3786676"/>
              <a:ext cx="259628" cy="549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1" name="Rectangle 921">
              <a:extLst>
                <a:ext uri="{FF2B5EF4-FFF2-40B4-BE49-F238E27FC236}">
                  <a16:creationId xmlns:a16="http://schemas.microsoft.com/office/drawing/2014/main" id="{9EF2363D-250C-47E3-A067-AABA8F284D41}"/>
                </a:ext>
              </a:extLst>
            </p:cNvPr>
            <p:cNvSpPr>
              <a:spLocks noChangeArrowheads="1"/>
            </p:cNvSpPr>
            <p:nvPr/>
          </p:nvSpPr>
          <p:spPr bwMode="auto">
            <a:xfrm>
              <a:off x="7112534" y="3855361"/>
              <a:ext cx="259628" cy="5494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2" name="Group 141">
            <a:extLst>
              <a:ext uri="{FF2B5EF4-FFF2-40B4-BE49-F238E27FC236}">
                <a16:creationId xmlns:a16="http://schemas.microsoft.com/office/drawing/2014/main" id="{D3014928-07D5-452E-A71D-C39F578EC17C}"/>
              </a:ext>
            </a:extLst>
          </p:cNvPr>
          <p:cNvGrpSpPr>
            <a:grpSpLocks noChangeAspect="1"/>
          </p:cNvGrpSpPr>
          <p:nvPr/>
        </p:nvGrpSpPr>
        <p:grpSpPr>
          <a:xfrm>
            <a:off x="5281400" y="5459112"/>
            <a:ext cx="298053" cy="274320"/>
            <a:chOff x="5420143" y="3356710"/>
            <a:chExt cx="586567" cy="539862"/>
          </a:xfrm>
          <a:solidFill>
            <a:srgbClr val="595555"/>
          </a:solidFill>
        </p:grpSpPr>
        <p:sp>
          <p:nvSpPr>
            <p:cNvPr id="143" name="Freeform 936">
              <a:extLst>
                <a:ext uri="{FF2B5EF4-FFF2-40B4-BE49-F238E27FC236}">
                  <a16:creationId xmlns:a16="http://schemas.microsoft.com/office/drawing/2014/main" id="{B4F550A8-4464-49FE-AA1E-2F0C18494AA5}"/>
                </a:ext>
              </a:extLst>
            </p:cNvPr>
            <p:cNvSpPr>
              <a:spLocks/>
            </p:cNvSpPr>
            <p:nvPr/>
          </p:nvSpPr>
          <p:spPr bwMode="auto">
            <a:xfrm>
              <a:off x="5475090" y="3356710"/>
              <a:ext cx="464309" cy="48079"/>
            </a:xfrm>
            <a:custGeom>
              <a:avLst/>
              <a:gdLst>
                <a:gd name="T0" fmla="*/ 68 w 68"/>
                <a:gd name="T1" fmla="*/ 3 h 7"/>
                <a:gd name="T2" fmla="*/ 66 w 68"/>
                <a:gd name="T3" fmla="*/ 0 h 7"/>
                <a:gd name="T4" fmla="*/ 3 w 68"/>
                <a:gd name="T5" fmla="*/ 0 h 7"/>
                <a:gd name="T6" fmla="*/ 0 w 68"/>
                <a:gd name="T7" fmla="*/ 3 h 7"/>
                <a:gd name="T8" fmla="*/ 0 w 68"/>
                <a:gd name="T9" fmla="*/ 7 h 7"/>
                <a:gd name="T10" fmla="*/ 68 w 68"/>
                <a:gd name="T11" fmla="*/ 7 h 7"/>
                <a:gd name="T12" fmla="*/ 68 w 68"/>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68" h="7">
                  <a:moveTo>
                    <a:pt x="68" y="3"/>
                  </a:moveTo>
                  <a:cubicBezTo>
                    <a:pt x="68" y="1"/>
                    <a:pt x="67" y="0"/>
                    <a:pt x="66" y="0"/>
                  </a:cubicBezTo>
                  <a:cubicBezTo>
                    <a:pt x="3" y="0"/>
                    <a:pt x="3" y="0"/>
                    <a:pt x="3" y="0"/>
                  </a:cubicBezTo>
                  <a:cubicBezTo>
                    <a:pt x="2" y="0"/>
                    <a:pt x="0" y="1"/>
                    <a:pt x="0" y="3"/>
                  </a:cubicBezTo>
                  <a:cubicBezTo>
                    <a:pt x="0" y="7"/>
                    <a:pt x="0" y="7"/>
                    <a:pt x="0" y="7"/>
                  </a:cubicBezTo>
                  <a:cubicBezTo>
                    <a:pt x="68" y="7"/>
                    <a:pt x="68" y="7"/>
                    <a:pt x="68" y="7"/>
                  </a:cubicBezTo>
                  <a:lnTo>
                    <a:pt x="6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Freeform 937">
              <a:extLst>
                <a:ext uri="{FF2B5EF4-FFF2-40B4-BE49-F238E27FC236}">
                  <a16:creationId xmlns:a16="http://schemas.microsoft.com/office/drawing/2014/main" id="{CB3A07BB-1B62-472F-8DEA-B5A287A70BA2}"/>
                </a:ext>
              </a:extLst>
            </p:cNvPr>
            <p:cNvSpPr>
              <a:spLocks/>
            </p:cNvSpPr>
            <p:nvPr/>
          </p:nvSpPr>
          <p:spPr bwMode="auto">
            <a:xfrm>
              <a:off x="5420143" y="3418526"/>
              <a:ext cx="586567" cy="184075"/>
            </a:xfrm>
            <a:custGeom>
              <a:avLst/>
              <a:gdLst>
                <a:gd name="T0" fmla="*/ 77 w 86"/>
                <a:gd name="T1" fmla="*/ 0 h 27"/>
                <a:gd name="T2" fmla="*/ 9 w 86"/>
                <a:gd name="T3" fmla="*/ 0 h 27"/>
                <a:gd name="T4" fmla="*/ 0 w 86"/>
                <a:gd name="T5" fmla="*/ 14 h 27"/>
                <a:gd name="T6" fmla="*/ 0 w 86"/>
                <a:gd name="T7" fmla="*/ 18 h 27"/>
                <a:gd name="T8" fmla="*/ 8 w 86"/>
                <a:gd name="T9" fmla="*/ 27 h 27"/>
                <a:gd name="T10" fmla="*/ 17 w 86"/>
                <a:gd name="T11" fmla="*/ 18 h 27"/>
                <a:gd name="T12" fmla="*/ 26 w 86"/>
                <a:gd name="T13" fmla="*/ 27 h 27"/>
                <a:gd name="T14" fmla="*/ 35 w 86"/>
                <a:gd name="T15" fmla="*/ 18 h 27"/>
                <a:gd name="T16" fmla="*/ 43 w 86"/>
                <a:gd name="T17" fmla="*/ 27 h 27"/>
                <a:gd name="T18" fmla="*/ 52 w 86"/>
                <a:gd name="T19" fmla="*/ 18 h 27"/>
                <a:gd name="T20" fmla="*/ 60 w 86"/>
                <a:gd name="T21" fmla="*/ 27 h 27"/>
                <a:gd name="T22" fmla="*/ 69 w 86"/>
                <a:gd name="T23" fmla="*/ 18 h 27"/>
                <a:gd name="T24" fmla="*/ 78 w 86"/>
                <a:gd name="T25" fmla="*/ 27 h 27"/>
                <a:gd name="T26" fmla="*/ 86 w 86"/>
                <a:gd name="T27" fmla="*/ 18 h 27"/>
                <a:gd name="T28" fmla="*/ 86 w 86"/>
                <a:gd name="T29" fmla="*/ 14 h 27"/>
                <a:gd name="T30" fmla="*/ 77 w 86"/>
                <a:gd name="T3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6" h="27">
                  <a:moveTo>
                    <a:pt x="77" y="0"/>
                  </a:moveTo>
                  <a:cubicBezTo>
                    <a:pt x="9" y="0"/>
                    <a:pt x="9" y="0"/>
                    <a:pt x="9" y="0"/>
                  </a:cubicBezTo>
                  <a:cubicBezTo>
                    <a:pt x="0" y="14"/>
                    <a:pt x="0" y="14"/>
                    <a:pt x="0" y="14"/>
                  </a:cubicBezTo>
                  <a:cubicBezTo>
                    <a:pt x="0" y="18"/>
                    <a:pt x="0" y="18"/>
                    <a:pt x="0" y="18"/>
                  </a:cubicBezTo>
                  <a:cubicBezTo>
                    <a:pt x="0" y="22"/>
                    <a:pt x="4" y="26"/>
                    <a:pt x="8" y="27"/>
                  </a:cubicBezTo>
                  <a:cubicBezTo>
                    <a:pt x="13" y="27"/>
                    <a:pt x="17" y="23"/>
                    <a:pt x="17" y="18"/>
                  </a:cubicBezTo>
                  <a:cubicBezTo>
                    <a:pt x="17" y="23"/>
                    <a:pt x="21" y="27"/>
                    <a:pt x="26" y="27"/>
                  </a:cubicBezTo>
                  <a:cubicBezTo>
                    <a:pt x="31" y="27"/>
                    <a:pt x="35" y="23"/>
                    <a:pt x="35" y="18"/>
                  </a:cubicBezTo>
                  <a:cubicBezTo>
                    <a:pt x="35" y="23"/>
                    <a:pt x="38" y="27"/>
                    <a:pt x="43" y="27"/>
                  </a:cubicBezTo>
                  <a:cubicBezTo>
                    <a:pt x="48" y="27"/>
                    <a:pt x="52" y="23"/>
                    <a:pt x="52" y="18"/>
                  </a:cubicBezTo>
                  <a:cubicBezTo>
                    <a:pt x="52" y="23"/>
                    <a:pt x="55" y="27"/>
                    <a:pt x="60" y="27"/>
                  </a:cubicBezTo>
                  <a:cubicBezTo>
                    <a:pt x="65" y="27"/>
                    <a:pt x="69" y="23"/>
                    <a:pt x="69" y="18"/>
                  </a:cubicBezTo>
                  <a:cubicBezTo>
                    <a:pt x="69" y="23"/>
                    <a:pt x="73" y="27"/>
                    <a:pt x="78" y="27"/>
                  </a:cubicBezTo>
                  <a:cubicBezTo>
                    <a:pt x="83" y="26"/>
                    <a:pt x="86" y="22"/>
                    <a:pt x="86" y="18"/>
                  </a:cubicBezTo>
                  <a:cubicBezTo>
                    <a:pt x="86" y="14"/>
                    <a:pt x="86" y="14"/>
                    <a:pt x="86" y="14"/>
                  </a:cubicBezTo>
                  <a:lnTo>
                    <a:pt x="7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938">
              <a:extLst>
                <a:ext uri="{FF2B5EF4-FFF2-40B4-BE49-F238E27FC236}">
                  <a16:creationId xmlns:a16="http://schemas.microsoft.com/office/drawing/2014/main" id="{63EA67BA-EB66-4DB8-B25D-5F9513FD8FE7}"/>
                </a:ext>
              </a:extLst>
            </p:cNvPr>
            <p:cNvSpPr>
              <a:spLocks noEditPoints="1"/>
            </p:cNvSpPr>
            <p:nvPr/>
          </p:nvSpPr>
          <p:spPr bwMode="auto">
            <a:xfrm>
              <a:off x="5468222" y="3602601"/>
              <a:ext cx="491782" cy="293971"/>
            </a:xfrm>
            <a:custGeom>
              <a:avLst/>
              <a:gdLst>
                <a:gd name="T0" fmla="*/ 62 w 72"/>
                <a:gd name="T1" fmla="*/ 0 h 43"/>
                <a:gd name="T2" fmla="*/ 53 w 72"/>
                <a:gd name="T3" fmla="*/ 4 h 43"/>
                <a:gd name="T4" fmla="*/ 45 w 72"/>
                <a:gd name="T5" fmla="*/ 0 h 43"/>
                <a:gd name="T6" fmla="*/ 36 w 72"/>
                <a:gd name="T7" fmla="*/ 4 h 43"/>
                <a:gd name="T8" fmla="*/ 28 w 72"/>
                <a:gd name="T9" fmla="*/ 0 h 43"/>
                <a:gd name="T10" fmla="*/ 19 w 72"/>
                <a:gd name="T11" fmla="*/ 4 h 43"/>
                <a:gd name="T12" fmla="*/ 11 w 72"/>
                <a:gd name="T13" fmla="*/ 0 h 43"/>
                <a:gd name="T14" fmla="*/ 2 w 72"/>
                <a:gd name="T15" fmla="*/ 4 h 43"/>
                <a:gd name="T16" fmla="*/ 0 w 72"/>
                <a:gd name="T17" fmla="*/ 3 h 43"/>
                <a:gd name="T18" fmla="*/ 0 w 72"/>
                <a:gd name="T19" fmla="*/ 40 h 43"/>
                <a:gd name="T20" fmla="*/ 3 w 72"/>
                <a:gd name="T21" fmla="*/ 43 h 43"/>
                <a:gd name="T22" fmla="*/ 69 w 72"/>
                <a:gd name="T23" fmla="*/ 43 h 43"/>
                <a:gd name="T24" fmla="*/ 72 w 72"/>
                <a:gd name="T25" fmla="*/ 40 h 43"/>
                <a:gd name="T26" fmla="*/ 72 w 72"/>
                <a:gd name="T27" fmla="*/ 3 h 43"/>
                <a:gd name="T28" fmla="*/ 70 w 72"/>
                <a:gd name="T29" fmla="*/ 4 h 43"/>
                <a:gd name="T30" fmla="*/ 62 w 72"/>
                <a:gd name="T31" fmla="*/ 0 h 43"/>
                <a:gd name="T32" fmla="*/ 12 w 72"/>
                <a:gd name="T33" fmla="*/ 9 h 43"/>
                <a:gd name="T34" fmla="*/ 31 w 72"/>
                <a:gd name="T35" fmla="*/ 9 h 43"/>
                <a:gd name="T36" fmla="*/ 31 w 72"/>
                <a:gd name="T37" fmla="*/ 35 h 43"/>
                <a:gd name="T38" fmla="*/ 12 w 72"/>
                <a:gd name="T39" fmla="*/ 35 h 43"/>
                <a:gd name="T40" fmla="*/ 12 w 72"/>
                <a:gd name="T41" fmla="*/ 9 h 43"/>
                <a:gd name="T42" fmla="*/ 61 w 72"/>
                <a:gd name="T43" fmla="*/ 21 h 43"/>
                <a:gd name="T44" fmla="*/ 41 w 72"/>
                <a:gd name="T45" fmla="*/ 21 h 43"/>
                <a:gd name="T46" fmla="*/ 41 w 72"/>
                <a:gd name="T47" fmla="*/ 9 h 43"/>
                <a:gd name="T48" fmla="*/ 61 w 72"/>
                <a:gd name="T49" fmla="*/ 9 h 43"/>
                <a:gd name="T50" fmla="*/ 61 w 72"/>
                <a:gd name="T51" fmla="*/ 21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2" h="43">
                  <a:moveTo>
                    <a:pt x="62" y="0"/>
                  </a:moveTo>
                  <a:cubicBezTo>
                    <a:pt x="60" y="2"/>
                    <a:pt x="56" y="4"/>
                    <a:pt x="53" y="4"/>
                  </a:cubicBezTo>
                  <a:cubicBezTo>
                    <a:pt x="50" y="4"/>
                    <a:pt x="47" y="2"/>
                    <a:pt x="45" y="0"/>
                  </a:cubicBezTo>
                  <a:cubicBezTo>
                    <a:pt x="42" y="2"/>
                    <a:pt x="39" y="4"/>
                    <a:pt x="36" y="4"/>
                  </a:cubicBezTo>
                  <a:cubicBezTo>
                    <a:pt x="33" y="4"/>
                    <a:pt x="30" y="2"/>
                    <a:pt x="28" y="0"/>
                  </a:cubicBezTo>
                  <a:cubicBezTo>
                    <a:pt x="25" y="2"/>
                    <a:pt x="22" y="4"/>
                    <a:pt x="19" y="4"/>
                  </a:cubicBezTo>
                  <a:cubicBezTo>
                    <a:pt x="16" y="4"/>
                    <a:pt x="13" y="2"/>
                    <a:pt x="11" y="0"/>
                  </a:cubicBezTo>
                  <a:cubicBezTo>
                    <a:pt x="8" y="2"/>
                    <a:pt x="5" y="4"/>
                    <a:pt x="2" y="4"/>
                  </a:cubicBezTo>
                  <a:cubicBezTo>
                    <a:pt x="1" y="4"/>
                    <a:pt x="1" y="3"/>
                    <a:pt x="0" y="3"/>
                  </a:cubicBezTo>
                  <a:cubicBezTo>
                    <a:pt x="0" y="40"/>
                    <a:pt x="0" y="40"/>
                    <a:pt x="0" y="40"/>
                  </a:cubicBezTo>
                  <a:cubicBezTo>
                    <a:pt x="0" y="41"/>
                    <a:pt x="1" y="43"/>
                    <a:pt x="3" y="43"/>
                  </a:cubicBezTo>
                  <a:cubicBezTo>
                    <a:pt x="69" y="43"/>
                    <a:pt x="69" y="43"/>
                    <a:pt x="69" y="43"/>
                  </a:cubicBezTo>
                  <a:cubicBezTo>
                    <a:pt x="71" y="43"/>
                    <a:pt x="72" y="41"/>
                    <a:pt x="72" y="40"/>
                  </a:cubicBezTo>
                  <a:cubicBezTo>
                    <a:pt x="72" y="3"/>
                    <a:pt x="72" y="3"/>
                    <a:pt x="72" y="3"/>
                  </a:cubicBezTo>
                  <a:cubicBezTo>
                    <a:pt x="71" y="3"/>
                    <a:pt x="71" y="4"/>
                    <a:pt x="70" y="4"/>
                  </a:cubicBezTo>
                  <a:cubicBezTo>
                    <a:pt x="67" y="4"/>
                    <a:pt x="64" y="2"/>
                    <a:pt x="62" y="0"/>
                  </a:cubicBezTo>
                  <a:close/>
                  <a:moveTo>
                    <a:pt x="12" y="9"/>
                  </a:moveTo>
                  <a:cubicBezTo>
                    <a:pt x="31" y="9"/>
                    <a:pt x="31" y="9"/>
                    <a:pt x="31" y="9"/>
                  </a:cubicBezTo>
                  <a:cubicBezTo>
                    <a:pt x="31" y="35"/>
                    <a:pt x="31" y="35"/>
                    <a:pt x="31" y="35"/>
                  </a:cubicBezTo>
                  <a:cubicBezTo>
                    <a:pt x="12" y="35"/>
                    <a:pt x="12" y="35"/>
                    <a:pt x="12" y="35"/>
                  </a:cubicBezTo>
                  <a:lnTo>
                    <a:pt x="12" y="9"/>
                  </a:lnTo>
                  <a:close/>
                  <a:moveTo>
                    <a:pt x="61" y="21"/>
                  </a:moveTo>
                  <a:cubicBezTo>
                    <a:pt x="41" y="21"/>
                    <a:pt x="41" y="21"/>
                    <a:pt x="41" y="21"/>
                  </a:cubicBezTo>
                  <a:cubicBezTo>
                    <a:pt x="41" y="9"/>
                    <a:pt x="41" y="9"/>
                    <a:pt x="41" y="9"/>
                  </a:cubicBezTo>
                  <a:cubicBezTo>
                    <a:pt x="61" y="9"/>
                    <a:pt x="61" y="9"/>
                    <a:pt x="61" y="9"/>
                  </a:cubicBezTo>
                  <a:lnTo>
                    <a:pt x="61"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6" name="Group 145">
            <a:extLst>
              <a:ext uri="{FF2B5EF4-FFF2-40B4-BE49-F238E27FC236}">
                <a16:creationId xmlns:a16="http://schemas.microsoft.com/office/drawing/2014/main" id="{81F9F16C-EF06-4D2F-A33E-E49D89ED307C}"/>
              </a:ext>
            </a:extLst>
          </p:cNvPr>
          <p:cNvGrpSpPr>
            <a:grpSpLocks noChangeAspect="1"/>
          </p:cNvGrpSpPr>
          <p:nvPr/>
        </p:nvGrpSpPr>
        <p:grpSpPr>
          <a:xfrm>
            <a:off x="6226800" y="5425998"/>
            <a:ext cx="258108" cy="274320"/>
            <a:chOff x="6204522" y="3329236"/>
            <a:chExt cx="546730" cy="581073"/>
          </a:xfrm>
          <a:solidFill>
            <a:srgbClr val="595555"/>
          </a:solidFill>
        </p:grpSpPr>
        <p:sp>
          <p:nvSpPr>
            <p:cNvPr id="147" name="Freeform 939">
              <a:extLst>
                <a:ext uri="{FF2B5EF4-FFF2-40B4-BE49-F238E27FC236}">
                  <a16:creationId xmlns:a16="http://schemas.microsoft.com/office/drawing/2014/main" id="{51105B1E-7867-4C37-BFC3-5E5440728565}"/>
                </a:ext>
              </a:extLst>
            </p:cNvPr>
            <p:cNvSpPr>
              <a:spLocks/>
            </p:cNvSpPr>
            <p:nvPr/>
          </p:nvSpPr>
          <p:spPr bwMode="auto">
            <a:xfrm>
              <a:off x="6204522" y="3869098"/>
              <a:ext cx="546730" cy="41211"/>
            </a:xfrm>
            <a:custGeom>
              <a:avLst/>
              <a:gdLst>
                <a:gd name="T0" fmla="*/ 0 w 398"/>
                <a:gd name="T1" fmla="*/ 0 h 30"/>
                <a:gd name="T2" fmla="*/ 0 w 398"/>
                <a:gd name="T3" fmla="*/ 30 h 30"/>
                <a:gd name="T4" fmla="*/ 199 w 398"/>
                <a:gd name="T5" fmla="*/ 30 h 30"/>
                <a:gd name="T6" fmla="*/ 398 w 398"/>
                <a:gd name="T7" fmla="*/ 30 h 30"/>
                <a:gd name="T8" fmla="*/ 398 w 398"/>
                <a:gd name="T9" fmla="*/ 0 h 30"/>
                <a:gd name="T10" fmla="*/ 199 w 398"/>
                <a:gd name="T11" fmla="*/ 0 h 30"/>
                <a:gd name="T12" fmla="*/ 0 w 398"/>
                <a:gd name="T13" fmla="*/ 0 h 30"/>
              </a:gdLst>
              <a:ahLst/>
              <a:cxnLst>
                <a:cxn ang="0">
                  <a:pos x="T0" y="T1"/>
                </a:cxn>
                <a:cxn ang="0">
                  <a:pos x="T2" y="T3"/>
                </a:cxn>
                <a:cxn ang="0">
                  <a:pos x="T4" y="T5"/>
                </a:cxn>
                <a:cxn ang="0">
                  <a:pos x="T6" y="T7"/>
                </a:cxn>
                <a:cxn ang="0">
                  <a:pos x="T8" y="T9"/>
                </a:cxn>
                <a:cxn ang="0">
                  <a:pos x="T10" y="T11"/>
                </a:cxn>
                <a:cxn ang="0">
                  <a:pos x="T12" y="T13"/>
                </a:cxn>
              </a:cxnLst>
              <a:rect l="0" t="0" r="r" b="b"/>
              <a:pathLst>
                <a:path w="398" h="30">
                  <a:moveTo>
                    <a:pt x="0" y="0"/>
                  </a:moveTo>
                  <a:lnTo>
                    <a:pt x="0" y="30"/>
                  </a:lnTo>
                  <a:lnTo>
                    <a:pt x="199" y="30"/>
                  </a:lnTo>
                  <a:lnTo>
                    <a:pt x="398" y="30"/>
                  </a:lnTo>
                  <a:lnTo>
                    <a:pt x="398" y="0"/>
                  </a:lnTo>
                  <a:lnTo>
                    <a:pt x="19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8" name="Freeform 940">
              <a:extLst>
                <a:ext uri="{FF2B5EF4-FFF2-40B4-BE49-F238E27FC236}">
                  <a16:creationId xmlns:a16="http://schemas.microsoft.com/office/drawing/2014/main" id="{55BDC907-4286-431A-8D8B-DCDD5EE15D2E}"/>
                </a:ext>
              </a:extLst>
            </p:cNvPr>
            <p:cNvSpPr>
              <a:spLocks noEditPoints="1"/>
            </p:cNvSpPr>
            <p:nvPr/>
          </p:nvSpPr>
          <p:spPr bwMode="auto">
            <a:xfrm>
              <a:off x="6204522" y="3329236"/>
              <a:ext cx="546730" cy="519256"/>
            </a:xfrm>
            <a:custGeom>
              <a:avLst/>
              <a:gdLst>
                <a:gd name="T0" fmla="*/ 77 w 80"/>
                <a:gd name="T1" fmla="*/ 43 h 76"/>
                <a:gd name="T2" fmla="*/ 66 w 80"/>
                <a:gd name="T3" fmla="*/ 43 h 76"/>
                <a:gd name="T4" fmla="*/ 43 w 80"/>
                <a:gd name="T5" fmla="*/ 20 h 76"/>
                <a:gd name="T6" fmla="*/ 43 w 80"/>
                <a:gd name="T7" fmla="*/ 13 h 76"/>
                <a:gd name="T8" fmla="*/ 56 w 80"/>
                <a:gd name="T9" fmla="*/ 13 h 76"/>
                <a:gd name="T10" fmla="*/ 56 w 80"/>
                <a:gd name="T11" fmla="*/ 0 h 76"/>
                <a:gd name="T12" fmla="*/ 43 w 80"/>
                <a:gd name="T13" fmla="*/ 0 h 76"/>
                <a:gd name="T14" fmla="*/ 40 w 80"/>
                <a:gd name="T15" fmla="*/ 0 h 76"/>
                <a:gd name="T16" fmla="*/ 37 w 80"/>
                <a:gd name="T17" fmla="*/ 0 h 76"/>
                <a:gd name="T18" fmla="*/ 37 w 80"/>
                <a:gd name="T19" fmla="*/ 20 h 76"/>
                <a:gd name="T20" fmla="*/ 15 w 80"/>
                <a:gd name="T21" fmla="*/ 43 h 76"/>
                <a:gd name="T22" fmla="*/ 3 w 80"/>
                <a:gd name="T23" fmla="*/ 43 h 76"/>
                <a:gd name="T24" fmla="*/ 0 w 80"/>
                <a:gd name="T25" fmla="*/ 45 h 76"/>
                <a:gd name="T26" fmla="*/ 0 w 80"/>
                <a:gd name="T27" fmla="*/ 76 h 76"/>
                <a:gd name="T28" fmla="*/ 40 w 80"/>
                <a:gd name="T29" fmla="*/ 76 h 76"/>
                <a:gd name="T30" fmla="*/ 80 w 80"/>
                <a:gd name="T31" fmla="*/ 76 h 76"/>
                <a:gd name="T32" fmla="*/ 80 w 80"/>
                <a:gd name="T33" fmla="*/ 45 h 76"/>
                <a:gd name="T34" fmla="*/ 77 w 80"/>
                <a:gd name="T35" fmla="*/ 43 h 76"/>
                <a:gd name="T36" fmla="*/ 20 w 80"/>
                <a:gd name="T37" fmla="*/ 68 h 76"/>
                <a:gd name="T38" fmla="*/ 12 w 80"/>
                <a:gd name="T39" fmla="*/ 68 h 76"/>
                <a:gd name="T40" fmla="*/ 12 w 80"/>
                <a:gd name="T41" fmla="*/ 51 h 76"/>
                <a:gd name="T42" fmla="*/ 20 w 80"/>
                <a:gd name="T43" fmla="*/ 51 h 76"/>
                <a:gd name="T44" fmla="*/ 20 w 80"/>
                <a:gd name="T45" fmla="*/ 68 h 76"/>
                <a:gd name="T46" fmla="*/ 36 w 80"/>
                <a:gd name="T47" fmla="*/ 68 h 76"/>
                <a:gd name="T48" fmla="*/ 28 w 80"/>
                <a:gd name="T49" fmla="*/ 68 h 76"/>
                <a:gd name="T50" fmla="*/ 28 w 80"/>
                <a:gd name="T51" fmla="*/ 51 h 76"/>
                <a:gd name="T52" fmla="*/ 36 w 80"/>
                <a:gd name="T53" fmla="*/ 51 h 76"/>
                <a:gd name="T54" fmla="*/ 36 w 80"/>
                <a:gd name="T55" fmla="*/ 68 h 76"/>
                <a:gd name="T56" fmla="*/ 52 w 80"/>
                <a:gd name="T57" fmla="*/ 68 h 76"/>
                <a:gd name="T58" fmla="*/ 44 w 80"/>
                <a:gd name="T59" fmla="*/ 68 h 76"/>
                <a:gd name="T60" fmla="*/ 44 w 80"/>
                <a:gd name="T61" fmla="*/ 51 h 76"/>
                <a:gd name="T62" fmla="*/ 52 w 80"/>
                <a:gd name="T63" fmla="*/ 51 h 76"/>
                <a:gd name="T64" fmla="*/ 52 w 80"/>
                <a:gd name="T65" fmla="*/ 68 h 76"/>
                <a:gd name="T66" fmla="*/ 68 w 80"/>
                <a:gd name="T67" fmla="*/ 68 h 76"/>
                <a:gd name="T68" fmla="*/ 60 w 80"/>
                <a:gd name="T69" fmla="*/ 68 h 76"/>
                <a:gd name="T70" fmla="*/ 60 w 80"/>
                <a:gd name="T71" fmla="*/ 51 h 76"/>
                <a:gd name="T72" fmla="*/ 68 w 80"/>
                <a:gd name="T73" fmla="*/ 51 h 76"/>
                <a:gd name="T74" fmla="*/ 68 w 80"/>
                <a:gd name="T75" fmla="*/ 68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0" h="76">
                  <a:moveTo>
                    <a:pt x="77" y="43"/>
                  </a:moveTo>
                  <a:cubicBezTo>
                    <a:pt x="66" y="43"/>
                    <a:pt x="66" y="43"/>
                    <a:pt x="66" y="43"/>
                  </a:cubicBezTo>
                  <a:cubicBezTo>
                    <a:pt x="64" y="31"/>
                    <a:pt x="54" y="21"/>
                    <a:pt x="43" y="20"/>
                  </a:cubicBezTo>
                  <a:cubicBezTo>
                    <a:pt x="43" y="13"/>
                    <a:pt x="43" y="13"/>
                    <a:pt x="43" y="13"/>
                  </a:cubicBezTo>
                  <a:cubicBezTo>
                    <a:pt x="56" y="13"/>
                    <a:pt x="56" y="13"/>
                    <a:pt x="56" y="13"/>
                  </a:cubicBezTo>
                  <a:cubicBezTo>
                    <a:pt x="56" y="0"/>
                    <a:pt x="56" y="0"/>
                    <a:pt x="56" y="0"/>
                  </a:cubicBezTo>
                  <a:cubicBezTo>
                    <a:pt x="43" y="0"/>
                    <a:pt x="43" y="0"/>
                    <a:pt x="43" y="0"/>
                  </a:cubicBezTo>
                  <a:cubicBezTo>
                    <a:pt x="40" y="0"/>
                    <a:pt x="40" y="0"/>
                    <a:pt x="40" y="0"/>
                  </a:cubicBezTo>
                  <a:cubicBezTo>
                    <a:pt x="37" y="0"/>
                    <a:pt x="37" y="0"/>
                    <a:pt x="37" y="0"/>
                  </a:cubicBezTo>
                  <a:cubicBezTo>
                    <a:pt x="37" y="20"/>
                    <a:pt x="37" y="20"/>
                    <a:pt x="37" y="20"/>
                  </a:cubicBezTo>
                  <a:cubicBezTo>
                    <a:pt x="26" y="21"/>
                    <a:pt x="16" y="31"/>
                    <a:pt x="15" y="43"/>
                  </a:cubicBezTo>
                  <a:cubicBezTo>
                    <a:pt x="3" y="43"/>
                    <a:pt x="3" y="43"/>
                    <a:pt x="3" y="43"/>
                  </a:cubicBezTo>
                  <a:cubicBezTo>
                    <a:pt x="1" y="43"/>
                    <a:pt x="0" y="44"/>
                    <a:pt x="0" y="45"/>
                  </a:cubicBezTo>
                  <a:cubicBezTo>
                    <a:pt x="0" y="76"/>
                    <a:pt x="0" y="76"/>
                    <a:pt x="0" y="76"/>
                  </a:cubicBezTo>
                  <a:cubicBezTo>
                    <a:pt x="40" y="76"/>
                    <a:pt x="40" y="76"/>
                    <a:pt x="40" y="76"/>
                  </a:cubicBezTo>
                  <a:cubicBezTo>
                    <a:pt x="80" y="76"/>
                    <a:pt x="80" y="76"/>
                    <a:pt x="80" y="76"/>
                  </a:cubicBezTo>
                  <a:cubicBezTo>
                    <a:pt x="80" y="45"/>
                    <a:pt x="80" y="45"/>
                    <a:pt x="80" y="45"/>
                  </a:cubicBezTo>
                  <a:cubicBezTo>
                    <a:pt x="80" y="44"/>
                    <a:pt x="79" y="43"/>
                    <a:pt x="77" y="43"/>
                  </a:cubicBezTo>
                  <a:close/>
                  <a:moveTo>
                    <a:pt x="20" y="68"/>
                  </a:moveTo>
                  <a:cubicBezTo>
                    <a:pt x="12" y="68"/>
                    <a:pt x="12" y="68"/>
                    <a:pt x="12" y="68"/>
                  </a:cubicBezTo>
                  <a:cubicBezTo>
                    <a:pt x="12" y="51"/>
                    <a:pt x="12" y="51"/>
                    <a:pt x="12" y="51"/>
                  </a:cubicBezTo>
                  <a:cubicBezTo>
                    <a:pt x="20" y="51"/>
                    <a:pt x="20" y="51"/>
                    <a:pt x="20" y="51"/>
                  </a:cubicBezTo>
                  <a:lnTo>
                    <a:pt x="20" y="68"/>
                  </a:lnTo>
                  <a:close/>
                  <a:moveTo>
                    <a:pt x="36" y="68"/>
                  </a:moveTo>
                  <a:cubicBezTo>
                    <a:pt x="28" y="68"/>
                    <a:pt x="28" y="68"/>
                    <a:pt x="28" y="68"/>
                  </a:cubicBezTo>
                  <a:cubicBezTo>
                    <a:pt x="28" y="51"/>
                    <a:pt x="28" y="51"/>
                    <a:pt x="28" y="51"/>
                  </a:cubicBezTo>
                  <a:cubicBezTo>
                    <a:pt x="36" y="51"/>
                    <a:pt x="36" y="51"/>
                    <a:pt x="36" y="51"/>
                  </a:cubicBezTo>
                  <a:lnTo>
                    <a:pt x="36" y="68"/>
                  </a:lnTo>
                  <a:close/>
                  <a:moveTo>
                    <a:pt x="52" y="68"/>
                  </a:moveTo>
                  <a:cubicBezTo>
                    <a:pt x="44" y="68"/>
                    <a:pt x="44" y="68"/>
                    <a:pt x="44" y="68"/>
                  </a:cubicBezTo>
                  <a:cubicBezTo>
                    <a:pt x="44" y="51"/>
                    <a:pt x="44" y="51"/>
                    <a:pt x="44" y="51"/>
                  </a:cubicBezTo>
                  <a:cubicBezTo>
                    <a:pt x="52" y="51"/>
                    <a:pt x="52" y="51"/>
                    <a:pt x="52" y="51"/>
                  </a:cubicBezTo>
                  <a:lnTo>
                    <a:pt x="52" y="68"/>
                  </a:lnTo>
                  <a:close/>
                  <a:moveTo>
                    <a:pt x="68" y="68"/>
                  </a:moveTo>
                  <a:cubicBezTo>
                    <a:pt x="60" y="68"/>
                    <a:pt x="60" y="68"/>
                    <a:pt x="60" y="68"/>
                  </a:cubicBezTo>
                  <a:cubicBezTo>
                    <a:pt x="60" y="51"/>
                    <a:pt x="60" y="51"/>
                    <a:pt x="60" y="51"/>
                  </a:cubicBezTo>
                  <a:cubicBezTo>
                    <a:pt x="68" y="51"/>
                    <a:pt x="68" y="51"/>
                    <a:pt x="68" y="51"/>
                  </a:cubicBezTo>
                  <a:lnTo>
                    <a:pt x="68" y="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9" name="Freeform 947">
            <a:extLst>
              <a:ext uri="{FF2B5EF4-FFF2-40B4-BE49-F238E27FC236}">
                <a16:creationId xmlns:a16="http://schemas.microsoft.com/office/drawing/2014/main" id="{8BBBDACC-084E-473F-ADDA-B4BCF60716BD}"/>
              </a:ext>
            </a:extLst>
          </p:cNvPr>
          <p:cNvSpPr>
            <a:spLocks noChangeAspect="1" noEditPoints="1"/>
          </p:cNvSpPr>
          <p:nvPr/>
        </p:nvSpPr>
        <p:spPr bwMode="auto">
          <a:xfrm>
            <a:off x="8966970" y="5450833"/>
            <a:ext cx="294996" cy="274320"/>
          </a:xfrm>
          <a:custGeom>
            <a:avLst/>
            <a:gdLst>
              <a:gd name="T0" fmla="*/ 393 w 428"/>
              <a:gd name="T1" fmla="*/ 189 h 398"/>
              <a:gd name="T2" fmla="*/ 393 w 428"/>
              <a:gd name="T3" fmla="*/ 164 h 398"/>
              <a:gd name="T4" fmla="*/ 373 w 428"/>
              <a:gd name="T5" fmla="*/ 164 h 398"/>
              <a:gd name="T6" fmla="*/ 373 w 428"/>
              <a:gd name="T7" fmla="*/ 0 h 398"/>
              <a:gd name="T8" fmla="*/ 348 w 428"/>
              <a:gd name="T9" fmla="*/ 0 h 398"/>
              <a:gd name="T10" fmla="*/ 348 w 428"/>
              <a:gd name="T11" fmla="*/ 164 h 398"/>
              <a:gd name="T12" fmla="*/ 328 w 428"/>
              <a:gd name="T13" fmla="*/ 164 h 398"/>
              <a:gd name="T14" fmla="*/ 328 w 428"/>
              <a:gd name="T15" fmla="*/ 189 h 398"/>
              <a:gd name="T16" fmla="*/ 309 w 428"/>
              <a:gd name="T17" fmla="*/ 189 h 398"/>
              <a:gd name="T18" fmla="*/ 294 w 428"/>
              <a:gd name="T19" fmla="*/ 189 h 398"/>
              <a:gd name="T20" fmla="*/ 294 w 428"/>
              <a:gd name="T21" fmla="*/ 75 h 398"/>
              <a:gd name="T22" fmla="*/ 150 w 428"/>
              <a:gd name="T23" fmla="*/ 144 h 398"/>
              <a:gd name="T24" fmla="*/ 150 w 428"/>
              <a:gd name="T25" fmla="*/ 75 h 398"/>
              <a:gd name="T26" fmla="*/ 0 w 428"/>
              <a:gd name="T27" fmla="*/ 144 h 398"/>
              <a:gd name="T28" fmla="*/ 0 w 428"/>
              <a:gd name="T29" fmla="*/ 189 h 398"/>
              <a:gd name="T30" fmla="*/ 0 w 428"/>
              <a:gd name="T31" fmla="*/ 219 h 398"/>
              <a:gd name="T32" fmla="*/ 0 w 428"/>
              <a:gd name="T33" fmla="*/ 398 h 398"/>
              <a:gd name="T34" fmla="*/ 428 w 428"/>
              <a:gd name="T35" fmla="*/ 398 h 398"/>
              <a:gd name="T36" fmla="*/ 428 w 428"/>
              <a:gd name="T37" fmla="*/ 189 h 398"/>
              <a:gd name="T38" fmla="*/ 393 w 428"/>
              <a:gd name="T39" fmla="*/ 189 h 398"/>
              <a:gd name="T40" fmla="*/ 110 w 428"/>
              <a:gd name="T41" fmla="*/ 303 h 398"/>
              <a:gd name="T42" fmla="*/ 110 w 428"/>
              <a:gd name="T43" fmla="*/ 343 h 398"/>
              <a:gd name="T44" fmla="*/ 70 w 428"/>
              <a:gd name="T45" fmla="*/ 343 h 398"/>
              <a:gd name="T46" fmla="*/ 70 w 428"/>
              <a:gd name="T47" fmla="*/ 303 h 398"/>
              <a:gd name="T48" fmla="*/ 110 w 428"/>
              <a:gd name="T49" fmla="*/ 303 h 398"/>
              <a:gd name="T50" fmla="*/ 70 w 428"/>
              <a:gd name="T51" fmla="*/ 278 h 398"/>
              <a:gd name="T52" fmla="*/ 70 w 428"/>
              <a:gd name="T53" fmla="*/ 239 h 398"/>
              <a:gd name="T54" fmla="*/ 110 w 428"/>
              <a:gd name="T55" fmla="*/ 239 h 398"/>
              <a:gd name="T56" fmla="*/ 110 w 428"/>
              <a:gd name="T57" fmla="*/ 278 h 398"/>
              <a:gd name="T58" fmla="*/ 70 w 428"/>
              <a:gd name="T59" fmla="*/ 278 h 398"/>
              <a:gd name="T60" fmla="*/ 189 w 428"/>
              <a:gd name="T61" fmla="*/ 303 h 398"/>
              <a:gd name="T62" fmla="*/ 189 w 428"/>
              <a:gd name="T63" fmla="*/ 343 h 398"/>
              <a:gd name="T64" fmla="*/ 150 w 428"/>
              <a:gd name="T65" fmla="*/ 343 h 398"/>
              <a:gd name="T66" fmla="*/ 150 w 428"/>
              <a:gd name="T67" fmla="*/ 303 h 398"/>
              <a:gd name="T68" fmla="*/ 189 w 428"/>
              <a:gd name="T69" fmla="*/ 303 h 398"/>
              <a:gd name="T70" fmla="*/ 150 w 428"/>
              <a:gd name="T71" fmla="*/ 278 h 398"/>
              <a:gd name="T72" fmla="*/ 150 w 428"/>
              <a:gd name="T73" fmla="*/ 239 h 398"/>
              <a:gd name="T74" fmla="*/ 189 w 428"/>
              <a:gd name="T75" fmla="*/ 239 h 398"/>
              <a:gd name="T76" fmla="*/ 189 w 428"/>
              <a:gd name="T77" fmla="*/ 278 h 398"/>
              <a:gd name="T78" fmla="*/ 150 w 428"/>
              <a:gd name="T79" fmla="*/ 278 h 398"/>
              <a:gd name="T80" fmla="*/ 229 w 428"/>
              <a:gd name="T81" fmla="*/ 343 h 398"/>
              <a:gd name="T82" fmla="*/ 229 w 428"/>
              <a:gd name="T83" fmla="*/ 303 h 398"/>
              <a:gd name="T84" fmla="*/ 269 w 428"/>
              <a:gd name="T85" fmla="*/ 303 h 398"/>
              <a:gd name="T86" fmla="*/ 269 w 428"/>
              <a:gd name="T87" fmla="*/ 343 h 398"/>
              <a:gd name="T88" fmla="*/ 229 w 428"/>
              <a:gd name="T89" fmla="*/ 343 h 398"/>
              <a:gd name="T90" fmla="*/ 269 w 428"/>
              <a:gd name="T91" fmla="*/ 278 h 398"/>
              <a:gd name="T92" fmla="*/ 229 w 428"/>
              <a:gd name="T93" fmla="*/ 278 h 398"/>
              <a:gd name="T94" fmla="*/ 229 w 428"/>
              <a:gd name="T95" fmla="*/ 239 h 398"/>
              <a:gd name="T96" fmla="*/ 269 w 428"/>
              <a:gd name="T97" fmla="*/ 239 h 398"/>
              <a:gd name="T98" fmla="*/ 269 w 428"/>
              <a:gd name="T99" fmla="*/ 278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8" h="398">
                <a:moveTo>
                  <a:pt x="393" y="189"/>
                </a:moveTo>
                <a:lnTo>
                  <a:pt x="393" y="164"/>
                </a:lnTo>
                <a:lnTo>
                  <a:pt x="373" y="164"/>
                </a:lnTo>
                <a:lnTo>
                  <a:pt x="373" y="0"/>
                </a:lnTo>
                <a:lnTo>
                  <a:pt x="348" y="0"/>
                </a:lnTo>
                <a:lnTo>
                  <a:pt x="348" y="164"/>
                </a:lnTo>
                <a:lnTo>
                  <a:pt x="328" y="164"/>
                </a:lnTo>
                <a:lnTo>
                  <a:pt x="328" y="189"/>
                </a:lnTo>
                <a:lnTo>
                  <a:pt x="309" y="189"/>
                </a:lnTo>
                <a:lnTo>
                  <a:pt x="294" y="189"/>
                </a:lnTo>
                <a:lnTo>
                  <a:pt x="294" y="75"/>
                </a:lnTo>
                <a:lnTo>
                  <a:pt x="150" y="144"/>
                </a:lnTo>
                <a:lnTo>
                  <a:pt x="150" y="75"/>
                </a:lnTo>
                <a:lnTo>
                  <a:pt x="0" y="144"/>
                </a:lnTo>
                <a:lnTo>
                  <a:pt x="0" y="189"/>
                </a:lnTo>
                <a:lnTo>
                  <a:pt x="0" y="219"/>
                </a:lnTo>
                <a:lnTo>
                  <a:pt x="0" y="398"/>
                </a:lnTo>
                <a:lnTo>
                  <a:pt x="428" y="398"/>
                </a:lnTo>
                <a:lnTo>
                  <a:pt x="428" y="189"/>
                </a:lnTo>
                <a:lnTo>
                  <a:pt x="393" y="189"/>
                </a:lnTo>
                <a:close/>
                <a:moveTo>
                  <a:pt x="110" y="303"/>
                </a:moveTo>
                <a:lnTo>
                  <a:pt x="110" y="343"/>
                </a:lnTo>
                <a:lnTo>
                  <a:pt x="70" y="343"/>
                </a:lnTo>
                <a:lnTo>
                  <a:pt x="70" y="303"/>
                </a:lnTo>
                <a:lnTo>
                  <a:pt x="110" y="303"/>
                </a:lnTo>
                <a:close/>
                <a:moveTo>
                  <a:pt x="70" y="278"/>
                </a:moveTo>
                <a:lnTo>
                  <a:pt x="70" y="239"/>
                </a:lnTo>
                <a:lnTo>
                  <a:pt x="110" y="239"/>
                </a:lnTo>
                <a:lnTo>
                  <a:pt x="110" y="278"/>
                </a:lnTo>
                <a:lnTo>
                  <a:pt x="70" y="278"/>
                </a:lnTo>
                <a:close/>
                <a:moveTo>
                  <a:pt x="189" y="303"/>
                </a:moveTo>
                <a:lnTo>
                  <a:pt x="189" y="343"/>
                </a:lnTo>
                <a:lnTo>
                  <a:pt x="150" y="343"/>
                </a:lnTo>
                <a:lnTo>
                  <a:pt x="150" y="303"/>
                </a:lnTo>
                <a:lnTo>
                  <a:pt x="189" y="303"/>
                </a:lnTo>
                <a:close/>
                <a:moveTo>
                  <a:pt x="150" y="278"/>
                </a:moveTo>
                <a:lnTo>
                  <a:pt x="150" y="239"/>
                </a:lnTo>
                <a:lnTo>
                  <a:pt x="189" y="239"/>
                </a:lnTo>
                <a:lnTo>
                  <a:pt x="189" y="278"/>
                </a:lnTo>
                <a:lnTo>
                  <a:pt x="150" y="278"/>
                </a:lnTo>
                <a:close/>
                <a:moveTo>
                  <a:pt x="229" y="343"/>
                </a:moveTo>
                <a:lnTo>
                  <a:pt x="229" y="303"/>
                </a:lnTo>
                <a:lnTo>
                  <a:pt x="269" y="303"/>
                </a:lnTo>
                <a:lnTo>
                  <a:pt x="269" y="343"/>
                </a:lnTo>
                <a:lnTo>
                  <a:pt x="229" y="343"/>
                </a:lnTo>
                <a:close/>
                <a:moveTo>
                  <a:pt x="269" y="278"/>
                </a:moveTo>
                <a:lnTo>
                  <a:pt x="229" y="278"/>
                </a:lnTo>
                <a:lnTo>
                  <a:pt x="229" y="239"/>
                </a:lnTo>
                <a:lnTo>
                  <a:pt x="269" y="239"/>
                </a:lnTo>
                <a:lnTo>
                  <a:pt x="269" y="278"/>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50" name="Group 149">
            <a:extLst>
              <a:ext uri="{FF2B5EF4-FFF2-40B4-BE49-F238E27FC236}">
                <a16:creationId xmlns:a16="http://schemas.microsoft.com/office/drawing/2014/main" id="{39DF792E-10A2-4313-8873-42341D3F14D5}"/>
              </a:ext>
            </a:extLst>
          </p:cNvPr>
          <p:cNvGrpSpPr>
            <a:grpSpLocks noChangeAspect="1"/>
          </p:cNvGrpSpPr>
          <p:nvPr/>
        </p:nvGrpSpPr>
        <p:grpSpPr>
          <a:xfrm>
            <a:off x="8096075" y="5425998"/>
            <a:ext cx="247731" cy="274320"/>
            <a:chOff x="7755422" y="3329236"/>
            <a:chExt cx="524752" cy="581073"/>
          </a:xfrm>
          <a:solidFill>
            <a:srgbClr val="595555"/>
          </a:solidFill>
        </p:grpSpPr>
        <p:sp>
          <p:nvSpPr>
            <p:cNvPr id="151" name="Freeform 969">
              <a:extLst>
                <a:ext uri="{FF2B5EF4-FFF2-40B4-BE49-F238E27FC236}">
                  <a16:creationId xmlns:a16="http://schemas.microsoft.com/office/drawing/2014/main" id="{126E41B7-D5A1-4E56-A379-A1BDFE59F64C}"/>
                </a:ext>
              </a:extLst>
            </p:cNvPr>
            <p:cNvSpPr>
              <a:spLocks noEditPoints="1"/>
            </p:cNvSpPr>
            <p:nvPr/>
          </p:nvSpPr>
          <p:spPr bwMode="auto">
            <a:xfrm>
              <a:off x="7755422" y="3439131"/>
              <a:ext cx="142864" cy="471177"/>
            </a:xfrm>
            <a:custGeom>
              <a:avLst/>
              <a:gdLst>
                <a:gd name="T0" fmla="*/ 0 w 21"/>
                <a:gd name="T1" fmla="*/ 69 h 69"/>
                <a:gd name="T2" fmla="*/ 4 w 21"/>
                <a:gd name="T3" fmla="*/ 69 h 69"/>
                <a:gd name="T4" fmla="*/ 5 w 21"/>
                <a:gd name="T5" fmla="*/ 69 h 69"/>
                <a:gd name="T6" fmla="*/ 16 w 21"/>
                <a:gd name="T7" fmla="*/ 69 h 69"/>
                <a:gd name="T8" fmla="*/ 20 w 21"/>
                <a:gd name="T9" fmla="*/ 69 h 69"/>
                <a:gd name="T10" fmla="*/ 21 w 21"/>
                <a:gd name="T11" fmla="*/ 69 h 69"/>
                <a:gd name="T12" fmla="*/ 21 w 21"/>
                <a:gd name="T13" fmla="*/ 3 h 69"/>
                <a:gd name="T14" fmla="*/ 18 w 21"/>
                <a:gd name="T15" fmla="*/ 0 h 69"/>
                <a:gd name="T16" fmla="*/ 2 w 21"/>
                <a:gd name="T17" fmla="*/ 0 h 69"/>
                <a:gd name="T18" fmla="*/ 0 w 21"/>
                <a:gd name="T19" fmla="*/ 3 h 69"/>
                <a:gd name="T20" fmla="*/ 0 w 21"/>
                <a:gd name="T21" fmla="*/ 69 h 69"/>
                <a:gd name="T22" fmla="*/ 6 w 21"/>
                <a:gd name="T23" fmla="*/ 7 h 69"/>
                <a:gd name="T24" fmla="*/ 14 w 21"/>
                <a:gd name="T25" fmla="*/ 7 h 69"/>
                <a:gd name="T26" fmla="*/ 14 w 21"/>
                <a:gd name="T27" fmla="*/ 15 h 69"/>
                <a:gd name="T28" fmla="*/ 6 w 21"/>
                <a:gd name="T29" fmla="*/ 15 h 69"/>
                <a:gd name="T30" fmla="*/ 6 w 21"/>
                <a:gd name="T31" fmla="*/ 7 h 69"/>
                <a:gd name="T32" fmla="*/ 6 w 21"/>
                <a:gd name="T33" fmla="*/ 23 h 69"/>
                <a:gd name="T34" fmla="*/ 14 w 21"/>
                <a:gd name="T35" fmla="*/ 23 h 69"/>
                <a:gd name="T36" fmla="*/ 14 w 21"/>
                <a:gd name="T37" fmla="*/ 31 h 69"/>
                <a:gd name="T38" fmla="*/ 6 w 21"/>
                <a:gd name="T39" fmla="*/ 31 h 69"/>
                <a:gd name="T40" fmla="*/ 6 w 21"/>
                <a:gd name="T41" fmla="*/ 23 h 69"/>
                <a:gd name="T42" fmla="*/ 6 w 21"/>
                <a:gd name="T43" fmla="*/ 39 h 69"/>
                <a:gd name="T44" fmla="*/ 14 w 21"/>
                <a:gd name="T45" fmla="*/ 39 h 69"/>
                <a:gd name="T46" fmla="*/ 14 w 21"/>
                <a:gd name="T47" fmla="*/ 47 h 69"/>
                <a:gd name="T48" fmla="*/ 6 w 21"/>
                <a:gd name="T49" fmla="*/ 47 h 69"/>
                <a:gd name="T50" fmla="*/ 6 w 21"/>
                <a:gd name="T51" fmla="*/ 39 h 69"/>
                <a:gd name="T52" fmla="*/ 6 w 21"/>
                <a:gd name="T53" fmla="*/ 55 h 69"/>
                <a:gd name="T54" fmla="*/ 14 w 21"/>
                <a:gd name="T55" fmla="*/ 55 h 69"/>
                <a:gd name="T56" fmla="*/ 14 w 21"/>
                <a:gd name="T57" fmla="*/ 63 h 69"/>
                <a:gd name="T58" fmla="*/ 6 w 21"/>
                <a:gd name="T59" fmla="*/ 63 h 69"/>
                <a:gd name="T60" fmla="*/ 6 w 21"/>
                <a:gd name="T61" fmla="*/ 5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 h="69">
                  <a:moveTo>
                    <a:pt x="0" y="69"/>
                  </a:moveTo>
                  <a:cubicBezTo>
                    <a:pt x="4" y="69"/>
                    <a:pt x="4" y="69"/>
                    <a:pt x="4" y="69"/>
                  </a:cubicBezTo>
                  <a:cubicBezTo>
                    <a:pt x="5" y="69"/>
                    <a:pt x="5" y="69"/>
                    <a:pt x="5" y="69"/>
                  </a:cubicBezTo>
                  <a:cubicBezTo>
                    <a:pt x="16" y="69"/>
                    <a:pt x="16" y="69"/>
                    <a:pt x="16" y="69"/>
                  </a:cubicBezTo>
                  <a:cubicBezTo>
                    <a:pt x="20" y="69"/>
                    <a:pt x="20" y="69"/>
                    <a:pt x="20" y="69"/>
                  </a:cubicBezTo>
                  <a:cubicBezTo>
                    <a:pt x="21" y="69"/>
                    <a:pt x="21" y="69"/>
                    <a:pt x="21" y="69"/>
                  </a:cubicBezTo>
                  <a:cubicBezTo>
                    <a:pt x="21" y="3"/>
                    <a:pt x="21" y="3"/>
                    <a:pt x="21" y="3"/>
                  </a:cubicBezTo>
                  <a:cubicBezTo>
                    <a:pt x="21" y="1"/>
                    <a:pt x="20" y="0"/>
                    <a:pt x="18" y="0"/>
                  </a:cubicBezTo>
                  <a:cubicBezTo>
                    <a:pt x="2" y="0"/>
                    <a:pt x="2" y="0"/>
                    <a:pt x="2" y="0"/>
                  </a:cubicBezTo>
                  <a:cubicBezTo>
                    <a:pt x="1" y="0"/>
                    <a:pt x="0" y="1"/>
                    <a:pt x="0" y="3"/>
                  </a:cubicBezTo>
                  <a:lnTo>
                    <a:pt x="0" y="69"/>
                  </a:lnTo>
                  <a:close/>
                  <a:moveTo>
                    <a:pt x="6" y="7"/>
                  </a:moveTo>
                  <a:cubicBezTo>
                    <a:pt x="14" y="7"/>
                    <a:pt x="14" y="7"/>
                    <a:pt x="14" y="7"/>
                  </a:cubicBezTo>
                  <a:cubicBezTo>
                    <a:pt x="14" y="15"/>
                    <a:pt x="14" y="15"/>
                    <a:pt x="14" y="15"/>
                  </a:cubicBezTo>
                  <a:cubicBezTo>
                    <a:pt x="6" y="15"/>
                    <a:pt x="6" y="15"/>
                    <a:pt x="6" y="15"/>
                  </a:cubicBezTo>
                  <a:lnTo>
                    <a:pt x="6" y="7"/>
                  </a:lnTo>
                  <a:close/>
                  <a:moveTo>
                    <a:pt x="6" y="23"/>
                  </a:moveTo>
                  <a:cubicBezTo>
                    <a:pt x="14" y="23"/>
                    <a:pt x="14" y="23"/>
                    <a:pt x="14" y="23"/>
                  </a:cubicBezTo>
                  <a:cubicBezTo>
                    <a:pt x="14" y="31"/>
                    <a:pt x="14" y="31"/>
                    <a:pt x="14" y="31"/>
                  </a:cubicBezTo>
                  <a:cubicBezTo>
                    <a:pt x="6" y="31"/>
                    <a:pt x="6" y="31"/>
                    <a:pt x="6" y="31"/>
                  </a:cubicBezTo>
                  <a:lnTo>
                    <a:pt x="6" y="23"/>
                  </a:lnTo>
                  <a:close/>
                  <a:moveTo>
                    <a:pt x="6" y="39"/>
                  </a:moveTo>
                  <a:cubicBezTo>
                    <a:pt x="14" y="39"/>
                    <a:pt x="14" y="39"/>
                    <a:pt x="14" y="39"/>
                  </a:cubicBezTo>
                  <a:cubicBezTo>
                    <a:pt x="14" y="47"/>
                    <a:pt x="14" y="47"/>
                    <a:pt x="14" y="47"/>
                  </a:cubicBezTo>
                  <a:cubicBezTo>
                    <a:pt x="6" y="47"/>
                    <a:pt x="6" y="47"/>
                    <a:pt x="6" y="47"/>
                  </a:cubicBezTo>
                  <a:lnTo>
                    <a:pt x="6" y="39"/>
                  </a:lnTo>
                  <a:close/>
                  <a:moveTo>
                    <a:pt x="6" y="55"/>
                  </a:moveTo>
                  <a:cubicBezTo>
                    <a:pt x="14" y="55"/>
                    <a:pt x="14" y="55"/>
                    <a:pt x="14" y="55"/>
                  </a:cubicBezTo>
                  <a:cubicBezTo>
                    <a:pt x="14" y="63"/>
                    <a:pt x="14" y="63"/>
                    <a:pt x="14" y="63"/>
                  </a:cubicBezTo>
                  <a:cubicBezTo>
                    <a:pt x="6" y="63"/>
                    <a:pt x="6" y="63"/>
                    <a:pt x="6" y="63"/>
                  </a:cubicBezTo>
                  <a:lnTo>
                    <a:pt x="6" y="5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2" name="Freeform 970">
              <a:extLst>
                <a:ext uri="{FF2B5EF4-FFF2-40B4-BE49-F238E27FC236}">
                  <a16:creationId xmlns:a16="http://schemas.microsoft.com/office/drawing/2014/main" id="{ADA26EE9-83F9-432A-907D-9268DA51317B}"/>
                </a:ext>
              </a:extLst>
            </p:cNvPr>
            <p:cNvSpPr>
              <a:spLocks noEditPoints="1"/>
            </p:cNvSpPr>
            <p:nvPr/>
          </p:nvSpPr>
          <p:spPr bwMode="auto">
            <a:xfrm>
              <a:off x="7918892" y="3329236"/>
              <a:ext cx="361282" cy="581073"/>
            </a:xfrm>
            <a:custGeom>
              <a:avLst/>
              <a:gdLst>
                <a:gd name="T0" fmla="*/ 0 w 53"/>
                <a:gd name="T1" fmla="*/ 3 h 85"/>
                <a:gd name="T2" fmla="*/ 1 w 53"/>
                <a:gd name="T3" fmla="*/ 85 h 85"/>
                <a:gd name="T4" fmla="*/ 16 w 53"/>
                <a:gd name="T5" fmla="*/ 85 h 85"/>
                <a:gd name="T6" fmla="*/ 32 w 53"/>
                <a:gd name="T7" fmla="*/ 85 h 85"/>
                <a:gd name="T8" fmla="*/ 48 w 53"/>
                <a:gd name="T9" fmla="*/ 85 h 85"/>
                <a:gd name="T10" fmla="*/ 53 w 53"/>
                <a:gd name="T11" fmla="*/ 85 h 85"/>
                <a:gd name="T12" fmla="*/ 50 w 53"/>
                <a:gd name="T13" fmla="*/ 0 h 85"/>
                <a:gd name="T14" fmla="*/ 14 w 53"/>
                <a:gd name="T15" fmla="*/ 79 h 85"/>
                <a:gd name="T16" fmla="*/ 6 w 53"/>
                <a:gd name="T17" fmla="*/ 71 h 85"/>
                <a:gd name="T18" fmla="*/ 14 w 53"/>
                <a:gd name="T19" fmla="*/ 79 h 85"/>
                <a:gd name="T20" fmla="*/ 6 w 53"/>
                <a:gd name="T21" fmla="*/ 63 h 85"/>
                <a:gd name="T22" fmla="*/ 14 w 53"/>
                <a:gd name="T23" fmla="*/ 55 h 85"/>
                <a:gd name="T24" fmla="*/ 14 w 53"/>
                <a:gd name="T25" fmla="*/ 47 h 85"/>
                <a:gd name="T26" fmla="*/ 6 w 53"/>
                <a:gd name="T27" fmla="*/ 39 h 85"/>
                <a:gd name="T28" fmla="*/ 14 w 53"/>
                <a:gd name="T29" fmla="*/ 47 h 85"/>
                <a:gd name="T30" fmla="*/ 6 w 53"/>
                <a:gd name="T31" fmla="*/ 31 h 85"/>
                <a:gd name="T32" fmla="*/ 14 w 53"/>
                <a:gd name="T33" fmla="*/ 23 h 85"/>
                <a:gd name="T34" fmla="*/ 14 w 53"/>
                <a:gd name="T35" fmla="*/ 15 h 85"/>
                <a:gd name="T36" fmla="*/ 6 w 53"/>
                <a:gd name="T37" fmla="*/ 7 h 85"/>
                <a:gd name="T38" fmla="*/ 14 w 53"/>
                <a:gd name="T39" fmla="*/ 15 h 85"/>
                <a:gd name="T40" fmla="*/ 22 w 53"/>
                <a:gd name="T41" fmla="*/ 79 h 85"/>
                <a:gd name="T42" fmla="*/ 30 w 53"/>
                <a:gd name="T43" fmla="*/ 71 h 85"/>
                <a:gd name="T44" fmla="*/ 30 w 53"/>
                <a:gd name="T45" fmla="*/ 63 h 85"/>
                <a:gd name="T46" fmla="*/ 22 w 53"/>
                <a:gd name="T47" fmla="*/ 55 h 85"/>
                <a:gd name="T48" fmla="*/ 30 w 53"/>
                <a:gd name="T49" fmla="*/ 63 h 85"/>
                <a:gd name="T50" fmla="*/ 22 w 53"/>
                <a:gd name="T51" fmla="*/ 47 h 85"/>
                <a:gd name="T52" fmla="*/ 30 w 53"/>
                <a:gd name="T53" fmla="*/ 39 h 85"/>
                <a:gd name="T54" fmla="*/ 30 w 53"/>
                <a:gd name="T55" fmla="*/ 31 h 85"/>
                <a:gd name="T56" fmla="*/ 22 w 53"/>
                <a:gd name="T57" fmla="*/ 23 h 85"/>
                <a:gd name="T58" fmla="*/ 30 w 53"/>
                <a:gd name="T59" fmla="*/ 31 h 85"/>
                <a:gd name="T60" fmla="*/ 22 w 53"/>
                <a:gd name="T61" fmla="*/ 15 h 85"/>
                <a:gd name="T62" fmla="*/ 30 w 53"/>
                <a:gd name="T63" fmla="*/ 7 h 85"/>
                <a:gd name="T64" fmla="*/ 46 w 53"/>
                <a:gd name="T65" fmla="*/ 79 h 85"/>
                <a:gd name="T66" fmla="*/ 38 w 53"/>
                <a:gd name="T67" fmla="*/ 71 h 85"/>
                <a:gd name="T68" fmla="*/ 46 w 53"/>
                <a:gd name="T69" fmla="*/ 79 h 85"/>
                <a:gd name="T70" fmla="*/ 38 w 53"/>
                <a:gd name="T71" fmla="*/ 63 h 85"/>
                <a:gd name="T72" fmla="*/ 46 w 53"/>
                <a:gd name="T73" fmla="*/ 55 h 85"/>
                <a:gd name="T74" fmla="*/ 46 w 53"/>
                <a:gd name="T75" fmla="*/ 47 h 85"/>
                <a:gd name="T76" fmla="*/ 38 w 53"/>
                <a:gd name="T77" fmla="*/ 39 h 85"/>
                <a:gd name="T78" fmla="*/ 46 w 53"/>
                <a:gd name="T79" fmla="*/ 47 h 85"/>
                <a:gd name="T80" fmla="*/ 38 w 53"/>
                <a:gd name="T81" fmla="*/ 31 h 85"/>
                <a:gd name="T82" fmla="*/ 46 w 53"/>
                <a:gd name="T83" fmla="*/ 23 h 85"/>
                <a:gd name="T84" fmla="*/ 46 w 53"/>
                <a:gd name="T85" fmla="*/ 15 h 85"/>
                <a:gd name="T86" fmla="*/ 38 w 53"/>
                <a:gd name="T87" fmla="*/ 7 h 85"/>
                <a:gd name="T88" fmla="*/ 46 w 53"/>
                <a:gd name="T89"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3" h="85">
                  <a:moveTo>
                    <a:pt x="2" y="0"/>
                  </a:moveTo>
                  <a:cubicBezTo>
                    <a:pt x="1" y="0"/>
                    <a:pt x="0" y="1"/>
                    <a:pt x="0" y="3"/>
                  </a:cubicBezTo>
                  <a:cubicBezTo>
                    <a:pt x="0" y="85"/>
                    <a:pt x="0" y="85"/>
                    <a:pt x="0" y="85"/>
                  </a:cubicBezTo>
                  <a:cubicBezTo>
                    <a:pt x="1" y="85"/>
                    <a:pt x="1" y="85"/>
                    <a:pt x="1" y="85"/>
                  </a:cubicBezTo>
                  <a:cubicBezTo>
                    <a:pt x="5" y="85"/>
                    <a:pt x="5" y="85"/>
                    <a:pt x="5" y="85"/>
                  </a:cubicBezTo>
                  <a:cubicBezTo>
                    <a:pt x="16" y="85"/>
                    <a:pt x="16" y="85"/>
                    <a:pt x="16" y="85"/>
                  </a:cubicBezTo>
                  <a:cubicBezTo>
                    <a:pt x="21" y="85"/>
                    <a:pt x="21" y="85"/>
                    <a:pt x="21" y="85"/>
                  </a:cubicBezTo>
                  <a:cubicBezTo>
                    <a:pt x="32" y="85"/>
                    <a:pt x="32" y="85"/>
                    <a:pt x="32" y="85"/>
                  </a:cubicBezTo>
                  <a:cubicBezTo>
                    <a:pt x="37" y="85"/>
                    <a:pt x="37" y="85"/>
                    <a:pt x="37" y="85"/>
                  </a:cubicBezTo>
                  <a:cubicBezTo>
                    <a:pt x="48" y="85"/>
                    <a:pt x="48" y="85"/>
                    <a:pt x="48" y="85"/>
                  </a:cubicBezTo>
                  <a:cubicBezTo>
                    <a:pt x="50" y="85"/>
                    <a:pt x="50" y="85"/>
                    <a:pt x="50" y="85"/>
                  </a:cubicBezTo>
                  <a:cubicBezTo>
                    <a:pt x="53" y="85"/>
                    <a:pt x="53" y="85"/>
                    <a:pt x="53" y="85"/>
                  </a:cubicBezTo>
                  <a:cubicBezTo>
                    <a:pt x="53" y="3"/>
                    <a:pt x="53" y="3"/>
                    <a:pt x="53" y="3"/>
                  </a:cubicBezTo>
                  <a:cubicBezTo>
                    <a:pt x="53" y="1"/>
                    <a:pt x="52" y="0"/>
                    <a:pt x="50" y="0"/>
                  </a:cubicBezTo>
                  <a:lnTo>
                    <a:pt x="2" y="0"/>
                  </a:lnTo>
                  <a:close/>
                  <a:moveTo>
                    <a:pt x="14" y="79"/>
                  </a:moveTo>
                  <a:cubicBezTo>
                    <a:pt x="6" y="79"/>
                    <a:pt x="6" y="79"/>
                    <a:pt x="6" y="79"/>
                  </a:cubicBezTo>
                  <a:cubicBezTo>
                    <a:pt x="6" y="71"/>
                    <a:pt x="6" y="71"/>
                    <a:pt x="6" y="71"/>
                  </a:cubicBezTo>
                  <a:cubicBezTo>
                    <a:pt x="14" y="71"/>
                    <a:pt x="14" y="71"/>
                    <a:pt x="14" y="71"/>
                  </a:cubicBezTo>
                  <a:lnTo>
                    <a:pt x="14" y="79"/>
                  </a:lnTo>
                  <a:close/>
                  <a:moveTo>
                    <a:pt x="14" y="63"/>
                  </a:moveTo>
                  <a:cubicBezTo>
                    <a:pt x="6" y="63"/>
                    <a:pt x="6" y="63"/>
                    <a:pt x="6" y="63"/>
                  </a:cubicBezTo>
                  <a:cubicBezTo>
                    <a:pt x="6" y="55"/>
                    <a:pt x="6" y="55"/>
                    <a:pt x="6" y="55"/>
                  </a:cubicBezTo>
                  <a:cubicBezTo>
                    <a:pt x="14" y="55"/>
                    <a:pt x="14" y="55"/>
                    <a:pt x="14" y="55"/>
                  </a:cubicBezTo>
                  <a:lnTo>
                    <a:pt x="14" y="63"/>
                  </a:lnTo>
                  <a:close/>
                  <a:moveTo>
                    <a:pt x="14" y="47"/>
                  </a:moveTo>
                  <a:cubicBezTo>
                    <a:pt x="6" y="47"/>
                    <a:pt x="6" y="47"/>
                    <a:pt x="6" y="47"/>
                  </a:cubicBezTo>
                  <a:cubicBezTo>
                    <a:pt x="6" y="39"/>
                    <a:pt x="6" y="39"/>
                    <a:pt x="6" y="39"/>
                  </a:cubicBezTo>
                  <a:cubicBezTo>
                    <a:pt x="14" y="39"/>
                    <a:pt x="14" y="39"/>
                    <a:pt x="14" y="39"/>
                  </a:cubicBezTo>
                  <a:lnTo>
                    <a:pt x="14" y="47"/>
                  </a:lnTo>
                  <a:close/>
                  <a:moveTo>
                    <a:pt x="14" y="31"/>
                  </a:moveTo>
                  <a:cubicBezTo>
                    <a:pt x="6" y="31"/>
                    <a:pt x="6" y="31"/>
                    <a:pt x="6" y="31"/>
                  </a:cubicBezTo>
                  <a:cubicBezTo>
                    <a:pt x="6" y="23"/>
                    <a:pt x="6" y="23"/>
                    <a:pt x="6" y="23"/>
                  </a:cubicBezTo>
                  <a:cubicBezTo>
                    <a:pt x="14" y="23"/>
                    <a:pt x="14" y="23"/>
                    <a:pt x="14" y="23"/>
                  </a:cubicBezTo>
                  <a:lnTo>
                    <a:pt x="14" y="31"/>
                  </a:lnTo>
                  <a:close/>
                  <a:moveTo>
                    <a:pt x="14" y="15"/>
                  </a:moveTo>
                  <a:cubicBezTo>
                    <a:pt x="6" y="15"/>
                    <a:pt x="6" y="15"/>
                    <a:pt x="6" y="15"/>
                  </a:cubicBezTo>
                  <a:cubicBezTo>
                    <a:pt x="6" y="7"/>
                    <a:pt x="6" y="7"/>
                    <a:pt x="6" y="7"/>
                  </a:cubicBezTo>
                  <a:cubicBezTo>
                    <a:pt x="14" y="7"/>
                    <a:pt x="14" y="7"/>
                    <a:pt x="14" y="7"/>
                  </a:cubicBezTo>
                  <a:lnTo>
                    <a:pt x="14" y="15"/>
                  </a:lnTo>
                  <a:close/>
                  <a:moveTo>
                    <a:pt x="30" y="79"/>
                  </a:moveTo>
                  <a:cubicBezTo>
                    <a:pt x="22" y="79"/>
                    <a:pt x="22" y="79"/>
                    <a:pt x="22" y="79"/>
                  </a:cubicBezTo>
                  <a:cubicBezTo>
                    <a:pt x="22" y="71"/>
                    <a:pt x="22" y="71"/>
                    <a:pt x="22" y="71"/>
                  </a:cubicBezTo>
                  <a:cubicBezTo>
                    <a:pt x="30" y="71"/>
                    <a:pt x="30" y="71"/>
                    <a:pt x="30" y="71"/>
                  </a:cubicBezTo>
                  <a:lnTo>
                    <a:pt x="30" y="79"/>
                  </a:lnTo>
                  <a:close/>
                  <a:moveTo>
                    <a:pt x="30" y="63"/>
                  </a:moveTo>
                  <a:cubicBezTo>
                    <a:pt x="22" y="63"/>
                    <a:pt x="22" y="63"/>
                    <a:pt x="22" y="63"/>
                  </a:cubicBezTo>
                  <a:cubicBezTo>
                    <a:pt x="22" y="55"/>
                    <a:pt x="22" y="55"/>
                    <a:pt x="22" y="55"/>
                  </a:cubicBezTo>
                  <a:cubicBezTo>
                    <a:pt x="30" y="55"/>
                    <a:pt x="30" y="55"/>
                    <a:pt x="30" y="55"/>
                  </a:cubicBezTo>
                  <a:lnTo>
                    <a:pt x="30" y="63"/>
                  </a:lnTo>
                  <a:close/>
                  <a:moveTo>
                    <a:pt x="30" y="47"/>
                  </a:moveTo>
                  <a:cubicBezTo>
                    <a:pt x="22" y="47"/>
                    <a:pt x="22" y="47"/>
                    <a:pt x="22" y="47"/>
                  </a:cubicBezTo>
                  <a:cubicBezTo>
                    <a:pt x="22" y="39"/>
                    <a:pt x="22" y="39"/>
                    <a:pt x="22" y="39"/>
                  </a:cubicBezTo>
                  <a:cubicBezTo>
                    <a:pt x="30" y="39"/>
                    <a:pt x="30" y="39"/>
                    <a:pt x="30" y="39"/>
                  </a:cubicBezTo>
                  <a:lnTo>
                    <a:pt x="30" y="47"/>
                  </a:lnTo>
                  <a:close/>
                  <a:moveTo>
                    <a:pt x="30" y="31"/>
                  </a:moveTo>
                  <a:cubicBezTo>
                    <a:pt x="22" y="31"/>
                    <a:pt x="22" y="31"/>
                    <a:pt x="22" y="31"/>
                  </a:cubicBezTo>
                  <a:cubicBezTo>
                    <a:pt x="22" y="23"/>
                    <a:pt x="22" y="23"/>
                    <a:pt x="22" y="23"/>
                  </a:cubicBezTo>
                  <a:cubicBezTo>
                    <a:pt x="30" y="23"/>
                    <a:pt x="30" y="23"/>
                    <a:pt x="30" y="23"/>
                  </a:cubicBezTo>
                  <a:lnTo>
                    <a:pt x="30" y="31"/>
                  </a:lnTo>
                  <a:close/>
                  <a:moveTo>
                    <a:pt x="30" y="15"/>
                  </a:moveTo>
                  <a:cubicBezTo>
                    <a:pt x="22" y="15"/>
                    <a:pt x="22" y="15"/>
                    <a:pt x="22" y="15"/>
                  </a:cubicBezTo>
                  <a:cubicBezTo>
                    <a:pt x="22" y="7"/>
                    <a:pt x="22" y="7"/>
                    <a:pt x="22" y="7"/>
                  </a:cubicBezTo>
                  <a:cubicBezTo>
                    <a:pt x="30" y="7"/>
                    <a:pt x="30" y="7"/>
                    <a:pt x="30" y="7"/>
                  </a:cubicBezTo>
                  <a:lnTo>
                    <a:pt x="30" y="15"/>
                  </a:lnTo>
                  <a:close/>
                  <a:moveTo>
                    <a:pt x="46" y="79"/>
                  </a:moveTo>
                  <a:cubicBezTo>
                    <a:pt x="38" y="79"/>
                    <a:pt x="38" y="79"/>
                    <a:pt x="38" y="79"/>
                  </a:cubicBezTo>
                  <a:cubicBezTo>
                    <a:pt x="38" y="71"/>
                    <a:pt x="38" y="71"/>
                    <a:pt x="38" y="71"/>
                  </a:cubicBezTo>
                  <a:cubicBezTo>
                    <a:pt x="46" y="71"/>
                    <a:pt x="46" y="71"/>
                    <a:pt x="46" y="71"/>
                  </a:cubicBezTo>
                  <a:lnTo>
                    <a:pt x="46" y="79"/>
                  </a:lnTo>
                  <a:close/>
                  <a:moveTo>
                    <a:pt x="46" y="63"/>
                  </a:moveTo>
                  <a:cubicBezTo>
                    <a:pt x="38" y="63"/>
                    <a:pt x="38" y="63"/>
                    <a:pt x="38" y="63"/>
                  </a:cubicBezTo>
                  <a:cubicBezTo>
                    <a:pt x="38" y="55"/>
                    <a:pt x="38" y="55"/>
                    <a:pt x="38" y="55"/>
                  </a:cubicBezTo>
                  <a:cubicBezTo>
                    <a:pt x="46" y="55"/>
                    <a:pt x="46" y="55"/>
                    <a:pt x="46" y="55"/>
                  </a:cubicBezTo>
                  <a:lnTo>
                    <a:pt x="46" y="63"/>
                  </a:lnTo>
                  <a:close/>
                  <a:moveTo>
                    <a:pt x="46" y="47"/>
                  </a:moveTo>
                  <a:cubicBezTo>
                    <a:pt x="38" y="47"/>
                    <a:pt x="38" y="47"/>
                    <a:pt x="38" y="47"/>
                  </a:cubicBezTo>
                  <a:cubicBezTo>
                    <a:pt x="38" y="39"/>
                    <a:pt x="38" y="39"/>
                    <a:pt x="38" y="39"/>
                  </a:cubicBezTo>
                  <a:cubicBezTo>
                    <a:pt x="46" y="39"/>
                    <a:pt x="46" y="39"/>
                    <a:pt x="46" y="39"/>
                  </a:cubicBezTo>
                  <a:lnTo>
                    <a:pt x="46" y="47"/>
                  </a:lnTo>
                  <a:close/>
                  <a:moveTo>
                    <a:pt x="46" y="31"/>
                  </a:moveTo>
                  <a:cubicBezTo>
                    <a:pt x="38" y="31"/>
                    <a:pt x="38" y="31"/>
                    <a:pt x="38" y="31"/>
                  </a:cubicBezTo>
                  <a:cubicBezTo>
                    <a:pt x="38" y="23"/>
                    <a:pt x="38" y="23"/>
                    <a:pt x="38" y="23"/>
                  </a:cubicBezTo>
                  <a:cubicBezTo>
                    <a:pt x="46" y="23"/>
                    <a:pt x="46" y="23"/>
                    <a:pt x="46" y="23"/>
                  </a:cubicBezTo>
                  <a:lnTo>
                    <a:pt x="46" y="31"/>
                  </a:lnTo>
                  <a:close/>
                  <a:moveTo>
                    <a:pt x="46" y="15"/>
                  </a:moveTo>
                  <a:cubicBezTo>
                    <a:pt x="38" y="15"/>
                    <a:pt x="38" y="15"/>
                    <a:pt x="38" y="15"/>
                  </a:cubicBezTo>
                  <a:cubicBezTo>
                    <a:pt x="38" y="7"/>
                    <a:pt x="38" y="7"/>
                    <a:pt x="38" y="7"/>
                  </a:cubicBezTo>
                  <a:cubicBezTo>
                    <a:pt x="46" y="7"/>
                    <a:pt x="46" y="7"/>
                    <a:pt x="46" y="7"/>
                  </a:cubicBezTo>
                  <a:lnTo>
                    <a:pt x="4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844966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E01F2A-5714-4D71-9584-5F201509BAB5}"/>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56</a:t>
            </a:fld>
            <a:endParaRPr lang="en-IN" dirty="0">
              <a:solidFill>
                <a:srgbClr val="8C8585"/>
              </a:solidFill>
            </a:endParaRPr>
          </a:p>
        </p:txBody>
      </p:sp>
      <p:sp>
        <p:nvSpPr>
          <p:cNvPr id="6" name="Freeform 841">
            <a:extLst>
              <a:ext uri="{FF2B5EF4-FFF2-40B4-BE49-F238E27FC236}">
                <a16:creationId xmlns:a16="http://schemas.microsoft.com/office/drawing/2014/main" id="{2DADA3F1-6F90-4D32-B590-0BF2DC7A113A}"/>
              </a:ext>
            </a:extLst>
          </p:cNvPr>
          <p:cNvSpPr>
            <a:spLocks noChangeAspect="1" noEditPoints="1"/>
          </p:cNvSpPr>
          <p:nvPr/>
        </p:nvSpPr>
        <p:spPr bwMode="auto">
          <a:xfrm>
            <a:off x="6433886" y="2496394"/>
            <a:ext cx="123612" cy="362255"/>
          </a:xfrm>
          <a:custGeom>
            <a:avLst/>
            <a:gdLst>
              <a:gd name="T0" fmla="*/ 18 w 29"/>
              <a:gd name="T1" fmla="*/ 85 h 85"/>
              <a:gd name="T2" fmla="*/ 20 w 29"/>
              <a:gd name="T3" fmla="*/ 83 h 85"/>
              <a:gd name="T4" fmla="*/ 24 w 29"/>
              <a:gd name="T5" fmla="*/ 49 h 85"/>
              <a:gd name="T6" fmla="*/ 25 w 29"/>
              <a:gd name="T7" fmla="*/ 45 h 85"/>
              <a:gd name="T8" fmla="*/ 28 w 29"/>
              <a:gd name="T9" fmla="*/ 37 h 85"/>
              <a:gd name="T10" fmla="*/ 28 w 29"/>
              <a:gd name="T11" fmla="*/ 22 h 85"/>
              <a:gd name="T12" fmla="*/ 20 w 29"/>
              <a:gd name="T13" fmla="*/ 17 h 85"/>
              <a:gd name="T14" fmla="*/ 15 w 29"/>
              <a:gd name="T15" fmla="*/ 25 h 85"/>
              <a:gd name="T16" fmla="*/ 10 w 29"/>
              <a:gd name="T17" fmla="*/ 17 h 85"/>
              <a:gd name="T18" fmla="*/ 2 w 29"/>
              <a:gd name="T19" fmla="*/ 22 h 85"/>
              <a:gd name="T20" fmla="*/ 2 w 29"/>
              <a:gd name="T21" fmla="*/ 37 h 85"/>
              <a:gd name="T22" fmla="*/ 5 w 29"/>
              <a:gd name="T23" fmla="*/ 45 h 85"/>
              <a:gd name="T24" fmla="*/ 6 w 29"/>
              <a:gd name="T25" fmla="*/ 49 h 85"/>
              <a:gd name="T26" fmla="*/ 10 w 29"/>
              <a:gd name="T27" fmla="*/ 83 h 85"/>
              <a:gd name="T28" fmla="*/ 12 w 29"/>
              <a:gd name="T29" fmla="*/ 85 h 85"/>
              <a:gd name="T30" fmla="*/ 18 w 29"/>
              <a:gd name="T31" fmla="*/ 85 h 85"/>
              <a:gd name="T32" fmla="*/ 15 w 29"/>
              <a:gd name="T33" fmla="*/ 17 h 85"/>
              <a:gd name="T34" fmla="*/ 8 w 29"/>
              <a:gd name="T35" fmla="*/ 8 h 85"/>
              <a:gd name="T36" fmla="*/ 15 w 29"/>
              <a:gd name="T37" fmla="*/ 0 h 85"/>
              <a:gd name="T38" fmla="*/ 22 w 29"/>
              <a:gd name="T39" fmla="*/ 8 h 85"/>
              <a:gd name="T40" fmla="*/ 15 w 29"/>
              <a:gd name="T41" fmla="*/ 17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 h="85">
                <a:moveTo>
                  <a:pt x="18" y="85"/>
                </a:moveTo>
                <a:cubicBezTo>
                  <a:pt x="19" y="85"/>
                  <a:pt x="20" y="84"/>
                  <a:pt x="20" y="83"/>
                </a:cubicBezTo>
                <a:cubicBezTo>
                  <a:pt x="24" y="49"/>
                  <a:pt x="24" y="49"/>
                  <a:pt x="24" y="49"/>
                </a:cubicBezTo>
                <a:cubicBezTo>
                  <a:pt x="24" y="48"/>
                  <a:pt x="24" y="46"/>
                  <a:pt x="25" y="45"/>
                </a:cubicBezTo>
                <a:cubicBezTo>
                  <a:pt x="25" y="45"/>
                  <a:pt x="27" y="40"/>
                  <a:pt x="28" y="37"/>
                </a:cubicBezTo>
                <a:cubicBezTo>
                  <a:pt x="29" y="33"/>
                  <a:pt x="29" y="24"/>
                  <a:pt x="28" y="22"/>
                </a:cubicBezTo>
                <a:cubicBezTo>
                  <a:pt x="27" y="20"/>
                  <a:pt x="21" y="18"/>
                  <a:pt x="20" y="17"/>
                </a:cubicBezTo>
                <a:cubicBezTo>
                  <a:pt x="19" y="20"/>
                  <a:pt x="17" y="25"/>
                  <a:pt x="15" y="25"/>
                </a:cubicBezTo>
                <a:cubicBezTo>
                  <a:pt x="13" y="25"/>
                  <a:pt x="11" y="20"/>
                  <a:pt x="10" y="17"/>
                </a:cubicBezTo>
                <a:cubicBezTo>
                  <a:pt x="9" y="18"/>
                  <a:pt x="3" y="20"/>
                  <a:pt x="2" y="22"/>
                </a:cubicBezTo>
                <a:cubicBezTo>
                  <a:pt x="0" y="24"/>
                  <a:pt x="1" y="33"/>
                  <a:pt x="2" y="37"/>
                </a:cubicBezTo>
                <a:cubicBezTo>
                  <a:pt x="2" y="40"/>
                  <a:pt x="5" y="45"/>
                  <a:pt x="5" y="45"/>
                </a:cubicBezTo>
                <a:cubicBezTo>
                  <a:pt x="6" y="46"/>
                  <a:pt x="6" y="48"/>
                  <a:pt x="6" y="49"/>
                </a:cubicBezTo>
                <a:cubicBezTo>
                  <a:pt x="10" y="83"/>
                  <a:pt x="10" y="83"/>
                  <a:pt x="10" y="83"/>
                </a:cubicBezTo>
                <a:cubicBezTo>
                  <a:pt x="10" y="84"/>
                  <a:pt x="11" y="85"/>
                  <a:pt x="12" y="85"/>
                </a:cubicBezTo>
                <a:lnTo>
                  <a:pt x="18" y="85"/>
                </a:lnTo>
                <a:close/>
                <a:moveTo>
                  <a:pt x="15" y="17"/>
                </a:moveTo>
                <a:cubicBezTo>
                  <a:pt x="11" y="17"/>
                  <a:pt x="8" y="14"/>
                  <a:pt x="8" y="8"/>
                </a:cubicBezTo>
                <a:cubicBezTo>
                  <a:pt x="8" y="3"/>
                  <a:pt x="10" y="0"/>
                  <a:pt x="15" y="0"/>
                </a:cubicBezTo>
                <a:cubicBezTo>
                  <a:pt x="20" y="0"/>
                  <a:pt x="22" y="3"/>
                  <a:pt x="22" y="8"/>
                </a:cubicBezTo>
                <a:cubicBezTo>
                  <a:pt x="22" y="14"/>
                  <a:pt x="19" y="17"/>
                  <a:pt x="15" y="17"/>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842">
            <a:extLst>
              <a:ext uri="{FF2B5EF4-FFF2-40B4-BE49-F238E27FC236}">
                <a16:creationId xmlns:a16="http://schemas.microsoft.com/office/drawing/2014/main" id="{E49C18DC-D85F-4F43-AAFD-ACE59078B7F0}"/>
              </a:ext>
            </a:extLst>
          </p:cNvPr>
          <p:cNvSpPr>
            <a:spLocks noChangeAspect="1" noEditPoints="1"/>
          </p:cNvSpPr>
          <p:nvPr/>
        </p:nvSpPr>
        <p:spPr bwMode="auto">
          <a:xfrm>
            <a:off x="7199097" y="2496394"/>
            <a:ext cx="290150" cy="362257"/>
          </a:xfrm>
          <a:custGeom>
            <a:avLst/>
            <a:gdLst>
              <a:gd name="T0" fmla="*/ 17 w 68"/>
              <a:gd name="T1" fmla="*/ 84 h 85"/>
              <a:gd name="T2" fmla="*/ 20 w 68"/>
              <a:gd name="T3" fmla="*/ 82 h 85"/>
              <a:gd name="T4" fmla="*/ 23 w 68"/>
              <a:gd name="T5" fmla="*/ 48 h 85"/>
              <a:gd name="T6" fmla="*/ 24 w 68"/>
              <a:gd name="T7" fmla="*/ 44 h 85"/>
              <a:gd name="T8" fmla="*/ 28 w 68"/>
              <a:gd name="T9" fmla="*/ 36 h 85"/>
              <a:gd name="T10" fmla="*/ 28 w 68"/>
              <a:gd name="T11" fmla="*/ 21 h 85"/>
              <a:gd name="T12" fmla="*/ 20 w 68"/>
              <a:gd name="T13" fmla="*/ 16 h 85"/>
              <a:gd name="T14" fmla="*/ 14 w 68"/>
              <a:gd name="T15" fmla="*/ 24 h 85"/>
              <a:gd name="T16" fmla="*/ 9 w 68"/>
              <a:gd name="T17" fmla="*/ 16 h 85"/>
              <a:gd name="T18" fmla="*/ 1 w 68"/>
              <a:gd name="T19" fmla="*/ 21 h 85"/>
              <a:gd name="T20" fmla="*/ 1 w 68"/>
              <a:gd name="T21" fmla="*/ 36 h 85"/>
              <a:gd name="T22" fmla="*/ 5 w 68"/>
              <a:gd name="T23" fmla="*/ 44 h 85"/>
              <a:gd name="T24" fmla="*/ 6 w 68"/>
              <a:gd name="T25" fmla="*/ 48 h 85"/>
              <a:gd name="T26" fmla="*/ 9 w 68"/>
              <a:gd name="T27" fmla="*/ 82 h 85"/>
              <a:gd name="T28" fmla="*/ 11 w 68"/>
              <a:gd name="T29" fmla="*/ 84 h 85"/>
              <a:gd name="T30" fmla="*/ 17 w 68"/>
              <a:gd name="T31" fmla="*/ 84 h 85"/>
              <a:gd name="T32" fmla="*/ 14 w 68"/>
              <a:gd name="T33" fmla="*/ 17 h 85"/>
              <a:gd name="T34" fmla="*/ 8 w 68"/>
              <a:gd name="T35" fmla="*/ 8 h 85"/>
              <a:gd name="T36" fmla="*/ 14 w 68"/>
              <a:gd name="T37" fmla="*/ 0 h 85"/>
              <a:gd name="T38" fmla="*/ 21 w 68"/>
              <a:gd name="T39" fmla="*/ 8 h 85"/>
              <a:gd name="T40" fmla="*/ 14 w 68"/>
              <a:gd name="T41" fmla="*/ 17 h 85"/>
              <a:gd name="T42" fmla="*/ 51 w 68"/>
              <a:gd name="T43" fmla="*/ 85 h 85"/>
              <a:gd name="T44" fmla="*/ 47 w 68"/>
              <a:gd name="T45" fmla="*/ 83 h 85"/>
              <a:gd name="T46" fmla="*/ 42 w 68"/>
              <a:gd name="T47" fmla="*/ 59 h 85"/>
              <a:gd name="T48" fmla="*/ 43 w 68"/>
              <a:gd name="T49" fmla="*/ 39 h 85"/>
              <a:gd name="T50" fmla="*/ 42 w 68"/>
              <a:gd name="T51" fmla="*/ 34 h 85"/>
              <a:gd name="T52" fmla="*/ 43 w 68"/>
              <a:gd name="T53" fmla="*/ 30 h 85"/>
              <a:gd name="T54" fmla="*/ 38 w 68"/>
              <a:gd name="T55" fmla="*/ 50 h 85"/>
              <a:gd name="T56" fmla="*/ 33 w 68"/>
              <a:gd name="T57" fmla="*/ 50 h 85"/>
              <a:gd name="T58" fmla="*/ 40 w 68"/>
              <a:gd name="T59" fmla="*/ 22 h 85"/>
              <a:gd name="T60" fmla="*/ 45 w 68"/>
              <a:gd name="T61" fmla="*/ 19 h 85"/>
              <a:gd name="T62" fmla="*/ 47 w 68"/>
              <a:gd name="T63" fmla="*/ 20 h 85"/>
              <a:gd name="T64" fmla="*/ 50 w 68"/>
              <a:gd name="T65" fmla="*/ 28 h 85"/>
              <a:gd name="T66" fmla="*/ 51 w 68"/>
              <a:gd name="T67" fmla="*/ 28 h 85"/>
              <a:gd name="T68" fmla="*/ 51 w 68"/>
              <a:gd name="T69" fmla="*/ 28 h 85"/>
              <a:gd name="T70" fmla="*/ 54 w 68"/>
              <a:gd name="T71" fmla="*/ 20 h 85"/>
              <a:gd name="T72" fmla="*/ 56 w 68"/>
              <a:gd name="T73" fmla="*/ 19 h 85"/>
              <a:gd name="T74" fmla="*/ 62 w 68"/>
              <a:gd name="T75" fmla="*/ 22 h 85"/>
              <a:gd name="T76" fmla="*/ 68 w 68"/>
              <a:gd name="T77" fmla="*/ 50 h 85"/>
              <a:gd name="T78" fmla="*/ 64 w 68"/>
              <a:gd name="T79" fmla="*/ 50 h 85"/>
              <a:gd name="T80" fmla="*/ 59 w 68"/>
              <a:gd name="T81" fmla="*/ 30 h 85"/>
              <a:gd name="T82" fmla="*/ 59 w 68"/>
              <a:gd name="T83" fmla="*/ 34 h 85"/>
              <a:gd name="T84" fmla="*/ 58 w 68"/>
              <a:gd name="T85" fmla="*/ 39 h 85"/>
              <a:gd name="T86" fmla="*/ 59 w 68"/>
              <a:gd name="T87" fmla="*/ 59 h 85"/>
              <a:gd name="T88" fmla="*/ 54 w 68"/>
              <a:gd name="T89" fmla="*/ 83 h 85"/>
              <a:gd name="T90" fmla="*/ 51 w 68"/>
              <a:gd name="T91" fmla="*/ 85 h 85"/>
              <a:gd name="T92" fmla="*/ 56 w 68"/>
              <a:gd name="T93" fmla="*/ 15 h 85"/>
              <a:gd name="T94" fmla="*/ 61 w 68"/>
              <a:gd name="T95" fmla="*/ 16 h 85"/>
              <a:gd name="T96" fmla="*/ 60 w 68"/>
              <a:gd name="T97" fmla="*/ 13 h 85"/>
              <a:gd name="T98" fmla="*/ 58 w 68"/>
              <a:gd name="T99" fmla="*/ 4 h 85"/>
              <a:gd name="T100" fmla="*/ 51 w 68"/>
              <a:gd name="T101" fmla="*/ 1 h 85"/>
              <a:gd name="T102" fmla="*/ 43 w 68"/>
              <a:gd name="T103" fmla="*/ 4 h 85"/>
              <a:gd name="T104" fmla="*/ 41 w 68"/>
              <a:gd name="T105" fmla="*/ 13 h 85"/>
              <a:gd name="T106" fmla="*/ 40 w 68"/>
              <a:gd name="T107" fmla="*/ 16 h 85"/>
              <a:gd name="T108" fmla="*/ 45 w 68"/>
              <a:gd name="T109" fmla="*/ 15 h 85"/>
              <a:gd name="T110" fmla="*/ 51 w 68"/>
              <a:gd name="T111" fmla="*/ 19 h 85"/>
              <a:gd name="T112" fmla="*/ 56 w 68"/>
              <a:gd name="T113" fmla="*/ 1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 h="85">
                <a:moveTo>
                  <a:pt x="17" y="84"/>
                </a:moveTo>
                <a:cubicBezTo>
                  <a:pt x="19" y="84"/>
                  <a:pt x="19" y="83"/>
                  <a:pt x="20" y="82"/>
                </a:cubicBezTo>
                <a:cubicBezTo>
                  <a:pt x="23" y="48"/>
                  <a:pt x="23" y="48"/>
                  <a:pt x="23" y="48"/>
                </a:cubicBezTo>
                <a:cubicBezTo>
                  <a:pt x="23" y="47"/>
                  <a:pt x="23" y="46"/>
                  <a:pt x="24" y="44"/>
                </a:cubicBezTo>
                <a:cubicBezTo>
                  <a:pt x="24" y="44"/>
                  <a:pt x="27" y="40"/>
                  <a:pt x="28" y="36"/>
                </a:cubicBezTo>
                <a:cubicBezTo>
                  <a:pt x="29" y="33"/>
                  <a:pt x="29" y="23"/>
                  <a:pt x="28" y="21"/>
                </a:cubicBezTo>
                <a:cubicBezTo>
                  <a:pt x="26" y="19"/>
                  <a:pt x="21" y="18"/>
                  <a:pt x="20" y="16"/>
                </a:cubicBezTo>
                <a:cubicBezTo>
                  <a:pt x="19" y="20"/>
                  <a:pt x="16" y="24"/>
                  <a:pt x="14" y="24"/>
                </a:cubicBezTo>
                <a:cubicBezTo>
                  <a:pt x="13" y="24"/>
                  <a:pt x="10" y="20"/>
                  <a:pt x="9" y="16"/>
                </a:cubicBezTo>
                <a:cubicBezTo>
                  <a:pt x="8" y="18"/>
                  <a:pt x="3" y="19"/>
                  <a:pt x="1" y="21"/>
                </a:cubicBezTo>
                <a:cubicBezTo>
                  <a:pt x="0" y="23"/>
                  <a:pt x="0" y="33"/>
                  <a:pt x="1" y="36"/>
                </a:cubicBezTo>
                <a:cubicBezTo>
                  <a:pt x="2" y="40"/>
                  <a:pt x="5" y="44"/>
                  <a:pt x="5" y="44"/>
                </a:cubicBezTo>
                <a:cubicBezTo>
                  <a:pt x="5" y="46"/>
                  <a:pt x="6" y="47"/>
                  <a:pt x="6" y="48"/>
                </a:cubicBezTo>
                <a:cubicBezTo>
                  <a:pt x="9" y="82"/>
                  <a:pt x="9" y="82"/>
                  <a:pt x="9" y="82"/>
                </a:cubicBezTo>
                <a:cubicBezTo>
                  <a:pt x="9" y="83"/>
                  <a:pt x="10" y="84"/>
                  <a:pt x="11" y="84"/>
                </a:cubicBezTo>
                <a:lnTo>
                  <a:pt x="17" y="84"/>
                </a:lnTo>
                <a:close/>
                <a:moveTo>
                  <a:pt x="14" y="17"/>
                </a:moveTo>
                <a:cubicBezTo>
                  <a:pt x="11" y="17"/>
                  <a:pt x="8" y="14"/>
                  <a:pt x="8" y="8"/>
                </a:cubicBezTo>
                <a:cubicBezTo>
                  <a:pt x="8" y="3"/>
                  <a:pt x="10" y="0"/>
                  <a:pt x="14" y="0"/>
                </a:cubicBezTo>
                <a:cubicBezTo>
                  <a:pt x="19" y="0"/>
                  <a:pt x="21" y="3"/>
                  <a:pt x="21" y="8"/>
                </a:cubicBezTo>
                <a:cubicBezTo>
                  <a:pt x="21" y="14"/>
                  <a:pt x="18" y="17"/>
                  <a:pt x="14" y="17"/>
                </a:cubicBezTo>
                <a:close/>
                <a:moveTo>
                  <a:pt x="51" y="85"/>
                </a:moveTo>
                <a:cubicBezTo>
                  <a:pt x="49" y="85"/>
                  <a:pt x="47" y="84"/>
                  <a:pt x="47" y="83"/>
                </a:cubicBezTo>
                <a:cubicBezTo>
                  <a:pt x="42" y="59"/>
                  <a:pt x="42" y="59"/>
                  <a:pt x="42" y="59"/>
                </a:cubicBezTo>
                <a:cubicBezTo>
                  <a:pt x="38" y="59"/>
                  <a:pt x="42" y="43"/>
                  <a:pt x="43" y="39"/>
                </a:cubicBezTo>
                <a:cubicBezTo>
                  <a:pt x="42" y="37"/>
                  <a:pt x="42" y="36"/>
                  <a:pt x="42" y="34"/>
                </a:cubicBezTo>
                <a:cubicBezTo>
                  <a:pt x="42" y="33"/>
                  <a:pt x="42" y="32"/>
                  <a:pt x="43" y="30"/>
                </a:cubicBezTo>
                <a:cubicBezTo>
                  <a:pt x="39" y="34"/>
                  <a:pt x="38" y="50"/>
                  <a:pt x="38" y="50"/>
                </a:cubicBezTo>
                <a:cubicBezTo>
                  <a:pt x="38" y="54"/>
                  <a:pt x="33" y="54"/>
                  <a:pt x="33" y="50"/>
                </a:cubicBezTo>
                <a:cubicBezTo>
                  <a:pt x="33" y="46"/>
                  <a:pt x="35" y="26"/>
                  <a:pt x="40" y="22"/>
                </a:cubicBezTo>
                <a:cubicBezTo>
                  <a:pt x="41" y="20"/>
                  <a:pt x="44" y="19"/>
                  <a:pt x="45" y="19"/>
                </a:cubicBezTo>
                <a:cubicBezTo>
                  <a:pt x="46" y="19"/>
                  <a:pt x="47" y="19"/>
                  <a:pt x="47" y="20"/>
                </a:cubicBezTo>
                <a:cubicBezTo>
                  <a:pt x="48" y="22"/>
                  <a:pt x="49" y="25"/>
                  <a:pt x="50" y="28"/>
                </a:cubicBezTo>
                <a:cubicBezTo>
                  <a:pt x="50" y="28"/>
                  <a:pt x="50" y="28"/>
                  <a:pt x="51" y="28"/>
                </a:cubicBezTo>
                <a:cubicBezTo>
                  <a:pt x="51" y="28"/>
                  <a:pt x="51" y="28"/>
                  <a:pt x="51" y="28"/>
                </a:cubicBezTo>
                <a:cubicBezTo>
                  <a:pt x="52" y="25"/>
                  <a:pt x="53" y="22"/>
                  <a:pt x="54" y="20"/>
                </a:cubicBezTo>
                <a:cubicBezTo>
                  <a:pt x="54" y="19"/>
                  <a:pt x="55" y="19"/>
                  <a:pt x="56" y="19"/>
                </a:cubicBezTo>
                <a:cubicBezTo>
                  <a:pt x="57" y="19"/>
                  <a:pt x="60" y="20"/>
                  <a:pt x="62" y="22"/>
                </a:cubicBezTo>
                <a:cubicBezTo>
                  <a:pt x="66" y="26"/>
                  <a:pt x="68" y="46"/>
                  <a:pt x="68" y="50"/>
                </a:cubicBezTo>
                <a:cubicBezTo>
                  <a:pt x="68" y="54"/>
                  <a:pt x="64" y="54"/>
                  <a:pt x="64" y="50"/>
                </a:cubicBezTo>
                <a:cubicBezTo>
                  <a:pt x="64" y="50"/>
                  <a:pt x="62" y="34"/>
                  <a:pt x="59" y="30"/>
                </a:cubicBezTo>
                <a:cubicBezTo>
                  <a:pt x="59" y="32"/>
                  <a:pt x="59" y="33"/>
                  <a:pt x="59" y="34"/>
                </a:cubicBezTo>
                <a:cubicBezTo>
                  <a:pt x="59" y="36"/>
                  <a:pt x="59" y="37"/>
                  <a:pt x="58" y="39"/>
                </a:cubicBezTo>
                <a:cubicBezTo>
                  <a:pt x="59" y="43"/>
                  <a:pt x="63" y="59"/>
                  <a:pt x="59" y="59"/>
                </a:cubicBezTo>
                <a:cubicBezTo>
                  <a:pt x="54" y="83"/>
                  <a:pt x="54" y="83"/>
                  <a:pt x="54" y="83"/>
                </a:cubicBezTo>
                <a:cubicBezTo>
                  <a:pt x="54" y="84"/>
                  <a:pt x="52" y="85"/>
                  <a:pt x="51" y="85"/>
                </a:cubicBezTo>
                <a:close/>
                <a:moveTo>
                  <a:pt x="56" y="15"/>
                </a:moveTo>
                <a:cubicBezTo>
                  <a:pt x="57" y="16"/>
                  <a:pt x="59" y="17"/>
                  <a:pt x="61" y="16"/>
                </a:cubicBezTo>
                <a:cubicBezTo>
                  <a:pt x="61" y="15"/>
                  <a:pt x="60" y="14"/>
                  <a:pt x="60" y="13"/>
                </a:cubicBezTo>
                <a:cubicBezTo>
                  <a:pt x="59" y="10"/>
                  <a:pt x="60" y="7"/>
                  <a:pt x="58" y="4"/>
                </a:cubicBezTo>
                <a:cubicBezTo>
                  <a:pt x="56" y="2"/>
                  <a:pt x="53" y="1"/>
                  <a:pt x="51" y="1"/>
                </a:cubicBezTo>
                <a:cubicBezTo>
                  <a:pt x="48" y="1"/>
                  <a:pt x="45" y="2"/>
                  <a:pt x="43" y="4"/>
                </a:cubicBezTo>
                <a:cubicBezTo>
                  <a:pt x="41" y="7"/>
                  <a:pt x="42" y="10"/>
                  <a:pt x="41" y="13"/>
                </a:cubicBezTo>
                <a:cubicBezTo>
                  <a:pt x="41" y="14"/>
                  <a:pt x="40" y="15"/>
                  <a:pt x="40" y="16"/>
                </a:cubicBezTo>
                <a:cubicBezTo>
                  <a:pt x="42" y="17"/>
                  <a:pt x="44" y="16"/>
                  <a:pt x="45" y="15"/>
                </a:cubicBezTo>
                <a:cubicBezTo>
                  <a:pt x="47" y="17"/>
                  <a:pt x="49" y="19"/>
                  <a:pt x="51" y="19"/>
                </a:cubicBezTo>
                <a:cubicBezTo>
                  <a:pt x="53" y="19"/>
                  <a:pt x="54" y="17"/>
                  <a:pt x="56" y="15"/>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843">
            <a:extLst>
              <a:ext uri="{FF2B5EF4-FFF2-40B4-BE49-F238E27FC236}">
                <a16:creationId xmlns:a16="http://schemas.microsoft.com/office/drawing/2014/main" id="{F3890EA5-FDCD-4A64-BB2D-89F072A804F0}"/>
              </a:ext>
            </a:extLst>
          </p:cNvPr>
          <p:cNvSpPr>
            <a:spLocks noChangeAspect="1" noEditPoints="1"/>
          </p:cNvSpPr>
          <p:nvPr/>
        </p:nvSpPr>
        <p:spPr bwMode="auto">
          <a:xfrm>
            <a:off x="8161410" y="2496394"/>
            <a:ext cx="248084" cy="362255"/>
          </a:xfrm>
          <a:custGeom>
            <a:avLst/>
            <a:gdLst>
              <a:gd name="T0" fmla="*/ 20 w 58"/>
              <a:gd name="T1" fmla="*/ 17 h 85"/>
              <a:gd name="T2" fmla="*/ 26 w 58"/>
              <a:gd name="T3" fmla="*/ 22 h 85"/>
              <a:gd name="T4" fmla="*/ 26 w 58"/>
              <a:gd name="T5" fmla="*/ 37 h 85"/>
              <a:gd name="T6" fmla="*/ 24 w 58"/>
              <a:gd name="T7" fmla="*/ 49 h 85"/>
              <a:gd name="T8" fmla="*/ 20 w 58"/>
              <a:gd name="T9" fmla="*/ 83 h 85"/>
              <a:gd name="T10" fmla="*/ 18 w 58"/>
              <a:gd name="T11" fmla="*/ 85 h 85"/>
              <a:gd name="T12" fmla="*/ 12 w 58"/>
              <a:gd name="T13" fmla="*/ 85 h 85"/>
              <a:gd name="T14" fmla="*/ 10 w 58"/>
              <a:gd name="T15" fmla="*/ 83 h 85"/>
              <a:gd name="T16" fmla="*/ 7 w 58"/>
              <a:gd name="T17" fmla="*/ 49 h 85"/>
              <a:gd name="T18" fmla="*/ 6 w 58"/>
              <a:gd name="T19" fmla="*/ 45 h 85"/>
              <a:gd name="T20" fmla="*/ 2 w 58"/>
              <a:gd name="T21" fmla="*/ 37 h 85"/>
              <a:gd name="T22" fmla="*/ 2 w 58"/>
              <a:gd name="T23" fmla="*/ 22 h 85"/>
              <a:gd name="T24" fmla="*/ 10 w 58"/>
              <a:gd name="T25" fmla="*/ 17 h 85"/>
              <a:gd name="T26" fmla="*/ 12 w 58"/>
              <a:gd name="T27" fmla="*/ 17 h 85"/>
              <a:gd name="T28" fmla="*/ 19 w 58"/>
              <a:gd name="T29" fmla="*/ 24 h 85"/>
              <a:gd name="T30" fmla="*/ 20 w 58"/>
              <a:gd name="T31" fmla="*/ 17 h 85"/>
              <a:gd name="T32" fmla="*/ 16 w 58"/>
              <a:gd name="T33" fmla="*/ 17 h 85"/>
              <a:gd name="T34" fmla="*/ 16 w 58"/>
              <a:gd name="T35" fmla="*/ 17 h 85"/>
              <a:gd name="T36" fmla="*/ 20 w 58"/>
              <a:gd name="T37" fmla="*/ 14 h 85"/>
              <a:gd name="T38" fmla="*/ 21 w 58"/>
              <a:gd name="T39" fmla="*/ 6 h 85"/>
              <a:gd name="T40" fmla="*/ 15 w 58"/>
              <a:gd name="T41" fmla="*/ 0 h 85"/>
              <a:gd name="T42" fmla="*/ 10 w 58"/>
              <a:gd name="T43" fmla="*/ 7 h 85"/>
              <a:gd name="T44" fmla="*/ 11 w 58"/>
              <a:gd name="T45" fmla="*/ 13 h 85"/>
              <a:gd name="T46" fmla="*/ 16 w 58"/>
              <a:gd name="T47" fmla="*/ 17 h 85"/>
              <a:gd name="T48" fmla="*/ 39 w 58"/>
              <a:gd name="T49" fmla="*/ 17 h 85"/>
              <a:gd name="T50" fmla="*/ 40 w 58"/>
              <a:gd name="T51" fmla="*/ 24 h 85"/>
              <a:gd name="T52" fmla="*/ 47 w 58"/>
              <a:gd name="T53" fmla="*/ 17 h 85"/>
              <a:gd name="T54" fmla="*/ 49 w 58"/>
              <a:gd name="T55" fmla="*/ 17 h 85"/>
              <a:gd name="T56" fmla="*/ 57 w 58"/>
              <a:gd name="T57" fmla="*/ 22 h 85"/>
              <a:gd name="T58" fmla="*/ 57 w 58"/>
              <a:gd name="T59" fmla="*/ 37 h 85"/>
              <a:gd name="T60" fmla="*/ 53 w 58"/>
              <a:gd name="T61" fmla="*/ 45 h 85"/>
              <a:gd name="T62" fmla="*/ 52 w 58"/>
              <a:gd name="T63" fmla="*/ 49 h 85"/>
              <a:gd name="T64" fmla="*/ 49 w 58"/>
              <a:gd name="T65" fmla="*/ 83 h 85"/>
              <a:gd name="T66" fmla="*/ 46 w 58"/>
              <a:gd name="T67" fmla="*/ 85 h 85"/>
              <a:gd name="T68" fmla="*/ 40 w 58"/>
              <a:gd name="T69" fmla="*/ 85 h 85"/>
              <a:gd name="T70" fmla="*/ 38 w 58"/>
              <a:gd name="T71" fmla="*/ 83 h 85"/>
              <a:gd name="T72" fmla="*/ 35 w 58"/>
              <a:gd name="T73" fmla="*/ 49 h 85"/>
              <a:gd name="T74" fmla="*/ 33 w 58"/>
              <a:gd name="T75" fmla="*/ 37 h 85"/>
              <a:gd name="T76" fmla="*/ 33 w 58"/>
              <a:gd name="T77" fmla="*/ 22 h 85"/>
              <a:gd name="T78" fmla="*/ 38 w 58"/>
              <a:gd name="T79" fmla="*/ 17 h 85"/>
              <a:gd name="T80" fmla="*/ 39 w 58"/>
              <a:gd name="T81" fmla="*/ 17 h 85"/>
              <a:gd name="T82" fmla="*/ 48 w 58"/>
              <a:gd name="T83" fmla="*/ 13 h 85"/>
              <a:gd name="T84" fmla="*/ 49 w 58"/>
              <a:gd name="T85" fmla="*/ 7 h 85"/>
              <a:gd name="T86" fmla="*/ 44 w 58"/>
              <a:gd name="T87" fmla="*/ 0 h 85"/>
              <a:gd name="T88" fmla="*/ 37 w 58"/>
              <a:gd name="T89" fmla="*/ 6 h 85"/>
              <a:gd name="T90" fmla="*/ 39 w 58"/>
              <a:gd name="T91" fmla="*/ 14 h 85"/>
              <a:gd name="T92" fmla="*/ 43 w 58"/>
              <a:gd name="T93" fmla="*/ 17 h 85"/>
              <a:gd name="T94" fmla="*/ 43 w 58"/>
              <a:gd name="T95" fmla="*/ 17 h 85"/>
              <a:gd name="T96" fmla="*/ 48 w 58"/>
              <a:gd name="T97" fmla="*/ 1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8" h="85">
                <a:moveTo>
                  <a:pt x="20" y="17"/>
                </a:moveTo>
                <a:cubicBezTo>
                  <a:pt x="21" y="19"/>
                  <a:pt x="25" y="21"/>
                  <a:pt x="26" y="22"/>
                </a:cubicBezTo>
                <a:cubicBezTo>
                  <a:pt x="28" y="24"/>
                  <a:pt x="27" y="33"/>
                  <a:pt x="26" y="37"/>
                </a:cubicBezTo>
                <a:cubicBezTo>
                  <a:pt x="25" y="40"/>
                  <a:pt x="24" y="48"/>
                  <a:pt x="24" y="49"/>
                </a:cubicBezTo>
                <a:cubicBezTo>
                  <a:pt x="20" y="83"/>
                  <a:pt x="20" y="83"/>
                  <a:pt x="20" y="83"/>
                </a:cubicBezTo>
                <a:cubicBezTo>
                  <a:pt x="20" y="84"/>
                  <a:pt x="19" y="85"/>
                  <a:pt x="18" y="85"/>
                </a:cubicBezTo>
                <a:cubicBezTo>
                  <a:pt x="12" y="85"/>
                  <a:pt x="12" y="85"/>
                  <a:pt x="12" y="85"/>
                </a:cubicBezTo>
                <a:cubicBezTo>
                  <a:pt x="11" y="85"/>
                  <a:pt x="10" y="84"/>
                  <a:pt x="10" y="83"/>
                </a:cubicBezTo>
                <a:cubicBezTo>
                  <a:pt x="7" y="49"/>
                  <a:pt x="7" y="49"/>
                  <a:pt x="7" y="49"/>
                </a:cubicBezTo>
                <a:cubicBezTo>
                  <a:pt x="7" y="48"/>
                  <a:pt x="6" y="46"/>
                  <a:pt x="6" y="45"/>
                </a:cubicBezTo>
                <a:cubicBezTo>
                  <a:pt x="6" y="45"/>
                  <a:pt x="3" y="40"/>
                  <a:pt x="2" y="37"/>
                </a:cubicBezTo>
                <a:cubicBezTo>
                  <a:pt x="1" y="33"/>
                  <a:pt x="0" y="24"/>
                  <a:pt x="2" y="22"/>
                </a:cubicBezTo>
                <a:cubicBezTo>
                  <a:pt x="4" y="21"/>
                  <a:pt x="8" y="18"/>
                  <a:pt x="10" y="17"/>
                </a:cubicBezTo>
                <a:cubicBezTo>
                  <a:pt x="12" y="17"/>
                  <a:pt x="12" y="17"/>
                  <a:pt x="12" y="17"/>
                </a:cubicBezTo>
                <a:cubicBezTo>
                  <a:pt x="13" y="20"/>
                  <a:pt x="17" y="24"/>
                  <a:pt x="19" y="24"/>
                </a:cubicBezTo>
                <a:cubicBezTo>
                  <a:pt x="20" y="24"/>
                  <a:pt x="20" y="20"/>
                  <a:pt x="20" y="17"/>
                </a:cubicBezTo>
                <a:close/>
                <a:moveTo>
                  <a:pt x="16" y="17"/>
                </a:moveTo>
                <a:cubicBezTo>
                  <a:pt x="16" y="17"/>
                  <a:pt x="16" y="17"/>
                  <a:pt x="16" y="17"/>
                </a:cubicBezTo>
                <a:cubicBezTo>
                  <a:pt x="18" y="16"/>
                  <a:pt x="19" y="16"/>
                  <a:pt x="20" y="14"/>
                </a:cubicBezTo>
                <a:cubicBezTo>
                  <a:pt x="22" y="11"/>
                  <a:pt x="21" y="6"/>
                  <a:pt x="21" y="6"/>
                </a:cubicBezTo>
                <a:cubicBezTo>
                  <a:pt x="21" y="0"/>
                  <a:pt x="16" y="0"/>
                  <a:pt x="15" y="0"/>
                </a:cubicBezTo>
                <a:cubicBezTo>
                  <a:pt x="15" y="0"/>
                  <a:pt x="10" y="0"/>
                  <a:pt x="10" y="7"/>
                </a:cubicBezTo>
                <a:cubicBezTo>
                  <a:pt x="10" y="7"/>
                  <a:pt x="10" y="11"/>
                  <a:pt x="11" y="13"/>
                </a:cubicBezTo>
                <a:cubicBezTo>
                  <a:pt x="12" y="15"/>
                  <a:pt x="13" y="17"/>
                  <a:pt x="16" y="17"/>
                </a:cubicBezTo>
                <a:close/>
                <a:moveTo>
                  <a:pt x="39" y="17"/>
                </a:moveTo>
                <a:cubicBezTo>
                  <a:pt x="38" y="20"/>
                  <a:pt x="38" y="24"/>
                  <a:pt x="40" y="24"/>
                </a:cubicBezTo>
                <a:cubicBezTo>
                  <a:pt x="42" y="24"/>
                  <a:pt x="46" y="20"/>
                  <a:pt x="47" y="17"/>
                </a:cubicBezTo>
                <a:cubicBezTo>
                  <a:pt x="49" y="17"/>
                  <a:pt x="49" y="17"/>
                  <a:pt x="49" y="17"/>
                </a:cubicBezTo>
                <a:cubicBezTo>
                  <a:pt x="51" y="18"/>
                  <a:pt x="55" y="21"/>
                  <a:pt x="57" y="22"/>
                </a:cubicBezTo>
                <a:cubicBezTo>
                  <a:pt x="58" y="24"/>
                  <a:pt x="58" y="33"/>
                  <a:pt x="57" y="37"/>
                </a:cubicBezTo>
                <a:cubicBezTo>
                  <a:pt x="56" y="40"/>
                  <a:pt x="53" y="45"/>
                  <a:pt x="53" y="45"/>
                </a:cubicBezTo>
                <a:cubicBezTo>
                  <a:pt x="53" y="46"/>
                  <a:pt x="52" y="48"/>
                  <a:pt x="52" y="49"/>
                </a:cubicBezTo>
                <a:cubicBezTo>
                  <a:pt x="49" y="83"/>
                  <a:pt x="49" y="83"/>
                  <a:pt x="49" y="83"/>
                </a:cubicBezTo>
                <a:cubicBezTo>
                  <a:pt x="49" y="84"/>
                  <a:pt x="48" y="85"/>
                  <a:pt x="46" y="85"/>
                </a:cubicBezTo>
                <a:cubicBezTo>
                  <a:pt x="40" y="85"/>
                  <a:pt x="40" y="85"/>
                  <a:pt x="40" y="85"/>
                </a:cubicBezTo>
                <a:cubicBezTo>
                  <a:pt x="39" y="85"/>
                  <a:pt x="38" y="84"/>
                  <a:pt x="38" y="83"/>
                </a:cubicBezTo>
                <a:cubicBezTo>
                  <a:pt x="35" y="49"/>
                  <a:pt x="35" y="49"/>
                  <a:pt x="35" y="49"/>
                </a:cubicBezTo>
                <a:cubicBezTo>
                  <a:pt x="35" y="48"/>
                  <a:pt x="34" y="40"/>
                  <a:pt x="33" y="37"/>
                </a:cubicBezTo>
                <a:cubicBezTo>
                  <a:pt x="32" y="33"/>
                  <a:pt x="31" y="24"/>
                  <a:pt x="33" y="22"/>
                </a:cubicBezTo>
                <a:cubicBezTo>
                  <a:pt x="34" y="21"/>
                  <a:pt x="38" y="19"/>
                  <a:pt x="38" y="17"/>
                </a:cubicBezTo>
                <a:lnTo>
                  <a:pt x="39" y="17"/>
                </a:lnTo>
                <a:close/>
                <a:moveTo>
                  <a:pt x="48" y="13"/>
                </a:moveTo>
                <a:cubicBezTo>
                  <a:pt x="49" y="11"/>
                  <a:pt x="49" y="7"/>
                  <a:pt x="49" y="7"/>
                </a:cubicBezTo>
                <a:cubicBezTo>
                  <a:pt x="49" y="0"/>
                  <a:pt x="44" y="0"/>
                  <a:pt x="44" y="0"/>
                </a:cubicBezTo>
                <a:cubicBezTo>
                  <a:pt x="43" y="0"/>
                  <a:pt x="38" y="0"/>
                  <a:pt x="37" y="6"/>
                </a:cubicBezTo>
                <a:cubicBezTo>
                  <a:pt x="37" y="6"/>
                  <a:pt x="37" y="11"/>
                  <a:pt x="39" y="14"/>
                </a:cubicBezTo>
                <a:cubicBezTo>
                  <a:pt x="40" y="16"/>
                  <a:pt x="41" y="16"/>
                  <a:pt x="43" y="17"/>
                </a:cubicBezTo>
                <a:cubicBezTo>
                  <a:pt x="43" y="17"/>
                  <a:pt x="43" y="17"/>
                  <a:pt x="43" y="17"/>
                </a:cubicBezTo>
                <a:cubicBezTo>
                  <a:pt x="45" y="17"/>
                  <a:pt x="47" y="15"/>
                  <a:pt x="48" y="1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 name="Freeform 844">
            <a:extLst>
              <a:ext uri="{FF2B5EF4-FFF2-40B4-BE49-F238E27FC236}">
                <a16:creationId xmlns:a16="http://schemas.microsoft.com/office/drawing/2014/main" id="{3CFDA3D7-191B-433D-A017-E94BD0334DF6}"/>
              </a:ext>
            </a:extLst>
          </p:cNvPr>
          <p:cNvSpPr>
            <a:spLocks noChangeAspect="1" noEditPoints="1"/>
          </p:cNvSpPr>
          <p:nvPr/>
        </p:nvSpPr>
        <p:spPr bwMode="auto">
          <a:xfrm>
            <a:off x="9017719" y="2496395"/>
            <a:ext cx="320195" cy="362256"/>
          </a:xfrm>
          <a:custGeom>
            <a:avLst/>
            <a:gdLst>
              <a:gd name="T0" fmla="*/ 25 w 75"/>
              <a:gd name="T1" fmla="*/ 21 h 85"/>
              <a:gd name="T2" fmla="*/ 23 w 75"/>
              <a:gd name="T3" fmla="*/ 46 h 85"/>
              <a:gd name="T4" fmla="*/ 17 w 75"/>
              <a:gd name="T5" fmla="*/ 81 h 85"/>
              <a:gd name="T6" fmla="*/ 10 w 75"/>
              <a:gd name="T7" fmla="*/ 79 h 85"/>
              <a:gd name="T8" fmla="*/ 5 w 75"/>
              <a:gd name="T9" fmla="*/ 43 h 85"/>
              <a:gd name="T10" fmla="*/ 2 w 75"/>
              <a:gd name="T11" fmla="*/ 21 h 85"/>
              <a:gd name="T12" fmla="*/ 11 w 75"/>
              <a:gd name="T13" fmla="*/ 16 h 85"/>
              <a:gd name="T14" fmla="*/ 19 w 75"/>
              <a:gd name="T15" fmla="*/ 16 h 85"/>
              <a:gd name="T16" fmla="*/ 15 w 75"/>
              <a:gd name="T17" fmla="*/ 16 h 85"/>
              <a:gd name="T18" fmla="*/ 20 w 75"/>
              <a:gd name="T19" fmla="*/ 6 h 85"/>
              <a:gd name="T20" fmla="*/ 9 w 75"/>
              <a:gd name="T21" fmla="*/ 6 h 85"/>
              <a:gd name="T22" fmla="*/ 15 w 75"/>
              <a:gd name="T23" fmla="*/ 16 h 85"/>
              <a:gd name="T24" fmla="*/ 53 w 75"/>
              <a:gd name="T25" fmla="*/ 30 h 85"/>
              <a:gd name="T26" fmla="*/ 55 w 75"/>
              <a:gd name="T27" fmla="*/ 53 h 85"/>
              <a:gd name="T28" fmla="*/ 60 w 75"/>
              <a:gd name="T29" fmla="*/ 85 h 85"/>
              <a:gd name="T30" fmla="*/ 67 w 75"/>
              <a:gd name="T31" fmla="*/ 84 h 85"/>
              <a:gd name="T32" fmla="*/ 71 w 75"/>
              <a:gd name="T33" fmla="*/ 50 h 85"/>
              <a:gd name="T34" fmla="*/ 74 w 75"/>
              <a:gd name="T35" fmla="*/ 30 h 85"/>
              <a:gd name="T36" fmla="*/ 65 w 75"/>
              <a:gd name="T37" fmla="*/ 25 h 85"/>
              <a:gd name="T38" fmla="*/ 58 w 75"/>
              <a:gd name="T39" fmla="*/ 25 h 85"/>
              <a:gd name="T40" fmla="*/ 61 w 75"/>
              <a:gd name="T41" fmla="*/ 26 h 85"/>
              <a:gd name="T42" fmla="*/ 62 w 75"/>
              <a:gd name="T43" fmla="*/ 11 h 85"/>
              <a:gd name="T44" fmla="*/ 38 w 75"/>
              <a:gd name="T45" fmla="*/ 22 h 85"/>
              <a:gd name="T46" fmla="*/ 46 w 75"/>
              <a:gd name="T47" fmla="*/ 20 h 85"/>
              <a:gd name="T48" fmla="*/ 44 w 75"/>
              <a:gd name="T49" fmla="*/ 11 h 85"/>
              <a:gd name="T50" fmla="*/ 33 w 75"/>
              <a:gd name="T51" fmla="*/ 11 h 85"/>
              <a:gd name="T52" fmla="*/ 30 w 75"/>
              <a:gd name="T53" fmla="*/ 20 h 85"/>
              <a:gd name="T54" fmla="*/ 38 w 75"/>
              <a:gd name="T55" fmla="*/ 22 h 85"/>
              <a:gd name="T56" fmla="*/ 42 w 75"/>
              <a:gd name="T57" fmla="*/ 73 h 85"/>
              <a:gd name="T58" fmla="*/ 46 w 75"/>
              <a:gd name="T59" fmla="*/ 44 h 85"/>
              <a:gd name="T60" fmla="*/ 49 w 75"/>
              <a:gd name="T61" fmla="*/ 26 h 85"/>
              <a:gd name="T62" fmla="*/ 38 w 75"/>
              <a:gd name="T63" fmla="*/ 28 h 85"/>
              <a:gd name="T64" fmla="*/ 28 w 75"/>
              <a:gd name="T65" fmla="*/ 26 h 85"/>
              <a:gd name="T66" fmla="*/ 31 w 75"/>
              <a:gd name="T67" fmla="*/ 44 h 85"/>
              <a:gd name="T68" fmla="*/ 34 w 75"/>
              <a:gd name="T69" fmla="*/ 73 h 85"/>
              <a:gd name="T70" fmla="*/ 41 w 75"/>
              <a:gd name="T71" fmla="*/ 7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5" h="85">
                <a:moveTo>
                  <a:pt x="19" y="16"/>
                </a:moveTo>
                <a:cubicBezTo>
                  <a:pt x="20" y="18"/>
                  <a:pt x="24" y="20"/>
                  <a:pt x="25" y="21"/>
                </a:cubicBezTo>
                <a:cubicBezTo>
                  <a:pt x="26" y="23"/>
                  <a:pt x="26" y="31"/>
                  <a:pt x="25" y="35"/>
                </a:cubicBezTo>
                <a:cubicBezTo>
                  <a:pt x="24" y="38"/>
                  <a:pt x="23" y="45"/>
                  <a:pt x="23" y="46"/>
                </a:cubicBezTo>
                <a:cubicBezTo>
                  <a:pt x="19" y="79"/>
                  <a:pt x="19" y="79"/>
                  <a:pt x="19" y="79"/>
                </a:cubicBezTo>
                <a:cubicBezTo>
                  <a:pt x="19" y="80"/>
                  <a:pt x="18" y="81"/>
                  <a:pt x="17" y="81"/>
                </a:cubicBezTo>
                <a:cubicBezTo>
                  <a:pt x="12" y="81"/>
                  <a:pt x="12" y="81"/>
                  <a:pt x="12" y="81"/>
                </a:cubicBezTo>
                <a:cubicBezTo>
                  <a:pt x="11" y="81"/>
                  <a:pt x="10" y="80"/>
                  <a:pt x="10" y="79"/>
                </a:cubicBezTo>
                <a:cubicBezTo>
                  <a:pt x="6" y="46"/>
                  <a:pt x="6" y="46"/>
                  <a:pt x="6" y="46"/>
                </a:cubicBezTo>
                <a:cubicBezTo>
                  <a:pt x="6" y="45"/>
                  <a:pt x="6" y="44"/>
                  <a:pt x="5" y="43"/>
                </a:cubicBezTo>
                <a:cubicBezTo>
                  <a:pt x="5" y="43"/>
                  <a:pt x="3" y="38"/>
                  <a:pt x="2" y="35"/>
                </a:cubicBezTo>
                <a:cubicBezTo>
                  <a:pt x="1" y="31"/>
                  <a:pt x="0" y="22"/>
                  <a:pt x="2" y="21"/>
                </a:cubicBezTo>
                <a:cubicBezTo>
                  <a:pt x="3" y="19"/>
                  <a:pt x="7" y="17"/>
                  <a:pt x="10" y="16"/>
                </a:cubicBezTo>
                <a:cubicBezTo>
                  <a:pt x="11" y="16"/>
                  <a:pt x="11" y="16"/>
                  <a:pt x="11" y="16"/>
                </a:cubicBezTo>
                <a:cubicBezTo>
                  <a:pt x="12" y="19"/>
                  <a:pt x="16" y="22"/>
                  <a:pt x="18" y="22"/>
                </a:cubicBezTo>
                <a:cubicBezTo>
                  <a:pt x="19" y="22"/>
                  <a:pt x="19" y="19"/>
                  <a:pt x="19" y="16"/>
                </a:cubicBezTo>
                <a:close/>
                <a:moveTo>
                  <a:pt x="15" y="16"/>
                </a:moveTo>
                <a:cubicBezTo>
                  <a:pt x="15" y="16"/>
                  <a:pt x="15" y="16"/>
                  <a:pt x="15" y="16"/>
                </a:cubicBezTo>
                <a:cubicBezTo>
                  <a:pt x="17" y="16"/>
                  <a:pt x="18" y="15"/>
                  <a:pt x="19" y="14"/>
                </a:cubicBezTo>
                <a:cubicBezTo>
                  <a:pt x="21" y="11"/>
                  <a:pt x="20" y="6"/>
                  <a:pt x="20" y="6"/>
                </a:cubicBezTo>
                <a:cubicBezTo>
                  <a:pt x="20" y="0"/>
                  <a:pt x="15" y="0"/>
                  <a:pt x="14" y="0"/>
                </a:cubicBezTo>
                <a:cubicBezTo>
                  <a:pt x="14" y="0"/>
                  <a:pt x="9" y="0"/>
                  <a:pt x="9" y="6"/>
                </a:cubicBezTo>
                <a:cubicBezTo>
                  <a:pt x="9" y="7"/>
                  <a:pt x="9" y="10"/>
                  <a:pt x="10" y="13"/>
                </a:cubicBezTo>
                <a:cubicBezTo>
                  <a:pt x="11" y="14"/>
                  <a:pt x="13" y="16"/>
                  <a:pt x="15" y="16"/>
                </a:cubicBezTo>
                <a:close/>
                <a:moveTo>
                  <a:pt x="58" y="25"/>
                </a:moveTo>
                <a:cubicBezTo>
                  <a:pt x="57" y="27"/>
                  <a:pt x="54" y="29"/>
                  <a:pt x="53" y="30"/>
                </a:cubicBezTo>
                <a:cubicBezTo>
                  <a:pt x="52" y="30"/>
                  <a:pt x="52" y="32"/>
                  <a:pt x="52" y="35"/>
                </a:cubicBezTo>
                <a:cubicBezTo>
                  <a:pt x="52" y="40"/>
                  <a:pt x="54" y="47"/>
                  <a:pt x="55" y="53"/>
                </a:cubicBezTo>
                <a:cubicBezTo>
                  <a:pt x="55" y="59"/>
                  <a:pt x="58" y="84"/>
                  <a:pt x="58" y="84"/>
                </a:cubicBezTo>
                <a:cubicBezTo>
                  <a:pt x="58" y="85"/>
                  <a:pt x="59" y="85"/>
                  <a:pt x="60" y="85"/>
                </a:cubicBezTo>
                <a:cubicBezTo>
                  <a:pt x="65" y="85"/>
                  <a:pt x="65" y="85"/>
                  <a:pt x="65" y="85"/>
                </a:cubicBezTo>
                <a:cubicBezTo>
                  <a:pt x="66" y="85"/>
                  <a:pt x="67" y="85"/>
                  <a:pt x="67" y="84"/>
                </a:cubicBezTo>
                <a:cubicBezTo>
                  <a:pt x="70" y="53"/>
                  <a:pt x="70" y="53"/>
                  <a:pt x="70" y="53"/>
                </a:cubicBezTo>
                <a:cubicBezTo>
                  <a:pt x="70" y="52"/>
                  <a:pt x="70" y="51"/>
                  <a:pt x="71" y="50"/>
                </a:cubicBezTo>
                <a:cubicBezTo>
                  <a:pt x="71" y="50"/>
                  <a:pt x="73" y="46"/>
                  <a:pt x="74" y="43"/>
                </a:cubicBezTo>
                <a:cubicBezTo>
                  <a:pt x="75" y="39"/>
                  <a:pt x="75" y="31"/>
                  <a:pt x="74" y="30"/>
                </a:cubicBezTo>
                <a:cubicBezTo>
                  <a:pt x="72" y="28"/>
                  <a:pt x="69" y="26"/>
                  <a:pt x="67" y="25"/>
                </a:cubicBezTo>
                <a:cubicBezTo>
                  <a:pt x="65" y="25"/>
                  <a:pt x="65" y="25"/>
                  <a:pt x="65" y="25"/>
                </a:cubicBezTo>
                <a:cubicBezTo>
                  <a:pt x="64" y="28"/>
                  <a:pt x="61" y="31"/>
                  <a:pt x="59" y="31"/>
                </a:cubicBezTo>
                <a:cubicBezTo>
                  <a:pt x="58" y="31"/>
                  <a:pt x="58" y="28"/>
                  <a:pt x="58" y="25"/>
                </a:cubicBezTo>
                <a:close/>
                <a:moveTo>
                  <a:pt x="56" y="19"/>
                </a:moveTo>
                <a:cubicBezTo>
                  <a:pt x="56" y="24"/>
                  <a:pt x="58" y="26"/>
                  <a:pt x="61" y="26"/>
                </a:cubicBezTo>
                <a:cubicBezTo>
                  <a:pt x="66" y="26"/>
                  <a:pt x="66" y="19"/>
                  <a:pt x="66" y="17"/>
                </a:cubicBezTo>
                <a:cubicBezTo>
                  <a:pt x="67" y="12"/>
                  <a:pt x="63" y="11"/>
                  <a:pt x="62" y="11"/>
                </a:cubicBezTo>
                <a:cubicBezTo>
                  <a:pt x="58" y="11"/>
                  <a:pt x="56" y="14"/>
                  <a:pt x="56" y="19"/>
                </a:cubicBezTo>
                <a:close/>
                <a:moveTo>
                  <a:pt x="38" y="22"/>
                </a:moveTo>
                <a:cubicBezTo>
                  <a:pt x="40" y="22"/>
                  <a:pt x="41" y="20"/>
                  <a:pt x="42" y="19"/>
                </a:cubicBezTo>
                <a:cubicBezTo>
                  <a:pt x="43" y="20"/>
                  <a:pt x="45" y="20"/>
                  <a:pt x="46" y="20"/>
                </a:cubicBezTo>
                <a:cubicBezTo>
                  <a:pt x="46" y="19"/>
                  <a:pt x="46" y="18"/>
                  <a:pt x="46" y="17"/>
                </a:cubicBezTo>
                <a:cubicBezTo>
                  <a:pt x="45" y="15"/>
                  <a:pt x="45" y="13"/>
                  <a:pt x="44" y="11"/>
                </a:cubicBezTo>
                <a:cubicBezTo>
                  <a:pt x="43" y="9"/>
                  <a:pt x="40" y="8"/>
                  <a:pt x="38" y="8"/>
                </a:cubicBezTo>
                <a:cubicBezTo>
                  <a:pt x="36" y="8"/>
                  <a:pt x="34" y="9"/>
                  <a:pt x="33" y="11"/>
                </a:cubicBezTo>
                <a:cubicBezTo>
                  <a:pt x="32" y="13"/>
                  <a:pt x="32" y="15"/>
                  <a:pt x="31" y="17"/>
                </a:cubicBezTo>
                <a:cubicBezTo>
                  <a:pt x="31" y="18"/>
                  <a:pt x="31" y="19"/>
                  <a:pt x="30" y="20"/>
                </a:cubicBezTo>
                <a:cubicBezTo>
                  <a:pt x="32" y="20"/>
                  <a:pt x="33" y="20"/>
                  <a:pt x="34" y="19"/>
                </a:cubicBezTo>
                <a:cubicBezTo>
                  <a:pt x="35" y="20"/>
                  <a:pt x="37" y="22"/>
                  <a:pt x="38" y="22"/>
                </a:cubicBezTo>
                <a:close/>
                <a:moveTo>
                  <a:pt x="41" y="75"/>
                </a:moveTo>
                <a:cubicBezTo>
                  <a:pt x="42" y="75"/>
                  <a:pt x="42" y="74"/>
                  <a:pt x="42" y="73"/>
                </a:cubicBezTo>
                <a:cubicBezTo>
                  <a:pt x="45" y="47"/>
                  <a:pt x="45" y="47"/>
                  <a:pt x="45" y="47"/>
                </a:cubicBezTo>
                <a:cubicBezTo>
                  <a:pt x="45" y="46"/>
                  <a:pt x="45" y="45"/>
                  <a:pt x="46" y="44"/>
                </a:cubicBezTo>
                <a:cubicBezTo>
                  <a:pt x="46" y="44"/>
                  <a:pt x="48" y="40"/>
                  <a:pt x="49" y="37"/>
                </a:cubicBezTo>
                <a:cubicBezTo>
                  <a:pt x="49" y="35"/>
                  <a:pt x="50" y="27"/>
                  <a:pt x="49" y="26"/>
                </a:cubicBezTo>
                <a:cubicBezTo>
                  <a:pt x="48" y="24"/>
                  <a:pt x="43" y="23"/>
                  <a:pt x="42" y="22"/>
                </a:cubicBezTo>
                <a:cubicBezTo>
                  <a:pt x="42" y="24"/>
                  <a:pt x="40" y="28"/>
                  <a:pt x="38" y="28"/>
                </a:cubicBezTo>
                <a:cubicBezTo>
                  <a:pt x="37" y="28"/>
                  <a:pt x="35" y="24"/>
                  <a:pt x="34" y="22"/>
                </a:cubicBezTo>
                <a:cubicBezTo>
                  <a:pt x="34" y="23"/>
                  <a:pt x="29" y="24"/>
                  <a:pt x="28" y="26"/>
                </a:cubicBezTo>
                <a:cubicBezTo>
                  <a:pt x="27" y="27"/>
                  <a:pt x="27" y="35"/>
                  <a:pt x="28" y="37"/>
                </a:cubicBezTo>
                <a:cubicBezTo>
                  <a:pt x="29" y="40"/>
                  <a:pt x="31" y="44"/>
                  <a:pt x="31" y="44"/>
                </a:cubicBezTo>
                <a:cubicBezTo>
                  <a:pt x="31" y="45"/>
                  <a:pt x="32" y="46"/>
                  <a:pt x="32" y="47"/>
                </a:cubicBezTo>
                <a:cubicBezTo>
                  <a:pt x="34" y="73"/>
                  <a:pt x="34" y="73"/>
                  <a:pt x="34" y="73"/>
                </a:cubicBezTo>
                <a:cubicBezTo>
                  <a:pt x="34" y="74"/>
                  <a:pt x="35" y="75"/>
                  <a:pt x="36" y="75"/>
                </a:cubicBezTo>
                <a:lnTo>
                  <a:pt x="41" y="7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845">
            <a:extLst>
              <a:ext uri="{FF2B5EF4-FFF2-40B4-BE49-F238E27FC236}">
                <a16:creationId xmlns:a16="http://schemas.microsoft.com/office/drawing/2014/main" id="{0B100B09-87DC-4CB3-AC9D-C88AB0DC20BA}"/>
              </a:ext>
            </a:extLst>
          </p:cNvPr>
          <p:cNvSpPr>
            <a:spLocks noChangeAspect="1" noEditPoints="1"/>
          </p:cNvSpPr>
          <p:nvPr/>
        </p:nvSpPr>
        <p:spPr bwMode="auto">
          <a:xfrm>
            <a:off x="9948562" y="2496395"/>
            <a:ext cx="235968" cy="274320"/>
          </a:xfrm>
          <a:custGeom>
            <a:avLst/>
            <a:gdLst>
              <a:gd name="T0" fmla="*/ 1 w 73"/>
              <a:gd name="T1" fmla="*/ 77 h 85"/>
              <a:gd name="T2" fmla="*/ 0 w 73"/>
              <a:gd name="T3" fmla="*/ 67 h 85"/>
              <a:gd name="T4" fmla="*/ 7 w 73"/>
              <a:gd name="T5" fmla="*/ 56 h 85"/>
              <a:gd name="T6" fmla="*/ 22 w 73"/>
              <a:gd name="T7" fmla="*/ 50 h 85"/>
              <a:gd name="T8" fmla="*/ 28 w 73"/>
              <a:gd name="T9" fmla="*/ 63 h 85"/>
              <a:gd name="T10" fmla="*/ 29 w 73"/>
              <a:gd name="T11" fmla="*/ 63 h 85"/>
              <a:gd name="T12" fmla="*/ 29 w 73"/>
              <a:gd name="T13" fmla="*/ 63 h 85"/>
              <a:gd name="T14" fmla="*/ 32 w 73"/>
              <a:gd name="T15" fmla="*/ 59 h 85"/>
              <a:gd name="T16" fmla="*/ 36 w 73"/>
              <a:gd name="T17" fmla="*/ 56 h 85"/>
              <a:gd name="T18" fmla="*/ 41 w 73"/>
              <a:gd name="T19" fmla="*/ 59 h 85"/>
              <a:gd name="T20" fmla="*/ 44 w 73"/>
              <a:gd name="T21" fmla="*/ 63 h 85"/>
              <a:gd name="T22" fmla="*/ 44 w 73"/>
              <a:gd name="T23" fmla="*/ 63 h 85"/>
              <a:gd name="T24" fmla="*/ 45 w 73"/>
              <a:gd name="T25" fmla="*/ 63 h 85"/>
              <a:gd name="T26" fmla="*/ 51 w 73"/>
              <a:gd name="T27" fmla="*/ 50 h 85"/>
              <a:gd name="T28" fmla="*/ 66 w 73"/>
              <a:gd name="T29" fmla="*/ 56 h 85"/>
              <a:gd name="T30" fmla="*/ 73 w 73"/>
              <a:gd name="T31" fmla="*/ 67 h 85"/>
              <a:gd name="T32" fmla="*/ 72 w 73"/>
              <a:gd name="T33" fmla="*/ 77 h 85"/>
              <a:gd name="T34" fmla="*/ 36 w 73"/>
              <a:gd name="T35" fmla="*/ 85 h 85"/>
              <a:gd name="T36" fmla="*/ 1 w 73"/>
              <a:gd name="T37" fmla="*/ 77 h 85"/>
              <a:gd name="T38" fmla="*/ 21 w 73"/>
              <a:gd name="T39" fmla="*/ 36 h 85"/>
              <a:gd name="T40" fmla="*/ 32 w 73"/>
              <a:gd name="T41" fmla="*/ 50 h 85"/>
              <a:gd name="T42" fmla="*/ 41 w 73"/>
              <a:gd name="T43" fmla="*/ 50 h 85"/>
              <a:gd name="T44" fmla="*/ 48 w 73"/>
              <a:gd name="T45" fmla="*/ 44 h 85"/>
              <a:gd name="T46" fmla="*/ 49 w 73"/>
              <a:gd name="T47" fmla="*/ 43 h 85"/>
              <a:gd name="T48" fmla="*/ 52 w 73"/>
              <a:gd name="T49" fmla="*/ 36 h 85"/>
              <a:gd name="T50" fmla="*/ 55 w 73"/>
              <a:gd name="T51" fmla="*/ 30 h 85"/>
              <a:gd name="T52" fmla="*/ 53 w 73"/>
              <a:gd name="T53" fmla="*/ 24 h 85"/>
              <a:gd name="T54" fmla="*/ 54 w 73"/>
              <a:gd name="T55" fmla="*/ 22 h 85"/>
              <a:gd name="T56" fmla="*/ 49 w 73"/>
              <a:gd name="T57" fmla="*/ 6 h 85"/>
              <a:gd name="T58" fmla="*/ 44 w 73"/>
              <a:gd name="T59" fmla="*/ 2 h 85"/>
              <a:gd name="T60" fmla="*/ 35 w 73"/>
              <a:gd name="T61" fmla="*/ 0 h 85"/>
              <a:gd name="T62" fmla="*/ 32 w 73"/>
              <a:gd name="T63" fmla="*/ 1 h 85"/>
              <a:gd name="T64" fmla="*/ 28 w 73"/>
              <a:gd name="T65" fmla="*/ 3 h 85"/>
              <a:gd name="T66" fmla="*/ 23 w 73"/>
              <a:gd name="T67" fmla="*/ 6 h 85"/>
              <a:gd name="T68" fmla="*/ 19 w 73"/>
              <a:gd name="T69" fmla="*/ 14 h 85"/>
              <a:gd name="T70" fmla="*/ 19 w 73"/>
              <a:gd name="T71" fmla="*/ 22 h 85"/>
              <a:gd name="T72" fmla="*/ 20 w 73"/>
              <a:gd name="T73" fmla="*/ 24 h 85"/>
              <a:gd name="T74" fmla="*/ 18 w 73"/>
              <a:gd name="T75" fmla="*/ 31 h 85"/>
              <a:gd name="T76" fmla="*/ 21 w 73"/>
              <a:gd name="T77" fmla="*/ 36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3" h="85">
                <a:moveTo>
                  <a:pt x="1" y="77"/>
                </a:moveTo>
                <a:cubicBezTo>
                  <a:pt x="1" y="74"/>
                  <a:pt x="0" y="71"/>
                  <a:pt x="0" y="67"/>
                </a:cubicBezTo>
                <a:cubicBezTo>
                  <a:pt x="0" y="64"/>
                  <a:pt x="1" y="57"/>
                  <a:pt x="7" y="56"/>
                </a:cubicBezTo>
                <a:cubicBezTo>
                  <a:pt x="14" y="54"/>
                  <a:pt x="18" y="52"/>
                  <a:pt x="22" y="50"/>
                </a:cubicBezTo>
                <a:cubicBezTo>
                  <a:pt x="23" y="53"/>
                  <a:pt x="27" y="60"/>
                  <a:pt x="28" y="63"/>
                </a:cubicBezTo>
                <a:cubicBezTo>
                  <a:pt x="28" y="63"/>
                  <a:pt x="29" y="63"/>
                  <a:pt x="29" y="63"/>
                </a:cubicBezTo>
                <a:cubicBezTo>
                  <a:pt x="29" y="63"/>
                  <a:pt x="29" y="63"/>
                  <a:pt x="29" y="63"/>
                </a:cubicBezTo>
                <a:cubicBezTo>
                  <a:pt x="29" y="63"/>
                  <a:pt x="30" y="61"/>
                  <a:pt x="32" y="59"/>
                </a:cubicBezTo>
                <a:cubicBezTo>
                  <a:pt x="33" y="57"/>
                  <a:pt x="35" y="56"/>
                  <a:pt x="36" y="56"/>
                </a:cubicBezTo>
                <a:cubicBezTo>
                  <a:pt x="38" y="56"/>
                  <a:pt x="40" y="57"/>
                  <a:pt x="41" y="59"/>
                </a:cubicBezTo>
                <a:cubicBezTo>
                  <a:pt x="43" y="61"/>
                  <a:pt x="44" y="63"/>
                  <a:pt x="44" y="63"/>
                </a:cubicBezTo>
                <a:cubicBezTo>
                  <a:pt x="44" y="63"/>
                  <a:pt x="44" y="63"/>
                  <a:pt x="44" y="63"/>
                </a:cubicBezTo>
                <a:cubicBezTo>
                  <a:pt x="44" y="63"/>
                  <a:pt x="44" y="63"/>
                  <a:pt x="45" y="63"/>
                </a:cubicBezTo>
                <a:cubicBezTo>
                  <a:pt x="46" y="60"/>
                  <a:pt x="50" y="53"/>
                  <a:pt x="51" y="50"/>
                </a:cubicBezTo>
                <a:cubicBezTo>
                  <a:pt x="55" y="52"/>
                  <a:pt x="59" y="54"/>
                  <a:pt x="66" y="56"/>
                </a:cubicBezTo>
                <a:cubicBezTo>
                  <a:pt x="72" y="57"/>
                  <a:pt x="73" y="64"/>
                  <a:pt x="73" y="67"/>
                </a:cubicBezTo>
                <a:cubicBezTo>
                  <a:pt x="73" y="71"/>
                  <a:pt x="72" y="74"/>
                  <a:pt x="72" y="77"/>
                </a:cubicBezTo>
                <a:cubicBezTo>
                  <a:pt x="72" y="77"/>
                  <a:pt x="59" y="85"/>
                  <a:pt x="36" y="85"/>
                </a:cubicBezTo>
                <a:cubicBezTo>
                  <a:pt x="14" y="85"/>
                  <a:pt x="1" y="77"/>
                  <a:pt x="1" y="77"/>
                </a:cubicBezTo>
                <a:close/>
                <a:moveTo>
                  <a:pt x="21" y="36"/>
                </a:moveTo>
                <a:cubicBezTo>
                  <a:pt x="22" y="41"/>
                  <a:pt x="26" y="47"/>
                  <a:pt x="32" y="50"/>
                </a:cubicBezTo>
                <a:cubicBezTo>
                  <a:pt x="35" y="51"/>
                  <a:pt x="38" y="51"/>
                  <a:pt x="41" y="50"/>
                </a:cubicBezTo>
                <a:cubicBezTo>
                  <a:pt x="44" y="49"/>
                  <a:pt x="46" y="47"/>
                  <a:pt x="48" y="44"/>
                </a:cubicBezTo>
                <a:cubicBezTo>
                  <a:pt x="48" y="44"/>
                  <a:pt x="48" y="44"/>
                  <a:pt x="49" y="43"/>
                </a:cubicBezTo>
                <a:cubicBezTo>
                  <a:pt x="50" y="41"/>
                  <a:pt x="51" y="38"/>
                  <a:pt x="52" y="36"/>
                </a:cubicBezTo>
                <a:cubicBezTo>
                  <a:pt x="53" y="36"/>
                  <a:pt x="54" y="35"/>
                  <a:pt x="55" y="30"/>
                </a:cubicBezTo>
                <a:cubicBezTo>
                  <a:pt x="57" y="25"/>
                  <a:pt x="55" y="24"/>
                  <a:pt x="53" y="24"/>
                </a:cubicBezTo>
                <a:cubicBezTo>
                  <a:pt x="54" y="23"/>
                  <a:pt x="54" y="22"/>
                  <a:pt x="54" y="22"/>
                </a:cubicBezTo>
                <a:cubicBezTo>
                  <a:pt x="56" y="6"/>
                  <a:pt x="49" y="6"/>
                  <a:pt x="49" y="6"/>
                </a:cubicBezTo>
                <a:cubicBezTo>
                  <a:pt x="49" y="6"/>
                  <a:pt x="48" y="4"/>
                  <a:pt x="44" y="2"/>
                </a:cubicBezTo>
                <a:cubicBezTo>
                  <a:pt x="42" y="1"/>
                  <a:pt x="39" y="0"/>
                  <a:pt x="35" y="0"/>
                </a:cubicBezTo>
                <a:cubicBezTo>
                  <a:pt x="34" y="0"/>
                  <a:pt x="33" y="0"/>
                  <a:pt x="32" y="1"/>
                </a:cubicBezTo>
                <a:cubicBezTo>
                  <a:pt x="30" y="1"/>
                  <a:pt x="29" y="2"/>
                  <a:pt x="28" y="3"/>
                </a:cubicBezTo>
                <a:cubicBezTo>
                  <a:pt x="26" y="4"/>
                  <a:pt x="25" y="5"/>
                  <a:pt x="23" y="6"/>
                </a:cubicBezTo>
                <a:cubicBezTo>
                  <a:pt x="21" y="8"/>
                  <a:pt x="20" y="11"/>
                  <a:pt x="19" y="14"/>
                </a:cubicBezTo>
                <a:cubicBezTo>
                  <a:pt x="18" y="16"/>
                  <a:pt x="18" y="19"/>
                  <a:pt x="19" y="22"/>
                </a:cubicBezTo>
                <a:cubicBezTo>
                  <a:pt x="19" y="22"/>
                  <a:pt x="19" y="23"/>
                  <a:pt x="20" y="24"/>
                </a:cubicBezTo>
                <a:cubicBezTo>
                  <a:pt x="18" y="24"/>
                  <a:pt x="16" y="25"/>
                  <a:pt x="18" y="31"/>
                </a:cubicBezTo>
                <a:cubicBezTo>
                  <a:pt x="19" y="35"/>
                  <a:pt x="20" y="36"/>
                  <a:pt x="21" y="36"/>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1" name="Freeform 846">
            <a:extLst>
              <a:ext uri="{FF2B5EF4-FFF2-40B4-BE49-F238E27FC236}">
                <a16:creationId xmlns:a16="http://schemas.microsoft.com/office/drawing/2014/main" id="{C26310B9-5D33-45E8-B933-1E6667370D47}"/>
              </a:ext>
            </a:extLst>
          </p:cNvPr>
          <p:cNvSpPr>
            <a:spLocks noChangeAspect="1" noEditPoints="1"/>
          </p:cNvSpPr>
          <p:nvPr/>
        </p:nvSpPr>
        <p:spPr bwMode="auto">
          <a:xfrm>
            <a:off x="10861186" y="2479832"/>
            <a:ext cx="236856" cy="274320"/>
          </a:xfrm>
          <a:custGeom>
            <a:avLst/>
            <a:gdLst>
              <a:gd name="T0" fmla="*/ 13 w 75"/>
              <a:gd name="T1" fmla="*/ 41 h 87"/>
              <a:gd name="T2" fmla="*/ 19 w 75"/>
              <a:gd name="T3" fmla="*/ 24 h 87"/>
              <a:gd name="T4" fmla="*/ 31 w 75"/>
              <a:gd name="T5" fmla="*/ 3 h 87"/>
              <a:gd name="T6" fmla="*/ 44 w 75"/>
              <a:gd name="T7" fmla="*/ 5 h 87"/>
              <a:gd name="T8" fmla="*/ 57 w 75"/>
              <a:gd name="T9" fmla="*/ 27 h 87"/>
              <a:gd name="T10" fmla="*/ 62 w 75"/>
              <a:gd name="T11" fmla="*/ 41 h 87"/>
              <a:gd name="T12" fmla="*/ 47 w 75"/>
              <a:gd name="T13" fmla="*/ 46 h 87"/>
              <a:gd name="T14" fmla="*/ 41 w 75"/>
              <a:gd name="T15" fmla="*/ 51 h 87"/>
              <a:gd name="T16" fmla="*/ 34 w 75"/>
              <a:gd name="T17" fmla="*/ 51 h 87"/>
              <a:gd name="T18" fmla="*/ 28 w 75"/>
              <a:gd name="T19" fmla="*/ 46 h 87"/>
              <a:gd name="T20" fmla="*/ 13 w 75"/>
              <a:gd name="T21" fmla="*/ 41 h 87"/>
              <a:gd name="T22" fmla="*/ 24 w 75"/>
              <a:gd name="T23" fmla="*/ 49 h 87"/>
              <a:gd name="T24" fmla="*/ 8 w 75"/>
              <a:gd name="T25" fmla="*/ 57 h 87"/>
              <a:gd name="T26" fmla="*/ 1 w 75"/>
              <a:gd name="T27" fmla="*/ 71 h 87"/>
              <a:gd name="T28" fmla="*/ 1 w 75"/>
              <a:gd name="T29" fmla="*/ 78 h 87"/>
              <a:gd name="T30" fmla="*/ 38 w 75"/>
              <a:gd name="T31" fmla="*/ 87 h 87"/>
              <a:gd name="T32" fmla="*/ 74 w 75"/>
              <a:gd name="T33" fmla="*/ 78 h 87"/>
              <a:gd name="T34" fmla="*/ 75 w 75"/>
              <a:gd name="T35" fmla="*/ 71 h 87"/>
              <a:gd name="T36" fmla="*/ 68 w 75"/>
              <a:gd name="T37" fmla="*/ 57 h 87"/>
              <a:gd name="T38" fmla="*/ 51 w 75"/>
              <a:gd name="T39" fmla="*/ 49 h 87"/>
              <a:gd name="T40" fmla="*/ 38 w 75"/>
              <a:gd name="T41" fmla="*/ 63 h 87"/>
              <a:gd name="T42" fmla="*/ 24 w 75"/>
              <a:gd name="T43" fmla="*/ 4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5" h="87">
                <a:moveTo>
                  <a:pt x="13" y="41"/>
                </a:moveTo>
                <a:cubicBezTo>
                  <a:pt x="13" y="41"/>
                  <a:pt x="20" y="41"/>
                  <a:pt x="19" y="24"/>
                </a:cubicBezTo>
                <a:cubicBezTo>
                  <a:pt x="19" y="7"/>
                  <a:pt x="27" y="4"/>
                  <a:pt x="31" y="3"/>
                </a:cubicBezTo>
                <a:cubicBezTo>
                  <a:pt x="40" y="0"/>
                  <a:pt x="44" y="5"/>
                  <a:pt x="44" y="5"/>
                </a:cubicBezTo>
                <a:cubicBezTo>
                  <a:pt x="55" y="4"/>
                  <a:pt x="58" y="15"/>
                  <a:pt x="57" y="27"/>
                </a:cubicBezTo>
                <a:cubicBezTo>
                  <a:pt x="55" y="39"/>
                  <a:pt x="62" y="41"/>
                  <a:pt x="62" y="41"/>
                </a:cubicBezTo>
                <a:cubicBezTo>
                  <a:pt x="58" y="45"/>
                  <a:pt x="49" y="46"/>
                  <a:pt x="47" y="46"/>
                </a:cubicBezTo>
                <a:cubicBezTo>
                  <a:pt x="46" y="48"/>
                  <a:pt x="44" y="50"/>
                  <a:pt x="41" y="51"/>
                </a:cubicBezTo>
                <a:cubicBezTo>
                  <a:pt x="39" y="51"/>
                  <a:pt x="36" y="51"/>
                  <a:pt x="34" y="51"/>
                </a:cubicBezTo>
                <a:cubicBezTo>
                  <a:pt x="31" y="50"/>
                  <a:pt x="29" y="48"/>
                  <a:pt x="28" y="46"/>
                </a:cubicBezTo>
                <a:cubicBezTo>
                  <a:pt x="16" y="45"/>
                  <a:pt x="13" y="41"/>
                  <a:pt x="13" y="41"/>
                </a:cubicBezTo>
                <a:close/>
                <a:moveTo>
                  <a:pt x="24" y="49"/>
                </a:moveTo>
                <a:cubicBezTo>
                  <a:pt x="24" y="49"/>
                  <a:pt x="17" y="55"/>
                  <a:pt x="8" y="57"/>
                </a:cubicBezTo>
                <a:cubicBezTo>
                  <a:pt x="1" y="59"/>
                  <a:pt x="0" y="67"/>
                  <a:pt x="1" y="71"/>
                </a:cubicBezTo>
                <a:cubicBezTo>
                  <a:pt x="1" y="71"/>
                  <a:pt x="1" y="76"/>
                  <a:pt x="1" y="78"/>
                </a:cubicBezTo>
                <a:cubicBezTo>
                  <a:pt x="1" y="78"/>
                  <a:pt x="15" y="87"/>
                  <a:pt x="38" y="87"/>
                </a:cubicBezTo>
                <a:cubicBezTo>
                  <a:pt x="60" y="87"/>
                  <a:pt x="74" y="78"/>
                  <a:pt x="74" y="78"/>
                </a:cubicBezTo>
                <a:cubicBezTo>
                  <a:pt x="74" y="76"/>
                  <a:pt x="75" y="71"/>
                  <a:pt x="75" y="71"/>
                </a:cubicBezTo>
                <a:cubicBezTo>
                  <a:pt x="75" y="67"/>
                  <a:pt x="75" y="59"/>
                  <a:pt x="68" y="57"/>
                </a:cubicBezTo>
                <a:cubicBezTo>
                  <a:pt x="59" y="55"/>
                  <a:pt x="51" y="49"/>
                  <a:pt x="51" y="49"/>
                </a:cubicBezTo>
                <a:cubicBezTo>
                  <a:pt x="38" y="63"/>
                  <a:pt x="38" y="63"/>
                  <a:pt x="38" y="63"/>
                </a:cubicBezTo>
                <a:lnTo>
                  <a:pt x="24" y="49"/>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2" name="Group 11">
            <a:extLst>
              <a:ext uri="{FF2B5EF4-FFF2-40B4-BE49-F238E27FC236}">
                <a16:creationId xmlns:a16="http://schemas.microsoft.com/office/drawing/2014/main" id="{5867EE0A-E6F0-4F30-96AF-550ECD64364C}"/>
              </a:ext>
            </a:extLst>
          </p:cNvPr>
          <p:cNvGrpSpPr>
            <a:grpSpLocks noChangeAspect="1"/>
          </p:cNvGrpSpPr>
          <p:nvPr/>
        </p:nvGrpSpPr>
        <p:grpSpPr>
          <a:xfrm>
            <a:off x="5363912" y="2496394"/>
            <a:ext cx="281565" cy="362257"/>
            <a:chOff x="5488827" y="4859531"/>
            <a:chExt cx="450572" cy="579698"/>
          </a:xfrm>
          <a:solidFill>
            <a:srgbClr val="595555"/>
          </a:solidFill>
        </p:grpSpPr>
        <p:sp>
          <p:nvSpPr>
            <p:cNvPr id="13" name="Freeform 867">
              <a:extLst>
                <a:ext uri="{FF2B5EF4-FFF2-40B4-BE49-F238E27FC236}">
                  <a16:creationId xmlns:a16="http://schemas.microsoft.com/office/drawing/2014/main" id="{8700E0A0-2799-48D0-A55B-57EC68161D3A}"/>
                </a:ext>
              </a:extLst>
            </p:cNvPr>
            <p:cNvSpPr>
              <a:spLocks noEditPoints="1"/>
            </p:cNvSpPr>
            <p:nvPr/>
          </p:nvSpPr>
          <p:spPr bwMode="auto">
            <a:xfrm>
              <a:off x="5488827" y="5050474"/>
              <a:ext cx="450572" cy="388755"/>
            </a:xfrm>
            <a:custGeom>
              <a:avLst/>
              <a:gdLst>
                <a:gd name="T0" fmla="*/ 47 w 66"/>
                <a:gd name="T1" fmla="*/ 0 h 57"/>
                <a:gd name="T2" fmla="*/ 34 w 66"/>
                <a:gd name="T3" fmla="*/ 0 h 57"/>
                <a:gd name="T4" fmla="*/ 32 w 66"/>
                <a:gd name="T5" fmla="*/ 0 h 57"/>
                <a:gd name="T6" fmla="*/ 19 w 66"/>
                <a:gd name="T7" fmla="*/ 0 h 57"/>
                <a:gd name="T8" fmla="*/ 0 w 66"/>
                <a:gd name="T9" fmla="*/ 37 h 57"/>
                <a:gd name="T10" fmla="*/ 6 w 66"/>
                <a:gd name="T11" fmla="*/ 43 h 57"/>
                <a:gd name="T12" fmla="*/ 11 w 66"/>
                <a:gd name="T13" fmla="*/ 43 h 57"/>
                <a:gd name="T14" fmla="*/ 9 w 66"/>
                <a:gd name="T15" fmla="*/ 57 h 57"/>
                <a:gd name="T16" fmla="*/ 32 w 66"/>
                <a:gd name="T17" fmla="*/ 57 h 57"/>
                <a:gd name="T18" fmla="*/ 34 w 66"/>
                <a:gd name="T19" fmla="*/ 57 h 57"/>
                <a:gd name="T20" fmla="*/ 57 w 66"/>
                <a:gd name="T21" fmla="*/ 57 h 57"/>
                <a:gd name="T22" fmla="*/ 55 w 66"/>
                <a:gd name="T23" fmla="*/ 43 h 57"/>
                <a:gd name="T24" fmla="*/ 60 w 66"/>
                <a:gd name="T25" fmla="*/ 43 h 57"/>
                <a:gd name="T26" fmla="*/ 66 w 66"/>
                <a:gd name="T27" fmla="*/ 37 h 57"/>
                <a:gd name="T28" fmla="*/ 47 w 66"/>
                <a:gd name="T29" fmla="*/ 0 h 57"/>
                <a:gd name="T30" fmla="*/ 47 w 66"/>
                <a:gd name="T31" fmla="*/ 16 h 57"/>
                <a:gd name="T32" fmla="*/ 49 w 66"/>
                <a:gd name="T33" fmla="*/ 24 h 57"/>
                <a:gd name="T34" fmla="*/ 36 w 66"/>
                <a:gd name="T35" fmla="*/ 24 h 57"/>
                <a:gd name="T36" fmla="*/ 35 w 66"/>
                <a:gd name="T37" fmla="*/ 16 h 57"/>
                <a:gd name="T38" fmla="*/ 47 w 66"/>
                <a:gd name="T39" fmla="*/ 16 h 57"/>
                <a:gd name="T40" fmla="*/ 19 w 66"/>
                <a:gd name="T41" fmla="*/ 16 h 57"/>
                <a:gd name="T42" fmla="*/ 31 w 66"/>
                <a:gd name="T43" fmla="*/ 16 h 57"/>
                <a:gd name="T44" fmla="*/ 30 w 66"/>
                <a:gd name="T45" fmla="*/ 24 h 57"/>
                <a:gd name="T46" fmla="*/ 17 w 66"/>
                <a:gd name="T47" fmla="*/ 24 h 57"/>
                <a:gd name="T48" fmla="*/ 19 w 66"/>
                <a:gd name="T49" fmla="*/ 16 h 57"/>
                <a:gd name="T50" fmla="*/ 50 w 66"/>
                <a:gd name="T51" fmla="*/ 30 h 57"/>
                <a:gd name="T52" fmla="*/ 48 w 66"/>
                <a:gd name="T53" fmla="*/ 35 h 57"/>
                <a:gd name="T54" fmla="*/ 48 w 66"/>
                <a:gd name="T55" fmla="*/ 37 h 57"/>
                <a:gd name="T56" fmla="*/ 50 w 66"/>
                <a:gd name="T57" fmla="*/ 42 h 57"/>
                <a:gd name="T58" fmla="*/ 50 w 66"/>
                <a:gd name="T59" fmla="*/ 49 h 57"/>
                <a:gd name="T60" fmla="*/ 34 w 66"/>
                <a:gd name="T61" fmla="*/ 49 h 57"/>
                <a:gd name="T62" fmla="*/ 32 w 66"/>
                <a:gd name="T63" fmla="*/ 49 h 57"/>
                <a:gd name="T64" fmla="*/ 16 w 66"/>
                <a:gd name="T65" fmla="*/ 49 h 57"/>
                <a:gd name="T66" fmla="*/ 16 w 66"/>
                <a:gd name="T67" fmla="*/ 42 h 57"/>
                <a:gd name="T68" fmla="*/ 18 w 66"/>
                <a:gd name="T69" fmla="*/ 37 h 57"/>
                <a:gd name="T70" fmla="*/ 18 w 66"/>
                <a:gd name="T71" fmla="*/ 35 h 57"/>
                <a:gd name="T72" fmla="*/ 16 w 66"/>
                <a:gd name="T73" fmla="*/ 30 h 57"/>
                <a:gd name="T74" fmla="*/ 16 w 66"/>
                <a:gd name="T75" fmla="*/ 27 h 57"/>
                <a:gd name="T76" fmla="*/ 32 w 66"/>
                <a:gd name="T77" fmla="*/ 27 h 57"/>
                <a:gd name="T78" fmla="*/ 34 w 66"/>
                <a:gd name="T79" fmla="*/ 27 h 57"/>
                <a:gd name="T80" fmla="*/ 50 w 66"/>
                <a:gd name="T81" fmla="*/ 27 h 57"/>
                <a:gd name="T82" fmla="*/ 50 w 66"/>
                <a:gd name="T83" fmla="*/ 3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 h="57">
                  <a:moveTo>
                    <a:pt x="47" y="0"/>
                  </a:moveTo>
                  <a:cubicBezTo>
                    <a:pt x="34" y="0"/>
                    <a:pt x="34" y="0"/>
                    <a:pt x="34" y="0"/>
                  </a:cubicBezTo>
                  <a:cubicBezTo>
                    <a:pt x="32" y="0"/>
                    <a:pt x="32" y="0"/>
                    <a:pt x="32" y="0"/>
                  </a:cubicBezTo>
                  <a:cubicBezTo>
                    <a:pt x="19" y="0"/>
                    <a:pt x="19" y="0"/>
                    <a:pt x="19" y="0"/>
                  </a:cubicBezTo>
                  <a:cubicBezTo>
                    <a:pt x="9" y="0"/>
                    <a:pt x="0" y="32"/>
                    <a:pt x="0" y="37"/>
                  </a:cubicBezTo>
                  <a:cubicBezTo>
                    <a:pt x="0" y="40"/>
                    <a:pt x="3" y="43"/>
                    <a:pt x="6" y="43"/>
                  </a:cubicBezTo>
                  <a:cubicBezTo>
                    <a:pt x="11" y="43"/>
                    <a:pt x="11" y="43"/>
                    <a:pt x="11" y="43"/>
                  </a:cubicBezTo>
                  <a:cubicBezTo>
                    <a:pt x="9" y="57"/>
                    <a:pt x="9" y="57"/>
                    <a:pt x="9" y="57"/>
                  </a:cubicBezTo>
                  <a:cubicBezTo>
                    <a:pt x="32" y="57"/>
                    <a:pt x="32" y="57"/>
                    <a:pt x="32" y="57"/>
                  </a:cubicBezTo>
                  <a:cubicBezTo>
                    <a:pt x="34" y="57"/>
                    <a:pt x="34" y="57"/>
                    <a:pt x="34" y="57"/>
                  </a:cubicBezTo>
                  <a:cubicBezTo>
                    <a:pt x="57" y="57"/>
                    <a:pt x="57" y="57"/>
                    <a:pt x="57" y="57"/>
                  </a:cubicBezTo>
                  <a:cubicBezTo>
                    <a:pt x="55" y="43"/>
                    <a:pt x="55" y="43"/>
                    <a:pt x="55" y="43"/>
                  </a:cubicBezTo>
                  <a:cubicBezTo>
                    <a:pt x="60" y="43"/>
                    <a:pt x="60" y="43"/>
                    <a:pt x="60" y="43"/>
                  </a:cubicBezTo>
                  <a:cubicBezTo>
                    <a:pt x="63" y="43"/>
                    <a:pt x="66" y="40"/>
                    <a:pt x="66" y="37"/>
                  </a:cubicBezTo>
                  <a:cubicBezTo>
                    <a:pt x="66" y="32"/>
                    <a:pt x="57" y="0"/>
                    <a:pt x="47" y="0"/>
                  </a:cubicBezTo>
                  <a:close/>
                  <a:moveTo>
                    <a:pt x="47" y="16"/>
                  </a:moveTo>
                  <a:cubicBezTo>
                    <a:pt x="49" y="24"/>
                    <a:pt x="49" y="24"/>
                    <a:pt x="49" y="24"/>
                  </a:cubicBezTo>
                  <a:cubicBezTo>
                    <a:pt x="36" y="24"/>
                    <a:pt x="36" y="24"/>
                    <a:pt x="36" y="24"/>
                  </a:cubicBezTo>
                  <a:cubicBezTo>
                    <a:pt x="35" y="16"/>
                    <a:pt x="35" y="16"/>
                    <a:pt x="35" y="16"/>
                  </a:cubicBezTo>
                  <a:lnTo>
                    <a:pt x="47" y="16"/>
                  </a:lnTo>
                  <a:close/>
                  <a:moveTo>
                    <a:pt x="19" y="16"/>
                  </a:moveTo>
                  <a:cubicBezTo>
                    <a:pt x="31" y="16"/>
                    <a:pt x="31" y="16"/>
                    <a:pt x="31" y="16"/>
                  </a:cubicBezTo>
                  <a:cubicBezTo>
                    <a:pt x="30" y="24"/>
                    <a:pt x="30" y="24"/>
                    <a:pt x="30" y="24"/>
                  </a:cubicBezTo>
                  <a:cubicBezTo>
                    <a:pt x="17" y="24"/>
                    <a:pt x="17" y="24"/>
                    <a:pt x="17" y="24"/>
                  </a:cubicBezTo>
                  <a:lnTo>
                    <a:pt x="19" y="16"/>
                  </a:lnTo>
                  <a:close/>
                  <a:moveTo>
                    <a:pt x="50" y="30"/>
                  </a:moveTo>
                  <a:cubicBezTo>
                    <a:pt x="49" y="31"/>
                    <a:pt x="48" y="33"/>
                    <a:pt x="48" y="35"/>
                  </a:cubicBezTo>
                  <a:cubicBezTo>
                    <a:pt x="48" y="37"/>
                    <a:pt x="48" y="37"/>
                    <a:pt x="48" y="37"/>
                  </a:cubicBezTo>
                  <a:cubicBezTo>
                    <a:pt x="48" y="40"/>
                    <a:pt x="49" y="42"/>
                    <a:pt x="50" y="42"/>
                  </a:cubicBezTo>
                  <a:cubicBezTo>
                    <a:pt x="50" y="49"/>
                    <a:pt x="50" y="49"/>
                    <a:pt x="50" y="49"/>
                  </a:cubicBezTo>
                  <a:cubicBezTo>
                    <a:pt x="34" y="49"/>
                    <a:pt x="34" y="49"/>
                    <a:pt x="34" y="49"/>
                  </a:cubicBezTo>
                  <a:cubicBezTo>
                    <a:pt x="32" y="49"/>
                    <a:pt x="32" y="49"/>
                    <a:pt x="32" y="49"/>
                  </a:cubicBezTo>
                  <a:cubicBezTo>
                    <a:pt x="16" y="49"/>
                    <a:pt x="16" y="49"/>
                    <a:pt x="16" y="49"/>
                  </a:cubicBezTo>
                  <a:cubicBezTo>
                    <a:pt x="16" y="42"/>
                    <a:pt x="16" y="42"/>
                    <a:pt x="16" y="42"/>
                  </a:cubicBezTo>
                  <a:cubicBezTo>
                    <a:pt x="17" y="42"/>
                    <a:pt x="19" y="40"/>
                    <a:pt x="18" y="37"/>
                  </a:cubicBezTo>
                  <a:cubicBezTo>
                    <a:pt x="18" y="35"/>
                    <a:pt x="18" y="35"/>
                    <a:pt x="18" y="35"/>
                  </a:cubicBezTo>
                  <a:cubicBezTo>
                    <a:pt x="19" y="33"/>
                    <a:pt x="17" y="31"/>
                    <a:pt x="16" y="30"/>
                  </a:cubicBezTo>
                  <a:cubicBezTo>
                    <a:pt x="16" y="27"/>
                    <a:pt x="16" y="27"/>
                    <a:pt x="16" y="27"/>
                  </a:cubicBezTo>
                  <a:cubicBezTo>
                    <a:pt x="32" y="27"/>
                    <a:pt x="32" y="27"/>
                    <a:pt x="32" y="27"/>
                  </a:cubicBezTo>
                  <a:cubicBezTo>
                    <a:pt x="34" y="27"/>
                    <a:pt x="34" y="27"/>
                    <a:pt x="34" y="27"/>
                  </a:cubicBezTo>
                  <a:cubicBezTo>
                    <a:pt x="50" y="27"/>
                    <a:pt x="50" y="27"/>
                    <a:pt x="50" y="27"/>
                  </a:cubicBezTo>
                  <a:lnTo>
                    <a:pt x="50"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868">
              <a:extLst>
                <a:ext uri="{FF2B5EF4-FFF2-40B4-BE49-F238E27FC236}">
                  <a16:creationId xmlns:a16="http://schemas.microsoft.com/office/drawing/2014/main" id="{06B3B429-50CF-4A7A-9ACF-DFDF80462B72}"/>
                </a:ext>
              </a:extLst>
            </p:cNvPr>
            <p:cNvSpPr>
              <a:spLocks/>
            </p:cNvSpPr>
            <p:nvPr/>
          </p:nvSpPr>
          <p:spPr bwMode="auto">
            <a:xfrm>
              <a:off x="5631691" y="4859531"/>
              <a:ext cx="163470" cy="177207"/>
            </a:xfrm>
            <a:custGeom>
              <a:avLst/>
              <a:gdLst>
                <a:gd name="T0" fmla="*/ 11 w 24"/>
                <a:gd name="T1" fmla="*/ 26 h 26"/>
                <a:gd name="T2" fmla="*/ 12 w 24"/>
                <a:gd name="T3" fmla="*/ 26 h 26"/>
                <a:gd name="T4" fmla="*/ 13 w 24"/>
                <a:gd name="T5" fmla="*/ 26 h 26"/>
                <a:gd name="T6" fmla="*/ 23 w 24"/>
                <a:gd name="T7" fmla="*/ 10 h 26"/>
                <a:gd name="T8" fmla="*/ 13 w 24"/>
                <a:gd name="T9" fmla="*/ 0 h 26"/>
                <a:gd name="T10" fmla="*/ 12 w 24"/>
                <a:gd name="T11" fmla="*/ 0 h 26"/>
                <a:gd name="T12" fmla="*/ 11 w 24"/>
                <a:gd name="T13" fmla="*/ 0 h 26"/>
                <a:gd name="T14" fmla="*/ 1 w 24"/>
                <a:gd name="T15" fmla="*/ 10 h 26"/>
                <a:gd name="T16" fmla="*/ 11 w 24"/>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26">
                  <a:moveTo>
                    <a:pt x="11" y="26"/>
                  </a:moveTo>
                  <a:cubicBezTo>
                    <a:pt x="12" y="26"/>
                    <a:pt x="12" y="26"/>
                    <a:pt x="12" y="26"/>
                  </a:cubicBezTo>
                  <a:cubicBezTo>
                    <a:pt x="12" y="26"/>
                    <a:pt x="12" y="26"/>
                    <a:pt x="13" y="26"/>
                  </a:cubicBezTo>
                  <a:cubicBezTo>
                    <a:pt x="24" y="26"/>
                    <a:pt x="23" y="10"/>
                    <a:pt x="23" y="10"/>
                  </a:cubicBezTo>
                  <a:cubicBezTo>
                    <a:pt x="22" y="0"/>
                    <a:pt x="13" y="0"/>
                    <a:pt x="13" y="0"/>
                  </a:cubicBezTo>
                  <a:cubicBezTo>
                    <a:pt x="13" y="0"/>
                    <a:pt x="12" y="0"/>
                    <a:pt x="12" y="0"/>
                  </a:cubicBezTo>
                  <a:cubicBezTo>
                    <a:pt x="12" y="0"/>
                    <a:pt x="11" y="0"/>
                    <a:pt x="11" y="0"/>
                  </a:cubicBezTo>
                  <a:cubicBezTo>
                    <a:pt x="11" y="0"/>
                    <a:pt x="2" y="0"/>
                    <a:pt x="1" y="10"/>
                  </a:cubicBezTo>
                  <a:cubicBezTo>
                    <a:pt x="1" y="10"/>
                    <a:pt x="0" y="26"/>
                    <a:pt x="1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 name="Group 14">
            <a:extLst>
              <a:ext uri="{FF2B5EF4-FFF2-40B4-BE49-F238E27FC236}">
                <a16:creationId xmlns:a16="http://schemas.microsoft.com/office/drawing/2014/main" id="{C26C492B-E86D-4874-A311-F6B8BF1D659B}"/>
              </a:ext>
            </a:extLst>
          </p:cNvPr>
          <p:cNvGrpSpPr>
            <a:grpSpLocks noChangeAspect="1"/>
          </p:cNvGrpSpPr>
          <p:nvPr/>
        </p:nvGrpSpPr>
        <p:grpSpPr>
          <a:xfrm>
            <a:off x="671605" y="2635524"/>
            <a:ext cx="452256" cy="274320"/>
            <a:chOff x="1597152" y="4974921"/>
            <a:chExt cx="586567" cy="355787"/>
          </a:xfrm>
          <a:solidFill>
            <a:srgbClr val="595555"/>
          </a:solidFill>
        </p:grpSpPr>
        <p:sp>
          <p:nvSpPr>
            <p:cNvPr id="16" name="Freeform 890">
              <a:extLst>
                <a:ext uri="{FF2B5EF4-FFF2-40B4-BE49-F238E27FC236}">
                  <a16:creationId xmlns:a16="http://schemas.microsoft.com/office/drawing/2014/main" id="{EBCE3403-EC5C-42B8-898E-74153AC3B471}"/>
                </a:ext>
              </a:extLst>
            </p:cNvPr>
            <p:cNvSpPr>
              <a:spLocks/>
            </p:cNvSpPr>
            <p:nvPr/>
          </p:nvSpPr>
          <p:spPr bwMode="auto">
            <a:xfrm>
              <a:off x="1597152" y="4974921"/>
              <a:ext cx="368150" cy="273365"/>
            </a:xfrm>
            <a:custGeom>
              <a:avLst/>
              <a:gdLst>
                <a:gd name="T0" fmla="*/ 0 w 54"/>
                <a:gd name="T1" fmla="*/ 3 h 40"/>
                <a:gd name="T2" fmla="*/ 0 w 54"/>
                <a:gd name="T3" fmla="*/ 38 h 40"/>
                <a:gd name="T4" fmla="*/ 3 w 54"/>
                <a:gd name="T5" fmla="*/ 40 h 40"/>
                <a:gd name="T6" fmla="*/ 9 w 54"/>
                <a:gd name="T7" fmla="*/ 40 h 40"/>
                <a:gd name="T8" fmla="*/ 17 w 54"/>
                <a:gd name="T9" fmla="*/ 36 h 40"/>
                <a:gd name="T10" fmla="*/ 25 w 54"/>
                <a:gd name="T11" fmla="*/ 40 h 40"/>
                <a:gd name="T12" fmla="*/ 54 w 54"/>
                <a:gd name="T13" fmla="*/ 40 h 40"/>
                <a:gd name="T14" fmla="*/ 54 w 54"/>
                <a:gd name="T15" fmla="*/ 0 h 40"/>
                <a:gd name="T16" fmla="*/ 3 w 54"/>
                <a:gd name="T17" fmla="*/ 0 h 40"/>
                <a:gd name="T18" fmla="*/ 0 w 54"/>
                <a:gd name="T19" fmla="*/ 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40">
                  <a:moveTo>
                    <a:pt x="0" y="3"/>
                  </a:moveTo>
                  <a:cubicBezTo>
                    <a:pt x="0" y="38"/>
                    <a:pt x="0" y="38"/>
                    <a:pt x="0" y="38"/>
                  </a:cubicBezTo>
                  <a:cubicBezTo>
                    <a:pt x="0" y="39"/>
                    <a:pt x="2" y="40"/>
                    <a:pt x="3" y="40"/>
                  </a:cubicBezTo>
                  <a:cubicBezTo>
                    <a:pt x="9" y="40"/>
                    <a:pt x="9" y="40"/>
                    <a:pt x="9" y="40"/>
                  </a:cubicBezTo>
                  <a:cubicBezTo>
                    <a:pt x="11" y="38"/>
                    <a:pt x="14" y="36"/>
                    <a:pt x="17" y="36"/>
                  </a:cubicBezTo>
                  <a:cubicBezTo>
                    <a:pt x="20" y="36"/>
                    <a:pt x="23" y="38"/>
                    <a:pt x="25" y="40"/>
                  </a:cubicBezTo>
                  <a:cubicBezTo>
                    <a:pt x="54" y="40"/>
                    <a:pt x="54" y="40"/>
                    <a:pt x="54" y="40"/>
                  </a:cubicBezTo>
                  <a:cubicBezTo>
                    <a:pt x="54" y="0"/>
                    <a:pt x="54" y="0"/>
                    <a:pt x="54" y="0"/>
                  </a:cubicBezTo>
                  <a:cubicBezTo>
                    <a:pt x="3" y="0"/>
                    <a:pt x="3" y="0"/>
                    <a:pt x="3" y="0"/>
                  </a:cubicBezTo>
                  <a:cubicBezTo>
                    <a:pt x="2" y="0"/>
                    <a:pt x="0" y="1"/>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891">
              <a:extLst>
                <a:ext uri="{FF2B5EF4-FFF2-40B4-BE49-F238E27FC236}">
                  <a16:creationId xmlns:a16="http://schemas.microsoft.com/office/drawing/2014/main" id="{D3E0ED93-2552-40A1-90B2-73BCC5611F9B}"/>
                </a:ext>
              </a:extLst>
            </p:cNvPr>
            <p:cNvSpPr>
              <a:spLocks/>
            </p:cNvSpPr>
            <p:nvPr/>
          </p:nvSpPr>
          <p:spPr bwMode="auto">
            <a:xfrm>
              <a:off x="1979039" y="4974921"/>
              <a:ext cx="204680" cy="273365"/>
            </a:xfrm>
            <a:custGeom>
              <a:avLst/>
              <a:gdLst>
                <a:gd name="T0" fmla="*/ 29 w 30"/>
                <a:gd name="T1" fmla="*/ 25 h 40"/>
                <a:gd name="T2" fmla="*/ 20 w 30"/>
                <a:gd name="T3" fmla="*/ 14 h 40"/>
                <a:gd name="T4" fmla="*/ 12 w 30"/>
                <a:gd name="T5" fmla="*/ 1 h 40"/>
                <a:gd name="T6" fmla="*/ 10 w 30"/>
                <a:gd name="T7" fmla="*/ 0 h 40"/>
                <a:gd name="T8" fmla="*/ 0 w 30"/>
                <a:gd name="T9" fmla="*/ 0 h 40"/>
                <a:gd name="T10" fmla="*/ 0 w 30"/>
                <a:gd name="T11" fmla="*/ 40 h 40"/>
                <a:gd name="T12" fmla="*/ 9 w 30"/>
                <a:gd name="T13" fmla="*/ 40 h 40"/>
                <a:gd name="T14" fmla="*/ 17 w 30"/>
                <a:gd name="T15" fmla="*/ 36 h 40"/>
                <a:gd name="T16" fmla="*/ 25 w 30"/>
                <a:gd name="T17" fmla="*/ 40 h 40"/>
                <a:gd name="T18" fmla="*/ 26 w 30"/>
                <a:gd name="T19" fmla="*/ 40 h 40"/>
                <a:gd name="T20" fmla="*/ 29 w 30"/>
                <a:gd name="T21" fmla="*/ 38 h 40"/>
                <a:gd name="T22" fmla="*/ 30 w 30"/>
                <a:gd name="T23" fmla="*/ 27 h 40"/>
                <a:gd name="T24" fmla="*/ 29 w 30"/>
                <a:gd name="T25" fmla="*/ 2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0">
                  <a:moveTo>
                    <a:pt x="29" y="25"/>
                  </a:moveTo>
                  <a:cubicBezTo>
                    <a:pt x="20" y="14"/>
                    <a:pt x="20" y="14"/>
                    <a:pt x="20" y="14"/>
                  </a:cubicBezTo>
                  <a:cubicBezTo>
                    <a:pt x="12" y="1"/>
                    <a:pt x="12" y="1"/>
                    <a:pt x="12" y="1"/>
                  </a:cubicBezTo>
                  <a:cubicBezTo>
                    <a:pt x="12" y="1"/>
                    <a:pt x="11" y="0"/>
                    <a:pt x="10" y="0"/>
                  </a:cubicBezTo>
                  <a:cubicBezTo>
                    <a:pt x="0" y="0"/>
                    <a:pt x="0" y="0"/>
                    <a:pt x="0" y="0"/>
                  </a:cubicBezTo>
                  <a:cubicBezTo>
                    <a:pt x="0" y="40"/>
                    <a:pt x="0" y="40"/>
                    <a:pt x="0" y="40"/>
                  </a:cubicBezTo>
                  <a:cubicBezTo>
                    <a:pt x="9" y="40"/>
                    <a:pt x="9" y="40"/>
                    <a:pt x="9" y="40"/>
                  </a:cubicBezTo>
                  <a:cubicBezTo>
                    <a:pt x="11" y="38"/>
                    <a:pt x="14" y="36"/>
                    <a:pt x="17" y="36"/>
                  </a:cubicBezTo>
                  <a:cubicBezTo>
                    <a:pt x="20" y="36"/>
                    <a:pt x="23" y="38"/>
                    <a:pt x="25" y="40"/>
                  </a:cubicBezTo>
                  <a:cubicBezTo>
                    <a:pt x="26" y="40"/>
                    <a:pt x="26" y="40"/>
                    <a:pt x="26" y="40"/>
                  </a:cubicBezTo>
                  <a:cubicBezTo>
                    <a:pt x="27" y="40"/>
                    <a:pt x="29" y="39"/>
                    <a:pt x="29" y="38"/>
                  </a:cubicBezTo>
                  <a:cubicBezTo>
                    <a:pt x="30" y="27"/>
                    <a:pt x="30" y="27"/>
                    <a:pt x="30" y="27"/>
                  </a:cubicBezTo>
                  <a:cubicBezTo>
                    <a:pt x="30" y="26"/>
                    <a:pt x="30" y="26"/>
                    <a:pt x="29"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892">
              <a:extLst>
                <a:ext uri="{FF2B5EF4-FFF2-40B4-BE49-F238E27FC236}">
                  <a16:creationId xmlns:a16="http://schemas.microsoft.com/office/drawing/2014/main" id="{901DDB85-DEC7-40DD-9035-0A13E5520573}"/>
                </a:ext>
              </a:extLst>
            </p:cNvPr>
            <p:cNvSpPr>
              <a:spLocks/>
            </p:cNvSpPr>
            <p:nvPr/>
          </p:nvSpPr>
          <p:spPr bwMode="auto">
            <a:xfrm>
              <a:off x="2047724" y="5241418"/>
              <a:ext cx="96159" cy="89290"/>
            </a:xfrm>
            <a:custGeom>
              <a:avLst/>
              <a:gdLst>
                <a:gd name="T0" fmla="*/ 11 w 14"/>
                <a:gd name="T1" fmla="*/ 1 h 13"/>
                <a:gd name="T2" fmla="*/ 7 w 14"/>
                <a:gd name="T3" fmla="*/ 0 h 13"/>
                <a:gd name="T4" fmla="*/ 3 w 14"/>
                <a:gd name="T5" fmla="*/ 1 h 13"/>
                <a:gd name="T6" fmla="*/ 0 w 14"/>
                <a:gd name="T7" fmla="*/ 7 h 13"/>
                <a:gd name="T8" fmla="*/ 7 w 14"/>
                <a:gd name="T9" fmla="*/ 13 h 13"/>
                <a:gd name="T10" fmla="*/ 14 w 14"/>
                <a:gd name="T11" fmla="*/ 7 h 13"/>
                <a:gd name="T12" fmla="*/ 11 w 14"/>
                <a:gd name="T13" fmla="*/ 1 h 13"/>
              </a:gdLst>
              <a:ahLst/>
              <a:cxnLst>
                <a:cxn ang="0">
                  <a:pos x="T0" y="T1"/>
                </a:cxn>
                <a:cxn ang="0">
                  <a:pos x="T2" y="T3"/>
                </a:cxn>
                <a:cxn ang="0">
                  <a:pos x="T4" y="T5"/>
                </a:cxn>
                <a:cxn ang="0">
                  <a:pos x="T6" y="T7"/>
                </a:cxn>
                <a:cxn ang="0">
                  <a:pos x="T8" y="T9"/>
                </a:cxn>
                <a:cxn ang="0">
                  <a:pos x="T10" y="T11"/>
                </a:cxn>
                <a:cxn ang="0">
                  <a:pos x="T12" y="T13"/>
                </a:cxn>
              </a:cxnLst>
              <a:rect l="0" t="0" r="r" b="b"/>
              <a:pathLst>
                <a:path w="14" h="13">
                  <a:moveTo>
                    <a:pt x="11" y="1"/>
                  </a:moveTo>
                  <a:cubicBezTo>
                    <a:pt x="10" y="0"/>
                    <a:pt x="9" y="0"/>
                    <a:pt x="7" y="0"/>
                  </a:cubicBezTo>
                  <a:cubicBezTo>
                    <a:pt x="6" y="0"/>
                    <a:pt x="4" y="0"/>
                    <a:pt x="3" y="1"/>
                  </a:cubicBezTo>
                  <a:cubicBezTo>
                    <a:pt x="1" y="2"/>
                    <a:pt x="0" y="4"/>
                    <a:pt x="0" y="7"/>
                  </a:cubicBezTo>
                  <a:cubicBezTo>
                    <a:pt x="0" y="10"/>
                    <a:pt x="3" y="13"/>
                    <a:pt x="7" y="13"/>
                  </a:cubicBezTo>
                  <a:cubicBezTo>
                    <a:pt x="11" y="13"/>
                    <a:pt x="14" y="10"/>
                    <a:pt x="14" y="7"/>
                  </a:cubicBezTo>
                  <a:cubicBezTo>
                    <a:pt x="14" y="4"/>
                    <a:pt x="13"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893">
              <a:extLst>
                <a:ext uri="{FF2B5EF4-FFF2-40B4-BE49-F238E27FC236}">
                  <a16:creationId xmlns:a16="http://schemas.microsoft.com/office/drawing/2014/main" id="{EFFDC8A2-A0F6-4BBE-8134-BBA6D30F2D72}"/>
                </a:ext>
              </a:extLst>
            </p:cNvPr>
            <p:cNvSpPr>
              <a:spLocks/>
            </p:cNvSpPr>
            <p:nvPr/>
          </p:nvSpPr>
          <p:spPr bwMode="auto">
            <a:xfrm>
              <a:off x="1665837" y="5241418"/>
              <a:ext cx="94785" cy="89290"/>
            </a:xfrm>
            <a:custGeom>
              <a:avLst/>
              <a:gdLst>
                <a:gd name="T0" fmla="*/ 11 w 14"/>
                <a:gd name="T1" fmla="*/ 1 h 13"/>
                <a:gd name="T2" fmla="*/ 7 w 14"/>
                <a:gd name="T3" fmla="*/ 0 h 13"/>
                <a:gd name="T4" fmla="*/ 3 w 14"/>
                <a:gd name="T5" fmla="*/ 1 h 13"/>
                <a:gd name="T6" fmla="*/ 0 w 14"/>
                <a:gd name="T7" fmla="*/ 7 h 13"/>
                <a:gd name="T8" fmla="*/ 7 w 14"/>
                <a:gd name="T9" fmla="*/ 13 h 13"/>
                <a:gd name="T10" fmla="*/ 14 w 14"/>
                <a:gd name="T11" fmla="*/ 7 h 13"/>
                <a:gd name="T12" fmla="*/ 11 w 14"/>
                <a:gd name="T13" fmla="*/ 1 h 13"/>
              </a:gdLst>
              <a:ahLst/>
              <a:cxnLst>
                <a:cxn ang="0">
                  <a:pos x="T0" y="T1"/>
                </a:cxn>
                <a:cxn ang="0">
                  <a:pos x="T2" y="T3"/>
                </a:cxn>
                <a:cxn ang="0">
                  <a:pos x="T4" y="T5"/>
                </a:cxn>
                <a:cxn ang="0">
                  <a:pos x="T6" y="T7"/>
                </a:cxn>
                <a:cxn ang="0">
                  <a:pos x="T8" y="T9"/>
                </a:cxn>
                <a:cxn ang="0">
                  <a:pos x="T10" y="T11"/>
                </a:cxn>
                <a:cxn ang="0">
                  <a:pos x="T12" y="T13"/>
                </a:cxn>
              </a:cxnLst>
              <a:rect l="0" t="0" r="r" b="b"/>
              <a:pathLst>
                <a:path w="14" h="13">
                  <a:moveTo>
                    <a:pt x="11" y="1"/>
                  </a:moveTo>
                  <a:cubicBezTo>
                    <a:pt x="10" y="0"/>
                    <a:pt x="9" y="0"/>
                    <a:pt x="7" y="0"/>
                  </a:cubicBezTo>
                  <a:cubicBezTo>
                    <a:pt x="6" y="0"/>
                    <a:pt x="4" y="0"/>
                    <a:pt x="3" y="1"/>
                  </a:cubicBezTo>
                  <a:cubicBezTo>
                    <a:pt x="1" y="2"/>
                    <a:pt x="0" y="4"/>
                    <a:pt x="0" y="7"/>
                  </a:cubicBezTo>
                  <a:cubicBezTo>
                    <a:pt x="0" y="10"/>
                    <a:pt x="3" y="13"/>
                    <a:pt x="7" y="13"/>
                  </a:cubicBezTo>
                  <a:cubicBezTo>
                    <a:pt x="11" y="13"/>
                    <a:pt x="14" y="10"/>
                    <a:pt x="14" y="7"/>
                  </a:cubicBezTo>
                  <a:cubicBezTo>
                    <a:pt x="14" y="4"/>
                    <a:pt x="13"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0" name="Group 19">
            <a:extLst>
              <a:ext uri="{FF2B5EF4-FFF2-40B4-BE49-F238E27FC236}">
                <a16:creationId xmlns:a16="http://schemas.microsoft.com/office/drawing/2014/main" id="{E5727830-0088-49D9-8AE6-944862AD0850}"/>
              </a:ext>
            </a:extLst>
          </p:cNvPr>
          <p:cNvGrpSpPr>
            <a:grpSpLocks noChangeAspect="1"/>
          </p:cNvGrpSpPr>
          <p:nvPr/>
        </p:nvGrpSpPr>
        <p:grpSpPr>
          <a:xfrm>
            <a:off x="1594166" y="2668650"/>
            <a:ext cx="511503" cy="274320"/>
            <a:chOff x="2362300" y="5002395"/>
            <a:chExt cx="586567" cy="314577"/>
          </a:xfrm>
          <a:solidFill>
            <a:srgbClr val="595555"/>
          </a:solidFill>
        </p:grpSpPr>
        <p:sp>
          <p:nvSpPr>
            <p:cNvPr id="21" name="Freeform 894">
              <a:extLst>
                <a:ext uri="{FF2B5EF4-FFF2-40B4-BE49-F238E27FC236}">
                  <a16:creationId xmlns:a16="http://schemas.microsoft.com/office/drawing/2014/main" id="{59C6E855-41EB-4EC3-AF6E-D734579D5402}"/>
                </a:ext>
              </a:extLst>
            </p:cNvPr>
            <p:cNvSpPr>
              <a:spLocks noEditPoints="1"/>
            </p:cNvSpPr>
            <p:nvPr/>
          </p:nvSpPr>
          <p:spPr bwMode="auto">
            <a:xfrm>
              <a:off x="2362300" y="5002395"/>
              <a:ext cx="586567" cy="259628"/>
            </a:xfrm>
            <a:custGeom>
              <a:avLst/>
              <a:gdLst>
                <a:gd name="T0" fmla="*/ 80 w 86"/>
                <a:gd name="T1" fmla="*/ 22 h 38"/>
                <a:gd name="T2" fmla="*/ 79 w 86"/>
                <a:gd name="T3" fmla="*/ 22 h 38"/>
                <a:gd name="T4" fmla="*/ 77 w 86"/>
                <a:gd name="T5" fmla="*/ 20 h 38"/>
                <a:gd name="T6" fmla="*/ 76 w 86"/>
                <a:gd name="T7" fmla="*/ 19 h 38"/>
                <a:gd name="T8" fmla="*/ 75 w 86"/>
                <a:gd name="T9" fmla="*/ 10 h 38"/>
                <a:gd name="T10" fmla="*/ 76 w 86"/>
                <a:gd name="T11" fmla="*/ 10 h 38"/>
                <a:gd name="T12" fmla="*/ 76 w 86"/>
                <a:gd name="T13" fmla="*/ 10 h 38"/>
                <a:gd name="T14" fmla="*/ 76 w 86"/>
                <a:gd name="T15" fmla="*/ 7 h 38"/>
                <a:gd name="T16" fmla="*/ 70 w 86"/>
                <a:gd name="T17" fmla="*/ 0 h 38"/>
                <a:gd name="T18" fmla="*/ 3 w 86"/>
                <a:gd name="T19" fmla="*/ 0 h 38"/>
                <a:gd name="T20" fmla="*/ 0 w 86"/>
                <a:gd name="T21" fmla="*/ 3 h 38"/>
                <a:gd name="T22" fmla="*/ 0 w 86"/>
                <a:gd name="T23" fmla="*/ 35 h 38"/>
                <a:gd name="T24" fmla="*/ 3 w 86"/>
                <a:gd name="T25" fmla="*/ 38 h 38"/>
                <a:gd name="T26" fmla="*/ 6 w 86"/>
                <a:gd name="T27" fmla="*/ 38 h 38"/>
                <a:gd name="T28" fmla="*/ 15 w 86"/>
                <a:gd name="T29" fmla="*/ 30 h 38"/>
                <a:gd name="T30" fmla="*/ 24 w 86"/>
                <a:gd name="T31" fmla="*/ 38 h 38"/>
                <a:gd name="T32" fmla="*/ 59 w 86"/>
                <a:gd name="T33" fmla="*/ 38 h 38"/>
                <a:gd name="T34" fmla="*/ 63 w 86"/>
                <a:gd name="T35" fmla="*/ 38 h 38"/>
                <a:gd name="T36" fmla="*/ 72 w 86"/>
                <a:gd name="T37" fmla="*/ 30 h 38"/>
                <a:gd name="T38" fmla="*/ 82 w 86"/>
                <a:gd name="T39" fmla="*/ 38 h 38"/>
                <a:gd name="T40" fmla="*/ 86 w 86"/>
                <a:gd name="T41" fmla="*/ 38 h 38"/>
                <a:gd name="T42" fmla="*/ 86 w 86"/>
                <a:gd name="T43" fmla="*/ 27 h 38"/>
                <a:gd name="T44" fmla="*/ 80 w 86"/>
                <a:gd name="T45" fmla="*/ 22 h 38"/>
                <a:gd name="T46" fmla="*/ 71 w 86"/>
                <a:gd name="T47" fmla="*/ 22 h 38"/>
                <a:gd name="T48" fmla="*/ 70 w 86"/>
                <a:gd name="T49" fmla="*/ 22 h 38"/>
                <a:gd name="T50" fmla="*/ 63 w 86"/>
                <a:gd name="T51" fmla="*/ 22 h 38"/>
                <a:gd name="T52" fmla="*/ 63 w 86"/>
                <a:gd name="T53" fmla="*/ 10 h 38"/>
                <a:gd name="T54" fmla="*/ 70 w 86"/>
                <a:gd name="T55" fmla="*/ 10 h 38"/>
                <a:gd name="T56" fmla="*/ 71 w 86"/>
                <a:gd name="T57" fmla="*/ 10 h 38"/>
                <a:gd name="T58" fmla="*/ 72 w 86"/>
                <a:gd name="T59" fmla="*/ 10 h 38"/>
                <a:gd name="T60" fmla="*/ 74 w 86"/>
                <a:gd name="T61" fmla="*/ 22 h 38"/>
                <a:gd name="T62" fmla="*/ 71 w 86"/>
                <a:gd name="T63" fmla="*/ 2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6" h="38">
                  <a:moveTo>
                    <a:pt x="80" y="22"/>
                  </a:moveTo>
                  <a:cubicBezTo>
                    <a:pt x="79" y="22"/>
                    <a:pt x="79" y="22"/>
                    <a:pt x="79" y="22"/>
                  </a:cubicBezTo>
                  <a:cubicBezTo>
                    <a:pt x="78" y="22"/>
                    <a:pt x="77" y="21"/>
                    <a:pt x="77" y="20"/>
                  </a:cubicBezTo>
                  <a:cubicBezTo>
                    <a:pt x="76" y="20"/>
                    <a:pt x="76" y="20"/>
                    <a:pt x="76" y="19"/>
                  </a:cubicBezTo>
                  <a:cubicBezTo>
                    <a:pt x="75" y="10"/>
                    <a:pt x="75" y="10"/>
                    <a:pt x="75" y="10"/>
                  </a:cubicBezTo>
                  <a:cubicBezTo>
                    <a:pt x="76" y="10"/>
                    <a:pt x="76" y="10"/>
                    <a:pt x="76" y="10"/>
                  </a:cubicBezTo>
                  <a:cubicBezTo>
                    <a:pt x="76" y="10"/>
                    <a:pt x="76" y="10"/>
                    <a:pt x="76" y="10"/>
                  </a:cubicBezTo>
                  <a:cubicBezTo>
                    <a:pt x="76" y="7"/>
                    <a:pt x="76" y="7"/>
                    <a:pt x="76" y="7"/>
                  </a:cubicBezTo>
                  <a:cubicBezTo>
                    <a:pt x="76" y="3"/>
                    <a:pt x="73" y="0"/>
                    <a:pt x="70" y="0"/>
                  </a:cubicBezTo>
                  <a:cubicBezTo>
                    <a:pt x="3" y="0"/>
                    <a:pt x="3" y="0"/>
                    <a:pt x="3" y="0"/>
                  </a:cubicBezTo>
                  <a:cubicBezTo>
                    <a:pt x="2" y="0"/>
                    <a:pt x="0" y="1"/>
                    <a:pt x="0" y="3"/>
                  </a:cubicBezTo>
                  <a:cubicBezTo>
                    <a:pt x="0" y="35"/>
                    <a:pt x="0" y="35"/>
                    <a:pt x="0" y="35"/>
                  </a:cubicBezTo>
                  <a:cubicBezTo>
                    <a:pt x="0" y="36"/>
                    <a:pt x="2" y="38"/>
                    <a:pt x="3" y="38"/>
                  </a:cubicBezTo>
                  <a:cubicBezTo>
                    <a:pt x="6" y="38"/>
                    <a:pt x="6" y="38"/>
                    <a:pt x="6" y="38"/>
                  </a:cubicBezTo>
                  <a:cubicBezTo>
                    <a:pt x="7" y="33"/>
                    <a:pt x="10" y="30"/>
                    <a:pt x="15" y="30"/>
                  </a:cubicBezTo>
                  <a:cubicBezTo>
                    <a:pt x="20" y="30"/>
                    <a:pt x="24" y="33"/>
                    <a:pt x="24" y="38"/>
                  </a:cubicBezTo>
                  <a:cubicBezTo>
                    <a:pt x="59" y="38"/>
                    <a:pt x="59" y="38"/>
                    <a:pt x="59" y="38"/>
                  </a:cubicBezTo>
                  <a:cubicBezTo>
                    <a:pt x="63" y="38"/>
                    <a:pt x="63" y="38"/>
                    <a:pt x="63" y="38"/>
                  </a:cubicBezTo>
                  <a:cubicBezTo>
                    <a:pt x="64" y="33"/>
                    <a:pt x="68" y="30"/>
                    <a:pt x="72" y="30"/>
                  </a:cubicBezTo>
                  <a:cubicBezTo>
                    <a:pt x="77" y="30"/>
                    <a:pt x="81" y="33"/>
                    <a:pt x="82" y="38"/>
                  </a:cubicBezTo>
                  <a:cubicBezTo>
                    <a:pt x="86" y="38"/>
                    <a:pt x="86" y="38"/>
                    <a:pt x="86" y="38"/>
                  </a:cubicBezTo>
                  <a:cubicBezTo>
                    <a:pt x="86" y="27"/>
                    <a:pt x="86" y="27"/>
                    <a:pt x="86" y="27"/>
                  </a:cubicBezTo>
                  <a:cubicBezTo>
                    <a:pt x="86" y="24"/>
                    <a:pt x="83" y="22"/>
                    <a:pt x="80" y="22"/>
                  </a:cubicBezTo>
                  <a:close/>
                  <a:moveTo>
                    <a:pt x="71" y="22"/>
                  </a:moveTo>
                  <a:cubicBezTo>
                    <a:pt x="70" y="22"/>
                    <a:pt x="70" y="22"/>
                    <a:pt x="70" y="22"/>
                  </a:cubicBezTo>
                  <a:cubicBezTo>
                    <a:pt x="63" y="22"/>
                    <a:pt x="63" y="22"/>
                    <a:pt x="63" y="22"/>
                  </a:cubicBezTo>
                  <a:cubicBezTo>
                    <a:pt x="63" y="10"/>
                    <a:pt x="63" y="10"/>
                    <a:pt x="63" y="10"/>
                  </a:cubicBezTo>
                  <a:cubicBezTo>
                    <a:pt x="70" y="10"/>
                    <a:pt x="70" y="10"/>
                    <a:pt x="70" y="10"/>
                  </a:cubicBezTo>
                  <a:cubicBezTo>
                    <a:pt x="71" y="10"/>
                    <a:pt x="71" y="10"/>
                    <a:pt x="71" y="10"/>
                  </a:cubicBezTo>
                  <a:cubicBezTo>
                    <a:pt x="72" y="10"/>
                    <a:pt x="72" y="10"/>
                    <a:pt x="72" y="10"/>
                  </a:cubicBezTo>
                  <a:cubicBezTo>
                    <a:pt x="74" y="22"/>
                    <a:pt x="74" y="22"/>
                    <a:pt x="74" y="22"/>
                  </a:cubicBezTo>
                  <a:lnTo>
                    <a:pt x="71"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895">
              <a:extLst>
                <a:ext uri="{FF2B5EF4-FFF2-40B4-BE49-F238E27FC236}">
                  <a16:creationId xmlns:a16="http://schemas.microsoft.com/office/drawing/2014/main" id="{91018CD1-0D88-45AD-B5DC-775422D7CF83}"/>
                </a:ext>
              </a:extLst>
            </p:cNvPr>
            <p:cNvSpPr>
              <a:spLocks/>
            </p:cNvSpPr>
            <p:nvPr/>
          </p:nvSpPr>
          <p:spPr bwMode="auto">
            <a:xfrm>
              <a:off x="2415874" y="5220813"/>
              <a:ext cx="96159" cy="96159"/>
            </a:xfrm>
            <a:custGeom>
              <a:avLst/>
              <a:gdLst>
                <a:gd name="T0" fmla="*/ 7 w 14"/>
                <a:gd name="T1" fmla="*/ 0 h 14"/>
                <a:gd name="T2" fmla="*/ 1 w 14"/>
                <a:gd name="T3" fmla="*/ 6 h 14"/>
                <a:gd name="T4" fmla="*/ 1 w 14"/>
                <a:gd name="T5" fmla="*/ 8 h 14"/>
                <a:gd name="T6" fmla="*/ 6 w 14"/>
                <a:gd name="T7" fmla="*/ 13 h 14"/>
                <a:gd name="T8" fmla="*/ 14 w 14"/>
                <a:gd name="T9" fmla="*/ 7 h 14"/>
                <a:gd name="T10" fmla="*/ 14 w 14"/>
                <a:gd name="T11" fmla="*/ 6 h 14"/>
                <a:gd name="T12" fmla="*/ 7 w 14"/>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7" y="0"/>
                  </a:moveTo>
                  <a:cubicBezTo>
                    <a:pt x="4" y="0"/>
                    <a:pt x="1" y="3"/>
                    <a:pt x="1" y="6"/>
                  </a:cubicBezTo>
                  <a:cubicBezTo>
                    <a:pt x="0" y="6"/>
                    <a:pt x="0" y="7"/>
                    <a:pt x="1" y="8"/>
                  </a:cubicBezTo>
                  <a:cubicBezTo>
                    <a:pt x="1" y="11"/>
                    <a:pt x="3" y="13"/>
                    <a:pt x="6" y="13"/>
                  </a:cubicBezTo>
                  <a:cubicBezTo>
                    <a:pt x="10" y="14"/>
                    <a:pt x="14" y="11"/>
                    <a:pt x="14" y="7"/>
                  </a:cubicBezTo>
                  <a:cubicBezTo>
                    <a:pt x="14" y="6"/>
                    <a:pt x="14" y="6"/>
                    <a:pt x="14" y="6"/>
                  </a:cubicBezTo>
                  <a:cubicBezTo>
                    <a:pt x="13" y="3"/>
                    <a:pt x="10"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896">
              <a:extLst>
                <a:ext uri="{FF2B5EF4-FFF2-40B4-BE49-F238E27FC236}">
                  <a16:creationId xmlns:a16="http://schemas.microsoft.com/office/drawing/2014/main" id="{03639815-5D71-4AA6-8A7D-6FC91AF1E233}"/>
                </a:ext>
              </a:extLst>
            </p:cNvPr>
            <p:cNvSpPr>
              <a:spLocks/>
            </p:cNvSpPr>
            <p:nvPr/>
          </p:nvSpPr>
          <p:spPr bwMode="auto">
            <a:xfrm>
              <a:off x="2812871" y="5220813"/>
              <a:ext cx="87916" cy="96159"/>
            </a:xfrm>
            <a:custGeom>
              <a:avLst/>
              <a:gdLst>
                <a:gd name="T0" fmla="*/ 6 w 13"/>
                <a:gd name="T1" fmla="*/ 0 h 14"/>
                <a:gd name="T2" fmla="*/ 0 w 13"/>
                <a:gd name="T3" fmla="*/ 6 h 14"/>
                <a:gd name="T4" fmla="*/ 0 w 13"/>
                <a:gd name="T5" fmla="*/ 8 h 14"/>
                <a:gd name="T6" fmla="*/ 5 w 13"/>
                <a:gd name="T7" fmla="*/ 13 h 14"/>
                <a:gd name="T8" fmla="*/ 13 w 13"/>
                <a:gd name="T9" fmla="*/ 7 h 14"/>
                <a:gd name="T10" fmla="*/ 13 w 13"/>
                <a:gd name="T11" fmla="*/ 6 h 14"/>
                <a:gd name="T12" fmla="*/ 6 w 13"/>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13" h="14">
                  <a:moveTo>
                    <a:pt x="6" y="0"/>
                  </a:moveTo>
                  <a:cubicBezTo>
                    <a:pt x="3" y="0"/>
                    <a:pt x="1" y="3"/>
                    <a:pt x="0" y="6"/>
                  </a:cubicBezTo>
                  <a:cubicBezTo>
                    <a:pt x="0" y="6"/>
                    <a:pt x="0" y="7"/>
                    <a:pt x="0" y="8"/>
                  </a:cubicBezTo>
                  <a:cubicBezTo>
                    <a:pt x="0" y="11"/>
                    <a:pt x="3" y="13"/>
                    <a:pt x="5" y="13"/>
                  </a:cubicBezTo>
                  <a:cubicBezTo>
                    <a:pt x="9" y="14"/>
                    <a:pt x="13" y="11"/>
                    <a:pt x="13" y="7"/>
                  </a:cubicBezTo>
                  <a:cubicBezTo>
                    <a:pt x="13" y="6"/>
                    <a:pt x="13" y="6"/>
                    <a:pt x="13" y="6"/>
                  </a:cubicBezTo>
                  <a:cubicBezTo>
                    <a:pt x="12" y="3"/>
                    <a:pt x="10"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4" name="Group 23">
            <a:extLst>
              <a:ext uri="{FF2B5EF4-FFF2-40B4-BE49-F238E27FC236}">
                <a16:creationId xmlns:a16="http://schemas.microsoft.com/office/drawing/2014/main" id="{3EC69F5C-C833-4E90-860F-26AF1D1F7AF4}"/>
              </a:ext>
            </a:extLst>
          </p:cNvPr>
          <p:cNvGrpSpPr>
            <a:grpSpLocks noChangeAspect="1"/>
          </p:cNvGrpSpPr>
          <p:nvPr/>
        </p:nvGrpSpPr>
        <p:grpSpPr>
          <a:xfrm>
            <a:off x="2515071" y="2660369"/>
            <a:ext cx="524148" cy="274320"/>
            <a:chOff x="3126073" y="4995527"/>
            <a:chExt cx="587941" cy="307707"/>
          </a:xfrm>
          <a:solidFill>
            <a:srgbClr val="595555"/>
          </a:solidFill>
        </p:grpSpPr>
        <p:sp>
          <p:nvSpPr>
            <p:cNvPr id="25" name="Freeform 900">
              <a:extLst>
                <a:ext uri="{FF2B5EF4-FFF2-40B4-BE49-F238E27FC236}">
                  <a16:creationId xmlns:a16="http://schemas.microsoft.com/office/drawing/2014/main" id="{E6DBB537-CD09-4DE0-ABCB-B4978075CF74}"/>
                </a:ext>
              </a:extLst>
            </p:cNvPr>
            <p:cNvSpPr>
              <a:spLocks noEditPoints="1"/>
            </p:cNvSpPr>
            <p:nvPr/>
          </p:nvSpPr>
          <p:spPr bwMode="auto">
            <a:xfrm>
              <a:off x="3126073" y="4995527"/>
              <a:ext cx="587941" cy="266497"/>
            </a:xfrm>
            <a:custGeom>
              <a:avLst/>
              <a:gdLst>
                <a:gd name="T0" fmla="*/ 81 w 86"/>
                <a:gd name="T1" fmla="*/ 22 h 39"/>
                <a:gd name="T2" fmla="*/ 75 w 86"/>
                <a:gd name="T3" fmla="*/ 17 h 39"/>
                <a:gd name="T4" fmla="*/ 75 w 86"/>
                <a:gd name="T5" fmla="*/ 17 h 39"/>
                <a:gd name="T6" fmla="*/ 75 w 86"/>
                <a:gd name="T7" fmla="*/ 17 h 39"/>
                <a:gd name="T8" fmla="*/ 74 w 86"/>
                <a:gd name="T9" fmla="*/ 16 h 39"/>
                <a:gd name="T10" fmla="*/ 72 w 86"/>
                <a:gd name="T11" fmla="*/ 16 h 39"/>
                <a:gd name="T12" fmla="*/ 71 w 86"/>
                <a:gd name="T13" fmla="*/ 14 h 39"/>
                <a:gd name="T14" fmla="*/ 64 w 86"/>
                <a:gd name="T15" fmla="*/ 5 h 39"/>
                <a:gd name="T16" fmla="*/ 63 w 86"/>
                <a:gd name="T17" fmla="*/ 3 h 39"/>
                <a:gd name="T18" fmla="*/ 62 w 86"/>
                <a:gd name="T19" fmla="*/ 3 h 39"/>
                <a:gd name="T20" fmla="*/ 60 w 86"/>
                <a:gd name="T21" fmla="*/ 1 h 39"/>
                <a:gd name="T22" fmla="*/ 55 w 86"/>
                <a:gd name="T23" fmla="*/ 0 h 39"/>
                <a:gd name="T24" fmla="*/ 54 w 86"/>
                <a:gd name="T25" fmla="*/ 0 h 39"/>
                <a:gd name="T26" fmla="*/ 55 w 86"/>
                <a:gd name="T27" fmla="*/ 0 h 39"/>
                <a:gd name="T28" fmla="*/ 55 w 86"/>
                <a:gd name="T29" fmla="*/ 0 h 39"/>
                <a:gd name="T30" fmla="*/ 41 w 86"/>
                <a:gd name="T31" fmla="*/ 0 h 39"/>
                <a:gd name="T32" fmla="*/ 4 w 86"/>
                <a:gd name="T33" fmla="*/ 0 h 39"/>
                <a:gd name="T34" fmla="*/ 2 w 86"/>
                <a:gd name="T35" fmla="*/ 3 h 39"/>
                <a:gd name="T36" fmla="*/ 0 w 86"/>
                <a:gd name="T37" fmla="*/ 36 h 39"/>
                <a:gd name="T38" fmla="*/ 3 w 86"/>
                <a:gd name="T39" fmla="*/ 39 h 39"/>
                <a:gd name="T40" fmla="*/ 6 w 86"/>
                <a:gd name="T41" fmla="*/ 39 h 39"/>
                <a:gd name="T42" fmla="*/ 14 w 86"/>
                <a:gd name="T43" fmla="*/ 32 h 39"/>
                <a:gd name="T44" fmla="*/ 22 w 86"/>
                <a:gd name="T45" fmla="*/ 39 h 39"/>
                <a:gd name="T46" fmla="*/ 54 w 86"/>
                <a:gd name="T47" fmla="*/ 39 h 39"/>
                <a:gd name="T48" fmla="*/ 55 w 86"/>
                <a:gd name="T49" fmla="*/ 39 h 39"/>
                <a:gd name="T50" fmla="*/ 65 w 86"/>
                <a:gd name="T51" fmla="*/ 39 h 39"/>
                <a:gd name="T52" fmla="*/ 72 w 86"/>
                <a:gd name="T53" fmla="*/ 32 h 39"/>
                <a:gd name="T54" fmla="*/ 80 w 86"/>
                <a:gd name="T55" fmla="*/ 39 h 39"/>
                <a:gd name="T56" fmla="*/ 83 w 86"/>
                <a:gd name="T57" fmla="*/ 39 h 39"/>
                <a:gd name="T58" fmla="*/ 86 w 86"/>
                <a:gd name="T59" fmla="*/ 36 h 39"/>
                <a:gd name="T60" fmla="*/ 86 w 86"/>
                <a:gd name="T61" fmla="*/ 31 h 39"/>
                <a:gd name="T62" fmla="*/ 81 w 86"/>
                <a:gd name="T63" fmla="*/ 22 h 39"/>
                <a:gd name="T64" fmla="*/ 65 w 86"/>
                <a:gd name="T65" fmla="*/ 13 h 39"/>
                <a:gd name="T66" fmla="*/ 68 w 86"/>
                <a:gd name="T67" fmla="*/ 17 h 39"/>
                <a:gd name="T68" fmla="*/ 63 w 86"/>
                <a:gd name="T69" fmla="*/ 17 h 39"/>
                <a:gd name="T70" fmla="*/ 55 w 86"/>
                <a:gd name="T71" fmla="*/ 17 h 39"/>
                <a:gd name="T72" fmla="*/ 53 w 86"/>
                <a:gd name="T73" fmla="*/ 17 h 39"/>
                <a:gd name="T74" fmla="*/ 50 w 86"/>
                <a:gd name="T75" fmla="*/ 14 h 39"/>
                <a:gd name="T76" fmla="*/ 48 w 86"/>
                <a:gd name="T77" fmla="*/ 4 h 39"/>
                <a:gd name="T78" fmla="*/ 54 w 86"/>
                <a:gd name="T79" fmla="*/ 4 h 39"/>
                <a:gd name="T80" fmla="*/ 55 w 86"/>
                <a:gd name="T81" fmla="*/ 4 h 39"/>
                <a:gd name="T82" fmla="*/ 61 w 86"/>
                <a:gd name="T83" fmla="*/ 7 h 39"/>
                <a:gd name="T84" fmla="*/ 65 w 86"/>
                <a:gd name="T85"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6" h="39">
                  <a:moveTo>
                    <a:pt x="81" y="22"/>
                  </a:moveTo>
                  <a:cubicBezTo>
                    <a:pt x="80" y="20"/>
                    <a:pt x="77" y="19"/>
                    <a:pt x="75" y="17"/>
                  </a:cubicBezTo>
                  <a:cubicBezTo>
                    <a:pt x="75" y="17"/>
                    <a:pt x="75" y="17"/>
                    <a:pt x="75" y="17"/>
                  </a:cubicBezTo>
                  <a:cubicBezTo>
                    <a:pt x="75" y="17"/>
                    <a:pt x="75" y="17"/>
                    <a:pt x="75" y="17"/>
                  </a:cubicBezTo>
                  <a:cubicBezTo>
                    <a:pt x="75" y="17"/>
                    <a:pt x="74" y="17"/>
                    <a:pt x="74" y="16"/>
                  </a:cubicBezTo>
                  <a:cubicBezTo>
                    <a:pt x="73" y="16"/>
                    <a:pt x="73" y="16"/>
                    <a:pt x="72" y="16"/>
                  </a:cubicBezTo>
                  <a:cubicBezTo>
                    <a:pt x="71" y="14"/>
                    <a:pt x="71" y="14"/>
                    <a:pt x="71" y="14"/>
                  </a:cubicBezTo>
                  <a:cubicBezTo>
                    <a:pt x="64" y="5"/>
                    <a:pt x="64" y="5"/>
                    <a:pt x="64" y="5"/>
                  </a:cubicBezTo>
                  <a:cubicBezTo>
                    <a:pt x="64" y="4"/>
                    <a:pt x="63" y="4"/>
                    <a:pt x="63" y="3"/>
                  </a:cubicBezTo>
                  <a:cubicBezTo>
                    <a:pt x="63" y="3"/>
                    <a:pt x="62" y="3"/>
                    <a:pt x="62" y="3"/>
                  </a:cubicBezTo>
                  <a:cubicBezTo>
                    <a:pt x="62" y="2"/>
                    <a:pt x="61" y="2"/>
                    <a:pt x="60" y="1"/>
                  </a:cubicBezTo>
                  <a:cubicBezTo>
                    <a:pt x="59" y="0"/>
                    <a:pt x="57" y="0"/>
                    <a:pt x="55" y="0"/>
                  </a:cubicBezTo>
                  <a:cubicBezTo>
                    <a:pt x="54" y="0"/>
                    <a:pt x="54" y="0"/>
                    <a:pt x="54" y="0"/>
                  </a:cubicBezTo>
                  <a:cubicBezTo>
                    <a:pt x="55" y="0"/>
                    <a:pt x="55" y="0"/>
                    <a:pt x="55" y="0"/>
                  </a:cubicBezTo>
                  <a:cubicBezTo>
                    <a:pt x="55" y="0"/>
                    <a:pt x="55" y="0"/>
                    <a:pt x="55" y="0"/>
                  </a:cubicBezTo>
                  <a:cubicBezTo>
                    <a:pt x="55" y="0"/>
                    <a:pt x="41" y="0"/>
                    <a:pt x="41" y="0"/>
                  </a:cubicBezTo>
                  <a:cubicBezTo>
                    <a:pt x="4" y="0"/>
                    <a:pt x="4" y="0"/>
                    <a:pt x="4" y="0"/>
                  </a:cubicBezTo>
                  <a:cubicBezTo>
                    <a:pt x="3" y="0"/>
                    <a:pt x="2" y="1"/>
                    <a:pt x="2" y="3"/>
                  </a:cubicBezTo>
                  <a:cubicBezTo>
                    <a:pt x="0" y="36"/>
                    <a:pt x="0" y="36"/>
                    <a:pt x="0" y="36"/>
                  </a:cubicBezTo>
                  <a:cubicBezTo>
                    <a:pt x="0" y="37"/>
                    <a:pt x="2" y="39"/>
                    <a:pt x="3" y="39"/>
                  </a:cubicBezTo>
                  <a:cubicBezTo>
                    <a:pt x="6" y="39"/>
                    <a:pt x="6" y="39"/>
                    <a:pt x="6" y="39"/>
                  </a:cubicBezTo>
                  <a:cubicBezTo>
                    <a:pt x="7" y="35"/>
                    <a:pt x="10" y="32"/>
                    <a:pt x="14" y="32"/>
                  </a:cubicBezTo>
                  <a:cubicBezTo>
                    <a:pt x="18" y="32"/>
                    <a:pt x="21" y="35"/>
                    <a:pt x="22" y="39"/>
                  </a:cubicBezTo>
                  <a:cubicBezTo>
                    <a:pt x="54" y="39"/>
                    <a:pt x="54" y="39"/>
                    <a:pt x="54" y="39"/>
                  </a:cubicBezTo>
                  <a:cubicBezTo>
                    <a:pt x="55" y="39"/>
                    <a:pt x="55" y="39"/>
                    <a:pt x="55" y="39"/>
                  </a:cubicBezTo>
                  <a:cubicBezTo>
                    <a:pt x="65" y="39"/>
                    <a:pt x="65" y="39"/>
                    <a:pt x="65" y="39"/>
                  </a:cubicBezTo>
                  <a:cubicBezTo>
                    <a:pt x="65" y="35"/>
                    <a:pt x="68" y="32"/>
                    <a:pt x="72" y="32"/>
                  </a:cubicBezTo>
                  <a:cubicBezTo>
                    <a:pt x="76" y="32"/>
                    <a:pt x="80" y="35"/>
                    <a:pt x="80" y="39"/>
                  </a:cubicBezTo>
                  <a:cubicBezTo>
                    <a:pt x="83" y="39"/>
                    <a:pt x="83" y="39"/>
                    <a:pt x="83" y="39"/>
                  </a:cubicBezTo>
                  <a:cubicBezTo>
                    <a:pt x="85" y="39"/>
                    <a:pt x="86" y="37"/>
                    <a:pt x="86" y="36"/>
                  </a:cubicBezTo>
                  <a:cubicBezTo>
                    <a:pt x="86" y="31"/>
                    <a:pt x="86" y="31"/>
                    <a:pt x="86" y="31"/>
                  </a:cubicBezTo>
                  <a:cubicBezTo>
                    <a:pt x="86" y="27"/>
                    <a:pt x="84" y="24"/>
                    <a:pt x="81" y="22"/>
                  </a:cubicBezTo>
                  <a:close/>
                  <a:moveTo>
                    <a:pt x="65" y="13"/>
                  </a:moveTo>
                  <a:cubicBezTo>
                    <a:pt x="68" y="17"/>
                    <a:pt x="68" y="17"/>
                    <a:pt x="68" y="17"/>
                  </a:cubicBezTo>
                  <a:cubicBezTo>
                    <a:pt x="63" y="17"/>
                    <a:pt x="63" y="17"/>
                    <a:pt x="63" y="17"/>
                  </a:cubicBezTo>
                  <a:cubicBezTo>
                    <a:pt x="55" y="17"/>
                    <a:pt x="55" y="17"/>
                    <a:pt x="55" y="17"/>
                  </a:cubicBezTo>
                  <a:cubicBezTo>
                    <a:pt x="53" y="17"/>
                    <a:pt x="53" y="17"/>
                    <a:pt x="53" y="17"/>
                  </a:cubicBezTo>
                  <a:cubicBezTo>
                    <a:pt x="51" y="17"/>
                    <a:pt x="50" y="16"/>
                    <a:pt x="50" y="14"/>
                  </a:cubicBezTo>
                  <a:cubicBezTo>
                    <a:pt x="48" y="4"/>
                    <a:pt x="48" y="4"/>
                    <a:pt x="48" y="4"/>
                  </a:cubicBezTo>
                  <a:cubicBezTo>
                    <a:pt x="54" y="4"/>
                    <a:pt x="54" y="4"/>
                    <a:pt x="54" y="4"/>
                  </a:cubicBezTo>
                  <a:cubicBezTo>
                    <a:pt x="55" y="4"/>
                    <a:pt x="55" y="4"/>
                    <a:pt x="55" y="4"/>
                  </a:cubicBezTo>
                  <a:cubicBezTo>
                    <a:pt x="57" y="4"/>
                    <a:pt x="60" y="6"/>
                    <a:pt x="61" y="7"/>
                  </a:cubicBezTo>
                  <a:lnTo>
                    <a:pt x="65"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901">
              <a:extLst>
                <a:ext uri="{FF2B5EF4-FFF2-40B4-BE49-F238E27FC236}">
                  <a16:creationId xmlns:a16="http://schemas.microsoft.com/office/drawing/2014/main" id="{716AB486-33A5-4300-B9EE-7E6EA12F960B}"/>
                </a:ext>
              </a:extLst>
            </p:cNvPr>
            <p:cNvSpPr>
              <a:spLocks/>
            </p:cNvSpPr>
            <p:nvPr/>
          </p:nvSpPr>
          <p:spPr bwMode="auto">
            <a:xfrm>
              <a:off x="3181021" y="5234549"/>
              <a:ext cx="75553" cy="68685"/>
            </a:xfrm>
            <a:custGeom>
              <a:avLst/>
              <a:gdLst>
                <a:gd name="T0" fmla="*/ 6 w 11"/>
                <a:gd name="T1" fmla="*/ 0 h 10"/>
                <a:gd name="T2" fmla="*/ 1 w 11"/>
                <a:gd name="T3" fmla="*/ 4 h 10"/>
                <a:gd name="T4" fmla="*/ 0 w 11"/>
                <a:gd name="T5" fmla="*/ 5 h 10"/>
                <a:gd name="T6" fmla="*/ 6 w 11"/>
                <a:gd name="T7" fmla="*/ 10 h 10"/>
                <a:gd name="T8" fmla="*/ 11 w 11"/>
                <a:gd name="T9" fmla="*/ 5 h 10"/>
                <a:gd name="T10" fmla="*/ 11 w 11"/>
                <a:gd name="T11" fmla="*/ 4 h 10"/>
                <a:gd name="T12" fmla="*/ 6 w 11"/>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6" y="0"/>
                  </a:moveTo>
                  <a:cubicBezTo>
                    <a:pt x="3" y="0"/>
                    <a:pt x="1" y="1"/>
                    <a:pt x="1" y="4"/>
                  </a:cubicBezTo>
                  <a:cubicBezTo>
                    <a:pt x="0" y="4"/>
                    <a:pt x="0" y="4"/>
                    <a:pt x="0" y="5"/>
                  </a:cubicBezTo>
                  <a:cubicBezTo>
                    <a:pt x="0" y="8"/>
                    <a:pt x="3" y="10"/>
                    <a:pt x="6" y="10"/>
                  </a:cubicBezTo>
                  <a:cubicBezTo>
                    <a:pt x="9" y="10"/>
                    <a:pt x="11" y="8"/>
                    <a:pt x="11" y="5"/>
                  </a:cubicBezTo>
                  <a:cubicBezTo>
                    <a:pt x="11" y="4"/>
                    <a:pt x="11" y="4"/>
                    <a:pt x="11" y="4"/>
                  </a:cubicBezTo>
                  <a:cubicBezTo>
                    <a:pt x="10" y="1"/>
                    <a:pt x="8"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902">
              <a:extLst>
                <a:ext uri="{FF2B5EF4-FFF2-40B4-BE49-F238E27FC236}">
                  <a16:creationId xmlns:a16="http://schemas.microsoft.com/office/drawing/2014/main" id="{CC806FD0-582A-4FD4-A9F4-5318F88D266B}"/>
                </a:ext>
              </a:extLst>
            </p:cNvPr>
            <p:cNvSpPr>
              <a:spLocks/>
            </p:cNvSpPr>
            <p:nvPr/>
          </p:nvSpPr>
          <p:spPr bwMode="auto">
            <a:xfrm>
              <a:off x="3583514" y="5234549"/>
              <a:ext cx="75553" cy="68685"/>
            </a:xfrm>
            <a:custGeom>
              <a:avLst/>
              <a:gdLst>
                <a:gd name="T0" fmla="*/ 5 w 11"/>
                <a:gd name="T1" fmla="*/ 0 h 10"/>
                <a:gd name="T2" fmla="*/ 0 w 11"/>
                <a:gd name="T3" fmla="*/ 4 h 10"/>
                <a:gd name="T4" fmla="*/ 0 w 11"/>
                <a:gd name="T5" fmla="*/ 5 h 10"/>
                <a:gd name="T6" fmla="*/ 5 w 11"/>
                <a:gd name="T7" fmla="*/ 10 h 10"/>
                <a:gd name="T8" fmla="*/ 11 w 11"/>
                <a:gd name="T9" fmla="*/ 5 h 10"/>
                <a:gd name="T10" fmla="*/ 11 w 11"/>
                <a:gd name="T11" fmla="*/ 4 h 10"/>
                <a:gd name="T12" fmla="*/ 5 w 11"/>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0"/>
                  </a:moveTo>
                  <a:cubicBezTo>
                    <a:pt x="3" y="0"/>
                    <a:pt x="1" y="1"/>
                    <a:pt x="0" y="4"/>
                  </a:cubicBezTo>
                  <a:cubicBezTo>
                    <a:pt x="0" y="4"/>
                    <a:pt x="0" y="4"/>
                    <a:pt x="0" y="5"/>
                  </a:cubicBezTo>
                  <a:cubicBezTo>
                    <a:pt x="0" y="8"/>
                    <a:pt x="2" y="10"/>
                    <a:pt x="5" y="10"/>
                  </a:cubicBezTo>
                  <a:cubicBezTo>
                    <a:pt x="8" y="10"/>
                    <a:pt x="11" y="8"/>
                    <a:pt x="11" y="5"/>
                  </a:cubicBezTo>
                  <a:cubicBezTo>
                    <a:pt x="11" y="4"/>
                    <a:pt x="11" y="4"/>
                    <a:pt x="11" y="4"/>
                  </a:cubicBezTo>
                  <a:cubicBezTo>
                    <a:pt x="10" y="1"/>
                    <a:pt x="8"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28" name="Group 27">
            <a:extLst>
              <a:ext uri="{FF2B5EF4-FFF2-40B4-BE49-F238E27FC236}">
                <a16:creationId xmlns:a16="http://schemas.microsoft.com/office/drawing/2014/main" id="{DEC5424F-20AC-45CD-B40F-0755346B3EBE}"/>
              </a:ext>
            </a:extLst>
          </p:cNvPr>
          <p:cNvGrpSpPr>
            <a:grpSpLocks noChangeAspect="1"/>
          </p:cNvGrpSpPr>
          <p:nvPr/>
        </p:nvGrpSpPr>
        <p:grpSpPr>
          <a:xfrm>
            <a:off x="3437631" y="2627243"/>
            <a:ext cx="443691" cy="274320"/>
            <a:chOff x="3891221" y="4968053"/>
            <a:chExt cx="586567" cy="362655"/>
          </a:xfrm>
          <a:solidFill>
            <a:srgbClr val="595555"/>
          </a:solidFill>
        </p:grpSpPr>
        <p:sp>
          <p:nvSpPr>
            <p:cNvPr id="29" name="Freeform 903">
              <a:extLst>
                <a:ext uri="{FF2B5EF4-FFF2-40B4-BE49-F238E27FC236}">
                  <a16:creationId xmlns:a16="http://schemas.microsoft.com/office/drawing/2014/main" id="{E61765EB-ABD4-4B27-9D91-05F6319D9583}"/>
                </a:ext>
              </a:extLst>
            </p:cNvPr>
            <p:cNvSpPr>
              <a:spLocks noEditPoints="1"/>
            </p:cNvSpPr>
            <p:nvPr/>
          </p:nvSpPr>
          <p:spPr bwMode="auto">
            <a:xfrm>
              <a:off x="3891221" y="5029869"/>
              <a:ext cx="586567" cy="245891"/>
            </a:xfrm>
            <a:custGeom>
              <a:avLst/>
              <a:gdLst>
                <a:gd name="T0" fmla="*/ 79 w 86"/>
                <a:gd name="T1" fmla="*/ 1 h 36"/>
                <a:gd name="T2" fmla="*/ 78 w 86"/>
                <a:gd name="T3" fmla="*/ 0 h 36"/>
                <a:gd name="T4" fmla="*/ 67 w 86"/>
                <a:gd name="T5" fmla="*/ 0 h 36"/>
                <a:gd name="T6" fmla="*/ 66 w 86"/>
                <a:gd name="T7" fmla="*/ 0 h 36"/>
                <a:gd name="T8" fmla="*/ 62 w 86"/>
                <a:gd name="T9" fmla="*/ 0 h 36"/>
                <a:gd name="T10" fmla="*/ 62 w 86"/>
                <a:gd name="T11" fmla="*/ 23 h 36"/>
                <a:gd name="T12" fmla="*/ 62 w 86"/>
                <a:gd name="T13" fmla="*/ 26 h 36"/>
                <a:gd name="T14" fmla="*/ 59 w 86"/>
                <a:gd name="T15" fmla="*/ 26 h 36"/>
                <a:gd name="T16" fmla="*/ 0 w 86"/>
                <a:gd name="T17" fmla="*/ 26 h 36"/>
                <a:gd name="T18" fmla="*/ 0 w 86"/>
                <a:gd name="T19" fmla="*/ 34 h 36"/>
                <a:gd name="T20" fmla="*/ 3 w 86"/>
                <a:gd name="T21" fmla="*/ 36 h 36"/>
                <a:gd name="T22" fmla="*/ 3 w 86"/>
                <a:gd name="T23" fmla="*/ 36 h 36"/>
                <a:gd name="T24" fmla="*/ 12 w 86"/>
                <a:gd name="T25" fmla="*/ 28 h 36"/>
                <a:gd name="T26" fmla="*/ 22 w 86"/>
                <a:gd name="T27" fmla="*/ 36 h 36"/>
                <a:gd name="T28" fmla="*/ 65 w 86"/>
                <a:gd name="T29" fmla="*/ 36 h 36"/>
                <a:gd name="T30" fmla="*/ 74 w 86"/>
                <a:gd name="T31" fmla="*/ 28 h 36"/>
                <a:gd name="T32" fmla="*/ 83 w 86"/>
                <a:gd name="T33" fmla="*/ 36 h 36"/>
                <a:gd name="T34" fmla="*/ 83 w 86"/>
                <a:gd name="T35" fmla="*/ 36 h 36"/>
                <a:gd name="T36" fmla="*/ 86 w 86"/>
                <a:gd name="T37" fmla="*/ 34 h 36"/>
                <a:gd name="T38" fmla="*/ 86 w 86"/>
                <a:gd name="T39" fmla="*/ 26 h 36"/>
                <a:gd name="T40" fmla="*/ 86 w 86"/>
                <a:gd name="T41" fmla="*/ 19 h 36"/>
                <a:gd name="T42" fmla="*/ 86 w 86"/>
                <a:gd name="T43" fmla="*/ 15 h 36"/>
                <a:gd name="T44" fmla="*/ 79 w 86"/>
                <a:gd name="T45" fmla="*/ 1 h 36"/>
                <a:gd name="T46" fmla="*/ 67 w 86"/>
                <a:gd name="T47" fmla="*/ 4 h 36"/>
                <a:gd name="T48" fmla="*/ 77 w 86"/>
                <a:gd name="T49" fmla="*/ 4 h 36"/>
                <a:gd name="T50" fmla="*/ 82 w 86"/>
                <a:gd name="T51" fmla="*/ 15 h 36"/>
                <a:gd name="T52" fmla="*/ 67 w 86"/>
                <a:gd name="T53" fmla="*/ 15 h 36"/>
                <a:gd name="T54" fmla="*/ 67 w 86"/>
                <a:gd name="T55"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6" h="36">
                  <a:moveTo>
                    <a:pt x="79" y="1"/>
                  </a:moveTo>
                  <a:cubicBezTo>
                    <a:pt x="79" y="1"/>
                    <a:pt x="78" y="0"/>
                    <a:pt x="78" y="0"/>
                  </a:cubicBezTo>
                  <a:cubicBezTo>
                    <a:pt x="67" y="0"/>
                    <a:pt x="67" y="0"/>
                    <a:pt x="67" y="0"/>
                  </a:cubicBezTo>
                  <a:cubicBezTo>
                    <a:pt x="66" y="0"/>
                    <a:pt x="66" y="0"/>
                    <a:pt x="66" y="0"/>
                  </a:cubicBezTo>
                  <a:cubicBezTo>
                    <a:pt x="62" y="0"/>
                    <a:pt x="62" y="0"/>
                    <a:pt x="62" y="0"/>
                  </a:cubicBezTo>
                  <a:cubicBezTo>
                    <a:pt x="62" y="23"/>
                    <a:pt x="62" y="23"/>
                    <a:pt x="62" y="23"/>
                  </a:cubicBezTo>
                  <a:cubicBezTo>
                    <a:pt x="62" y="26"/>
                    <a:pt x="62" y="26"/>
                    <a:pt x="62" y="26"/>
                  </a:cubicBezTo>
                  <a:cubicBezTo>
                    <a:pt x="59" y="26"/>
                    <a:pt x="59" y="26"/>
                    <a:pt x="59" y="26"/>
                  </a:cubicBezTo>
                  <a:cubicBezTo>
                    <a:pt x="0" y="26"/>
                    <a:pt x="0" y="26"/>
                    <a:pt x="0" y="26"/>
                  </a:cubicBezTo>
                  <a:cubicBezTo>
                    <a:pt x="0" y="34"/>
                    <a:pt x="0" y="34"/>
                    <a:pt x="0" y="34"/>
                  </a:cubicBezTo>
                  <a:cubicBezTo>
                    <a:pt x="0" y="35"/>
                    <a:pt x="2" y="36"/>
                    <a:pt x="3" y="36"/>
                  </a:cubicBezTo>
                  <a:cubicBezTo>
                    <a:pt x="3" y="36"/>
                    <a:pt x="3" y="36"/>
                    <a:pt x="3" y="36"/>
                  </a:cubicBezTo>
                  <a:cubicBezTo>
                    <a:pt x="4" y="32"/>
                    <a:pt x="8" y="28"/>
                    <a:pt x="12" y="28"/>
                  </a:cubicBezTo>
                  <a:cubicBezTo>
                    <a:pt x="17" y="28"/>
                    <a:pt x="21" y="32"/>
                    <a:pt x="22" y="36"/>
                  </a:cubicBezTo>
                  <a:cubicBezTo>
                    <a:pt x="65" y="36"/>
                    <a:pt x="65" y="36"/>
                    <a:pt x="65" y="36"/>
                  </a:cubicBezTo>
                  <a:cubicBezTo>
                    <a:pt x="65" y="32"/>
                    <a:pt x="69" y="28"/>
                    <a:pt x="74" y="28"/>
                  </a:cubicBezTo>
                  <a:cubicBezTo>
                    <a:pt x="78" y="28"/>
                    <a:pt x="82" y="32"/>
                    <a:pt x="83" y="36"/>
                  </a:cubicBezTo>
                  <a:cubicBezTo>
                    <a:pt x="83" y="36"/>
                    <a:pt x="83" y="36"/>
                    <a:pt x="83" y="36"/>
                  </a:cubicBezTo>
                  <a:cubicBezTo>
                    <a:pt x="85" y="36"/>
                    <a:pt x="86" y="35"/>
                    <a:pt x="86" y="34"/>
                  </a:cubicBezTo>
                  <a:cubicBezTo>
                    <a:pt x="86" y="26"/>
                    <a:pt x="86" y="26"/>
                    <a:pt x="86" y="26"/>
                  </a:cubicBezTo>
                  <a:cubicBezTo>
                    <a:pt x="86" y="19"/>
                    <a:pt x="86" y="19"/>
                    <a:pt x="86" y="19"/>
                  </a:cubicBezTo>
                  <a:cubicBezTo>
                    <a:pt x="86" y="15"/>
                    <a:pt x="86" y="15"/>
                    <a:pt x="86" y="15"/>
                  </a:cubicBezTo>
                  <a:cubicBezTo>
                    <a:pt x="86" y="15"/>
                    <a:pt x="79" y="1"/>
                    <a:pt x="79" y="1"/>
                  </a:cubicBezTo>
                  <a:close/>
                  <a:moveTo>
                    <a:pt x="67" y="4"/>
                  </a:moveTo>
                  <a:cubicBezTo>
                    <a:pt x="77" y="4"/>
                    <a:pt x="77" y="4"/>
                    <a:pt x="77" y="4"/>
                  </a:cubicBezTo>
                  <a:cubicBezTo>
                    <a:pt x="82" y="15"/>
                    <a:pt x="82" y="15"/>
                    <a:pt x="82" y="15"/>
                  </a:cubicBezTo>
                  <a:cubicBezTo>
                    <a:pt x="67" y="15"/>
                    <a:pt x="67" y="15"/>
                    <a:pt x="67" y="15"/>
                  </a:cubicBezTo>
                  <a:lnTo>
                    <a:pt x="67"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904">
              <a:extLst>
                <a:ext uri="{FF2B5EF4-FFF2-40B4-BE49-F238E27FC236}">
                  <a16:creationId xmlns:a16="http://schemas.microsoft.com/office/drawing/2014/main" id="{8E5A2CC3-1C7B-472B-B7C6-B39F2E76031E}"/>
                </a:ext>
              </a:extLst>
            </p:cNvPr>
            <p:cNvSpPr>
              <a:spLocks/>
            </p:cNvSpPr>
            <p:nvPr/>
          </p:nvSpPr>
          <p:spPr bwMode="auto">
            <a:xfrm>
              <a:off x="3891221" y="4968053"/>
              <a:ext cx="402492" cy="218417"/>
            </a:xfrm>
            <a:custGeom>
              <a:avLst/>
              <a:gdLst>
                <a:gd name="T0" fmla="*/ 59 w 59"/>
                <a:gd name="T1" fmla="*/ 0 h 32"/>
                <a:gd name="T2" fmla="*/ 3 w 59"/>
                <a:gd name="T3" fmla="*/ 0 h 32"/>
                <a:gd name="T4" fmla="*/ 0 w 59"/>
                <a:gd name="T5" fmla="*/ 3 h 32"/>
                <a:gd name="T6" fmla="*/ 0 w 59"/>
                <a:gd name="T7" fmla="*/ 32 h 32"/>
                <a:gd name="T8" fmla="*/ 59 w 59"/>
                <a:gd name="T9" fmla="*/ 32 h 32"/>
                <a:gd name="T10" fmla="*/ 59 w 59"/>
                <a:gd name="T11" fmla="*/ 0 h 32"/>
              </a:gdLst>
              <a:ahLst/>
              <a:cxnLst>
                <a:cxn ang="0">
                  <a:pos x="T0" y="T1"/>
                </a:cxn>
                <a:cxn ang="0">
                  <a:pos x="T2" y="T3"/>
                </a:cxn>
                <a:cxn ang="0">
                  <a:pos x="T4" y="T5"/>
                </a:cxn>
                <a:cxn ang="0">
                  <a:pos x="T6" y="T7"/>
                </a:cxn>
                <a:cxn ang="0">
                  <a:pos x="T8" y="T9"/>
                </a:cxn>
                <a:cxn ang="0">
                  <a:pos x="T10" y="T11"/>
                </a:cxn>
              </a:cxnLst>
              <a:rect l="0" t="0" r="r" b="b"/>
              <a:pathLst>
                <a:path w="59" h="32">
                  <a:moveTo>
                    <a:pt x="59" y="0"/>
                  </a:moveTo>
                  <a:cubicBezTo>
                    <a:pt x="3" y="0"/>
                    <a:pt x="3" y="0"/>
                    <a:pt x="3" y="0"/>
                  </a:cubicBezTo>
                  <a:cubicBezTo>
                    <a:pt x="2" y="0"/>
                    <a:pt x="0" y="1"/>
                    <a:pt x="0" y="3"/>
                  </a:cubicBezTo>
                  <a:cubicBezTo>
                    <a:pt x="0" y="32"/>
                    <a:pt x="0" y="32"/>
                    <a:pt x="0" y="32"/>
                  </a:cubicBezTo>
                  <a:cubicBezTo>
                    <a:pt x="59" y="32"/>
                    <a:pt x="59" y="32"/>
                    <a:pt x="59" y="32"/>
                  </a:cubicBezTo>
                  <a:lnTo>
                    <a:pt x="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905">
              <a:extLst>
                <a:ext uri="{FF2B5EF4-FFF2-40B4-BE49-F238E27FC236}">
                  <a16:creationId xmlns:a16="http://schemas.microsoft.com/office/drawing/2014/main" id="{0A05C574-95D4-4FFF-9575-20E096B47EA6}"/>
                </a:ext>
              </a:extLst>
            </p:cNvPr>
            <p:cNvSpPr>
              <a:spLocks/>
            </p:cNvSpPr>
            <p:nvPr/>
          </p:nvSpPr>
          <p:spPr bwMode="auto">
            <a:xfrm>
              <a:off x="3932432" y="5241418"/>
              <a:ext cx="87916" cy="89290"/>
            </a:xfrm>
            <a:custGeom>
              <a:avLst/>
              <a:gdLst>
                <a:gd name="T0" fmla="*/ 6 w 13"/>
                <a:gd name="T1" fmla="*/ 0 h 13"/>
                <a:gd name="T2" fmla="*/ 0 w 13"/>
                <a:gd name="T3" fmla="*/ 5 h 13"/>
                <a:gd name="T4" fmla="*/ 0 w 13"/>
                <a:gd name="T5" fmla="*/ 7 h 13"/>
                <a:gd name="T6" fmla="*/ 6 w 13"/>
                <a:gd name="T7" fmla="*/ 13 h 13"/>
                <a:gd name="T8" fmla="*/ 13 w 13"/>
                <a:gd name="T9" fmla="*/ 7 h 13"/>
                <a:gd name="T10" fmla="*/ 13 w 13"/>
                <a:gd name="T11" fmla="*/ 5 h 13"/>
                <a:gd name="T12" fmla="*/ 6 w 13"/>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6" y="0"/>
                  </a:moveTo>
                  <a:cubicBezTo>
                    <a:pt x="3" y="0"/>
                    <a:pt x="1" y="2"/>
                    <a:pt x="0" y="5"/>
                  </a:cubicBezTo>
                  <a:cubicBezTo>
                    <a:pt x="0" y="6"/>
                    <a:pt x="0" y="6"/>
                    <a:pt x="0" y="7"/>
                  </a:cubicBezTo>
                  <a:cubicBezTo>
                    <a:pt x="0" y="10"/>
                    <a:pt x="3" y="13"/>
                    <a:pt x="6" y="13"/>
                  </a:cubicBezTo>
                  <a:cubicBezTo>
                    <a:pt x="10" y="13"/>
                    <a:pt x="13" y="10"/>
                    <a:pt x="13" y="7"/>
                  </a:cubicBezTo>
                  <a:cubicBezTo>
                    <a:pt x="13" y="6"/>
                    <a:pt x="13" y="6"/>
                    <a:pt x="13" y="5"/>
                  </a:cubicBezTo>
                  <a:cubicBezTo>
                    <a:pt x="12" y="2"/>
                    <a:pt x="10" y="0"/>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906">
              <a:extLst>
                <a:ext uri="{FF2B5EF4-FFF2-40B4-BE49-F238E27FC236}">
                  <a16:creationId xmlns:a16="http://schemas.microsoft.com/office/drawing/2014/main" id="{157079C6-F215-4CE7-95B6-F460C08B7FF8}"/>
                </a:ext>
              </a:extLst>
            </p:cNvPr>
            <p:cNvSpPr>
              <a:spLocks/>
            </p:cNvSpPr>
            <p:nvPr/>
          </p:nvSpPr>
          <p:spPr bwMode="auto">
            <a:xfrm>
              <a:off x="4348661" y="5241418"/>
              <a:ext cx="87916" cy="89290"/>
            </a:xfrm>
            <a:custGeom>
              <a:avLst/>
              <a:gdLst>
                <a:gd name="T0" fmla="*/ 7 w 13"/>
                <a:gd name="T1" fmla="*/ 0 h 13"/>
                <a:gd name="T2" fmla="*/ 0 w 13"/>
                <a:gd name="T3" fmla="*/ 5 h 13"/>
                <a:gd name="T4" fmla="*/ 0 w 13"/>
                <a:gd name="T5" fmla="*/ 7 h 13"/>
                <a:gd name="T6" fmla="*/ 7 w 13"/>
                <a:gd name="T7" fmla="*/ 13 h 13"/>
                <a:gd name="T8" fmla="*/ 13 w 13"/>
                <a:gd name="T9" fmla="*/ 7 h 13"/>
                <a:gd name="T10" fmla="*/ 13 w 13"/>
                <a:gd name="T11" fmla="*/ 5 h 13"/>
                <a:gd name="T12" fmla="*/ 7 w 13"/>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13" h="13">
                  <a:moveTo>
                    <a:pt x="7" y="0"/>
                  </a:moveTo>
                  <a:cubicBezTo>
                    <a:pt x="4" y="0"/>
                    <a:pt x="1" y="2"/>
                    <a:pt x="0" y="5"/>
                  </a:cubicBezTo>
                  <a:cubicBezTo>
                    <a:pt x="0" y="6"/>
                    <a:pt x="0" y="6"/>
                    <a:pt x="0" y="7"/>
                  </a:cubicBezTo>
                  <a:cubicBezTo>
                    <a:pt x="0" y="10"/>
                    <a:pt x="3" y="13"/>
                    <a:pt x="7" y="13"/>
                  </a:cubicBezTo>
                  <a:cubicBezTo>
                    <a:pt x="10" y="13"/>
                    <a:pt x="13" y="10"/>
                    <a:pt x="13" y="7"/>
                  </a:cubicBezTo>
                  <a:cubicBezTo>
                    <a:pt x="13" y="6"/>
                    <a:pt x="13" y="6"/>
                    <a:pt x="13" y="5"/>
                  </a:cubicBezTo>
                  <a:cubicBezTo>
                    <a:pt x="13" y="2"/>
                    <a:pt x="10"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3" name="Group 32">
            <a:extLst>
              <a:ext uri="{FF2B5EF4-FFF2-40B4-BE49-F238E27FC236}">
                <a16:creationId xmlns:a16="http://schemas.microsoft.com/office/drawing/2014/main" id="{954B547B-C192-414B-A5AD-F56C4150A31E}"/>
              </a:ext>
            </a:extLst>
          </p:cNvPr>
          <p:cNvGrpSpPr>
            <a:grpSpLocks noChangeAspect="1"/>
          </p:cNvGrpSpPr>
          <p:nvPr/>
        </p:nvGrpSpPr>
        <p:grpSpPr>
          <a:xfrm>
            <a:off x="4358537" y="2536146"/>
            <a:ext cx="319047" cy="274320"/>
            <a:chOff x="4654995" y="4892500"/>
            <a:chExt cx="587941" cy="505519"/>
          </a:xfrm>
          <a:solidFill>
            <a:srgbClr val="595555"/>
          </a:solidFill>
        </p:grpSpPr>
        <p:sp>
          <p:nvSpPr>
            <p:cNvPr id="34" name="Freeform 912">
              <a:extLst>
                <a:ext uri="{FF2B5EF4-FFF2-40B4-BE49-F238E27FC236}">
                  <a16:creationId xmlns:a16="http://schemas.microsoft.com/office/drawing/2014/main" id="{A4BEC867-7658-4752-A33A-665B26C9C393}"/>
                </a:ext>
              </a:extLst>
            </p:cNvPr>
            <p:cNvSpPr>
              <a:spLocks/>
            </p:cNvSpPr>
            <p:nvPr/>
          </p:nvSpPr>
          <p:spPr bwMode="auto">
            <a:xfrm>
              <a:off x="4806101" y="4892500"/>
              <a:ext cx="285728" cy="157975"/>
            </a:xfrm>
            <a:custGeom>
              <a:avLst/>
              <a:gdLst>
                <a:gd name="T0" fmla="*/ 1 w 42"/>
                <a:gd name="T1" fmla="*/ 19 h 23"/>
                <a:gd name="T2" fmla="*/ 3 w 42"/>
                <a:gd name="T3" fmla="*/ 19 h 23"/>
                <a:gd name="T4" fmla="*/ 2 w 42"/>
                <a:gd name="T5" fmla="*/ 20 h 23"/>
                <a:gd name="T6" fmla="*/ 4 w 42"/>
                <a:gd name="T7" fmla="*/ 23 h 23"/>
                <a:gd name="T8" fmla="*/ 8 w 42"/>
                <a:gd name="T9" fmla="*/ 20 h 23"/>
                <a:gd name="T10" fmla="*/ 8 w 42"/>
                <a:gd name="T11" fmla="*/ 19 h 23"/>
                <a:gd name="T12" fmla="*/ 35 w 42"/>
                <a:gd name="T13" fmla="*/ 19 h 23"/>
                <a:gd name="T14" fmla="*/ 35 w 42"/>
                <a:gd name="T15" fmla="*/ 20 h 23"/>
                <a:gd name="T16" fmla="*/ 37 w 42"/>
                <a:gd name="T17" fmla="*/ 23 h 23"/>
                <a:gd name="T18" fmla="*/ 40 w 42"/>
                <a:gd name="T19" fmla="*/ 20 h 23"/>
                <a:gd name="T20" fmla="*/ 40 w 42"/>
                <a:gd name="T21" fmla="*/ 19 h 23"/>
                <a:gd name="T22" fmla="*/ 42 w 42"/>
                <a:gd name="T23" fmla="*/ 19 h 23"/>
                <a:gd name="T24" fmla="*/ 42 w 42"/>
                <a:gd name="T25" fmla="*/ 19 h 23"/>
                <a:gd name="T26" fmla="*/ 42 w 42"/>
                <a:gd name="T27" fmla="*/ 18 h 23"/>
                <a:gd name="T28" fmla="*/ 42 w 42"/>
                <a:gd name="T29" fmla="*/ 12 h 23"/>
                <a:gd name="T30" fmla="*/ 39 w 42"/>
                <a:gd name="T31" fmla="*/ 6 h 23"/>
                <a:gd name="T32" fmla="*/ 32 w 42"/>
                <a:gd name="T33" fmla="*/ 6 h 23"/>
                <a:gd name="T34" fmla="*/ 32 w 42"/>
                <a:gd name="T35" fmla="*/ 0 h 23"/>
                <a:gd name="T36" fmla="*/ 0 w 42"/>
                <a:gd name="T37" fmla="*/ 0 h 23"/>
                <a:gd name="T38" fmla="*/ 0 w 42"/>
                <a:gd name="T39" fmla="*/ 14 h 23"/>
                <a:gd name="T40" fmla="*/ 1 w 42"/>
                <a:gd name="T41" fmla="*/ 14 h 23"/>
                <a:gd name="T42" fmla="*/ 1 w 42"/>
                <a:gd name="T4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23">
                  <a:moveTo>
                    <a:pt x="1" y="19"/>
                  </a:moveTo>
                  <a:cubicBezTo>
                    <a:pt x="3" y="19"/>
                    <a:pt x="3" y="19"/>
                    <a:pt x="3" y="19"/>
                  </a:cubicBezTo>
                  <a:cubicBezTo>
                    <a:pt x="3" y="19"/>
                    <a:pt x="2" y="20"/>
                    <a:pt x="2" y="20"/>
                  </a:cubicBezTo>
                  <a:cubicBezTo>
                    <a:pt x="2" y="21"/>
                    <a:pt x="3" y="22"/>
                    <a:pt x="4" y="23"/>
                  </a:cubicBezTo>
                  <a:cubicBezTo>
                    <a:pt x="6" y="23"/>
                    <a:pt x="8" y="22"/>
                    <a:pt x="8" y="20"/>
                  </a:cubicBezTo>
                  <a:cubicBezTo>
                    <a:pt x="8" y="20"/>
                    <a:pt x="8" y="19"/>
                    <a:pt x="8" y="19"/>
                  </a:cubicBezTo>
                  <a:cubicBezTo>
                    <a:pt x="35" y="19"/>
                    <a:pt x="35" y="19"/>
                    <a:pt x="35" y="19"/>
                  </a:cubicBezTo>
                  <a:cubicBezTo>
                    <a:pt x="35" y="19"/>
                    <a:pt x="35" y="20"/>
                    <a:pt x="35" y="20"/>
                  </a:cubicBezTo>
                  <a:cubicBezTo>
                    <a:pt x="35" y="21"/>
                    <a:pt x="36" y="23"/>
                    <a:pt x="37" y="23"/>
                  </a:cubicBezTo>
                  <a:cubicBezTo>
                    <a:pt x="39" y="23"/>
                    <a:pt x="40" y="21"/>
                    <a:pt x="40" y="20"/>
                  </a:cubicBezTo>
                  <a:cubicBezTo>
                    <a:pt x="40" y="20"/>
                    <a:pt x="40" y="19"/>
                    <a:pt x="40" y="19"/>
                  </a:cubicBezTo>
                  <a:cubicBezTo>
                    <a:pt x="42" y="19"/>
                    <a:pt x="42" y="19"/>
                    <a:pt x="42" y="19"/>
                  </a:cubicBezTo>
                  <a:cubicBezTo>
                    <a:pt x="42" y="19"/>
                    <a:pt x="42" y="19"/>
                    <a:pt x="42" y="19"/>
                  </a:cubicBezTo>
                  <a:cubicBezTo>
                    <a:pt x="42" y="18"/>
                    <a:pt x="42" y="18"/>
                    <a:pt x="42" y="18"/>
                  </a:cubicBezTo>
                  <a:cubicBezTo>
                    <a:pt x="42" y="12"/>
                    <a:pt x="42" y="12"/>
                    <a:pt x="42" y="12"/>
                  </a:cubicBezTo>
                  <a:cubicBezTo>
                    <a:pt x="39" y="6"/>
                    <a:pt x="39" y="6"/>
                    <a:pt x="39" y="6"/>
                  </a:cubicBezTo>
                  <a:cubicBezTo>
                    <a:pt x="32" y="6"/>
                    <a:pt x="32" y="6"/>
                    <a:pt x="32" y="6"/>
                  </a:cubicBezTo>
                  <a:cubicBezTo>
                    <a:pt x="32" y="0"/>
                    <a:pt x="32" y="0"/>
                    <a:pt x="32" y="0"/>
                  </a:cubicBezTo>
                  <a:cubicBezTo>
                    <a:pt x="0" y="0"/>
                    <a:pt x="0" y="0"/>
                    <a:pt x="0" y="0"/>
                  </a:cubicBezTo>
                  <a:cubicBezTo>
                    <a:pt x="0" y="14"/>
                    <a:pt x="0" y="14"/>
                    <a:pt x="0" y="14"/>
                  </a:cubicBezTo>
                  <a:cubicBezTo>
                    <a:pt x="1" y="14"/>
                    <a:pt x="1" y="14"/>
                    <a:pt x="1" y="14"/>
                  </a:cubicBezTo>
                  <a:lnTo>
                    <a:pt x="1"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913">
              <a:extLst>
                <a:ext uri="{FF2B5EF4-FFF2-40B4-BE49-F238E27FC236}">
                  <a16:creationId xmlns:a16="http://schemas.microsoft.com/office/drawing/2014/main" id="{84955104-B971-4BE9-9BDE-119ACEFD2D5B}"/>
                </a:ext>
              </a:extLst>
            </p:cNvPr>
            <p:cNvSpPr>
              <a:spLocks/>
            </p:cNvSpPr>
            <p:nvPr/>
          </p:nvSpPr>
          <p:spPr bwMode="auto">
            <a:xfrm>
              <a:off x="4737417" y="5029869"/>
              <a:ext cx="68685" cy="149733"/>
            </a:xfrm>
            <a:custGeom>
              <a:avLst/>
              <a:gdLst>
                <a:gd name="T0" fmla="*/ 4 w 10"/>
                <a:gd name="T1" fmla="*/ 22 h 22"/>
                <a:gd name="T2" fmla="*/ 4 w 10"/>
                <a:gd name="T3" fmla="*/ 21 h 22"/>
                <a:gd name="T4" fmla="*/ 10 w 10"/>
                <a:gd name="T5" fmla="*/ 3 h 22"/>
                <a:gd name="T6" fmla="*/ 8 w 10"/>
                <a:gd name="T7" fmla="*/ 0 h 22"/>
                <a:gd name="T8" fmla="*/ 0 w 10"/>
                <a:gd name="T9" fmla="*/ 22 h 22"/>
                <a:gd name="T10" fmla="*/ 0 w 10"/>
                <a:gd name="T11" fmla="*/ 22 h 22"/>
                <a:gd name="T12" fmla="*/ 4 w 10"/>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10" h="22">
                  <a:moveTo>
                    <a:pt x="4" y="22"/>
                  </a:moveTo>
                  <a:cubicBezTo>
                    <a:pt x="4" y="22"/>
                    <a:pt x="4" y="21"/>
                    <a:pt x="4" y="21"/>
                  </a:cubicBezTo>
                  <a:cubicBezTo>
                    <a:pt x="4" y="14"/>
                    <a:pt x="6" y="8"/>
                    <a:pt x="10" y="3"/>
                  </a:cubicBezTo>
                  <a:cubicBezTo>
                    <a:pt x="10" y="2"/>
                    <a:pt x="9" y="1"/>
                    <a:pt x="8" y="0"/>
                  </a:cubicBezTo>
                  <a:cubicBezTo>
                    <a:pt x="3" y="6"/>
                    <a:pt x="0" y="13"/>
                    <a:pt x="0" y="22"/>
                  </a:cubicBezTo>
                  <a:cubicBezTo>
                    <a:pt x="0" y="22"/>
                    <a:pt x="0" y="22"/>
                    <a:pt x="0" y="22"/>
                  </a:cubicBez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914">
              <a:extLst>
                <a:ext uri="{FF2B5EF4-FFF2-40B4-BE49-F238E27FC236}">
                  <a16:creationId xmlns:a16="http://schemas.microsoft.com/office/drawing/2014/main" id="{4FD2E7B5-FB96-4F10-94F6-D77C8C61810A}"/>
                </a:ext>
              </a:extLst>
            </p:cNvPr>
            <p:cNvSpPr>
              <a:spLocks/>
            </p:cNvSpPr>
            <p:nvPr/>
          </p:nvSpPr>
          <p:spPr bwMode="auto">
            <a:xfrm>
              <a:off x="5098698" y="5029869"/>
              <a:ext cx="75553" cy="135996"/>
            </a:xfrm>
            <a:custGeom>
              <a:avLst/>
              <a:gdLst>
                <a:gd name="T0" fmla="*/ 11 w 11"/>
                <a:gd name="T1" fmla="*/ 20 h 20"/>
                <a:gd name="T2" fmla="*/ 2 w 11"/>
                <a:gd name="T3" fmla="*/ 0 h 20"/>
                <a:gd name="T4" fmla="*/ 0 w 11"/>
                <a:gd name="T5" fmla="*/ 3 h 20"/>
                <a:gd name="T6" fmla="*/ 7 w 11"/>
                <a:gd name="T7" fmla="*/ 20 h 20"/>
                <a:gd name="T8" fmla="*/ 11 w 11"/>
                <a:gd name="T9" fmla="*/ 20 h 20"/>
              </a:gdLst>
              <a:ahLst/>
              <a:cxnLst>
                <a:cxn ang="0">
                  <a:pos x="T0" y="T1"/>
                </a:cxn>
                <a:cxn ang="0">
                  <a:pos x="T2" y="T3"/>
                </a:cxn>
                <a:cxn ang="0">
                  <a:pos x="T4" y="T5"/>
                </a:cxn>
                <a:cxn ang="0">
                  <a:pos x="T6" y="T7"/>
                </a:cxn>
                <a:cxn ang="0">
                  <a:pos x="T8" y="T9"/>
                </a:cxn>
              </a:cxnLst>
              <a:rect l="0" t="0" r="r" b="b"/>
              <a:pathLst>
                <a:path w="11" h="20">
                  <a:moveTo>
                    <a:pt x="11" y="20"/>
                  </a:moveTo>
                  <a:cubicBezTo>
                    <a:pt x="10" y="13"/>
                    <a:pt x="7" y="6"/>
                    <a:pt x="2" y="0"/>
                  </a:cubicBezTo>
                  <a:cubicBezTo>
                    <a:pt x="0" y="3"/>
                    <a:pt x="0" y="3"/>
                    <a:pt x="0" y="3"/>
                  </a:cubicBezTo>
                  <a:cubicBezTo>
                    <a:pt x="4" y="7"/>
                    <a:pt x="7" y="14"/>
                    <a:pt x="7" y="20"/>
                  </a:cubicBezTo>
                  <a:lnTo>
                    <a:pt x="1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915">
              <a:extLst>
                <a:ext uri="{FF2B5EF4-FFF2-40B4-BE49-F238E27FC236}">
                  <a16:creationId xmlns:a16="http://schemas.microsoft.com/office/drawing/2014/main" id="{7531377A-94BD-4127-BF42-6C878E21F527}"/>
                </a:ext>
              </a:extLst>
            </p:cNvPr>
            <p:cNvSpPr>
              <a:spLocks/>
            </p:cNvSpPr>
            <p:nvPr/>
          </p:nvSpPr>
          <p:spPr bwMode="auto">
            <a:xfrm>
              <a:off x="4792364" y="5303234"/>
              <a:ext cx="333808" cy="94785"/>
            </a:xfrm>
            <a:custGeom>
              <a:avLst/>
              <a:gdLst>
                <a:gd name="T0" fmla="*/ 24 w 49"/>
                <a:gd name="T1" fmla="*/ 10 h 14"/>
                <a:gd name="T2" fmla="*/ 5 w 49"/>
                <a:gd name="T3" fmla="*/ 3 h 14"/>
                <a:gd name="T4" fmla="*/ 0 w 49"/>
                <a:gd name="T5" fmla="*/ 3 h 14"/>
                <a:gd name="T6" fmla="*/ 24 w 49"/>
                <a:gd name="T7" fmla="*/ 14 h 14"/>
                <a:gd name="T8" fmla="*/ 49 w 49"/>
                <a:gd name="T9" fmla="*/ 0 h 14"/>
                <a:gd name="T10" fmla="*/ 45 w 49"/>
                <a:gd name="T11" fmla="*/ 0 h 14"/>
                <a:gd name="T12" fmla="*/ 24 w 49"/>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49" h="14">
                  <a:moveTo>
                    <a:pt x="24" y="10"/>
                  </a:moveTo>
                  <a:cubicBezTo>
                    <a:pt x="17" y="10"/>
                    <a:pt x="10" y="7"/>
                    <a:pt x="5" y="3"/>
                  </a:cubicBezTo>
                  <a:cubicBezTo>
                    <a:pt x="0" y="3"/>
                    <a:pt x="0" y="3"/>
                    <a:pt x="0" y="3"/>
                  </a:cubicBezTo>
                  <a:cubicBezTo>
                    <a:pt x="6" y="9"/>
                    <a:pt x="14" y="14"/>
                    <a:pt x="24" y="14"/>
                  </a:cubicBezTo>
                  <a:cubicBezTo>
                    <a:pt x="34" y="14"/>
                    <a:pt x="44" y="8"/>
                    <a:pt x="49" y="0"/>
                  </a:cubicBezTo>
                  <a:cubicBezTo>
                    <a:pt x="45" y="0"/>
                    <a:pt x="45" y="0"/>
                    <a:pt x="45" y="0"/>
                  </a:cubicBezTo>
                  <a:cubicBezTo>
                    <a:pt x="40" y="6"/>
                    <a:pt x="32" y="10"/>
                    <a:pt x="24"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916">
              <a:extLst>
                <a:ext uri="{FF2B5EF4-FFF2-40B4-BE49-F238E27FC236}">
                  <a16:creationId xmlns:a16="http://schemas.microsoft.com/office/drawing/2014/main" id="{829E907D-AE18-4750-9D5E-0422EB9C715E}"/>
                </a:ext>
              </a:extLst>
            </p:cNvPr>
            <p:cNvSpPr>
              <a:spLocks/>
            </p:cNvSpPr>
            <p:nvPr/>
          </p:nvSpPr>
          <p:spPr bwMode="auto">
            <a:xfrm>
              <a:off x="5024519" y="5186470"/>
              <a:ext cx="218417" cy="116764"/>
            </a:xfrm>
            <a:custGeom>
              <a:avLst/>
              <a:gdLst>
                <a:gd name="T0" fmla="*/ 27 w 32"/>
                <a:gd name="T1" fmla="*/ 6 h 17"/>
                <a:gd name="T2" fmla="*/ 24 w 32"/>
                <a:gd name="T3" fmla="*/ 2 h 17"/>
                <a:gd name="T4" fmla="*/ 20 w 32"/>
                <a:gd name="T5" fmla="*/ 0 h 17"/>
                <a:gd name="T6" fmla="*/ 1 w 32"/>
                <a:gd name="T7" fmla="*/ 0 h 17"/>
                <a:gd name="T8" fmla="*/ 0 w 32"/>
                <a:gd name="T9" fmla="*/ 1 h 17"/>
                <a:gd name="T10" fmla="*/ 0 w 32"/>
                <a:gd name="T11" fmla="*/ 10 h 17"/>
                <a:gd name="T12" fmla="*/ 0 w 32"/>
                <a:gd name="T13" fmla="*/ 14 h 17"/>
                <a:gd name="T14" fmla="*/ 1 w 32"/>
                <a:gd name="T15" fmla="*/ 15 h 17"/>
                <a:gd name="T16" fmla="*/ 3 w 32"/>
                <a:gd name="T17" fmla="*/ 15 h 17"/>
                <a:gd name="T18" fmla="*/ 3 w 32"/>
                <a:gd name="T19" fmla="*/ 15 h 17"/>
                <a:gd name="T20" fmla="*/ 5 w 32"/>
                <a:gd name="T21" fmla="*/ 17 h 17"/>
                <a:gd name="T22" fmla="*/ 7 w 32"/>
                <a:gd name="T23" fmla="*/ 15 h 17"/>
                <a:gd name="T24" fmla="*/ 7 w 32"/>
                <a:gd name="T25" fmla="*/ 15 h 17"/>
                <a:gd name="T26" fmla="*/ 25 w 32"/>
                <a:gd name="T27" fmla="*/ 15 h 17"/>
                <a:gd name="T28" fmla="*/ 25 w 32"/>
                <a:gd name="T29" fmla="*/ 15 h 17"/>
                <a:gd name="T30" fmla="*/ 27 w 32"/>
                <a:gd name="T31" fmla="*/ 17 h 17"/>
                <a:gd name="T32" fmla="*/ 29 w 32"/>
                <a:gd name="T33" fmla="*/ 15 h 17"/>
                <a:gd name="T34" fmla="*/ 29 w 32"/>
                <a:gd name="T35" fmla="*/ 15 h 17"/>
                <a:gd name="T36" fmla="*/ 31 w 32"/>
                <a:gd name="T37" fmla="*/ 15 h 17"/>
                <a:gd name="T38" fmla="*/ 32 w 32"/>
                <a:gd name="T39" fmla="*/ 14 h 17"/>
                <a:gd name="T40" fmla="*/ 32 w 32"/>
                <a:gd name="T41" fmla="*/ 12 h 17"/>
                <a:gd name="T42" fmla="*/ 27 w 32"/>
                <a:gd name="T43"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 h="17">
                  <a:moveTo>
                    <a:pt x="27" y="6"/>
                  </a:moveTo>
                  <a:cubicBezTo>
                    <a:pt x="24" y="2"/>
                    <a:pt x="24" y="2"/>
                    <a:pt x="24" y="2"/>
                  </a:cubicBezTo>
                  <a:cubicBezTo>
                    <a:pt x="23" y="1"/>
                    <a:pt x="21" y="0"/>
                    <a:pt x="20" y="0"/>
                  </a:cubicBezTo>
                  <a:cubicBezTo>
                    <a:pt x="1" y="0"/>
                    <a:pt x="1" y="0"/>
                    <a:pt x="1" y="0"/>
                  </a:cubicBezTo>
                  <a:cubicBezTo>
                    <a:pt x="1" y="0"/>
                    <a:pt x="0" y="0"/>
                    <a:pt x="0" y="1"/>
                  </a:cubicBezTo>
                  <a:cubicBezTo>
                    <a:pt x="0" y="1"/>
                    <a:pt x="0" y="9"/>
                    <a:pt x="0" y="10"/>
                  </a:cubicBezTo>
                  <a:cubicBezTo>
                    <a:pt x="0" y="14"/>
                    <a:pt x="0" y="14"/>
                    <a:pt x="0" y="14"/>
                  </a:cubicBezTo>
                  <a:cubicBezTo>
                    <a:pt x="0" y="14"/>
                    <a:pt x="0" y="15"/>
                    <a:pt x="1" y="15"/>
                  </a:cubicBezTo>
                  <a:cubicBezTo>
                    <a:pt x="3" y="15"/>
                    <a:pt x="3" y="15"/>
                    <a:pt x="3" y="15"/>
                  </a:cubicBezTo>
                  <a:cubicBezTo>
                    <a:pt x="3" y="15"/>
                    <a:pt x="3" y="15"/>
                    <a:pt x="3" y="15"/>
                  </a:cubicBezTo>
                  <a:cubicBezTo>
                    <a:pt x="3" y="16"/>
                    <a:pt x="4" y="17"/>
                    <a:pt x="5" y="17"/>
                  </a:cubicBezTo>
                  <a:cubicBezTo>
                    <a:pt x="6" y="17"/>
                    <a:pt x="7" y="16"/>
                    <a:pt x="7" y="15"/>
                  </a:cubicBezTo>
                  <a:cubicBezTo>
                    <a:pt x="7" y="15"/>
                    <a:pt x="7" y="15"/>
                    <a:pt x="7" y="15"/>
                  </a:cubicBezTo>
                  <a:cubicBezTo>
                    <a:pt x="25" y="15"/>
                    <a:pt x="25" y="15"/>
                    <a:pt x="25" y="15"/>
                  </a:cubicBezTo>
                  <a:cubicBezTo>
                    <a:pt x="25" y="15"/>
                    <a:pt x="25" y="15"/>
                    <a:pt x="25" y="15"/>
                  </a:cubicBezTo>
                  <a:cubicBezTo>
                    <a:pt x="25" y="16"/>
                    <a:pt x="26" y="17"/>
                    <a:pt x="27" y="17"/>
                  </a:cubicBezTo>
                  <a:cubicBezTo>
                    <a:pt x="28" y="17"/>
                    <a:pt x="29" y="16"/>
                    <a:pt x="29" y="15"/>
                  </a:cubicBezTo>
                  <a:cubicBezTo>
                    <a:pt x="29" y="15"/>
                    <a:pt x="29" y="15"/>
                    <a:pt x="29" y="15"/>
                  </a:cubicBezTo>
                  <a:cubicBezTo>
                    <a:pt x="31" y="15"/>
                    <a:pt x="31" y="15"/>
                    <a:pt x="31" y="15"/>
                  </a:cubicBezTo>
                  <a:cubicBezTo>
                    <a:pt x="31" y="15"/>
                    <a:pt x="32" y="14"/>
                    <a:pt x="32" y="14"/>
                  </a:cubicBezTo>
                  <a:cubicBezTo>
                    <a:pt x="32" y="12"/>
                    <a:pt x="32" y="12"/>
                    <a:pt x="32" y="12"/>
                  </a:cubicBezTo>
                  <a:cubicBezTo>
                    <a:pt x="32" y="9"/>
                    <a:pt x="30" y="8"/>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917">
              <a:extLst>
                <a:ext uri="{FF2B5EF4-FFF2-40B4-BE49-F238E27FC236}">
                  <a16:creationId xmlns:a16="http://schemas.microsoft.com/office/drawing/2014/main" id="{1AD0D544-5F58-49FD-9F19-02E426807985}"/>
                </a:ext>
              </a:extLst>
            </p:cNvPr>
            <p:cNvSpPr>
              <a:spLocks/>
            </p:cNvSpPr>
            <p:nvPr/>
          </p:nvSpPr>
          <p:spPr bwMode="auto">
            <a:xfrm>
              <a:off x="4654995" y="5193339"/>
              <a:ext cx="245891" cy="130501"/>
            </a:xfrm>
            <a:custGeom>
              <a:avLst/>
              <a:gdLst>
                <a:gd name="T0" fmla="*/ 28 w 36"/>
                <a:gd name="T1" fmla="*/ 16 h 19"/>
                <a:gd name="T2" fmla="*/ 28 w 36"/>
                <a:gd name="T3" fmla="*/ 16 h 19"/>
                <a:gd name="T4" fmla="*/ 31 w 36"/>
                <a:gd name="T5" fmla="*/ 19 h 19"/>
                <a:gd name="T6" fmla="*/ 33 w 36"/>
                <a:gd name="T7" fmla="*/ 16 h 19"/>
                <a:gd name="T8" fmla="*/ 33 w 36"/>
                <a:gd name="T9" fmla="*/ 16 h 19"/>
                <a:gd name="T10" fmla="*/ 36 w 36"/>
                <a:gd name="T11" fmla="*/ 16 h 19"/>
                <a:gd name="T12" fmla="*/ 36 w 36"/>
                <a:gd name="T13" fmla="*/ 12 h 19"/>
                <a:gd name="T14" fmla="*/ 35 w 36"/>
                <a:gd name="T15" fmla="*/ 9 h 19"/>
                <a:gd name="T16" fmla="*/ 34 w 36"/>
                <a:gd name="T17" fmla="*/ 9 h 19"/>
                <a:gd name="T18" fmla="*/ 33 w 36"/>
                <a:gd name="T19" fmla="*/ 8 h 19"/>
                <a:gd name="T20" fmla="*/ 32 w 36"/>
                <a:gd name="T21" fmla="*/ 4 h 19"/>
                <a:gd name="T22" fmla="*/ 32 w 36"/>
                <a:gd name="T23" fmla="*/ 4 h 19"/>
                <a:gd name="T24" fmla="*/ 32 w 36"/>
                <a:gd name="T25" fmla="*/ 3 h 19"/>
                <a:gd name="T26" fmla="*/ 30 w 36"/>
                <a:gd name="T27" fmla="*/ 0 h 19"/>
                <a:gd name="T28" fmla="*/ 27 w 36"/>
                <a:gd name="T29" fmla="*/ 0 h 19"/>
                <a:gd name="T30" fmla="*/ 26 w 36"/>
                <a:gd name="T31" fmla="*/ 0 h 19"/>
                <a:gd name="T32" fmla="*/ 1 w 36"/>
                <a:gd name="T33" fmla="*/ 0 h 19"/>
                <a:gd name="T34" fmla="*/ 0 w 36"/>
                <a:gd name="T35" fmla="*/ 1 h 19"/>
                <a:gd name="T36" fmla="*/ 0 w 36"/>
                <a:gd name="T37" fmla="*/ 15 h 19"/>
                <a:gd name="T38" fmla="*/ 1 w 36"/>
                <a:gd name="T39" fmla="*/ 16 h 19"/>
                <a:gd name="T40" fmla="*/ 4 w 36"/>
                <a:gd name="T41" fmla="*/ 16 h 19"/>
                <a:gd name="T42" fmla="*/ 4 w 36"/>
                <a:gd name="T43" fmla="*/ 16 h 19"/>
                <a:gd name="T44" fmla="*/ 7 w 36"/>
                <a:gd name="T45" fmla="*/ 19 h 19"/>
                <a:gd name="T46" fmla="*/ 9 w 36"/>
                <a:gd name="T47" fmla="*/ 16 h 19"/>
                <a:gd name="T48" fmla="*/ 9 w 36"/>
                <a:gd name="T49" fmla="*/ 16 h 19"/>
                <a:gd name="T50" fmla="*/ 28 w 36"/>
                <a:gd name="T51"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6" h="19">
                  <a:moveTo>
                    <a:pt x="28" y="16"/>
                  </a:moveTo>
                  <a:cubicBezTo>
                    <a:pt x="28" y="16"/>
                    <a:pt x="28" y="16"/>
                    <a:pt x="28" y="16"/>
                  </a:cubicBezTo>
                  <a:cubicBezTo>
                    <a:pt x="28" y="18"/>
                    <a:pt x="29" y="19"/>
                    <a:pt x="31" y="19"/>
                  </a:cubicBezTo>
                  <a:cubicBezTo>
                    <a:pt x="32" y="19"/>
                    <a:pt x="33" y="18"/>
                    <a:pt x="33" y="16"/>
                  </a:cubicBezTo>
                  <a:cubicBezTo>
                    <a:pt x="33" y="16"/>
                    <a:pt x="33" y="16"/>
                    <a:pt x="33" y="16"/>
                  </a:cubicBezTo>
                  <a:cubicBezTo>
                    <a:pt x="36" y="16"/>
                    <a:pt x="36" y="16"/>
                    <a:pt x="36" y="16"/>
                  </a:cubicBezTo>
                  <a:cubicBezTo>
                    <a:pt x="36" y="12"/>
                    <a:pt x="36" y="12"/>
                    <a:pt x="36" y="12"/>
                  </a:cubicBezTo>
                  <a:cubicBezTo>
                    <a:pt x="36" y="12"/>
                    <a:pt x="36" y="9"/>
                    <a:pt x="35" y="9"/>
                  </a:cubicBezTo>
                  <a:cubicBezTo>
                    <a:pt x="34" y="9"/>
                    <a:pt x="34" y="9"/>
                    <a:pt x="34" y="9"/>
                  </a:cubicBezTo>
                  <a:cubicBezTo>
                    <a:pt x="33" y="9"/>
                    <a:pt x="33" y="9"/>
                    <a:pt x="33" y="8"/>
                  </a:cubicBezTo>
                  <a:cubicBezTo>
                    <a:pt x="32" y="4"/>
                    <a:pt x="32" y="4"/>
                    <a:pt x="32" y="4"/>
                  </a:cubicBezTo>
                  <a:cubicBezTo>
                    <a:pt x="32" y="4"/>
                    <a:pt x="32" y="4"/>
                    <a:pt x="32" y="4"/>
                  </a:cubicBezTo>
                  <a:cubicBezTo>
                    <a:pt x="32" y="3"/>
                    <a:pt x="32" y="3"/>
                    <a:pt x="32" y="3"/>
                  </a:cubicBezTo>
                  <a:cubicBezTo>
                    <a:pt x="33" y="2"/>
                    <a:pt x="32" y="0"/>
                    <a:pt x="30" y="0"/>
                  </a:cubicBezTo>
                  <a:cubicBezTo>
                    <a:pt x="27" y="0"/>
                    <a:pt x="27" y="0"/>
                    <a:pt x="27" y="0"/>
                  </a:cubicBezTo>
                  <a:cubicBezTo>
                    <a:pt x="26" y="0"/>
                    <a:pt x="26" y="0"/>
                    <a:pt x="26" y="0"/>
                  </a:cubicBezTo>
                  <a:cubicBezTo>
                    <a:pt x="1" y="0"/>
                    <a:pt x="1" y="0"/>
                    <a:pt x="1" y="0"/>
                  </a:cubicBezTo>
                  <a:cubicBezTo>
                    <a:pt x="1" y="0"/>
                    <a:pt x="0" y="1"/>
                    <a:pt x="0" y="1"/>
                  </a:cubicBezTo>
                  <a:cubicBezTo>
                    <a:pt x="0" y="15"/>
                    <a:pt x="0" y="15"/>
                    <a:pt x="0" y="15"/>
                  </a:cubicBezTo>
                  <a:cubicBezTo>
                    <a:pt x="0" y="16"/>
                    <a:pt x="1" y="16"/>
                    <a:pt x="1" y="16"/>
                  </a:cubicBezTo>
                  <a:cubicBezTo>
                    <a:pt x="4" y="16"/>
                    <a:pt x="4" y="16"/>
                    <a:pt x="4" y="16"/>
                  </a:cubicBezTo>
                  <a:cubicBezTo>
                    <a:pt x="4" y="16"/>
                    <a:pt x="4" y="16"/>
                    <a:pt x="4" y="16"/>
                  </a:cubicBezTo>
                  <a:cubicBezTo>
                    <a:pt x="4" y="18"/>
                    <a:pt x="5" y="19"/>
                    <a:pt x="7" y="19"/>
                  </a:cubicBezTo>
                  <a:cubicBezTo>
                    <a:pt x="8" y="19"/>
                    <a:pt x="9" y="18"/>
                    <a:pt x="9" y="16"/>
                  </a:cubicBezTo>
                  <a:cubicBezTo>
                    <a:pt x="9" y="16"/>
                    <a:pt x="9" y="16"/>
                    <a:pt x="9" y="16"/>
                  </a:cubicBezTo>
                  <a:lnTo>
                    <a:pt x="28"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0" name="Freeform 806">
            <a:extLst>
              <a:ext uri="{FF2B5EF4-FFF2-40B4-BE49-F238E27FC236}">
                <a16:creationId xmlns:a16="http://schemas.microsoft.com/office/drawing/2014/main" id="{F259C195-A940-4777-845E-028FA78EFAB1}"/>
              </a:ext>
            </a:extLst>
          </p:cNvPr>
          <p:cNvSpPr>
            <a:spLocks noChangeAspect="1" noEditPoints="1"/>
          </p:cNvSpPr>
          <p:nvPr/>
        </p:nvSpPr>
        <p:spPr bwMode="auto">
          <a:xfrm>
            <a:off x="10919157" y="3464550"/>
            <a:ext cx="190998" cy="274320"/>
          </a:xfrm>
          <a:custGeom>
            <a:avLst/>
            <a:gdLst>
              <a:gd name="T0" fmla="*/ 30 w 60"/>
              <a:gd name="T1" fmla="*/ 0 h 86"/>
              <a:gd name="T2" fmla="*/ 0 w 60"/>
              <a:gd name="T3" fmla="*/ 30 h 86"/>
              <a:gd name="T4" fmla="*/ 28 w 60"/>
              <a:gd name="T5" fmla="*/ 84 h 86"/>
              <a:gd name="T6" fmla="*/ 32 w 60"/>
              <a:gd name="T7" fmla="*/ 84 h 86"/>
              <a:gd name="T8" fmla="*/ 60 w 60"/>
              <a:gd name="T9" fmla="*/ 30 h 86"/>
              <a:gd name="T10" fmla="*/ 30 w 60"/>
              <a:gd name="T11" fmla="*/ 0 h 86"/>
              <a:gd name="T12" fmla="*/ 30 w 60"/>
              <a:gd name="T13" fmla="*/ 41 h 86"/>
              <a:gd name="T14" fmla="*/ 19 w 60"/>
              <a:gd name="T15" fmla="*/ 31 h 86"/>
              <a:gd name="T16" fmla="*/ 30 w 60"/>
              <a:gd name="T17" fmla="*/ 20 h 86"/>
              <a:gd name="T18" fmla="*/ 41 w 60"/>
              <a:gd name="T19" fmla="*/ 31 h 86"/>
              <a:gd name="T20" fmla="*/ 30 w 60"/>
              <a:gd name="T21" fmla="*/ 4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86">
                <a:moveTo>
                  <a:pt x="30" y="0"/>
                </a:moveTo>
                <a:cubicBezTo>
                  <a:pt x="13" y="0"/>
                  <a:pt x="0" y="13"/>
                  <a:pt x="0" y="30"/>
                </a:cubicBezTo>
                <a:cubicBezTo>
                  <a:pt x="0" y="47"/>
                  <a:pt x="28" y="84"/>
                  <a:pt x="28" y="84"/>
                </a:cubicBezTo>
                <a:cubicBezTo>
                  <a:pt x="29" y="86"/>
                  <a:pt x="31" y="86"/>
                  <a:pt x="32" y="84"/>
                </a:cubicBezTo>
                <a:cubicBezTo>
                  <a:pt x="32" y="84"/>
                  <a:pt x="60" y="47"/>
                  <a:pt x="60" y="30"/>
                </a:cubicBezTo>
                <a:cubicBezTo>
                  <a:pt x="60" y="13"/>
                  <a:pt x="47" y="0"/>
                  <a:pt x="30" y="0"/>
                </a:cubicBezTo>
                <a:close/>
                <a:moveTo>
                  <a:pt x="30" y="41"/>
                </a:moveTo>
                <a:cubicBezTo>
                  <a:pt x="24" y="41"/>
                  <a:pt x="19" y="36"/>
                  <a:pt x="19" y="31"/>
                </a:cubicBezTo>
                <a:cubicBezTo>
                  <a:pt x="19" y="25"/>
                  <a:pt x="24" y="20"/>
                  <a:pt x="30" y="20"/>
                </a:cubicBezTo>
                <a:cubicBezTo>
                  <a:pt x="36" y="20"/>
                  <a:pt x="41" y="25"/>
                  <a:pt x="41" y="31"/>
                </a:cubicBezTo>
                <a:cubicBezTo>
                  <a:pt x="41" y="36"/>
                  <a:pt x="36" y="41"/>
                  <a:pt x="30" y="4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1" name="Freeform 807">
            <a:extLst>
              <a:ext uri="{FF2B5EF4-FFF2-40B4-BE49-F238E27FC236}">
                <a16:creationId xmlns:a16="http://schemas.microsoft.com/office/drawing/2014/main" id="{C9A95658-727B-47A5-AE86-C257FD77D3B5}"/>
              </a:ext>
            </a:extLst>
          </p:cNvPr>
          <p:cNvSpPr>
            <a:spLocks noChangeAspect="1" noEditPoints="1"/>
          </p:cNvSpPr>
          <p:nvPr/>
        </p:nvSpPr>
        <p:spPr bwMode="auto">
          <a:xfrm>
            <a:off x="9898874" y="3497676"/>
            <a:ext cx="302253" cy="274320"/>
          </a:xfrm>
          <a:custGeom>
            <a:avLst/>
            <a:gdLst>
              <a:gd name="T0" fmla="*/ 293 w 422"/>
              <a:gd name="T1" fmla="*/ 383 h 383"/>
              <a:gd name="T2" fmla="*/ 422 w 422"/>
              <a:gd name="T3" fmla="*/ 383 h 383"/>
              <a:gd name="T4" fmla="*/ 263 w 422"/>
              <a:gd name="T5" fmla="*/ 0 h 383"/>
              <a:gd name="T6" fmla="*/ 229 w 422"/>
              <a:gd name="T7" fmla="*/ 0 h 383"/>
              <a:gd name="T8" fmla="*/ 234 w 422"/>
              <a:gd name="T9" fmla="*/ 35 h 383"/>
              <a:gd name="T10" fmla="*/ 184 w 422"/>
              <a:gd name="T11" fmla="*/ 35 h 383"/>
              <a:gd name="T12" fmla="*/ 194 w 422"/>
              <a:gd name="T13" fmla="*/ 0 h 383"/>
              <a:gd name="T14" fmla="*/ 159 w 422"/>
              <a:gd name="T15" fmla="*/ 0 h 383"/>
              <a:gd name="T16" fmla="*/ 0 w 422"/>
              <a:gd name="T17" fmla="*/ 383 h 383"/>
              <a:gd name="T18" fmla="*/ 124 w 422"/>
              <a:gd name="T19" fmla="*/ 383 h 383"/>
              <a:gd name="T20" fmla="*/ 139 w 422"/>
              <a:gd name="T21" fmla="*/ 304 h 383"/>
              <a:gd name="T22" fmla="*/ 283 w 422"/>
              <a:gd name="T23" fmla="*/ 304 h 383"/>
              <a:gd name="T24" fmla="*/ 293 w 422"/>
              <a:gd name="T25" fmla="*/ 383 h 383"/>
              <a:gd name="T26" fmla="*/ 239 w 422"/>
              <a:gd name="T27" fmla="*/ 75 h 383"/>
              <a:gd name="T28" fmla="*/ 244 w 422"/>
              <a:gd name="T29" fmla="*/ 115 h 383"/>
              <a:gd name="T30" fmla="*/ 174 w 422"/>
              <a:gd name="T31" fmla="*/ 115 h 383"/>
              <a:gd name="T32" fmla="*/ 179 w 422"/>
              <a:gd name="T33" fmla="*/ 75 h 383"/>
              <a:gd name="T34" fmla="*/ 239 w 422"/>
              <a:gd name="T35" fmla="*/ 75 h 383"/>
              <a:gd name="T36" fmla="*/ 149 w 422"/>
              <a:gd name="T37" fmla="*/ 234 h 383"/>
              <a:gd name="T38" fmla="*/ 164 w 422"/>
              <a:gd name="T39" fmla="*/ 164 h 383"/>
              <a:gd name="T40" fmla="*/ 258 w 422"/>
              <a:gd name="T41" fmla="*/ 164 h 383"/>
              <a:gd name="T42" fmla="*/ 268 w 422"/>
              <a:gd name="T43" fmla="*/ 234 h 383"/>
              <a:gd name="T44" fmla="*/ 149 w 422"/>
              <a:gd name="T45" fmla="*/ 234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22" h="383">
                <a:moveTo>
                  <a:pt x="293" y="383"/>
                </a:moveTo>
                <a:lnTo>
                  <a:pt x="422" y="383"/>
                </a:lnTo>
                <a:lnTo>
                  <a:pt x="263" y="0"/>
                </a:lnTo>
                <a:lnTo>
                  <a:pt x="229" y="0"/>
                </a:lnTo>
                <a:lnTo>
                  <a:pt x="234" y="35"/>
                </a:lnTo>
                <a:lnTo>
                  <a:pt x="184" y="35"/>
                </a:lnTo>
                <a:lnTo>
                  <a:pt x="194" y="0"/>
                </a:lnTo>
                <a:lnTo>
                  <a:pt x="159" y="0"/>
                </a:lnTo>
                <a:lnTo>
                  <a:pt x="0" y="383"/>
                </a:lnTo>
                <a:lnTo>
                  <a:pt x="124" y="383"/>
                </a:lnTo>
                <a:lnTo>
                  <a:pt x="139" y="304"/>
                </a:lnTo>
                <a:lnTo>
                  <a:pt x="283" y="304"/>
                </a:lnTo>
                <a:lnTo>
                  <a:pt x="293" y="383"/>
                </a:lnTo>
                <a:close/>
                <a:moveTo>
                  <a:pt x="239" y="75"/>
                </a:moveTo>
                <a:lnTo>
                  <a:pt x="244" y="115"/>
                </a:lnTo>
                <a:lnTo>
                  <a:pt x="174" y="115"/>
                </a:lnTo>
                <a:lnTo>
                  <a:pt x="179" y="75"/>
                </a:lnTo>
                <a:lnTo>
                  <a:pt x="239" y="75"/>
                </a:lnTo>
                <a:close/>
                <a:moveTo>
                  <a:pt x="149" y="234"/>
                </a:moveTo>
                <a:lnTo>
                  <a:pt x="164" y="164"/>
                </a:lnTo>
                <a:lnTo>
                  <a:pt x="258" y="164"/>
                </a:lnTo>
                <a:lnTo>
                  <a:pt x="268" y="234"/>
                </a:lnTo>
                <a:lnTo>
                  <a:pt x="149" y="234"/>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Freeform 840">
            <a:extLst>
              <a:ext uri="{FF2B5EF4-FFF2-40B4-BE49-F238E27FC236}">
                <a16:creationId xmlns:a16="http://schemas.microsoft.com/office/drawing/2014/main" id="{1EC5182D-6687-48A9-B465-7FD64AD15B37}"/>
              </a:ext>
            </a:extLst>
          </p:cNvPr>
          <p:cNvSpPr>
            <a:spLocks noChangeAspect="1"/>
          </p:cNvSpPr>
          <p:nvPr/>
        </p:nvSpPr>
        <p:spPr bwMode="auto">
          <a:xfrm>
            <a:off x="3445914" y="3489394"/>
            <a:ext cx="298671" cy="274320"/>
          </a:xfrm>
          <a:custGeom>
            <a:avLst/>
            <a:gdLst>
              <a:gd name="T0" fmla="*/ 42 w 84"/>
              <a:gd name="T1" fmla="*/ 0 h 77"/>
              <a:gd name="T2" fmla="*/ 1 w 84"/>
              <a:gd name="T3" fmla="*/ 40 h 77"/>
              <a:gd name="T4" fmla="*/ 1 w 84"/>
              <a:gd name="T5" fmla="*/ 44 h 77"/>
              <a:gd name="T6" fmla="*/ 2 w 84"/>
              <a:gd name="T7" fmla="*/ 45 h 77"/>
              <a:gd name="T8" fmla="*/ 6 w 84"/>
              <a:gd name="T9" fmla="*/ 45 h 77"/>
              <a:gd name="T10" fmla="*/ 10 w 84"/>
              <a:gd name="T11" fmla="*/ 41 h 77"/>
              <a:gd name="T12" fmla="*/ 10 w 84"/>
              <a:gd name="T13" fmla="*/ 74 h 77"/>
              <a:gd name="T14" fmla="*/ 13 w 84"/>
              <a:gd name="T15" fmla="*/ 77 h 77"/>
              <a:gd name="T16" fmla="*/ 33 w 84"/>
              <a:gd name="T17" fmla="*/ 77 h 77"/>
              <a:gd name="T18" fmla="*/ 33 w 84"/>
              <a:gd name="T19" fmla="*/ 50 h 77"/>
              <a:gd name="T20" fmla="*/ 51 w 84"/>
              <a:gd name="T21" fmla="*/ 50 h 77"/>
              <a:gd name="T22" fmla="*/ 51 w 84"/>
              <a:gd name="T23" fmla="*/ 77 h 77"/>
              <a:gd name="T24" fmla="*/ 71 w 84"/>
              <a:gd name="T25" fmla="*/ 77 h 77"/>
              <a:gd name="T26" fmla="*/ 74 w 84"/>
              <a:gd name="T27" fmla="*/ 74 h 77"/>
              <a:gd name="T28" fmla="*/ 74 w 84"/>
              <a:gd name="T29" fmla="*/ 41 h 77"/>
              <a:gd name="T30" fmla="*/ 78 w 84"/>
              <a:gd name="T31" fmla="*/ 45 h 77"/>
              <a:gd name="T32" fmla="*/ 82 w 84"/>
              <a:gd name="T33" fmla="*/ 45 h 77"/>
              <a:gd name="T34" fmla="*/ 83 w 84"/>
              <a:gd name="T35" fmla="*/ 44 h 77"/>
              <a:gd name="T36" fmla="*/ 83 w 84"/>
              <a:gd name="T37" fmla="*/ 40 h 77"/>
              <a:gd name="T38" fmla="*/ 42 w 84"/>
              <a:gd name="T39" fmla="*/ 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 h="77">
                <a:moveTo>
                  <a:pt x="42" y="0"/>
                </a:moveTo>
                <a:cubicBezTo>
                  <a:pt x="1" y="40"/>
                  <a:pt x="1" y="40"/>
                  <a:pt x="1" y="40"/>
                </a:cubicBezTo>
                <a:cubicBezTo>
                  <a:pt x="0" y="41"/>
                  <a:pt x="0" y="43"/>
                  <a:pt x="1" y="44"/>
                </a:cubicBezTo>
                <a:cubicBezTo>
                  <a:pt x="2" y="45"/>
                  <a:pt x="2" y="45"/>
                  <a:pt x="2" y="45"/>
                </a:cubicBezTo>
                <a:cubicBezTo>
                  <a:pt x="3" y="46"/>
                  <a:pt x="5" y="46"/>
                  <a:pt x="6" y="45"/>
                </a:cubicBezTo>
                <a:cubicBezTo>
                  <a:pt x="10" y="41"/>
                  <a:pt x="10" y="41"/>
                  <a:pt x="10" y="41"/>
                </a:cubicBezTo>
                <a:cubicBezTo>
                  <a:pt x="10" y="74"/>
                  <a:pt x="10" y="74"/>
                  <a:pt x="10" y="74"/>
                </a:cubicBezTo>
                <a:cubicBezTo>
                  <a:pt x="10" y="76"/>
                  <a:pt x="11" y="77"/>
                  <a:pt x="13" y="77"/>
                </a:cubicBezTo>
                <a:cubicBezTo>
                  <a:pt x="33" y="77"/>
                  <a:pt x="33" y="77"/>
                  <a:pt x="33" y="77"/>
                </a:cubicBezTo>
                <a:cubicBezTo>
                  <a:pt x="33" y="50"/>
                  <a:pt x="33" y="50"/>
                  <a:pt x="33" y="50"/>
                </a:cubicBezTo>
                <a:cubicBezTo>
                  <a:pt x="51" y="50"/>
                  <a:pt x="51" y="50"/>
                  <a:pt x="51" y="50"/>
                </a:cubicBezTo>
                <a:cubicBezTo>
                  <a:pt x="51" y="77"/>
                  <a:pt x="51" y="77"/>
                  <a:pt x="51" y="77"/>
                </a:cubicBezTo>
                <a:cubicBezTo>
                  <a:pt x="71" y="77"/>
                  <a:pt x="71" y="77"/>
                  <a:pt x="71" y="77"/>
                </a:cubicBezTo>
                <a:cubicBezTo>
                  <a:pt x="73" y="77"/>
                  <a:pt x="74" y="76"/>
                  <a:pt x="74" y="74"/>
                </a:cubicBezTo>
                <a:cubicBezTo>
                  <a:pt x="74" y="41"/>
                  <a:pt x="74" y="41"/>
                  <a:pt x="74" y="41"/>
                </a:cubicBezTo>
                <a:cubicBezTo>
                  <a:pt x="78" y="45"/>
                  <a:pt x="78" y="45"/>
                  <a:pt x="78" y="45"/>
                </a:cubicBezTo>
                <a:cubicBezTo>
                  <a:pt x="79" y="46"/>
                  <a:pt x="81" y="46"/>
                  <a:pt x="82" y="45"/>
                </a:cubicBezTo>
                <a:cubicBezTo>
                  <a:pt x="83" y="44"/>
                  <a:pt x="83" y="44"/>
                  <a:pt x="83" y="44"/>
                </a:cubicBezTo>
                <a:cubicBezTo>
                  <a:pt x="84" y="43"/>
                  <a:pt x="84" y="41"/>
                  <a:pt x="83" y="40"/>
                </a:cubicBezTo>
                <a:lnTo>
                  <a:pt x="42" y="0"/>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847">
            <a:extLst>
              <a:ext uri="{FF2B5EF4-FFF2-40B4-BE49-F238E27FC236}">
                <a16:creationId xmlns:a16="http://schemas.microsoft.com/office/drawing/2014/main" id="{40FC881A-2F23-4EA3-99E9-2FB9554AEF7D}"/>
              </a:ext>
            </a:extLst>
          </p:cNvPr>
          <p:cNvSpPr>
            <a:spLocks noChangeAspect="1"/>
          </p:cNvSpPr>
          <p:nvPr/>
        </p:nvSpPr>
        <p:spPr bwMode="auto">
          <a:xfrm>
            <a:off x="2531634" y="3472831"/>
            <a:ext cx="270999" cy="274320"/>
          </a:xfrm>
          <a:custGeom>
            <a:avLst/>
            <a:gdLst>
              <a:gd name="T0" fmla="*/ 77 w 82"/>
              <a:gd name="T1" fmla="*/ 61 h 83"/>
              <a:gd name="T2" fmla="*/ 64 w 82"/>
              <a:gd name="T3" fmla="*/ 51 h 83"/>
              <a:gd name="T4" fmla="*/ 55 w 82"/>
              <a:gd name="T5" fmla="*/ 57 h 83"/>
              <a:gd name="T6" fmla="*/ 52 w 82"/>
              <a:gd name="T7" fmla="*/ 59 h 83"/>
              <a:gd name="T8" fmla="*/ 36 w 82"/>
              <a:gd name="T9" fmla="*/ 48 h 83"/>
              <a:gd name="T10" fmla="*/ 25 w 82"/>
              <a:gd name="T11" fmla="*/ 31 h 83"/>
              <a:gd name="T12" fmla="*/ 32 w 82"/>
              <a:gd name="T13" fmla="*/ 20 h 83"/>
              <a:gd name="T14" fmla="*/ 25 w 82"/>
              <a:gd name="T15" fmla="*/ 9 h 83"/>
              <a:gd name="T16" fmla="*/ 10 w 82"/>
              <a:gd name="T17" fmla="*/ 0 h 83"/>
              <a:gd name="T18" fmla="*/ 0 w 82"/>
              <a:gd name="T19" fmla="*/ 19 h 83"/>
              <a:gd name="T20" fmla="*/ 65 w 82"/>
              <a:gd name="T21" fmla="*/ 83 h 83"/>
              <a:gd name="T22" fmla="*/ 82 w 82"/>
              <a:gd name="T23" fmla="*/ 70 h 83"/>
              <a:gd name="T24" fmla="*/ 77 w 82"/>
              <a:gd name="T25" fmla="*/ 6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 h="83">
                <a:moveTo>
                  <a:pt x="77" y="61"/>
                </a:moveTo>
                <a:cubicBezTo>
                  <a:pt x="72" y="56"/>
                  <a:pt x="66" y="51"/>
                  <a:pt x="64" y="51"/>
                </a:cubicBezTo>
                <a:cubicBezTo>
                  <a:pt x="62" y="51"/>
                  <a:pt x="58" y="54"/>
                  <a:pt x="55" y="57"/>
                </a:cubicBezTo>
                <a:cubicBezTo>
                  <a:pt x="54" y="58"/>
                  <a:pt x="53" y="59"/>
                  <a:pt x="52" y="59"/>
                </a:cubicBezTo>
                <a:cubicBezTo>
                  <a:pt x="50" y="59"/>
                  <a:pt x="42" y="53"/>
                  <a:pt x="36" y="48"/>
                </a:cubicBezTo>
                <a:cubicBezTo>
                  <a:pt x="32" y="44"/>
                  <a:pt x="25" y="35"/>
                  <a:pt x="25" y="31"/>
                </a:cubicBezTo>
                <a:cubicBezTo>
                  <a:pt x="25" y="26"/>
                  <a:pt x="32" y="25"/>
                  <a:pt x="32" y="20"/>
                </a:cubicBezTo>
                <a:cubicBezTo>
                  <a:pt x="32" y="16"/>
                  <a:pt x="29" y="12"/>
                  <a:pt x="25" y="9"/>
                </a:cubicBezTo>
                <a:cubicBezTo>
                  <a:pt x="19" y="3"/>
                  <a:pt x="13" y="0"/>
                  <a:pt x="10" y="0"/>
                </a:cubicBezTo>
                <a:cubicBezTo>
                  <a:pt x="2" y="0"/>
                  <a:pt x="0" y="12"/>
                  <a:pt x="0" y="19"/>
                </a:cubicBezTo>
                <a:cubicBezTo>
                  <a:pt x="0" y="46"/>
                  <a:pt x="38" y="83"/>
                  <a:pt x="65" y="83"/>
                </a:cubicBezTo>
                <a:cubicBezTo>
                  <a:pt x="75" y="83"/>
                  <a:pt x="82" y="78"/>
                  <a:pt x="82" y="70"/>
                </a:cubicBezTo>
                <a:cubicBezTo>
                  <a:pt x="82" y="66"/>
                  <a:pt x="79" y="63"/>
                  <a:pt x="77" y="6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4" name="Group 43">
            <a:extLst>
              <a:ext uri="{FF2B5EF4-FFF2-40B4-BE49-F238E27FC236}">
                <a16:creationId xmlns:a16="http://schemas.microsoft.com/office/drawing/2014/main" id="{380DEE67-9817-45B8-8CC0-627C2DEFBC7D}"/>
              </a:ext>
            </a:extLst>
          </p:cNvPr>
          <p:cNvGrpSpPr>
            <a:grpSpLocks noChangeAspect="1"/>
          </p:cNvGrpSpPr>
          <p:nvPr/>
        </p:nvGrpSpPr>
        <p:grpSpPr>
          <a:xfrm>
            <a:off x="1609073" y="3472831"/>
            <a:ext cx="281211" cy="274320"/>
            <a:chOff x="2374663" y="5630173"/>
            <a:chExt cx="560467" cy="546730"/>
          </a:xfrm>
          <a:solidFill>
            <a:srgbClr val="595555"/>
          </a:solidFill>
        </p:grpSpPr>
        <p:sp>
          <p:nvSpPr>
            <p:cNvPr id="45" name="Freeform 848">
              <a:extLst>
                <a:ext uri="{FF2B5EF4-FFF2-40B4-BE49-F238E27FC236}">
                  <a16:creationId xmlns:a16="http://schemas.microsoft.com/office/drawing/2014/main" id="{B71A4CDA-FFBE-4193-92D5-0922E5BE0591}"/>
                </a:ext>
              </a:extLst>
            </p:cNvPr>
            <p:cNvSpPr>
              <a:spLocks noEditPoints="1"/>
            </p:cNvSpPr>
            <p:nvPr/>
          </p:nvSpPr>
          <p:spPr bwMode="auto">
            <a:xfrm>
              <a:off x="2374663" y="5685121"/>
              <a:ext cx="560467" cy="491782"/>
            </a:xfrm>
            <a:custGeom>
              <a:avLst/>
              <a:gdLst>
                <a:gd name="T0" fmla="*/ 66 w 82"/>
                <a:gd name="T1" fmla="*/ 7 h 72"/>
                <a:gd name="T2" fmla="*/ 56 w 82"/>
                <a:gd name="T3" fmla="*/ 10 h 72"/>
                <a:gd name="T4" fmla="*/ 53 w 82"/>
                <a:gd name="T5" fmla="*/ 0 h 72"/>
                <a:gd name="T6" fmla="*/ 29 w 82"/>
                <a:gd name="T7" fmla="*/ 7 h 72"/>
                <a:gd name="T8" fmla="*/ 18 w 82"/>
                <a:gd name="T9" fmla="*/ 10 h 72"/>
                <a:gd name="T10" fmla="*/ 16 w 82"/>
                <a:gd name="T11" fmla="*/ 0 h 72"/>
                <a:gd name="T12" fmla="*/ 0 w 82"/>
                <a:gd name="T13" fmla="*/ 3 h 72"/>
                <a:gd name="T14" fmla="*/ 0 w 82"/>
                <a:gd name="T15" fmla="*/ 19 h 72"/>
                <a:gd name="T16" fmla="*/ 0 w 82"/>
                <a:gd name="T17" fmla="*/ 38 h 72"/>
                <a:gd name="T18" fmla="*/ 2 w 82"/>
                <a:gd name="T19" fmla="*/ 72 h 72"/>
                <a:gd name="T20" fmla="*/ 74 w 82"/>
                <a:gd name="T21" fmla="*/ 72 h 72"/>
                <a:gd name="T22" fmla="*/ 82 w 82"/>
                <a:gd name="T23" fmla="*/ 70 h 72"/>
                <a:gd name="T24" fmla="*/ 82 w 82"/>
                <a:gd name="T25" fmla="*/ 30 h 72"/>
                <a:gd name="T26" fmla="*/ 82 w 82"/>
                <a:gd name="T27" fmla="*/ 14 h 72"/>
                <a:gd name="T28" fmla="*/ 80 w 82"/>
                <a:gd name="T29" fmla="*/ 0 h 72"/>
                <a:gd name="T30" fmla="*/ 18 w 82"/>
                <a:gd name="T31" fmla="*/ 56 h 72"/>
                <a:gd name="T32" fmla="*/ 8 w 82"/>
                <a:gd name="T33" fmla="*/ 62 h 72"/>
                <a:gd name="T34" fmla="*/ 18 w 82"/>
                <a:gd name="T35" fmla="*/ 51 h 72"/>
                <a:gd name="T36" fmla="*/ 18 w 82"/>
                <a:gd name="T37" fmla="*/ 38 h 72"/>
                <a:gd name="T38" fmla="*/ 8 w 82"/>
                <a:gd name="T39" fmla="*/ 46 h 72"/>
                <a:gd name="T40" fmla="*/ 8 w 82"/>
                <a:gd name="T41" fmla="*/ 35 h 72"/>
                <a:gd name="T42" fmla="*/ 18 w 82"/>
                <a:gd name="T43" fmla="*/ 38 h 72"/>
                <a:gd name="T44" fmla="*/ 8 w 82"/>
                <a:gd name="T45" fmla="*/ 30 h 72"/>
                <a:gd name="T46" fmla="*/ 18 w 82"/>
                <a:gd name="T47" fmla="*/ 19 h 72"/>
                <a:gd name="T48" fmla="*/ 37 w 82"/>
                <a:gd name="T49" fmla="*/ 56 h 72"/>
                <a:gd name="T50" fmla="*/ 26 w 82"/>
                <a:gd name="T51" fmla="*/ 62 h 72"/>
                <a:gd name="T52" fmla="*/ 26 w 82"/>
                <a:gd name="T53" fmla="*/ 51 h 72"/>
                <a:gd name="T54" fmla="*/ 37 w 82"/>
                <a:gd name="T55" fmla="*/ 56 h 72"/>
                <a:gd name="T56" fmla="*/ 37 w 82"/>
                <a:gd name="T57" fmla="*/ 46 h 72"/>
                <a:gd name="T58" fmla="*/ 26 w 82"/>
                <a:gd name="T59" fmla="*/ 38 h 72"/>
                <a:gd name="T60" fmla="*/ 37 w 82"/>
                <a:gd name="T61" fmla="*/ 35 h 72"/>
                <a:gd name="T62" fmla="*/ 37 w 82"/>
                <a:gd name="T63" fmla="*/ 30 h 72"/>
                <a:gd name="T64" fmla="*/ 26 w 82"/>
                <a:gd name="T65" fmla="*/ 19 h 72"/>
                <a:gd name="T66" fmla="*/ 37 w 82"/>
                <a:gd name="T67" fmla="*/ 30 h 72"/>
                <a:gd name="T68" fmla="*/ 56 w 82"/>
                <a:gd name="T69" fmla="*/ 62 h 72"/>
                <a:gd name="T70" fmla="*/ 45 w 82"/>
                <a:gd name="T71" fmla="*/ 56 h 72"/>
                <a:gd name="T72" fmla="*/ 56 w 82"/>
                <a:gd name="T73" fmla="*/ 51 h 72"/>
                <a:gd name="T74" fmla="*/ 56 w 82"/>
                <a:gd name="T75" fmla="*/ 38 h 72"/>
                <a:gd name="T76" fmla="*/ 45 w 82"/>
                <a:gd name="T77" fmla="*/ 46 h 72"/>
                <a:gd name="T78" fmla="*/ 45 w 82"/>
                <a:gd name="T79" fmla="*/ 35 h 72"/>
                <a:gd name="T80" fmla="*/ 56 w 82"/>
                <a:gd name="T81" fmla="*/ 38 h 72"/>
                <a:gd name="T82" fmla="*/ 45 w 82"/>
                <a:gd name="T83" fmla="*/ 30 h 72"/>
                <a:gd name="T84" fmla="*/ 56 w 82"/>
                <a:gd name="T85" fmla="*/ 19 h 72"/>
                <a:gd name="T86" fmla="*/ 74 w 82"/>
                <a:gd name="T87" fmla="*/ 62 h 72"/>
                <a:gd name="T88" fmla="*/ 64 w 82"/>
                <a:gd name="T89" fmla="*/ 56 h 72"/>
                <a:gd name="T90" fmla="*/ 74 w 82"/>
                <a:gd name="T91" fmla="*/ 51 h 72"/>
                <a:gd name="T92" fmla="*/ 74 w 82"/>
                <a:gd name="T93" fmla="*/ 38 h 72"/>
                <a:gd name="T94" fmla="*/ 64 w 82"/>
                <a:gd name="T95" fmla="*/ 46 h 72"/>
                <a:gd name="T96" fmla="*/ 64 w 82"/>
                <a:gd name="T97" fmla="*/ 35 h 72"/>
                <a:gd name="T98" fmla="*/ 74 w 82"/>
                <a:gd name="T99" fmla="*/ 38 h 72"/>
                <a:gd name="T100" fmla="*/ 64 w 82"/>
                <a:gd name="T101" fmla="*/ 30 h 72"/>
                <a:gd name="T102" fmla="*/ 74 w 82"/>
                <a:gd name="T103" fmla="*/ 19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2" h="72">
                  <a:moveTo>
                    <a:pt x="66" y="0"/>
                  </a:moveTo>
                  <a:cubicBezTo>
                    <a:pt x="66" y="7"/>
                    <a:pt x="66" y="7"/>
                    <a:pt x="66" y="7"/>
                  </a:cubicBezTo>
                  <a:cubicBezTo>
                    <a:pt x="66" y="8"/>
                    <a:pt x="65" y="10"/>
                    <a:pt x="64" y="10"/>
                  </a:cubicBezTo>
                  <a:cubicBezTo>
                    <a:pt x="56" y="10"/>
                    <a:pt x="56" y="10"/>
                    <a:pt x="56" y="10"/>
                  </a:cubicBezTo>
                  <a:cubicBezTo>
                    <a:pt x="54" y="10"/>
                    <a:pt x="53" y="8"/>
                    <a:pt x="53" y="7"/>
                  </a:cubicBezTo>
                  <a:cubicBezTo>
                    <a:pt x="53" y="0"/>
                    <a:pt x="53" y="0"/>
                    <a:pt x="53" y="0"/>
                  </a:cubicBezTo>
                  <a:cubicBezTo>
                    <a:pt x="29" y="0"/>
                    <a:pt x="29" y="0"/>
                    <a:pt x="29" y="0"/>
                  </a:cubicBezTo>
                  <a:cubicBezTo>
                    <a:pt x="29" y="7"/>
                    <a:pt x="29" y="7"/>
                    <a:pt x="29" y="7"/>
                  </a:cubicBezTo>
                  <a:cubicBezTo>
                    <a:pt x="29" y="8"/>
                    <a:pt x="28" y="10"/>
                    <a:pt x="26" y="10"/>
                  </a:cubicBezTo>
                  <a:cubicBezTo>
                    <a:pt x="18" y="10"/>
                    <a:pt x="18" y="10"/>
                    <a:pt x="18" y="10"/>
                  </a:cubicBezTo>
                  <a:cubicBezTo>
                    <a:pt x="17" y="10"/>
                    <a:pt x="16" y="8"/>
                    <a:pt x="16" y="7"/>
                  </a:cubicBezTo>
                  <a:cubicBezTo>
                    <a:pt x="16" y="0"/>
                    <a:pt x="16" y="0"/>
                    <a:pt x="16" y="0"/>
                  </a:cubicBezTo>
                  <a:cubicBezTo>
                    <a:pt x="2" y="0"/>
                    <a:pt x="2" y="0"/>
                    <a:pt x="2" y="0"/>
                  </a:cubicBezTo>
                  <a:cubicBezTo>
                    <a:pt x="1" y="0"/>
                    <a:pt x="0" y="1"/>
                    <a:pt x="0" y="3"/>
                  </a:cubicBezTo>
                  <a:cubicBezTo>
                    <a:pt x="0" y="14"/>
                    <a:pt x="0" y="14"/>
                    <a:pt x="0" y="14"/>
                  </a:cubicBezTo>
                  <a:cubicBezTo>
                    <a:pt x="0" y="19"/>
                    <a:pt x="0" y="19"/>
                    <a:pt x="0" y="19"/>
                  </a:cubicBezTo>
                  <a:cubicBezTo>
                    <a:pt x="0" y="30"/>
                    <a:pt x="0" y="30"/>
                    <a:pt x="0" y="30"/>
                  </a:cubicBezTo>
                  <a:cubicBezTo>
                    <a:pt x="0" y="38"/>
                    <a:pt x="0" y="38"/>
                    <a:pt x="0" y="38"/>
                  </a:cubicBezTo>
                  <a:cubicBezTo>
                    <a:pt x="0" y="70"/>
                    <a:pt x="0" y="70"/>
                    <a:pt x="0" y="70"/>
                  </a:cubicBezTo>
                  <a:cubicBezTo>
                    <a:pt x="0" y="71"/>
                    <a:pt x="1" y="72"/>
                    <a:pt x="2" y="72"/>
                  </a:cubicBezTo>
                  <a:cubicBezTo>
                    <a:pt x="8" y="72"/>
                    <a:pt x="8" y="72"/>
                    <a:pt x="8" y="72"/>
                  </a:cubicBezTo>
                  <a:cubicBezTo>
                    <a:pt x="74" y="72"/>
                    <a:pt x="74" y="72"/>
                    <a:pt x="74" y="72"/>
                  </a:cubicBezTo>
                  <a:cubicBezTo>
                    <a:pt x="80" y="72"/>
                    <a:pt x="80" y="72"/>
                    <a:pt x="80" y="72"/>
                  </a:cubicBezTo>
                  <a:cubicBezTo>
                    <a:pt x="81" y="72"/>
                    <a:pt x="82" y="71"/>
                    <a:pt x="82" y="70"/>
                  </a:cubicBezTo>
                  <a:cubicBezTo>
                    <a:pt x="82" y="38"/>
                    <a:pt x="82" y="38"/>
                    <a:pt x="82" y="38"/>
                  </a:cubicBezTo>
                  <a:cubicBezTo>
                    <a:pt x="82" y="30"/>
                    <a:pt x="82" y="30"/>
                    <a:pt x="82" y="30"/>
                  </a:cubicBezTo>
                  <a:cubicBezTo>
                    <a:pt x="82" y="19"/>
                    <a:pt x="82" y="19"/>
                    <a:pt x="82" y="19"/>
                  </a:cubicBezTo>
                  <a:cubicBezTo>
                    <a:pt x="82" y="14"/>
                    <a:pt x="82" y="14"/>
                    <a:pt x="82" y="14"/>
                  </a:cubicBezTo>
                  <a:cubicBezTo>
                    <a:pt x="82" y="3"/>
                    <a:pt x="82" y="3"/>
                    <a:pt x="82" y="3"/>
                  </a:cubicBezTo>
                  <a:cubicBezTo>
                    <a:pt x="82" y="1"/>
                    <a:pt x="81" y="0"/>
                    <a:pt x="80" y="0"/>
                  </a:cubicBezTo>
                  <a:lnTo>
                    <a:pt x="66" y="0"/>
                  </a:lnTo>
                  <a:close/>
                  <a:moveTo>
                    <a:pt x="18" y="56"/>
                  </a:moveTo>
                  <a:cubicBezTo>
                    <a:pt x="18" y="62"/>
                    <a:pt x="18" y="62"/>
                    <a:pt x="18" y="62"/>
                  </a:cubicBezTo>
                  <a:cubicBezTo>
                    <a:pt x="8" y="62"/>
                    <a:pt x="8" y="62"/>
                    <a:pt x="8" y="62"/>
                  </a:cubicBezTo>
                  <a:cubicBezTo>
                    <a:pt x="8" y="51"/>
                    <a:pt x="8" y="51"/>
                    <a:pt x="8" y="51"/>
                  </a:cubicBezTo>
                  <a:cubicBezTo>
                    <a:pt x="18" y="51"/>
                    <a:pt x="18" y="51"/>
                    <a:pt x="18" y="51"/>
                  </a:cubicBezTo>
                  <a:lnTo>
                    <a:pt x="18" y="56"/>
                  </a:lnTo>
                  <a:close/>
                  <a:moveTo>
                    <a:pt x="18" y="38"/>
                  </a:moveTo>
                  <a:cubicBezTo>
                    <a:pt x="18" y="46"/>
                    <a:pt x="18" y="46"/>
                    <a:pt x="18" y="46"/>
                  </a:cubicBezTo>
                  <a:cubicBezTo>
                    <a:pt x="8" y="46"/>
                    <a:pt x="8" y="46"/>
                    <a:pt x="8" y="46"/>
                  </a:cubicBezTo>
                  <a:cubicBezTo>
                    <a:pt x="8" y="38"/>
                    <a:pt x="8" y="38"/>
                    <a:pt x="8" y="38"/>
                  </a:cubicBezTo>
                  <a:cubicBezTo>
                    <a:pt x="8" y="35"/>
                    <a:pt x="8" y="35"/>
                    <a:pt x="8" y="35"/>
                  </a:cubicBezTo>
                  <a:cubicBezTo>
                    <a:pt x="18" y="35"/>
                    <a:pt x="18" y="35"/>
                    <a:pt x="18" y="35"/>
                  </a:cubicBezTo>
                  <a:lnTo>
                    <a:pt x="18" y="38"/>
                  </a:lnTo>
                  <a:close/>
                  <a:moveTo>
                    <a:pt x="18" y="30"/>
                  </a:moveTo>
                  <a:cubicBezTo>
                    <a:pt x="8" y="30"/>
                    <a:pt x="8" y="30"/>
                    <a:pt x="8" y="30"/>
                  </a:cubicBezTo>
                  <a:cubicBezTo>
                    <a:pt x="8" y="19"/>
                    <a:pt x="8" y="19"/>
                    <a:pt x="8" y="19"/>
                  </a:cubicBezTo>
                  <a:cubicBezTo>
                    <a:pt x="18" y="19"/>
                    <a:pt x="18" y="19"/>
                    <a:pt x="18" y="19"/>
                  </a:cubicBezTo>
                  <a:lnTo>
                    <a:pt x="18" y="30"/>
                  </a:lnTo>
                  <a:close/>
                  <a:moveTo>
                    <a:pt x="37" y="56"/>
                  </a:moveTo>
                  <a:cubicBezTo>
                    <a:pt x="37" y="62"/>
                    <a:pt x="37" y="62"/>
                    <a:pt x="37" y="62"/>
                  </a:cubicBezTo>
                  <a:cubicBezTo>
                    <a:pt x="26" y="62"/>
                    <a:pt x="26" y="62"/>
                    <a:pt x="26" y="62"/>
                  </a:cubicBezTo>
                  <a:cubicBezTo>
                    <a:pt x="26" y="56"/>
                    <a:pt x="26" y="56"/>
                    <a:pt x="26" y="56"/>
                  </a:cubicBezTo>
                  <a:cubicBezTo>
                    <a:pt x="26" y="51"/>
                    <a:pt x="26" y="51"/>
                    <a:pt x="26" y="51"/>
                  </a:cubicBezTo>
                  <a:cubicBezTo>
                    <a:pt x="37" y="51"/>
                    <a:pt x="37" y="51"/>
                    <a:pt x="37" y="51"/>
                  </a:cubicBezTo>
                  <a:lnTo>
                    <a:pt x="37" y="56"/>
                  </a:lnTo>
                  <a:close/>
                  <a:moveTo>
                    <a:pt x="37" y="38"/>
                  </a:moveTo>
                  <a:cubicBezTo>
                    <a:pt x="37" y="46"/>
                    <a:pt x="37" y="46"/>
                    <a:pt x="37" y="46"/>
                  </a:cubicBezTo>
                  <a:cubicBezTo>
                    <a:pt x="26" y="46"/>
                    <a:pt x="26" y="46"/>
                    <a:pt x="26" y="46"/>
                  </a:cubicBezTo>
                  <a:cubicBezTo>
                    <a:pt x="26" y="38"/>
                    <a:pt x="26" y="38"/>
                    <a:pt x="26" y="38"/>
                  </a:cubicBezTo>
                  <a:cubicBezTo>
                    <a:pt x="26" y="35"/>
                    <a:pt x="26" y="35"/>
                    <a:pt x="26" y="35"/>
                  </a:cubicBezTo>
                  <a:cubicBezTo>
                    <a:pt x="37" y="35"/>
                    <a:pt x="37" y="35"/>
                    <a:pt x="37" y="35"/>
                  </a:cubicBezTo>
                  <a:lnTo>
                    <a:pt x="37" y="38"/>
                  </a:lnTo>
                  <a:close/>
                  <a:moveTo>
                    <a:pt x="37" y="30"/>
                  </a:moveTo>
                  <a:cubicBezTo>
                    <a:pt x="26" y="30"/>
                    <a:pt x="26" y="30"/>
                    <a:pt x="26" y="30"/>
                  </a:cubicBezTo>
                  <a:cubicBezTo>
                    <a:pt x="26" y="19"/>
                    <a:pt x="26" y="19"/>
                    <a:pt x="26" y="19"/>
                  </a:cubicBezTo>
                  <a:cubicBezTo>
                    <a:pt x="37" y="19"/>
                    <a:pt x="37" y="19"/>
                    <a:pt x="37" y="19"/>
                  </a:cubicBezTo>
                  <a:lnTo>
                    <a:pt x="37" y="30"/>
                  </a:lnTo>
                  <a:close/>
                  <a:moveTo>
                    <a:pt x="56" y="56"/>
                  </a:moveTo>
                  <a:cubicBezTo>
                    <a:pt x="56" y="62"/>
                    <a:pt x="56" y="62"/>
                    <a:pt x="56" y="62"/>
                  </a:cubicBezTo>
                  <a:cubicBezTo>
                    <a:pt x="45" y="62"/>
                    <a:pt x="45" y="62"/>
                    <a:pt x="45" y="62"/>
                  </a:cubicBezTo>
                  <a:cubicBezTo>
                    <a:pt x="45" y="56"/>
                    <a:pt x="45" y="56"/>
                    <a:pt x="45" y="56"/>
                  </a:cubicBezTo>
                  <a:cubicBezTo>
                    <a:pt x="45" y="51"/>
                    <a:pt x="45" y="51"/>
                    <a:pt x="45" y="51"/>
                  </a:cubicBezTo>
                  <a:cubicBezTo>
                    <a:pt x="56" y="51"/>
                    <a:pt x="56" y="51"/>
                    <a:pt x="56" y="51"/>
                  </a:cubicBezTo>
                  <a:lnTo>
                    <a:pt x="56" y="56"/>
                  </a:lnTo>
                  <a:close/>
                  <a:moveTo>
                    <a:pt x="56" y="38"/>
                  </a:moveTo>
                  <a:cubicBezTo>
                    <a:pt x="56" y="46"/>
                    <a:pt x="56" y="46"/>
                    <a:pt x="56" y="46"/>
                  </a:cubicBezTo>
                  <a:cubicBezTo>
                    <a:pt x="45" y="46"/>
                    <a:pt x="45" y="46"/>
                    <a:pt x="45" y="46"/>
                  </a:cubicBezTo>
                  <a:cubicBezTo>
                    <a:pt x="45" y="38"/>
                    <a:pt x="45" y="38"/>
                    <a:pt x="45" y="38"/>
                  </a:cubicBezTo>
                  <a:cubicBezTo>
                    <a:pt x="45" y="35"/>
                    <a:pt x="45" y="35"/>
                    <a:pt x="45" y="35"/>
                  </a:cubicBezTo>
                  <a:cubicBezTo>
                    <a:pt x="56" y="35"/>
                    <a:pt x="56" y="35"/>
                    <a:pt x="56" y="35"/>
                  </a:cubicBezTo>
                  <a:lnTo>
                    <a:pt x="56" y="38"/>
                  </a:lnTo>
                  <a:close/>
                  <a:moveTo>
                    <a:pt x="56" y="30"/>
                  </a:moveTo>
                  <a:cubicBezTo>
                    <a:pt x="45" y="30"/>
                    <a:pt x="45" y="30"/>
                    <a:pt x="45" y="30"/>
                  </a:cubicBezTo>
                  <a:cubicBezTo>
                    <a:pt x="45" y="19"/>
                    <a:pt x="45" y="19"/>
                    <a:pt x="45" y="19"/>
                  </a:cubicBezTo>
                  <a:cubicBezTo>
                    <a:pt x="56" y="19"/>
                    <a:pt x="56" y="19"/>
                    <a:pt x="56" y="19"/>
                  </a:cubicBezTo>
                  <a:lnTo>
                    <a:pt x="56" y="30"/>
                  </a:lnTo>
                  <a:close/>
                  <a:moveTo>
                    <a:pt x="74" y="62"/>
                  </a:moveTo>
                  <a:cubicBezTo>
                    <a:pt x="64" y="62"/>
                    <a:pt x="64" y="62"/>
                    <a:pt x="64" y="62"/>
                  </a:cubicBezTo>
                  <a:cubicBezTo>
                    <a:pt x="64" y="56"/>
                    <a:pt x="64" y="56"/>
                    <a:pt x="64" y="56"/>
                  </a:cubicBezTo>
                  <a:cubicBezTo>
                    <a:pt x="64" y="51"/>
                    <a:pt x="64" y="51"/>
                    <a:pt x="64" y="51"/>
                  </a:cubicBezTo>
                  <a:cubicBezTo>
                    <a:pt x="74" y="51"/>
                    <a:pt x="74" y="51"/>
                    <a:pt x="74" y="51"/>
                  </a:cubicBezTo>
                  <a:lnTo>
                    <a:pt x="74" y="62"/>
                  </a:lnTo>
                  <a:close/>
                  <a:moveTo>
                    <a:pt x="74" y="38"/>
                  </a:moveTo>
                  <a:cubicBezTo>
                    <a:pt x="74" y="46"/>
                    <a:pt x="74" y="46"/>
                    <a:pt x="74" y="46"/>
                  </a:cubicBezTo>
                  <a:cubicBezTo>
                    <a:pt x="64" y="46"/>
                    <a:pt x="64" y="46"/>
                    <a:pt x="64" y="46"/>
                  </a:cubicBezTo>
                  <a:cubicBezTo>
                    <a:pt x="64" y="38"/>
                    <a:pt x="64" y="38"/>
                    <a:pt x="64" y="38"/>
                  </a:cubicBezTo>
                  <a:cubicBezTo>
                    <a:pt x="64" y="35"/>
                    <a:pt x="64" y="35"/>
                    <a:pt x="64" y="35"/>
                  </a:cubicBezTo>
                  <a:cubicBezTo>
                    <a:pt x="74" y="35"/>
                    <a:pt x="74" y="35"/>
                    <a:pt x="74" y="35"/>
                  </a:cubicBezTo>
                  <a:lnTo>
                    <a:pt x="74" y="38"/>
                  </a:lnTo>
                  <a:close/>
                  <a:moveTo>
                    <a:pt x="74" y="30"/>
                  </a:moveTo>
                  <a:cubicBezTo>
                    <a:pt x="64" y="30"/>
                    <a:pt x="64" y="30"/>
                    <a:pt x="64" y="30"/>
                  </a:cubicBezTo>
                  <a:cubicBezTo>
                    <a:pt x="64" y="19"/>
                    <a:pt x="64" y="19"/>
                    <a:pt x="64" y="19"/>
                  </a:cubicBezTo>
                  <a:cubicBezTo>
                    <a:pt x="74" y="19"/>
                    <a:pt x="74" y="19"/>
                    <a:pt x="74" y="19"/>
                  </a:cubicBezTo>
                  <a:lnTo>
                    <a:pt x="74"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849">
              <a:extLst>
                <a:ext uri="{FF2B5EF4-FFF2-40B4-BE49-F238E27FC236}">
                  <a16:creationId xmlns:a16="http://schemas.microsoft.com/office/drawing/2014/main" id="{B8E3424E-BDCE-4A3D-A1CE-5582EC12F00C}"/>
                </a:ext>
              </a:extLst>
            </p:cNvPr>
            <p:cNvSpPr>
              <a:spLocks/>
            </p:cNvSpPr>
            <p:nvPr/>
          </p:nvSpPr>
          <p:spPr bwMode="auto">
            <a:xfrm>
              <a:off x="2498295" y="5630173"/>
              <a:ext cx="54948" cy="103027"/>
            </a:xfrm>
            <a:custGeom>
              <a:avLst/>
              <a:gdLst>
                <a:gd name="T0" fmla="*/ 3 w 8"/>
                <a:gd name="T1" fmla="*/ 15 h 15"/>
                <a:gd name="T2" fmla="*/ 6 w 8"/>
                <a:gd name="T3" fmla="*/ 15 h 15"/>
                <a:gd name="T4" fmla="*/ 8 w 8"/>
                <a:gd name="T5" fmla="*/ 12 h 15"/>
                <a:gd name="T6" fmla="*/ 8 w 8"/>
                <a:gd name="T7" fmla="*/ 8 h 15"/>
                <a:gd name="T8" fmla="*/ 8 w 8"/>
                <a:gd name="T9" fmla="*/ 4 h 15"/>
                <a:gd name="T10" fmla="*/ 8 w 8"/>
                <a:gd name="T11" fmla="*/ 3 h 15"/>
                <a:gd name="T12" fmla="*/ 6 w 8"/>
                <a:gd name="T13" fmla="*/ 0 h 15"/>
                <a:gd name="T14" fmla="*/ 3 w 8"/>
                <a:gd name="T15" fmla="*/ 0 h 15"/>
                <a:gd name="T16" fmla="*/ 0 w 8"/>
                <a:gd name="T17" fmla="*/ 3 h 15"/>
                <a:gd name="T18" fmla="*/ 0 w 8"/>
                <a:gd name="T19" fmla="*/ 4 h 15"/>
                <a:gd name="T20" fmla="*/ 0 w 8"/>
                <a:gd name="T21" fmla="*/ 8 h 15"/>
                <a:gd name="T22" fmla="*/ 0 w 8"/>
                <a:gd name="T23" fmla="*/ 12 h 15"/>
                <a:gd name="T24" fmla="*/ 3 w 8"/>
                <a:gd name="T25"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 h="15">
                  <a:moveTo>
                    <a:pt x="3" y="15"/>
                  </a:moveTo>
                  <a:cubicBezTo>
                    <a:pt x="6" y="15"/>
                    <a:pt x="6" y="15"/>
                    <a:pt x="6" y="15"/>
                  </a:cubicBezTo>
                  <a:cubicBezTo>
                    <a:pt x="7" y="15"/>
                    <a:pt x="8" y="14"/>
                    <a:pt x="8" y="12"/>
                  </a:cubicBezTo>
                  <a:cubicBezTo>
                    <a:pt x="8" y="8"/>
                    <a:pt x="8" y="8"/>
                    <a:pt x="8" y="8"/>
                  </a:cubicBezTo>
                  <a:cubicBezTo>
                    <a:pt x="8" y="4"/>
                    <a:pt x="8" y="4"/>
                    <a:pt x="8" y="4"/>
                  </a:cubicBezTo>
                  <a:cubicBezTo>
                    <a:pt x="8" y="3"/>
                    <a:pt x="8" y="3"/>
                    <a:pt x="8" y="3"/>
                  </a:cubicBezTo>
                  <a:cubicBezTo>
                    <a:pt x="8" y="1"/>
                    <a:pt x="7" y="0"/>
                    <a:pt x="6" y="0"/>
                  </a:cubicBezTo>
                  <a:cubicBezTo>
                    <a:pt x="3" y="0"/>
                    <a:pt x="3" y="0"/>
                    <a:pt x="3" y="0"/>
                  </a:cubicBezTo>
                  <a:cubicBezTo>
                    <a:pt x="2" y="0"/>
                    <a:pt x="0" y="1"/>
                    <a:pt x="0" y="3"/>
                  </a:cubicBezTo>
                  <a:cubicBezTo>
                    <a:pt x="0" y="4"/>
                    <a:pt x="0" y="4"/>
                    <a:pt x="0" y="4"/>
                  </a:cubicBezTo>
                  <a:cubicBezTo>
                    <a:pt x="0" y="8"/>
                    <a:pt x="0" y="8"/>
                    <a:pt x="0" y="8"/>
                  </a:cubicBezTo>
                  <a:cubicBezTo>
                    <a:pt x="0" y="12"/>
                    <a:pt x="0" y="12"/>
                    <a:pt x="0" y="12"/>
                  </a:cubicBezTo>
                  <a:cubicBezTo>
                    <a:pt x="0" y="14"/>
                    <a:pt x="2" y="15"/>
                    <a:pt x="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7" name="Freeform 850">
              <a:extLst>
                <a:ext uri="{FF2B5EF4-FFF2-40B4-BE49-F238E27FC236}">
                  <a16:creationId xmlns:a16="http://schemas.microsoft.com/office/drawing/2014/main" id="{25697BC2-0735-4EF6-85B7-F694760B8E2A}"/>
                </a:ext>
              </a:extLst>
            </p:cNvPr>
            <p:cNvSpPr>
              <a:spLocks/>
            </p:cNvSpPr>
            <p:nvPr/>
          </p:nvSpPr>
          <p:spPr bwMode="auto">
            <a:xfrm>
              <a:off x="2757923" y="5630173"/>
              <a:ext cx="54948" cy="103027"/>
            </a:xfrm>
            <a:custGeom>
              <a:avLst/>
              <a:gdLst>
                <a:gd name="T0" fmla="*/ 2 w 8"/>
                <a:gd name="T1" fmla="*/ 15 h 15"/>
                <a:gd name="T2" fmla="*/ 5 w 8"/>
                <a:gd name="T3" fmla="*/ 15 h 15"/>
                <a:gd name="T4" fmla="*/ 8 w 8"/>
                <a:gd name="T5" fmla="*/ 12 h 15"/>
                <a:gd name="T6" fmla="*/ 8 w 8"/>
                <a:gd name="T7" fmla="*/ 8 h 15"/>
                <a:gd name="T8" fmla="*/ 8 w 8"/>
                <a:gd name="T9" fmla="*/ 7 h 15"/>
                <a:gd name="T10" fmla="*/ 8 w 8"/>
                <a:gd name="T11" fmla="*/ 4 h 15"/>
                <a:gd name="T12" fmla="*/ 8 w 8"/>
                <a:gd name="T13" fmla="*/ 3 h 15"/>
                <a:gd name="T14" fmla="*/ 5 w 8"/>
                <a:gd name="T15" fmla="*/ 0 h 15"/>
                <a:gd name="T16" fmla="*/ 2 w 8"/>
                <a:gd name="T17" fmla="*/ 0 h 15"/>
                <a:gd name="T18" fmla="*/ 0 w 8"/>
                <a:gd name="T19" fmla="*/ 3 h 15"/>
                <a:gd name="T20" fmla="*/ 0 w 8"/>
                <a:gd name="T21" fmla="*/ 4 h 15"/>
                <a:gd name="T22" fmla="*/ 0 w 8"/>
                <a:gd name="T23" fmla="*/ 7 h 15"/>
                <a:gd name="T24" fmla="*/ 0 w 8"/>
                <a:gd name="T25" fmla="*/ 8 h 15"/>
                <a:gd name="T26" fmla="*/ 0 w 8"/>
                <a:gd name="T27" fmla="*/ 12 h 15"/>
                <a:gd name="T28" fmla="*/ 2 w 8"/>
                <a:gd name="T2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 h="15">
                  <a:moveTo>
                    <a:pt x="2" y="15"/>
                  </a:moveTo>
                  <a:cubicBezTo>
                    <a:pt x="5" y="15"/>
                    <a:pt x="5" y="15"/>
                    <a:pt x="5" y="15"/>
                  </a:cubicBezTo>
                  <a:cubicBezTo>
                    <a:pt x="7" y="15"/>
                    <a:pt x="8" y="14"/>
                    <a:pt x="8" y="12"/>
                  </a:cubicBezTo>
                  <a:cubicBezTo>
                    <a:pt x="8" y="8"/>
                    <a:pt x="8" y="8"/>
                    <a:pt x="8" y="8"/>
                  </a:cubicBezTo>
                  <a:cubicBezTo>
                    <a:pt x="8" y="7"/>
                    <a:pt x="8" y="7"/>
                    <a:pt x="8" y="7"/>
                  </a:cubicBezTo>
                  <a:cubicBezTo>
                    <a:pt x="8" y="4"/>
                    <a:pt x="8" y="4"/>
                    <a:pt x="8" y="4"/>
                  </a:cubicBezTo>
                  <a:cubicBezTo>
                    <a:pt x="8" y="3"/>
                    <a:pt x="8" y="3"/>
                    <a:pt x="8" y="3"/>
                  </a:cubicBezTo>
                  <a:cubicBezTo>
                    <a:pt x="8" y="1"/>
                    <a:pt x="7" y="0"/>
                    <a:pt x="5" y="0"/>
                  </a:cubicBezTo>
                  <a:cubicBezTo>
                    <a:pt x="2" y="0"/>
                    <a:pt x="2" y="0"/>
                    <a:pt x="2" y="0"/>
                  </a:cubicBezTo>
                  <a:cubicBezTo>
                    <a:pt x="1" y="0"/>
                    <a:pt x="0" y="1"/>
                    <a:pt x="0" y="3"/>
                  </a:cubicBezTo>
                  <a:cubicBezTo>
                    <a:pt x="0" y="4"/>
                    <a:pt x="0" y="4"/>
                    <a:pt x="0" y="4"/>
                  </a:cubicBezTo>
                  <a:cubicBezTo>
                    <a:pt x="0" y="7"/>
                    <a:pt x="0" y="7"/>
                    <a:pt x="0" y="7"/>
                  </a:cubicBezTo>
                  <a:cubicBezTo>
                    <a:pt x="0" y="8"/>
                    <a:pt x="0" y="8"/>
                    <a:pt x="0" y="8"/>
                  </a:cubicBezTo>
                  <a:cubicBezTo>
                    <a:pt x="0" y="12"/>
                    <a:pt x="0" y="12"/>
                    <a:pt x="0" y="12"/>
                  </a:cubicBezTo>
                  <a:cubicBezTo>
                    <a:pt x="0" y="14"/>
                    <a:pt x="1" y="15"/>
                    <a:pt x="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8" name="Freeform 851">
            <a:extLst>
              <a:ext uri="{FF2B5EF4-FFF2-40B4-BE49-F238E27FC236}">
                <a16:creationId xmlns:a16="http://schemas.microsoft.com/office/drawing/2014/main" id="{B6ED2DC5-D86B-4310-9259-97533DDCD234}"/>
              </a:ext>
            </a:extLst>
          </p:cNvPr>
          <p:cNvSpPr>
            <a:spLocks noChangeAspect="1" noEditPoints="1"/>
          </p:cNvSpPr>
          <p:nvPr/>
        </p:nvSpPr>
        <p:spPr bwMode="auto">
          <a:xfrm>
            <a:off x="696448" y="3472831"/>
            <a:ext cx="270237" cy="274320"/>
          </a:xfrm>
          <a:custGeom>
            <a:avLst/>
            <a:gdLst>
              <a:gd name="T0" fmla="*/ 0 w 80"/>
              <a:gd name="T1" fmla="*/ 28 h 81"/>
              <a:gd name="T2" fmla="*/ 28 w 80"/>
              <a:gd name="T3" fmla="*/ 56 h 81"/>
              <a:gd name="T4" fmla="*/ 43 w 80"/>
              <a:gd name="T5" fmla="*/ 52 h 81"/>
              <a:gd name="T6" fmla="*/ 71 w 80"/>
              <a:gd name="T7" fmla="*/ 80 h 81"/>
              <a:gd name="T8" fmla="*/ 75 w 80"/>
              <a:gd name="T9" fmla="*/ 80 h 81"/>
              <a:gd name="T10" fmla="*/ 79 w 80"/>
              <a:gd name="T11" fmla="*/ 75 h 81"/>
              <a:gd name="T12" fmla="*/ 79 w 80"/>
              <a:gd name="T13" fmla="*/ 72 h 81"/>
              <a:gd name="T14" fmla="*/ 51 w 80"/>
              <a:gd name="T15" fmla="*/ 44 h 81"/>
              <a:gd name="T16" fmla="*/ 56 w 80"/>
              <a:gd name="T17" fmla="*/ 28 h 81"/>
              <a:gd name="T18" fmla="*/ 28 w 80"/>
              <a:gd name="T19" fmla="*/ 0 h 81"/>
              <a:gd name="T20" fmla="*/ 0 w 80"/>
              <a:gd name="T21" fmla="*/ 28 h 81"/>
              <a:gd name="T22" fmla="*/ 11 w 80"/>
              <a:gd name="T23" fmla="*/ 28 h 81"/>
              <a:gd name="T24" fmla="*/ 28 w 80"/>
              <a:gd name="T25" fmla="*/ 11 h 81"/>
              <a:gd name="T26" fmla="*/ 45 w 80"/>
              <a:gd name="T27" fmla="*/ 28 h 81"/>
              <a:gd name="T28" fmla="*/ 28 w 80"/>
              <a:gd name="T29" fmla="*/ 46 h 81"/>
              <a:gd name="T30" fmla="*/ 11 w 80"/>
              <a:gd name="T31" fmla="*/ 28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0" h="81">
                <a:moveTo>
                  <a:pt x="0" y="28"/>
                </a:moveTo>
                <a:cubicBezTo>
                  <a:pt x="0" y="44"/>
                  <a:pt x="12" y="56"/>
                  <a:pt x="28" y="56"/>
                </a:cubicBezTo>
                <a:cubicBezTo>
                  <a:pt x="33" y="56"/>
                  <a:pt x="39" y="55"/>
                  <a:pt x="43" y="52"/>
                </a:cubicBezTo>
                <a:cubicBezTo>
                  <a:pt x="71" y="80"/>
                  <a:pt x="71" y="80"/>
                  <a:pt x="71" y="80"/>
                </a:cubicBezTo>
                <a:cubicBezTo>
                  <a:pt x="72" y="81"/>
                  <a:pt x="74" y="81"/>
                  <a:pt x="75" y="80"/>
                </a:cubicBezTo>
                <a:cubicBezTo>
                  <a:pt x="79" y="75"/>
                  <a:pt x="79" y="75"/>
                  <a:pt x="79" y="75"/>
                </a:cubicBezTo>
                <a:cubicBezTo>
                  <a:pt x="80" y="74"/>
                  <a:pt x="80" y="73"/>
                  <a:pt x="79" y="72"/>
                </a:cubicBezTo>
                <a:cubicBezTo>
                  <a:pt x="51" y="44"/>
                  <a:pt x="51" y="44"/>
                  <a:pt x="51" y="44"/>
                </a:cubicBezTo>
                <a:cubicBezTo>
                  <a:pt x="54" y="39"/>
                  <a:pt x="56" y="34"/>
                  <a:pt x="56" y="28"/>
                </a:cubicBezTo>
                <a:cubicBezTo>
                  <a:pt x="56" y="13"/>
                  <a:pt x="43" y="0"/>
                  <a:pt x="28" y="0"/>
                </a:cubicBezTo>
                <a:cubicBezTo>
                  <a:pt x="12" y="0"/>
                  <a:pt x="0" y="13"/>
                  <a:pt x="0" y="28"/>
                </a:cubicBezTo>
                <a:close/>
                <a:moveTo>
                  <a:pt x="11" y="28"/>
                </a:moveTo>
                <a:cubicBezTo>
                  <a:pt x="11" y="19"/>
                  <a:pt x="18" y="11"/>
                  <a:pt x="28" y="11"/>
                </a:cubicBezTo>
                <a:cubicBezTo>
                  <a:pt x="37" y="11"/>
                  <a:pt x="45" y="19"/>
                  <a:pt x="45" y="28"/>
                </a:cubicBezTo>
                <a:cubicBezTo>
                  <a:pt x="45" y="38"/>
                  <a:pt x="37" y="46"/>
                  <a:pt x="28" y="46"/>
                </a:cubicBezTo>
                <a:cubicBezTo>
                  <a:pt x="18" y="46"/>
                  <a:pt x="11" y="38"/>
                  <a:pt x="11" y="28"/>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49" name="Group 48">
            <a:extLst>
              <a:ext uri="{FF2B5EF4-FFF2-40B4-BE49-F238E27FC236}">
                <a16:creationId xmlns:a16="http://schemas.microsoft.com/office/drawing/2014/main" id="{BAE91DFD-E98A-4F8B-A35B-6C68CCCC5BFD}"/>
              </a:ext>
            </a:extLst>
          </p:cNvPr>
          <p:cNvGrpSpPr>
            <a:grpSpLocks noChangeAspect="1"/>
          </p:cNvGrpSpPr>
          <p:nvPr/>
        </p:nvGrpSpPr>
        <p:grpSpPr>
          <a:xfrm>
            <a:off x="7149409" y="3464550"/>
            <a:ext cx="258108" cy="274320"/>
            <a:chOff x="6969669" y="5623305"/>
            <a:chExt cx="546730" cy="581072"/>
          </a:xfrm>
          <a:solidFill>
            <a:srgbClr val="595555"/>
          </a:solidFill>
        </p:grpSpPr>
        <p:sp>
          <p:nvSpPr>
            <p:cNvPr id="50" name="Freeform 859">
              <a:extLst>
                <a:ext uri="{FF2B5EF4-FFF2-40B4-BE49-F238E27FC236}">
                  <a16:creationId xmlns:a16="http://schemas.microsoft.com/office/drawing/2014/main" id="{848DC2B7-9688-428E-8B10-76C47575AD67}"/>
                </a:ext>
              </a:extLst>
            </p:cNvPr>
            <p:cNvSpPr>
              <a:spLocks/>
            </p:cNvSpPr>
            <p:nvPr/>
          </p:nvSpPr>
          <p:spPr bwMode="auto">
            <a:xfrm>
              <a:off x="6969669" y="6013434"/>
              <a:ext cx="546730" cy="190943"/>
            </a:xfrm>
            <a:custGeom>
              <a:avLst/>
              <a:gdLst>
                <a:gd name="T0" fmla="*/ 73 w 80"/>
                <a:gd name="T1" fmla="*/ 7 h 28"/>
                <a:gd name="T2" fmla="*/ 64 w 80"/>
                <a:gd name="T3" fmla="*/ 0 h 28"/>
                <a:gd name="T4" fmla="*/ 16 w 80"/>
                <a:gd name="T5" fmla="*/ 0 h 28"/>
                <a:gd name="T6" fmla="*/ 8 w 80"/>
                <a:gd name="T7" fmla="*/ 7 h 28"/>
                <a:gd name="T8" fmla="*/ 0 w 80"/>
                <a:gd name="T9" fmla="*/ 28 h 28"/>
                <a:gd name="T10" fmla="*/ 80 w 80"/>
                <a:gd name="T11" fmla="*/ 28 h 28"/>
                <a:gd name="T12" fmla="*/ 73 w 80"/>
                <a:gd name="T13" fmla="*/ 7 h 28"/>
              </a:gdLst>
              <a:ahLst/>
              <a:cxnLst>
                <a:cxn ang="0">
                  <a:pos x="T0" y="T1"/>
                </a:cxn>
                <a:cxn ang="0">
                  <a:pos x="T2" y="T3"/>
                </a:cxn>
                <a:cxn ang="0">
                  <a:pos x="T4" y="T5"/>
                </a:cxn>
                <a:cxn ang="0">
                  <a:pos x="T6" y="T7"/>
                </a:cxn>
                <a:cxn ang="0">
                  <a:pos x="T8" y="T9"/>
                </a:cxn>
                <a:cxn ang="0">
                  <a:pos x="T10" y="T11"/>
                </a:cxn>
                <a:cxn ang="0">
                  <a:pos x="T12" y="T13"/>
                </a:cxn>
              </a:cxnLst>
              <a:rect l="0" t="0" r="r" b="b"/>
              <a:pathLst>
                <a:path w="80" h="28">
                  <a:moveTo>
                    <a:pt x="73" y="7"/>
                  </a:moveTo>
                  <a:cubicBezTo>
                    <a:pt x="71" y="3"/>
                    <a:pt x="67" y="0"/>
                    <a:pt x="64" y="0"/>
                  </a:cubicBezTo>
                  <a:cubicBezTo>
                    <a:pt x="16" y="0"/>
                    <a:pt x="16" y="0"/>
                    <a:pt x="16" y="0"/>
                  </a:cubicBezTo>
                  <a:cubicBezTo>
                    <a:pt x="13" y="0"/>
                    <a:pt x="9" y="3"/>
                    <a:pt x="8" y="7"/>
                  </a:cubicBezTo>
                  <a:cubicBezTo>
                    <a:pt x="0" y="28"/>
                    <a:pt x="0" y="28"/>
                    <a:pt x="0" y="28"/>
                  </a:cubicBezTo>
                  <a:cubicBezTo>
                    <a:pt x="80" y="28"/>
                    <a:pt x="80" y="28"/>
                    <a:pt x="80" y="28"/>
                  </a:cubicBezTo>
                  <a:lnTo>
                    <a:pt x="73"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860">
              <a:extLst>
                <a:ext uri="{FF2B5EF4-FFF2-40B4-BE49-F238E27FC236}">
                  <a16:creationId xmlns:a16="http://schemas.microsoft.com/office/drawing/2014/main" id="{129F301E-AF81-4894-8203-29C1E0A44B93}"/>
                </a:ext>
              </a:extLst>
            </p:cNvPr>
            <p:cNvSpPr>
              <a:spLocks/>
            </p:cNvSpPr>
            <p:nvPr/>
          </p:nvSpPr>
          <p:spPr bwMode="auto">
            <a:xfrm>
              <a:off x="7112534" y="5685121"/>
              <a:ext cx="259628" cy="293971"/>
            </a:xfrm>
            <a:custGeom>
              <a:avLst/>
              <a:gdLst>
                <a:gd name="T0" fmla="*/ 18 w 38"/>
                <a:gd name="T1" fmla="*/ 28 h 43"/>
                <a:gd name="T2" fmla="*/ 24 w 38"/>
                <a:gd name="T3" fmla="*/ 28 h 43"/>
                <a:gd name="T4" fmla="*/ 27 w 38"/>
                <a:gd name="T5" fmla="*/ 29 h 43"/>
                <a:gd name="T6" fmla="*/ 38 w 38"/>
                <a:gd name="T7" fmla="*/ 22 h 43"/>
                <a:gd name="T8" fmla="*/ 38 w 38"/>
                <a:gd name="T9" fmla="*/ 22 h 43"/>
                <a:gd name="T10" fmla="*/ 19 w 38"/>
                <a:gd name="T11" fmla="*/ 0 h 43"/>
                <a:gd name="T12" fmla="*/ 0 w 38"/>
                <a:gd name="T13" fmla="*/ 22 h 43"/>
                <a:gd name="T14" fmla="*/ 3 w 38"/>
                <a:gd name="T15" fmla="*/ 32 h 43"/>
                <a:gd name="T16" fmla="*/ 19 w 38"/>
                <a:gd name="T17" fmla="*/ 43 h 43"/>
                <a:gd name="T18" fmla="*/ 35 w 38"/>
                <a:gd name="T19" fmla="*/ 32 h 43"/>
                <a:gd name="T20" fmla="*/ 37 w 38"/>
                <a:gd name="T21" fmla="*/ 28 h 43"/>
                <a:gd name="T22" fmla="*/ 27 w 38"/>
                <a:gd name="T23" fmla="*/ 33 h 43"/>
                <a:gd name="T24" fmla="*/ 24 w 38"/>
                <a:gd name="T25" fmla="*/ 35 h 43"/>
                <a:gd name="T26" fmla="*/ 18 w 38"/>
                <a:gd name="T27" fmla="*/ 35 h 43"/>
                <a:gd name="T28" fmla="*/ 15 w 38"/>
                <a:gd name="T29" fmla="*/ 32 h 43"/>
                <a:gd name="T30" fmla="*/ 15 w 38"/>
                <a:gd name="T31" fmla="*/ 31 h 43"/>
                <a:gd name="T32" fmla="*/ 18 w 38"/>
                <a:gd name="T33"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43">
                  <a:moveTo>
                    <a:pt x="18" y="28"/>
                  </a:moveTo>
                  <a:cubicBezTo>
                    <a:pt x="24" y="28"/>
                    <a:pt x="24" y="28"/>
                    <a:pt x="24" y="28"/>
                  </a:cubicBezTo>
                  <a:cubicBezTo>
                    <a:pt x="25" y="28"/>
                    <a:pt x="26" y="29"/>
                    <a:pt x="27" y="29"/>
                  </a:cubicBezTo>
                  <a:cubicBezTo>
                    <a:pt x="30" y="28"/>
                    <a:pt x="34" y="25"/>
                    <a:pt x="38" y="22"/>
                  </a:cubicBezTo>
                  <a:cubicBezTo>
                    <a:pt x="38" y="22"/>
                    <a:pt x="38" y="22"/>
                    <a:pt x="38" y="22"/>
                  </a:cubicBezTo>
                  <a:cubicBezTo>
                    <a:pt x="38" y="10"/>
                    <a:pt x="29" y="0"/>
                    <a:pt x="19" y="0"/>
                  </a:cubicBezTo>
                  <a:cubicBezTo>
                    <a:pt x="9" y="0"/>
                    <a:pt x="0" y="10"/>
                    <a:pt x="0" y="22"/>
                  </a:cubicBezTo>
                  <a:cubicBezTo>
                    <a:pt x="0" y="26"/>
                    <a:pt x="1" y="29"/>
                    <a:pt x="3" y="32"/>
                  </a:cubicBezTo>
                  <a:cubicBezTo>
                    <a:pt x="6" y="39"/>
                    <a:pt x="12" y="43"/>
                    <a:pt x="19" y="43"/>
                  </a:cubicBezTo>
                  <a:cubicBezTo>
                    <a:pt x="26" y="43"/>
                    <a:pt x="32" y="39"/>
                    <a:pt x="35" y="32"/>
                  </a:cubicBezTo>
                  <a:cubicBezTo>
                    <a:pt x="36" y="31"/>
                    <a:pt x="37" y="29"/>
                    <a:pt x="37" y="28"/>
                  </a:cubicBezTo>
                  <a:cubicBezTo>
                    <a:pt x="34" y="30"/>
                    <a:pt x="30" y="32"/>
                    <a:pt x="27" y="33"/>
                  </a:cubicBezTo>
                  <a:cubicBezTo>
                    <a:pt x="27" y="34"/>
                    <a:pt x="26" y="35"/>
                    <a:pt x="24" y="35"/>
                  </a:cubicBezTo>
                  <a:cubicBezTo>
                    <a:pt x="18" y="35"/>
                    <a:pt x="18" y="35"/>
                    <a:pt x="18" y="35"/>
                  </a:cubicBezTo>
                  <a:cubicBezTo>
                    <a:pt x="16" y="35"/>
                    <a:pt x="15" y="34"/>
                    <a:pt x="15" y="32"/>
                  </a:cubicBezTo>
                  <a:cubicBezTo>
                    <a:pt x="15" y="31"/>
                    <a:pt x="15" y="31"/>
                    <a:pt x="15" y="31"/>
                  </a:cubicBezTo>
                  <a:cubicBezTo>
                    <a:pt x="15" y="29"/>
                    <a:pt x="16" y="28"/>
                    <a:pt x="18"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2" name="Freeform 861">
              <a:extLst>
                <a:ext uri="{FF2B5EF4-FFF2-40B4-BE49-F238E27FC236}">
                  <a16:creationId xmlns:a16="http://schemas.microsoft.com/office/drawing/2014/main" id="{BFA31A79-5425-40CA-BE57-ADB7454FED30}"/>
                </a:ext>
              </a:extLst>
            </p:cNvPr>
            <p:cNvSpPr>
              <a:spLocks noEditPoints="1"/>
            </p:cNvSpPr>
            <p:nvPr/>
          </p:nvSpPr>
          <p:spPr bwMode="auto">
            <a:xfrm>
              <a:off x="7031486" y="5623305"/>
              <a:ext cx="423098" cy="280234"/>
            </a:xfrm>
            <a:custGeom>
              <a:avLst/>
              <a:gdLst>
                <a:gd name="T0" fmla="*/ 3 w 62"/>
                <a:gd name="T1" fmla="*/ 41 h 41"/>
                <a:gd name="T2" fmla="*/ 7 w 62"/>
                <a:gd name="T3" fmla="*/ 41 h 41"/>
                <a:gd name="T4" fmla="*/ 10 w 62"/>
                <a:gd name="T5" fmla="*/ 39 h 41"/>
                <a:gd name="T6" fmla="*/ 10 w 62"/>
                <a:gd name="T7" fmla="*/ 28 h 41"/>
                <a:gd name="T8" fmla="*/ 31 w 62"/>
                <a:gd name="T9" fmla="*/ 5 h 41"/>
                <a:gd name="T10" fmla="*/ 52 w 62"/>
                <a:gd name="T11" fmla="*/ 28 h 41"/>
                <a:gd name="T12" fmla="*/ 52 w 62"/>
                <a:gd name="T13" fmla="*/ 39 h 41"/>
                <a:gd name="T14" fmla="*/ 55 w 62"/>
                <a:gd name="T15" fmla="*/ 41 h 41"/>
                <a:gd name="T16" fmla="*/ 59 w 62"/>
                <a:gd name="T17" fmla="*/ 41 h 41"/>
                <a:gd name="T18" fmla="*/ 62 w 62"/>
                <a:gd name="T19" fmla="*/ 39 h 41"/>
                <a:gd name="T20" fmla="*/ 62 w 62"/>
                <a:gd name="T21" fmla="*/ 31 h 41"/>
                <a:gd name="T22" fmla="*/ 59 w 62"/>
                <a:gd name="T23" fmla="*/ 28 h 41"/>
                <a:gd name="T24" fmla="*/ 58 w 62"/>
                <a:gd name="T25" fmla="*/ 28 h 41"/>
                <a:gd name="T26" fmla="*/ 33 w 62"/>
                <a:gd name="T27" fmla="*/ 0 h 41"/>
                <a:gd name="T28" fmla="*/ 32 w 62"/>
                <a:gd name="T29" fmla="*/ 0 h 41"/>
                <a:gd name="T30" fmla="*/ 31 w 62"/>
                <a:gd name="T31" fmla="*/ 0 h 41"/>
                <a:gd name="T32" fmla="*/ 31 w 62"/>
                <a:gd name="T33" fmla="*/ 1 h 41"/>
                <a:gd name="T34" fmla="*/ 30 w 62"/>
                <a:gd name="T35" fmla="*/ 1 h 41"/>
                <a:gd name="T36" fmla="*/ 30 w 62"/>
                <a:gd name="T37" fmla="*/ 1 h 41"/>
                <a:gd name="T38" fmla="*/ 29 w 62"/>
                <a:gd name="T39" fmla="*/ 1 h 41"/>
                <a:gd name="T40" fmla="*/ 5 w 62"/>
                <a:gd name="T41" fmla="*/ 28 h 41"/>
                <a:gd name="T42" fmla="*/ 3 w 62"/>
                <a:gd name="T43" fmla="*/ 28 h 41"/>
                <a:gd name="T44" fmla="*/ 0 w 62"/>
                <a:gd name="T45" fmla="*/ 31 h 41"/>
                <a:gd name="T46" fmla="*/ 0 w 62"/>
                <a:gd name="T47" fmla="*/ 39 h 41"/>
                <a:gd name="T48" fmla="*/ 3 w 62"/>
                <a:gd name="T49" fmla="*/ 41 h 41"/>
                <a:gd name="T50" fmla="*/ 31 w 62"/>
                <a:gd name="T51" fmla="*/ 2 h 41"/>
                <a:gd name="T52" fmla="*/ 31 w 62"/>
                <a:gd name="T53" fmla="*/ 2 h 41"/>
                <a:gd name="T54" fmla="*/ 31 w 62"/>
                <a:gd name="T55" fmla="*/ 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2" h="41">
                  <a:moveTo>
                    <a:pt x="3" y="41"/>
                  </a:moveTo>
                  <a:cubicBezTo>
                    <a:pt x="7" y="41"/>
                    <a:pt x="7" y="41"/>
                    <a:pt x="7" y="41"/>
                  </a:cubicBezTo>
                  <a:cubicBezTo>
                    <a:pt x="9" y="41"/>
                    <a:pt x="10" y="40"/>
                    <a:pt x="10" y="39"/>
                  </a:cubicBezTo>
                  <a:cubicBezTo>
                    <a:pt x="10" y="28"/>
                    <a:pt x="10" y="28"/>
                    <a:pt x="10" y="28"/>
                  </a:cubicBezTo>
                  <a:cubicBezTo>
                    <a:pt x="10" y="15"/>
                    <a:pt x="18" y="5"/>
                    <a:pt x="31" y="5"/>
                  </a:cubicBezTo>
                  <a:cubicBezTo>
                    <a:pt x="44" y="5"/>
                    <a:pt x="52" y="15"/>
                    <a:pt x="52" y="28"/>
                  </a:cubicBezTo>
                  <a:cubicBezTo>
                    <a:pt x="52" y="39"/>
                    <a:pt x="52" y="39"/>
                    <a:pt x="52" y="39"/>
                  </a:cubicBezTo>
                  <a:cubicBezTo>
                    <a:pt x="52" y="40"/>
                    <a:pt x="54" y="41"/>
                    <a:pt x="55" y="41"/>
                  </a:cubicBezTo>
                  <a:cubicBezTo>
                    <a:pt x="59" y="41"/>
                    <a:pt x="59" y="41"/>
                    <a:pt x="59" y="41"/>
                  </a:cubicBezTo>
                  <a:cubicBezTo>
                    <a:pt x="61" y="41"/>
                    <a:pt x="62" y="40"/>
                    <a:pt x="62" y="39"/>
                  </a:cubicBezTo>
                  <a:cubicBezTo>
                    <a:pt x="62" y="31"/>
                    <a:pt x="62" y="31"/>
                    <a:pt x="62" y="31"/>
                  </a:cubicBezTo>
                  <a:cubicBezTo>
                    <a:pt x="62" y="29"/>
                    <a:pt x="61" y="28"/>
                    <a:pt x="59" y="28"/>
                  </a:cubicBezTo>
                  <a:cubicBezTo>
                    <a:pt x="58" y="28"/>
                    <a:pt x="58" y="28"/>
                    <a:pt x="58" y="28"/>
                  </a:cubicBezTo>
                  <a:cubicBezTo>
                    <a:pt x="57" y="13"/>
                    <a:pt x="48" y="1"/>
                    <a:pt x="33" y="0"/>
                  </a:cubicBezTo>
                  <a:cubicBezTo>
                    <a:pt x="32" y="0"/>
                    <a:pt x="32" y="0"/>
                    <a:pt x="32" y="0"/>
                  </a:cubicBezTo>
                  <a:cubicBezTo>
                    <a:pt x="32" y="0"/>
                    <a:pt x="31" y="0"/>
                    <a:pt x="31" y="0"/>
                  </a:cubicBezTo>
                  <a:cubicBezTo>
                    <a:pt x="31" y="0"/>
                    <a:pt x="31" y="1"/>
                    <a:pt x="31" y="1"/>
                  </a:cubicBezTo>
                  <a:cubicBezTo>
                    <a:pt x="31" y="1"/>
                    <a:pt x="30" y="1"/>
                    <a:pt x="30" y="1"/>
                  </a:cubicBezTo>
                  <a:cubicBezTo>
                    <a:pt x="30" y="1"/>
                    <a:pt x="30" y="1"/>
                    <a:pt x="30" y="1"/>
                  </a:cubicBezTo>
                  <a:cubicBezTo>
                    <a:pt x="29" y="1"/>
                    <a:pt x="29" y="1"/>
                    <a:pt x="29" y="1"/>
                  </a:cubicBezTo>
                  <a:cubicBezTo>
                    <a:pt x="14" y="2"/>
                    <a:pt x="5" y="14"/>
                    <a:pt x="5" y="28"/>
                  </a:cubicBezTo>
                  <a:cubicBezTo>
                    <a:pt x="3" y="28"/>
                    <a:pt x="3" y="28"/>
                    <a:pt x="3" y="28"/>
                  </a:cubicBezTo>
                  <a:cubicBezTo>
                    <a:pt x="2" y="28"/>
                    <a:pt x="0" y="29"/>
                    <a:pt x="0" y="31"/>
                  </a:cubicBezTo>
                  <a:cubicBezTo>
                    <a:pt x="0" y="39"/>
                    <a:pt x="0" y="39"/>
                    <a:pt x="0" y="39"/>
                  </a:cubicBezTo>
                  <a:cubicBezTo>
                    <a:pt x="0" y="40"/>
                    <a:pt x="2" y="41"/>
                    <a:pt x="3" y="41"/>
                  </a:cubicBezTo>
                  <a:close/>
                  <a:moveTo>
                    <a:pt x="31" y="2"/>
                  </a:moveTo>
                  <a:cubicBezTo>
                    <a:pt x="31" y="2"/>
                    <a:pt x="31" y="2"/>
                    <a:pt x="31" y="2"/>
                  </a:cubicBezTo>
                  <a:cubicBezTo>
                    <a:pt x="31" y="2"/>
                    <a:pt x="31" y="2"/>
                    <a:pt x="3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3" name="Group 52">
            <a:extLst>
              <a:ext uri="{FF2B5EF4-FFF2-40B4-BE49-F238E27FC236}">
                <a16:creationId xmlns:a16="http://schemas.microsoft.com/office/drawing/2014/main" id="{80B408B7-34BF-4867-9CD1-3BFFDA0D3810}"/>
              </a:ext>
            </a:extLst>
          </p:cNvPr>
          <p:cNvGrpSpPr>
            <a:grpSpLocks noChangeAspect="1"/>
          </p:cNvGrpSpPr>
          <p:nvPr/>
        </p:nvGrpSpPr>
        <p:grpSpPr>
          <a:xfrm>
            <a:off x="8063689" y="3555646"/>
            <a:ext cx="356703" cy="274320"/>
            <a:chOff x="7727949" y="5698858"/>
            <a:chExt cx="559093" cy="429966"/>
          </a:xfrm>
          <a:solidFill>
            <a:srgbClr val="595555"/>
          </a:solidFill>
        </p:grpSpPr>
        <p:sp>
          <p:nvSpPr>
            <p:cNvPr id="54" name="Freeform 862">
              <a:extLst>
                <a:ext uri="{FF2B5EF4-FFF2-40B4-BE49-F238E27FC236}">
                  <a16:creationId xmlns:a16="http://schemas.microsoft.com/office/drawing/2014/main" id="{B43C2D4F-D0A9-4B0F-8A8F-1882ECB75B40}"/>
                </a:ext>
              </a:extLst>
            </p:cNvPr>
            <p:cNvSpPr>
              <a:spLocks/>
            </p:cNvSpPr>
            <p:nvPr/>
          </p:nvSpPr>
          <p:spPr bwMode="auto">
            <a:xfrm>
              <a:off x="7727949" y="5698858"/>
              <a:ext cx="559093" cy="170338"/>
            </a:xfrm>
            <a:custGeom>
              <a:avLst/>
              <a:gdLst>
                <a:gd name="T0" fmla="*/ 41 w 82"/>
                <a:gd name="T1" fmla="*/ 0 h 25"/>
                <a:gd name="T2" fmla="*/ 0 w 82"/>
                <a:gd name="T3" fmla="*/ 20 h 25"/>
                <a:gd name="T4" fmla="*/ 5 w 82"/>
                <a:gd name="T5" fmla="*/ 25 h 25"/>
                <a:gd name="T6" fmla="*/ 41 w 82"/>
                <a:gd name="T7" fmla="*/ 8 h 25"/>
                <a:gd name="T8" fmla="*/ 77 w 82"/>
                <a:gd name="T9" fmla="*/ 25 h 25"/>
                <a:gd name="T10" fmla="*/ 82 w 82"/>
                <a:gd name="T11" fmla="*/ 20 h 25"/>
                <a:gd name="T12" fmla="*/ 41 w 8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82" h="25">
                  <a:moveTo>
                    <a:pt x="41" y="0"/>
                  </a:moveTo>
                  <a:cubicBezTo>
                    <a:pt x="24" y="0"/>
                    <a:pt x="10" y="8"/>
                    <a:pt x="0" y="20"/>
                  </a:cubicBezTo>
                  <a:cubicBezTo>
                    <a:pt x="5" y="25"/>
                    <a:pt x="5" y="25"/>
                    <a:pt x="5" y="25"/>
                  </a:cubicBezTo>
                  <a:cubicBezTo>
                    <a:pt x="14" y="15"/>
                    <a:pt x="27" y="8"/>
                    <a:pt x="41" y="8"/>
                  </a:cubicBezTo>
                  <a:cubicBezTo>
                    <a:pt x="56" y="8"/>
                    <a:pt x="68" y="15"/>
                    <a:pt x="77" y="25"/>
                  </a:cubicBezTo>
                  <a:cubicBezTo>
                    <a:pt x="82" y="20"/>
                    <a:pt x="82" y="20"/>
                    <a:pt x="82" y="20"/>
                  </a:cubicBezTo>
                  <a:cubicBezTo>
                    <a:pt x="73" y="8"/>
                    <a:pt x="58" y="0"/>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5" name="Freeform 863">
              <a:extLst>
                <a:ext uri="{FF2B5EF4-FFF2-40B4-BE49-F238E27FC236}">
                  <a16:creationId xmlns:a16="http://schemas.microsoft.com/office/drawing/2014/main" id="{349240B8-D570-4F85-9732-889626BD87E3}"/>
                </a:ext>
              </a:extLst>
            </p:cNvPr>
            <p:cNvSpPr>
              <a:spLocks/>
            </p:cNvSpPr>
            <p:nvPr/>
          </p:nvSpPr>
          <p:spPr bwMode="auto">
            <a:xfrm>
              <a:off x="7795260" y="5801885"/>
              <a:ext cx="424471" cy="142864"/>
            </a:xfrm>
            <a:custGeom>
              <a:avLst/>
              <a:gdLst>
                <a:gd name="T0" fmla="*/ 31 w 62"/>
                <a:gd name="T1" fmla="*/ 0 h 21"/>
                <a:gd name="T2" fmla="*/ 0 w 62"/>
                <a:gd name="T3" fmla="*/ 15 h 21"/>
                <a:gd name="T4" fmla="*/ 6 w 62"/>
                <a:gd name="T5" fmla="*/ 21 h 21"/>
                <a:gd name="T6" fmla="*/ 31 w 62"/>
                <a:gd name="T7" fmla="*/ 8 h 21"/>
                <a:gd name="T8" fmla="*/ 56 w 62"/>
                <a:gd name="T9" fmla="*/ 21 h 21"/>
                <a:gd name="T10" fmla="*/ 62 w 62"/>
                <a:gd name="T11" fmla="*/ 15 h 21"/>
                <a:gd name="T12" fmla="*/ 31 w 62"/>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62" h="21">
                  <a:moveTo>
                    <a:pt x="31" y="0"/>
                  </a:moveTo>
                  <a:cubicBezTo>
                    <a:pt x="18" y="0"/>
                    <a:pt x="7" y="6"/>
                    <a:pt x="0" y="15"/>
                  </a:cubicBezTo>
                  <a:cubicBezTo>
                    <a:pt x="6" y="21"/>
                    <a:pt x="6" y="21"/>
                    <a:pt x="6" y="21"/>
                  </a:cubicBezTo>
                  <a:cubicBezTo>
                    <a:pt x="11" y="13"/>
                    <a:pt x="21" y="8"/>
                    <a:pt x="31" y="8"/>
                  </a:cubicBezTo>
                  <a:cubicBezTo>
                    <a:pt x="42" y="8"/>
                    <a:pt x="51" y="13"/>
                    <a:pt x="56" y="21"/>
                  </a:cubicBezTo>
                  <a:cubicBezTo>
                    <a:pt x="62" y="15"/>
                    <a:pt x="62" y="15"/>
                    <a:pt x="62" y="15"/>
                  </a:cubicBezTo>
                  <a:cubicBezTo>
                    <a:pt x="55" y="6"/>
                    <a:pt x="4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864">
              <a:extLst>
                <a:ext uri="{FF2B5EF4-FFF2-40B4-BE49-F238E27FC236}">
                  <a16:creationId xmlns:a16="http://schemas.microsoft.com/office/drawing/2014/main" id="{F1860528-9159-4B98-9521-1A4B5FAD1116}"/>
                </a:ext>
              </a:extLst>
            </p:cNvPr>
            <p:cNvSpPr>
              <a:spLocks/>
            </p:cNvSpPr>
            <p:nvPr/>
          </p:nvSpPr>
          <p:spPr bwMode="auto">
            <a:xfrm>
              <a:off x="7870813" y="5896670"/>
              <a:ext cx="273365" cy="123632"/>
            </a:xfrm>
            <a:custGeom>
              <a:avLst/>
              <a:gdLst>
                <a:gd name="T0" fmla="*/ 20 w 40"/>
                <a:gd name="T1" fmla="*/ 0 h 18"/>
                <a:gd name="T2" fmla="*/ 0 w 40"/>
                <a:gd name="T3" fmla="*/ 12 h 18"/>
                <a:gd name="T4" fmla="*/ 6 w 40"/>
                <a:gd name="T5" fmla="*/ 18 h 18"/>
                <a:gd name="T6" fmla="*/ 20 w 40"/>
                <a:gd name="T7" fmla="*/ 8 h 18"/>
                <a:gd name="T8" fmla="*/ 35 w 40"/>
                <a:gd name="T9" fmla="*/ 18 h 18"/>
                <a:gd name="T10" fmla="*/ 40 w 40"/>
                <a:gd name="T11" fmla="*/ 12 h 18"/>
                <a:gd name="T12" fmla="*/ 20 w 40"/>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40" h="18">
                  <a:moveTo>
                    <a:pt x="20" y="0"/>
                  </a:moveTo>
                  <a:cubicBezTo>
                    <a:pt x="11" y="0"/>
                    <a:pt x="4" y="5"/>
                    <a:pt x="0" y="12"/>
                  </a:cubicBezTo>
                  <a:cubicBezTo>
                    <a:pt x="6" y="18"/>
                    <a:pt x="6" y="18"/>
                    <a:pt x="6" y="18"/>
                  </a:cubicBezTo>
                  <a:cubicBezTo>
                    <a:pt x="8" y="12"/>
                    <a:pt x="14" y="8"/>
                    <a:pt x="20" y="8"/>
                  </a:cubicBezTo>
                  <a:cubicBezTo>
                    <a:pt x="26" y="8"/>
                    <a:pt x="32" y="12"/>
                    <a:pt x="35" y="18"/>
                  </a:cubicBezTo>
                  <a:cubicBezTo>
                    <a:pt x="40" y="12"/>
                    <a:pt x="40" y="12"/>
                    <a:pt x="40" y="12"/>
                  </a:cubicBezTo>
                  <a:cubicBezTo>
                    <a:pt x="36" y="5"/>
                    <a:pt x="29"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7" name="Freeform 865">
              <a:extLst>
                <a:ext uri="{FF2B5EF4-FFF2-40B4-BE49-F238E27FC236}">
                  <a16:creationId xmlns:a16="http://schemas.microsoft.com/office/drawing/2014/main" id="{8699C89B-775C-4567-B1C2-6330EC7F1DAB}"/>
                </a:ext>
              </a:extLst>
            </p:cNvPr>
            <p:cNvSpPr>
              <a:spLocks/>
            </p:cNvSpPr>
            <p:nvPr/>
          </p:nvSpPr>
          <p:spPr bwMode="auto">
            <a:xfrm>
              <a:off x="7946366" y="5999697"/>
              <a:ext cx="122259" cy="129127"/>
            </a:xfrm>
            <a:custGeom>
              <a:avLst/>
              <a:gdLst>
                <a:gd name="T0" fmla="*/ 9 w 18"/>
                <a:gd name="T1" fmla="*/ 0 h 19"/>
                <a:gd name="T2" fmla="*/ 0 w 18"/>
                <a:gd name="T3" fmla="*/ 8 h 19"/>
                <a:gd name="T4" fmla="*/ 0 w 18"/>
                <a:gd name="T5" fmla="*/ 9 h 19"/>
                <a:gd name="T6" fmla="*/ 8 w 18"/>
                <a:gd name="T7" fmla="*/ 19 h 19"/>
                <a:gd name="T8" fmla="*/ 9 w 18"/>
                <a:gd name="T9" fmla="*/ 19 h 19"/>
                <a:gd name="T10" fmla="*/ 11 w 18"/>
                <a:gd name="T11" fmla="*/ 19 h 19"/>
                <a:gd name="T12" fmla="*/ 18 w 18"/>
                <a:gd name="T13" fmla="*/ 9 h 19"/>
                <a:gd name="T14" fmla="*/ 18 w 18"/>
                <a:gd name="T15" fmla="*/ 8 h 19"/>
                <a:gd name="T16" fmla="*/ 9 w 18"/>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9" y="0"/>
                  </a:moveTo>
                  <a:cubicBezTo>
                    <a:pt x="4" y="0"/>
                    <a:pt x="1" y="3"/>
                    <a:pt x="0" y="8"/>
                  </a:cubicBezTo>
                  <a:cubicBezTo>
                    <a:pt x="0" y="8"/>
                    <a:pt x="0" y="9"/>
                    <a:pt x="0" y="9"/>
                  </a:cubicBezTo>
                  <a:cubicBezTo>
                    <a:pt x="0" y="14"/>
                    <a:pt x="3" y="18"/>
                    <a:pt x="8" y="19"/>
                  </a:cubicBezTo>
                  <a:cubicBezTo>
                    <a:pt x="8" y="19"/>
                    <a:pt x="9" y="19"/>
                    <a:pt x="9" y="19"/>
                  </a:cubicBezTo>
                  <a:cubicBezTo>
                    <a:pt x="10" y="19"/>
                    <a:pt x="10" y="19"/>
                    <a:pt x="11" y="19"/>
                  </a:cubicBezTo>
                  <a:cubicBezTo>
                    <a:pt x="15" y="18"/>
                    <a:pt x="18" y="14"/>
                    <a:pt x="18" y="9"/>
                  </a:cubicBezTo>
                  <a:cubicBezTo>
                    <a:pt x="18" y="9"/>
                    <a:pt x="18" y="8"/>
                    <a:pt x="18" y="8"/>
                  </a:cubicBezTo>
                  <a:cubicBezTo>
                    <a:pt x="18" y="3"/>
                    <a:pt x="14" y="0"/>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8" name="Group 57">
            <a:extLst>
              <a:ext uri="{FF2B5EF4-FFF2-40B4-BE49-F238E27FC236}">
                <a16:creationId xmlns:a16="http://schemas.microsoft.com/office/drawing/2014/main" id="{08159BD5-257A-4942-9B6A-528A5210BE66}"/>
              </a:ext>
            </a:extLst>
          </p:cNvPr>
          <p:cNvGrpSpPr>
            <a:grpSpLocks noChangeAspect="1"/>
          </p:cNvGrpSpPr>
          <p:nvPr/>
        </p:nvGrpSpPr>
        <p:grpSpPr>
          <a:xfrm>
            <a:off x="6226847" y="3472831"/>
            <a:ext cx="264357" cy="274320"/>
            <a:chOff x="6204522" y="5630173"/>
            <a:chExt cx="546730" cy="567336"/>
          </a:xfrm>
          <a:solidFill>
            <a:srgbClr val="595555"/>
          </a:solidFill>
        </p:grpSpPr>
        <p:sp>
          <p:nvSpPr>
            <p:cNvPr id="59" name="Freeform 879">
              <a:extLst>
                <a:ext uri="{FF2B5EF4-FFF2-40B4-BE49-F238E27FC236}">
                  <a16:creationId xmlns:a16="http://schemas.microsoft.com/office/drawing/2014/main" id="{50E9E680-7523-4BBA-81C5-C91A22EF710C}"/>
                </a:ext>
              </a:extLst>
            </p:cNvPr>
            <p:cNvSpPr>
              <a:spLocks/>
            </p:cNvSpPr>
            <p:nvPr/>
          </p:nvSpPr>
          <p:spPr bwMode="auto">
            <a:xfrm>
              <a:off x="6204522" y="5630173"/>
              <a:ext cx="546730" cy="369524"/>
            </a:xfrm>
            <a:custGeom>
              <a:avLst/>
              <a:gdLst>
                <a:gd name="T0" fmla="*/ 67 w 80"/>
                <a:gd name="T1" fmla="*/ 26 h 54"/>
                <a:gd name="T2" fmla="*/ 69 w 80"/>
                <a:gd name="T3" fmla="*/ 19 h 54"/>
                <a:gd name="T4" fmla="*/ 50 w 80"/>
                <a:gd name="T5" fmla="*/ 0 h 54"/>
                <a:gd name="T6" fmla="*/ 33 w 80"/>
                <a:gd name="T7" fmla="*/ 15 h 54"/>
                <a:gd name="T8" fmla="*/ 22 w 80"/>
                <a:gd name="T9" fmla="*/ 10 h 54"/>
                <a:gd name="T10" fmla="*/ 9 w 80"/>
                <a:gd name="T11" fmla="*/ 23 h 54"/>
                <a:gd name="T12" fmla="*/ 9 w 80"/>
                <a:gd name="T13" fmla="*/ 27 h 54"/>
                <a:gd name="T14" fmla="*/ 0 w 80"/>
                <a:gd name="T15" fmla="*/ 40 h 54"/>
                <a:gd name="T16" fmla="*/ 14 w 80"/>
                <a:gd name="T17" fmla="*/ 54 h 54"/>
                <a:gd name="T18" fmla="*/ 66 w 80"/>
                <a:gd name="T19" fmla="*/ 54 h 54"/>
                <a:gd name="T20" fmla="*/ 80 w 80"/>
                <a:gd name="T21" fmla="*/ 40 h 54"/>
                <a:gd name="T22" fmla="*/ 67 w 80"/>
                <a:gd name="T23" fmla="*/ 26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0" h="54">
                  <a:moveTo>
                    <a:pt x="67" y="26"/>
                  </a:moveTo>
                  <a:cubicBezTo>
                    <a:pt x="68" y="24"/>
                    <a:pt x="69" y="21"/>
                    <a:pt x="69" y="19"/>
                  </a:cubicBezTo>
                  <a:cubicBezTo>
                    <a:pt x="69" y="9"/>
                    <a:pt x="61" y="0"/>
                    <a:pt x="50" y="0"/>
                  </a:cubicBezTo>
                  <a:cubicBezTo>
                    <a:pt x="42" y="0"/>
                    <a:pt x="34" y="6"/>
                    <a:pt x="33" y="15"/>
                  </a:cubicBezTo>
                  <a:cubicBezTo>
                    <a:pt x="30" y="12"/>
                    <a:pt x="26" y="10"/>
                    <a:pt x="22" y="10"/>
                  </a:cubicBezTo>
                  <a:cubicBezTo>
                    <a:pt x="15" y="10"/>
                    <a:pt x="9" y="16"/>
                    <a:pt x="9" y="23"/>
                  </a:cubicBezTo>
                  <a:cubicBezTo>
                    <a:pt x="9" y="24"/>
                    <a:pt x="9" y="26"/>
                    <a:pt x="9" y="27"/>
                  </a:cubicBezTo>
                  <a:cubicBezTo>
                    <a:pt x="4" y="29"/>
                    <a:pt x="0" y="34"/>
                    <a:pt x="0" y="40"/>
                  </a:cubicBezTo>
                  <a:cubicBezTo>
                    <a:pt x="0" y="47"/>
                    <a:pt x="6" y="54"/>
                    <a:pt x="14" y="54"/>
                  </a:cubicBezTo>
                  <a:cubicBezTo>
                    <a:pt x="66" y="54"/>
                    <a:pt x="66" y="54"/>
                    <a:pt x="66" y="54"/>
                  </a:cubicBezTo>
                  <a:cubicBezTo>
                    <a:pt x="74" y="54"/>
                    <a:pt x="80" y="47"/>
                    <a:pt x="80" y="40"/>
                  </a:cubicBezTo>
                  <a:cubicBezTo>
                    <a:pt x="80" y="33"/>
                    <a:pt x="74" y="27"/>
                    <a:pt x="6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0" name="Freeform 880">
              <a:extLst>
                <a:ext uri="{FF2B5EF4-FFF2-40B4-BE49-F238E27FC236}">
                  <a16:creationId xmlns:a16="http://schemas.microsoft.com/office/drawing/2014/main" id="{C661710F-A136-4D72-B737-E62DD63F3BA1}"/>
                </a:ext>
              </a:extLst>
            </p:cNvPr>
            <p:cNvSpPr>
              <a:spLocks/>
            </p:cNvSpPr>
            <p:nvPr/>
          </p:nvSpPr>
          <p:spPr bwMode="auto">
            <a:xfrm>
              <a:off x="6396839" y="6013434"/>
              <a:ext cx="163470" cy="184075"/>
            </a:xfrm>
            <a:custGeom>
              <a:avLst/>
              <a:gdLst>
                <a:gd name="T0" fmla="*/ 21 w 24"/>
                <a:gd name="T1" fmla="*/ 12 h 27"/>
                <a:gd name="T2" fmla="*/ 20 w 24"/>
                <a:gd name="T3" fmla="*/ 12 h 27"/>
                <a:gd name="T4" fmla="*/ 15 w 24"/>
                <a:gd name="T5" fmla="*/ 17 h 27"/>
                <a:gd name="T6" fmla="*/ 15 w 24"/>
                <a:gd name="T7" fmla="*/ 1 h 27"/>
                <a:gd name="T8" fmla="*/ 14 w 24"/>
                <a:gd name="T9" fmla="*/ 0 h 27"/>
                <a:gd name="T10" fmla="*/ 10 w 24"/>
                <a:gd name="T11" fmla="*/ 0 h 27"/>
                <a:gd name="T12" fmla="*/ 9 w 24"/>
                <a:gd name="T13" fmla="*/ 1 h 27"/>
                <a:gd name="T14" fmla="*/ 9 w 24"/>
                <a:gd name="T15" fmla="*/ 17 h 27"/>
                <a:gd name="T16" fmla="*/ 4 w 24"/>
                <a:gd name="T17" fmla="*/ 12 h 27"/>
                <a:gd name="T18" fmla="*/ 3 w 24"/>
                <a:gd name="T19" fmla="*/ 12 h 27"/>
                <a:gd name="T20" fmla="*/ 1 w 24"/>
                <a:gd name="T21" fmla="*/ 14 h 27"/>
                <a:gd name="T22" fmla="*/ 1 w 24"/>
                <a:gd name="T23" fmla="*/ 16 h 27"/>
                <a:gd name="T24" fmla="*/ 8 w 24"/>
                <a:gd name="T25" fmla="*/ 24 h 27"/>
                <a:gd name="T26" fmla="*/ 11 w 24"/>
                <a:gd name="T27" fmla="*/ 27 h 27"/>
                <a:gd name="T28" fmla="*/ 13 w 24"/>
                <a:gd name="T29" fmla="*/ 27 h 27"/>
                <a:gd name="T30" fmla="*/ 16 w 24"/>
                <a:gd name="T31" fmla="*/ 24 h 27"/>
                <a:gd name="T32" fmla="*/ 24 w 24"/>
                <a:gd name="T33" fmla="*/ 16 h 27"/>
                <a:gd name="T34" fmla="*/ 24 w 24"/>
                <a:gd name="T35" fmla="*/ 14 h 27"/>
                <a:gd name="T36" fmla="*/ 21 w 24"/>
                <a:gd name="T37"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 h="27">
                  <a:moveTo>
                    <a:pt x="21" y="12"/>
                  </a:moveTo>
                  <a:cubicBezTo>
                    <a:pt x="21" y="12"/>
                    <a:pt x="20" y="12"/>
                    <a:pt x="20" y="12"/>
                  </a:cubicBezTo>
                  <a:cubicBezTo>
                    <a:pt x="15" y="17"/>
                    <a:pt x="15" y="17"/>
                    <a:pt x="15" y="17"/>
                  </a:cubicBezTo>
                  <a:cubicBezTo>
                    <a:pt x="15" y="1"/>
                    <a:pt x="15" y="1"/>
                    <a:pt x="15" y="1"/>
                  </a:cubicBezTo>
                  <a:cubicBezTo>
                    <a:pt x="15" y="1"/>
                    <a:pt x="14" y="0"/>
                    <a:pt x="14" y="0"/>
                  </a:cubicBezTo>
                  <a:cubicBezTo>
                    <a:pt x="10" y="0"/>
                    <a:pt x="10" y="0"/>
                    <a:pt x="10" y="0"/>
                  </a:cubicBezTo>
                  <a:cubicBezTo>
                    <a:pt x="10" y="0"/>
                    <a:pt x="9" y="1"/>
                    <a:pt x="9" y="1"/>
                  </a:cubicBezTo>
                  <a:cubicBezTo>
                    <a:pt x="9" y="17"/>
                    <a:pt x="9" y="17"/>
                    <a:pt x="9" y="17"/>
                  </a:cubicBezTo>
                  <a:cubicBezTo>
                    <a:pt x="4" y="12"/>
                    <a:pt x="4" y="12"/>
                    <a:pt x="4" y="12"/>
                  </a:cubicBezTo>
                  <a:cubicBezTo>
                    <a:pt x="4" y="12"/>
                    <a:pt x="3" y="12"/>
                    <a:pt x="3" y="12"/>
                  </a:cubicBezTo>
                  <a:cubicBezTo>
                    <a:pt x="1" y="14"/>
                    <a:pt x="1" y="14"/>
                    <a:pt x="1" y="14"/>
                  </a:cubicBezTo>
                  <a:cubicBezTo>
                    <a:pt x="0" y="15"/>
                    <a:pt x="0" y="16"/>
                    <a:pt x="1" y="16"/>
                  </a:cubicBezTo>
                  <a:cubicBezTo>
                    <a:pt x="8" y="24"/>
                    <a:pt x="8" y="24"/>
                    <a:pt x="8" y="24"/>
                  </a:cubicBezTo>
                  <a:cubicBezTo>
                    <a:pt x="11" y="27"/>
                    <a:pt x="11" y="27"/>
                    <a:pt x="11" y="27"/>
                  </a:cubicBezTo>
                  <a:cubicBezTo>
                    <a:pt x="12" y="27"/>
                    <a:pt x="12" y="27"/>
                    <a:pt x="13" y="27"/>
                  </a:cubicBezTo>
                  <a:cubicBezTo>
                    <a:pt x="16" y="24"/>
                    <a:pt x="16" y="24"/>
                    <a:pt x="16" y="24"/>
                  </a:cubicBezTo>
                  <a:cubicBezTo>
                    <a:pt x="24" y="16"/>
                    <a:pt x="24" y="16"/>
                    <a:pt x="24" y="16"/>
                  </a:cubicBezTo>
                  <a:cubicBezTo>
                    <a:pt x="24" y="16"/>
                    <a:pt x="24" y="15"/>
                    <a:pt x="24" y="14"/>
                  </a:cubicBezTo>
                  <a:lnTo>
                    <a:pt x="21"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1" name="Freeform 885">
            <a:extLst>
              <a:ext uri="{FF2B5EF4-FFF2-40B4-BE49-F238E27FC236}">
                <a16:creationId xmlns:a16="http://schemas.microsoft.com/office/drawing/2014/main" id="{021DB825-1518-45BC-9E9C-AA646C25E39A}"/>
              </a:ext>
            </a:extLst>
          </p:cNvPr>
          <p:cNvSpPr>
            <a:spLocks noChangeAspect="1" noEditPoints="1"/>
          </p:cNvSpPr>
          <p:nvPr/>
        </p:nvSpPr>
        <p:spPr bwMode="auto">
          <a:xfrm>
            <a:off x="9059128" y="3464550"/>
            <a:ext cx="206226" cy="274320"/>
          </a:xfrm>
          <a:custGeom>
            <a:avLst/>
            <a:gdLst>
              <a:gd name="T0" fmla="*/ 57 w 64"/>
              <a:gd name="T1" fmla="*/ 37 h 85"/>
              <a:gd name="T2" fmla="*/ 53 w 64"/>
              <a:gd name="T3" fmla="*/ 12 h 85"/>
              <a:gd name="T4" fmla="*/ 33 w 64"/>
              <a:gd name="T5" fmla="*/ 0 h 85"/>
              <a:gd name="T6" fmla="*/ 9 w 64"/>
              <a:gd name="T7" fmla="*/ 14 h 85"/>
              <a:gd name="T8" fmla="*/ 7 w 64"/>
              <a:gd name="T9" fmla="*/ 37 h 85"/>
              <a:gd name="T10" fmla="*/ 0 w 64"/>
              <a:gd name="T11" fmla="*/ 40 h 85"/>
              <a:gd name="T12" fmla="*/ 3 w 64"/>
              <a:gd name="T13" fmla="*/ 85 h 85"/>
              <a:gd name="T14" fmla="*/ 64 w 64"/>
              <a:gd name="T15" fmla="*/ 83 h 85"/>
              <a:gd name="T16" fmla="*/ 61 w 64"/>
              <a:gd name="T17" fmla="*/ 37 h 85"/>
              <a:gd name="T18" fmla="*/ 36 w 64"/>
              <a:gd name="T19" fmla="*/ 72 h 85"/>
              <a:gd name="T20" fmla="*/ 28 w 64"/>
              <a:gd name="T21" fmla="*/ 72 h 85"/>
              <a:gd name="T22" fmla="*/ 23 w 64"/>
              <a:gd name="T23" fmla="*/ 56 h 85"/>
              <a:gd name="T24" fmla="*/ 41 w 64"/>
              <a:gd name="T25" fmla="*/ 56 h 85"/>
              <a:gd name="T26" fmla="*/ 49 w 64"/>
              <a:gd name="T27" fmla="*/ 37 h 85"/>
              <a:gd name="T28" fmla="*/ 15 w 64"/>
              <a:gd name="T29" fmla="*/ 26 h 85"/>
              <a:gd name="T30" fmla="*/ 28 w 64"/>
              <a:gd name="T31" fmla="*/ 9 h 85"/>
              <a:gd name="T32" fmla="*/ 29 w 64"/>
              <a:gd name="T33" fmla="*/ 8 h 85"/>
              <a:gd name="T34" fmla="*/ 31 w 64"/>
              <a:gd name="T35" fmla="*/ 8 h 85"/>
              <a:gd name="T36" fmla="*/ 32 w 64"/>
              <a:gd name="T37" fmla="*/ 8 h 85"/>
              <a:gd name="T38" fmla="*/ 33 w 64"/>
              <a:gd name="T39" fmla="*/ 8 h 85"/>
              <a:gd name="T40" fmla="*/ 34 w 64"/>
              <a:gd name="T41" fmla="*/ 8 h 85"/>
              <a:gd name="T42" fmla="*/ 36 w 64"/>
              <a:gd name="T43" fmla="*/ 8 h 85"/>
              <a:gd name="T44" fmla="*/ 38 w 64"/>
              <a:gd name="T45" fmla="*/ 9 h 85"/>
              <a:gd name="T46" fmla="*/ 39 w 64"/>
              <a:gd name="T47" fmla="*/ 10 h 85"/>
              <a:gd name="T48" fmla="*/ 41 w 64"/>
              <a:gd name="T49" fmla="*/ 10 h 85"/>
              <a:gd name="T50" fmla="*/ 42 w 64"/>
              <a:gd name="T51" fmla="*/ 11 h 85"/>
              <a:gd name="T52" fmla="*/ 44 w 64"/>
              <a:gd name="T53" fmla="*/ 12 h 85"/>
              <a:gd name="T54" fmla="*/ 45 w 64"/>
              <a:gd name="T55" fmla="*/ 14 h 85"/>
              <a:gd name="T56" fmla="*/ 46 w 64"/>
              <a:gd name="T57" fmla="*/ 15 h 85"/>
              <a:gd name="T58" fmla="*/ 47 w 64"/>
              <a:gd name="T59" fmla="*/ 16 h 85"/>
              <a:gd name="T60" fmla="*/ 48 w 64"/>
              <a:gd name="T61" fmla="*/ 18 h 85"/>
              <a:gd name="T62" fmla="*/ 48 w 64"/>
              <a:gd name="T63" fmla="*/ 19 h 85"/>
              <a:gd name="T64" fmla="*/ 49 w 64"/>
              <a:gd name="T65" fmla="*/ 21 h 85"/>
              <a:gd name="T66" fmla="*/ 49 w 64"/>
              <a:gd name="T67" fmla="*/ 23 h 85"/>
              <a:gd name="T68" fmla="*/ 49 w 64"/>
              <a:gd name="T69" fmla="*/ 2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85">
                <a:moveTo>
                  <a:pt x="61" y="37"/>
                </a:moveTo>
                <a:cubicBezTo>
                  <a:pt x="57" y="37"/>
                  <a:pt x="57" y="37"/>
                  <a:pt x="57" y="37"/>
                </a:cubicBezTo>
                <a:cubicBezTo>
                  <a:pt x="57" y="26"/>
                  <a:pt x="57" y="26"/>
                  <a:pt x="57" y="26"/>
                </a:cubicBezTo>
                <a:cubicBezTo>
                  <a:pt x="57" y="21"/>
                  <a:pt x="56" y="16"/>
                  <a:pt x="53" y="12"/>
                </a:cubicBezTo>
                <a:cubicBezTo>
                  <a:pt x="52" y="10"/>
                  <a:pt x="51" y="8"/>
                  <a:pt x="49" y="7"/>
                </a:cubicBezTo>
                <a:cubicBezTo>
                  <a:pt x="45" y="3"/>
                  <a:pt x="39" y="0"/>
                  <a:pt x="33" y="0"/>
                </a:cubicBezTo>
                <a:cubicBezTo>
                  <a:pt x="26" y="0"/>
                  <a:pt x="20" y="2"/>
                  <a:pt x="15" y="7"/>
                </a:cubicBezTo>
                <a:cubicBezTo>
                  <a:pt x="13" y="9"/>
                  <a:pt x="11" y="11"/>
                  <a:pt x="9" y="14"/>
                </a:cubicBezTo>
                <a:cubicBezTo>
                  <a:pt x="8" y="17"/>
                  <a:pt x="7" y="21"/>
                  <a:pt x="7" y="25"/>
                </a:cubicBezTo>
                <a:cubicBezTo>
                  <a:pt x="7" y="37"/>
                  <a:pt x="7" y="37"/>
                  <a:pt x="7" y="37"/>
                </a:cubicBezTo>
                <a:cubicBezTo>
                  <a:pt x="3" y="37"/>
                  <a:pt x="3" y="37"/>
                  <a:pt x="3" y="37"/>
                </a:cubicBezTo>
                <a:cubicBezTo>
                  <a:pt x="1" y="37"/>
                  <a:pt x="0" y="38"/>
                  <a:pt x="0" y="40"/>
                </a:cubicBezTo>
                <a:cubicBezTo>
                  <a:pt x="0" y="83"/>
                  <a:pt x="0" y="83"/>
                  <a:pt x="0" y="83"/>
                </a:cubicBezTo>
                <a:cubicBezTo>
                  <a:pt x="0" y="84"/>
                  <a:pt x="1" y="85"/>
                  <a:pt x="3" y="85"/>
                </a:cubicBezTo>
                <a:cubicBezTo>
                  <a:pt x="61" y="85"/>
                  <a:pt x="61" y="85"/>
                  <a:pt x="61" y="85"/>
                </a:cubicBezTo>
                <a:cubicBezTo>
                  <a:pt x="63" y="85"/>
                  <a:pt x="64" y="84"/>
                  <a:pt x="64" y="83"/>
                </a:cubicBezTo>
                <a:cubicBezTo>
                  <a:pt x="64" y="40"/>
                  <a:pt x="64" y="40"/>
                  <a:pt x="64" y="40"/>
                </a:cubicBezTo>
                <a:cubicBezTo>
                  <a:pt x="64" y="38"/>
                  <a:pt x="63" y="37"/>
                  <a:pt x="61" y="37"/>
                </a:cubicBezTo>
                <a:close/>
                <a:moveTo>
                  <a:pt x="36" y="64"/>
                </a:moveTo>
                <a:cubicBezTo>
                  <a:pt x="36" y="72"/>
                  <a:pt x="36" y="72"/>
                  <a:pt x="36" y="72"/>
                </a:cubicBezTo>
                <a:cubicBezTo>
                  <a:pt x="36" y="74"/>
                  <a:pt x="34" y="76"/>
                  <a:pt x="32" y="76"/>
                </a:cubicBezTo>
                <a:cubicBezTo>
                  <a:pt x="30" y="76"/>
                  <a:pt x="28" y="74"/>
                  <a:pt x="28" y="72"/>
                </a:cubicBezTo>
                <a:cubicBezTo>
                  <a:pt x="28" y="64"/>
                  <a:pt x="28" y="64"/>
                  <a:pt x="28" y="64"/>
                </a:cubicBezTo>
                <a:cubicBezTo>
                  <a:pt x="25" y="63"/>
                  <a:pt x="23" y="59"/>
                  <a:pt x="23" y="56"/>
                </a:cubicBezTo>
                <a:cubicBezTo>
                  <a:pt x="23" y="51"/>
                  <a:pt x="27" y="47"/>
                  <a:pt x="32" y="47"/>
                </a:cubicBezTo>
                <a:cubicBezTo>
                  <a:pt x="37" y="47"/>
                  <a:pt x="41" y="51"/>
                  <a:pt x="41" y="56"/>
                </a:cubicBezTo>
                <a:cubicBezTo>
                  <a:pt x="41" y="60"/>
                  <a:pt x="39" y="63"/>
                  <a:pt x="36" y="64"/>
                </a:cubicBezTo>
                <a:close/>
                <a:moveTo>
                  <a:pt x="49" y="37"/>
                </a:moveTo>
                <a:cubicBezTo>
                  <a:pt x="15" y="37"/>
                  <a:pt x="15" y="37"/>
                  <a:pt x="15" y="37"/>
                </a:cubicBezTo>
                <a:cubicBezTo>
                  <a:pt x="15" y="26"/>
                  <a:pt x="15" y="26"/>
                  <a:pt x="15" y="26"/>
                </a:cubicBezTo>
                <a:cubicBezTo>
                  <a:pt x="15" y="25"/>
                  <a:pt x="15" y="25"/>
                  <a:pt x="15" y="25"/>
                </a:cubicBezTo>
                <a:cubicBezTo>
                  <a:pt x="15" y="17"/>
                  <a:pt x="20" y="10"/>
                  <a:pt x="28" y="9"/>
                </a:cubicBezTo>
                <a:cubicBezTo>
                  <a:pt x="28" y="8"/>
                  <a:pt x="28" y="8"/>
                  <a:pt x="28" y="8"/>
                </a:cubicBezTo>
                <a:cubicBezTo>
                  <a:pt x="28" y="8"/>
                  <a:pt x="29" y="8"/>
                  <a:pt x="29" y="8"/>
                </a:cubicBezTo>
                <a:cubicBezTo>
                  <a:pt x="29" y="8"/>
                  <a:pt x="30" y="8"/>
                  <a:pt x="30" y="8"/>
                </a:cubicBezTo>
                <a:cubicBezTo>
                  <a:pt x="30" y="8"/>
                  <a:pt x="30" y="8"/>
                  <a:pt x="31" y="8"/>
                </a:cubicBezTo>
                <a:cubicBezTo>
                  <a:pt x="31" y="8"/>
                  <a:pt x="31" y="8"/>
                  <a:pt x="31" y="8"/>
                </a:cubicBezTo>
                <a:cubicBezTo>
                  <a:pt x="31" y="8"/>
                  <a:pt x="32" y="8"/>
                  <a:pt x="32" y="8"/>
                </a:cubicBezTo>
                <a:cubicBezTo>
                  <a:pt x="32" y="8"/>
                  <a:pt x="32" y="8"/>
                  <a:pt x="32" y="8"/>
                </a:cubicBezTo>
                <a:cubicBezTo>
                  <a:pt x="32" y="8"/>
                  <a:pt x="32" y="8"/>
                  <a:pt x="33" y="8"/>
                </a:cubicBezTo>
                <a:cubicBezTo>
                  <a:pt x="33" y="8"/>
                  <a:pt x="33" y="8"/>
                  <a:pt x="33" y="8"/>
                </a:cubicBezTo>
                <a:cubicBezTo>
                  <a:pt x="34" y="8"/>
                  <a:pt x="34" y="8"/>
                  <a:pt x="34" y="8"/>
                </a:cubicBezTo>
                <a:cubicBezTo>
                  <a:pt x="35" y="8"/>
                  <a:pt x="35" y="8"/>
                  <a:pt x="35" y="8"/>
                </a:cubicBezTo>
                <a:cubicBezTo>
                  <a:pt x="36" y="8"/>
                  <a:pt x="36" y="8"/>
                  <a:pt x="36" y="8"/>
                </a:cubicBezTo>
                <a:cubicBezTo>
                  <a:pt x="36" y="8"/>
                  <a:pt x="37" y="9"/>
                  <a:pt x="37" y="9"/>
                </a:cubicBezTo>
                <a:cubicBezTo>
                  <a:pt x="37" y="9"/>
                  <a:pt x="37" y="9"/>
                  <a:pt x="38" y="9"/>
                </a:cubicBezTo>
                <a:cubicBezTo>
                  <a:pt x="38" y="9"/>
                  <a:pt x="38" y="9"/>
                  <a:pt x="39" y="9"/>
                </a:cubicBezTo>
                <a:cubicBezTo>
                  <a:pt x="39" y="9"/>
                  <a:pt x="39" y="9"/>
                  <a:pt x="39" y="10"/>
                </a:cubicBezTo>
                <a:cubicBezTo>
                  <a:pt x="40" y="10"/>
                  <a:pt x="40" y="10"/>
                  <a:pt x="40" y="10"/>
                </a:cubicBezTo>
                <a:cubicBezTo>
                  <a:pt x="40" y="10"/>
                  <a:pt x="41" y="10"/>
                  <a:pt x="41" y="10"/>
                </a:cubicBezTo>
                <a:cubicBezTo>
                  <a:pt x="41" y="10"/>
                  <a:pt x="41" y="11"/>
                  <a:pt x="42" y="11"/>
                </a:cubicBezTo>
                <a:cubicBezTo>
                  <a:pt x="42" y="11"/>
                  <a:pt x="42" y="11"/>
                  <a:pt x="42" y="11"/>
                </a:cubicBezTo>
                <a:cubicBezTo>
                  <a:pt x="43" y="11"/>
                  <a:pt x="43" y="12"/>
                  <a:pt x="43" y="12"/>
                </a:cubicBezTo>
                <a:cubicBezTo>
                  <a:pt x="43" y="12"/>
                  <a:pt x="43" y="12"/>
                  <a:pt x="44" y="12"/>
                </a:cubicBezTo>
                <a:cubicBezTo>
                  <a:pt x="44" y="13"/>
                  <a:pt x="44" y="13"/>
                  <a:pt x="44" y="13"/>
                </a:cubicBezTo>
                <a:cubicBezTo>
                  <a:pt x="44" y="13"/>
                  <a:pt x="45" y="13"/>
                  <a:pt x="45" y="14"/>
                </a:cubicBezTo>
                <a:cubicBezTo>
                  <a:pt x="45" y="14"/>
                  <a:pt x="45" y="14"/>
                  <a:pt x="45" y="14"/>
                </a:cubicBezTo>
                <a:cubicBezTo>
                  <a:pt x="46" y="14"/>
                  <a:pt x="46" y="15"/>
                  <a:pt x="46" y="15"/>
                </a:cubicBezTo>
                <a:cubicBezTo>
                  <a:pt x="46" y="15"/>
                  <a:pt x="46" y="15"/>
                  <a:pt x="46" y="15"/>
                </a:cubicBezTo>
                <a:cubicBezTo>
                  <a:pt x="47" y="16"/>
                  <a:pt x="47" y="16"/>
                  <a:pt x="47" y="16"/>
                </a:cubicBezTo>
                <a:cubicBezTo>
                  <a:pt x="47" y="16"/>
                  <a:pt x="47" y="17"/>
                  <a:pt x="47" y="17"/>
                </a:cubicBezTo>
                <a:cubicBezTo>
                  <a:pt x="47" y="17"/>
                  <a:pt x="48" y="17"/>
                  <a:pt x="48" y="18"/>
                </a:cubicBezTo>
                <a:cubicBezTo>
                  <a:pt x="48" y="18"/>
                  <a:pt x="48" y="18"/>
                  <a:pt x="48" y="18"/>
                </a:cubicBezTo>
                <a:cubicBezTo>
                  <a:pt x="48" y="19"/>
                  <a:pt x="48" y="19"/>
                  <a:pt x="48" y="19"/>
                </a:cubicBezTo>
                <a:cubicBezTo>
                  <a:pt x="48" y="20"/>
                  <a:pt x="49" y="20"/>
                  <a:pt x="49" y="20"/>
                </a:cubicBezTo>
                <a:cubicBezTo>
                  <a:pt x="49" y="20"/>
                  <a:pt x="49" y="21"/>
                  <a:pt x="49" y="21"/>
                </a:cubicBezTo>
                <a:cubicBezTo>
                  <a:pt x="49" y="21"/>
                  <a:pt x="49" y="21"/>
                  <a:pt x="49" y="22"/>
                </a:cubicBezTo>
                <a:cubicBezTo>
                  <a:pt x="49" y="22"/>
                  <a:pt x="49" y="22"/>
                  <a:pt x="49" y="23"/>
                </a:cubicBezTo>
                <a:cubicBezTo>
                  <a:pt x="49" y="23"/>
                  <a:pt x="49" y="23"/>
                  <a:pt x="49" y="23"/>
                </a:cubicBezTo>
                <a:cubicBezTo>
                  <a:pt x="49" y="24"/>
                  <a:pt x="49" y="25"/>
                  <a:pt x="49" y="25"/>
                </a:cubicBezTo>
                <a:lnTo>
                  <a:pt x="49" y="37"/>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62" name="Group 61">
            <a:extLst>
              <a:ext uri="{FF2B5EF4-FFF2-40B4-BE49-F238E27FC236}">
                <a16:creationId xmlns:a16="http://schemas.microsoft.com/office/drawing/2014/main" id="{9DD71405-6B3D-4E79-99E1-29308B380D55}"/>
              </a:ext>
            </a:extLst>
          </p:cNvPr>
          <p:cNvGrpSpPr>
            <a:grpSpLocks noChangeAspect="1"/>
          </p:cNvGrpSpPr>
          <p:nvPr/>
        </p:nvGrpSpPr>
        <p:grpSpPr>
          <a:xfrm>
            <a:off x="4383381" y="3464550"/>
            <a:ext cx="258108" cy="274320"/>
            <a:chOff x="4675600" y="5623305"/>
            <a:chExt cx="546730" cy="581072"/>
          </a:xfrm>
          <a:solidFill>
            <a:srgbClr val="595555"/>
          </a:solidFill>
        </p:grpSpPr>
        <p:sp>
          <p:nvSpPr>
            <p:cNvPr id="63" name="Oval 909">
              <a:extLst>
                <a:ext uri="{FF2B5EF4-FFF2-40B4-BE49-F238E27FC236}">
                  <a16:creationId xmlns:a16="http://schemas.microsoft.com/office/drawing/2014/main" id="{36BAF89B-0770-43A9-B1F8-41F3B7B693A1}"/>
                </a:ext>
              </a:extLst>
            </p:cNvPr>
            <p:cNvSpPr>
              <a:spLocks noChangeArrowheads="1"/>
            </p:cNvSpPr>
            <p:nvPr/>
          </p:nvSpPr>
          <p:spPr bwMode="auto">
            <a:xfrm>
              <a:off x="4819838" y="6080745"/>
              <a:ext cx="129127" cy="12363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Oval 910">
              <a:extLst>
                <a:ext uri="{FF2B5EF4-FFF2-40B4-BE49-F238E27FC236}">
                  <a16:creationId xmlns:a16="http://schemas.microsoft.com/office/drawing/2014/main" id="{41D233C8-E53D-46D1-A0FF-0D5CE07C6CAF}"/>
                </a:ext>
              </a:extLst>
            </p:cNvPr>
            <p:cNvSpPr>
              <a:spLocks noChangeArrowheads="1"/>
            </p:cNvSpPr>
            <p:nvPr/>
          </p:nvSpPr>
          <p:spPr bwMode="auto">
            <a:xfrm>
              <a:off x="5038256" y="6080745"/>
              <a:ext cx="129127" cy="12363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911">
              <a:extLst>
                <a:ext uri="{FF2B5EF4-FFF2-40B4-BE49-F238E27FC236}">
                  <a16:creationId xmlns:a16="http://schemas.microsoft.com/office/drawing/2014/main" id="{9289AD1E-68E8-4C81-B58A-2BBC85760E63}"/>
                </a:ext>
              </a:extLst>
            </p:cNvPr>
            <p:cNvSpPr>
              <a:spLocks/>
            </p:cNvSpPr>
            <p:nvPr/>
          </p:nvSpPr>
          <p:spPr bwMode="auto">
            <a:xfrm>
              <a:off x="4675600" y="5623305"/>
              <a:ext cx="546730" cy="438208"/>
            </a:xfrm>
            <a:custGeom>
              <a:avLst/>
              <a:gdLst>
                <a:gd name="T0" fmla="*/ 80 w 80"/>
                <a:gd name="T1" fmla="*/ 21 h 64"/>
                <a:gd name="T2" fmla="*/ 77 w 80"/>
                <a:gd name="T3" fmla="*/ 19 h 64"/>
                <a:gd name="T4" fmla="*/ 71 w 80"/>
                <a:gd name="T5" fmla="*/ 19 h 64"/>
                <a:gd name="T6" fmla="*/ 65 w 80"/>
                <a:gd name="T7" fmla="*/ 19 h 64"/>
                <a:gd name="T8" fmla="*/ 20 w 80"/>
                <a:gd name="T9" fmla="*/ 19 h 64"/>
                <a:gd name="T10" fmla="*/ 17 w 80"/>
                <a:gd name="T11" fmla="*/ 5 h 64"/>
                <a:gd name="T12" fmla="*/ 16 w 80"/>
                <a:gd name="T13" fmla="*/ 3 h 64"/>
                <a:gd name="T14" fmla="*/ 3 w 80"/>
                <a:gd name="T15" fmla="*/ 0 h 64"/>
                <a:gd name="T16" fmla="*/ 0 w 80"/>
                <a:gd name="T17" fmla="*/ 3 h 64"/>
                <a:gd name="T18" fmla="*/ 0 w 80"/>
                <a:gd name="T19" fmla="*/ 4 h 64"/>
                <a:gd name="T20" fmla="*/ 2 w 80"/>
                <a:gd name="T21" fmla="*/ 7 h 64"/>
                <a:gd name="T22" fmla="*/ 11 w 80"/>
                <a:gd name="T23" fmla="*/ 9 h 64"/>
                <a:gd name="T24" fmla="*/ 20 w 80"/>
                <a:gd name="T25" fmla="*/ 62 h 64"/>
                <a:gd name="T26" fmla="*/ 23 w 80"/>
                <a:gd name="T27" fmla="*/ 64 h 64"/>
                <a:gd name="T28" fmla="*/ 72 w 80"/>
                <a:gd name="T29" fmla="*/ 64 h 64"/>
                <a:gd name="T30" fmla="*/ 75 w 80"/>
                <a:gd name="T31" fmla="*/ 61 h 64"/>
                <a:gd name="T32" fmla="*/ 75 w 80"/>
                <a:gd name="T33" fmla="*/ 60 h 64"/>
                <a:gd name="T34" fmla="*/ 72 w 80"/>
                <a:gd name="T35" fmla="*/ 57 h 64"/>
                <a:gd name="T36" fmla="*/ 27 w 80"/>
                <a:gd name="T37" fmla="*/ 57 h 64"/>
                <a:gd name="T38" fmla="*/ 26 w 80"/>
                <a:gd name="T39" fmla="*/ 52 h 64"/>
                <a:gd name="T40" fmla="*/ 69 w 80"/>
                <a:gd name="T41" fmla="*/ 52 h 64"/>
                <a:gd name="T42" fmla="*/ 71 w 80"/>
                <a:gd name="T43" fmla="*/ 50 h 64"/>
                <a:gd name="T44" fmla="*/ 80 w 80"/>
                <a:gd name="T45"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 h="64">
                  <a:moveTo>
                    <a:pt x="80" y="21"/>
                  </a:moveTo>
                  <a:cubicBezTo>
                    <a:pt x="80" y="20"/>
                    <a:pt x="79" y="19"/>
                    <a:pt x="77" y="19"/>
                  </a:cubicBezTo>
                  <a:cubicBezTo>
                    <a:pt x="71" y="19"/>
                    <a:pt x="71" y="19"/>
                    <a:pt x="71" y="19"/>
                  </a:cubicBezTo>
                  <a:cubicBezTo>
                    <a:pt x="65" y="19"/>
                    <a:pt x="65" y="19"/>
                    <a:pt x="65" y="19"/>
                  </a:cubicBezTo>
                  <a:cubicBezTo>
                    <a:pt x="20" y="19"/>
                    <a:pt x="20" y="19"/>
                    <a:pt x="20" y="19"/>
                  </a:cubicBezTo>
                  <a:cubicBezTo>
                    <a:pt x="17" y="5"/>
                    <a:pt x="17" y="5"/>
                    <a:pt x="17" y="5"/>
                  </a:cubicBezTo>
                  <a:cubicBezTo>
                    <a:pt x="17" y="4"/>
                    <a:pt x="17" y="3"/>
                    <a:pt x="16" y="3"/>
                  </a:cubicBezTo>
                  <a:cubicBezTo>
                    <a:pt x="16" y="3"/>
                    <a:pt x="3" y="0"/>
                    <a:pt x="3" y="0"/>
                  </a:cubicBezTo>
                  <a:cubicBezTo>
                    <a:pt x="2" y="0"/>
                    <a:pt x="1" y="1"/>
                    <a:pt x="0" y="3"/>
                  </a:cubicBezTo>
                  <a:cubicBezTo>
                    <a:pt x="0" y="4"/>
                    <a:pt x="0" y="4"/>
                    <a:pt x="0" y="4"/>
                  </a:cubicBezTo>
                  <a:cubicBezTo>
                    <a:pt x="0" y="5"/>
                    <a:pt x="1" y="7"/>
                    <a:pt x="2" y="7"/>
                  </a:cubicBezTo>
                  <a:cubicBezTo>
                    <a:pt x="11" y="9"/>
                    <a:pt x="11" y="9"/>
                    <a:pt x="11" y="9"/>
                  </a:cubicBezTo>
                  <a:cubicBezTo>
                    <a:pt x="20" y="62"/>
                    <a:pt x="20" y="62"/>
                    <a:pt x="20" y="62"/>
                  </a:cubicBezTo>
                  <a:cubicBezTo>
                    <a:pt x="20" y="63"/>
                    <a:pt x="21" y="64"/>
                    <a:pt x="23" y="64"/>
                  </a:cubicBezTo>
                  <a:cubicBezTo>
                    <a:pt x="72" y="64"/>
                    <a:pt x="72" y="64"/>
                    <a:pt x="72" y="64"/>
                  </a:cubicBezTo>
                  <a:cubicBezTo>
                    <a:pt x="74" y="64"/>
                    <a:pt x="75" y="63"/>
                    <a:pt x="75" y="61"/>
                  </a:cubicBezTo>
                  <a:cubicBezTo>
                    <a:pt x="75" y="60"/>
                    <a:pt x="75" y="60"/>
                    <a:pt x="75" y="60"/>
                  </a:cubicBezTo>
                  <a:cubicBezTo>
                    <a:pt x="75" y="58"/>
                    <a:pt x="74" y="57"/>
                    <a:pt x="72" y="57"/>
                  </a:cubicBezTo>
                  <a:cubicBezTo>
                    <a:pt x="27" y="57"/>
                    <a:pt x="27" y="57"/>
                    <a:pt x="27" y="57"/>
                  </a:cubicBezTo>
                  <a:cubicBezTo>
                    <a:pt x="26" y="52"/>
                    <a:pt x="26" y="52"/>
                    <a:pt x="26" y="52"/>
                  </a:cubicBezTo>
                  <a:cubicBezTo>
                    <a:pt x="69" y="52"/>
                    <a:pt x="69" y="52"/>
                    <a:pt x="69" y="52"/>
                  </a:cubicBezTo>
                  <a:cubicBezTo>
                    <a:pt x="70" y="52"/>
                    <a:pt x="71" y="51"/>
                    <a:pt x="71" y="50"/>
                  </a:cubicBezTo>
                  <a:cubicBezTo>
                    <a:pt x="73" y="43"/>
                    <a:pt x="80" y="22"/>
                    <a:pt x="8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6" name="Group 65">
            <a:extLst>
              <a:ext uri="{FF2B5EF4-FFF2-40B4-BE49-F238E27FC236}">
                <a16:creationId xmlns:a16="http://schemas.microsoft.com/office/drawing/2014/main" id="{44F09900-1B25-4382-B86D-DCF9FFB0C1D7}"/>
              </a:ext>
            </a:extLst>
          </p:cNvPr>
          <p:cNvGrpSpPr>
            <a:grpSpLocks noChangeAspect="1"/>
          </p:cNvGrpSpPr>
          <p:nvPr/>
        </p:nvGrpSpPr>
        <p:grpSpPr>
          <a:xfrm>
            <a:off x="5281098" y="3497676"/>
            <a:ext cx="305835" cy="274320"/>
            <a:chOff x="5420143" y="5650779"/>
            <a:chExt cx="586567" cy="526125"/>
          </a:xfrm>
          <a:solidFill>
            <a:srgbClr val="595555"/>
          </a:solidFill>
        </p:grpSpPr>
        <p:sp>
          <p:nvSpPr>
            <p:cNvPr id="67" name="Freeform 928">
              <a:extLst>
                <a:ext uri="{FF2B5EF4-FFF2-40B4-BE49-F238E27FC236}">
                  <a16:creationId xmlns:a16="http://schemas.microsoft.com/office/drawing/2014/main" id="{F6991105-BBE4-43BA-BF93-241D3F40A8C9}"/>
                </a:ext>
              </a:extLst>
            </p:cNvPr>
            <p:cNvSpPr>
              <a:spLocks/>
            </p:cNvSpPr>
            <p:nvPr/>
          </p:nvSpPr>
          <p:spPr bwMode="auto">
            <a:xfrm>
              <a:off x="5420143" y="5924144"/>
              <a:ext cx="586567" cy="252760"/>
            </a:xfrm>
            <a:custGeom>
              <a:avLst/>
              <a:gdLst>
                <a:gd name="T0" fmla="*/ 0 w 86"/>
                <a:gd name="T1" fmla="*/ 0 h 37"/>
                <a:gd name="T2" fmla="*/ 0 w 86"/>
                <a:gd name="T3" fmla="*/ 32 h 37"/>
                <a:gd name="T4" fmla="*/ 0 w 86"/>
                <a:gd name="T5" fmla="*/ 33 h 37"/>
                <a:gd name="T6" fmla="*/ 0 w 86"/>
                <a:gd name="T7" fmla="*/ 35 h 37"/>
                <a:gd name="T8" fmla="*/ 3 w 86"/>
                <a:gd name="T9" fmla="*/ 37 h 37"/>
                <a:gd name="T10" fmla="*/ 83 w 86"/>
                <a:gd name="T11" fmla="*/ 37 h 37"/>
                <a:gd name="T12" fmla="*/ 86 w 86"/>
                <a:gd name="T13" fmla="*/ 35 h 37"/>
                <a:gd name="T14" fmla="*/ 86 w 86"/>
                <a:gd name="T15" fmla="*/ 33 h 37"/>
                <a:gd name="T16" fmla="*/ 86 w 86"/>
                <a:gd name="T17" fmla="*/ 32 h 37"/>
                <a:gd name="T18" fmla="*/ 86 w 86"/>
                <a:gd name="T19" fmla="*/ 0 h 37"/>
                <a:gd name="T20" fmla="*/ 43 w 86"/>
                <a:gd name="T21" fmla="*/ 9 h 37"/>
                <a:gd name="T22" fmla="*/ 0 w 86"/>
                <a:gd name="T23"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37">
                  <a:moveTo>
                    <a:pt x="0" y="0"/>
                  </a:moveTo>
                  <a:cubicBezTo>
                    <a:pt x="0" y="32"/>
                    <a:pt x="0" y="32"/>
                    <a:pt x="0" y="32"/>
                  </a:cubicBezTo>
                  <a:cubicBezTo>
                    <a:pt x="0" y="33"/>
                    <a:pt x="0" y="33"/>
                    <a:pt x="0" y="33"/>
                  </a:cubicBezTo>
                  <a:cubicBezTo>
                    <a:pt x="0" y="35"/>
                    <a:pt x="0" y="35"/>
                    <a:pt x="0" y="35"/>
                  </a:cubicBezTo>
                  <a:cubicBezTo>
                    <a:pt x="0" y="36"/>
                    <a:pt x="2" y="37"/>
                    <a:pt x="3" y="37"/>
                  </a:cubicBezTo>
                  <a:cubicBezTo>
                    <a:pt x="83" y="37"/>
                    <a:pt x="83" y="37"/>
                    <a:pt x="83" y="37"/>
                  </a:cubicBezTo>
                  <a:cubicBezTo>
                    <a:pt x="85" y="37"/>
                    <a:pt x="86" y="36"/>
                    <a:pt x="86" y="35"/>
                  </a:cubicBezTo>
                  <a:cubicBezTo>
                    <a:pt x="86" y="33"/>
                    <a:pt x="86" y="33"/>
                    <a:pt x="86" y="33"/>
                  </a:cubicBezTo>
                  <a:cubicBezTo>
                    <a:pt x="86" y="32"/>
                    <a:pt x="86" y="32"/>
                    <a:pt x="86" y="32"/>
                  </a:cubicBezTo>
                  <a:cubicBezTo>
                    <a:pt x="86" y="0"/>
                    <a:pt x="86" y="0"/>
                    <a:pt x="86" y="0"/>
                  </a:cubicBezTo>
                  <a:cubicBezTo>
                    <a:pt x="73" y="5"/>
                    <a:pt x="58" y="9"/>
                    <a:pt x="43" y="9"/>
                  </a:cubicBezTo>
                  <a:cubicBezTo>
                    <a:pt x="28" y="9"/>
                    <a:pt x="13" y="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929">
              <a:extLst>
                <a:ext uri="{FF2B5EF4-FFF2-40B4-BE49-F238E27FC236}">
                  <a16:creationId xmlns:a16="http://schemas.microsoft.com/office/drawing/2014/main" id="{A75E25ED-AB85-4B92-84AD-AAAE23DD5FC4}"/>
                </a:ext>
              </a:extLst>
            </p:cNvPr>
            <p:cNvSpPr>
              <a:spLocks/>
            </p:cNvSpPr>
            <p:nvPr/>
          </p:nvSpPr>
          <p:spPr bwMode="auto">
            <a:xfrm>
              <a:off x="5420143" y="5753806"/>
              <a:ext cx="586567" cy="184075"/>
            </a:xfrm>
            <a:custGeom>
              <a:avLst/>
              <a:gdLst>
                <a:gd name="T0" fmla="*/ 83 w 86"/>
                <a:gd name="T1" fmla="*/ 0 h 27"/>
                <a:gd name="T2" fmla="*/ 3 w 86"/>
                <a:gd name="T3" fmla="*/ 0 h 27"/>
                <a:gd name="T4" fmla="*/ 0 w 86"/>
                <a:gd name="T5" fmla="*/ 2 h 27"/>
                <a:gd name="T6" fmla="*/ 0 w 86"/>
                <a:gd name="T7" fmla="*/ 18 h 27"/>
                <a:gd name="T8" fmla="*/ 43 w 86"/>
                <a:gd name="T9" fmla="*/ 27 h 27"/>
                <a:gd name="T10" fmla="*/ 86 w 86"/>
                <a:gd name="T11" fmla="*/ 18 h 27"/>
                <a:gd name="T12" fmla="*/ 86 w 86"/>
                <a:gd name="T13" fmla="*/ 2 h 27"/>
                <a:gd name="T14" fmla="*/ 83 w 86"/>
                <a:gd name="T15" fmla="*/ 0 h 2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6" h="27">
                  <a:moveTo>
                    <a:pt x="83" y="0"/>
                  </a:moveTo>
                  <a:cubicBezTo>
                    <a:pt x="3" y="0"/>
                    <a:pt x="3" y="0"/>
                    <a:pt x="3" y="0"/>
                  </a:cubicBezTo>
                  <a:cubicBezTo>
                    <a:pt x="2" y="0"/>
                    <a:pt x="0" y="1"/>
                    <a:pt x="0" y="2"/>
                  </a:cubicBezTo>
                  <a:cubicBezTo>
                    <a:pt x="0" y="18"/>
                    <a:pt x="0" y="18"/>
                    <a:pt x="0" y="18"/>
                  </a:cubicBezTo>
                  <a:cubicBezTo>
                    <a:pt x="13" y="24"/>
                    <a:pt x="28" y="27"/>
                    <a:pt x="43" y="27"/>
                  </a:cubicBezTo>
                  <a:cubicBezTo>
                    <a:pt x="58" y="27"/>
                    <a:pt x="73" y="24"/>
                    <a:pt x="86" y="18"/>
                  </a:cubicBezTo>
                  <a:cubicBezTo>
                    <a:pt x="86" y="2"/>
                    <a:pt x="86" y="2"/>
                    <a:pt x="86" y="2"/>
                  </a:cubicBezTo>
                  <a:cubicBezTo>
                    <a:pt x="86" y="1"/>
                    <a:pt x="85"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930">
              <a:extLst>
                <a:ext uri="{FF2B5EF4-FFF2-40B4-BE49-F238E27FC236}">
                  <a16:creationId xmlns:a16="http://schemas.microsoft.com/office/drawing/2014/main" id="{E2A285DC-A51A-4C94-9231-F91A02462386}"/>
                </a:ext>
              </a:extLst>
            </p:cNvPr>
            <p:cNvSpPr>
              <a:spLocks/>
            </p:cNvSpPr>
            <p:nvPr/>
          </p:nvSpPr>
          <p:spPr bwMode="auto">
            <a:xfrm>
              <a:off x="5583612" y="5650779"/>
              <a:ext cx="259628" cy="61816"/>
            </a:xfrm>
            <a:custGeom>
              <a:avLst/>
              <a:gdLst>
                <a:gd name="T0" fmla="*/ 38 w 38"/>
                <a:gd name="T1" fmla="*/ 3 h 9"/>
                <a:gd name="T2" fmla="*/ 35 w 38"/>
                <a:gd name="T3" fmla="*/ 0 h 9"/>
                <a:gd name="T4" fmla="*/ 3 w 38"/>
                <a:gd name="T5" fmla="*/ 0 h 9"/>
                <a:gd name="T6" fmla="*/ 0 w 38"/>
                <a:gd name="T7" fmla="*/ 3 h 9"/>
                <a:gd name="T8" fmla="*/ 0 w 38"/>
                <a:gd name="T9" fmla="*/ 9 h 9"/>
                <a:gd name="T10" fmla="*/ 38 w 38"/>
                <a:gd name="T11" fmla="*/ 9 h 9"/>
                <a:gd name="T12" fmla="*/ 38 w 38"/>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38" h="9">
                  <a:moveTo>
                    <a:pt x="38" y="3"/>
                  </a:moveTo>
                  <a:cubicBezTo>
                    <a:pt x="38" y="1"/>
                    <a:pt x="37" y="0"/>
                    <a:pt x="35" y="0"/>
                  </a:cubicBezTo>
                  <a:cubicBezTo>
                    <a:pt x="3" y="0"/>
                    <a:pt x="3" y="0"/>
                    <a:pt x="3" y="0"/>
                  </a:cubicBezTo>
                  <a:cubicBezTo>
                    <a:pt x="2" y="0"/>
                    <a:pt x="0" y="1"/>
                    <a:pt x="0" y="3"/>
                  </a:cubicBezTo>
                  <a:cubicBezTo>
                    <a:pt x="0" y="9"/>
                    <a:pt x="0" y="9"/>
                    <a:pt x="0" y="9"/>
                  </a:cubicBezTo>
                  <a:cubicBezTo>
                    <a:pt x="38" y="9"/>
                    <a:pt x="38" y="9"/>
                    <a:pt x="38" y="9"/>
                  </a:cubicBezTo>
                  <a:lnTo>
                    <a:pt x="3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0" name="Group 69">
            <a:extLst>
              <a:ext uri="{FF2B5EF4-FFF2-40B4-BE49-F238E27FC236}">
                <a16:creationId xmlns:a16="http://schemas.microsoft.com/office/drawing/2014/main" id="{A57A7DF7-9397-4128-A67E-D5E20213E6DC}"/>
              </a:ext>
            </a:extLst>
          </p:cNvPr>
          <p:cNvGrpSpPr>
            <a:grpSpLocks noChangeAspect="1"/>
          </p:cNvGrpSpPr>
          <p:nvPr/>
        </p:nvGrpSpPr>
        <p:grpSpPr>
          <a:xfrm>
            <a:off x="4424790" y="1511675"/>
            <a:ext cx="226218" cy="274320"/>
            <a:chOff x="4709943" y="4094383"/>
            <a:chExt cx="478046" cy="579699"/>
          </a:xfrm>
          <a:solidFill>
            <a:srgbClr val="595555"/>
          </a:solidFill>
        </p:grpSpPr>
        <p:sp>
          <p:nvSpPr>
            <p:cNvPr id="71" name="Freeform 836">
              <a:extLst>
                <a:ext uri="{FF2B5EF4-FFF2-40B4-BE49-F238E27FC236}">
                  <a16:creationId xmlns:a16="http://schemas.microsoft.com/office/drawing/2014/main" id="{5B9F2A9A-643E-4A0A-8F44-61B30EE0B0D5}"/>
                </a:ext>
              </a:extLst>
            </p:cNvPr>
            <p:cNvSpPr>
              <a:spLocks noEditPoints="1"/>
            </p:cNvSpPr>
            <p:nvPr/>
          </p:nvSpPr>
          <p:spPr bwMode="auto">
            <a:xfrm>
              <a:off x="4709943" y="4094383"/>
              <a:ext cx="478046" cy="579699"/>
            </a:xfrm>
            <a:custGeom>
              <a:avLst/>
              <a:gdLst>
                <a:gd name="T0" fmla="*/ 46 w 70"/>
                <a:gd name="T1" fmla="*/ 29 h 85"/>
                <a:gd name="T2" fmla="*/ 46 w 70"/>
                <a:gd name="T3" fmla="*/ 24 h 85"/>
                <a:gd name="T4" fmla="*/ 46 w 70"/>
                <a:gd name="T5" fmla="*/ 0 h 85"/>
                <a:gd name="T6" fmla="*/ 3 w 70"/>
                <a:gd name="T7" fmla="*/ 0 h 85"/>
                <a:gd name="T8" fmla="*/ 0 w 70"/>
                <a:gd name="T9" fmla="*/ 3 h 85"/>
                <a:gd name="T10" fmla="*/ 0 w 70"/>
                <a:gd name="T11" fmla="*/ 83 h 85"/>
                <a:gd name="T12" fmla="*/ 3 w 70"/>
                <a:gd name="T13" fmla="*/ 85 h 85"/>
                <a:gd name="T14" fmla="*/ 67 w 70"/>
                <a:gd name="T15" fmla="*/ 85 h 85"/>
                <a:gd name="T16" fmla="*/ 70 w 70"/>
                <a:gd name="T17" fmla="*/ 83 h 85"/>
                <a:gd name="T18" fmla="*/ 70 w 70"/>
                <a:gd name="T19" fmla="*/ 29 h 85"/>
                <a:gd name="T20" fmla="*/ 51 w 70"/>
                <a:gd name="T21" fmla="*/ 29 h 85"/>
                <a:gd name="T22" fmla="*/ 46 w 70"/>
                <a:gd name="T23" fmla="*/ 29 h 85"/>
                <a:gd name="T24" fmla="*/ 10 w 70"/>
                <a:gd name="T25" fmla="*/ 24 h 85"/>
                <a:gd name="T26" fmla="*/ 36 w 70"/>
                <a:gd name="T27" fmla="*/ 24 h 85"/>
                <a:gd name="T28" fmla="*/ 36 w 70"/>
                <a:gd name="T29" fmla="*/ 29 h 85"/>
                <a:gd name="T30" fmla="*/ 10 w 70"/>
                <a:gd name="T31" fmla="*/ 29 h 85"/>
                <a:gd name="T32" fmla="*/ 10 w 70"/>
                <a:gd name="T33" fmla="*/ 24 h 85"/>
                <a:gd name="T34" fmla="*/ 60 w 70"/>
                <a:gd name="T35" fmla="*/ 61 h 85"/>
                <a:gd name="T36" fmla="*/ 10 w 70"/>
                <a:gd name="T37" fmla="*/ 61 h 85"/>
                <a:gd name="T38" fmla="*/ 10 w 70"/>
                <a:gd name="T39" fmla="*/ 56 h 85"/>
                <a:gd name="T40" fmla="*/ 60 w 70"/>
                <a:gd name="T41" fmla="*/ 56 h 85"/>
                <a:gd name="T42" fmla="*/ 60 w 70"/>
                <a:gd name="T43" fmla="*/ 61 h 85"/>
                <a:gd name="T44" fmla="*/ 60 w 70"/>
                <a:gd name="T45" fmla="*/ 45 h 85"/>
                <a:gd name="T46" fmla="*/ 48 w 70"/>
                <a:gd name="T47" fmla="*/ 45 h 85"/>
                <a:gd name="T48" fmla="*/ 10 w 70"/>
                <a:gd name="T49" fmla="*/ 45 h 85"/>
                <a:gd name="T50" fmla="*/ 10 w 70"/>
                <a:gd name="T51" fmla="*/ 40 h 85"/>
                <a:gd name="T52" fmla="*/ 48 w 70"/>
                <a:gd name="T53" fmla="*/ 40 h 85"/>
                <a:gd name="T54" fmla="*/ 60 w 70"/>
                <a:gd name="T55" fmla="*/ 40 h 85"/>
                <a:gd name="T56" fmla="*/ 60 w 70"/>
                <a:gd name="T57" fmla="*/ 4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 h="85">
                  <a:moveTo>
                    <a:pt x="46" y="29"/>
                  </a:moveTo>
                  <a:cubicBezTo>
                    <a:pt x="46" y="24"/>
                    <a:pt x="46" y="24"/>
                    <a:pt x="46" y="24"/>
                  </a:cubicBezTo>
                  <a:cubicBezTo>
                    <a:pt x="46" y="0"/>
                    <a:pt x="46" y="0"/>
                    <a:pt x="46" y="0"/>
                  </a:cubicBezTo>
                  <a:cubicBezTo>
                    <a:pt x="3" y="0"/>
                    <a:pt x="3" y="0"/>
                    <a:pt x="3" y="0"/>
                  </a:cubicBezTo>
                  <a:cubicBezTo>
                    <a:pt x="2" y="0"/>
                    <a:pt x="0" y="1"/>
                    <a:pt x="0" y="3"/>
                  </a:cubicBezTo>
                  <a:cubicBezTo>
                    <a:pt x="0" y="83"/>
                    <a:pt x="0" y="83"/>
                    <a:pt x="0" y="83"/>
                  </a:cubicBezTo>
                  <a:cubicBezTo>
                    <a:pt x="0" y="84"/>
                    <a:pt x="2" y="85"/>
                    <a:pt x="3" y="85"/>
                  </a:cubicBezTo>
                  <a:cubicBezTo>
                    <a:pt x="67" y="85"/>
                    <a:pt x="67" y="85"/>
                    <a:pt x="67" y="85"/>
                  </a:cubicBezTo>
                  <a:cubicBezTo>
                    <a:pt x="69" y="85"/>
                    <a:pt x="70" y="84"/>
                    <a:pt x="70" y="83"/>
                  </a:cubicBezTo>
                  <a:cubicBezTo>
                    <a:pt x="70" y="29"/>
                    <a:pt x="70" y="29"/>
                    <a:pt x="70" y="29"/>
                  </a:cubicBezTo>
                  <a:cubicBezTo>
                    <a:pt x="51" y="29"/>
                    <a:pt x="51" y="29"/>
                    <a:pt x="51" y="29"/>
                  </a:cubicBezTo>
                  <a:lnTo>
                    <a:pt x="46" y="29"/>
                  </a:lnTo>
                  <a:close/>
                  <a:moveTo>
                    <a:pt x="10" y="24"/>
                  </a:moveTo>
                  <a:cubicBezTo>
                    <a:pt x="36" y="24"/>
                    <a:pt x="36" y="24"/>
                    <a:pt x="36" y="24"/>
                  </a:cubicBezTo>
                  <a:cubicBezTo>
                    <a:pt x="36" y="29"/>
                    <a:pt x="36" y="29"/>
                    <a:pt x="36" y="29"/>
                  </a:cubicBezTo>
                  <a:cubicBezTo>
                    <a:pt x="10" y="29"/>
                    <a:pt x="10" y="29"/>
                    <a:pt x="10" y="29"/>
                  </a:cubicBezTo>
                  <a:lnTo>
                    <a:pt x="10" y="24"/>
                  </a:lnTo>
                  <a:close/>
                  <a:moveTo>
                    <a:pt x="60" y="61"/>
                  </a:moveTo>
                  <a:cubicBezTo>
                    <a:pt x="10" y="61"/>
                    <a:pt x="10" y="61"/>
                    <a:pt x="10" y="61"/>
                  </a:cubicBezTo>
                  <a:cubicBezTo>
                    <a:pt x="10" y="56"/>
                    <a:pt x="10" y="56"/>
                    <a:pt x="10" y="56"/>
                  </a:cubicBezTo>
                  <a:cubicBezTo>
                    <a:pt x="60" y="56"/>
                    <a:pt x="60" y="56"/>
                    <a:pt x="60" y="56"/>
                  </a:cubicBezTo>
                  <a:lnTo>
                    <a:pt x="60" y="61"/>
                  </a:lnTo>
                  <a:close/>
                  <a:moveTo>
                    <a:pt x="60" y="45"/>
                  </a:moveTo>
                  <a:cubicBezTo>
                    <a:pt x="48" y="45"/>
                    <a:pt x="48" y="45"/>
                    <a:pt x="48" y="45"/>
                  </a:cubicBezTo>
                  <a:cubicBezTo>
                    <a:pt x="10" y="45"/>
                    <a:pt x="10" y="45"/>
                    <a:pt x="10" y="45"/>
                  </a:cubicBezTo>
                  <a:cubicBezTo>
                    <a:pt x="10" y="40"/>
                    <a:pt x="10" y="40"/>
                    <a:pt x="10" y="40"/>
                  </a:cubicBezTo>
                  <a:cubicBezTo>
                    <a:pt x="48" y="40"/>
                    <a:pt x="48" y="40"/>
                    <a:pt x="48" y="40"/>
                  </a:cubicBezTo>
                  <a:cubicBezTo>
                    <a:pt x="60" y="40"/>
                    <a:pt x="60" y="40"/>
                    <a:pt x="60" y="40"/>
                  </a:cubicBezTo>
                  <a:lnTo>
                    <a:pt x="60"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837">
              <a:extLst>
                <a:ext uri="{FF2B5EF4-FFF2-40B4-BE49-F238E27FC236}">
                  <a16:creationId xmlns:a16="http://schemas.microsoft.com/office/drawing/2014/main" id="{3E690DB6-6F2B-4E29-9777-205DAA73A832}"/>
                </a:ext>
              </a:extLst>
            </p:cNvPr>
            <p:cNvSpPr>
              <a:spLocks/>
            </p:cNvSpPr>
            <p:nvPr/>
          </p:nvSpPr>
          <p:spPr bwMode="auto">
            <a:xfrm>
              <a:off x="5058861" y="4094383"/>
              <a:ext cx="129127" cy="163470"/>
            </a:xfrm>
            <a:custGeom>
              <a:avLst/>
              <a:gdLst>
                <a:gd name="T0" fmla="*/ 44 w 94"/>
                <a:gd name="T1" fmla="*/ 60 h 119"/>
                <a:gd name="T2" fmla="*/ 0 w 94"/>
                <a:gd name="T3" fmla="*/ 0 h 119"/>
                <a:gd name="T4" fmla="*/ 0 w 94"/>
                <a:gd name="T5" fmla="*/ 119 h 119"/>
                <a:gd name="T6" fmla="*/ 94 w 94"/>
                <a:gd name="T7" fmla="*/ 119 h 119"/>
                <a:gd name="T8" fmla="*/ 44 w 94"/>
                <a:gd name="T9" fmla="*/ 60 h 119"/>
              </a:gdLst>
              <a:ahLst/>
              <a:cxnLst>
                <a:cxn ang="0">
                  <a:pos x="T0" y="T1"/>
                </a:cxn>
                <a:cxn ang="0">
                  <a:pos x="T2" y="T3"/>
                </a:cxn>
                <a:cxn ang="0">
                  <a:pos x="T4" y="T5"/>
                </a:cxn>
                <a:cxn ang="0">
                  <a:pos x="T6" y="T7"/>
                </a:cxn>
                <a:cxn ang="0">
                  <a:pos x="T8" y="T9"/>
                </a:cxn>
              </a:cxnLst>
              <a:rect l="0" t="0" r="r" b="b"/>
              <a:pathLst>
                <a:path w="94" h="119">
                  <a:moveTo>
                    <a:pt x="44" y="60"/>
                  </a:moveTo>
                  <a:lnTo>
                    <a:pt x="0" y="0"/>
                  </a:lnTo>
                  <a:lnTo>
                    <a:pt x="0" y="119"/>
                  </a:lnTo>
                  <a:lnTo>
                    <a:pt x="94" y="119"/>
                  </a:lnTo>
                  <a:lnTo>
                    <a:pt x="4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3" name="Group 72">
            <a:extLst>
              <a:ext uri="{FF2B5EF4-FFF2-40B4-BE49-F238E27FC236}">
                <a16:creationId xmlns:a16="http://schemas.microsoft.com/office/drawing/2014/main" id="{D32153C6-B9A5-47DD-B99D-207718BD20CA}"/>
              </a:ext>
            </a:extLst>
          </p:cNvPr>
          <p:cNvGrpSpPr>
            <a:grpSpLocks noChangeAspect="1"/>
          </p:cNvGrpSpPr>
          <p:nvPr/>
        </p:nvGrpSpPr>
        <p:grpSpPr>
          <a:xfrm>
            <a:off x="3503885" y="1511675"/>
            <a:ext cx="225567" cy="274320"/>
            <a:chOff x="3946169" y="4094383"/>
            <a:chExt cx="476672" cy="579699"/>
          </a:xfrm>
          <a:solidFill>
            <a:srgbClr val="595555"/>
          </a:solidFill>
        </p:grpSpPr>
        <p:sp>
          <p:nvSpPr>
            <p:cNvPr id="74" name="Freeform 838">
              <a:extLst>
                <a:ext uri="{FF2B5EF4-FFF2-40B4-BE49-F238E27FC236}">
                  <a16:creationId xmlns:a16="http://schemas.microsoft.com/office/drawing/2014/main" id="{4779FB87-05DB-43F3-A4DC-9E0A9A61B9F4}"/>
                </a:ext>
              </a:extLst>
            </p:cNvPr>
            <p:cNvSpPr>
              <a:spLocks/>
            </p:cNvSpPr>
            <p:nvPr/>
          </p:nvSpPr>
          <p:spPr bwMode="auto">
            <a:xfrm>
              <a:off x="3946169" y="4094383"/>
              <a:ext cx="476672" cy="579699"/>
            </a:xfrm>
            <a:custGeom>
              <a:avLst/>
              <a:gdLst>
                <a:gd name="T0" fmla="*/ 46 w 70"/>
                <a:gd name="T1" fmla="*/ 29 h 85"/>
                <a:gd name="T2" fmla="*/ 46 w 70"/>
                <a:gd name="T3" fmla="*/ 24 h 85"/>
                <a:gd name="T4" fmla="*/ 46 w 70"/>
                <a:gd name="T5" fmla="*/ 0 h 85"/>
                <a:gd name="T6" fmla="*/ 3 w 70"/>
                <a:gd name="T7" fmla="*/ 0 h 85"/>
                <a:gd name="T8" fmla="*/ 0 w 70"/>
                <a:gd name="T9" fmla="*/ 3 h 85"/>
                <a:gd name="T10" fmla="*/ 0 w 70"/>
                <a:gd name="T11" fmla="*/ 83 h 85"/>
                <a:gd name="T12" fmla="*/ 3 w 70"/>
                <a:gd name="T13" fmla="*/ 85 h 85"/>
                <a:gd name="T14" fmla="*/ 67 w 70"/>
                <a:gd name="T15" fmla="*/ 85 h 85"/>
                <a:gd name="T16" fmla="*/ 70 w 70"/>
                <a:gd name="T17" fmla="*/ 83 h 85"/>
                <a:gd name="T18" fmla="*/ 70 w 70"/>
                <a:gd name="T19" fmla="*/ 29 h 85"/>
                <a:gd name="T20" fmla="*/ 51 w 70"/>
                <a:gd name="T21" fmla="*/ 29 h 85"/>
                <a:gd name="T22" fmla="*/ 46 w 70"/>
                <a:gd name="T23" fmla="*/ 2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85">
                  <a:moveTo>
                    <a:pt x="46" y="29"/>
                  </a:moveTo>
                  <a:cubicBezTo>
                    <a:pt x="46" y="24"/>
                    <a:pt x="46" y="24"/>
                    <a:pt x="46" y="24"/>
                  </a:cubicBezTo>
                  <a:cubicBezTo>
                    <a:pt x="46" y="0"/>
                    <a:pt x="46" y="0"/>
                    <a:pt x="46" y="0"/>
                  </a:cubicBezTo>
                  <a:cubicBezTo>
                    <a:pt x="3" y="0"/>
                    <a:pt x="3" y="0"/>
                    <a:pt x="3" y="0"/>
                  </a:cubicBezTo>
                  <a:cubicBezTo>
                    <a:pt x="2" y="0"/>
                    <a:pt x="0" y="1"/>
                    <a:pt x="0" y="3"/>
                  </a:cubicBezTo>
                  <a:cubicBezTo>
                    <a:pt x="0" y="83"/>
                    <a:pt x="0" y="83"/>
                    <a:pt x="0" y="83"/>
                  </a:cubicBezTo>
                  <a:cubicBezTo>
                    <a:pt x="0" y="84"/>
                    <a:pt x="2" y="85"/>
                    <a:pt x="3" y="85"/>
                  </a:cubicBezTo>
                  <a:cubicBezTo>
                    <a:pt x="67" y="85"/>
                    <a:pt x="67" y="85"/>
                    <a:pt x="67" y="85"/>
                  </a:cubicBezTo>
                  <a:cubicBezTo>
                    <a:pt x="69" y="85"/>
                    <a:pt x="70" y="84"/>
                    <a:pt x="70" y="83"/>
                  </a:cubicBezTo>
                  <a:cubicBezTo>
                    <a:pt x="70" y="29"/>
                    <a:pt x="70" y="29"/>
                    <a:pt x="70" y="29"/>
                  </a:cubicBezTo>
                  <a:cubicBezTo>
                    <a:pt x="51" y="29"/>
                    <a:pt x="51" y="29"/>
                    <a:pt x="51" y="29"/>
                  </a:cubicBezTo>
                  <a:lnTo>
                    <a:pt x="46"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5" name="Freeform 839">
              <a:extLst>
                <a:ext uri="{FF2B5EF4-FFF2-40B4-BE49-F238E27FC236}">
                  <a16:creationId xmlns:a16="http://schemas.microsoft.com/office/drawing/2014/main" id="{71A63B3D-BE42-4536-9EDE-A629EC43B756}"/>
                </a:ext>
              </a:extLst>
            </p:cNvPr>
            <p:cNvSpPr>
              <a:spLocks/>
            </p:cNvSpPr>
            <p:nvPr/>
          </p:nvSpPr>
          <p:spPr bwMode="auto">
            <a:xfrm>
              <a:off x="4293713" y="4094383"/>
              <a:ext cx="129127" cy="163470"/>
            </a:xfrm>
            <a:custGeom>
              <a:avLst/>
              <a:gdLst>
                <a:gd name="T0" fmla="*/ 45 w 94"/>
                <a:gd name="T1" fmla="*/ 60 h 119"/>
                <a:gd name="T2" fmla="*/ 0 w 94"/>
                <a:gd name="T3" fmla="*/ 0 h 119"/>
                <a:gd name="T4" fmla="*/ 0 w 94"/>
                <a:gd name="T5" fmla="*/ 119 h 119"/>
                <a:gd name="T6" fmla="*/ 94 w 94"/>
                <a:gd name="T7" fmla="*/ 119 h 119"/>
                <a:gd name="T8" fmla="*/ 45 w 94"/>
                <a:gd name="T9" fmla="*/ 60 h 119"/>
              </a:gdLst>
              <a:ahLst/>
              <a:cxnLst>
                <a:cxn ang="0">
                  <a:pos x="T0" y="T1"/>
                </a:cxn>
                <a:cxn ang="0">
                  <a:pos x="T2" y="T3"/>
                </a:cxn>
                <a:cxn ang="0">
                  <a:pos x="T4" y="T5"/>
                </a:cxn>
                <a:cxn ang="0">
                  <a:pos x="T6" y="T7"/>
                </a:cxn>
                <a:cxn ang="0">
                  <a:pos x="T8" y="T9"/>
                </a:cxn>
              </a:cxnLst>
              <a:rect l="0" t="0" r="r" b="b"/>
              <a:pathLst>
                <a:path w="94" h="119">
                  <a:moveTo>
                    <a:pt x="45" y="60"/>
                  </a:moveTo>
                  <a:lnTo>
                    <a:pt x="0" y="0"/>
                  </a:lnTo>
                  <a:lnTo>
                    <a:pt x="0" y="119"/>
                  </a:lnTo>
                  <a:lnTo>
                    <a:pt x="94" y="119"/>
                  </a:lnTo>
                  <a:lnTo>
                    <a:pt x="45"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6" name="Freeform 857">
            <a:extLst>
              <a:ext uri="{FF2B5EF4-FFF2-40B4-BE49-F238E27FC236}">
                <a16:creationId xmlns:a16="http://schemas.microsoft.com/office/drawing/2014/main" id="{97F768C5-FC32-4A16-B67D-70F822EBABA1}"/>
              </a:ext>
            </a:extLst>
          </p:cNvPr>
          <p:cNvSpPr>
            <a:spLocks noChangeAspect="1" noEditPoints="1"/>
          </p:cNvSpPr>
          <p:nvPr/>
        </p:nvSpPr>
        <p:spPr bwMode="auto">
          <a:xfrm>
            <a:off x="671604" y="1511675"/>
            <a:ext cx="277569" cy="274320"/>
          </a:xfrm>
          <a:custGeom>
            <a:avLst/>
            <a:gdLst>
              <a:gd name="T0" fmla="*/ 43 w 86"/>
              <a:gd name="T1" fmla="*/ 0 h 85"/>
              <a:gd name="T2" fmla="*/ 0 w 86"/>
              <a:gd name="T3" fmla="*/ 43 h 85"/>
              <a:gd name="T4" fmla="*/ 43 w 86"/>
              <a:gd name="T5" fmla="*/ 85 h 85"/>
              <a:gd name="T6" fmla="*/ 86 w 86"/>
              <a:gd name="T7" fmla="*/ 43 h 85"/>
              <a:gd name="T8" fmla="*/ 43 w 86"/>
              <a:gd name="T9" fmla="*/ 0 h 85"/>
              <a:gd name="T10" fmla="*/ 8 w 86"/>
              <a:gd name="T11" fmla="*/ 43 h 85"/>
              <a:gd name="T12" fmla="*/ 43 w 86"/>
              <a:gd name="T13" fmla="*/ 8 h 85"/>
              <a:gd name="T14" fmla="*/ 57 w 86"/>
              <a:gd name="T15" fmla="*/ 11 h 85"/>
              <a:gd name="T16" fmla="*/ 54 w 86"/>
              <a:gd name="T17" fmla="*/ 11 h 85"/>
              <a:gd name="T18" fmla="*/ 22 w 86"/>
              <a:gd name="T19" fmla="*/ 43 h 85"/>
              <a:gd name="T20" fmla="*/ 54 w 86"/>
              <a:gd name="T21" fmla="*/ 75 h 85"/>
              <a:gd name="T22" fmla="*/ 57 w 86"/>
              <a:gd name="T23" fmla="*/ 74 h 85"/>
              <a:gd name="T24" fmla="*/ 43 w 86"/>
              <a:gd name="T25" fmla="*/ 77 h 85"/>
              <a:gd name="T26" fmla="*/ 8 w 86"/>
              <a:gd name="T27" fmla="*/ 4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85">
                <a:moveTo>
                  <a:pt x="43" y="0"/>
                </a:moveTo>
                <a:cubicBezTo>
                  <a:pt x="20" y="0"/>
                  <a:pt x="0" y="19"/>
                  <a:pt x="0" y="43"/>
                </a:cubicBezTo>
                <a:cubicBezTo>
                  <a:pt x="0" y="66"/>
                  <a:pt x="20" y="85"/>
                  <a:pt x="43" y="85"/>
                </a:cubicBezTo>
                <a:cubicBezTo>
                  <a:pt x="67" y="85"/>
                  <a:pt x="86" y="66"/>
                  <a:pt x="86" y="43"/>
                </a:cubicBezTo>
                <a:cubicBezTo>
                  <a:pt x="86" y="19"/>
                  <a:pt x="67" y="0"/>
                  <a:pt x="43" y="0"/>
                </a:cubicBezTo>
                <a:close/>
                <a:moveTo>
                  <a:pt x="8" y="43"/>
                </a:moveTo>
                <a:cubicBezTo>
                  <a:pt x="8" y="23"/>
                  <a:pt x="24" y="8"/>
                  <a:pt x="43" y="8"/>
                </a:cubicBezTo>
                <a:cubicBezTo>
                  <a:pt x="48" y="8"/>
                  <a:pt x="53" y="9"/>
                  <a:pt x="57" y="11"/>
                </a:cubicBezTo>
                <a:cubicBezTo>
                  <a:pt x="56" y="11"/>
                  <a:pt x="55" y="11"/>
                  <a:pt x="54" y="11"/>
                </a:cubicBezTo>
                <a:cubicBezTo>
                  <a:pt x="36" y="11"/>
                  <a:pt x="22" y="25"/>
                  <a:pt x="22" y="43"/>
                </a:cubicBezTo>
                <a:cubicBezTo>
                  <a:pt x="22" y="60"/>
                  <a:pt x="36" y="75"/>
                  <a:pt x="54" y="75"/>
                </a:cubicBezTo>
                <a:cubicBezTo>
                  <a:pt x="55" y="75"/>
                  <a:pt x="56" y="75"/>
                  <a:pt x="57" y="74"/>
                </a:cubicBezTo>
                <a:cubicBezTo>
                  <a:pt x="53" y="76"/>
                  <a:pt x="48" y="77"/>
                  <a:pt x="43" y="77"/>
                </a:cubicBezTo>
                <a:cubicBezTo>
                  <a:pt x="24" y="77"/>
                  <a:pt x="8" y="62"/>
                  <a:pt x="8" y="4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7" name="Freeform 866">
            <a:extLst>
              <a:ext uri="{FF2B5EF4-FFF2-40B4-BE49-F238E27FC236}">
                <a16:creationId xmlns:a16="http://schemas.microsoft.com/office/drawing/2014/main" id="{38B79F2E-C717-4D40-B74A-A507399AE3EB}"/>
              </a:ext>
            </a:extLst>
          </p:cNvPr>
          <p:cNvSpPr>
            <a:spLocks noChangeAspect="1" noEditPoints="1"/>
          </p:cNvSpPr>
          <p:nvPr/>
        </p:nvSpPr>
        <p:spPr bwMode="auto">
          <a:xfrm>
            <a:off x="10813154" y="1536520"/>
            <a:ext cx="295050" cy="274320"/>
          </a:xfrm>
          <a:custGeom>
            <a:avLst/>
            <a:gdLst>
              <a:gd name="T0" fmla="*/ 86 w 86"/>
              <a:gd name="T1" fmla="*/ 35 h 80"/>
              <a:gd name="T2" fmla="*/ 86 w 86"/>
              <a:gd name="T3" fmla="*/ 22 h 80"/>
              <a:gd name="T4" fmla="*/ 78 w 86"/>
              <a:gd name="T5" fmla="*/ 22 h 80"/>
              <a:gd name="T6" fmla="*/ 76 w 86"/>
              <a:gd name="T7" fmla="*/ 9 h 80"/>
              <a:gd name="T8" fmla="*/ 75 w 86"/>
              <a:gd name="T9" fmla="*/ 1 h 80"/>
              <a:gd name="T10" fmla="*/ 72 w 86"/>
              <a:gd name="T11" fmla="*/ 0 h 80"/>
              <a:gd name="T12" fmla="*/ 44 w 86"/>
              <a:gd name="T13" fmla="*/ 0 h 80"/>
              <a:gd name="T14" fmla="*/ 42 w 86"/>
              <a:gd name="T15" fmla="*/ 0 h 80"/>
              <a:gd name="T16" fmla="*/ 14 w 86"/>
              <a:gd name="T17" fmla="*/ 0 h 80"/>
              <a:gd name="T18" fmla="*/ 11 w 86"/>
              <a:gd name="T19" fmla="*/ 1 h 80"/>
              <a:gd name="T20" fmla="*/ 10 w 86"/>
              <a:gd name="T21" fmla="*/ 9 h 80"/>
              <a:gd name="T22" fmla="*/ 8 w 86"/>
              <a:gd name="T23" fmla="*/ 22 h 80"/>
              <a:gd name="T24" fmla="*/ 0 w 86"/>
              <a:gd name="T25" fmla="*/ 22 h 80"/>
              <a:gd name="T26" fmla="*/ 0 w 86"/>
              <a:gd name="T27" fmla="*/ 35 h 80"/>
              <a:gd name="T28" fmla="*/ 7 w 86"/>
              <a:gd name="T29" fmla="*/ 36 h 80"/>
              <a:gd name="T30" fmla="*/ 7 w 86"/>
              <a:gd name="T31" fmla="*/ 36 h 80"/>
              <a:gd name="T32" fmla="*/ 6 w 86"/>
              <a:gd name="T33" fmla="*/ 42 h 80"/>
              <a:gd name="T34" fmla="*/ 6 w 86"/>
              <a:gd name="T35" fmla="*/ 77 h 80"/>
              <a:gd name="T36" fmla="*/ 8 w 86"/>
              <a:gd name="T37" fmla="*/ 80 h 80"/>
              <a:gd name="T38" fmla="*/ 15 w 86"/>
              <a:gd name="T39" fmla="*/ 80 h 80"/>
              <a:gd name="T40" fmla="*/ 18 w 86"/>
              <a:gd name="T41" fmla="*/ 77 h 80"/>
              <a:gd name="T42" fmla="*/ 18 w 86"/>
              <a:gd name="T43" fmla="*/ 69 h 80"/>
              <a:gd name="T44" fmla="*/ 40 w 86"/>
              <a:gd name="T45" fmla="*/ 69 h 80"/>
              <a:gd name="T46" fmla="*/ 46 w 86"/>
              <a:gd name="T47" fmla="*/ 69 h 80"/>
              <a:gd name="T48" fmla="*/ 68 w 86"/>
              <a:gd name="T49" fmla="*/ 69 h 80"/>
              <a:gd name="T50" fmla="*/ 68 w 86"/>
              <a:gd name="T51" fmla="*/ 77 h 80"/>
              <a:gd name="T52" fmla="*/ 71 w 86"/>
              <a:gd name="T53" fmla="*/ 80 h 80"/>
              <a:gd name="T54" fmla="*/ 78 w 86"/>
              <a:gd name="T55" fmla="*/ 80 h 80"/>
              <a:gd name="T56" fmla="*/ 80 w 86"/>
              <a:gd name="T57" fmla="*/ 77 h 80"/>
              <a:gd name="T58" fmla="*/ 80 w 86"/>
              <a:gd name="T59" fmla="*/ 42 h 80"/>
              <a:gd name="T60" fmla="*/ 80 w 86"/>
              <a:gd name="T61" fmla="*/ 36 h 80"/>
              <a:gd name="T62" fmla="*/ 80 w 86"/>
              <a:gd name="T63" fmla="*/ 36 h 80"/>
              <a:gd name="T64" fmla="*/ 86 w 86"/>
              <a:gd name="T65" fmla="*/ 35 h 80"/>
              <a:gd name="T66" fmla="*/ 22 w 86"/>
              <a:gd name="T67" fmla="*/ 54 h 80"/>
              <a:gd name="T68" fmla="*/ 16 w 86"/>
              <a:gd name="T69" fmla="*/ 48 h 80"/>
              <a:gd name="T70" fmla="*/ 20 w 86"/>
              <a:gd name="T71" fmla="*/ 43 h 80"/>
              <a:gd name="T72" fmla="*/ 27 w 86"/>
              <a:gd name="T73" fmla="*/ 49 h 80"/>
              <a:gd name="T74" fmla="*/ 22 w 86"/>
              <a:gd name="T75" fmla="*/ 54 h 80"/>
              <a:gd name="T76" fmla="*/ 66 w 86"/>
              <a:gd name="T77" fmla="*/ 54 h 80"/>
              <a:gd name="T78" fmla="*/ 59 w 86"/>
              <a:gd name="T79" fmla="*/ 48 h 80"/>
              <a:gd name="T80" fmla="*/ 64 w 86"/>
              <a:gd name="T81" fmla="*/ 43 h 80"/>
              <a:gd name="T82" fmla="*/ 70 w 86"/>
              <a:gd name="T83" fmla="*/ 49 h 80"/>
              <a:gd name="T84" fmla="*/ 66 w 86"/>
              <a:gd name="T85" fmla="*/ 54 h 80"/>
              <a:gd name="T86" fmla="*/ 45 w 86"/>
              <a:gd name="T87" fmla="*/ 30 h 80"/>
              <a:gd name="T88" fmla="*/ 41 w 86"/>
              <a:gd name="T89" fmla="*/ 30 h 80"/>
              <a:gd name="T90" fmla="*/ 15 w 86"/>
              <a:gd name="T91" fmla="*/ 30 h 80"/>
              <a:gd name="T92" fmla="*/ 18 w 86"/>
              <a:gd name="T93" fmla="*/ 10 h 80"/>
              <a:gd name="T94" fmla="*/ 42 w 86"/>
              <a:gd name="T95" fmla="*/ 10 h 80"/>
              <a:gd name="T96" fmla="*/ 45 w 86"/>
              <a:gd name="T97" fmla="*/ 10 h 80"/>
              <a:gd name="T98" fmla="*/ 69 w 86"/>
              <a:gd name="T99" fmla="*/ 10 h 80"/>
              <a:gd name="T100" fmla="*/ 71 w 86"/>
              <a:gd name="T101" fmla="*/ 30 h 80"/>
              <a:gd name="T102" fmla="*/ 45 w 86"/>
              <a:gd name="T103" fmla="*/ 3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6" h="80">
                <a:moveTo>
                  <a:pt x="86" y="35"/>
                </a:moveTo>
                <a:cubicBezTo>
                  <a:pt x="86" y="22"/>
                  <a:pt x="86" y="22"/>
                  <a:pt x="86" y="22"/>
                </a:cubicBezTo>
                <a:cubicBezTo>
                  <a:pt x="78" y="22"/>
                  <a:pt x="78" y="22"/>
                  <a:pt x="78" y="22"/>
                </a:cubicBezTo>
                <a:cubicBezTo>
                  <a:pt x="76" y="9"/>
                  <a:pt x="76" y="9"/>
                  <a:pt x="76" y="9"/>
                </a:cubicBezTo>
                <a:cubicBezTo>
                  <a:pt x="76" y="8"/>
                  <a:pt x="75" y="3"/>
                  <a:pt x="75" y="1"/>
                </a:cubicBezTo>
                <a:cubicBezTo>
                  <a:pt x="74" y="0"/>
                  <a:pt x="73" y="0"/>
                  <a:pt x="72" y="0"/>
                </a:cubicBezTo>
                <a:cubicBezTo>
                  <a:pt x="44" y="0"/>
                  <a:pt x="44" y="0"/>
                  <a:pt x="44" y="0"/>
                </a:cubicBezTo>
                <a:cubicBezTo>
                  <a:pt x="42" y="0"/>
                  <a:pt x="42" y="0"/>
                  <a:pt x="42" y="0"/>
                </a:cubicBezTo>
                <a:cubicBezTo>
                  <a:pt x="14" y="0"/>
                  <a:pt x="14" y="0"/>
                  <a:pt x="14" y="0"/>
                </a:cubicBezTo>
                <a:cubicBezTo>
                  <a:pt x="13" y="0"/>
                  <a:pt x="12" y="0"/>
                  <a:pt x="11" y="1"/>
                </a:cubicBezTo>
                <a:cubicBezTo>
                  <a:pt x="11" y="3"/>
                  <a:pt x="10" y="8"/>
                  <a:pt x="10" y="9"/>
                </a:cubicBezTo>
                <a:cubicBezTo>
                  <a:pt x="8" y="22"/>
                  <a:pt x="8" y="22"/>
                  <a:pt x="8" y="22"/>
                </a:cubicBezTo>
                <a:cubicBezTo>
                  <a:pt x="0" y="22"/>
                  <a:pt x="0" y="22"/>
                  <a:pt x="0" y="22"/>
                </a:cubicBezTo>
                <a:cubicBezTo>
                  <a:pt x="0" y="35"/>
                  <a:pt x="0" y="35"/>
                  <a:pt x="0" y="35"/>
                </a:cubicBezTo>
                <a:cubicBezTo>
                  <a:pt x="7" y="36"/>
                  <a:pt x="7" y="36"/>
                  <a:pt x="7" y="36"/>
                </a:cubicBezTo>
                <a:cubicBezTo>
                  <a:pt x="7" y="36"/>
                  <a:pt x="7" y="36"/>
                  <a:pt x="7" y="36"/>
                </a:cubicBezTo>
                <a:cubicBezTo>
                  <a:pt x="6" y="42"/>
                  <a:pt x="6" y="42"/>
                  <a:pt x="6" y="42"/>
                </a:cubicBezTo>
                <a:cubicBezTo>
                  <a:pt x="6" y="77"/>
                  <a:pt x="6" y="77"/>
                  <a:pt x="6" y="77"/>
                </a:cubicBezTo>
                <a:cubicBezTo>
                  <a:pt x="6" y="78"/>
                  <a:pt x="7" y="80"/>
                  <a:pt x="8" y="80"/>
                </a:cubicBezTo>
                <a:cubicBezTo>
                  <a:pt x="15" y="80"/>
                  <a:pt x="15" y="80"/>
                  <a:pt x="15" y="80"/>
                </a:cubicBezTo>
                <a:cubicBezTo>
                  <a:pt x="17" y="80"/>
                  <a:pt x="18" y="78"/>
                  <a:pt x="18" y="77"/>
                </a:cubicBezTo>
                <a:cubicBezTo>
                  <a:pt x="18" y="69"/>
                  <a:pt x="18" y="69"/>
                  <a:pt x="18" y="69"/>
                </a:cubicBezTo>
                <a:cubicBezTo>
                  <a:pt x="40" y="69"/>
                  <a:pt x="40" y="69"/>
                  <a:pt x="40" y="69"/>
                </a:cubicBezTo>
                <a:cubicBezTo>
                  <a:pt x="46" y="69"/>
                  <a:pt x="46" y="69"/>
                  <a:pt x="46" y="69"/>
                </a:cubicBezTo>
                <a:cubicBezTo>
                  <a:pt x="68" y="69"/>
                  <a:pt x="68" y="69"/>
                  <a:pt x="68" y="69"/>
                </a:cubicBezTo>
                <a:cubicBezTo>
                  <a:pt x="68" y="77"/>
                  <a:pt x="68" y="77"/>
                  <a:pt x="68" y="77"/>
                </a:cubicBezTo>
                <a:cubicBezTo>
                  <a:pt x="68" y="78"/>
                  <a:pt x="70" y="80"/>
                  <a:pt x="71" y="80"/>
                </a:cubicBezTo>
                <a:cubicBezTo>
                  <a:pt x="78" y="80"/>
                  <a:pt x="78" y="80"/>
                  <a:pt x="78" y="80"/>
                </a:cubicBezTo>
                <a:cubicBezTo>
                  <a:pt x="79" y="80"/>
                  <a:pt x="80" y="78"/>
                  <a:pt x="80" y="77"/>
                </a:cubicBezTo>
                <a:cubicBezTo>
                  <a:pt x="80" y="42"/>
                  <a:pt x="80" y="42"/>
                  <a:pt x="80" y="42"/>
                </a:cubicBezTo>
                <a:cubicBezTo>
                  <a:pt x="80" y="36"/>
                  <a:pt x="80" y="36"/>
                  <a:pt x="80" y="36"/>
                </a:cubicBezTo>
                <a:cubicBezTo>
                  <a:pt x="80" y="36"/>
                  <a:pt x="80" y="36"/>
                  <a:pt x="80" y="36"/>
                </a:cubicBezTo>
                <a:lnTo>
                  <a:pt x="86" y="35"/>
                </a:lnTo>
                <a:close/>
                <a:moveTo>
                  <a:pt x="22" y="54"/>
                </a:moveTo>
                <a:cubicBezTo>
                  <a:pt x="18" y="55"/>
                  <a:pt x="15" y="51"/>
                  <a:pt x="16" y="48"/>
                </a:cubicBezTo>
                <a:cubicBezTo>
                  <a:pt x="16" y="45"/>
                  <a:pt x="18" y="43"/>
                  <a:pt x="20" y="43"/>
                </a:cubicBezTo>
                <a:cubicBezTo>
                  <a:pt x="24" y="42"/>
                  <a:pt x="28" y="46"/>
                  <a:pt x="27" y="49"/>
                </a:cubicBezTo>
                <a:cubicBezTo>
                  <a:pt x="27" y="52"/>
                  <a:pt x="25" y="54"/>
                  <a:pt x="22" y="54"/>
                </a:cubicBezTo>
                <a:close/>
                <a:moveTo>
                  <a:pt x="66" y="54"/>
                </a:moveTo>
                <a:cubicBezTo>
                  <a:pt x="62" y="55"/>
                  <a:pt x="59" y="51"/>
                  <a:pt x="59" y="48"/>
                </a:cubicBezTo>
                <a:cubicBezTo>
                  <a:pt x="59" y="45"/>
                  <a:pt x="61" y="43"/>
                  <a:pt x="64" y="43"/>
                </a:cubicBezTo>
                <a:cubicBezTo>
                  <a:pt x="68" y="42"/>
                  <a:pt x="71" y="46"/>
                  <a:pt x="70" y="49"/>
                </a:cubicBezTo>
                <a:cubicBezTo>
                  <a:pt x="70" y="52"/>
                  <a:pt x="68" y="54"/>
                  <a:pt x="66" y="54"/>
                </a:cubicBezTo>
                <a:close/>
                <a:moveTo>
                  <a:pt x="45" y="30"/>
                </a:moveTo>
                <a:cubicBezTo>
                  <a:pt x="41" y="30"/>
                  <a:pt x="41" y="30"/>
                  <a:pt x="41" y="30"/>
                </a:cubicBezTo>
                <a:cubicBezTo>
                  <a:pt x="15" y="30"/>
                  <a:pt x="15" y="30"/>
                  <a:pt x="15" y="30"/>
                </a:cubicBezTo>
                <a:cubicBezTo>
                  <a:pt x="18" y="10"/>
                  <a:pt x="18" y="10"/>
                  <a:pt x="18" y="10"/>
                </a:cubicBezTo>
                <a:cubicBezTo>
                  <a:pt x="42" y="10"/>
                  <a:pt x="42" y="10"/>
                  <a:pt x="42" y="10"/>
                </a:cubicBezTo>
                <a:cubicBezTo>
                  <a:pt x="45" y="10"/>
                  <a:pt x="45" y="10"/>
                  <a:pt x="45" y="10"/>
                </a:cubicBezTo>
                <a:cubicBezTo>
                  <a:pt x="69" y="10"/>
                  <a:pt x="69" y="10"/>
                  <a:pt x="69" y="10"/>
                </a:cubicBezTo>
                <a:cubicBezTo>
                  <a:pt x="71" y="30"/>
                  <a:pt x="71" y="30"/>
                  <a:pt x="71" y="30"/>
                </a:cubicBezTo>
                <a:lnTo>
                  <a:pt x="45" y="30"/>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8" name="Freeform 878">
            <a:extLst>
              <a:ext uri="{FF2B5EF4-FFF2-40B4-BE49-F238E27FC236}">
                <a16:creationId xmlns:a16="http://schemas.microsoft.com/office/drawing/2014/main" id="{06366EC8-8F97-412B-8ACC-85CA5A3B6420}"/>
              </a:ext>
            </a:extLst>
          </p:cNvPr>
          <p:cNvSpPr>
            <a:spLocks noChangeAspect="1"/>
          </p:cNvSpPr>
          <p:nvPr/>
        </p:nvSpPr>
        <p:spPr bwMode="auto">
          <a:xfrm>
            <a:off x="7149409" y="1536520"/>
            <a:ext cx="275010" cy="274320"/>
          </a:xfrm>
          <a:custGeom>
            <a:avLst/>
            <a:gdLst>
              <a:gd name="T0" fmla="*/ 80 w 80"/>
              <a:gd name="T1" fmla="*/ 38 h 80"/>
              <a:gd name="T2" fmla="*/ 80 w 80"/>
              <a:gd name="T3" fmla="*/ 37 h 80"/>
              <a:gd name="T4" fmla="*/ 74 w 80"/>
              <a:gd name="T5" fmla="*/ 33 h 80"/>
              <a:gd name="T6" fmla="*/ 57 w 80"/>
              <a:gd name="T7" fmla="*/ 33 h 80"/>
              <a:gd name="T8" fmla="*/ 23 w 80"/>
              <a:gd name="T9" fmla="*/ 0 h 80"/>
              <a:gd name="T10" fmla="*/ 15 w 80"/>
              <a:gd name="T11" fmla="*/ 1 h 80"/>
              <a:gd name="T12" fmla="*/ 31 w 80"/>
              <a:gd name="T13" fmla="*/ 34 h 80"/>
              <a:gd name="T14" fmla="*/ 18 w 80"/>
              <a:gd name="T15" fmla="*/ 35 h 80"/>
              <a:gd name="T16" fmla="*/ 7 w 80"/>
              <a:gd name="T17" fmla="*/ 25 h 80"/>
              <a:gd name="T18" fmla="*/ 0 w 80"/>
              <a:gd name="T19" fmla="*/ 26 h 80"/>
              <a:gd name="T20" fmla="*/ 6 w 80"/>
              <a:gd name="T21" fmla="*/ 36 h 80"/>
              <a:gd name="T22" fmla="*/ 0 w 80"/>
              <a:gd name="T23" fmla="*/ 37 h 80"/>
              <a:gd name="T24" fmla="*/ 0 w 80"/>
              <a:gd name="T25" fmla="*/ 38 h 80"/>
              <a:gd name="T26" fmla="*/ 0 w 80"/>
              <a:gd name="T27" fmla="*/ 40 h 80"/>
              <a:gd name="T28" fmla="*/ 0 w 80"/>
              <a:gd name="T29" fmla="*/ 41 h 80"/>
              <a:gd name="T30" fmla="*/ 0 w 80"/>
              <a:gd name="T31" fmla="*/ 42 h 80"/>
              <a:gd name="T32" fmla="*/ 6 w 80"/>
              <a:gd name="T33" fmla="*/ 43 h 80"/>
              <a:gd name="T34" fmla="*/ 0 w 80"/>
              <a:gd name="T35" fmla="*/ 54 h 80"/>
              <a:gd name="T36" fmla="*/ 7 w 80"/>
              <a:gd name="T37" fmla="*/ 54 h 80"/>
              <a:gd name="T38" fmla="*/ 18 w 80"/>
              <a:gd name="T39" fmla="*/ 44 h 80"/>
              <a:gd name="T40" fmla="*/ 31 w 80"/>
              <a:gd name="T41" fmla="*/ 45 h 80"/>
              <a:gd name="T42" fmla="*/ 15 w 80"/>
              <a:gd name="T43" fmla="*/ 78 h 80"/>
              <a:gd name="T44" fmla="*/ 23 w 80"/>
              <a:gd name="T45" fmla="*/ 80 h 80"/>
              <a:gd name="T46" fmla="*/ 57 w 80"/>
              <a:gd name="T47" fmla="*/ 46 h 80"/>
              <a:gd name="T48" fmla="*/ 74 w 80"/>
              <a:gd name="T49" fmla="*/ 46 h 80"/>
              <a:gd name="T50" fmla="*/ 80 w 80"/>
              <a:gd name="T51" fmla="*/ 42 h 80"/>
              <a:gd name="T52" fmla="*/ 80 w 80"/>
              <a:gd name="T53" fmla="*/ 41 h 80"/>
              <a:gd name="T54" fmla="*/ 80 w 80"/>
              <a:gd name="T55" fmla="*/ 40 h 80"/>
              <a:gd name="T56" fmla="*/ 80 w 80"/>
              <a:gd name="T57" fmla="*/ 3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0" h="80">
                <a:moveTo>
                  <a:pt x="80" y="38"/>
                </a:moveTo>
                <a:cubicBezTo>
                  <a:pt x="80" y="38"/>
                  <a:pt x="80" y="38"/>
                  <a:pt x="80" y="37"/>
                </a:cubicBezTo>
                <a:cubicBezTo>
                  <a:pt x="79" y="35"/>
                  <a:pt x="76" y="33"/>
                  <a:pt x="74" y="33"/>
                </a:cubicBezTo>
                <a:cubicBezTo>
                  <a:pt x="67" y="33"/>
                  <a:pt x="62" y="33"/>
                  <a:pt x="57" y="33"/>
                </a:cubicBezTo>
                <a:cubicBezTo>
                  <a:pt x="23" y="0"/>
                  <a:pt x="23" y="0"/>
                  <a:pt x="23" y="0"/>
                </a:cubicBezTo>
                <a:cubicBezTo>
                  <a:pt x="15" y="1"/>
                  <a:pt x="15" y="1"/>
                  <a:pt x="15" y="1"/>
                </a:cubicBezTo>
                <a:cubicBezTo>
                  <a:pt x="31" y="34"/>
                  <a:pt x="31" y="34"/>
                  <a:pt x="31" y="34"/>
                </a:cubicBezTo>
                <a:cubicBezTo>
                  <a:pt x="27" y="34"/>
                  <a:pt x="23" y="35"/>
                  <a:pt x="18" y="35"/>
                </a:cubicBezTo>
                <a:cubicBezTo>
                  <a:pt x="7" y="25"/>
                  <a:pt x="7" y="25"/>
                  <a:pt x="7" y="25"/>
                </a:cubicBezTo>
                <a:cubicBezTo>
                  <a:pt x="0" y="26"/>
                  <a:pt x="0" y="26"/>
                  <a:pt x="0" y="26"/>
                </a:cubicBezTo>
                <a:cubicBezTo>
                  <a:pt x="6" y="36"/>
                  <a:pt x="6" y="36"/>
                  <a:pt x="6" y="36"/>
                </a:cubicBezTo>
                <a:cubicBezTo>
                  <a:pt x="4" y="37"/>
                  <a:pt x="2" y="37"/>
                  <a:pt x="0" y="37"/>
                </a:cubicBezTo>
                <a:cubicBezTo>
                  <a:pt x="0" y="38"/>
                  <a:pt x="0" y="38"/>
                  <a:pt x="0" y="38"/>
                </a:cubicBezTo>
                <a:cubicBezTo>
                  <a:pt x="0" y="40"/>
                  <a:pt x="0" y="40"/>
                  <a:pt x="0" y="40"/>
                </a:cubicBezTo>
                <a:cubicBezTo>
                  <a:pt x="0" y="41"/>
                  <a:pt x="0" y="41"/>
                  <a:pt x="0" y="41"/>
                </a:cubicBezTo>
                <a:cubicBezTo>
                  <a:pt x="0" y="42"/>
                  <a:pt x="0" y="42"/>
                  <a:pt x="0" y="42"/>
                </a:cubicBezTo>
                <a:cubicBezTo>
                  <a:pt x="2" y="42"/>
                  <a:pt x="4" y="43"/>
                  <a:pt x="6" y="43"/>
                </a:cubicBezTo>
                <a:cubicBezTo>
                  <a:pt x="0" y="54"/>
                  <a:pt x="0" y="54"/>
                  <a:pt x="0" y="54"/>
                </a:cubicBezTo>
                <a:cubicBezTo>
                  <a:pt x="7" y="54"/>
                  <a:pt x="7" y="54"/>
                  <a:pt x="7" y="54"/>
                </a:cubicBezTo>
                <a:cubicBezTo>
                  <a:pt x="18" y="44"/>
                  <a:pt x="18" y="44"/>
                  <a:pt x="18" y="44"/>
                </a:cubicBezTo>
                <a:cubicBezTo>
                  <a:pt x="23" y="44"/>
                  <a:pt x="27" y="45"/>
                  <a:pt x="31" y="45"/>
                </a:cubicBezTo>
                <a:cubicBezTo>
                  <a:pt x="15" y="78"/>
                  <a:pt x="15" y="78"/>
                  <a:pt x="15" y="78"/>
                </a:cubicBezTo>
                <a:cubicBezTo>
                  <a:pt x="23" y="80"/>
                  <a:pt x="23" y="80"/>
                  <a:pt x="23" y="80"/>
                </a:cubicBezTo>
                <a:cubicBezTo>
                  <a:pt x="57" y="46"/>
                  <a:pt x="57" y="46"/>
                  <a:pt x="57" y="46"/>
                </a:cubicBezTo>
                <a:cubicBezTo>
                  <a:pt x="62" y="46"/>
                  <a:pt x="67" y="46"/>
                  <a:pt x="74" y="46"/>
                </a:cubicBezTo>
                <a:cubicBezTo>
                  <a:pt x="76" y="46"/>
                  <a:pt x="79" y="45"/>
                  <a:pt x="80" y="42"/>
                </a:cubicBezTo>
                <a:cubicBezTo>
                  <a:pt x="80" y="41"/>
                  <a:pt x="80" y="41"/>
                  <a:pt x="80" y="41"/>
                </a:cubicBezTo>
                <a:cubicBezTo>
                  <a:pt x="80" y="40"/>
                  <a:pt x="80" y="40"/>
                  <a:pt x="80" y="40"/>
                </a:cubicBezTo>
                <a:cubicBezTo>
                  <a:pt x="80" y="39"/>
                  <a:pt x="80" y="39"/>
                  <a:pt x="80" y="38"/>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9" name="Group 78">
            <a:extLst>
              <a:ext uri="{FF2B5EF4-FFF2-40B4-BE49-F238E27FC236}">
                <a16:creationId xmlns:a16="http://schemas.microsoft.com/office/drawing/2014/main" id="{076E4C60-1B9E-44A3-B3BC-75E7CA4FFA90}"/>
              </a:ext>
            </a:extLst>
          </p:cNvPr>
          <p:cNvGrpSpPr>
            <a:grpSpLocks noChangeAspect="1"/>
          </p:cNvGrpSpPr>
          <p:nvPr/>
        </p:nvGrpSpPr>
        <p:grpSpPr>
          <a:xfrm>
            <a:off x="1594167" y="1634242"/>
            <a:ext cx="419838" cy="274320"/>
            <a:chOff x="2362300" y="4196037"/>
            <a:chExt cx="586567" cy="383260"/>
          </a:xfrm>
          <a:solidFill>
            <a:srgbClr val="595555"/>
          </a:solidFill>
        </p:grpSpPr>
        <p:sp>
          <p:nvSpPr>
            <p:cNvPr id="80" name="Freeform 886">
              <a:extLst>
                <a:ext uri="{FF2B5EF4-FFF2-40B4-BE49-F238E27FC236}">
                  <a16:creationId xmlns:a16="http://schemas.microsoft.com/office/drawing/2014/main" id="{07984CFC-A49C-4DA0-9091-58AF21EBCCA1}"/>
                </a:ext>
              </a:extLst>
            </p:cNvPr>
            <p:cNvSpPr>
              <a:spLocks/>
            </p:cNvSpPr>
            <p:nvPr/>
          </p:nvSpPr>
          <p:spPr bwMode="auto">
            <a:xfrm>
              <a:off x="2402137" y="4230379"/>
              <a:ext cx="546730" cy="348918"/>
            </a:xfrm>
            <a:custGeom>
              <a:avLst/>
              <a:gdLst>
                <a:gd name="T0" fmla="*/ 77 w 80"/>
                <a:gd name="T1" fmla="*/ 0 h 51"/>
                <a:gd name="T2" fmla="*/ 72 w 80"/>
                <a:gd name="T3" fmla="*/ 0 h 51"/>
                <a:gd name="T4" fmla="*/ 72 w 80"/>
                <a:gd name="T5" fmla="*/ 40 h 51"/>
                <a:gd name="T6" fmla="*/ 72 w 80"/>
                <a:gd name="T7" fmla="*/ 43 h 51"/>
                <a:gd name="T8" fmla="*/ 0 w 80"/>
                <a:gd name="T9" fmla="*/ 43 h 51"/>
                <a:gd name="T10" fmla="*/ 0 w 80"/>
                <a:gd name="T11" fmla="*/ 48 h 51"/>
                <a:gd name="T12" fmla="*/ 2 w 80"/>
                <a:gd name="T13" fmla="*/ 51 h 51"/>
                <a:gd name="T14" fmla="*/ 77 w 80"/>
                <a:gd name="T15" fmla="*/ 51 h 51"/>
                <a:gd name="T16" fmla="*/ 80 w 80"/>
                <a:gd name="T17" fmla="*/ 48 h 51"/>
                <a:gd name="T18" fmla="*/ 80 w 80"/>
                <a:gd name="T19" fmla="*/ 47 h 51"/>
                <a:gd name="T20" fmla="*/ 80 w 80"/>
                <a:gd name="T21" fmla="*/ 43 h 51"/>
                <a:gd name="T22" fmla="*/ 80 w 80"/>
                <a:gd name="T23" fmla="*/ 3 h 51"/>
                <a:gd name="T24" fmla="*/ 77 w 80"/>
                <a:gd name="T25"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0" h="51">
                  <a:moveTo>
                    <a:pt x="77" y="0"/>
                  </a:moveTo>
                  <a:cubicBezTo>
                    <a:pt x="72" y="0"/>
                    <a:pt x="72" y="0"/>
                    <a:pt x="72" y="0"/>
                  </a:cubicBezTo>
                  <a:cubicBezTo>
                    <a:pt x="72" y="40"/>
                    <a:pt x="72" y="40"/>
                    <a:pt x="72" y="40"/>
                  </a:cubicBezTo>
                  <a:cubicBezTo>
                    <a:pt x="72" y="43"/>
                    <a:pt x="72" y="43"/>
                    <a:pt x="72" y="43"/>
                  </a:cubicBezTo>
                  <a:cubicBezTo>
                    <a:pt x="0" y="43"/>
                    <a:pt x="0" y="43"/>
                    <a:pt x="0" y="43"/>
                  </a:cubicBezTo>
                  <a:cubicBezTo>
                    <a:pt x="0" y="48"/>
                    <a:pt x="0" y="48"/>
                    <a:pt x="0" y="48"/>
                  </a:cubicBezTo>
                  <a:cubicBezTo>
                    <a:pt x="0" y="49"/>
                    <a:pt x="1" y="51"/>
                    <a:pt x="2" y="51"/>
                  </a:cubicBezTo>
                  <a:cubicBezTo>
                    <a:pt x="77" y="51"/>
                    <a:pt x="77" y="51"/>
                    <a:pt x="77" y="51"/>
                  </a:cubicBezTo>
                  <a:cubicBezTo>
                    <a:pt x="79" y="51"/>
                    <a:pt x="80" y="49"/>
                    <a:pt x="80" y="48"/>
                  </a:cubicBezTo>
                  <a:cubicBezTo>
                    <a:pt x="80" y="47"/>
                    <a:pt x="80" y="47"/>
                    <a:pt x="80" y="47"/>
                  </a:cubicBezTo>
                  <a:cubicBezTo>
                    <a:pt x="80" y="43"/>
                    <a:pt x="80" y="43"/>
                    <a:pt x="80" y="43"/>
                  </a:cubicBezTo>
                  <a:cubicBezTo>
                    <a:pt x="80" y="3"/>
                    <a:pt x="80" y="3"/>
                    <a:pt x="80" y="3"/>
                  </a:cubicBezTo>
                  <a:cubicBezTo>
                    <a:pt x="80" y="1"/>
                    <a:pt x="79" y="0"/>
                    <a:pt x="7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1" name="Oval 887">
              <a:extLst>
                <a:ext uri="{FF2B5EF4-FFF2-40B4-BE49-F238E27FC236}">
                  <a16:creationId xmlns:a16="http://schemas.microsoft.com/office/drawing/2014/main" id="{2F7F9CC8-7109-40C7-84C0-2F944DF53EEB}"/>
                </a:ext>
              </a:extLst>
            </p:cNvPr>
            <p:cNvSpPr>
              <a:spLocks noChangeArrowheads="1"/>
            </p:cNvSpPr>
            <p:nvPr/>
          </p:nvSpPr>
          <p:spPr bwMode="auto">
            <a:xfrm>
              <a:off x="2546375" y="4278458"/>
              <a:ext cx="142864" cy="1428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888">
              <a:extLst>
                <a:ext uri="{FF2B5EF4-FFF2-40B4-BE49-F238E27FC236}">
                  <a16:creationId xmlns:a16="http://schemas.microsoft.com/office/drawing/2014/main" id="{C0A180D6-3A27-4EAB-BD63-DDA24D6E9101}"/>
                </a:ext>
              </a:extLst>
            </p:cNvPr>
            <p:cNvSpPr>
              <a:spLocks noEditPoints="1"/>
            </p:cNvSpPr>
            <p:nvPr/>
          </p:nvSpPr>
          <p:spPr bwMode="auto">
            <a:xfrm>
              <a:off x="2362300" y="4196037"/>
              <a:ext cx="511014" cy="307707"/>
            </a:xfrm>
            <a:custGeom>
              <a:avLst/>
              <a:gdLst>
                <a:gd name="T0" fmla="*/ 8 w 75"/>
                <a:gd name="T1" fmla="*/ 45 h 45"/>
                <a:gd name="T2" fmla="*/ 67 w 75"/>
                <a:gd name="T3" fmla="*/ 45 h 45"/>
                <a:gd name="T4" fmla="*/ 72 w 75"/>
                <a:gd name="T5" fmla="*/ 45 h 45"/>
                <a:gd name="T6" fmla="*/ 75 w 75"/>
                <a:gd name="T7" fmla="*/ 45 h 45"/>
                <a:gd name="T8" fmla="*/ 75 w 75"/>
                <a:gd name="T9" fmla="*/ 45 h 45"/>
                <a:gd name="T10" fmla="*/ 75 w 75"/>
                <a:gd name="T11" fmla="*/ 5 h 45"/>
                <a:gd name="T12" fmla="*/ 75 w 75"/>
                <a:gd name="T13" fmla="*/ 5 h 45"/>
                <a:gd name="T14" fmla="*/ 75 w 75"/>
                <a:gd name="T15" fmla="*/ 2 h 45"/>
                <a:gd name="T16" fmla="*/ 72 w 75"/>
                <a:gd name="T17" fmla="*/ 0 h 45"/>
                <a:gd name="T18" fmla="*/ 3 w 75"/>
                <a:gd name="T19" fmla="*/ 0 h 45"/>
                <a:gd name="T20" fmla="*/ 0 w 75"/>
                <a:gd name="T21" fmla="*/ 2 h 45"/>
                <a:gd name="T22" fmla="*/ 0 w 75"/>
                <a:gd name="T23" fmla="*/ 8 h 45"/>
                <a:gd name="T24" fmla="*/ 0 w 75"/>
                <a:gd name="T25" fmla="*/ 37 h 45"/>
                <a:gd name="T26" fmla="*/ 0 w 75"/>
                <a:gd name="T27" fmla="*/ 42 h 45"/>
                <a:gd name="T28" fmla="*/ 3 w 75"/>
                <a:gd name="T29" fmla="*/ 45 h 45"/>
                <a:gd name="T30" fmla="*/ 4 w 75"/>
                <a:gd name="T31" fmla="*/ 45 h 45"/>
                <a:gd name="T32" fmla="*/ 8 w 75"/>
                <a:gd name="T33" fmla="*/ 45 h 45"/>
                <a:gd name="T34" fmla="*/ 8 w 75"/>
                <a:gd name="T35" fmla="*/ 16 h 45"/>
                <a:gd name="T36" fmla="*/ 16 w 75"/>
                <a:gd name="T37" fmla="*/ 8 h 45"/>
                <a:gd name="T38" fmla="*/ 59 w 75"/>
                <a:gd name="T39" fmla="*/ 8 h 45"/>
                <a:gd name="T40" fmla="*/ 67 w 75"/>
                <a:gd name="T41" fmla="*/ 16 h 45"/>
                <a:gd name="T42" fmla="*/ 67 w 75"/>
                <a:gd name="T43" fmla="*/ 16 h 45"/>
                <a:gd name="T44" fmla="*/ 67 w 75"/>
                <a:gd name="T45" fmla="*/ 29 h 45"/>
                <a:gd name="T46" fmla="*/ 67 w 75"/>
                <a:gd name="T47" fmla="*/ 29 h 45"/>
                <a:gd name="T48" fmla="*/ 59 w 75"/>
                <a:gd name="T49" fmla="*/ 37 h 45"/>
                <a:gd name="T50" fmla="*/ 16 w 75"/>
                <a:gd name="T51" fmla="*/ 37 h 45"/>
                <a:gd name="T52" fmla="*/ 8 w 75"/>
                <a:gd name="T53" fmla="*/ 29 h 45"/>
                <a:gd name="T54" fmla="*/ 8 w 75"/>
                <a:gd name="T55" fmla="*/ 1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5" h="45">
                  <a:moveTo>
                    <a:pt x="8" y="45"/>
                  </a:moveTo>
                  <a:cubicBezTo>
                    <a:pt x="67" y="45"/>
                    <a:pt x="67" y="45"/>
                    <a:pt x="67" y="45"/>
                  </a:cubicBezTo>
                  <a:cubicBezTo>
                    <a:pt x="72" y="45"/>
                    <a:pt x="72" y="45"/>
                    <a:pt x="72" y="45"/>
                  </a:cubicBezTo>
                  <a:cubicBezTo>
                    <a:pt x="75" y="45"/>
                    <a:pt x="75" y="45"/>
                    <a:pt x="75" y="45"/>
                  </a:cubicBezTo>
                  <a:cubicBezTo>
                    <a:pt x="75" y="45"/>
                    <a:pt x="75" y="45"/>
                    <a:pt x="75" y="45"/>
                  </a:cubicBezTo>
                  <a:cubicBezTo>
                    <a:pt x="75" y="5"/>
                    <a:pt x="75" y="5"/>
                    <a:pt x="75" y="5"/>
                  </a:cubicBezTo>
                  <a:cubicBezTo>
                    <a:pt x="75" y="5"/>
                    <a:pt x="75" y="5"/>
                    <a:pt x="75" y="5"/>
                  </a:cubicBezTo>
                  <a:cubicBezTo>
                    <a:pt x="75" y="2"/>
                    <a:pt x="75" y="2"/>
                    <a:pt x="75" y="2"/>
                  </a:cubicBezTo>
                  <a:cubicBezTo>
                    <a:pt x="75" y="1"/>
                    <a:pt x="74" y="0"/>
                    <a:pt x="72" y="0"/>
                  </a:cubicBezTo>
                  <a:cubicBezTo>
                    <a:pt x="3" y="0"/>
                    <a:pt x="3" y="0"/>
                    <a:pt x="3" y="0"/>
                  </a:cubicBezTo>
                  <a:cubicBezTo>
                    <a:pt x="2" y="0"/>
                    <a:pt x="0" y="1"/>
                    <a:pt x="0" y="2"/>
                  </a:cubicBezTo>
                  <a:cubicBezTo>
                    <a:pt x="0" y="8"/>
                    <a:pt x="0" y="8"/>
                    <a:pt x="0" y="8"/>
                  </a:cubicBezTo>
                  <a:cubicBezTo>
                    <a:pt x="0" y="37"/>
                    <a:pt x="0" y="37"/>
                    <a:pt x="0" y="37"/>
                  </a:cubicBezTo>
                  <a:cubicBezTo>
                    <a:pt x="0" y="42"/>
                    <a:pt x="0" y="42"/>
                    <a:pt x="0" y="42"/>
                  </a:cubicBezTo>
                  <a:cubicBezTo>
                    <a:pt x="0" y="44"/>
                    <a:pt x="2" y="45"/>
                    <a:pt x="3" y="45"/>
                  </a:cubicBezTo>
                  <a:cubicBezTo>
                    <a:pt x="4" y="45"/>
                    <a:pt x="4" y="45"/>
                    <a:pt x="4" y="45"/>
                  </a:cubicBezTo>
                  <a:cubicBezTo>
                    <a:pt x="8" y="45"/>
                    <a:pt x="8" y="45"/>
                    <a:pt x="8" y="45"/>
                  </a:cubicBezTo>
                  <a:close/>
                  <a:moveTo>
                    <a:pt x="8" y="16"/>
                  </a:moveTo>
                  <a:cubicBezTo>
                    <a:pt x="13" y="16"/>
                    <a:pt x="16" y="12"/>
                    <a:pt x="16" y="8"/>
                  </a:cubicBezTo>
                  <a:cubicBezTo>
                    <a:pt x="59" y="8"/>
                    <a:pt x="59" y="8"/>
                    <a:pt x="59" y="8"/>
                  </a:cubicBezTo>
                  <a:cubicBezTo>
                    <a:pt x="59" y="12"/>
                    <a:pt x="63" y="16"/>
                    <a:pt x="67" y="16"/>
                  </a:cubicBezTo>
                  <a:cubicBezTo>
                    <a:pt x="67" y="16"/>
                    <a:pt x="67" y="16"/>
                    <a:pt x="67" y="16"/>
                  </a:cubicBezTo>
                  <a:cubicBezTo>
                    <a:pt x="67" y="29"/>
                    <a:pt x="67" y="29"/>
                    <a:pt x="67" y="29"/>
                  </a:cubicBezTo>
                  <a:cubicBezTo>
                    <a:pt x="67" y="29"/>
                    <a:pt x="67" y="29"/>
                    <a:pt x="67" y="29"/>
                  </a:cubicBezTo>
                  <a:cubicBezTo>
                    <a:pt x="63" y="29"/>
                    <a:pt x="59" y="33"/>
                    <a:pt x="59" y="37"/>
                  </a:cubicBezTo>
                  <a:cubicBezTo>
                    <a:pt x="16" y="37"/>
                    <a:pt x="16" y="37"/>
                    <a:pt x="16" y="37"/>
                  </a:cubicBezTo>
                  <a:cubicBezTo>
                    <a:pt x="16" y="33"/>
                    <a:pt x="13" y="29"/>
                    <a:pt x="8" y="29"/>
                  </a:cubicBezTo>
                  <a:lnTo>
                    <a:pt x="8"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3" name="Freeform 889">
            <a:extLst>
              <a:ext uri="{FF2B5EF4-FFF2-40B4-BE49-F238E27FC236}">
                <a16:creationId xmlns:a16="http://schemas.microsoft.com/office/drawing/2014/main" id="{648A427A-AFA8-4468-8647-3A80BA739840}"/>
              </a:ext>
            </a:extLst>
          </p:cNvPr>
          <p:cNvSpPr>
            <a:spLocks noChangeAspect="1" noEditPoints="1"/>
          </p:cNvSpPr>
          <p:nvPr/>
        </p:nvSpPr>
        <p:spPr bwMode="auto">
          <a:xfrm>
            <a:off x="9948562" y="1511675"/>
            <a:ext cx="232716" cy="274320"/>
          </a:xfrm>
          <a:custGeom>
            <a:avLst/>
            <a:gdLst>
              <a:gd name="T0" fmla="*/ 58 w 72"/>
              <a:gd name="T1" fmla="*/ 72 h 85"/>
              <a:gd name="T2" fmla="*/ 63 w 72"/>
              <a:gd name="T3" fmla="*/ 72 h 85"/>
              <a:gd name="T4" fmla="*/ 71 w 72"/>
              <a:gd name="T5" fmla="*/ 64 h 85"/>
              <a:gd name="T6" fmla="*/ 71 w 72"/>
              <a:gd name="T7" fmla="*/ 9 h 85"/>
              <a:gd name="T8" fmla="*/ 36 w 72"/>
              <a:gd name="T9" fmla="*/ 0 h 85"/>
              <a:gd name="T10" fmla="*/ 1 w 72"/>
              <a:gd name="T11" fmla="*/ 9 h 85"/>
              <a:gd name="T12" fmla="*/ 1 w 72"/>
              <a:gd name="T13" fmla="*/ 64 h 85"/>
              <a:gd name="T14" fmla="*/ 9 w 72"/>
              <a:gd name="T15" fmla="*/ 72 h 85"/>
              <a:gd name="T16" fmla="*/ 15 w 72"/>
              <a:gd name="T17" fmla="*/ 72 h 85"/>
              <a:gd name="T18" fmla="*/ 0 w 72"/>
              <a:gd name="T19" fmla="*/ 85 h 85"/>
              <a:gd name="T20" fmla="*/ 36 w 72"/>
              <a:gd name="T21" fmla="*/ 85 h 85"/>
              <a:gd name="T22" fmla="*/ 72 w 72"/>
              <a:gd name="T23" fmla="*/ 85 h 85"/>
              <a:gd name="T24" fmla="*/ 58 w 72"/>
              <a:gd name="T25" fmla="*/ 72 h 85"/>
              <a:gd name="T26" fmla="*/ 53 w 72"/>
              <a:gd name="T27" fmla="*/ 61 h 85"/>
              <a:gd name="T28" fmla="*/ 47 w 72"/>
              <a:gd name="T29" fmla="*/ 55 h 85"/>
              <a:gd name="T30" fmla="*/ 53 w 72"/>
              <a:gd name="T31" fmla="*/ 49 h 85"/>
              <a:gd name="T32" fmla="*/ 59 w 72"/>
              <a:gd name="T33" fmla="*/ 55 h 85"/>
              <a:gd name="T34" fmla="*/ 53 w 72"/>
              <a:gd name="T35" fmla="*/ 61 h 85"/>
              <a:gd name="T36" fmla="*/ 39 w 72"/>
              <a:gd name="T37" fmla="*/ 15 h 85"/>
              <a:gd name="T38" fmla="*/ 65 w 72"/>
              <a:gd name="T39" fmla="*/ 15 h 85"/>
              <a:gd name="T40" fmla="*/ 65 w 72"/>
              <a:gd name="T41" fmla="*/ 36 h 85"/>
              <a:gd name="T42" fmla="*/ 39 w 72"/>
              <a:gd name="T43" fmla="*/ 36 h 85"/>
              <a:gd name="T44" fmla="*/ 39 w 72"/>
              <a:gd name="T45" fmla="*/ 15 h 85"/>
              <a:gd name="T46" fmla="*/ 50 w 72"/>
              <a:gd name="T47" fmla="*/ 72 h 85"/>
              <a:gd name="T48" fmla="*/ 53 w 72"/>
              <a:gd name="T49" fmla="*/ 75 h 85"/>
              <a:gd name="T50" fmla="*/ 36 w 72"/>
              <a:gd name="T51" fmla="*/ 75 h 85"/>
              <a:gd name="T52" fmla="*/ 19 w 72"/>
              <a:gd name="T53" fmla="*/ 75 h 85"/>
              <a:gd name="T54" fmla="*/ 22 w 72"/>
              <a:gd name="T55" fmla="*/ 72 h 85"/>
              <a:gd name="T56" fmla="*/ 36 w 72"/>
              <a:gd name="T57" fmla="*/ 72 h 85"/>
              <a:gd name="T58" fmla="*/ 50 w 72"/>
              <a:gd name="T59" fmla="*/ 72 h 85"/>
              <a:gd name="T60" fmla="*/ 7 w 72"/>
              <a:gd name="T61" fmla="*/ 36 h 85"/>
              <a:gd name="T62" fmla="*/ 7 w 72"/>
              <a:gd name="T63" fmla="*/ 15 h 85"/>
              <a:gd name="T64" fmla="*/ 33 w 72"/>
              <a:gd name="T65" fmla="*/ 15 h 85"/>
              <a:gd name="T66" fmla="*/ 33 w 72"/>
              <a:gd name="T67" fmla="*/ 36 h 85"/>
              <a:gd name="T68" fmla="*/ 7 w 72"/>
              <a:gd name="T69" fmla="*/ 36 h 85"/>
              <a:gd name="T70" fmla="*/ 13 w 72"/>
              <a:gd name="T71" fmla="*/ 55 h 85"/>
              <a:gd name="T72" fmla="*/ 19 w 72"/>
              <a:gd name="T73" fmla="*/ 49 h 85"/>
              <a:gd name="T74" fmla="*/ 25 w 72"/>
              <a:gd name="T75" fmla="*/ 55 h 85"/>
              <a:gd name="T76" fmla="*/ 19 w 72"/>
              <a:gd name="T77" fmla="*/ 61 h 85"/>
              <a:gd name="T78" fmla="*/ 13 w 72"/>
              <a:gd name="T79" fmla="*/ 55 h 85"/>
              <a:gd name="T80" fmla="*/ 12 w 72"/>
              <a:gd name="T81" fmla="*/ 81 h 85"/>
              <a:gd name="T82" fmla="*/ 15 w 72"/>
              <a:gd name="T83" fmla="*/ 79 h 85"/>
              <a:gd name="T84" fmla="*/ 36 w 72"/>
              <a:gd name="T85" fmla="*/ 79 h 85"/>
              <a:gd name="T86" fmla="*/ 57 w 72"/>
              <a:gd name="T87" fmla="*/ 79 h 85"/>
              <a:gd name="T88" fmla="*/ 61 w 72"/>
              <a:gd name="T89" fmla="*/ 81 h 85"/>
              <a:gd name="T90" fmla="*/ 36 w 72"/>
              <a:gd name="T91" fmla="*/ 81 h 85"/>
              <a:gd name="T92" fmla="*/ 12 w 72"/>
              <a:gd name="T93"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2" h="85">
                <a:moveTo>
                  <a:pt x="58" y="72"/>
                </a:moveTo>
                <a:cubicBezTo>
                  <a:pt x="63" y="72"/>
                  <a:pt x="63" y="72"/>
                  <a:pt x="63" y="72"/>
                </a:cubicBezTo>
                <a:cubicBezTo>
                  <a:pt x="67" y="72"/>
                  <a:pt x="71" y="68"/>
                  <a:pt x="71" y="64"/>
                </a:cubicBezTo>
                <a:cubicBezTo>
                  <a:pt x="71" y="9"/>
                  <a:pt x="71" y="9"/>
                  <a:pt x="71" y="9"/>
                </a:cubicBezTo>
                <a:cubicBezTo>
                  <a:pt x="71" y="9"/>
                  <a:pt x="72" y="0"/>
                  <a:pt x="36" y="0"/>
                </a:cubicBezTo>
                <a:cubicBezTo>
                  <a:pt x="0" y="0"/>
                  <a:pt x="1" y="9"/>
                  <a:pt x="1" y="9"/>
                </a:cubicBezTo>
                <a:cubicBezTo>
                  <a:pt x="1" y="64"/>
                  <a:pt x="1" y="64"/>
                  <a:pt x="1" y="64"/>
                </a:cubicBezTo>
                <a:cubicBezTo>
                  <a:pt x="1" y="68"/>
                  <a:pt x="5" y="72"/>
                  <a:pt x="9" y="72"/>
                </a:cubicBezTo>
                <a:cubicBezTo>
                  <a:pt x="15" y="72"/>
                  <a:pt x="15" y="72"/>
                  <a:pt x="15" y="72"/>
                </a:cubicBezTo>
                <a:cubicBezTo>
                  <a:pt x="0" y="85"/>
                  <a:pt x="0" y="85"/>
                  <a:pt x="0" y="85"/>
                </a:cubicBezTo>
                <a:cubicBezTo>
                  <a:pt x="36" y="85"/>
                  <a:pt x="36" y="85"/>
                  <a:pt x="36" y="85"/>
                </a:cubicBezTo>
                <a:cubicBezTo>
                  <a:pt x="72" y="85"/>
                  <a:pt x="72" y="85"/>
                  <a:pt x="72" y="85"/>
                </a:cubicBezTo>
                <a:lnTo>
                  <a:pt x="58" y="72"/>
                </a:lnTo>
                <a:close/>
                <a:moveTo>
                  <a:pt x="53" y="61"/>
                </a:moveTo>
                <a:cubicBezTo>
                  <a:pt x="49" y="61"/>
                  <a:pt x="47" y="59"/>
                  <a:pt x="47" y="55"/>
                </a:cubicBezTo>
                <a:cubicBezTo>
                  <a:pt x="47" y="52"/>
                  <a:pt x="49" y="49"/>
                  <a:pt x="53" y="49"/>
                </a:cubicBezTo>
                <a:cubicBezTo>
                  <a:pt x="56" y="49"/>
                  <a:pt x="59" y="52"/>
                  <a:pt x="59" y="55"/>
                </a:cubicBezTo>
                <a:cubicBezTo>
                  <a:pt x="59" y="59"/>
                  <a:pt x="56" y="61"/>
                  <a:pt x="53" y="61"/>
                </a:cubicBezTo>
                <a:close/>
                <a:moveTo>
                  <a:pt x="39" y="15"/>
                </a:moveTo>
                <a:cubicBezTo>
                  <a:pt x="65" y="15"/>
                  <a:pt x="65" y="15"/>
                  <a:pt x="65" y="15"/>
                </a:cubicBezTo>
                <a:cubicBezTo>
                  <a:pt x="65" y="36"/>
                  <a:pt x="65" y="36"/>
                  <a:pt x="65" y="36"/>
                </a:cubicBezTo>
                <a:cubicBezTo>
                  <a:pt x="39" y="36"/>
                  <a:pt x="39" y="36"/>
                  <a:pt x="39" y="36"/>
                </a:cubicBezTo>
                <a:lnTo>
                  <a:pt x="39" y="15"/>
                </a:lnTo>
                <a:close/>
                <a:moveTo>
                  <a:pt x="50" y="72"/>
                </a:moveTo>
                <a:cubicBezTo>
                  <a:pt x="53" y="75"/>
                  <a:pt x="53" y="75"/>
                  <a:pt x="53" y="75"/>
                </a:cubicBezTo>
                <a:cubicBezTo>
                  <a:pt x="36" y="75"/>
                  <a:pt x="36" y="75"/>
                  <a:pt x="36" y="75"/>
                </a:cubicBezTo>
                <a:cubicBezTo>
                  <a:pt x="19" y="75"/>
                  <a:pt x="19" y="75"/>
                  <a:pt x="19" y="75"/>
                </a:cubicBezTo>
                <a:cubicBezTo>
                  <a:pt x="22" y="72"/>
                  <a:pt x="22" y="72"/>
                  <a:pt x="22" y="72"/>
                </a:cubicBezTo>
                <a:cubicBezTo>
                  <a:pt x="36" y="72"/>
                  <a:pt x="36" y="72"/>
                  <a:pt x="36" y="72"/>
                </a:cubicBezTo>
                <a:lnTo>
                  <a:pt x="50" y="72"/>
                </a:lnTo>
                <a:close/>
                <a:moveTo>
                  <a:pt x="7" y="36"/>
                </a:moveTo>
                <a:cubicBezTo>
                  <a:pt x="7" y="15"/>
                  <a:pt x="7" y="15"/>
                  <a:pt x="7" y="15"/>
                </a:cubicBezTo>
                <a:cubicBezTo>
                  <a:pt x="33" y="15"/>
                  <a:pt x="33" y="15"/>
                  <a:pt x="33" y="15"/>
                </a:cubicBezTo>
                <a:cubicBezTo>
                  <a:pt x="33" y="36"/>
                  <a:pt x="33" y="36"/>
                  <a:pt x="33" y="36"/>
                </a:cubicBezTo>
                <a:lnTo>
                  <a:pt x="7" y="36"/>
                </a:lnTo>
                <a:close/>
                <a:moveTo>
                  <a:pt x="13" y="55"/>
                </a:moveTo>
                <a:cubicBezTo>
                  <a:pt x="13" y="52"/>
                  <a:pt x="16" y="49"/>
                  <a:pt x="19" y="49"/>
                </a:cubicBezTo>
                <a:cubicBezTo>
                  <a:pt x="23" y="49"/>
                  <a:pt x="25" y="52"/>
                  <a:pt x="25" y="55"/>
                </a:cubicBezTo>
                <a:cubicBezTo>
                  <a:pt x="25" y="59"/>
                  <a:pt x="23" y="61"/>
                  <a:pt x="19" y="61"/>
                </a:cubicBezTo>
                <a:cubicBezTo>
                  <a:pt x="16" y="61"/>
                  <a:pt x="13" y="59"/>
                  <a:pt x="13" y="55"/>
                </a:cubicBezTo>
                <a:close/>
                <a:moveTo>
                  <a:pt x="12" y="81"/>
                </a:moveTo>
                <a:cubicBezTo>
                  <a:pt x="15" y="79"/>
                  <a:pt x="15" y="79"/>
                  <a:pt x="15" y="79"/>
                </a:cubicBezTo>
                <a:cubicBezTo>
                  <a:pt x="36" y="79"/>
                  <a:pt x="36" y="79"/>
                  <a:pt x="36" y="79"/>
                </a:cubicBezTo>
                <a:cubicBezTo>
                  <a:pt x="57" y="79"/>
                  <a:pt x="57" y="79"/>
                  <a:pt x="57" y="79"/>
                </a:cubicBezTo>
                <a:cubicBezTo>
                  <a:pt x="61" y="81"/>
                  <a:pt x="61" y="81"/>
                  <a:pt x="61" y="81"/>
                </a:cubicBezTo>
                <a:cubicBezTo>
                  <a:pt x="36" y="81"/>
                  <a:pt x="36" y="81"/>
                  <a:pt x="36" y="81"/>
                </a:cubicBezTo>
                <a:lnTo>
                  <a:pt x="12" y="81"/>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84" name="Group 83">
            <a:extLst>
              <a:ext uri="{FF2B5EF4-FFF2-40B4-BE49-F238E27FC236}">
                <a16:creationId xmlns:a16="http://schemas.microsoft.com/office/drawing/2014/main" id="{ADED4AC9-A533-49B2-9E30-8B4324FC4635}"/>
              </a:ext>
            </a:extLst>
          </p:cNvPr>
          <p:cNvGrpSpPr>
            <a:grpSpLocks noChangeAspect="1"/>
          </p:cNvGrpSpPr>
          <p:nvPr/>
        </p:nvGrpSpPr>
        <p:grpSpPr>
          <a:xfrm>
            <a:off x="5411946" y="1511675"/>
            <a:ext cx="174861" cy="274320"/>
            <a:chOff x="5528664" y="4094383"/>
            <a:chExt cx="369524" cy="579700"/>
          </a:xfrm>
          <a:solidFill>
            <a:srgbClr val="595555"/>
          </a:solidFill>
        </p:grpSpPr>
        <p:sp>
          <p:nvSpPr>
            <p:cNvPr id="85" name="Freeform 897">
              <a:extLst>
                <a:ext uri="{FF2B5EF4-FFF2-40B4-BE49-F238E27FC236}">
                  <a16:creationId xmlns:a16="http://schemas.microsoft.com/office/drawing/2014/main" id="{B99DBA47-8F5E-4355-B485-9583F5363953}"/>
                </a:ext>
              </a:extLst>
            </p:cNvPr>
            <p:cNvSpPr>
              <a:spLocks/>
            </p:cNvSpPr>
            <p:nvPr/>
          </p:nvSpPr>
          <p:spPr bwMode="auto">
            <a:xfrm>
              <a:off x="5624823" y="4579297"/>
              <a:ext cx="177207" cy="34342"/>
            </a:xfrm>
            <a:custGeom>
              <a:avLst/>
              <a:gdLst>
                <a:gd name="T0" fmla="*/ 24 w 26"/>
                <a:gd name="T1" fmla="*/ 0 h 5"/>
                <a:gd name="T2" fmla="*/ 13 w 26"/>
                <a:gd name="T3" fmla="*/ 0 h 5"/>
                <a:gd name="T4" fmla="*/ 2 w 26"/>
                <a:gd name="T5" fmla="*/ 0 h 5"/>
                <a:gd name="T6" fmla="*/ 0 w 26"/>
                <a:gd name="T7" fmla="*/ 2 h 5"/>
                <a:gd name="T8" fmla="*/ 2 w 26"/>
                <a:gd name="T9" fmla="*/ 5 h 5"/>
                <a:gd name="T10" fmla="*/ 13 w 26"/>
                <a:gd name="T11" fmla="*/ 5 h 5"/>
                <a:gd name="T12" fmla="*/ 24 w 26"/>
                <a:gd name="T13" fmla="*/ 5 h 5"/>
                <a:gd name="T14" fmla="*/ 26 w 26"/>
                <a:gd name="T15" fmla="*/ 2 h 5"/>
                <a:gd name="T16" fmla="*/ 24 w 26"/>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5">
                  <a:moveTo>
                    <a:pt x="24" y="0"/>
                  </a:moveTo>
                  <a:cubicBezTo>
                    <a:pt x="13" y="0"/>
                    <a:pt x="13" y="0"/>
                    <a:pt x="13" y="0"/>
                  </a:cubicBezTo>
                  <a:cubicBezTo>
                    <a:pt x="2" y="0"/>
                    <a:pt x="2" y="0"/>
                    <a:pt x="2" y="0"/>
                  </a:cubicBezTo>
                  <a:cubicBezTo>
                    <a:pt x="1" y="0"/>
                    <a:pt x="0" y="1"/>
                    <a:pt x="0" y="2"/>
                  </a:cubicBezTo>
                  <a:cubicBezTo>
                    <a:pt x="0" y="4"/>
                    <a:pt x="1" y="5"/>
                    <a:pt x="2" y="5"/>
                  </a:cubicBezTo>
                  <a:cubicBezTo>
                    <a:pt x="13" y="5"/>
                    <a:pt x="13" y="5"/>
                    <a:pt x="13" y="5"/>
                  </a:cubicBezTo>
                  <a:cubicBezTo>
                    <a:pt x="24" y="5"/>
                    <a:pt x="24" y="5"/>
                    <a:pt x="24" y="5"/>
                  </a:cubicBezTo>
                  <a:cubicBezTo>
                    <a:pt x="25" y="5"/>
                    <a:pt x="26" y="4"/>
                    <a:pt x="26" y="2"/>
                  </a:cubicBezTo>
                  <a:cubicBezTo>
                    <a:pt x="26" y="1"/>
                    <a:pt x="25"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898">
              <a:extLst>
                <a:ext uri="{FF2B5EF4-FFF2-40B4-BE49-F238E27FC236}">
                  <a16:creationId xmlns:a16="http://schemas.microsoft.com/office/drawing/2014/main" id="{85366002-7E4E-4645-B2FB-8D876EA42EB8}"/>
                </a:ext>
              </a:extLst>
            </p:cNvPr>
            <p:cNvSpPr>
              <a:spLocks/>
            </p:cNvSpPr>
            <p:nvPr/>
          </p:nvSpPr>
          <p:spPr bwMode="auto">
            <a:xfrm>
              <a:off x="5528664" y="4094383"/>
              <a:ext cx="369524" cy="457440"/>
            </a:xfrm>
            <a:custGeom>
              <a:avLst/>
              <a:gdLst>
                <a:gd name="T0" fmla="*/ 27 w 54"/>
                <a:gd name="T1" fmla="*/ 0 h 67"/>
                <a:gd name="T2" fmla="*/ 0 w 54"/>
                <a:gd name="T3" fmla="*/ 28 h 67"/>
                <a:gd name="T4" fmla="*/ 6 w 54"/>
                <a:gd name="T5" fmla="*/ 44 h 67"/>
                <a:gd name="T6" fmla="*/ 7 w 54"/>
                <a:gd name="T7" fmla="*/ 46 h 67"/>
                <a:gd name="T8" fmla="*/ 7 w 54"/>
                <a:gd name="T9" fmla="*/ 47 h 67"/>
                <a:gd name="T10" fmla="*/ 14 w 54"/>
                <a:gd name="T11" fmla="*/ 67 h 67"/>
                <a:gd name="T12" fmla="*/ 14 w 54"/>
                <a:gd name="T13" fmla="*/ 67 h 67"/>
                <a:gd name="T14" fmla="*/ 17 w 54"/>
                <a:gd name="T15" fmla="*/ 67 h 67"/>
                <a:gd name="T16" fmla="*/ 26 w 54"/>
                <a:gd name="T17" fmla="*/ 67 h 67"/>
                <a:gd name="T18" fmla="*/ 27 w 54"/>
                <a:gd name="T19" fmla="*/ 67 h 67"/>
                <a:gd name="T20" fmla="*/ 28 w 54"/>
                <a:gd name="T21" fmla="*/ 67 h 67"/>
                <a:gd name="T22" fmla="*/ 37 w 54"/>
                <a:gd name="T23" fmla="*/ 67 h 67"/>
                <a:gd name="T24" fmla="*/ 40 w 54"/>
                <a:gd name="T25" fmla="*/ 67 h 67"/>
                <a:gd name="T26" fmla="*/ 40 w 54"/>
                <a:gd name="T27" fmla="*/ 67 h 67"/>
                <a:gd name="T28" fmla="*/ 47 w 54"/>
                <a:gd name="T29" fmla="*/ 47 h 67"/>
                <a:gd name="T30" fmla="*/ 47 w 54"/>
                <a:gd name="T31" fmla="*/ 46 h 67"/>
                <a:gd name="T32" fmla="*/ 49 w 54"/>
                <a:gd name="T33" fmla="*/ 44 h 67"/>
                <a:gd name="T34" fmla="*/ 54 w 54"/>
                <a:gd name="T35" fmla="*/ 28 h 67"/>
                <a:gd name="T36" fmla="*/ 27 w 54"/>
                <a:gd name="T37"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67">
                  <a:moveTo>
                    <a:pt x="27" y="0"/>
                  </a:moveTo>
                  <a:cubicBezTo>
                    <a:pt x="12" y="0"/>
                    <a:pt x="0" y="12"/>
                    <a:pt x="0" y="28"/>
                  </a:cubicBezTo>
                  <a:cubicBezTo>
                    <a:pt x="0" y="34"/>
                    <a:pt x="2" y="40"/>
                    <a:pt x="6" y="44"/>
                  </a:cubicBezTo>
                  <a:cubicBezTo>
                    <a:pt x="6" y="45"/>
                    <a:pt x="7" y="46"/>
                    <a:pt x="7" y="46"/>
                  </a:cubicBezTo>
                  <a:cubicBezTo>
                    <a:pt x="7" y="46"/>
                    <a:pt x="7" y="47"/>
                    <a:pt x="7" y="47"/>
                  </a:cubicBezTo>
                  <a:cubicBezTo>
                    <a:pt x="11" y="52"/>
                    <a:pt x="14" y="59"/>
                    <a:pt x="14" y="67"/>
                  </a:cubicBezTo>
                  <a:cubicBezTo>
                    <a:pt x="14" y="67"/>
                    <a:pt x="14" y="67"/>
                    <a:pt x="14" y="67"/>
                  </a:cubicBezTo>
                  <a:cubicBezTo>
                    <a:pt x="17" y="67"/>
                    <a:pt x="17" y="67"/>
                    <a:pt x="17" y="67"/>
                  </a:cubicBezTo>
                  <a:cubicBezTo>
                    <a:pt x="26" y="67"/>
                    <a:pt x="26" y="67"/>
                    <a:pt x="26" y="67"/>
                  </a:cubicBezTo>
                  <a:cubicBezTo>
                    <a:pt x="27" y="67"/>
                    <a:pt x="27" y="67"/>
                    <a:pt x="27" y="67"/>
                  </a:cubicBezTo>
                  <a:cubicBezTo>
                    <a:pt x="28" y="67"/>
                    <a:pt x="28" y="67"/>
                    <a:pt x="28" y="67"/>
                  </a:cubicBezTo>
                  <a:cubicBezTo>
                    <a:pt x="37" y="67"/>
                    <a:pt x="37" y="67"/>
                    <a:pt x="37" y="67"/>
                  </a:cubicBezTo>
                  <a:cubicBezTo>
                    <a:pt x="40" y="67"/>
                    <a:pt x="40" y="67"/>
                    <a:pt x="40" y="67"/>
                  </a:cubicBezTo>
                  <a:cubicBezTo>
                    <a:pt x="40" y="67"/>
                    <a:pt x="40" y="67"/>
                    <a:pt x="40" y="67"/>
                  </a:cubicBezTo>
                  <a:cubicBezTo>
                    <a:pt x="41" y="59"/>
                    <a:pt x="43" y="52"/>
                    <a:pt x="47" y="47"/>
                  </a:cubicBezTo>
                  <a:cubicBezTo>
                    <a:pt x="47" y="47"/>
                    <a:pt x="47" y="46"/>
                    <a:pt x="47" y="46"/>
                  </a:cubicBezTo>
                  <a:cubicBezTo>
                    <a:pt x="48" y="46"/>
                    <a:pt x="48" y="45"/>
                    <a:pt x="49" y="44"/>
                  </a:cubicBezTo>
                  <a:cubicBezTo>
                    <a:pt x="52" y="40"/>
                    <a:pt x="54" y="34"/>
                    <a:pt x="54" y="28"/>
                  </a:cubicBezTo>
                  <a:cubicBezTo>
                    <a:pt x="54" y="12"/>
                    <a:pt x="42"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899">
              <a:extLst>
                <a:ext uri="{FF2B5EF4-FFF2-40B4-BE49-F238E27FC236}">
                  <a16:creationId xmlns:a16="http://schemas.microsoft.com/office/drawing/2014/main" id="{CB3020A5-859E-4385-A4B4-FF09C51C71C1}"/>
                </a:ext>
              </a:extLst>
            </p:cNvPr>
            <p:cNvSpPr>
              <a:spLocks/>
            </p:cNvSpPr>
            <p:nvPr/>
          </p:nvSpPr>
          <p:spPr bwMode="auto">
            <a:xfrm>
              <a:off x="5645428" y="4641114"/>
              <a:ext cx="135996" cy="32969"/>
            </a:xfrm>
            <a:custGeom>
              <a:avLst/>
              <a:gdLst>
                <a:gd name="T0" fmla="*/ 0 w 20"/>
                <a:gd name="T1" fmla="*/ 0 h 5"/>
                <a:gd name="T2" fmla="*/ 10 w 20"/>
                <a:gd name="T3" fmla="*/ 5 h 5"/>
                <a:gd name="T4" fmla="*/ 20 w 20"/>
                <a:gd name="T5" fmla="*/ 0 h 5"/>
                <a:gd name="T6" fmla="*/ 10 w 20"/>
                <a:gd name="T7" fmla="*/ 0 h 5"/>
                <a:gd name="T8" fmla="*/ 0 w 20"/>
                <a:gd name="T9" fmla="*/ 0 h 5"/>
              </a:gdLst>
              <a:ahLst/>
              <a:cxnLst>
                <a:cxn ang="0">
                  <a:pos x="T0" y="T1"/>
                </a:cxn>
                <a:cxn ang="0">
                  <a:pos x="T2" y="T3"/>
                </a:cxn>
                <a:cxn ang="0">
                  <a:pos x="T4" y="T5"/>
                </a:cxn>
                <a:cxn ang="0">
                  <a:pos x="T6" y="T7"/>
                </a:cxn>
                <a:cxn ang="0">
                  <a:pos x="T8" y="T9"/>
                </a:cxn>
              </a:cxnLst>
              <a:rect l="0" t="0" r="r" b="b"/>
              <a:pathLst>
                <a:path w="20" h="5">
                  <a:moveTo>
                    <a:pt x="0" y="0"/>
                  </a:moveTo>
                  <a:cubicBezTo>
                    <a:pt x="2" y="3"/>
                    <a:pt x="6" y="5"/>
                    <a:pt x="10" y="5"/>
                  </a:cubicBezTo>
                  <a:cubicBezTo>
                    <a:pt x="14" y="5"/>
                    <a:pt x="18" y="3"/>
                    <a:pt x="20" y="0"/>
                  </a:cubicBezTo>
                  <a:cubicBezTo>
                    <a:pt x="10" y="0"/>
                    <a:pt x="10" y="0"/>
                    <a:pt x="10"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88" name="Group 87">
            <a:extLst>
              <a:ext uri="{FF2B5EF4-FFF2-40B4-BE49-F238E27FC236}">
                <a16:creationId xmlns:a16="http://schemas.microsoft.com/office/drawing/2014/main" id="{CA371871-7C0B-4C8E-89B8-D3A3017F5FE1}"/>
              </a:ext>
            </a:extLst>
          </p:cNvPr>
          <p:cNvGrpSpPr>
            <a:grpSpLocks noChangeAspect="1"/>
          </p:cNvGrpSpPr>
          <p:nvPr/>
        </p:nvGrpSpPr>
        <p:grpSpPr>
          <a:xfrm>
            <a:off x="6317945" y="1511675"/>
            <a:ext cx="196965" cy="274320"/>
            <a:chOff x="6280075" y="4094383"/>
            <a:chExt cx="416229" cy="579699"/>
          </a:xfrm>
          <a:solidFill>
            <a:srgbClr val="595555"/>
          </a:solidFill>
        </p:grpSpPr>
        <p:sp>
          <p:nvSpPr>
            <p:cNvPr id="89" name="Freeform 922">
              <a:extLst>
                <a:ext uri="{FF2B5EF4-FFF2-40B4-BE49-F238E27FC236}">
                  <a16:creationId xmlns:a16="http://schemas.microsoft.com/office/drawing/2014/main" id="{59E3D7DA-6A3D-4307-8169-C56E4381635B}"/>
                </a:ext>
              </a:extLst>
            </p:cNvPr>
            <p:cNvSpPr>
              <a:spLocks/>
            </p:cNvSpPr>
            <p:nvPr/>
          </p:nvSpPr>
          <p:spPr bwMode="auto">
            <a:xfrm>
              <a:off x="6280075" y="4094383"/>
              <a:ext cx="416229" cy="579699"/>
            </a:xfrm>
            <a:custGeom>
              <a:avLst/>
              <a:gdLst>
                <a:gd name="T0" fmla="*/ 58 w 61"/>
                <a:gd name="T1" fmla="*/ 0 h 85"/>
                <a:gd name="T2" fmla="*/ 2 w 61"/>
                <a:gd name="T3" fmla="*/ 0 h 85"/>
                <a:gd name="T4" fmla="*/ 0 w 61"/>
                <a:gd name="T5" fmla="*/ 3 h 85"/>
                <a:gd name="T6" fmla="*/ 0 w 61"/>
                <a:gd name="T7" fmla="*/ 76 h 85"/>
                <a:gd name="T8" fmla="*/ 9 w 61"/>
                <a:gd name="T9" fmla="*/ 85 h 85"/>
                <a:gd name="T10" fmla="*/ 10 w 61"/>
                <a:gd name="T11" fmla="*/ 85 h 85"/>
                <a:gd name="T12" fmla="*/ 61 w 61"/>
                <a:gd name="T13" fmla="*/ 85 h 85"/>
                <a:gd name="T14" fmla="*/ 61 w 61"/>
                <a:gd name="T15" fmla="*/ 81 h 85"/>
                <a:gd name="T16" fmla="*/ 17 w 61"/>
                <a:gd name="T17" fmla="*/ 81 h 85"/>
                <a:gd name="T18" fmla="*/ 16 w 61"/>
                <a:gd name="T19" fmla="*/ 81 h 85"/>
                <a:gd name="T20" fmla="*/ 10 w 61"/>
                <a:gd name="T21" fmla="*/ 81 h 85"/>
                <a:gd name="T22" fmla="*/ 9 w 61"/>
                <a:gd name="T23" fmla="*/ 81 h 85"/>
                <a:gd name="T24" fmla="*/ 4 w 61"/>
                <a:gd name="T25" fmla="*/ 76 h 85"/>
                <a:gd name="T26" fmla="*/ 9 w 61"/>
                <a:gd name="T27" fmla="*/ 71 h 85"/>
                <a:gd name="T28" fmla="*/ 10 w 61"/>
                <a:gd name="T29" fmla="*/ 71 h 85"/>
                <a:gd name="T30" fmla="*/ 16 w 61"/>
                <a:gd name="T31" fmla="*/ 71 h 85"/>
                <a:gd name="T32" fmla="*/ 17 w 61"/>
                <a:gd name="T33" fmla="*/ 71 h 85"/>
                <a:gd name="T34" fmla="*/ 61 w 61"/>
                <a:gd name="T35" fmla="*/ 71 h 85"/>
                <a:gd name="T36" fmla="*/ 61 w 61"/>
                <a:gd name="T37" fmla="*/ 67 h 85"/>
                <a:gd name="T38" fmla="*/ 61 w 61"/>
                <a:gd name="T39" fmla="*/ 3 h 85"/>
                <a:gd name="T40" fmla="*/ 58 w 61"/>
                <a:gd name="T41"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1" h="85">
                  <a:moveTo>
                    <a:pt x="58" y="0"/>
                  </a:moveTo>
                  <a:cubicBezTo>
                    <a:pt x="2" y="0"/>
                    <a:pt x="2" y="0"/>
                    <a:pt x="2" y="0"/>
                  </a:cubicBezTo>
                  <a:cubicBezTo>
                    <a:pt x="1" y="0"/>
                    <a:pt x="0" y="1"/>
                    <a:pt x="0" y="3"/>
                  </a:cubicBezTo>
                  <a:cubicBezTo>
                    <a:pt x="0" y="76"/>
                    <a:pt x="0" y="76"/>
                    <a:pt x="0" y="76"/>
                  </a:cubicBezTo>
                  <a:cubicBezTo>
                    <a:pt x="0" y="81"/>
                    <a:pt x="4" y="85"/>
                    <a:pt x="9" y="85"/>
                  </a:cubicBezTo>
                  <a:cubicBezTo>
                    <a:pt x="10" y="85"/>
                    <a:pt x="10" y="85"/>
                    <a:pt x="10" y="85"/>
                  </a:cubicBezTo>
                  <a:cubicBezTo>
                    <a:pt x="61" y="85"/>
                    <a:pt x="61" y="85"/>
                    <a:pt x="61" y="85"/>
                  </a:cubicBezTo>
                  <a:cubicBezTo>
                    <a:pt x="61" y="81"/>
                    <a:pt x="61" y="81"/>
                    <a:pt x="61" y="81"/>
                  </a:cubicBezTo>
                  <a:cubicBezTo>
                    <a:pt x="17" y="81"/>
                    <a:pt x="17" y="81"/>
                    <a:pt x="17" y="81"/>
                  </a:cubicBezTo>
                  <a:cubicBezTo>
                    <a:pt x="16" y="81"/>
                    <a:pt x="16" y="81"/>
                    <a:pt x="16" y="81"/>
                  </a:cubicBezTo>
                  <a:cubicBezTo>
                    <a:pt x="10" y="81"/>
                    <a:pt x="10" y="81"/>
                    <a:pt x="10" y="81"/>
                  </a:cubicBezTo>
                  <a:cubicBezTo>
                    <a:pt x="9" y="81"/>
                    <a:pt x="9" y="81"/>
                    <a:pt x="9" y="81"/>
                  </a:cubicBezTo>
                  <a:cubicBezTo>
                    <a:pt x="7" y="81"/>
                    <a:pt x="4" y="79"/>
                    <a:pt x="4" y="76"/>
                  </a:cubicBezTo>
                  <a:cubicBezTo>
                    <a:pt x="3" y="73"/>
                    <a:pt x="6" y="71"/>
                    <a:pt x="9" y="71"/>
                  </a:cubicBezTo>
                  <a:cubicBezTo>
                    <a:pt x="10" y="71"/>
                    <a:pt x="10" y="71"/>
                    <a:pt x="10" y="71"/>
                  </a:cubicBezTo>
                  <a:cubicBezTo>
                    <a:pt x="16" y="71"/>
                    <a:pt x="16" y="71"/>
                    <a:pt x="16" y="71"/>
                  </a:cubicBezTo>
                  <a:cubicBezTo>
                    <a:pt x="17" y="71"/>
                    <a:pt x="17" y="71"/>
                    <a:pt x="17" y="71"/>
                  </a:cubicBezTo>
                  <a:cubicBezTo>
                    <a:pt x="61" y="71"/>
                    <a:pt x="61" y="71"/>
                    <a:pt x="61" y="71"/>
                  </a:cubicBezTo>
                  <a:cubicBezTo>
                    <a:pt x="61" y="67"/>
                    <a:pt x="61" y="67"/>
                    <a:pt x="61" y="67"/>
                  </a:cubicBezTo>
                  <a:cubicBezTo>
                    <a:pt x="61" y="3"/>
                    <a:pt x="61" y="3"/>
                    <a:pt x="61" y="3"/>
                  </a:cubicBezTo>
                  <a:cubicBezTo>
                    <a:pt x="61" y="1"/>
                    <a:pt x="60" y="0"/>
                    <a:pt x="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0" name="Freeform 923">
              <a:extLst>
                <a:ext uri="{FF2B5EF4-FFF2-40B4-BE49-F238E27FC236}">
                  <a16:creationId xmlns:a16="http://schemas.microsoft.com/office/drawing/2014/main" id="{16320965-1945-4B85-BE4E-43EDAD708247}"/>
                </a:ext>
              </a:extLst>
            </p:cNvPr>
            <p:cNvSpPr>
              <a:spLocks/>
            </p:cNvSpPr>
            <p:nvPr/>
          </p:nvSpPr>
          <p:spPr bwMode="auto">
            <a:xfrm>
              <a:off x="6341891" y="4606771"/>
              <a:ext cx="354413" cy="13737"/>
            </a:xfrm>
            <a:custGeom>
              <a:avLst/>
              <a:gdLst>
                <a:gd name="T0" fmla="*/ 5 w 52"/>
                <a:gd name="T1" fmla="*/ 0 h 2"/>
                <a:gd name="T2" fmla="*/ 5 w 52"/>
                <a:gd name="T3" fmla="*/ 0 h 2"/>
                <a:gd name="T4" fmla="*/ 4 w 52"/>
                <a:gd name="T5" fmla="*/ 0 h 2"/>
                <a:gd name="T6" fmla="*/ 1 w 52"/>
                <a:gd name="T7" fmla="*/ 0 h 2"/>
                <a:gd name="T8" fmla="*/ 0 w 52"/>
                <a:gd name="T9" fmla="*/ 1 h 2"/>
                <a:gd name="T10" fmla="*/ 1 w 52"/>
                <a:gd name="T11" fmla="*/ 2 h 2"/>
                <a:gd name="T12" fmla="*/ 4 w 52"/>
                <a:gd name="T13" fmla="*/ 2 h 2"/>
                <a:gd name="T14" fmla="*/ 5 w 52"/>
                <a:gd name="T15" fmla="*/ 2 h 2"/>
                <a:gd name="T16" fmla="*/ 5 w 52"/>
                <a:gd name="T17" fmla="*/ 2 h 2"/>
                <a:gd name="T18" fmla="*/ 9 w 52"/>
                <a:gd name="T19" fmla="*/ 2 h 2"/>
                <a:gd name="T20" fmla="*/ 52 w 52"/>
                <a:gd name="T21" fmla="*/ 2 h 2"/>
                <a:gd name="T22" fmla="*/ 52 w 52"/>
                <a:gd name="T23" fmla="*/ 0 h 2"/>
                <a:gd name="T24" fmla="*/ 9 w 52"/>
                <a:gd name="T25" fmla="*/ 0 h 2"/>
                <a:gd name="T26" fmla="*/ 5 w 52"/>
                <a:gd name="T27" fmla="*/ 0 h 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2">
                  <a:moveTo>
                    <a:pt x="5" y="0"/>
                  </a:moveTo>
                  <a:cubicBezTo>
                    <a:pt x="5" y="0"/>
                    <a:pt x="5" y="0"/>
                    <a:pt x="5" y="0"/>
                  </a:cubicBezTo>
                  <a:cubicBezTo>
                    <a:pt x="4" y="0"/>
                    <a:pt x="4" y="0"/>
                    <a:pt x="4" y="0"/>
                  </a:cubicBezTo>
                  <a:cubicBezTo>
                    <a:pt x="1" y="0"/>
                    <a:pt x="1" y="0"/>
                    <a:pt x="1" y="0"/>
                  </a:cubicBezTo>
                  <a:cubicBezTo>
                    <a:pt x="1" y="0"/>
                    <a:pt x="0" y="0"/>
                    <a:pt x="0" y="1"/>
                  </a:cubicBezTo>
                  <a:cubicBezTo>
                    <a:pt x="0" y="2"/>
                    <a:pt x="1" y="2"/>
                    <a:pt x="1" y="2"/>
                  </a:cubicBezTo>
                  <a:cubicBezTo>
                    <a:pt x="4" y="2"/>
                    <a:pt x="4" y="2"/>
                    <a:pt x="4" y="2"/>
                  </a:cubicBezTo>
                  <a:cubicBezTo>
                    <a:pt x="5" y="2"/>
                    <a:pt x="5" y="2"/>
                    <a:pt x="5" y="2"/>
                  </a:cubicBezTo>
                  <a:cubicBezTo>
                    <a:pt x="5" y="2"/>
                    <a:pt x="5" y="2"/>
                    <a:pt x="5" y="2"/>
                  </a:cubicBezTo>
                  <a:cubicBezTo>
                    <a:pt x="9" y="2"/>
                    <a:pt x="9" y="2"/>
                    <a:pt x="9" y="2"/>
                  </a:cubicBezTo>
                  <a:cubicBezTo>
                    <a:pt x="52" y="2"/>
                    <a:pt x="52" y="2"/>
                    <a:pt x="52" y="2"/>
                  </a:cubicBezTo>
                  <a:cubicBezTo>
                    <a:pt x="52" y="0"/>
                    <a:pt x="52" y="0"/>
                    <a:pt x="52" y="0"/>
                  </a:cubicBezTo>
                  <a:cubicBezTo>
                    <a:pt x="9" y="0"/>
                    <a:pt x="9" y="0"/>
                    <a:pt x="9" y="0"/>
                  </a:cubicBez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1" name="Group 90">
            <a:extLst>
              <a:ext uri="{FF2B5EF4-FFF2-40B4-BE49-F238E27FC236}">
                <a16:creationId xmlns:a16="http://schemas.microsoft.com/office/drawing/2014/main" id="{7EDAF189-C489-451D-A156-EC7E05A69884}"/>
              </a:ext>
            </a:extLst>
          </p:cNvPr>
          <p:cNvGrpSpPr>
            <a:grpSpLocks noChangeAspect="1"/>
          </p:cNvGrpSpPr>
          <p:nvPr/>
        </p:nvGrpSpPr>
        <p:grpSpPr>
          <a:xfrm>
            <a:off x="8128285" y="1511675"/>
            <a:ext cx="213864" cy="274320"/>
            <a:chOff x="7781523" y="4094383"/>
            <a:chExt cx="451945" cy="579700"/>
          </a:xfrm>
          <a:solidFill>
            <a:srgbClr val="595555"/>
          </a:solidFill>
        </p:grpSpPr>
        <p:sp>
          <p:nvSpPr>
            <p:cNvPr id="92" name="Freeform 924">
              <a:extLst>
                <a:ext uri="{FF2B5EF4-FFF2-40B4-BE49-F238E27FC236}">
                  <a16:creationId xmlns:a16="http://schemas.microsoft.com/office/drawing/2014/main" id="{D041CD34-60DD-4388-923E-282B7B7137CD}"/>
                </a:ext>
              </a:extLst>
            </p:cNvPr>
            <p:cNvSpPr>
              <a:spLocks/>
            </p:cNvSpPr>
            <p:nvPr/>
          </p:nvSpPr>
          <p:spPr bwMode="auto">
            <a:xfrm>
              <a:off x="7781523" y="4223511"/>
              <a:ext cx="451945" cy="369524"/>
            </a:xfrm>
            <a:custGeom>
              <a:avLst/>
              <a:gdLst>
                <a:gd name="T0" fmla="*/ 9 w 66"/>
                <a:gd name="T1" fmla="*/ 52 h 54"/>
                <a:gd name="T2" fmla="*/ 9 w 66"/>
                <a:gd name="T3" fmla="*/ 52 h 54"/>
                <a:gd name="T4" fmla="*/ 19 w 66"/>
                <a:gd name="T5" fmla="*/ 54 h 54"/>
                <a:gd name="T6" fmla="*/ 28 w 66"/>
                <a:gd name="T7" fmla="*/ 52 h 54"/>
                <a:gd name="T8" fmla="*/ 38 w 66"/>
                <a:gd name="T9" fmla="*/ 54 h 54"/>
                <a:gd name="T10" fmla="*/ 47 w 66"/>
                <a:gd name="T11" fmla="*/ 52 h 54"/>
                <a:gd name="T12" fmla="*/ 57 w 66"/>
                <a:gd name="T13" fmla="*/ 54 h 54"/>
                <a:gd name="T14" fmla="*/ 66 w 66"/>
                <a:gd name="T15" fmla="*/ 15 h 54"/>
                <a:gd name="T16" fmla="*/ 64 w 66"/>
                <a:gd name="T17" fmla="*/ 12 h 54"/>
                <a:gd name="T18" fmla="*/ 34 w 66"/>
                <a:gd name="T19" fmla="*/ 0 h 54"/>
                <a:gd name="T20" fmla="*/ 32 w 66"/>
                <a:gd name="T21" fmla="*/ 0 h 54"/>
                <a:gd name="T22" fmla="*/ 2 w 66"/>
                <a:gd name="T23" fmla="*/ 12 h 54"/>
                <a:gd name="T24" fmla="*/ 0 w 66"/>
                <a:gd name="T25" fmla="*/ 15 h 54"/>
                <a:gd name="T26" fmla="*/ 9 w 66"/>
                <a:gd name="T27" fmla="*/ 52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6" h="54">
                  <a:moveTo>
                    <a:pt x="9" y="52"/>
                  </a:moveTo>
                  <a:cubicBezTo>
                    <a:pt x="9" y="52"/>
                    <a:pt x="9" y="52"/>
                    <a:pt x="9" y="52"/>
                  </a:cubicBezTo>
                  <a:cubicBezTo>
                    <a:pt x="14" y="52"/>
                    <a:pt x="16" y="54"/>
                    <a:pt x="19" y="54"/>
                  </a:cubicBezTo>
                  <a:cubicBezTo>
                    <a:pt x="21" y="54"/>
                    <a:pt x="24" y="52"/>
                    <a:pt x="28" y="52"/>
                  </a:cubicBezTo>
                  <a:cubicBezTo>
                    <a:pt x="33" y="52"/>
                    <a:pt x="35" y="54"/>
                    <a:pt x="38" y="54"/>
                  </a:cubicBezTo>
                  <a:cubicBezTo>
                    <a:pt x="40" y="54"/>
                    <a:pt x="43" y="52"/>
                    <a:pt x="47" y="52"/>
                  </a:cubicBezTo>
                  <a:cubicBezTo>
                    <a:pt x="52" y="52"/>
                    <a:pt x="54" y="54"/>
                    <a:pt x="57" y="54"/>
                  </a:cubicBezTo>
                  <a:cubicBezTo>
                    <a:pt x="66" y="15"/>
                    <a:pt x="66" y="15"/>
                    <a:pt x="66" y="15"/>
                  </a:cubicBezTo>
                  <a:cubicBezTo>
                    <a:pt x="66" y="14"/>
                    <a:pt x="66" y="13"/>
                    <a:pt x="64" y="12"/>
                  </a:cubicBezTo>
                  <a:cubicBezTo>
                    <a:pt x="34" y="0"/>
                    <a:pt x="34" y="0"/>
                    <a:pt x="34" y="0"/>
                  </a:cubicBezTo>
                  <a:cubicBezTo>
                    <a:pt x="33" y="0"/>
                    <a:pt x="33" y="0"/>
                    <a:pt x="32" y="0"/>
                  </a:cubicBezTo>
                  <a:cubicBezTo>
                    <a:pt x="2" y="12"/>
                    <a:pt x="2" y="12"/>
                    <a:pt x="2" y="12"/>
                  </a:cubicBezTo>
                  <a:cubicBezTo>
                    <a:pt x="1" y="13"/>
                    <a:pt x="0" y="14"/>
                    <a:pt x="0" y="15"/>
                  </a:cubicBezTo>
                  <a:lnTo>
                    <a:pt x="9" y="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3" name="Freeform 925">
              <a:extLst>
                <a:ext uri="{FF2B5EF4-FFF2-40B4-BE49-F238E27FC236}">
                  <a16:creationId xmlns:a16="http://schemas.microsoft.com/office/drawing/2014/main" id="{250B42E9-6CF2-4FD9-B426-AF4B876ADF15}"/>
                </a:ext>
              </a:extLst>
            </p:cNvPr>
            <p:cNvSpPr>
              <a:spLocks/>
            </p:cNvSpPr>
            <p:nvPr/>
          </p:nvSpPr>
          <p:spPr bwMode="auto">
            <a:xfrm>
              <a:off x="7781523" y="4613640"/>
              <a:ext cx="451945" cy="60443"/>
            </a:xfrm>
            <a:custGeom>
              <a:avLst/>
              <a:gdLst>
                <a:gd name="T0" fmla="*/ 64 w 66"/>
                <a:gd name="T1" fmla="*/ 0 h 9"/>
                <a:gd name="T2" fmla="*/ 57 w 66"/>
                <a:gd name="T3" fmla="*/ 2 h 9"/>
                <a:gd name="T4" fmla="*/ 47 w 66"/>
                <a:gd name="T5" fmla="*/ 0 h 9"/>
                <a:gd name="T6" fmla="*/ 38 w 66"/>
                <a:gd name="T7" fmla="*/ 2 h 9"/>
                <a:gd name="T8" fmla="*/ 28 w 66"/>
                <a:gd name="T9" fmla="*/ 0 h 9"/>
                <a:gd name="T10" fmla="*/ 19 w 66"/>
                <a:gd name="T11" fmla="*/ 2 h 9"/>
                <a:gd name="T12" fmla="*/ 9 w 66"/>
                <a:gd name="T13" fmla="*/ 0 h 9"/>
                <a:gd name="T14" fmla="*/ 0 w 66"/>
                <a:gd name="T15" fmla="*/ 2 h 9"/>
                <a:gd name="T16" fmla="*/ 3 w 66"/>
                <a:gd name="T17" fmla="*/ 9 h 9"/>
                <a:gd name="T18" fmla="*/ 9 w 66"/>
                <a:gd name="T19" fmla="*/ 7 h 9"/>
                <a:gd name="T20" fmla="*/ 19 w 66"/>
                <a:gd name="T21" fmla="*/ 9 h 9"/>
                <a:gd name="T22" fmla="*/ 28 w 66"/>
                <a:gd name="T23" fmla="*/ 7 h 9"/>
                <a:gd name="T24" fmla="*/ 38 w 66"/>
                <a:gd name="T25" fmla="*/ 9 h 9"/>
                <a:gd name="T26" fmla="*/ 47 w 66"/>
                <a:gd name="T27" fmla="*/ 7 h 9"/>
                <a:gd name="T28" fmla="*/ 57 w 66"/>
                <a:gd name="T29" fmla="*/ 9 h 9"/>
                <a:gd name="T30" fmla="*/ 66 w 66"/>
                <a:gd name="T31" fmla="*/ 7 h 9"/>
                <a:gd name="T32" fmla="*/ 64 w 66"/>
                <a:gd name="T33"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9">
                  <a:moveTo>
                    <a:pt x="64" y="0"/>
                  </a:moveTo>
                  <a:cubicBezTo>
                    <a:pt x="61" y="1"/>
                    <a:pt x="59" y="2"/>
                    <a:pt x="57" y="2"/>
                  </a:cubicBezTo>
                  <a:cubicBezTo>
                    <a:pt x="54" y="2"/>
                    <a:pt x="52" y="0"/>
                    <a:pt x="47" y="0"/>
                  </a:cubicBezTo>
                  <a:cubicBezTo>
                    <a:pt x="43" y="0"/>
                    <a:pt x="40" y="2"/>
                    <a:pt x="38" y="2"/>
                  </a:cubicBezTo>
                  <a:cubicBezTo>
                    <a:pt x="35" y="2"/>
                    <a:pt x="33" y="0"/>
                    <a:pt x="28" y="0"/>
                  </a:cubicBezTo>
                  <a:cubicBezTo>
                    <a:pt x="24" y="0"/>
                    <a:pt x="21" y="2"/>
                    <a:pt x="19" y="2"/>
                  </a:cubicBezTo>
                  <a:cubicBezTo>
                    <a:pt x="16" y="2"/>
                    <a:pt x="14" y="0"/>
                    <a:pt x="9" y="0"/>
                  </a:cubicBezTo>
                  <a:cubicBezTo>
                    <a:pt x="5" y="0"/>
                    <a:pt x="2" y="2"/>
                    <a:pt x="0" y="2"/>
                  </a:cubicBezTo>
                  <a:cubicBezTo>
                    <a:pt x="3" y="9"/>
                    <a:pt x="3" y="9"/>
                    <a:pt x="3" y="9"/>
                  </a:cubicBezTo>
                  <a:cubicBezTo>
                    <a:pt x="6" y="8"/>
                    <a:pt x="7" y="7"/>
                    <a:pt x="9" y="7"/>
                  </a:cubicBezTo>
                  <a:cubicBezTo>
                    <a:pt x="12" y="7"/>
                    <a:pt x="14" y="9"/>
                    <a:pt x="19" y="9"/>
                  </a:cubicBezTo>
                  <a:cubicBezTo>
                    <a:pt x="23" y="9"/>
                    <a:pt x="25" y="7"/>
                    <a:pt x="28" y="7"/>
                  </a:cubicBezTo>
                  <a:cubicBezTo>
                    <a:pt x="31" y="7"/>
                    <a:pt x="33" y="9"/>
                    <a:pt x="38" y="9"/>
                  </a:cubicBezTo>
                  <a:cubicBezTo>
                    <a:pt x="42" y="9"/>
                    <a:pt x="44" y="7"/>
                    <a:pt x="47" y="7"/>
                  </a:cubicBezTo>
                  <a:cubicBezTo>
                    <a:pt x="50" y="7"/>
                    <a:pt x="52" y="9"/>
                    <a:pt x="57" y="9"/>
                  </a:cubicBezTo>
                  <a:cubicBezTo>
                    <a:pt x="61" y="9"/>
                    <a:pt x="64" y="7"/>
                    <a:pt x="66" y="7"/>
                  </a:cubicBezTo>
                  <a:lnTo>
                    <a:pt x="6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926">
              <a:extLst>
                <a:ext uri="{FF2B5EF4-FFF2-40B4-BE49-F238E27FC236}">
                  <a16:creationId xmlns:a16="http://schemas.microsoft.com/office/drawing/2014/main" id="{B3E6F80B-E264-4EFC-937D-6FCCFDD2B25D}"/>
                </a:ext>
              </a:extLst>
            </p:cNvPr>
            <p:cNvSpPr>
              <a:spLocks/>
            </p:cNvSpPr>
            <p:nvPr/>
          </p:nvSpPr>
          <p:spPr bwMode="auto">
            <a:xfrm>
              <a:off x="7946366" y="4094383"/>
              <a:ext cx="122259" cy="34342"/>
            </a:xfrm>
            <a:custGeom>
              <a:avLst/>
              <a:gdLst>
                <a:gd name="T0" fmla="*/ 2 w 18"/>
                <a:gd name="T1" fmla="*/ 5 h 5"/>
                <a:gd name="T2" fmla="*/ 16 w 18"/>
                <a:gd name="T3" fmla="*/ 5 h 5"/>
                <a:gd name="T4" fmla="*/ 18 w 18"/>
                <a:gd name="T5" fmla="*/ 3 h 5"/>
                <a:gd name="T6" fmla="*/ 16 w 18"/>
                <a:gd name="T7" fmla="*/ 0 h 5"/>
                <a:gd name="T8" fmla="*/ 2 w 18"/>
                <a:gd name="T9" fmla="*/ 0 h 5"/>
                <a:gd name="T10" fmla="*/ 0 w 18"/>
                <a:gd name="T11" fmla="*/ 3 h 5"/>
                <a:gd name="T12" fmla="*/ 2 w 18"/>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8" h="5">
                  <a:moveTo>
                    <a:pt x="2" y="5"/>
                  </a:moveTo>
                  <a:cubicBezTo>
                    <a:pt x="16" y="5"/>
                    <a:pt x="16" y="5"/>
                    <a:pt x="16" y="5"/>
                  </a:cubicBezTo>
                  <a:cubicBezTo>
                    <a:pt x="17" y="5"/>
                    <a:pt x="18" y="4"/>
                    <a:pt x="18" y="3"/>
                  </a:cubicBezTo>
                  <a:cubicBezTo>
                    <a:pt x="18" y="1"/>
                    <a:pt x="17" y="0"/>
                    <a:pt x="16" y="0"/>
                  </a:cubicBezTo>
                  <a:cubicBezTo>
                    <a:pt x="2" y="0"/>
                    <a:pt x="2" y="0"/>
                    <a:pt x="2" y="0"/>
                  </a:cubicBezTo>
                  <a:cubicBezTo>
                    <a:pt x="1" y="0"/>
                    <a:pt x="0" y="1"/>
                    <a:pt x="0" y="3"/>
                  </a:cubicBezTo>
                  <a:cubicBezTo>
                    <a:pt x="0" y="4"/>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5" name="Freeform 927">
              <a:extLst>
                <a:ext uri="{FF2B5EF4-FFF2-40B4-BE49-F238E27FC236}">
                  <a16:creationId xmlns:a16="http://schemas.microsoft.com/office/drawing/2014/main" id="{1269FCD9-F955-4641-AB99-5B617C84673B}"/>
                </a:ext>
              </a:extLst>
            </p:cNvPr>
            <p:cNvSpPr>
              <a:spLocks/>
            </p:cNvSpPr>
            <p:nvPr/>
          </p:nvSpPr>
          <p:spPr bwMode="auto">
            <a:xfrm>
              <a:off x="7870813" y="4149331"/>
              <a:ext cx="273365" cy="94785"/>
            </a:xfrm>
            <a:custGeom>
              <a:avLst/>
              <a:gdLst>
                <a:gd name="T0" fmla="*/ 4 w 40"/>
                <a:gd name="T1" fmla="*/ 13 h 14"/>
                <a:gd name="T2" fmla="*/ 19 w 40"/>
                <a:gd name="T3" fmla="*/ 7 h 14"/>
                <a:gd name="T4" fmla="*/ 21 w 40"/>
                <a:gd name="T5" fmla="*/ 7 h 14"/>
                <a:gd name="T6" fmla="*/ 36 w 40"/>
                <a:gd name="T7" fmla="*/ 13 h 14"/>
                <a:gd name="T8" fmla="*/ 40 w 40"/>
                <a:gd name="T9" fmla="*/ 11 h 14"/>
                <a:gd name="T10" fmla="*/ 40 w 40"/>
                <a:gd name="T11" fmla="*/ 7 h 14"/>
                <a:gd name="T12" fmla="*/ 40 w 40"/>
                <a:gd name="T13" fmla="*/ 5 h 14"/>
                <a:gd name="T14" fmla="*/ 40 w 40"/>
                <a:gd name="T15" fmla="*/ 4 h 14"/>
                <a:gd name="T16" fmla="*/ 40 w 40"/>
                <a:gd name="T17" fmla="*/ 3 h 14"/>
                <a:gd name="T18" fmla="*/ 37 w 40"/>
                <a:gd name="T19" fmla="*/ 0 h 14"/>
                <a:gd name="T20" fmla="*/ 3 w 40"/>
                <a:gd name="T21" fmla="*/ 0 h 14"/>
                <a:gd name="T22" fmla="*/ 0 w 40"/>
                <a:gd name="T23" fmla="*/ 3 h 14"/>
                <a:gd name="T24" fmla="*/ 0 w 40"/>
                <a:gd name="T25" fmla="*/ 4 h 14"/>
                <a:gd name="T26" fmla="*/ 0 w 40"/>
                <a:gd name="T27" fmla="*/ 5 h 14"/>
                <a:gd name="T28" fmla="*/ 0 w 40"/>
                <a:gd name="T29" fmla="*/ 7 h 14"/>
                <a:gd name="T30" fmla="*/ 0 w 40"/>
                <a:gd name="T31" fmla="*/ 11 h 14"/>
                <a:gd name="T32" fmla="*/ 4 w 40"/>
                <a:gd name="T33" fmla="*/ 1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 h="14">
                  <a:moveTo>
                    <a:pt x="4" y="13"/>
                  </a:moveTo>
                  <a:cubicBezTo>
                    <a:pt x="19" y="7"/>
                    <a:pt x="19" y="7"/>
                    <a:pt x="19" y="7"/>
                  </a:cubicBezTo>
                  <a:cubicBezTo>
                    <a:pt x="20" y="7"/>
                    <a:pt x="20" y="7"/>
                    <a:pt x="21" y="7"/>
                  </a:cubicBezTo>
                  <a:cubicBezTo>
                    <a:pt x="36" y="13"/>
                    <a:pt x="36" y="13"/>
                    <a:pt x="36" y="13"/>
                  </a:cubicBezTo>
                  <a:cubicBezTo>
                    <a:pt x="38" y="14"/>
                    <a:pt x="40" y="13"/>
                    <a:pt x="40" y="11"/>
                  </a:cubicBezTo>
                  <a:cubicBezTo>
                    <a:pt x="40" y="7"/>
                    <a:pt x="40" y="7"/>
                    <a:pt x="40" y="7"/>
                  </a:cubicBezTo>
                  <a:cubicBezTo>
                    <a:pt x="40" y="5"/>
                    <a:pt x="40" y="5"/>
                    <a:pt x="40" y="5"/>
                  </a:cubicBezTo>
                  <a:cubicBezTo>
                    <a:pt x="40" y="4"/>
                    <a:pt x="40" y="4"/>
                    <a:pt x="40" y="4"/>
                  </a:cubicBezTo>
                  <a:cubicBezTo>
                    <a:pt x="40" y="3"/>
                    <a:pt x="40" y="3"/>
                    <a:pt x="40" y="3"/>
                  </a:cubicBezTo>
                  <a:cubicBezTo>
                    <a:pt x="40" y="1"/>
                    <a:pt x="39" y="0"/>
                    <a:pt x="37" y="0"/>
                  </a:cubicBezTo>
                  <a:cubicBezTo>
                    <a:pt x="3" y="0"/>
                    <a:pt x="3" y="0"/>
                    <a:pt x="3" y="0"/>
                  </a:cubicBezTo>
                  <a:cubicBezTo>
                    <a:pt x="1" y="0"/>
                    <a:pt x="0" y="1"/>
                    <a:pt x="0" y="3"/>
                  </a:cubicBezTo>
                  <a:cubicBezTo>
                    <a:pt x="0" y="4"/>
                    <a:pt x="0" y="4"/>
                    <a:pt x="0" y="4"/>
                  </a:cubicBezTo>
                  <a:cubicBezTo>
                    <a:pt x="0" y="5"/>
                    <a:pt x="0" y="5"/>
                    <a:pt x="0" y="5"/>
                  </a:cubicBezTo>
                  <a:cubicBezTo>
                    <a:pt x="0" y="7"/>
                    <a:pt x="0" y="7"/>
                    <a:pt x="0" y="7"/>
                  </a:cubicBezTo>
                  <a:cubicBezTo>
                    <a:pt x="0" y="11"/>
                    <a:pt x="0" y="11"/>
                    <a:pt x="0" y="11"/>
                  </a:cubicBezTo>
                  <a:cubicBezTo>
                    <a:pt x="0" y="13"/>
                    <a:pt x="2" y="14"/>
                    <a:pt x="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6" name="Group 95">
            <a:extLst>
              <a:ext uri="{FF2B5EF4-FFF2-40B4-BE49-F238E27FC236}">
                <a16:creationId xmlns:a16="http://schemas.microsoft.com/office/drawing/2014/main" id="{C5997EBB-40CC-4CCE-B293-B2F18A9B014E}"/>
              </a:ext>
            </a:extLst>
          </p:cNvPr>
          <p:cNvGrpSpPr>
            <a:grpSpLocks noChangeAspect="1"/>
          </p:cNvGrpSpPr>
          <p:nvPr/>
        </p:nvGrpSpPr>
        <p:grpSpPr>
          <a:xfrm>
            <a:off x="8968030" y="1569646"/>
            <a:ext cx="324126" cy="274320"/>
            <a:chOff x="8477985" y="4142463"/>
            <a:chExt cx="581073" cy="491783"/>
          </a:xfrm>
          <a:solidFill>
            <a:srgbClr val="595555"/>
          </a:solidFill>
        </p:grpSpPr>
        <p:sp>
          <p:nvSpPr>
            <p:cNvPr id="97" name="Freeform 931">
              <a:extLst>
                <a:ext uri="{FF2B5EF4-FFF2-40B4-BE49-F238E27FC236}">
                  <a16:creationId xmlns:a16="http://schemas.microsoft.com/office/drawing/2014/main" id="{057FD6DB-A07A-47B5-8ED8-2E732F7E84AC}"/>
                </a:ext>
              </a:extLst>
            </p:cNvPr>
            <p:cNvSpPr>
              <a:spLocks noEditPoints="1"/>
            </p:cNvSpPr>
            <p:nvPr/>
          </p:nvSpPr>
          <p:spPr bwMode="auto">
            <a:xfrm>
              <a:off x="8477985" y="4142463"/>
              <a:ext cx="581073" cy="457440"/>
            </a:xfrm>
            <a:custGeom>
              <a:avLst/>
              <a:gdLst>
                <a:gd name="T0" fmla="*/ 85 w 85"/>
                <a:gd name="T1" fmla="*/ 46 h 67"/>
                <a:gd name="T2" fmla="*/ 83 w 85"/>
                <a:gd name="T3" fmla="*/ 43 h 67"/>
                <a:gd name="T4" fmla="*/ 59 w 85"/>
                <a:gd name="T5" fmla="*/ 53 h 67"/>
                <a:gd name="T6" fmla="*/ 36 w 85"/>
                <a:gd name="T7" fmla="*/ 2 h 67"/>
                <a:gd name="T8" fmla="*/ 33 w 85"/>
                <a:gd name="T9" fmla="*/ 1 h 67"/>
                <a:gd name="T10" fmla="*/ 32 w 85"/>
                <a:gd name="T11" fmla="*/ 1 h 67"/>
                <a:gd name="T12" fmla="*/ 32 w 85"/>
                <a:gd name="T13" fmla="*/ 1 h 67"/>
                <a:gd name="T14" fmla="*/ 31 w 85"/>
                <a:gd name="T15" fmla="*/ 5 h 67"/>
                <a:gd name="T16" fmla="*/ 34 w 85"/>
                <a:gd name="T17" fmla="*/ 13 h 67"/>
                <a:gd name="T18" fmla="*/ 34 w 85"/>
                <a:gd name="T19" fmla="*/ 13 h 67"/>
                <a:gd name="T20" fmla="*/ 11 w 85"/>
                <a:gd name="T21" fmla="*/ 13 h 67"/>
                <a:gd name="T22" fmla="*/ 6 w 85"/>
                <a:gd name="T23" fmla="*/ 13 h 67"/>
                <a:gd name="T24" fmla="*/ 6 w 85"/>
                <a:gd name="T25" fmla="*/ 37 h 67"/>
                <a:gd name="T26" fmla="*/ 3 w 85"/>
                <a:gd name="T27" fmla="*/ 37 h 67"/>
                <a:gd name="T28" fmla="*/ 0 w 85"/>
                <a:gd name="T29" fmla="*/ 40 h 67"/>
                <a:gd name="T30" fmla="*/ 0 w 85"/>
                <a:gd name="T31" fmla="*/ 57 h 67"/>
                <a:gd name="T32" fmla="*/ 8 w 85"/>
                <a:gd name="T33" fmla="*/ 53 h 67"/>
                <a:gd name="T34" fmla="*/ 19 w 85"/>
                <a:gd name="T35" fmla="*/ 64 h 67"/>
                <a:gd name="T36" fmla="*/ 19 w 85"/>
                <a:gd name="T37" fmla="*/ 65 h 67"/>
                <a:gd name="T38" fmla="*/ 33 w 85"/>
                <a:gd name="T39" fmla="*/ 65 h 67"/>
                <a:gd name="T40" fmla="*/ 32 w 85"/>
                <a:gd name="T41" fmla="*/ 64 h 67"/>
                <a:gd name="T42" fmla="*/ 43 w 85"/>
                <a:gd name="T43" fmla="*/ 53 h 67"/>
                <a:gd name="T44" fmla="*/ 54 w 85"/>
                <a:gd name="T45" fmla="*/ 63 h 67"/>
                <a:gd name="T46" fmla="*/ 57 w 85"/>
                <a:gd name="T47" fmla="*/ 62 h 67"/>
                <a:gd name="T48" fmla="*/ 58 w 85"/>
                <a:gd name="T49" fmla="*/ 65 h 67"/>
                <a:gd name="T50" fmla="*/ 62 w 85"/>
                <a:gd name="T51" fmla="*/ 67 h 67"/>
                <a:gd name="T52" fmla="*/ 62 w 85"/>
                <a:gd name="T53" fmla="*/ 66 h 67"/>
                <a:gd name="T54" fmla="*/ 64 w 85"/>
                <a:gd name="T55" fmla="*/ 63 h 67"/>
                <a:gd name="T56" fmla="*/ 62 w 85"/>
                <a:gd name="T57" fmla="*/ 59 h 67"/>
                <a:gd name="T58" fmla="*/ 83 w 85"/>
                <a:gd name="T59" fmla="*/ 49 h 67"/>
                <a:gd name="T60" fmla="*/ 85 w 85"/>
                <a:gd name="T61" fmla="*/ 46 h 67"/>
                <a:gd name="T62" fmla="*/ 30 w 85"/>
                <a:gd name="T63" fmla="*/ 44 h 67"/>
                <a:gd name="T64" fmla="*/ 27 w 85"/>
                <a:gd name="T65" fmla="*/ 38 h 67"/>
                <a:gd name="T66" fmla="*/ 27 w 85"/>
                <a:gd name="T67" fmla="*/ 38 h 67"/>
                <a:gd name="T68" fmla="*/ 26 w 85"/>
                <a:gd name="T69" fmla="*/ 37 h 67"/>
                <a:gd name="T70" fmla="*/ 24 w 85"/>
                <a:gd name="T71" fmla="*/ 37 h 67"/>
                <a:gd name="T72" fmla="*/ 20 w 85"/>
                <a:gd name="T73" fmla="*/ 37 h 67"/>
                <a:gd name="T74" fmla="*/ 11 w 85"/>
                <a:gd name="T75" fmla="*/ 37 h 67"/>
                <a:gd name="T76" fmla="*/ 11 w 85"/>
                <a:gd name="T77" fmla="*/ 18 h 67"/>
                <a:gd name="T78" fmla="*/ 31 w 85"/>
                <a:gd name="T79" fmla="*/ 18 h 67"/>
                <a:gd name="T80" fmla="*/ 43 w 85"/>
                <a:gd name="T81" fmla="*/ 44 h 67"/>
                <a:gd name="T82" fmla="*/ 30 w 85"/>
                <a:gd name="T83" fmla="*/ 44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67">
                  <a:moveTo>
                    <a:pt x="85" y="46"/>
                  </a:moveTo>
                  <a:cubicBezTo>
                    <a:pt x="83" y="43"/>
                    <a:pt x="83" y="43"/>
                    <a:pt x="83" y="43"/>
                  </a:cubicBezTo>
                  <a:cubicBezTo>
                    <a:pt x="59" y="53"/>
                    <a:pt x="59" y="53"/>
                    <a:pt x="59" y="53"/>
                  </a:cubicBezTo>
                  <a:cubicBezTo>
                    <a:pt x="36" y="2"/>
                    <a:pt x="36" y="2"/>
                    <a:pt x="36" y="2"/>
                  </a:cubicBezTo>
                  <a:cubicBezTo>
                    <a:pt x="36" y="1"/>
                    <a:pt x="34" y="0"/>
                    <a:pt x="33" y="1"/>
                  </a:cubicBezTo>
                  <a:cubicBezTo>
                    <a:pt x="32" y="1"/>
                    <a:pt x="32" y="1"/>
                    <a:pt x="32" y="1"/>
                  </a:cubicBezTo>
                  <a:cubicBezTo>
                    <a:pt x="32" y="1"/>
                    <a:pt x="32" y="1"/>
                    <a:pt x="32" y="1"/>
                  </a:cubicBezTo>
                  <a:cubicBezTo>
                    <a:pt x="31" y="2"/>
                    <a:pt x="30" y="3"/>
                    <a:pt x="31" y="5"/>
                  </a:cubicBezTo>
                  <a:cubicBezTo>
                    <a:pt x="34" y="13"/>
                    <a:pt x="34" y="13"/>
                    <a:pt x="34" y="13"/>
                  </a:cubicBezTo>
                  <a:cubicBezTo>
                    <a:pt x="34" y="13"/>
                    <a:pt x="34" y="13"/>
                    <a:pt x="34" y="13"/>
                  </a:cubicBezTo>
                  <a:cubicBezTo>
                    <a:pt x="11" y="13"/>
                    <a:pt x="11" y="13"/>
                    <a:pt x="11" y="13"/>
                  </a:cubicBezTo>
                  <a:cubicBezTo>
                    <a:pt x="6" y="13"/>
                    <a:pt x="6" y="13"/>
                    <a:pt x="6" y="13"/>
                  </a:cubicBezTo>
                  <a:cubicBezTo>
                    <a:pt x="6" y="37"/>
                    <a:pt x="6" y="37"/>
                    <a:pt x="6" y="37"/>
                  </a:cubicBezTo>
                  <a:cubicBezTo>
                    <a:pt x="3" y="37"/>
                    <a:pt x="3" y="37"/>
                    <a:pt x="3" y="37"/>
                  </a:cubicBezTo>
                  <a:cubicBezTo>
                    <a:pt x="2" y="37"/>
                    <a:pt x="0" y="38"/>
                    <a:pt x="0" y="40"/>
                  </a:cubicBezTo>
                  <a:cubicBezTo>
                    <a:pt x="0" y="57"/>
                    <a:pt x="0" y="57"/>
                    <a:pt x="0" y="57"/>
                  </a:cubicBezTo>
                  <a:cubicBezTo>
                    <a:pt x="2" y="54"/>
                    <a:pt x="5" y="53"/>
                    <a:pt x="8" y="53"/>
                  </a:cubicBezTo>
                  <a:cubicBezTo>
                    <a:pt x="14" y="53"/>
                    <a:pt x="19" y="58"/>
                    <a:pt x="19" y="64"/>
                  </a:cubicBezTo>
                  <a:cubicBezTo>
                    <a:pt x="19" y="64"/>
                    <a:pt x="19" y="64"/>
                    <a:pt x="19" y="65"/>
                  </a:cubicBezTo>
                  <a:cubicBezTo>
                    <a:pt x="33" y="65"/>
                    <a:pt x="33" y="65"/>
                    <a:pt x="33" y="65"/>
                  </a:cubicBezTo>
                  <a:cubicBezTo>
                    <a:pt x="32" y="64"/>
                    <a:pt x="32" y="64"/>
                    <a:pt x="32" y="64"/>
                  </a:cubicBezTo>
                  <a:cubicBezTo>
                    <a:pt x="32" y="58"/>
                    <a:pt x="37" y="53"/>
                    <a:pt x="43" y="53"/>
                  </a:cubicBezTo>
                  <a:cubicBezTo>
                    <a:pt x="49" y="53"/>
                    <a:pt x="53" y="57"/>
                    <a:pt x="54" y="63"/>
                  </a:cubicBezTo>
                  <a:cubicBezTo>
                    <a:pt x="57" y="62"/>
                    <a:pt x="57" y="62"/>
                    <a:pt x="57" y="62"/>
                  </a:cubicBezTo>
                  <a:cubicBezTo>
                    <a:pt x="58" y="65"/>
                    <a:pt x="58" y="65"/>
                    <a:pt x="58" y="65"/>
                  </a:cubicBezTo>
                  <a:cubicBezTo>
                    <a:pt x="59" y="67"/>
                    <a:pt x="60" y="67"/>
                    <a:pt x="62" y="67"/>
                  </a:cubicBezTo>
                  <a:cubicBezTo>
                    <a:pt x="62" y="66"/>
                    <a:pt x="62" y="66"/>
                    <a:pt x="62" y="66"/>
                  </a:cubicBezTo>
                  <a:cubicBezTo>
                    <a:pt x="64" y="66"/>
                    <a:pt x="64" y="64"/>
                    <a:pt x="64" y="63"/>
                  </a:cubicBezTo>
                  <a:cubicBezTo>
                    <a:pt x="62" y="59"/>
                    <a:pt x="62" y="59"/>
                    <a:pt x="62" y="59"/>
                  </a:cubicBezTo>
                  <a:cubicBezTo>
                    <a:pt x="83" y="49"/>
                    <a:pt x="83" y="49"/>
                    <a:pt x="83" y="49"/>
                  </a:cubicBezTo>
                  <a:cubicBezTo>
                    <a:pt x="85" y="49"/>
                    <a:pt x="85" y="47"/>
                    <a:pt x="85" y="46"/>
                  </a:cubicBezTo>
                  <a:close/>
                  <a:moveTo>
                    <a:pt x="30" y="44"/>
                  </a:moveTo>
                  <a:cubicBezTo>
                    <a:pt x="27" y="38"/>
                    <a:pt x="27" y="38"/>
                    <a:pt x="27" y="38"/>
                  </a:cubicBezTo>
                  <a:cubicBezTo>
                    <a:pt x="27" y="38"/>
                    <a:pt x="27" y="38"/>
                    <a:pt x="27" y="38"/>
                  </a:cubicBezTo>
                  <a:cubicBezTo>
                    <a:pt x="26" y="37"/>
                    <a:pt x="26" y="37"/>
                    <a:pt x="26" y="37"/>
                  </a:cubicBezTo>
                  <a:cubicBezTo>
                    <a:pt x="24" y="37"/>
                    <a:pt x="24" y="37"/>
                    <a:pt x="24" y="37"/>
                  </a:cubicBezTo>
                  <a:cubicBezTo>
                    <a:pt x="20" y="37"/>
                    <a:pt x="20" y="37"/>
                    <a:pt x="20" y="37"/>
                  </a:cubicBezTo>
                  <a:cubicBezTo>
                    <a:pt x="11" y="37"/>
                    <a:pt x="11" y="37"/>
                    <a:pt x="11" y="37"/>
                  </a:cubicBezTo>
                  <a:cubicBezTo>
                    <a:pt x="11" y="18"/>
                    <a:pt x="11" y="18"/>
                    <a:pt x="11" y="18"/>
                  </a:cubicBezTo>
                  <a:cubicBezTo>
                    <a:pt x="31" y="18"/>
                    <a:pt x="31" y="18"/>
                    <a:pt x="31" y="18"/>
                  </a:cubicBezTo>
                  <a:cubicBezTo>
                    <a:pt x="43" y="44"/>
                    <a:pt x="43" y="44"/>
                    <a:pt x="43" y="44"/>
                  </a:cubicBezTo>
                  <a:lnTo>
                    <a:pt x="30"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932">
              <a:extLst>
                <a:ext uri="{FF2B5EF4-FFF2-40B4-BE49-F238E27FC236}">
                  <a16:creationId xmlns:a16="http://schemas.microsoft.com/office/drawing/2014/main" id="{63864D1A-8C0A-4AEC-81E5-8B04BA78C9ED}"/>
                </a:ext>
              </a:extLst>
            </p:cNvPr>
            <p:cNvSpPr>
              <a:spLocks/>
            </p:cNvSpPr>
            <p:nvPr/>
          </p:nvSpPr>
          <p:spPr bwMode="auto">
            <a:xfrm>
              <a:off x="8477985" y="4524350"/>
              <a:ext cx="109896" cy="109896"/>
            </a:xfrm>
            <a:custGeom>
              <a:avLst/>
              <a:gdLst>
                <a:gd name="T0" fmla="*/ 15 w 16"/>
                <a:gd name="T1" fmla="*/ 2 h 16"/>
                <a:gd name="T2" fmla="*/ 14 w 16"/>
                <a:gd name="T3" fmla="*/ 2 h 16"/>
                <a:gd name="T4" fmla="*/ 8 w 16"/>
                <a:gd name="T5" fmla="*/ 0 h 16"/>
                <a:gd name="T6" fmla="*/ 2 w 16"/>
                <a:gd name="T7" fmla="*/ 2 h 16"/>
                <a:gd name="T8" fmla="*/ 0 w 16"/>
                <a:gd name="T9" fmla="*/ 8 h 16"/>
                <a:gd name="T10" fmla="*/ 8 w 16"/>
                <a:gd name="T11" fmla="*/ 16 h 16"/>
                <a:gd name="T12" fmla="*/ 16 w 16"/>
                <a:gd name="T13" fmla="*/ 9 h 16"/>
                <a:gd name="T14" fmla="*/ 16 w 16"/>
                <a:gd name="T15" fmla="*/ 8 h 16"/>
                <a:gd name="T16" fmla="*/ 15 w 16"/>
                <a:gd name="T17" fmla="*/ 3 h 16"/>
                <a:gd name="T18" fmla="*/ 15 w 16"/>
                <a:gd name="T19"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15" y="2"/>
                  </a:moveTo>
                  <a:cubicBezTo>
                    <a:pt x="14" y="2"/>
                    <a:pt x="14" y="2"/>
                    <a:pt x="14" y="2"/>
                  </a:cubicBezTo>
                  <a:cubicBezTo>
                    <a:pt x="13" y="1"/>
                    <a:pt x="11" y="0"/>
                    <a:pt x="8" y="0"/>
                  </a:cubicBezTo>
                  <a:cubicBezTo>
                    <a:pt x="6" y="0"/>
                    <a:pt x="4" y="1"/>
                    <a:pt x="2" y="2"/>
                  </a:cubicBezTo>
                  <a:cubicBezTo>
                    <a:pt x="1" y="4"/>
                    <a:pt x="0" y="6"/>
                    <a:pt x="0" y="8"/>
                  </a:cubicBezTo>
                  <a:cubicBezTo>
                    <a:pt x="0" y="12"/>
                    <a:pt x="4" y="16"/>
                    <a:pt x="8" y="16"/>
                  </a:cubicBezTo>
                  <a:cubicBezTo>
                    <a:pt x="12" y="16"/>
                    <a:pt x="16" y="13"/>
                    <a:pt x="16" y="9"/>
                  </a:cubicBezTo>
                  <a:cubicBezTo>
                    <a:pt x="16" y="8"/>
                    <a:pt x="16" y="8"/>
                    <a:pt x="16" y="8"/>
                  </a:cubicBezTo>
                  <a:cubicBezTo>
                    <a:pt x="16" y="6"/>
                    <a:pt x="16" y="4"/>
                    <a:pt x="15" y="3"/>
                  </a:cubicBezTo>
                  <a:lnTo>
                    <a:pt x="1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9" name="Freeform 933">
              <a:extLst>
                <a:ext uri="{FF2B5EF4-FFF2-40B4-BE49-F238E27FC236}">
                  <a16:creationId xmlns:a16="http://schemas.microsoft.com/office/drawing/2014/main" id="{196E133B-6F64-47CD-9DAE-CDD98F7FC60E}"/>
                </a:ext>
              </a:extLst>
            </p:cNvPr>
            <p:cNvSpPr>
              <a:spLocks/>
            </p:cNvSpPr>
            <p:nvPr/>
          </p:nvSpPr>
          <p:spPr bwMode="auto">
            <a:xfrm>
              <a:off x="8717008" y="4524350"/>
              <a:ext cx="109896" cy="109896"/>
            </a:xfrm>
            <a:custGeom>
              <a:avLst/>
              <a:gdLst>
                <a:gd name="T0" fmla="*/ 8 w 16"/>
                <a:gd name="T1" fmla="*/ 0 h 16"/>
                <a:gd name="T2" fmla="*/ 0 w 16"/>
                <a:gd name="T3" fmla="*/ 8 h 16"/>
                <a:gd name="T4" fmla="*/ 0 w 16"/>
                <a:gd name="T5" fmla="*/ 9 h 16"/>
                <a:gd name="T6" fmla="*/ 8 w 16"/>
                <a:gd name="T7" fmla="*/ 16 h 16"/>
                <a:gd name="T8" fmla="*/ 16 w 16"/>
                <a:gd name="T9" fmla="*/ 9 h 16"/>
                <a:gd name="T10" fmla="*/ 16 w 16"/>
                <a:gd name="T11" fmla="*/ 8 h 16"/>
                <a:gd name="T12" fmla="*/ 8 w 16"/>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16" h="16">
                  <a:moveTo>
                    <a:pt x="8" y="0"/>
                  </a:moveTo>
                  <a:cubicBezTo>
                    <a:pt x="4" y="0"/>
                    <a:pt x="0" y="3"/>
                    <a:pt x="0" y="8"/>
                  </a:cubicBezTo>
                  <a:cubicBezTo>
                    <a:pt x="0" y="8"/>
                    <a:pt x="0" y="8"/>
                    <a:pt x="0" y="9"/>
                  </a:cubicBezTo>
                  <a:cubicBezTo>
                    <a:pt x="1" y="13"/>
                    <a:pt x="4" y="16"/>
                    <a:pt x="8" y="16"/>
                  </a:cubicBezTo>
                  <a:cubicBezTo>
                    <a:pt x="12" y="16"/>
                    <a:pt x="15" y="13"/>
                    <a:pt x="16" y="9"/>
                  </a:cubicBezTo>
                  <a:cubicBezTo>
                    <a:pt x="16" y="8"/>
                    <a:pt x="16" y="8"/>
                    <a:pt x="16" y="8"/>
                  </a:cubicBezTo>
                  <a:cubicBezTo>
                    <a:pt x="16" y="3"/>
                    <a:pt x="13"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934">
              <a:extLst>
                <a:ext uri="{FF2B5EF4-FFF2-40B4-BE49-F238E27FC236}">
                  <a16:creationId xmlns:a16="http://schemas.microsoft.com/office/drawing/2014/main" id="{6E8912E3-E3BB-4569-AE65-8B67880981CE}"/>
                </a:ext>
              </a:extLst>
            </p:cNvPr>
            <p:cNvSpPr>
              <a:spLocks/>
            </p:cNvSpPr>
            <p:nvPr/>
          </p:nvSpPr>
          <p:spPr bwMode="auto">
            <a:xfrm>
              <a:off x="8820035" y="4264721"/>
              <a:ext cx="197812" cy="218417"/>
            </a:xfrm>
            <a:custGeom>
              <a:avLst/>
              <a:gdLst>
                <a:gd name="T0" fmla="*/ 144 w 144"/>
                <a:gd name="T1" fmla="*/ 114 h 159"/>
                <a:gd name="T2" fmla="*/ 94 w 144"/>
                <a:gd name="T3" fmla="*/ 0 h 159"/>
                <a:gd name="T4" fmla="*/ 0 w 144"/>
                <a:gd name="T5" fmla="*/ 45 h 159"/>
                <a:gd name="T6" fmla="*/ 55 w 144"/>
                <a:gd name="T7" fmla="*/ 159 h 159"/>
                <a:gd name="T8" fmla="*/ 144 w 144"/>
                <a:gd name="T9" fmla="*/ 114 h 159"/>
              </a:gdLst>
              <a:ahLst/>
              <a:cxnLst>
                <a:cxn ang="0">
                  <a:pos x="T0" y="T1"/>
                </a:cxn>
                <a:cxn ang="0">
                  <a:pos x="T2" y="T3"/>
                </a:cxn>
                <a:cxn ang="0">
                  <a:pos x="T4" y="T5"/>
                </a:cxn>
                <a:cxn ang="0">
                  <a:pos x="T6" y="T7"/>
                </a:cxn>
                <a:cxn ang="0">
                  <a:pos x="T8" y="T9"/>
                </a:cxn>
              </a:cxnLst>
              <a:rect l="0" t="0" r="r" b="b"/>
              <a:pathLst>
                <a:path w="144" h="159">
                  <a:moveTo>
                    <a:pt x="144" y="114"/>
                  </a:moveTo>
                  <a:lnTo>
                    <a:pt x="94" y="0"/>
                  </a:lnTo>
                  <a:lnTo>
                    <a:pt x="0" y="45"/>
                  </a:lnTo>
                  <a:lnTo>
                    <a:pt x="55" y="159"/>
                  </a:lnTo>
                  <a:lnTo>
                    <a:pt x="144"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01" name="Group 100">
            <a:extLst>
              <a:ext uri="{FF2B5EF4-FFF2-40B4-BE49-F238E27FC236}">
                <a16:creationId xmlns:a16="http://schemas.microsoft.com/office/drawing/2014/main" id="{B75F4F7E-8FF5-447F-A637-6085C4C07E4D}"/>
              </a:ext>
            </a:extLst>
          </p:cNvPr>
          <p:cNvGrpSpPr>
            <a:grpSpLocks noChangeAspect="1"/>
          </p:cNvGrpSpPr>
          <p:nvPr/>
        </p:nvGrpSpPr>
        <p:grpSpPr>
          <a:xfrm>
            <a:off x="2515071" y="1511675"/>
            <a:ext cx="278220" cy="274320"/>
            <a:chOff x="3126073" y="4094383"/>
            <a:chExt cx="587942" cy="579699"/>
          </a:xfrm>
          <a:solidFill>
            <a:srgbClr val="595555"/>
          </a:solidFill>
        </p:grpSpPr>
        <p:sp>
          <p:nvSpPr>
            <p:cNvPr id="102" name="Freeform 957">
              <a:extLst>
                <a:ext uri="{FF2B5EF4-FFF2-40B4-BE49-F238E27FC236}">
                  <a16:creationId xmlns:a16="http://schemas.microsoft.com/office/drawing/2014/main" id="{09DE4D5D-28A6-415C-959F-4B2CC53D5EB1}"/>
                </a:ext>
              </a:extLst>
            </p:cNvPr>
            <p:cNvSpPr>
              <a:spLocks/>
            </p:cNvSpPr>
            <p:nvPr/>
          </p:nvSpPr>
          <p:spPr bwMode="auto">
            <a:xfrm>
              <a:off x="3126073" y="4496876"/>
              <a:ext cx="204680" cy="89290"/>
            </a:xfrm>
            <a:custGeom>
              <a:avLst/>
              <a:gdLst>
                <a:gd name="T0" fmla="*/ 3 w 30"/>
                <a:gd name="T1" fmla="*/ 2 h 13"/>
                <a:gd name="T2" fmla="*/ 0 w 30"/>
                <a:gd name="T3" fmla="*/ 0 h 13"/>
                <a:gd name="T4" fmla="*/ 0 w 30"/>
                <a:gd name="T5" fmla="*/ 6 h 13"/>
                <a:gd name="T6" fmla="*/ 1 w 30"/>
                <a:gd name="T7" fmla="*/ 6 h 13"/>
                <a:gd name="T8" fmla="*/ 27 w 30"/>
                <a:gd name="T9" fmla="*/ 13 h 13"/>
                <a:gd name="T10" fmla="*/ 30 w 30"/>
                <a:gd name="T11" fmla="*/ 13 h 13"/>
                <a:gd name="T12" fmla="*/ 30 w 30"/>
                <a:gd name="T13" fmla="*/ 10 h 13"/>
                <a:gd name="T14" fmla="*/ 30 w 30"/>
                <a:gd name="T15" fmla="*/ 8 h 13"/>
                <a:gd name="T16" fmla="*/ 30 w 30"/>
                <a:gd name="T17" fmla="*/ 6 h 13"/>
                <a:gd name="T18" fmla="*/ 27 w 30"/>
                <a:gd name="T19" fmla="*/ 6 h 13"/>
                <a:gd name="T20" fmla="*/ 3 w 30"/>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13">
                  <a:moveTo>
                    <a:pt x="3" y="2"/>
                  </a:moveTo>
                  <a:cubicBezTo>
                    <a:pt x="1" y="2"/>
                    <a:pt x="0" y="1"/>
                    <a:pt x="0" y="0"/>
                  </a:cubicBezTo>
                  <a:cubicBezTo>
                    <a:pt x="0" y="6"/>
                    <a:pt x="0" y="6"/>
                    <a:pt x="0" y="6"/>
                  </a:cubicBezTo>
                  <a:cubicBezTo>
                    <a:pt x="0" y="6"/>
                    <a:pt x="0" y="6"/>
                    <a:pt x="1" y="6"/>
                  </a:cubicBezTo>
                  <a:cubicBezTo>
                    <a:pt x="2" y="10"/>
                    <a:pt x="13" y="13"/>
                    <a:pt x="27" y="13"/>
                  </a:cubicBezTo>
                  <a:cubicBezTo>
                    <a:pt x="28" y="13"/>
                    <a:pt x="29" y="13"/>
                    <a:pt x="30" y="13"/>
                  </a:cubicBezTo>
                  <a:cubicBezTo>
                    <a:pt x="30" y="10"/>
                    <a:pt x="30" y="10"/>
                    <a:pt x="30" y="10"/>
                  </a:cubicBezTo>
                  <a:cubicBezTo>
                    <a:pt x="30" y="8"/>
                    <a:pt x="30" y="8"/>
                    <a:pt x="30" y="8"/>
                  </a:cubicBezTo>
                  <a:cubicBezTo>
                    <a:pt x="30" y="6"/>
                    <a:pt x="30" y="6"/>
                    <a:pt x="30" y="6"/>
                  </a:cubicBezTo>
                  <a:cubicBezTo>
                    <a:pt x="29" y="6"/>
                    <a:pt x="28" y="6"/>
                    <a:pt x="27" y="6"/>
                  </a:cubicBezTo>
                  <a:cubicBezTo>
                    <a:pt x="16" y="6"/>
                    <a:pt x="7" y="5"/>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3" name="Freeform 958">
              <a:extLst>
                <a:ext uri="{FF2B5EF4-FFF2-40B4-BE49-F238E27FC236}">
                  <a16:creationId xmlns:a16="http://schemas.microsoft.com/office/drawing/2014/main" id="{4AD2E070-5167-411D-8086-ACF638B85EE1}"/>
                </a:ext>
              </a:extLst>
            </p:cNvPr>
            <p:cNvSpPr>
              <a:spLocks/>
            </p:cNvSpPr>
            <p:nvPr/>
          </p:nvSpPr>
          <p:spPr bwMode="auto">
            <a:xfrm>
              <a:off x="3126073" y="4428191"/>
              <a:ext cx="204680" cy="96159"/>
            </a:xfrm>
            <a:custGeom>
              <a:avLst/>
              <a:gdLst>
                <a:gd name="T0" fmla="*/ 11 w 30"/>
                <a:gd name="T1" fmla="*/ 6 h 14"/>
                <a:gd name="T2" fmla="*/ 8 w 30"/>
                <a:gd name="T3" fmla="*/ 5 h 14"/>
                <a:gd name="T4" fmla="*/ 3 w 30"/>
                <a:gd name="T5" fmla="*/ 3 h 14"/>
                <a:gd name="T6" fmla="*/ 0 w 30"/>
                <a:gd name="T7" fmla="*/ 0 h 14"/>
                <a:gd name="T8" fmla="*/ 0 w 30"/>
                <a:gd name="T9" fmla="*/ 6 h 14"/>
                <a:gd name="T10" fmla="*/ 0 w 30"/>
                <a:gd name="T11" fmla="*/ 6 h 14"/>
                <a:gd name="T12" fmla="*/ 1 w 30"/>
                <a:gd name="T13" fmla="*/ 7 h 14"/>
                <a:gd name="T14" fmla="*/ 1 w 30"/>
                <a:gd name="T15" fmla="*/ 8 h 14"/>
                <a:gd name="T16" fmla="*/ 3 w 30"/>
                <a:gd name="T17" fmla="*/ 10 h 14"/>
                <a:gd name="T18" fmla="*/ 7 w 30"/>
                <a:gd name="T19" fmla="*/ 11 h 14"/>
                <a:gd name="T20" fmla="*/ 27 w 30"/>
                <a:gd name="T21" fmla="*/ 14 h 14"/>
                <a:gd name="T22" fmla="*/ 30 w 30"/>
                <a:gd name="T23" fmla="*/ 14 h 14"/>
                <a:gd name="T24" fmla="*/ 30 w 30"/>
                <a:gd name="T25" fmla="*/ 10 h 14"/>
                <a:gd name="T26" fmla="*/ 30 w 30"/>
                <a:gd name="T27" fmla="*/ 7 h 14"/>
                <a:gd name="T28" fmla="*/ 30 w 30"/>
                <a:gd name="T29" fmla="*/ 7 h 14"/>
                <a:gd name="T30" fmla="*/ 27 w 30"/>
                <a:gd name="T31" fmla="*/ 7 h 14"/>
                <a:gd name="T32" fmla="*/ 11 w 30"/>
                <a:gd name="T33"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 h="14">
                  <a:moveTo>
                    <a:pt x="11" y="6"/>
                  </a:moveTo>
                  <a:cubicBezTo>
                    <a:pt x="10" y="5"/>
                    <a:pt x="9" y="5"/>
                    <a:pt x="8" y="5"/>
                  </a:cubicBezTo>
                  <a:cubicBezTo>
                    <a:pt x="6" y="4"/>
                    <a:pt x="4" y="4"/>
                    <a:pt x="3" y="3"/>
                  </a:cubicBezTo>
                  <a:cubicBezTo>
                    <a:pt x="1" y="2"/>
                    <a:pt x="0" y="1"/>
                    <a:pt x="0" y="0"/>
                  </a:cubicBezTo>
                  <a:cubicBezTo>
                    <a:pt x="0" y="6"/>
                    <a:pt x="0" y="6"/>
                    <a:pt x="0" y="6"/>
                  </a:cubicBezTo>
                  <a:cubicBezTo>
                    <a:pt x="0" y="6"/>
                    <a:pt x="0" y="6"/>
                    <a:pt x="0" y="6"/>
                  </a:cubicBezTo>
                  <a:cubicBezTo>
                    <a:pt x="0" y="6"/>
                    <a:pt x="0" y="7"/>
                    <a:pt x="1" y="7"/>
                  </a:cubicBezTo>
                  <a:cubicBezTo>
                    <a:pt x="1" y="7"/>
                    <a:pt x="1" y="8"/>
                    <a:pt x="1" y="8"/>
                  </a:cubicBezTo>
                  <a:cubicBezTo>
                    <a:pt x="2" y="9"/>
                    <a:pt x="2" y="9"/>
                    <a:pt x="3" y="10"/>
                  </a:cubicBezTo>
                  <a:cubicBezTo>
                    <a:pt x="4" y="10"/>
                    <a:pt x="5" y="11"/>
                    <a:pt x="7" y="11"/>
                  </a:cubicBezTo>
                  <a:cubicBezTo>
                    <a:pt x="11" y="13"/>
                    <a:pt x="19" y="14"/>
                    <a:pt x="27" y="14"/>
                  </a:cubicBezTo>
                  <a:cubicBezTo>
                    <a:pt x="28" y="14"/>
                    <a:pt x="29" y="14"/>
                    <a:pt x="30" y="14"/>
                  </a:cubicBezTo>
                  <a:cubicBezTo>
                    <a:pt x="30" y="10"/>
                    <a:pt x="30" y="10"/>
                    <a:pt x="30" y="10"/>
                  </a:cubicBezTo>
                  <a:cubicBezTo>
                    <a:pt x="30" y="7"/>
                    <a:pt x="30" y="7"/>
                    <a:pt x="30" y="7"/>
                  </a:cubicBezTo>
                  <a:cubicBezTo>
                    <a:pt x="30" y="7"/>
                    <a:pt x="30" y="7"/>
                    <a:pt x="30" y="7"/>
                  </a:cubicBezTo>
                  <a:cubicBezTo>
                    <a:pt x="29" y="7"/>
                    <a:pt x="28" y="7"/>
                    <a:pt x="27" y="7"/>
                  </a:cubicBezTo>
                  <a:cubicBezTo>
                    <a:pt x="21" y="7"/>
                    <a:pt x="16" y="6"/>
                    <a:pt x="11"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4" name="Freeform 959">
              <a:extLst>
                <a:ext uri="{FF2B5EF4-FFF2-40B4-BE49-F238E27FC236}">
                  <a16:creationId xmlns:a16="http://schemas.microsoft.com/office/drawing/2014/main" id="{7F1B10FD-1353-4DFC-8624-E83F9C53CFA6}"/>
                </a:ext>
              </a:extLst>
            </p:cNvPr>
            <p:cNvSpPr>
              <a:spLocks/>
            </p:cNvSpPr>
            <p:nvPr/>
          </p:nvSpPr>
          <p:spPr bwMode="auto">
            <a:xfrm>
              <a:off x="3126073" y="4367749"/>
              <a:ext cx="204680" cy="87916"/>
            </a:xfrm>
            <a:custGeom>
              <a:avLst/>
              <a:gdLst>
                <a:gd name="T0" fmla="*/ 11 w 30"/>
                <a:gd name="T1" fmla="*/ 5 h 13"/>
                <a:gd name="T2" fmla="*/ 8 w 30"/>
                <a:gd name="T3" fmla="*/ 5 h 13"/>
                <a:gd name="T4" fmla="*/ 3 w 30"/>
                <a:gd name="T5" fmla="*/ 3 h 13"/>
                <a:gd name="T6" fmla="*/ 0 w 30"/>
                <a:gd name="T7" fmla="*/ 0 h 13"/>
                <a:gd name="T8" fmla="*/ 0 w 30"/>
                <a:gd name="T9" fmla="*/ 5 h 13"/>
                <a:gd name="T10" fmla="*/ 0 w 30"/>
                <a:gd name="T11" fmla="*/ 6 h 13"/>
                <a:gd name="T12" fmla="*/ 1 w 30"/>
                <a:gd name="T13" fmla="*/ 7 h 13"/>
                <a:gd name="T14" fmla="*/ 1 w 30"/>
                <a:gd name="T15" fmla="*/ 8 h 13"/>
                <a:gd name="T16" fmla="*/ 3 w 30"/>
                <a:gd name="T17" fmla="*/ 9 h 13"/>
                <a:gd name="T18" fmla="*/ 7 w 30"/>
                <a:gd name="T19" fmla="*/ 11 h 13"/>
                <a:gd name="T20" fmla="*/ 16 w 30"/>
                <a:gd name="T21" fmla="*/ 13 h 13"/>
                <a:gd name="T22" fmla="*/ 27 w 30"/>
                <a:gd name="T23" fmla="*/ 13 h 13"/>
                <a:gd name="T24" fmla="*/ 30 w 30"/>
                <a:gd name="T25" fmla="*/ 13 h 13"/>
                <a:gd name="T26" fmla="*/ 30 w 30"/>
                <a:gd name="T27" fmla="*/ 12 h 13"/>
                <a:gd name="T28" fmla="*/ 30 w 30"/>
                <a:gd name="T29" fmla="*/ 7 h 13"/>
                <a:gd name="T30" fmla="*/ 30 w 30"/>
                <a:gd name="T31" fmla="*/ 7 h 13"/>
                <a:gd name="T32" fmla="*/ 27 w 30"/>
                <a:gd name="T33" fmla="*/ 7 h 13"/>
                <a:gd name="T34" fmla="*/ 11 w 30"/>
                <a:gd name="T35"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13">
                  <a:moveTo>
                    <a:pt x="11" y="5"/>
                  </a:moveTo>
                  <a:cubicBezTo>
                    <a:pt x="10" y="5"/>
                    <a:pt x="9" y="5"/>
                    <a:pt x="8" y="5"/>
                  </a:cubicBezTo>
                  <a:cubicBezTo>
                    <a:pt x="6" y="4"/>
                    <a:pt x="4" y="3"/>
                    <a:pt x="3" y="3"/>
                  </a:cubicBezTo>
                  <a:cubicBezTo>
                    <a:pt x="1" y="2"/>
                    <a:pt x="0" y="1"/>
                    <a:pt x="0" y="0"/>
                  </a:cubicBezTo>
                  <a:cubicBezTo>
                    <a:pt x="0" y="5"/>
                    <a:pt x="0" y="5"/>
                    <a:pt x="0" y="5"/>
                  </a:cubicBezTo>
                  <a:cubicBezTo>
                    <a:pt x="0" y="6"/>
                    <a:pt x="0" y="6"/>
                    <a:pt x="0" y="6"/>
                  </a:cubicBezTo>
                  <a:cubicBezTo>
                    <a:pt x="0" y="6"/>
                    <a:pt x="0" y="6"/>
                    <a:pt x="1" y="7"/>
                  </a:cubicBezTo>
                  <a:cubicBezTo>
                    <a:pt x="1" y="7"/>
                    <a:pt x="1" y="7"/>
                    <a:pt x="1" y="8"/>
                  </a:cubicBezTo>
                  <a:cubicBezTo>
                    <a:pt x="2" y="8"/>
                    <a:pt x="2" y="9"/>
                    <a:pt x="3" y="9"/>
                  </a:cubicBezTo>
                  <a:cubicBezTo>
                    <a:pt x="4" y="10"/>
                    <a:pt x="5" y="10"/>
                    <a:pt x="7" y="11"/>
                  </a:cubicBezTo>
                  <a:cubicBezTo>
                    <a:pt x="9" y="11"/>
                    <a:pt x="12" y="12"/>
                    <a:pt x="16" y="13"/>
                  </a:cubicBezTo>
                  <a:cubicBezTo>
                    <a:pt x="19" y="13"/>
                    <a:pt x="23" y="13"/>
                    <a:pt x="27" y="13"/>
                  </a:cubicBezTo>
                  <a:cubicBezTo>
                    <a:pt x="28" y="13"/>
                    <a:pt x="29" y="13"/>
                    <a:pt x="30" y="13"/>
                  </a:cubicBezTo>
                  <a:cubicBezTo>
                    <a:pt x="30" y="12"/>
                    <a:pt x="30" y="12"/>
                    <a:pt x="30" y="12"/>
                  </a:cubicBezTo>
                  <a:cubicBezTo>
                    <a:pt x="30" y="7"/>
                    <a:pt x="30" y="7"/>
                    <a:pt x="30" y="7"/>
                  </a:cubicBezTo>
                  <a:cubicBezTo>
                    <a:pt x="30" y="7"/>
                    <a:pt x="30" y="7"/>
                    <a:pt x="30" y="7"/>
                  </a:cubicBezTo>
                  <a:cubicBezTo>
                    <a:pt x="29" y="7"/>
                    <a:pt x="28" y="7"/>
                    <a:pt x="27" y="7"/>
                  </a:cubicBezTo>
                  <a:cubicBezTo>
                    <a:pt x="21" y="7"/>
                    <a:pt x="16" y="6"/>
                    <a:pt x="1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Freeform 960">
              <a:extLst>
                <a:ext uri="{FF2B5EF4-FFF2-40B4-BE49-F238E27FC236}">
                  <a16:creationId xmlns:a16="http://schemas.microsoft.com/office/drawing/2014/main" id="{19754919-9AE2-4545-A91B-06A0C1DC9B4B}"/>
                </a:ext>
              </a:extLst>
            </p:cNvPr>
            <p:cNvSpPr>
              <a:spLocks/>
            </p:cNvSpPr>
            <p:nvPr/>
          </p:nvSpPr>
          <p:spPr bwMode="auto">
            <a:xfrm>
              <a:off x="3126073" y="4305932"/>
              <a:ext cx="369524" cy="89290"/>
            </a:xfrm>
            <a:custGeom>
              <a:avLst/>
              <a:gdLst>
                <a:gd name="T0" fmla="*/ 53 w 54"/>
                <a:gd name="T1" fmla="*/ 7 h 13"/>
                <a:gd name="T2" fmla="*/ 54 w 54"/>
                <a:gd name="T3" fmla="*/ 6 h 13"/>
                <a:gd name="T4" fmla="*/ 54 w 54"/>
                <a:gd name="T5" fmla="*/ 6 h 13"/>
                <a:gd name="T6" fmla="*/ 54 w 54"/>
                <a:gd name="T7" fmla="*/ 5 h 13"/>
                <a:gd name="T8" fmla="*/ 54 w 54"/>
                <a:gd name="T9" fmla="*/ 0 h 13"/>
                <a:gd name="T10" fmla="*/ 51 w 54"/>
                <a:gd name="T11" fmla="*/ 2 h 13"/>
                <a:gd name="T12" fmla="*/ 46 w 54"/>
                <a:gd name="T13" fmla="*/ 4 h 13"/>
                <a:gd name="T14" fmla="*/ 43 w 54"/>
                <a:gd name="T15" fmla="*/ 5 h 13"/>
                <a:gd name="T16" fmla="*/ 27 w 54"/>
                <a:gd name="T17" fmla="*/ 6 h 13"/>
                <a:gd name="T18" fmla="*/ 11 w 54"/>
                <a:gd name="T19" fmla="*/ 5 h 13"/>
                <a:gd name="T20" fmla="*/ 8 w 54"/>
                <a:gd name="T21" fmla="*/ 4 h 13"/>
                <a:gd name="T22" fmla="*/ 3 w 54"/>
                <a:gd name="T23" fmla="*/ 2 h 13"/>
                <a:gd name="T24" fmla="*/ 0 w 54"/>
                <a:gd name="T25" fmla="*/ 0 h 13"/>
                <a:gd name="T26" fmla="*/ 0 w 54"/>
                <a:gd name="T27" fmla="*/ 5 h 13"/>
                <a:gd name="T28" fmla="*/ 0 w 54"/>
                <a:gd name="T29" fmla="*/ 6 h 13"/>
                <a:gd name="T30" fmla="*/ 1 w 54"/>
                <a:gd name="T31" fmla="*/ 6 h 13"/>
                <a:gd name="T32" fmla="*/ 1 w 54"/>
                <a:gd name="T33" fmla="*/ 7 h 13"/>
                <a:gd name="T34" fmla="*/ 3 w 54"/>
                <a:gd name="T35" fmla="*/ 9 h 13"/>
                <a:gd name="T36" fmla="*/ 7 w 54"/>
                <a:gd name="T37" fmla="*/ 10 h 13"/>
                <a:gd name="T38" fmla="*/ 16 w 54"/>
                <a:gd name="T39" fmla="*/ 12 h 13"/>
                <a:gd name="T40" fmla="*/ 27 w 54"/>
                <a:gd name="T41" fmla="*/ 13 h 13"/>
                <a:gd name="T42" fmla="*/ 32 w 54"/>
                <a:gd name="T43" fmla="*/ 13 h 13"/>
                <a:gd name="T44" fmla="*/ 52 w 54"/>
                <a:gd name="T45" fmla="*/ 8 h 13"/>
                <a:gd name="T46" fmla="*/ 53 w 54"/>
                <a:gd name="T47" fmla="*/ 7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4" h="13">
                  <a:moveTo>
                    <a:pt x="53" y="7"/>
                  </a:moveTo>
                  <a:cubicBezTo>
                    <a:pt x="53" y="7"/>
                    <a:pt x="54" y="7"/>
                    <a:pt x="54" y="6"/>
                  </a:cubicBezTo>
                  <a:cubicBezTo>
                    <a:pt x="54" y="6"/>
                    <a:pt x="54" y="6"/>
                    <a:pt x="54" y="6"/>
                  </a:cubicBezTo>
                  <a:cubicBezTo>
                    <a:pt x="54" y="5"/>
                    <a:pt x="54" y="5"/>
                    <a:pt x="54" y="5"/>
                  </a:cubicBezTo>
                  <a:cubicBezTo>
                    <a:pt x="54" y="0"/>
                    <a:pt x="54" y="0"/>
                    <a:pt x="54" y="0"/>
                  </a:cubicBezTo>
                  <a:cubicBezTo>
                    <a:pt x="54" y="1"/>
                    <a:pt x="53" y="2"/>
                    <a:pt x="51" y="2"/>
                  </a:cubicBezTo>
                  <a:cubicBezTo>
                    <a:pt x="50" y="3"/>
                    <a:pt x="48" y="4"/>
                    <a:pt x="46" y="4"/>
                  </a:cubicBezTo>
                  <a:cubicBezTo>
                    <a:pt x="45" y="5"/>
                    <a:pt x="44" y="5"/>
                    <a:pt x="43" y="5"/>
                  </a:cubicBezTo>
                  <a:cubicBezTo>
                    <a:pt x="39" y="6"/>
                    <a:pt x="33" y="6"/>
                    <a:pt x="27" y="6"/>
                  </a:cubicBezTo>
                  <a:cubicBezTo>
                    <a:pt x="21" y="6"/>
                    <a:pt x="16" y="6"/>
                    <a:pt x="11" y="5"/>
                  </a:cubicBezTo>
                  <a:cubicBezTo>
                    <a:pt x="10" y="5"/>
                    <a:pt x="9" y="5"/>
                    <a:pt x="8" y="4"/>
                  </a:cubicBezTo>
                  <a:cubicBezTo>
                    <a:pt x="6" y="4"/>
                    <a:pt x="4" y="3"/>
                    <a:pt x="3" y="2"/>
                  </a:cubicBezTo>
                  <a:cubicBezTo>
                    <a:pt x="1" y="2"/>
                    <a:pt x="0" y="1"/>
                    <a:pt x="0" y="0"/>
                  </a:cubicBezTo>
                  <a:cubicBezTo>
                    <a:pt x="0" y="5"/>
                    <a:pt x="0" y="5"/>
                    <a:pt x="0" y="5"/>
                  </a:cubicBezTo>
                  <a:cubicBezTo>
                    <a:pt x="0" y="6"/>
                    <a:pt x="0" y="6"/>
                    <a:pt x="0" y="6"/>
                  </a:cubicBezTo>
                  <a:cubicBezTo>
                    <a:pt x="0" y="6"/>
                    <a:pt x="0" y="6"/>
                    <a:pt x="1" y="6"/>
                  </a:cubicBezTo>
                  <a:cubicBezTo>
                    <a:pt x="1" y="7"/>
                    <a:pt x="1" y="7"/>
                    <a:pt x="1" y="7"/>
                  </a:cubicBezTo>
                  <a:cubicBezTo>
                    <a:pt x="2" y="8"/>
                    <a:pt x="2" y="8"/>
                    <a:pt x="3" y="9"/>
                  </a:cubicBezTo>
                  <a:cubicBezTo>
                    <a:pt x="4" y="9"/>
                    <a:pt x="5" y="10"/>
                    <a:pt x="7" y="10"/>
                  </a:cubicBezTo>
                  <a:cubicBezTo>
                    <a:pt x="9" y="11"/>
                    <a:pt x="12" y="12"/>
                    <a:pt x="16" y="12"/>
                  </a:cubicBezTo>
                  <a:cubicBezTo>
                    <a:pt x="19" y="13"/>
                    <a:pt x="23" y="13"/>
                    <a:pt x="27" y="13"/>
                  </a:cubicBezTo>
                  <a:cubicBezTo>
                    <a:pt x="29" y="13"/>
                    <a:pt x="30" y="13"/>
                    <a:pt x="32" y="13"/>
                  </a:cubicBezTo>
                  <a:cubicBezTo>
                    <a:pt x="35" y="10"/>
                    <a:pt x="43" y="8"/>
                    <a:pt x="52" y="8"/>
                  </a:cubicBezTo>
                  <a:cubicBezTo>
                    <a:pt x="53" y="8"/>
                    <a:pt x="53" y="8"/>
                    <a:pt x="5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Freeform 961">
              <a:extLst>
                <a:ext uri="{FF2B5EF4-FFF2-40B4-BE49-F238E27FC236}">
                  <a16:creationId xmlns:a16="http://schemas.microsoft.com/office/drawing/2014/main" id="{69F1231A-7F1A-4406-A1C6-79A420612E01}"/>
                </a:ext>
              </a:extLst>
            </p:cNvPr>
            <p:cNvSpPr>
              <a:spLocks/>
            </p:cNvSpPr>
            <p:nvPr/>
          </p:nvSpPr>
          <p:spPr bwMode="auto">
            <a:xfrm>
              <a:off x="3126073" y="4237248"/>
              <a:ext cx="369524" cy="96159"/>
            </a:xfrm>
            <a:custGeom>
              <a:avLst/>
              <a:gdLst>
                <a:gd name="T0" fmla="*/ 1 w 54"/>
                <a:gd name="T1" fmla="*/ 8 h 14"/>
                <a:gd name="T2" fmla="*/ 3 w 54"/>
                <a:gd name="T3" fmla="*/ 10 h 14"/>
                <a:gd name="T4" fmla="*/ 7 w 54"/>
                <a:gd name="T5" fmla="*/ 11 h 14"/>
                <a:gd name="T6" fmla="*/ 16 w 54"/>
                <a:gd name="T7" fmla="*/ 13 h 14"/>
                <a:gd name="T8" fmla="*/ 27 w 54"/>
                <a:gd name="T9" fmla="*/ 14 h 14"/>
                <a:gd name="T10" fmla="*/ 38 w 54"/>
                <a:gd name="T11" fmla="*/ 13 h 14"/>
                <a:gd name="T12" fmla="*/ 48 w 54"/>
                <a:gd name="T13" fmla="*/ 11 h 14"/>
                <a:gd name="T14" fmla="*/ 51 w 54"/>
                <a:gd name="T15" fmla="*/ 10 h 14"/>
                <a:gd name="T16" fmla="*/ 53 w 54"/>
                <a:gd name="T17" fmla="*/ 8 h 14"/>
                <a:gd name="T18" fmla="*/ 54 w 54"/>
                <a:gd name="T19" fmla="*/ 7 h 14"/>
                <a:gd name="T20" fmla="*/ 54 w 54"/>
                <a:gd name="T21" fmla="*/ 6 h 14"/>
                <a:gd name="T22" fmla="*/ 54 w 54"/>
                <a:gd name="T23" fmla="*/ 6 h 14"/>
                <a:gd name="T24" fmla="*/ 54 w 54"/>
                <a:gd name="T25" fmla="*/ 0 h 14"/>
                <a:gd name="T26" fmla="*/ 51 w 54"/>
                <a:gd name="T27" fmla="*/ 3 h 14"/>
                <a:gd name="T28" fmla="*/ 46 w 54"/>
                <a:gd name="T29" fmla="*/ 5 h 14"/>
                <a:gd name="T30" fmla="*/ 43 w 54"/>
                <a:gd name="T31" fmla="*/ 6 h 14"/>
                <a:gd name="T32" fmla="*/ 27 w 54"/>
                <a:gd name="T33" fmla="*/ 7 h 14"/>
                <a:gd name="T34" fmla="*/ 11 w 54"/>
                <a:gd name="T35" fmla="*/ 6 h 14"/>
                <a:gd name="T36" fmla="*/ 8 w 54"/>
                <a:gd name="T37" fmla="*/ 5 h 14"/>
                <a:gd name="T38" fmla="*/ 3 w 54"/>
                <a:gd name="T39" fmla="*/ 3 h 14"/>
                <a:gd name="T40" fmla="*/ 0 w 54"/>
                <a:gd name="T41" fmla="*/ 0 h 14"/>
                <a:gd name="T42" fmla="*/ 0 w 54"/>
                <a:gd name="T43" fmla="*/ 6 h 14"/>
                <a:gd name="T44" fmla="*/ 0 w 54"/>
                <a:gd name="T45" fmla="*/ 6 h 14"/>
                <a:gd name="T46" fmla="*/ 1 w 54"/>
                <a:gd name="T47" fmla="*/ 7 h 14"/>
                <a:gd name="T48" fmla="*/ 1 w 54"/>
                <a:gd name="T49" fmla="*/ 8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4" h="14">
                  <a:moveTo>
                    <a:pt x="1" y="8"/>
                  </a:moveTo>
                  <a:cubicBezTo>
                    <a:pt x="2" y="9"/>
                    <a:pt x="2" y="9"/>
                    <a:pt x="3" y="10"/>
                  </a:cubicBezTo>
                  <a:cubicBezTo>
                    <a:pt x="4" y="10"/>
                    <a:pt x="5" y="11"/>
                    <a:pt x="7" y="11"/>
                  </a:cubicBezTo>
                  <a:cubicBezTo>
                    <a:pt x="9" y="12"/>
                    <a:pt x="12" y="12"/>
                    <a:pt x="16" y="13"/>
                  </a:cubicBezTo>
                  <a:cubicBezTo>
                    <a:pt x="19" y="13"/>
                    <a:pt x="23" y="14"/>
                    <a:pt x="27" y="14"/>
                  </a:cubicBezTo>
                  <a:cubicBezTo>
                    <a:pt x="31" y="14"/>
                    <a:pt x="35" y="13"/>
                    <a:pt x="38" y="13"/>
                  </a:cubicBezTo>
                  <a:cubicBezTo>
                    <a:pt x="42" y="12"/>
                    <a:pt x="45" y="12"/>
                    <a:pt x="48" y="11"/>
                  </a:cubicBezTo>
                  <a:cubicBezTo>
                    <a:pt x="49" y="11"/>
                    <a:pt x="50" y="10"/>
                    <a:pt x="51" y="10"/>
                  </a:cubicBezTo>
                  <a:cubicBezTo>
                    <a:pt x="52" y="9"/>
                    <a:pt x="52" y="9"/>
                    <a:pt x="53" y="8"/>
                  </a:cubicBezTo>
                  <a:cubicBezTo>
                    <a:pt x="53" y="8"/>
                    <a:pt x="54" y="7"/>
                    <a:pt x="54" y="7"/>
                  </a:cubicBezTo>
                  <a:cubicBezTo>
                    <a:pt x="54" y="7"/>
                    <a:pt x="54" y="6"/>
                    <a:pt x="54" y="6"/>
                  </a:cubicBezTo>
                  <a:cubicBezTo>
                    <a:pt x="54" y="6"/>
                    <a:pt x="54" y="6"/>
                    <a:pt x="54" y="6"/>
                  </a:cubicBezTo>
                  <a:cubicBezTo>
                    <a:pt x="54" y="0"/>
                    <a:pt x="54" y="0"/>
                    <a:pt x="54" y="0"/>
                  </a:cubicBezTo>
                  <a:cubicBezTo>
                    <a:pt x="54" y="1"/>
                    <a:pt x="53" y="2"/>
                    <a:pt x="51" y="3"/>
                  </a:cubicBezTo>
                  <a:cubicBezTo>
                    <a:pt x="50" y="4"/>
                    <a:pt x="48" y="4"/>
                    <a:pt x="46" y="5"/>
                  </a:cubicBezTo>
                  <a:cubicBezTo>
                    <a:pt x="45" y="5"/>
                    <a:pt x="44" y="5"/>
                    <a:pt x="43" y="6"/>
                  </a:cubicBezTo>
                  <a:cubicBezTo>
                    <a:pt x="39" y="6"/>
                    <a:pt x="33" y="7"/>
                    <a:pt x="27" y="7"/>
                  </a:cubicBezTo>
                  <a:cubicBezTo>
                    <a:pt x="21" y="7"/>
                    <a:pt x="16" y="6"/>
                    <a:pt x="11" y="6"/>
                  </a:cubicBezTo>
                  <a:cubicBezTo>
                    <a:pt x="10" y="5"/>
                    <a:pt x="9" y="5"/>
                    <a:pt x="8" y="5"/>
                  </a:cubicBezTo>
                  <a:cubicBezTo>
                    <a:pt x="6" y="4"/>
                    <a:pt x="4" y="4"/>
                    <a:pt x="3" y="3"/>
                  </a:cubicBezTo>
                  <a:cubicBezTo>
                    <a:pt x="1" y="2"/>
                    <a:pt x="0" y="1"/>
                    <a:pt x="0" y="0"/>
                  </a:cubicBezTo>
                  <a:cubicBezTo>
                    <a:pt x="0" y="6"/>
                    <a:pt x="0" y="6"/>
                    <a:pt x="0" y="6"/>
                  </a:cubicBezTo>
                  <a:cubicBezTo>
                    <a:pt x="0" y="6"/>
                    <a:pt x="0" y="6"/>
                    <a:pt x="0" y="6"/>
                  </a:cubicBezTo>
                  <a:cubicBezTo>
                    <a:pt x="0" y="6"/>
                    <a:pt x="0" y="7"/>
                    <a:pt x="1" y="7"/>
                  </a:cubicBezTo>
                  <a:cubicBezTo>
                    <a:pt x="1" y="7"/>
                    <a:pt x="1" y="8"/>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Freeform 962">
              <a:extLst>
                <a:ext uri="{FF2B5EF4-FFF2-40B4-BE49-F238E27FC236}">
                  <a16:creationId xmlns:a16="http://schemas.microsoft.com/office/drawing/2014/main" id="{DDAC269F-1A55-4FB4-A040-B48ADB00D60D}"/>
                </a:ext>
              </a:extLst>
            </p:cNvPr>
            <p:cNvSpPr>
              <a:spLocks/>
            </p:cNvSpPr>
            <p:nvPr/>
          </p:nvSpPr>
          <p:spPr bwMode="auto">
            <a:xfrm>
              <a:off x="3126073" y="4176805"/>
              <a:ext cx="369524" cy="87916"/>
            </a:xfrm>
            <a:custGeom>
              <a:avLst/>
              <a:gdLst>
                <a:gd name="T0" fmla="*/ 1 w 54"/>
                <a:gd name="T1" fmla="*/ 8 h 13"/>
                <a:gd name="T2" fmla="*/ 3 w 54"/>
                <a:gd name="T3" fmla="*/ 9 h 13"/>
                <a:gd name="T4" fmla="*/ 7 w 54"/>
                <a:gd name="T5" fmla="*/ 11 h 13"/>
                <a:gd name="T6" fmla="*/ 16 w 54"/>
                <a:gd name="T7" fmla="*/ 13 h 13"/>
                <a:gd name="T8" fmla="*/ 27 w 54"/>
                <a:gd name="T9" fmla="*/ 13 h 13"/>
                <a:gd name="T10" fmla="*/ 38 w 54"/>
                <a:gd name="T11" fmla="*/ 13 h 13"/>
                <a:gd name="T12" fmla="*/ 48 w 54"/>
                <a:gd name="T13" fmla="*/ 11 h 13"/>
                <a:gd name="T14" fmla="*/ 51 w 54"/>
                <a:gd name="T15" fmla="*/ 9 h 13"/>
                <a:gd name="T16" fmla="*/ 53 w 54"/>
                <a:gd name="T17" fmla="*/ 8 h 13"/>
                <a:gd name="T18" fmla="*/ 54 w 54"/>
                <a:gd name="T19" fmla="*/ 7 h 13"/>
                <a:gd name="T20" fmla="*/ 54 w 54"/>
                <a:gd name="T21" fmla="*/ 6 h 13"/>
                <a:gd name="T22" fmla="*/ 54 w 54"/>
                <a:gd name="T23" fmla="*/ 5 h 13"/>
                <a:gd name="T24" fmla="*/ 54 w 54"/>
                <a:gd name="T25" fmla="*/ 0 h 13"/>
                <a:gd name="T26" fmla="*/ 51 w 54"/>
                <a:gd name="T27" fmla="*/ 3 h 13"/>
                <a:gd name="T28" fmla="*/ 46 w 54"/>
                <a:gd name="T29" fmla="*/ 5 h 13"/>
                <a:gd name="T30" fmla="*/ 43 w 54"/>
                <a:gd name="T31" fmla="*/ 5 h 13"/>
                <a:gd name="T32" fmla="*/ 27 w 54"/>
                <a:gd name="T33" fmla="*/ 7 h 13"/>
                <a:gd name="T34" fmla="*/ 11 w 54"/>
                <a:gd name="T35" fmla="*/ 5 h 13"/>
                <a:gd name="T36" fmla="*/ 8 w 54"/>
                <a:gd name="T37" fmla="*/ 5 h 13"/>
                <a:gd name="T38" fmla="*/ 3 w 54"/>
                <a:gd name="T39" fmla="*/ 3 h 13"/>
                <a:gd name="T40" fmla="*/ 0 w 54"/>
                <a:gd name="T41" fmla="*/ 0 h 13"/>
                <a:gd name="T42" fmla="*/ 0 w 54"/>
                <a:gd name="T43" fmla="*/ 5 h 13"/>
                <a:gd name="T44" fmla="*/ 0 w 54"/>
                <a:gd name="T45" fmla="*/ 6 h 13"/>
                <a:gd name="T46" fmla="*/ 1 w 54"/>
                <a:gd name="T47" fmla="*/ 7 h 13"/>
                <a:gd name="T48" fmla="*/ 1 w 54"/>
                <a:gd name="T49" fmla="*/ 8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4" h="13">
                  <a:moveTo>
                    <a:pt x="1" y="8"/>
                  </a:moveTo>
                  <a:cubicBezTo>
                    <a:pt x="2" y="8"/>
                    <a:pt x="2" y="9"/>
                    <a:pt x="3" y="9"/>
                  </a:cubicBezTo>
                  <a:cubicBezTo>
                    <a:pt x="4" y="10"/>
                    <a:pt x="5" y="10"/>
                    <a:pt x="7" y="11"/>
                  </a:cubicBezTo>
                  <a:cubicBezTo>
                    <a:pt x="9" y="11"/>
                    <a:pt x="12" y="12"/>
                    <a:pt x="16" y="13"/>
                  </a:cubicBezTo>
                  <a:cubicBezTo>
                    <a:pt x="19" y="13"/>
                    <a:pt x="23" y="13"/>
                    <a:pt x="27" y="13"/>
                  </a:cubicBezTo>
                  <a:cubicBezTo>
                    <a:pt x="31" y="13"/>
                    <a:pt x="35" y="13"/>
                    <a:pt x="38" y="13"/>
                  </a:cubicBezTo>
                  <a:cubicBezTo>
                    <a:pt x="42" y="12"/>
                    <a:pt x="45" y="11"/>
                    <a:pt x="48" y="11"/>
                  </a:cubicBezTo>
                  <a:cubicBezTo>
                    <a:pt x="49" y="10"/>
                    <a:pt x="50" y="10"/>
                    <a:pt x="51" y="9"/>
                  </a:cubicBezTo>
                  <a:cubicBezTo>
                    <a:pt x="52" y="9"/>
                    <a:pt x="52" y="8"/>
                    <a:pt x="53" y="8"/>
                  </a:cubicBezTo>
                  <a:cubicBezTo>
                    <a:pt x="53" y="7"/>
                    <a:pt x="54" y="7"/>
                    <a:pt x="54" y="7"/>
                  </a:cubicBezTo>
                  <a:cubicBezTo>
                    <a:pt x="54" y="6"/>
                    <a:pt x="54" y="6"/>
                    <a:pt x="54" y="6"/>
                  </a:cubicBezTo>
                  <a:cubicBezTo>
                    <a:pt x="54" y="5"/>
                    <a:pt x="54" y="5"/>
                    <a:pt x="54" y="5"/>
                  </a:cubicBezTo>
                  <a:cubicBezTo>
                    <a:pt x="54" y="0"/>
                    <a:pt x="54" y="0"/>
                    <a:pt x="54" y="0"/>
                  </a:cubicBezTo>
                  <a:cubicBezTo>
                    <a:pt x="54" y="1"/>
                    <a:pt x="53" y="2"/>
                    <a:pt x="51" y="3"/>
                  </a:cubicBezTo>
                  <a:cubicBezTo>
                    <a:pt x="50" y="3"/>
                    <a:pt x="48" y="4"/>
                    <a:pt x="46" y="5"/>
                  </a:cubicBezTo>
                  <a:cubicBezTo>
                    <a:pt x="45" y="5"/>
                    <a:pt x="44" y="5"/>
                    <a:pt x="43" y="5"/>
                  </a:cubicBezTo>
                  <a:cubicBezTo>
                    <a:pt x="39" y="6"/>
                    <a:pt x="33" y="7"/>
                    <a:pt x="27" y="7"/>
                  </a:cubicBezTo>
                  <a:cubicBezTo>
                    <a:pt x="21" y="7"/>
                    <a:pt x="16" y="6"/>
                    <a:pt x="11" y="5"/>
                  </a:cubicBezTo>
                  <a:cubicBezTo>
                    <a:pt x="10" y="5"/>
                    <a:pt x="9" y="5"/>
                    <a:pt x="8" y="5"/>
                  </a:cubicBezTo>
                  <a:cubicBezTo>
                    <a:pt x="6" y="4"/>
                    <a:pt x="4" y="3"/>
                    <a:pt x="3" y="3"/>
                  </a:cubicBezTo>
                  <a:cubicBezTo>
                    <a:pt x="1" y="2"/>
                    <a:pt x="0" y="1"/>
                    <a:pt x="0" y="0"/>
                  </a:cubicBezTo>
                  <a:cubicBezTo>
                    <a:pt x="0" y="5"/>
                    <a:pt x="0" y="5"/>
                    <a:pt x="0" y="5"/>
                  </a:cubicBezTo>
                  <a:cubicBezTo>
                    <a:pt x="0" y="6"/>
                    <a:pt x="0" y="6"/>
                    <a:pt x="0" y="6"/>
                  </a:cubicBezTo>
                  <a:cubicBezTo>
                    <a:pt x="0" y="6"/>
                    <a:pt x="0" y="6"/>
                    <a:pt x="1" y="7"/>
                  </a:cubicBezTo>
                  <a:cubicBezTo>
                    <a:pt x="1" y="7"/>
                    <a:pt x="1" y="7"/>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Freeform 963">
              <a:extLst>
                <a:ext uri="{FF2B5EF4-FFF2-40B4-BE49-F238E27FC236}">
                  <a16:creationId xmlns:a16="http://schemas.microsoft.com/office/drawing/2014/main" id="{D32C2E0A-0301-4DD8-A43B-9619568EA719}"/>
                </a:ext>
              </a:extLst>
            </p:cNvPr>
            <p:cNvSpPr>
              <a:spLocks/>
            </p:cNvSpPr>
            <p:nvPr/>
          </p:nvSpPr>
          <p:spPr bwMode="auto">
            <a:xfrm>
              <a:off x="3126073" y="4094383"/>
              <a:ext cx="369524" cy="108522"/>
            </a:xfrm>
            <a:custGeom>
              <a:avLst/>
              <a:gdLst>
                <a:gd name="T0" fmla="*/ 4 w 54"/>
                <a:gd name="T1" fmla="*/ 12 h 16"/>
                <a:gd name="T2" fmla="*/ 7 w 54"/>
                <a:gd name="T3" fmla="*/ 13 h 16"/>
                <a:gd name="T4" fmla="*/ 16 w 54"/>
                <a:gd name="T5" fmla="*/ 15 h 16"/>
                <a:gd name="T6" fmla="*/ 27 w 54"/>
                <a:gd name="T7" fmla="*/ 16 h 16"/>
                <a:gd name="T8" fmla="*/ 38 w 54"/>
                <a:gd name="T9" fmla="*/ 15 h 16"/>
                <a:gd name="T10" fmla="*/ 47 w 54"/>
                <a:gd name="T11" fmla="*/ 13 h 16"/>
                <a:gd name="T12" fmla="*/ 50 w 54"/>
                <a:gd name="T13" fmla="*/ 12 h 16"/>
                <a:gd name="T14" fmla="*/ 53 w 54"/>
                <a:gd name="T15" fmla="*/ 10 h 16"/>
                <a:gd name="T16" fmla="*/ 54 w 54"/>
                <a:gd name="T17" fmla="*/ 8 h 16"/>
                <a:gd name="T18" fmla="*/ 27 w 54"/>
                <a:gd name="T19" fmla="*/ 0 h 16"/>
                <a:gd name="T20" fmla="*/ 0 w 54"/>
                <a:gd name="T21" fmla="*/ 8 h 16"/>
                <a:gd name="T22" fmla="*/ 1 w 54"/>
                <a:gd name="T23" fmla="*/ 10 h 16"/>
                <a:gd name="T24" fmla="*/ 4 w 54"/>
                <a:gd name="T25"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16">
                  <a:moveTo>
                    <a:pt x="4" y="12"/>
                  </a:moveTo>
                  <a:cubicBezTo>
                    <a:pt x="5" y="12"/>
                    <a:pt x="6" y="13"/>
                    <a:pt x="7" y="13"/>
                  </a:cubicBezTo>
                  <a:cubicBezTo>
                    <a:pt x="9" y="14"/>
                    <a:pt x="13" y="15"/>
                    <a:pt x="16" y="15"/>
                  </a:cubicBezTo>
                  <a:cubicBezTo>
                    <a:pt x="19" y="16"/>
                    <a:pt x="23" y="16"/>
                    <a:pt x="27" y="16"/>
                  </a:cubicBezTo>
                  <a:cubicBezTo>
                    <a:pt x="31" y="16"/>
                    <a:pt x="35" y="16"/>
                    <a:pt x="38" y="15"/>
                  </a:cubicBezTo>
                  <a:cubicBezTo>
                    <a:pt x="42" y="15"/>
                    <a:pt x="45" y="14"/>
                    <a:pt x="47" y="13"/>
                  </a:cubicBezTo>
                  <a:cubicBezTo>
                    <a:pt x="48" y="13"/>
                    <a:pt x="49" y="12"/>
                    <a:pt x="50" y="12"/>
                  </a:cubicBezTo>
                  <a:cubicBezTo>
                    <a:pt x="51" y="11"/>
                    <a:pt x="52" y="11"/>
                    <a:pt x="53" y="10"/>
                  </a:cubicBezTo>
                  <a:cubicBezTo>
                    <a:pt x="53" y="9"/>
                    <a:pt x="54" y="9"/>
                    <a:pt x="54" y="8"/>
                  </a:cubicBezTo>
                  <a:cubicBezTo>
                    <a:pt x="54" y="4"/>
                    <a:pt x="42" y="0"/>
                    <a:pt x="27" y="0"/>
                  </a:cubicBezTo>
                  <a:cubicBezTo>
                    <a:pt x="12" y="0"/>
                    <a:pt x="0" y="4"/>
                    <a:pt x="0" y="8"/>
                  </a:cubicBezTo>
                  <a:cubicBezTo>
                    <a:pt x="0" y="9"/>
                    <a:pt x="1" y="9"/>
                    <a:pt x="1" y="10"/>
                  </a:cubicBezTo>
                  <a:cubicBezTo>
                    <a:pt x="2" y="11"/>
                    <a:pt x="3"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Freeform 964">
              <a:extLst>
                <a:ext uri="{FF2B5EF4-FFF2-40B4-BE49-F238E27FC236}">
                  <a16:creationId xmlns:a16="http://schemas.microsoft.com/office/drawing/2014/main" id="{E078CB3C-ACEC-4AE2-B668-7A2DDEF85EFE}"/>
                </a:ext>
              </a:extLst>
            </p:cNvPr>
            <p:cNvSpPr>
              <a:spLocks/>
            </p:cNvSpPr>
            <p:nvPr/>
          </p:nvSpPr>
          <p:spPr bwMode="auto">
            <a:xfrm>
              <a:off x="3344491" y="4586166"/>
              <a:ext cx="369524" cy="87916"/>
            </a:xfrm>
            <a:custGeom>
              <a:avLst/>
              <a:gdLst>
                <a:gd name="T0" fmla="*/ 51 w 54"/>
                <a:gd name="T1" fmla="*/ 3 h 13"/>
                <a:gd name="T2" fmla="*/ 27 w 54"/>
                <a:gd name="T3" fmla="*/ 7 h 13"/>
                <a:gd name="T4" fmla="*/ 3 w 54"/>
                <a:gd name="T5" fmla="*/ 3 h 13"/>
                <a:gd name="T6" fmla="*/ 0 w 54"/>
                <a:gd name="T7" fmla="*/ 0 h 13"/>
                <a:gd name="T8" fmla="*/ 0 w 54"/>
                <a:gd name="T9" fmla="*/ 6 h 13"/>
                <a:gd name="T10" fmla="*/ 1 w 54"/>
                <a:gd name="T11" fmla="*/ 7 h 13"/>
                <a:gd name="T12" fmla="*/ 27 w 54"/>
                <a:gd name="T13" fmla="*/ 13 h 13"/>
                <a:gd name="T14" fmla="*/ 54 w 54"/>
                <a:gd name="T15" fmla="*/ 7 h 13"/>
                <a:gd name="T16" fmla="*/ 54 w 54"/>
                <a:gd name="T17" fmla="*/ 6 h 13"/>
                <a:gd name="T18" fmla="*/ 54 w 54"/>
                <a:gd name="T19" fmla="*/ 4 h 13"/>
                <a:gd name="T20" fmla="*/ 54 w 54"/>
                <a:gd name="T21" fmla="*/ 3 h 13"/>
                <a:gd name="T22" fmla="*/ 54 w 54"/>
                <a:gd name="T23" fmla="*/ 0 h 13"/>
                <a:gd name="T24" fmla="*/ 51 w 54"/>
                <a:gd name="T25" fmla="*/ 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 h="13">
                  <a:moveTo>
                    <a:pt x="51" y="3"/>
                  </a:moveTo>
                  <a:cubicBezTo>
                    <a:pt x="47" y="5"/>
                    <a:pt x="38" y="7"/>
                    <a:pt x="27" y="7"/>
                  </a:cubicBezTo>
                  <a:cubicBezTo>
                    <a:pt x="16" y="7"/>
                    <a:pt x="7" y="5"/>
                    <a:pt x="3" y="3"/>
                  </a:cubicBezTo>
                  <a:cubicBezTo>
                    <a:pt x="1" y="2"/>
                    <a:pt x="0" y="1"/>
                    <a:pt x="0" y="0"/>
                  </a:cubicBezTo>
                  <a:cubicBezTo>
                    <a:pt x="0" y="6"/>
                    <a:pt x="0" y="6"/>
                    <a:pt x="0" y="6"/>
                  </a:cubicBezTo>
                  <a:cubicBezTo>
                    <a:pt x="0" y="6"/>
                    <a:pt x="0" y="6"/>
                    <a:pt x="1" y="7"/>
                  </a:cubicBezTo>
                  <a:cubicBezTo>
                    <a:pt x="2" y="10"/>
                    <a:pt x="13" y="13"/>
                    <a:pt x="27" y="13"/>
                  </a:cubicBezTo>
                  <a:cubicBezTo>
                    <a:pt x="41" y="13"/>
                    <a:pt x="52" y="10"/>
                    <a:pt x="54" y="7"/>
                  </a:cubicBezTo>
                  <a:cubicBezTo>
                    <a:pt x="54" y="6"/>
                    <a:pt x="54" y="6"/>
                    <a:pt x="54" y="6"/>
                  </a:cubicBezTo>
                  <a:cubicBezTo>
                    <a:pt x="54" y="4"/>
                    <a:pt x="54" y="4"/>
                    <a:pt x="54" y="4"/>
                  </a:cubicBezTo>
                  <a:cubicBezTo>
                    <a:pt x="54" y="3"/>
                    <a:pt x="54" y="3"/>
                    <a:pt x="54" y="3"/>
                  </a:cubicBezTo>
                  <a:cubicBezTo>
                    <a:pt x="54" y="0"/>
                    <a:pt x="54" y="0"/>
                    <a:pt x="54" y="0"/>
                  </a:cubicBezTo>
                  <a:cubicBezTo>
                    <a:pt x="54" y="1"/>
                    <a:pt x="53" y="2"/>
                    <a:pt x="5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Freeform 966">
              <a:extLst>
                <a:ext uri="{FF2B5EF4-FFF2-40B4-BE49-F238E27FC236}">
                  <a16:creationId xmlns:a16="http://schemas.microsoft.com/office/drawing/2014/main" id="{CEFA03A5-C23E-4DE5-9BEE-31A4B1B47C70}"/>
                </a:ext>
              </a:extLst>
            </p:cNvPr>
            <p:cNvSpPr>
              <a:spLocks/>
            </p:cNvSpPr>
            <p:nvPr/>
          </p:nvSpPr>
          <p:spPr bwMode="auto">
            <a:xfrm>
              <a:off x="3344491" y="4524350"/>
              <a:ext cx="369524" cy="89290"/>
            </a:xfrm>
            <a:custGeom>
              <a:avLst/>
              <a:gdLst>
                <a:gd name="T0" fmla="*/ 51 w 54"/>
                <a:gd name="T1" fmla="*/ 2 h 13"/>
                <a:gd name="T2" fmla="*/ 46 w 54"/>
                <a:gd name="T3" fmla="*/ 4 h 13"/>
                <a:gd name="T4" fmla="*/ 43 w 54"/>
                <a:gd name="T5" fmla="*/ 5 h 13"/>
                <a:gd name="T6" fmla="*/ 27 w 54"/>
                <a:gd name="T7" fmla="*/ 6 h 13"/>
                <a:gd name="T8" fmla="*/ 17 w 54"/>
                <a:gd name="T9" fmla="*/ 6 h 13"/>
                <a:gd name="T10" fmla="*/ 11 w 54"/>
                <a:gd name="T11" fmla="*/ 5 h 13"/>
                <a:gd name="T12" fmla="*/ 8 w 54"/>
                <a:gd name="T13" fmla="*/ 4 h 13"/>
                <a:gd name="T14" fmla="*/ 3 w 54"/>
                <a:gd name="T15" fmla="*/ 2 h 13"/>
                <a:gd name="T16" fmla="*/ 2 w 54"/>
                <a:gd name="T17" fmla="*/ 2 h 13"/>
                <a:gd name="T18" fmla="*/ 0 w 54"/>
                <a:gd name="T19" fmla="*/ 0 h 13"/>
                <a:gd name="T20" fmla="*/ 0 w 54"/>
                <a:gd name="T21" fmla="*/ 2 h 13"/>
                <a:gd name="T22" fmla="*/ 0 w 54"/>
                <a:gd name="T23" fmla="*/ 5 h 13"/>
                <a:gd name="T24" fmla="*/ 0 w 54"/>
                <a:gd name="T25" fmla="*/ 6 h 13"/>
                <a:gd name="T26" fmla="*/ 1 w 54"/>
                <a:gd name="T27" fmla="*/ 6 h 13"/>
                <a:gd name="T28" fmla="*/ 1 w 54"/>
                <a:gd name="T29" fmla="*/ 7 h 13"/>
                <a:gd name="T30" fmla="*/ 3 w 54"/>
                <a:gd name="T31" fmla="*/ 9 h 13"/>
                <a:gd name="T32" fmla="*/ 3 w 54"/>
                <a:gd name="T33" fmla="*/ 9 h 13"/>
                <a:gd name="T34" fmla="*/ 7 w 54"/>
                <a:gd name="T35" fmla="*/ 10 h 13"/>
                <a:gd name="T36" fmla="*/ 27 w 54"/>
                <a:gd name="T37" fmla="*/ 13 h 13"/>
                <a:gd name="T38" fmla="*/ 48 w 54"/>
                <a:gd name="T39" fmla="*/ 10 h 13"/>
                <a:gd name="T40" fmla="*/ 51 w 54"/>
                <a:gd name="T41" fmla="*/ 9 h 13"/>
                <a:gd name="T42" fmla="*/ 53 w 54"/>
                <a:gd name="T43" fmla="*/ 7 h 13"/>
                <a:gd name="T44" fmla="*/ 54 w 54"/>
                <a:gd name="T45" fmla="*/ 6 h 13"/>
                <a:gd name="T46" fmla="*/ 54 w 54"/>
                <a:gd name="T47" fmla="*/ 6 h 13"/>
                <a:gd name="T48" fmla="*/ 54 w 54"/>
                <a:gd name="T49" fmla="*/ 5 h 13"/>
                <a:gd name="T50" fmla="*/ 54 w 54"/>
                <a:gd name="T51" fmla="*/ 4 h 13"/>
                <a:gd name="T52" fmla="*/ 54 w 54"/>
                <a:gd name="T53" fmla="*/ 2 h 13"/>
                <a:gd name="T54" fmla="*/ 54 w 54"/>
                <a:gd name="T55" fmla="*/ 0 h 13"/>
                <a:gd name="T56" fmla="*/ 51 w 54"/>
                <a:gd name="T5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13">
                  <a:moveTo>
                    <a:pt x="51" y="2"/>
                  </a:moveTo>
                  <a:cubicBezTo>
                    <a:pt x="50" y="3"/>
                    <a:pt x="48" y="4"/>
                    <a:pt x="46" y="4"/>
                  </a:cubicBezTo>
                  <a:cubicBezTo>
                    <a:pt x="45" y="5"/>
                    <a:pt x="44" y="5"/>
                    <a:pt x="43" y="5"/>
                  </a:cubicBezTo>
                  <a:cubicBezTo>
                    <a:pt x="39" y="6"/>
                    <a:pt x="33" y="6"/>
                    <a:pt x="27" y="6"/>
                  </a:cubicBezTo>
                  <a:cubicBezTo>
                    <a:pt x="24" y="6"/>
                    <a:pt x="20" y="6"/>
                    <a:pt x="17" y="6"/>
                  </a:cubicBezTo>
                  <a:cubicBezTo>
                    <a:pt x="15" y="6"/>
                    <a:pt x="13" y="5"/>
                    <a:pt x="11" y="5"/>
                  </a:cubicBezTo>
                  <a:cubicBezTo>
                    <a:pt x="10" y="5"/>
                    <a:pt x="9" y="5"/>
                    <a:pt x="8" y="4"/>
                  </a:cubicBezTo>
                  <a:cubicBezTo>
                    <a:pt x="6" y="4"/>
                    <a:pt x="4" y="3"/>
                    <a:pt x="3" y="2"/>
                  </a:cubicBezTo>
                  <a:cubicBezTo>
                    <a:pt x="3" y="2"/>
                    <a:pt x="3" y="2"/>
                    <a:pt x="2" y="2"/>
                  </a:cubicBezTo>
                  <a:cubicBezTo>
                    <a:pt x="1" y="1"/>
                    <a:pt x="0" y="0"/>
                    <a:pt x="0" y="0"/>
                  </a:cubicBezTo>
                  <a:cubicBezTo>
                    <a:pt x="0" y="2"/>
                    <a:pt x="0" y="2"/>
                    <a:pt x="0" y="2"/>
                  </a:cubicBezTo>
                  <a:cubicBezTo>
                    <a:pt x="0" y="5"/>
                    <a:pt x="0" y="5"/>
                    <a:pt x="0" y="5"/>
                  </a:cubicBezTo>
                  <a:cubicBezTo>
                    <a:pt x="0" y="6"/>
                    <a:pt x="0" y="6"/>
                    <a:pt x="0" y="6"/>
                  </a:cubicBezTo>
                  <a:cubicBezTo>
                    <a:pt x="0" y="6"/>
                    <a:pt x="0" y="6"/>
                    <a:pt x="1" y="6"/>
                  </a:cubicBezTo>
                  <a:cubicBezTo>
                    <a:pt x="1" y="7"/>
                    <a:pt x="1" y="7"/>
                    <a:pt x="1" y="7"/>
                  </a:cubicBezTo>
                  <a:cubicBezTo>
                    <a:pt x="2" y="8"/>
                    <a:pt x="2" y="8"/>
                    <a:pt x="3" y="9"/>
                  </a:cubicBezTo>
                  <a:cubicBezTo>
                    <a:pt x="3" y="9"/>
                    <a:pt x="3" y="9"/>
                    <a:pt x="3" y="9"/>
                  </a:cubicBezTo>
                  <a:cubicBezTo>
                    <a:pt x="4" y="9"/>
                    <a:pt x="5" y="10"/>
                    <a:pt x="7" y="10"/>
                  </a:cubicBezTo>
                  <a:cubicBezTo>
                    <a:pt x="11" y="12"/>
                    <a:pt x="19" y="13"/>
                    <a:pt x="27" y="13"/>
                  </a:cubicBezTo>
                  <a:cubicBezTo>
                    <a:pt x="35" y="13"/>
                    <a:pt x="43" y="12"/>
                    <a:pt x="48" y="10"/>
                  </a:cubicBezTo>
                  <a:cubicBezTo>
                    <a:pt x="49" y="10"/>
                    <a:pt x="50" y="9"/>
                    <a:pt x="51" y="9"/>
                  </a:cubicBezTo>
                  <a:cubicBezTo>
                    <a:pt x="52" y="8"/>
                    <a:pt x="52" y="8"/>
                    <a:pt x="53" y="7"/>
                  </a:cubicBezTo>
                  <a:cubicBezTo>
                    <a:pt x="53" y="7"/>
                    <a:pt x="54" y="7"/>
                    <a:pt x="54" y="6"/>
                  </a:cubicBezTo>
                  <a:cubicBezTo>
                    <a:pt x="54" y="6"/>
                    <a:pt x="54" y="6"/>
                    <a:pt x="54" y="6"/>
                  </a:cubicBezTo>
                  <a:cubicBezTo>
                    <a:pt x="54" y="5"/>
                    <a:pt x="54" y="5"/>
                    <a:pt x="54" y="5"/>
                  </a:cubicBezTo>
                  <a:cubicBezTo>
                    <a:pt x="54" y="4"/>
                    <a:pt x="54" y="4"/>
                    <a:pt x="54" y="4"/>
                  </a:cubicBezTo>
                  <a:cubicBezTo>
                    <a:pt x="54" y="2"/>
                    <a:pt x="54" y="2"/>
                    <a:pt x="54" y="2"/>
                  </a:cubicBezTo>
                  <a:cubicBezTo>
                    <a:pt x="54" y="0"/>
                    <a:pt x="54" y="0"/>
                    <a:pt x="54" y="0"/>
                  </a:cubicBezTo>
                  <a:cubicBezTo>
                    <a:pt x="54" y="1"/>
                    <a:pt x="53" y="2"/>
                    <a:pt x="5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1" name="Freeform 967">
              <a:extLst>
                <a:ext uri="{FF2B5EF4-FFF2-40B4-BE49-F238E27FC236}">
                  <a16:creationId xmlns:a16="http://schemas.microsoft.com/office/drawing/2014/main" id="{5C1B88C7-916B-42F7-98EF-C6674D5B0F30}"/>
                </a:ext>
              </a:extLst>
            </p:cNvPr>
            <p:cNvSpPr>
              <a:spLocks/>
            </p:cNvSpPr>
            <p:nvPr/>
          </p:nvSpPr>
          <p:spPr bwMode="auto">
            <a:xfrm>
              <a:off x="3344491" y="4455665"/>
              <a:ext cx="369524" cy="96159"/>
            </a:xfrm>
            <a:custGeom>
              <a:avLst/>
              <a:gdLst>
                <a:gd name="T0" fmla="*/ 51 w 54"/>
                <a:gd name="T1" fmla="*/ 3 h 14"/>
                <a:gd name="T2" fmla="*/ 46 w 54"/>
                <a:gd name="T3" fmla="*/ 5 h 14"/>
                <a:gd name="T4" fmla="*/ 43 w 54"/>
                <a:gd name="T5" fmla="*/ 6 h 14"/>
                <a:gd name="T6" fmla="*/ 27 w 54"/>
                <a:gd name="T7" fmla="*/ 7 h 14"/>
                <a:gd name="T8" fmla="*/ 22 w 54"/>
                <a:gd name="T9" fmla="*/ 7 h 14"/>
                <a:gd name="T10" fmla="*/ 21 w 54"/>
                <a:gd name="T11" fmla="*/ 7 h 14"/>
                <a:gd name="T12" fmla="*/ 17 w 54"/>
                <a:gd name="T13" fmla="*/ 6 h 14"/>
                <a:gd name="T14" fmla="*/ 11 w 54"/>
                <a:gd name="T15" fmla="*/ 6 h 14"/>
                <a:gd name="T16" fmla="*/ 8 w 54"/>
                <a:gd name="T17" fmla="*/ 5 h 14"/>
                <a:gd name="T18" fmla="*/ 3 w 54"/>
                <a:gd name="T19" fmla="*/ 3 h 14"/>
                <a:gd name="T20" fmla="*/ 2 w 54"/>
                <a:gd name="T21" fmla="*/ 3 h 14"/>
                <a:gd name="T22" fmla="*/ 0 w 54"/>
                <a:gd name="T23" fmla="*/ 0 h 14"/>
                <a:gd name="T24" fmla="*/ 0 w 54"/>
                <a:gd name="T25" fmla="*/ 3 h 14"/>
                <a:gd name="T26" fmla="*/ 0 w 54"/>
                <a:gd name="T27" fmla="*/ 6 h 14"/>
                <a:gd name="T28" fmla="*/ 0 w 54"/>
                <a:gd name="T29" fmla="*/ 6 h 14"/>
                <a:gd name="T30" fmla="*/ 1 w 54"/>
                <a:gd name="T31" fmla="*/ 7 h 14"/>
                <a:gd name="T32" fmla="*/ 1 w 54"/>
                <a:gd name="T33" fmla="*/ 8 h 14"/>
                <a:gd name="T34" fmla="*/ 3 w 54"/>
                <a:gd name="T35" fmla="*/ 9 h 14"/>
                <a:gd name="T36" fmla="*/ 3 w 54"/>
                <a:gd name="T37" fmla="*/ 10 h 14"/>
                <a:gd name="T38" fmla="*/ 7 w 54"/>
                <a:gd name="T39" fmla="*/ 11 h 14"/>
                <a:gd name="T40" fmla="*/ 8 w 54"/>
                <a:gd name="T41" fmla="*/ 11 h 14"/>
                <a:gd name="T42" fmla="*/ 16 w 54"/>
                <a:gd name="T43" fmla="*/ 13 h 14"/>
                <a:gd name="T44" fmla="*/ 21 w 54"/>
                <a:gd name="T45" fmla="*/ 13 h 14"/>
                <a:gd name="T46" fmla="*/ 27 w 54"/>
                <a:gd name="T47" fmla="*/ 14 h 14"/>
                <a:gd name="T48" fmla="*/ 38 w 54"/>
                <a:gd name="T49" fmla="*/ 13 h 14"/>
                <a:gd name="T50" fmla="*/ 48 w 54"/>
                <a:gd name="T51" fmla="*/ 11 h 14"/>
                <a:gd name="T52" fmla="*/ 51 w 54"/>
                <a:gd name="T53" fmla="*/ 10 h 14"/>
                <a:gd name="T54" fmla="*/ 53 w 54"/>
                <a:gd name="T55" fmla="*/ 8 h 14"/>
                <a:gd name="T56" fmla="*/ 54 w 54"/>
                <a:gd name="T57" fmla="*/ 7 h 14"/>
                <a:gd name="T58" fmla="*/ 54 w 54"/>
                <a:gd name="T59" fmla="*/ 6 h 14"/>
                <a:gd name="T60" fmla="*/ 54 w 54"/>
                <a:gd name="T61" fmla="*/ 6 h 14"/>
                <a:gd name="T62" fmla="*/ 54 w 54"/>
                <a:gd name="T63" fmla="*/ 4 h 14"/>
                <a:gd name="T64" fmla="*/ 54 w 54"/>
                <a:gd name="T65" fmla="*/ 3 h 14"/>
                <a:gd name="T66" fmla="*/ 54 w 54"/>
                <a:gd name="T67" fmla="*/ 0 h 14"/>
                <a:gd name="T68" fmla="*/ 51 w 54"/>
                <a:gd name="T69"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4" h="14">
                  <a:moveTo>
                    <a:pt x="51" y="3"/>
                  </a:moveTo>
                  <a:cubicBezTo>
                    <a:pt x="50" y="4"/>
                    <a:pt x="48" y="4"/>
                    <a:pt x="46" y="5"/>
                  </a:cubicBezTo>
                  <a:cubicBezTo>
                    <a:pt x="45" y="5"/>
                    <a:pt x="44" y="5"/>
                    <a:pt x="43" y="6"/>
                  </a:cubicBezTo>
                  <a:cubicBezTo>
                    <a:pt x="39" y="6"/>
                    <a:pt x="33" y="7"/>
                    <a:pt x="27" y="7"/>
                  </a:cubicBezTo>
                  <a:cubicBezTo>
                    <a:pt x="25" y="7"/>
                    <a:pt x="23" y="7"/>
                    <a:pt x="22" y="7"/>
                  </a:cubicBezTo>
                  <a:cubicBezTo>
                    <a:pt x="22" y="7"/>
                    <a:pt x="21" y="7"/>
                    <a:pt x="21" y="7"/>
                  </a:cubicBezTo>
                  <a:cubicBezTo>
                    <a:pt x="20" y="7"/>
                    <a:pt x="18" y="7"/>
                    <a:pt x="17" y="6"/>
                  </a:cubicBezTo>
                  <a:cubicBezTo>
                    <a:pt x="15" y="6"/>
                    <a:pt x="13" y="6"/>
                    <a:pt x="11" y="6"/>
                  </a:cubicBezTo>
                  <a:cubicBezTo>
                    <a:pt x="10" y="5"/>
                    <a:pt x="9" y="5"/>
                    <a:pt x="8" y="5"/>
                  </a:cubicBezTo>
                  <a:cubicBezTo>
                    <a:pt x="6" y="4"/>
                    <a:pt x="4" y="4"/>
                    <a:pt x="3" y="3"/>
                  </a:cubicBezTo>
                  <a:cubicBezTo>
                    <a:pt x="3" y="3"/>
                    <a:pt x="2" y="3"/>
                    <a:pt x="2" y="3"/>
                  </a:cubicBezTo>
                  <a:cubicBezTo>
                    <a:pt x="1" y="2"/>
                    <a:pt x="0" y="1"/>
                    <a:pt x="0" y="0"/>
                  </a:cubicBezTo>
                  <a:cubicBezTo>
                    <a:pt x="0" y="3"/>
                    <a:pt x="0" y="3"/>
                    <a:pt x="0" y="3"/>
                  </a:cubicBezTo>
                  <a:cubicBezTo>
                    <a:pt x="0" y="6"/>
                    <a:pt x="0" y="6"/>
                    <a:pt x="0" y="6"/>
                  </a:cubicBezTo>
                  <a:cubicBezTo>
                    <a:pt x="0" y="6"/>
                    <a:pt x="0" y="6"/>
                    <a:pt x="0" y="6"/>
                  </a:cubicBezTo>
                  <a:cubicBezTo>
                    <a:pt x="0" y="6"/>
                    <a:pt x="0" y="7"/>
                    <a:pt x="1" y="7"/>
                  </a:cubicBezTo>
                  <a:cubicBezTo>
                    <a:pt x="1" y="7"/>
                    <a:pt x="1" y="8"/>
                    <a:pt x="1" y="8"/>
                  </a:cubicBezTo>
                  <a:cubicBezTo>
                    <a:pt x="2" y="8"/>
                    <a:pt x="2" y="9"/>
                    <a:pt x="3" y="9"/>
                  </a:cubicBezTo>
                  <a:cubicBezTo>
                    <a:pt x="3" y="9"/>
                    <a:pt x="3" y="9"/>
                    <a:pt x="3" y="10"/>
                  </a:cubicBezTo>
                  <a:cubicBezTo>
                    <a:pt x="4" y="10"/>
                    <a:pt x="5" y="11"/>
                    <a:pt x="7" y="11"/>
                  </a:cubicBezTo>
                  <a:cubicBezTo>
                    <a:pt x="7" y="11"/>
                    <a:pt x="8" y="11"/>
                    <a:pt x="8" y="11"/>
                  </a:cubicBezTo>
                  <a:cubicBezTo>
                    <a:pt x="10" y="12"/>
                    <a:pt x="13" y="13"/>
                    <a:pt x="16" y="13"/>
                  </a:cubicBezTo>
                  <a:cubicBezTo>
                    <a:pt x="17" y="13"/>
                    <a:pt x="19" y="13"/>
                    <a:pt x="21" y="13"/>
                  </a:cubicBezTo>
                  <a:cubicBezTo>
                    <a:pt x="23" y="14"/>
                    <a:pt x="25" y="14"/>
                    <a:pt x="27" y="14"/>
                  </a:cubicBezTo>
                  <a:cubicBezTo>
                    <a:pt x="31" y="14"/>
                    <a:pt x="35" y="13"/>
                    <a:pt x="38" y="13"/>
                  </a:cubicBezTo>
                  <a:cubicBezTo>
                    <a:pt x="42" y="12"/>
                    <a:pt x="45" y="12"/>
                    <a:pt x="48" y="11"/>
                  </a:cubicBezTo>
                  <a:cubicBezTo>
                    <a:pt x="49" y="11"/>
                    <a:pt x="50" y="10"/>
                    <a:pt x="51" y="10"/>
                  </a:cubicBezTo>
                  <a:cubicBezTo>
                    <a:pt x="52" y="9"/>
                    <a:pt x="52" y="9"/>
                    <a:pt x="53" y="8"/>
                  </a:cubicBezTo>
                  <a:cubicBezTo>
                    <a:pt x="53" y="8"/>
                    <a:pt x="54" y="7"/>
                    <a:pt x="54" y="7"/>
                  </a:cubicBezTo>
                  <a:cubicBezTo>
                    <a:pt x="54" y="7"/>
                    <a:pt x="54" y="6"/>
                    <a:pt x="54" y="6"/>
                  </a:cubicBezTo>
                  <a:cubicBezTo>
                    <a:pt x="54" y="6"/>
                    <a:pt x="54" y="6"/>
                    <a:pt x="54" y="6"/>
                  </a:cubicBezTo>
                  <a:cubicBezTo>
                    <a:pt x="54" y="4"/>
                    <a:pt x="54" y="4"/>
                    <a:pt x="54" y="4"/>
                  </a:cubicBezTo>
                  <a:cubicBezTo>
                    <a:pt x="54" y="3"/>
                    <a:pt x="54" y="3"/>
                    <a:pt x="54" y="3"/>
                  </a:cubicBezTo>
                  <a:cubicBezTo>
                    <a:pt x="54" y="0"/>
                    <a:pt x="54" y="0"/>
                    <a:pt x="54" y="0"/>
                  </a:cubicBezTo>
                  <a:cubicBezTo>
                    <a:pt x="54" y="1"/>
                    <a:pt x="53" y="2"/>
                    <a:pt x="5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2" name="Freeform 968">
              <a:extLst>
                <a:ext uri="{FF2B5EF4-FFF2-40B4-BE49-F238E27FC236}">
                  <a16:creationId xmlns:a16="http://schemas.microsoft.com/office/drawing/2014/main" id="{6B90A2B5-9589-4514-B144-1648D22E5874}"/>
                </a:ext>
              </a:extLst>
            </p:cNvPr>
            <p:cNvSpPr>
              <a:spLocks/>
            </p:cNvSpPr>
            <p:nvPr/>
          </p:nvSpPr>
          <p:spPr bwMode="auto">
            <a:xfrm>
              <a:off x="3344491" y="4374617"/>
              <a:ext cx="369524" cy="108522"/>
            </a:xfrm>
            <a:custGeom>
              <a:avLst/>
              <a:gdLst>
                <a:gd name="T0" fmla="*/ 21 w 54"/>
                <a:gd name="T1" fmla="*/ 0 h 16"/>
                <a:gd name="T2" fmla="*/ 2 w 54"/>
                <a:gd name="T3" fmla="*/ 5 h 16"/>
                <a:gd name="T4" fmla="*/ 0 w 54"/>
                <a:gd name="T5" fmla="*/ 8 h 16"/>
                <a:gd name="T6" fmla="*/ 1 w 54"/>
                <a:gd name="T7" fmla="*/ 10 h 16"/>
                <a:gd name="T8" fmla="*/ 3 w 54"/>
                <a:gd name="T9" fmla="*/ 12 h 16"/>
                <a:gd name="T10" fmla="*/ 4 w 54"/>
                <a:gd name="T11" fmla="*/ 12 h 16"/>
                <a:gd name="T12" fmla="*/ 7 w 54"/>
                <a:gd name="T13" fmla="*/ 13 h 16"/>
                <a:gd name="T14" fmla="*/ 9 w 54"/>
                <a:gd name="T15" fmla="*/ 14 h 16"/>
                <a:gd name="T16" fmla="*/ 16 w 54"/>
                <a:gd name="T17" fmla="*/ 16 h 16"/>
                <a:gd name="T18" fmla="*/ 21 w 54"/>
                <a:gd name="T19" fmla="*/ 16 h 16"/>
                <a:gd name="T20" fmla="*/ 27 w 54"/>
                <a:gd name="T21" fmla="*/ 16 h 16"/>
                <a:gd name="T22" fmla="*/ 38 w 54"/>
                <a:gd name="T23" fmla="*/ 16 h 16"/>
                <a:gd name="T24" fmla="*/ 47 w 54"/>
                <a:gd name="T25" fmla="*/ 13 h 16"/>
                <a:gd name="T26" fmla="*/ 50 w 54"/>
                <a:gd name="T27" fmla="*/ 12 h 16"/>
                <a:gd name="T28" fmla="*/ 53 w 54"/>
                <a:gd name="T29" fmla="*/ 10 h 16"/>
                <a:gd name="T30" fmla="*/ 54 w 54"/>
                <a:gd name="T31" fmla="*/ 8 h 16"/>
                <a:gd name="T32" fmla="*/ 27 w 54"/>
                <a:gd name="T33" fmla="*/ 0 h 16"/>
                <a:gd name="T34" fmla="*/ 22 w 54"/>
                <a:gd name="T35" fmla="*/ 0 h 16"/>
                <a:gd name="T36" fmla="*/ 21 w 54"/>
                <a:gd name="T3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16">
                  <a:moveTo>
                    <a:pt x="21" y="0"/>
                  </a:moveTo>
                  <a:cubicBezTo>
                    <a:pt x="12" y="1"/>
                    <a:pt x="5" y="3"/>
                    <a:pt x="2" y="5"/>
                  </a:cubicBezTo>
                  <a:cubicBezTo>
                    <a:pt x="1" y="6"/>
                    <a:pt x="0" y="7"/>
                    <a:pt x="0" y="8"/>
                  </a:cubicBezTo>
                  <a:cubicBezTo>
                    <a:pt x="0" y="9"/>
                    <a:pt x="1" y="10"/>
                    <a:pt x="1" y="10"/>
                  </a:cubicBezTo>
                  <a:cubicBezTo>
                    <a:pt x="2" y="11"/>
                    <a:pt x="3" y="11"/>
                    <a:pt x="3" y="12"/>
                  </a:cubicBezTo>
                  <a:cubicBezTo>
                    <a:pt x="4" y="12"/>
                    <a:pt x="4" y="12"/>
                    <a:pt x="4" y="12"/>
                  </a:cubicBezTo>
                  <a:cubicBezTo>
                    <a:pt x="5" y="13"/>
                    <a:pt x="6" y="13"/>
                    <a:pt x="7" y="13"/>
                  </a:cubicBezTo>
                  <a:cubicBezTo>
                    <a:pt x="7" y="14"/>
                    <a:pt x="8" y="14"/>
                    <a:pt x="9" y="14"/>
                  </a:cubicBezTo>
                  <a:cubicBezTo>
                    <a:pt x="11" y="15"/>
                    <a:pt x="13" y="15"/>
                    <a:pt x="16" y="16"/>
                  </a:cubicBezTo>
                  <a:cubicBezTo>
                    <a:pt x="18" y="16"/>
                    <a:pt x="19" y="16"/>
                    <a:pt x="21" y="16"/>
                  </a:cubicBezTo>
                  <a:cubicBezTo>
                    <a:pt x="23" y="16"/>
                    <a:pt x="25" y="16"/>
                    <a:pt x="27" y="16"/>
                  </a:cubicBezTo>
                  <a:cubicBezTo>
                    <a:pt x="31" y="16"/>
                    <a:pt x="35" y="16"/>
                    <a:pt x="38" y="16"/>
                  </a:cubicBezTo>
                  <a:cubicBezTo>
                    <a:pt x="42" y="15"/>
                    <a:pt x="45" y="14"/>
                    <a:pt x="47" y="13"/>
                  </a:cubicBezTo>
                  <a:cubicBezTo>
                    <a:pt x="48" y="13"/>
                    <a:pt x="49" y="13"/>
                    <a:pt x="50" y="12"/>
                  </a:cubicBezTo>
                  <a:cubicBezTo>
                    <a:pt x="51" y="12"/>
                    <a:pt x="52" y="11"/>
                    <a:pt x="53" y="10"/>
                  </a:cubicBezTo>
                  <a:cubicBezTo>
                    <a:pt x="53" y="10"/>
                    <a:pt x="54" y="9"/>
                    <a:pt x="54" y="8"/>
                  </a:cubicBezTo>
                  <a:cubicBezTo>
                    <a:pt x="54" y="4"/>
                    <a:pt x="42" y="0"/>
                    <a:pt x="27" y="0"/>
                  </a:cubicBezTo>
                  <a:cubicBezTo>
                    <a:pt x="25" y="0"/>
                    <a:pt x="23" y="0"/>
                    <a:pt x="22" y="0"/>
                  </a:cubicBezTo>
                  <a:cubicBezTo>
                    <a:pt x="21" y="0"/>
                    <a:pt x="21"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13" name="Freeform 5">
            <a:extLst>
              <a:ext uri="{FF2B5EF4-FFF2-40B4-BE49-F238E27FC236}">
                <a16:creationId xmlns:a16="http://schemas.microsoft.com/office/drawing/2014/main" id="{4E88AFE3-DCD1-402B-9B74-FFD34DBB528D}"/>
              </a:ext>
            </a:extLst>
          </p:cNvPr>
          <p:cNvSpPr>
            <a:spLocks noChangeAspect="1"/>
          </p:cNvSpPr>
          <p:nvPr/>
        </p:nvSpPr>
        <p:spPr bwMode="auto">
          <a:xfrm>
            <a:off x="3458490" y="4442643"/>
            <a:ext cx="242004" cy="274320"/>
          </a:xfrm>
          <a:custGeom>
            <a:avLst/>
            <a:gdLst>
              <a:gd name="T0" fmla="*/ 227 w 322"/>
              <a:gd name="T1" fmla="*/ 95 h 365"/>
              <a:gd name="T2" fmla="*/ 322 w 322"/>
              <a:gd name="T3" fmla="*/ 0 h 365"/>
              <a:gd name="T4" fmla="*/ 34 w 322"/>
              <a:gd name="T5" fmla="*/ 0 h 365"/>
              <a:gd name="T6" fmla="*/ 8 w 322"/>
              <a:gd name="T7" fmla="*/ 0 h 365"/>
              <a:gd name="T8" fmla="*/ 0 w 322"/>
              <a:gd name="T9" fmla="*/ 0 h 365"/>
              <a:gd name="T10" fmla="*/ 0 w 322"/>
              <a:gd name="T11" fmla="*/ 365 h 365"/>
              <a:gd name="T12" fmla="*/ 34 w 322"/>
              <a:gd name="T13" fmla="*/ 365 h 365"/>
              <a:gd name="T14" fmla="*/ 34 w 322"/>
              <a:gd name="T15" fmla="*/ 185 h 365"/>
              <a:gd name="T16" fmla="*/ 322 w 322"/>
              <a:gd name="T17" fmla="*/ 185 h 365"/>
              <a:gd name="T18" fmla="*/ 227 w 322"/>
              <a:gd name="T19" fmla="*/ 95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2" h="365">
                <a:moveTo>
                  <a:pt x="227" y="95"/>
                </a:moveTo>
                <a:lnTo>
                  <a:pt x="322" y="0"/>
                </a:lnTo>
                <a:lnTo>
                  <a:pt x="34" y="0"/>
                </a:lnTo>
                <a:lnTo>
                  <a:pt x="8" y="0"/>
                </a:lnTo>
                <a:lnTo>
                  <a:pt x="0" y="0"/>
                </a:lnTo>
                <a:lnTo>
                  <a:pt x="0" y="365"/>
                </a:lnTo>
                <a:lnTo>
                  <a:pt x="34" y="365"/>
                </a:lnTo>
                <a:lnTo>
                  <a:pt x="34" y="185"/>
                </a:lnTo>
                <a:lnTo>
                  <a:pt x="322" y="185"/>
                </a:lnTo>
                <a:lnTo>
                  <a:pt x="227" y="9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14" name="Group 113">
            <a:extLst>
              <a:ext uri="{FF2B5EF4-FFF2-40B4-BE49-F238E27FC236}">
                <a16:creationId xmlns:a16="http://schemas.microsoft.com/office/drawing/2014/main" id="{087FCECD-4CF0-420C-8F07-68A69D74D2F4}"/>
              </a:ext>
            </a:extLst>
          </p:cNvPr>
          <p:cNvGrpSpPr>
            <a:grpSpLocks noChangeAspect="1"/>
          </p:cNvGrpSpPr>
          <p:nvPr/>
        </p:nvGrpSpPr>
        <p:grpSpPr>
          <a:xfrm>
            <a:off x="728989" y="4442643"/>
            <a:ext cx="215697" cy="274320"/>
            <a:chOff x="1100138" y="279400"/>
            <a:chExt cx="455613" cy="579438"/>
          </a:xfrm>
          <a:solidFill>
            <a:srgbClr val="595555"/>
          </a:solidFill>
        </p:grpSpPr>
        <p:sp>
          <p:nvSpPr>
            <p:cNvPr id="115" name="Freeform 6">
              <a:extLst>
                <a:ext uri="{FF2B5EF4-FFF2-40B4-BE49-F238E27FC236}">
                  <a16:creationId xmlns:a16="http://schemas.microsoft.com/office/drawing/2014/main" id="{37CF3B76-BDCB-413B-94A8-35FD0E558262}"/>
                </a:ext>
              </a:extLst>
            </p:cNvPr>
            <p:cNvSpPr>
              <a:spLocks/>
            </p:cNvSpPr>
            <p:nvPr/>
          </p:nvSpPr>
          <p:spPr bwMode="auto">
            <a:xfrm>
              <a:off x="1257300" y="790575"/>
              <a:ext cx="142875" cy="68263"/>
            </a:xfrm>
            <a:custGeom>
              <a:avLst/>
              <a:gdLst>
                <a:gd name="T0" fmla="*/ 11 w 21"/>
                <a:gd name="T1" fmla="*/ 10 h 10"/>
                <a:gd name="T2" fmla="*/ 21 w 21"/>
                <a:gd name="T3" fmla="*/ 0 h 10"/>
                <a:gd name="T4" fmla="*/ 0 w 21"/>
                <a:gd name="T5" fmla="*/ 0 h 10"/>
                <a:gd name="T6" fmla="*/ 11 w 21"/>
                <a:gd name="T7" fmla="*/ 10 h 10"/>
              </a:gdLst>
              <a:ahLst/>
              <a:cxnLst>
                <a:cxn ang="0">
                  <a:pos x="T0" y="T1"/>
                </a:cxn>
                <a:cxn ang="0">
                  <a:pos x="T2" y="T3"/>
                </a:cxn>
                <a:cxn ang="0">
                  <a:pos x="T4" y="T5"/>
                </a:cxn>
                <a:cxn ang="0">
                  <a:pos x="T6" y="T7"/>
                </a:cxn>
              </a:cxnLst>
              <a:rect l="0" t="0" r="r" b="b"/>
              <a:pathLst>
                <a:path w="21" h="10">
                  <a:moveTo>
                    <a:pt x="11" y="10"/>
                  </a:moveTo>
                  <a:cubicBezTo>
                    <a:pt x="16" y="10"/>
                    <a:pt x="21" y="6"/>
                    <a:pt x="21" y="0"/>
                  </a:cubicBezTo>
                  <a:cubicBezTo>
                    <a:pt x="0" y="0"/>
                    <a:pt x="0" y="0"/>
                    <a:pt x="0" y="0"/>
                  </a:cubicBezTo>
                  <a:cubicBezTo>
                    <a:pt x="0" y="6"/>
                    <a:pt x="5" y="10"/>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Freeform 7">
              <a:extLst>
                <a:ext uri="{FF2B5EF4-FFF2-40B4-BE49-F238E27FC236}">
                  <a16:creationId xmlns:a16="http://schemas.microsoft.com/office/drawing/2014/main" id="{2D7FFB0C-9C0E-421B-8DBA-64C53E769733}"/>
                </a:ext>
              </a:extLst>
            </p:cNvPr>
            <p:cNvSpPr>
              <a:spLocks/>
            </p:cNvSpPr>
            <p:nvPr/>
          </p:nvSpPr>
          <p:spPr bwMode="auto">
            <a:xfrm>
              <a:off x="1100138" y="279400"/>
              <a:ext cx="455613" cy="469900"/>
            </a:xfrm>
            <a:custGeom>
              <a:avLst/>
              <a:gdLst>
                <a:gd name="T0" fmla="*/ 65 w 67"/>
                <a:gd name="T1" fmla="*/ 56 h 69"/>
                <a:gd name="T2" fmla="*/ 59 w 67"/>
                <a:gd name="T3" fmla="*/ 41 h 69"/>
                <a:gd name="T4" fmla="*/ 59 w 67"/>
                <a:gd name="T5" fmla="*/ 36 h 69"/>
                <a:gd name="T6" fmla="*/ 43 w 67"/>
                <a:gd name="T7" fmla="*/ 13 h 69"/>
                <a:gd name="T8" fmla="*/ 43 w 67"/>
                <a:gd name="T9" fmla="*/ 9 h 69"/>
                <a:gd name="T10" fmla="*/ 35 w 67"/>
                <a:gd name="T11" fmla="*/ 0 h 69"/>
                <a:gd name="T12" fmla="*/ 34 w 67"/>
                <a:gd name="T13" fmla="*/ 0 h 69"/>
                <a:gd name="T14" fmla="*/ 32 w 67"/>
                <a:gd name="T15" fmla="*/ 0 h 69"/>
                <a:gd name="T16" fmla="*/ 24 w 67"/>
                <a:gd name="T17" fmla="*/ 9 h 69"/>
                <a:gd name="T18" fmla="*/ 24 w 67"/>
                <a:gd name="T19" fmla="*/ 13 h 69"/>
                <a:gd name="T20" fmla="*/ 8 w 67"/>
                <a:gd name="T21" fmla="*/ 36 h 69"/>
                <a:gd name="T22" fmla="*/ 8 w 67"/>
                <a:gd name="T23" fmla="*/ 41 h 69"/>
                <a:gd name="T24" fmla="*/ 2 w 67"/>
                <a:gd name="T25" fmla="*/ 56 h 69"/>
                <a:gd name="T26" fmla="*/ 0 w 67"/>
                <a:gd name="T27" fmla="*/ 62 h 69"/>
                <a:gd name="T28" fmla="*/ 8 w 67"/>
                <a:gd name="T29" fmla="*/ 69 h 69"/>
                <a:gd name="T30" fmla="*/ 34 w 67"/>
                <a:gd name="T31" fmla="*/ 69 h 69"/>
                <a:gd name="T32" fmla="*/ 59 w 67"/>
                <a:gd name="T33" fmla="*/ 69 h 69"/>
                <a:gd name="T34" fmla="*/ 67 w 67"/>
                <a:gd name="T35" fmla="*/ 62 h 69"/>
                <a:gd name="T36" fmla="*/ 65 w 67"/>
                <a:gd name="T37" fmla="*/ 5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7" h="69">
                  <a:moveTo>
                    <a:pt x="65" y="56"/>
                  </a:moveTo>
                  <a:cubicBezTo>
                    <a:pt x="61" y="52"/>
                    <a:pt x="59" y="47"/>
                    <a:pt x="59" y="41"/>
                  </a:cubicBezTo>
                  <a:cubicBezTo>
                    <a:pt x="59" y="36"/>
                    <a:pt x="59" y="36"/>
                    <a:pt x="59" y="36"/>
                  </a:cubicBezTo>
                  <a:cubicBezTo>
                    <a:pt x="59" y="25"/>
                    <a:pt x="52" y="16"/>
                    <a:pt x="43" y="13"/>
                  </a:cubicBezTo>
                  <a:cubicBezTo>
                    <a:pt x="43" y="9"/>
                    <a:pt x="43" y="9"/>
                    <a:pt x="43" y="9"/>
                  </a:cubicBezTo>
                  <a:cubicBezTo>
                    <a:pt x="43" y="4"/>
                    <a:pt x="39" y="0"/>
                    <a:pt x="35" y="0"/>
                  </a:cubicBezTo>
                  <a:cubicBezTo>
                    <a:pt x="35" y="0"/>
                    <a:pt x="34" y="0"/>
                    <a:pt x="34" y="0"/>
                  </a:cubicBezTo>
                  <a:cubicBezTo>
                    <a:pt x="33" y="0"/>
                    <a:pt x="33" y="0"/>
                    <a:pt x="32" y="0"/>
                  </a:cubicBezTo>
                  <a:cubicBezTo>
                    <a:pt x="28" y="0"/>
                    <a:pt x="24" y="4"/>
                    <a:pt x="24" y="9"/>
                  </a:cubicBezTo>
                  <a:cubicBezTo>
                    <a:pt x="24" y="13"/>
                    <a:pt x="24" y="13"/>
                    <a:pt x="24" y="13"/>
                  </a:cubicBezTo>
                  <a:cubicBezTo>
                    <a:pt x="15" y="16"/>
                    <a:pt x="8" y="25"/>
                    <a:pt x="8" y="36"/>
                  </a:cubicBezTo>
                  <a:cubicBezTo>
                    <a:pt x="8" y="41"/>
                    <a:pt x="8" y="41"/>
                    <a:pt x="8" y="41"/>
                  </a:cubicBezTo>
                  <a:cubicBezTo>
                    <a:pt x="8" y="47"/>
                    <a:pt x="6" y="52"/>
                    <a:pt x="2" y="56"/>
                  </a:cubicBezTo>
                  <a:cubicBezTo>
                    <a:pt x="1" y="57"/>
                    <a:pt x="0" y="60"/>
                    <a:pt x="0" y="62"/>
                  </a:cubicBezTo>
                  <a:cubicBezTo>
                    <a:pt x="0" y="66"/>
                    <a:pt x="4" y="69"/>
                    <a:pt x="8" y="69"/>
                  </a:cubicBezTo>
                  <a:cubicBezTo>
                    <a:pt x="34" y="69"/>
                    <a:pt x="34" y="69"/>
                    <a:pt x="34" y="69"/>
                  </a:cubicBezTo>
                  <a:cubicBezTo>
                    <a:pt x="59" y="69"/>
                    <a:pt x="59" y="69"/>
                    <a:pt x="59" y="69"/>
                  </a:cubicBezTo>
                  <a:cubicBezTo>
                    <a:pt x="63" y="69"/>
                    <a:pt x="67" y="66"/>
                    <a:pt x="67" y="62"/>
                  </a:cubicBezTo>
                  <a:cubicBezTo>
                    <a:pt x="67" y="60"/>
                    <a:pt x="66" y="57"/>
                    <a:pt x="6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17" name="Freeform 8">
            <a:extLst>
              <a:ext uri="{FF2B5EF4-FFF2-40B4-BE49-F238E27FC236}">
                <a16:creationId xmlns:a16="http://schemas.microsoft.com/office/drawing/2014/main" id="{C4A4598E-A41D-44AD-A644-43D5D89F0C89}"/>
              </a:ext>
            </a:extLst>
          </p:cNvPr>
          <p:cNvSpPr>
            <a:spLocks noChangeAspect="1" noEditPoints="1"/>
          </p:cNvSpPr>
          <p:nvPr/>
        </p:nvSpPr>
        <p:spPr bwMode="auto">
          <a:xfrm>
            <a:off x="2495699" y="4442643"/>
            <a:ext cx="274320" cy="274320"/>
          </a:xfrm>
          <a:custGeom>
            <a:avLst/>
            <a:gdLst>
              <a:gd name="T0" fmla="*/ 0 w 85"/>
              <a:gd name="T1" fmla="*/ 43 h 85"/>
              <a:gd name="T2" fmla="*/ 85 w 85"/>
              <a:gd name="T3" fmla="*/ 43 h 85"/>
              <a:gd name="T4" fmla="*/ 59 w 85"/>
              <a:gd name="T5" fmla="*/ 52 h 85"/>
              <a:gd name="T6" fmla="*/ 54 w 85"/>
              <a:gd name="T7" fmla="*/ 59 h 85"/>
              <a:gd name="T8" fmla="*/ 51 w 85"/>
              <a:gd name="T9" fmla="*/ 67 h 85"/>
              <a:gd name="T10" fmla="*/ 48 w 85"/>
              <a:gd name="T11" fmla="*/ 73 h 85"/>
              <a:gd name="T12" fmla="*/ 40 w 85"/>
              <a:gd name="T13" fmla="*/ 75 h 85"/>
              <a:gd name="T14" fmla="*/ 38 w 85"/>
              <a:gd name="T15" fmla="*/ 67 h 85"/>
              <a:gd name="T16" fmla="*/ 38 w 85"/>
              <a:gd name="T17" fmla="*/ 59 h 85"/>
              <a:gd name="T18" fmla="*/ 36 w 85"/>
              <a:gd name="T19" fmla="*/ 52 h 85"/>
              <a:gd name="T20" fmla="*/ 32 w 85"/>
              <a:gd name="T21" fmla="*/ 52 h 85"/>
              <a:gd name="T22" fmla="*/ 25 w 85"/>
              <a:gd name="T23" fmla="*/ 53 h 85"/>
              <a:gd name="T24" fmla="*/ 19 w 85"/>
              <a:gd name="T25" fmla="*/ 45 h 85"/>
              <a:gd name="T26" fmla="*/ 24 w 85"/>
              <a:gd name="T27" fmla="*/ 37 h 85"/>
              <a:gd name="T28" fmla="*/ 29 w 85"/>
              <a:gd name="T29" fmla="*/ 33 h 85"/>
              <a:gd name="T30" fmla="*/ 36 w 85"/>
              <a:gd name="T31" fmla="*/ 32 h 85"/>
              <a:gd name="T32" fmla="*/ 41 w 85"/>
              <a:gd name="T33" fmla="*/ 36 h 85"/>
              <a:gd name="T34" fmla="*/ 48 w 85"/>
              <a:gd name="T35" fmla="*/ 36 h 85"/>
              <a:gd name="T36" fmla="*/ 53 w 85"/>
              <a:gd name="T37" fmla="*/ 44 h 85"/>
              <a:gd name="T38" fmla="*/ 59 w 85"/>
              <a:gd name="T39" fmla="*/ 50 h 85"/>
              <a:gd name="T40" fmla="*/ 75 w 85"/>
              <a:gd name="T41" fmla="*/ 42 h 85"/>
              <a:gd name="T42" fmla="*/ 67 w 85"/>
              <a:gd name="T43" fmla="*/ 36 h 85"/>
              <a:gd name="T44" fmla="*/ 61 w 85"/>
              <a:gd name="T45" fmla="*/ 44 h 85"/>
              <a:gd name="T46" fmla="*/ 57 w 85"/>
              <a:gd name="T47" fmla="*/ 30 h 85"/>
              <a:gd name="T48" fmla="*/ 47 w 85"/>
              <a:gd name="T49" fmla="*/ 28 h 85"/>
              <a:gd name="T50" fmla="*/ 46 w 85"/>
              <a:gd name="T51" fmla="*/ 23 h 85"/>
              <a:gd name="T52" fmla="*/ 42 w 85"/>
              <a:gd name="T53" fmla="*/ 24 h 85"/>
              <a:gd name="T54" fmla="*/ 35 w 85"/>
              <a:gd name="T55" fmla="*/ 28 h 85"/>
              <a:gd name="T56" fmla="*/ 32 w 85"/>
              <a:gd name="T57" fmla="*/ 23 h 85"/>
              <a:gd name="T58" fmla="*/ 36 w 85"/>
              <a:gd name="T59" fmla="*/ 19 h 85"/>
              <a:gd name="T60" fmla="*/ 43 w 85"/>
              <a:gd name="T61" fmla="*/ 16 h 85"/>
              <a:gd name="T62" fmla="*/ 46 w 85"/>
              <a:gd name="T63" fmla="*/ 11 h 85"/>
              <a:gd name="T64" fmla="*/ 38 w 85"/>
              <a:gd name="T65" fmla="*/ 14 h 85"/>
              <a:gd name="T66" fmla="*/ 47 w 85"/>
              <a:gd name="T67" fmla="*/ 8 h 85"/>
              <a:gd name="T68" fmla="*/ 57 w 85"/>
              <a:gd name="T69" fmla="*/ 12 h 85"/>
              <a:gd name="T70" fmla="*/ 77 w 85"/>
              <a:gd name="T71" fmla="*/ 43 h 85"/>
              <a:gd name="T72" fmla="*/ 75 w 85"/>
              <a:gd name="T73"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 h="85">
                <a:moveTo>
                  <a:pt x="43" y="0"/>
                </a:moveTo>
                <a:cubicBezTo>
                  <a:pt x="19" y="0"/>
                  <a:pt x="0" y="19"/>
                  <a:pt x="0" y="43"/>
                </a:cubicBezTo>
                <a:cubicBezTo>
                  <a:pt x="0" y="66"/>
                  <a:pt x="19" y="85"/>
                  <a:pt x="43" y="85"/>
                </a:cubicBezTo>
                <a:cubicBezTo>
                  <a:pt x="66" y="85"/>
                  <a:pt x="85" y="66"/>
                  <a:pt x="85" y="43"/>
                </a:cubicBezTo>
                <a:cubicBezTo>
                  <a:pt x="85" y="19"/>
                  <a:pt x="66" y="0"/>
                  <a:pt x="43" y="0"/>
                </a:cubicBezTo>
                <a:close/>
                <a:moveTo>
                  <a:pt x="59" y="52"/>
                </a:moveTo>
                <a:cubicBezTo>
                  <a:pt x="59" y="52"/>
                  <a:pt x="56" y="56"/>
                  <a:pt x="56" y="57"/>
                </a:cubicBezTo>
                <a:cubicBezTo>
                  <a:pt x="55" y="58"/>
                  <a:pt x="54" y="58"/>
                  <a:pt x="54" y="59"/>
                </a:cubicBezTo>
                <a:cubicBezTo>
                  <a:pt x="54" y="60"/>
                  <a:pt x="53" y="64"/>
                  <a:pt x="53" y="64"/>
                </a:cubicBezTo>
                <a:cubicBezTo>
                  <a:pt x="51" y="67"/>
                  <a:pt x="51" y="67"/>
                  <a:pt x="51" y="67"/>
                </a:cubicBezTo>
                <a:cubicBezTo>
                  <a:pt x="50" y="71"/>
                  <a:pt x="50" y="71"/>
                  <a:pt x="50" y="71"/>
                </a:cubicBezTo>
                <a:cubicBezTo>
                  <a:pt x="50" y="71"/>
                  <a:pt x="48" y="72"/>
                  <a:pt x="48" y="73"/>
                </a:cubicBezTo>
                <a:cubicBezTo>
                  <a:pt x="47" y="74"/>
                  <a:pt x="43" y="75"/>
                  <a:pt x="42" y="75"/>
                </a:cubicBezTo>
                <a:cubicBezTo>
                  <a:pt x="42" y="75"/>
                  <a:pt x="40" y="75"/>
                  <a:pt x="40" y="75"/>
                </a:cubicBezTo>
                <a:cubicBezTo>
                  <a:pt x="40" y="69"/>
                  <a:pt x="40" y="69"/>
                  <a:pt x="40" y="69"/>
                </a:cubicBezTo>
                <a:cubicBezTo>
                  <a:pt x="40" y="69"/>
                  <a:pt x="38" y="68"/>
                  <a:pt x="38" y="67"/>
                </a:cubicBezTo>
                <a:cubicBezTo>
                  <a:pt x="37" y="67"/>
                  <a:pt x="38" y="64"/>
                  <a:pt x="38" y="64"/>
                </a:cubicBezTo>
                <a:cubicBezTo>
                  <a:pt x="38" y="64"/>
                  <a:pt x="38" y="61"/>
                  <a:pt x="38" y="59"/>
                </a:cubicBezTo>
                <a:cubicBezTo>
                  <a:pt x="38" y="58"/>
                  <a:pt x="37" y="57"/>
                  <a:pt x="36" y="57"/>
                </a:cubicBezTo>
                <a:cubicBezTo>
                  <a:pt x="35" y="56"/>
                  <a:pt x="36" y="52"/>
                  <a:pt x="36" y="52"/>
                </a:cubicBezTo>
                <a:cubicBezTo>
                  <a:pt x="36" y="52"/>
                  <a:pt x="34" y="53"/>
                  <a:pt x="34" y="53"/>
                </a:cubicBezTo>
                <a:cubicBezTo>
                  <a:pt x="33" y="53"/>
                  <a:pt x="32" y="52"/>
                  <a:pt x="32" y="52"/>
                </a:cubicBezTo>
                <a:cubicBezTo>
                  <a:pt x="27" y="53"/>
                  <a:pt x="27" y="53"/>
                  <a:pt x="27" y="53"/>
                </a:cubicBezTo>
                <a:cubicBezTo>
                  <a:pt x="27" y="53"/>
                  <a:pt x="26" y="53"/>
                  <a:pt x="25" y="53"/>
                </a:cubicBezTo>
                <a:cubicBezTo>
                  <a:pt x="25" y="52"/>
                  <a:pt x="24" y="51"/>
                  <a:pt x="23" y="51"/>
                </a:cubicBezTo>
                <a:cubicBezTo>
                  <a:pt x="22" y="51"/>
                  <a:pt x="21" y="48"/>
                  <a:pt x="19" y="45"/>
                </a:cubicBezTo>
                <a:cubicBezTo>
                  <a:pt x="18" y="43"/>
                  <a:pt x="21" y="39"/>
                  <a:pt x="21" y="39"/>
                </a:cubicBezTo>
                <a:cubicBezTo>
                  <a:pt x="24" y="37"/>
                  <a:pt x="24" y="37"/>
                  <a:pt x="24" y="37"/>
                </a:cubicBezTo>
                <a:cubicBezTo>
                  <a:pt x="26" y="33"/>
                  <a:pt x="26" y="33"/>
                  <a:pt x="26" y="33"/>
                </a:cubicBezTo>
                <a:cubicBezTo>
                  <a:pt x="29" y="33"/>
                  <a:pt x="29" y="33"/>
                  <a:pt x="29" y="33"/>
                </a:cubicBezTo>
                <a:cubicBezTo>
                  <a:pt x="32" y="32"/>
                  <a:pt x="32" y="32"/>
                  <a:pt x="32" y="32"/>
                </a:cubicBezTo>
                <a:cubicBezTo>
                  <a:pt x="36" y="32"/>
                  <a:pt x="36" y="32"/>
                  <a:pt x="36" y="32"/>
                </a:cubicBezTo>
                <a:cubicBezTo>
                  <a:pt x="36" y="32"/>
                  <a:pt x="38" y="34"/>
                  <a:pt x="38" y="35"/>
                </a:cubicBezTo>
                <a:cubicBezTo>
                  <a:pt x="38" y="35"/>
                  <a:pt x="41" y="36"/>
                  <a:pt x="41" y="36"/>
                </a:cubicBezTo>
                <a:cubicBezTo>
                  <a:pt x="41" y="36"/>
                  <a:pt x="45" y="36"/>
                  <a:pt x="45" y="36"/>
                </a:cubicBezTo>
                <a:cubicBezTo>
                  <a:pt x="46" y="36"/>
                  <a:pt x="47" y="36"/>
                  <a:pt x="48" y="36"/>
                </a:cubicBezTo>
                <a:cubicBezTo>
                  <a:pt x="49" y="36"/>
                  <a:pt x="50" y="38"/>
                  <a:pt x="51" y="39"/>
                </a:cubicBezTo>
                <a:cubicBezTo>
                  <a:pt x="53" y="40"/>
                  <a:pt x="53" y="44"/>
                  <a:pt x="53" y="44"/>
                </a:cubicBezTo>
                <a:cubicBezTo>
                  <a:pt x="53" y="44"/>
                  <a:pt x="56" y="48"/>
                  <a:pt x="57" y="49"/>
                </a:cubicBezTo>
                <a:cubicBezTo>
                  <a:pt x="57" y="50"/>
                  <a:pt x="58" y="50"/>
                  <a:pt x="59" y="50"/>
                </a:cubicBezTo>
                <a:cubicBezTo>
                  <a:pt x="60" y="50"/>
                  <a:pt x="59" y="52"/>
                  <a:pt x="59" y="52"/>
                </a:cubicBezTo>
                <a:close/>
                <a:moveTo>
                  <a:pt x="75" y="42"/>
                </a:moveTo>
                <a:cubicBezTo>
                  <a:pt x="74" y="41"/>
                  <a:pt x="72" y="39"/>
                  <a:pt x="71" y="37"/>
                </a:cubicBezTo>
                <a:cubicBezTo>
                  <a:pt x="69" y="36"/>
                  <a:pt x="68" y="36"/>
                  <a:pt x="67" y="36"/>
                </a:cubicBezTo>
                <a:cubicBezTo>
                  <a:pt x="66" y="37"/>
                  <a:pt x="68" y="40"/>
                  <a:pt x="68" y="41"/>
                </a:cubicBezTo>
                <a:cubicBezTo>
                  <a:pt x="67" y="41"/>
                  <a:pt x="62" y="44"/>
                  <a:pt x="61" y="44"/>
                </a:cubicBezTo>
                <a:cubicBezTo>
                  <a:pt x="60" y="44"/>
                  <a:pt x="55" y="42"/>
                  <a:pt x="54" y="37"/>
                </a:cubicBezTo>
                <a:cubicBezTo>
                  <a:pt x="54" y="33"/>
                  <a:pt x="59" y="31"/>
                  <a:pt x="57" y="30"/>
                </a:cubicBezTo>
                <a:cubicBezTo>
                  <a:pt x="55" y="29"/>
                  <a:pt x="54" y="31"/>
                  <a:pt x="52" y="31"/>
                </a:cubicBezTo>
                <a:cubicBezTo>
                  <a:pt x="50" y="32"/>
                  <a:pt x="47" y="31"/>
                  <a:pt x="47" y="28"/>
                </a:cubicBezTo>
                <a:cubicBezTo>
                  <a:pt x="47" y="26"/>
                  <a:pt x="52" y="26"/>
                  <a:pt x="51" y="24"/>
                </a:cubicBezTo>
                <a:cubicBezTo>
                  <a:pt x="50" y="21"/>
                  <a:pt x="48" y="23"/>
                  <a:pt x="46" y="23"/>
                </a:cubicBezTo>
                <a:cubicBezTo>
                  <a:pt x="45" y="22"/>
                  <a:pt x="45" y="27"/>
                  <a:pt x="44" y="27"/>
                </a:cubicBezTo>
                <a:cubicBezTo>
                  <a:pt x="43" y="27"/>
                  <a:pt x="43" y="25"/>
                  <a:pt x="42" y="24"/>
                </a:cubicBezTo>
                <a:cubicBezTo>
                  <a:pt x="41" y="23"/>
                  <a:pt x="39" y="23"/>
                  <a:pt x="38" y="25"/>
                </a:cubicBezTo>
                <a:cubicBezTo>
                  <a:pt x="37" y="28"/>
                  <a:pt x="36" y="28"/>
                  <a:pt x="35" y="28"/>
                </a:cubicBezTo>
                <a:cubicBezTo>
                  <a:pt x="34" y="28"/>
                  <a:pt x="33" y="28"/>
                  <a:pt x="32" y="27"/>
                </a:cubicBezTo>
                <a:cubicBezTo>
                  <a:pt x="30" y="25"/>
                  <a:pt x="31" y="24"/>
                  <a:pt x="32" y="23"/>
                </a:cubicBezTo>
                <a:cubicBezTo>
                  <a:pt x="32" y="23"/>
                  <a:pt x="36" y="22"/>
                  <a:pt x="36" y="22"/>
                </a:cubicBezTo>
                <a:cubicBezTo>
                  <a:pt x="36" y="22"/>
                  <a:pt x="36" y="19"/>
                  <a:pt x="36" y="19"/>
                </a:cubicBezTo>
                <a:cubicBezTo>
                  <a:pt x="36" y="19"/>
                  <a:pt x="39" y="18"/>
                  <a:pt x="40" y="17"/>
                </a:cubicBezTo>
                <a:cubicBezTo>
                  <a:pt x="40" y="16"/>
                  <a:pt x="42" y="16"/>
                  <a:pt x="43" y="16"/>
                </a:cubicBezTo>
                <a:cubicBezTo>
                  <a:pt x="43" y="16"/>
                  <a:pt x="44" y="17"/>
                  <a:pt x="46" y="16"/>
                </a:cubicBezTo>
                <a:cubicBezTo>
                  <a:pt x="48" y="15"/>
                  <a:pt x="49" y="12"/>
                  <a:pt x="46" y="11"/>
                </a:cubicBezTo>
                <a:cubicBezTo>
                  <a:pt x="44" y="11"/>
                  <a:pt x="45" y="12"/>
                  <a:pt x="43" y="14"/>
                </a:cubicBezTo>
                <a:cubicBezTo>
                  <a:pt x="41" y="15"/>
                  <a:pt x="39" y="16"/>
                  <a:pt x="38" y="14"/>
                </a:cubicBezTo>
                <a:cubicBezTo>
                  <a:pt x="37" y="13"/>
                  <a:pt x="38" y="12"/>
                  <a:pt x="39" y="11"/>
                </a:cubicBezTo>
                <a:cubicBezTo>
                  <a:pt x="41" y="9"/>
                  <a:pt x="44" y="9"/>
                  <a:pt x="47" y="8"/>
                </a:cubicBezTo>
                <a:cubicBezTo>
                  <a:pt x="48" y="8"/>
                  <a:pt x="51" y="10"/>
                  <a:pt x="52" y="11"/>
                </a:cubicBezTo>
                <a:cubicBezTo>
                  <a:pt x="53" y="11"/>
                  <a:pt x="54" y="12"/>
                  <a:pt x="57" y="12"/>
                </a:cubicBezTo>
                <a:cubicBezTo>
                  <a:pt x="57" y="12"/>
                  <a:pt x="58" y="12"/>
                  <a:pt x="58" y="12"/>
                </a:cubicBezTo>
                <a:cubicBezTo>
                  <a:pt x="69" y="18"/>
                  <a:pt x="77" y="29"/>
                  <a:pt x="77" y="43"/>
                </a:cubicBezTo>
                <a:cubicBezTo>
                  <a:pt x="77" y="43"/>
                  <a:pt x="77" y="44"/>
                  <a:pt x="77" y="45"/>
                </a:cubicBezTo>
                <a:cubicBezTo>
                  <a:pt x="76" y="44"/>
                  <a:pt x="75" y="42"/>
                  <a:pt x="75" y="4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18" name="Group 117">
            <a:extLst>
              <a:ext uri="{FF2B5EF4-FFF2-40B4-BE49-F238E27FC236}">
                <a16:creationId xmlns:a16="http://schemas.microsoft.com/office/drawing/2014/main" id="{AA5435E7-63AA-428D-A444-7A6968876140}"/>
              </a:ext>
            </a:extLst>
          </p:cNvPr>
          <p:cNvGrpSpPr>
            <a:grpSpLocks noChangeAspect="1"/>
          </p:cNvGrpSpPr>
          <p:nvPr/>
        </p:nvGrpSpPr>
        <p:grpSpPr>
          <a:xfrm>
            <a:off x="1664981" y="4442643"/>
            <a:ext cx="206679" cy="274320"/>
            <a:chOff x="1876425" y="279400"/>
            <a:chExt cx="436563" cy="579438"/>
          </a:xfrm>
          <a:solidFill>
            <a:srgbClr val="595555"/>
          </a:solidFill>
        </p:grpSpPr>
        <p:sp>
          <p:nvSpPr>
            <p:cNvPr id="119" name="Freeform 9">
              <a:extLst>
                <a:ext uri="{FF2B5EF4-FFF2-40B4-BE49-F238E27FC236}">
                  <a16:creationId xmlns:a16="http://schemas.microsoft.com/office/drawing/2014/main" id="{3FB132BE-F994-4842-AAD2-972584B8CE2A}"/>
                </a:ext>
              </a:extLst>
            </p:cNvPr>
            <p:cNvSpPr>
              <a:spLocks noEditPoints="1"/>
            </p:cNvSpPr>
            <p:nvPr/>
          </p:nvSpPr>
          <p:spPr bwMode="auto">
            <a:xfrm>
              <a:off x="1876425" y="361950"/>
              <a:ext cx="436563" cy="496888"/>
            </a:xfrm>
            <a:custGeom>
              <a:avLst/>
              <a:gdLst>
                <a:gd name="T0" fmla="*/ 61 w 64"/>
                <a:gd name="T1" fmla="*/ 0 h 73"/>
                <a:gd name="T2" fmla="*/ 53 w 64"/>
                <a:gd name="T3" fmla="*/ 0 h 73"/>
                <a:gd name="T4" fmla="*/ 53 w 64"/>
                <a:gd name="T5" fmla="*/ 7 h 73"/>
                <a:gd name="T6" fmla="*/ 53 w 64"/>
                <a:gd name="T7" fmla="*/ 9 h 73"/>
                <a:gd name="T8" fmla="*/ 50 w 64"/>
                <a:gd name="T9" fmla="*/ 9 h 73"/>
                <a:gd name="T10" fmla="*/ 13 w 64"/>
                <a:gd name="T11" fmla="*/ 9 h 73"/>
                <a:gd name="T12" fmla="*/ 10 w 64"/>
                <a:gd name="T13" fmla="*/ 9 h 73"/>
                <a:gd name="T14" fmla="*/ 10 w 64"/>
                <a:gd name="T15" fmla="*/ 7 h 73"/>
                <a:gd name="T16" fmla="*/ 10 w 64"/>
                <a:gd name="T17" fmla="*/ 0 h 73"/>
                <a:gd name="T18" fmla="*/ 2 w 64"/>
                <a:gd name="T19" fmla="*/ 0 h 73"/>
                <a:gd name="T20" fmla="*/ 0 w 64"/>
                <a:gd name="T21" fmla="*/ 3 h 73"/>
                <a:gd name="T22" fmla="*/ 0 w 64"/>
                <a:gd name="T23" fmla="*/ 71 h 73"/>
                <a:gd name="T24" fmla="*/ 2 w 64"/>
                <a:gd name="T25" fmla="*/ 73 h 73"/>
                <a:gd name="T26" fmla="*/ 61 w 64"/>
                <a:gd name="T27" fmla="*/ 73 h 73"/>
                <a:gd name="T28" fmla="*/ 64 w 64"/>
                <a:gd name="T29" fmla="*/ 71 h 73"/>
                <a:gd name="T30" fmla="*/ 64 w 64"/>
                <a:gd name="T31" fmla="*/ 3 h 73"/>
                <a:gd name="T32" fmla="*/ 61 w 64"/>
                <a:gd name="T33" fmla="*/ 0 h 73"/>
                <a:gd name="T34" fmla="*/ 50 w 64"/>
                <a:gd name="T35" fmla="*/ 44 h 73"/>
                <a:gd name="T36" fmla="*/ 50 w 64"/>
                <a:gd name="T37" fmla="*/ 49 h 73"/>
                <a:gd name="T38" fmla="*/ 13 w 64"/>
                <a:gd name="T39" fmla="*/ 49 h 73"/>
                <a:gd name="T40" fmla="*/ 13 w 64"/>
                <a:gd name="T41" fmla="*/ 44 h 73"/>
                <a:gd name="T42" fmla="*/ 50 w 64"/>
                <a:gd name="T43" fmla="*/ 44 h 73"/>
                <a:gd name="T44" fmla="*/ 13 w 64"/>
                <a:gd name="T45" fmla="*/ 36 h 73"/>
                <a:gd name="T46" fmla="*/ 13 w 64"/>
                <a:gd name="T47" fmla="*/ 31 h 73"/>
                <a:gd name="T48" fmla="*/ 50 w 64"/>
                <a:gd name="T49" fmla="*/ 31 h 73"/>
                <a:gd name="T50" fmla="*/ 50 w 64"/>
                <a:gd name="T51" fmla="*/ 36 h 73"/>
                <a:gd name="T52" fmla="*/ 13 w 64"/>
                <a:gd name="T53" fmla="*/ 36 h 73"/>
                <a:gd name="T54" fmla="*/ 50 w 64"/>
                <a:gd name="T55" fmla="*/ 57 h 73"/>
                <a:gd name="T56" fmla="*/ 50 w 64"/>
                <a:gd name="T57" fmla="*/ 63 h 73"/>
                <a:gd name="T58" fmla="*/ 13 w 64"/>
                <a:gd name="T59" fmla="*/ 63 h 73"/>
                <a:gd name="T60" fmla="*/ 13 w 64"/>
                <a:gd name="T61" fmla="*/ 57 h 73"/>
                <a:gd name="T62" fmla="*/ 50 w 64"/>
                <a:gd name="T63" fmla="*/ 57 h 73"/>
                <a:gd name="T64" fmla="*/ 50 w 64"/>
                <a:gd name="T65" fmla="*/ 23 h 73"/>
                <a:gd name="T66" fmla="*/ 13 w 64"/>
                <a:gd name="T67" fmla="*/ 23 h 73"/>
                <a:gd name="T68" fmla="*/ 13 w 64"/>
                <a:gd name="T69" fmla="*/ 17 h 73"/>
                <a:gd name="T70" fmla="*/ 50 w 64"/>
                <a:gd name="T71" fmla="*/ 17 h 73"/>
                <a:gd name="T72" fmla="*/ 50 w 64"/>
                <a:gd name="T73" fmla="*/ 2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4" h="73">
                  <a:moveTo>
                    <a:pt x="61" y="0"/>
                  </a:moveTo>
                  <a:cubicBezTo>
                    <a:pt x="53" y="0"/>
                    <a:pt x="53" y="0"/>
                    <a:pt x="53" y="0"/>
                  </a:cubicBezTo>
                  <a:cubicBezTo>
                    <a:pt x="53" y="7"/>
                    <a:pt x="53" y="7"/>
                    <a:pt x="53" y="7"/>
                  </a:cubicBezTo>
                  <a:cubicBezTo>
                    <a:pt x="53" y="9"/>
                    <a:pt x="53" y="9"/>
                    <a:pt x="53" y="9"/>
                  </a:cubicBezTo>
                  <a:cubicBezTo>
                    <a:pt x="50" y="9"/>
                    <a:pt x="50" y="9"/>
                    <a:pt x="50" y="9"/>
                  </a:cubicBezTo>
                  <a:cubicBezTo>
                    <a:pt x="13" y="9"/>
                    <a:pt x="13" y="9"/>
                    <a:pt x="13" y="9"/>
                  </a:cubicBezTo>
                  <a:cubicBezTo>
                    <a:pt x="10" y="9"/>
                    <a:pt x="10" y="9"/>
                    <a:pt x="10" y="9"/>
                  </a:cubicBezTo>
                  <a:cubicBezTo>
                    <a:pt x="10" y="7"/>
                    <a:pt x="10" y="7"/>
                    <a:pt x="10" y="7"/>
                  </a:cubicBezTo>
                  <a:cubicBezTo>
                    <a:pt x="10" y="0"/>
                    <a:pt x="10" y="0"/>
                    <a:pt x="10" y="0"/>
                  </a:cubicBezTo>
                  <a:cubicBezTo>
                    <a:pt x="2" y="0"/>
                    <a:pt x="2" y="0"/>
                    <a:pt x="2" y="0"/>
                  </a:cubicBezTo>
                  <a:cubicBezTo>
                    <a:pt x="1" y="0"/>
                    <a:pt x="0" y="1"/>
                    <a:pt x="0" y="3"/>
                  </a:cubicBezTo>
                  <a:cubicBezTo>
                    <a:pt x="0" y="71"/>
                    <a:pt x="0" y="71"/>
                    <a:pt x="0" y="71"/>
                  </a:cubicBezTo>
                  <a:cubicBezTo>
                    <a:pt x="0" y="72"/>
                    <a:pt x="1" y="73"/>
                    <a:pt x="2" y="73"/>
                  </a:cubicBezTo>
                  <a:cubicBezTo>
                    <a:pt x="61" y="73"/>
                    <a:pt x="61" y="73"/>
                    <a:pt x="61" y="73"/>
                  </a:cubicBezTo>
                  <a:cubicBezTo>
                    <a:pt x="62" y="73"/>
                    <a:pt x="64" y="72"/>
                    <a:pt x="64" y="71"/>
                  </a:cubicBezTo>
                  <a:cubicBezTo>
                    <a:pt x="64" y="3"/>
                    <a:pt x="64" y="3"/>
                    <a:pt x="64" y="3"/>
                  </a:cubicBezTo>
                  <a:cubicBezTo>
                    <a:pt x="64" y="1"/>
                    <a:pt x="62" y="0"/>
                    <a:pt x="61" y="0"/>
                  </a:cubicBezTo>
                  <a:close/>
                  <a:moveTo>
                    <a:pt x="50" y="44"/>
                  </a:moveTo>
                  <a:cubicBezTo>
                    <a:pt x="50" y="49"/>
                    <a:pt x="50" y="49"/>
                    <a:pt x="50" y="49"/>
                  </a:cubicBezTo>
                  <a:cubicBezTo>
                    <a:pt x="13" y="49"/>
                    <a:pt x="13" y="49"/>
                    <a:pt x="13" y="49"/>
                  </a:cubicBezTo>
                  <a:cubicBezTo>
                    <a:pt x="13" y="44"/>
                    <a:pt x="13" y="44"/>
                    <a:pt x="13" y="44"/>
                  </a:cubicBezTo>
                  <a:lnTo>
                    <a:pt x="50" y="44"/>
                  </a:lnTo>
                  <a:close/>
                  <a:moveTo>
                    <a:pt x="13" y="36"/>
                  </a:moveTo>
                  <a:cubicBezTo>
                    <a:pt x="13" y="31"/>
                    <a:pt x="13" y="31"/>
                    <a:pt x="13" y="31"/>
                  </a:cubicBezTo>
                  <a:cubicBezTo>
                    <a:pt x="50" y="31"/>
                    <a:pt x="50" y="31"/>
                    <a:pt x="50" y="31"/>
                  </a:cubicBezTo>
                  <a:cubicBezTo>
                    <a:pt x="50" y="36"/>
                    <a:pt x="50" y="36"/>
                    <a:pt x="50" y="36"/>
                  </a:cubicBezTo>
                  <a:lnTo>
                    <a:pt x="13" y="36"/>
                  </a:lnTo>
                  <a:close/>
                  <a:moveTo>
                    <a:pt x="50" y="57"/>
                  </a:moveTo>
                  <a:cubicBezTo>
                    <a:pt x="50" y="63"/>
                    <a:pt x="50" y="63"/>
                    <a:pt x="50" y="63"/>
                  </a:cubicBezTo>
                  <a:cubicBezTo>
                    <a:pt x="13" y="63"/>
                    <a:pt x="13" y="63"/>
                    <a:pt x="13" y="63"/>
                  </a:cubicBezTo>
                  <a:cubicBezTo>
                    <a:pt x="13" y="57"/>
                    <a:pt x="13" y="57"/>
                    <a:pt x="13" y="57"/>
                  </a:cubicBezTo>
                  <a:lnTo>
                    <a:pt x="50" y="57"/>
                  </a:lnTo>
                  <a:close/>
                  <a:moveTo>
                    <a:pt x="50" y="23"/>
                  </a:moveTo>
                  <a:cubicBezTo>
                    <a:pt x="13" y="23"/>
                    <a:pt x="13" y="23"/>
                    <a:pt x="13" y="23"/>
                  </a:cubicBezTo>
                  <a:cubicBezTo>
                    <a:pt x="13" y="17"/>
                    <a:pt x="13" y="17"/>
                    <a:pt x="13" y="17"/>
                  </a:cubicBezTo>
                  <a:cubicBezTo>
                    <a:pt x="50" y="17"/>
                    <a:pt x="50" y="17"/>
                    <a:pt x="50" y="17"/>
                  </a:cubicBezTo>
                  <a:lnTo>
                    <a:pt x="5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0" name="Freeform 10">
              <a:extLst>
                <a:ext uri="{FF2B5EF4-FFF2-40B4-BE49-F238E27FC236}">
                  <a16:creationId xmlns:a16="http://schemas.microsoft.com/office/drawing/2014/main" id="{F0178B94-CC81-4560-A157-4FC9E71436C3}"/>
                </a:ext>
              </a:extLst>
            </p:cNvPr>
            <p:cNvSpPr>
              <a:spLocks noEditPoints="1"/>
            </p:cNvSpPr>
            <p:nvPr/>
          </p:nvSpPr>
          <p:spPr bwMode="auto">
            <a:xfrm>
              <a:off x="1965325" y="279400"/>
              <a:ext cx="252413" cy="130175"/>
            </a:xfrm>
            <a:custGeom>
              <a:avLst/>
              <a:gdLst>
                <a:gd name="T0" fmla="*/ 37 w 37"/>
                <a:gd name="T1" fmla="*/ 19 h 19"/>
                <a:gd name="T2" fmla="*/ 37 w 37"/>
                <a:gd name="T3" fmla="*/ 12 h 19"/>
                <a:gd name="T4" fmla="*/ 37 w 37"/>
                <a:gd name="T5" fmla="*/ 11 h 19"/>
                <a:gd name="T6" fmla="*/ 35 w 37"/>
                <a:gd name="T7" fmla="*/ 8 h 19"/>
                <a:gd name="T8" fmla="*/ 28 w 37"/>
                <a:gd name="T9" fmla="*/ 8 h 19"/>
                <a:gd name="T10" fmla="*/ 19 w 37"/>
                <a:gd name="T11" fmla="*/ 0 h 19"/>
                <a:gd name="T12" fmla="*/ 9 w 37"/>
                <a:gd name="T13" fmla="*/ 8 h 19"/>
                <a:gd name="T14" fmla="*/ 3 w 37"/>
                <a:gd name="T15" fmla="*/ 8 h 19"/>
                <a:gd name="T16" fmla="*/ 0 w 37"/>
                <a:gd name="T17" fmla="*/ 11 h 19"/>
                <a:gd name="T18" fmla="*/ 0 w 37"/>
                <a:gd name="T19" fmla="*/ 12 h 19"/>
                <a:gd name="T20" fmla="*/ 0 w 37"/>
                <a:gd name="T21" fmla="*/ 19 h 19"/>
                <a:gd name="T22" fmla="*/ 19 w 37"/>
                <a:gd name="T23" fmla="*/ 19 h 19"/>
                <a:gd name="T24" fmla="*/ 37 w 37"/>
                <a:gd name="T25" fmla="*/ 19 h 19"/>
                <a:gd name="T26" fmla="*/ 19 w 37"/>
                <a:gd name="T27" fmla="*/ 7 h 19"/>
                <a:gd name="T28" fmla="*/ 21 w 37"/>
                <a:gd name="T29" fmla="*/ 9 h 19"/>
                <a:gd name="T30" fmla="*/ 19 w 37"/>
                <a:gd name="T31" fmla="*/ 12 h 19"/>
                <a:gd name="T32" fmla="*/ 16 w 37"/>
                <a:gd name="T33" fmla="*/ 9 h 19"/>
                <a:gd name="T34" fmla="*/ 19 w 37"/>
                <a:gd name="T35" fmla="*/ 7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 h="19">
                  <a:moveTo>
                    <a:pt x="37" y="19"/>
                  </a:moveTo>
                  <a:cubicBezTo>
                    <a:pt x="37" y="12"/>
                    <a:pt x="37" y="12"/>
                    <a:pt x="37" y="12"/>
                  </a:cubicBezTo>
                  <a:cubicBezTo>
                    <a:pt x="37" y="11"/>
                    <a:pt x="37" y="11"/>
                    <a:pt x="37" y="11"/>
                  </a:cubicBezTo>
                  <a:cubicBezTo>
                    <a:pt x="37" y="9"/>
                    <a:pt x="36" y="8"/>
                    <a:pt x="35" y="8"/>
                  </a:cubicBezTo>
                  <a:cubicBezTo>
                    <a:pt x="28" y="8"/>
                    <a:pt x="28" y="8"/>
                    <a:pt x="28" y="8"/>
                  </a:cubicBezTo>
                  <a:cubicBezTo>
                    <a:pt x="27" y="4"/>
                    <a:pt x="23" y="0"/>
                    <a:pt x="19" y="0"/>
                  </a:cubicBezTo>
                  <a:cubicBezTo>
                    <a:pt x="14" y="0"/>
                    <a:pt x="10" y="4"/>
                    <a:pt x="9" y="8"/>
                  </a:cubicBezTo>
                  <a:cubicBezTo>
                    <a:pt x="3" y="8"/>
                    <a:pt x="3" y="8"/>
                    <a:pt x="3" y="8"/>
                  </a:cubicBezTo>
                  <a:cubicBezTo>
                    <a:pt x="1" y="8"/>
                    <a:pt x="0" y="9"/>
                    <a:pt x="0" y="11"/>
                  </a:cubicBezTo>
                  <a:cubicBezTo>
                    <a:pt x="0" y="12"/>
                    <a:pt x="0" y="12"/>
                    <a:pt x="0" y="12"/>
                  </a:cubicBezTo>
                  <a:cubicBezTo>
                    <a:pt x="0" y="19"/>
                    <a:pt x="0" y="19"/>
                    <a:pt x="0" y="19"/>
                  </a:cubicBezTo>
                  <a:cubicBezTo>
                    <a:pt x="19" y="19"/>
                    <a:pt x="19" y="19"/>
                    <a:pt x="19" y="19"/>
                  </a:cubicBezTo>
                  <a:lnTo>
                    <a:pt x="37" y="19"/>
                  </a:lnTo>
                  <a:close/>
                  <a:moveTo>
                    <a:pt x="19" y="7"/>
                  </a:moveTo>
                  <a:cubicBezTo>
                    <a:pt x="20" y="7"/>
                    <a:pt x="21" y="8"/>
                    <a:pt x="21" y="9"/>
                  </a:cubicBezTo>
                  <a:cubicBezTo>
                    <a:pt x="21" y="11"/>
                    <a:pt x="20" y="12"/>
                    <a:pt x="19" y="12"/>
                  </a:cubicBezTo>
                  <a:cubicBezTo>
                    <a:pt x="17" y="12"/>
                    <a:pt x="16" y="11"/>
                    <a:pt x="16" y="9"/>
                  </a:cubicBezTo>
                  <a:cubicBezTo>
                    <a:pt x="16" y="8"/>
                    <a:pt x="17" y="7"/>
                    <a:pt x="1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21" name="Freeform 11">
            <a:extLst>
              <a:ext uri="{FF2B5EF4-FFF2-40B4-BE49-F238E27FC236}">
                <a16:creationId xmlns:a16="http://schemas.microsoft.com/office/drawing/2014/main" id="{36C5BDA9-B3F2-43E1-99EE-F0E1FD29FAE1}"/>
              </a:ext>
            </a:extLst>
          </p:cNvPr>
          <p:cNvSpPr>
            <a:spLocks noChangeAspect="1"/>
          </p:cNvSpPr>
          <p:nvPr/>
        </p:nvSpPr>
        <p:spPr bwMode="auto">
          <a:xfrm>
            <a:off x="7123984" y="4467526"/>
            <a:ext cx="274320" cy="274320"/>
          </a:xfrm>
          <a:custGeom>
            <a:avLst/>
            <a:gdLst>
              <a:gd name="T0" fmla="*/ 79 w 80"/>
              <a:gd name="T1" fmla="*/ 69 h 80"/>
              <a:gd name="T2" fmla="*/ 22 w 80"/>
              <a:gd name="T3" fmla="*/ 13 h 80"/>
              <a:gd name="T4" fmla="*/ 42 w 80"/>
              <a:gd name="T5" fmla="*/ 13 h 80"/>
              <a:gd name="T6" fmla="*/ 45 w 80"/>
              <a:gd name="T7" fmla="*/ 10 h 80"/>
              <a:gd name="T8" fmla="*/ 45 w 80"/>
              <a:gd name="T9" fmla="*/ 2 h 80"/>
              <a:gd name="T10" fmla="*/ 42 w 80"/>
              <a:gd name="T11" fmla="*/ 0 h 80"/>
              <a:gd name="T12" fmla="*/ 14 w 80"/>
              <a:gd name="T13" fmla="*/ 0 h 80"/>
              <a:gd name="T14" fmla="*/ 2 w 80"/>
              <a:gd name="T15" fmla="*/ 0 h 80"/>
              <a:gd name="T16" fmla="*/ 0 w 80"/>
              <a:gd name="T17" fmla="*/ 2 h 80"/>
              <a:gd name="T18" fmla="*/ 0 w 80"/>
              <a:gd name="T19" fmla="*/ 14 h 80"/>
              <a:gd name="T20" fmla="*/ 0 w 80"/>
              <a:gd name="T21" fmla="*/ 42 h 80"/>
              <a:gd name="T22" fmla="*/ 3 w 80"/>
              <a:gd name="T23" fmla="*/ 45 h 80"/>
              <a:gd name="T24" fmla="*/ 10 w 80"/>
              <a:gd name="T25" fmla="*/ 45 h 80"/>
              <a:gd name="T26" fmla="*/ 13 w 80"/>
              <a:gd name="T27" fmla="*/ 42 h 80"/>
              <a:gd name="T28" fmla="*/ 13 w 80"/>
              <a:gd name="T29" fmla="*/ 22 h 80"/>
              <a:gd name="T30" fmla="*/ 69 w 80"/>
              <a:gd name="T31" fmla="*/ 79 h 80"/>
              <a:gd name="T32" fmla="*/ 73 w 80"/>
              <a:gd name="T33" fmla="*/ 79 h 80"/>
              <a:gd name="T34" fmla="*/ 79 w 80"/>
              <a:gd name="T35" fmla="*/ 73 h 80"/>
              <a:gd name="T36" fmla="*/ 79 w 80"/>
              <a:gd name="T37" fmla="*/ 6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80">
                <a:moveTo>
                  <a:pt x="79" y="69"/>
                </a:moveTo>
                <a:cubicBezTo>
                  <a:pt x="22" y="13"/>
                  <a:pt x="22" y="13"/>
                  <a:pt x="22" y="13"/>
                </a:cubicBezTo>
                <a:cubicBezTo>
                  <a:pt x="42" y="13"/>
                  <a:pt x="42" y="13"/>
                  <a:pt x="42" y="13"/>
                </a:cubicBezTo>
                <a:cubicBezTo>
                  <a:pt x="44" y="13"/>
                  <a:pt x="45" y="12"/>
                  <a:pt x="45" y="10"/>
                </a:cubicBezTo>
                <a:cubicBezTo>
                  <a:pt x="45" y="2"/>
                  <a:pt x="45" y="2"/>
                  <a:pt x="45" y="2"/>
                </a:cubicBezTo>
                <a:cubicBezTo>
                  <a:pt x="45" y="1"/>
                  <a:pt x="44" y="0"/>
                  <a:pt x="42" y="0"/>
                </a:cubicBezTo>
                <a:cubicBezTo>
                  <a:pt x="14" y="0"/>
                  <a:pt x="14" y="0"/>
                  <a:pt x="14" y="0"/>
                </a:cubicBezTo>
                <a:cubicBezTo>
                  <a:pt x="2" y="0"/>
                  <a:pt x="2" y="0"/>
                  <a:pt x="2" y="0"/>
                </a:cubicBezTo>
                <a:cubicBezTo>
                  <a:pt x="1" y="0"/>
                  <a:pt x="0" y="1"/>
                  <a:pt x="0" y="2"/>
                </a:cubicBezTo>
                <a:cubicBezTo>
                  <a:pt x="0" y="14"/>
                  <a:pt x="0" y="14"/>
                  <a:pt x="0" y="14"/>
                </a:cubicBezTo>
                <a:cubicBezTo>
                  <a:pt x="0" y="42"/>
                  <a:pt x="0" y="42"/>
                  <a:pt x="0" y="42"/>
                </a:cubicBezTo>
                <a:cubicBezTo>
                  <a:pt x="0" y="44"/>
                  <a:pt x="1" y="45"/>
                  <a:pt x="3" y="45"/>
                </a:cubicBezTo>
                <a:cubicBezTo>
                  <a:pt x="10" y="45"/>
                  <a:pt x="10" y="45"/>
                  <a:pt x="10" y="45"/>
                </a:cubicBezTo>
                <a:cubicBezTo>
                  <a:pt x="12" y="45"/>
                  <a:pt x="13" y="44"/>
                  <a:pt x="13" y="42"/>
                </a:cubicBezTo>
                <a:cubicBezTo>
                  <a:pt x="13" y="22"/>
                  <a:pt x="13" y="22"/>
                  <a:pt x="13" y="22"/>
                </a:cubicBezTo>
                <a:cubicBezTo>
                  <a:pt x="69" y="79"/>
                  <a:pt x="69" y="79"/>
                  <a:pt x="69" y="79"/>
                </a:cubicBezTo>
                <a:cubicBezTo>
                  <a:pt x="70" y="80"/>
                  <a:pt x="72" y="80"/>
                  <a:pt x="73" y="79"/>
                </a:cubicBezTo>
                <a:cubicBezTo>
                  <a:pt x="79" y="73"/>
                  <a:pt x="79" y="73"/>
                  <a:pt x="79" y="73"/>
                </a:cubicBezTo>
                <a:cubicBezTo>
                  <a:pt x="80" y="72"/>
                  <a:pt x="80" y="70"/>
                  <a:pt x="79" y="69"/>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2" name="Freeform 12">
            <a:extLst>
              <a:ext uri="{FF2B5EF4-FFF2-40B4-BE49-F238E27FC236}">
                <a16:creationId xmlns:a16="http://schemas.microsoft.com/office/drawing/2014/main" id="{471082AD-6EC8-4BFA-9479-22A27A8F61CA}"/>
              </a:ext>
            </a:extLst>
          </p:cNvPr>
          <p:cNvSpPr>
            <a:spLocks noChangeAspect="1"/>
          </p:cNvSpPr>
          <p:nvPr/>
        </p:nvSpPr>
        <p:spPr bwMode="auto">
          <a:xfrm>
            <a:off x="5364930" y="4442643"/>
            <a:ext cx="188826" cy="274320"/>
          </a:xfrm>
          <a:custGeom>
            <a:avLst/>
            <a:gdLst>
              <a:gd name="T0" fmla="*/ 58 w 59"/>
              <a:gd name="T1" fmla="*/ 58 h 86"/>
              <a:gd name="T2" fmla="*/ 39 w 59"/>
              <a:gd name="T3" fmla="*/ 77 h 86"/>
              <a:gd name="T4" fmla="*/ 31 w 59"/>
              <a:gd name="T5" fmla="*/ 85 h 86"/>
              <a:gd name="T6" fmla="*/ 28 w 59"/>
              <a:gd name="T7" fmla="*/ 85 h 86"/>
              <a:gd name="T8" fmla="*/ 20 w 59"/>
              <a:gd name="T9" fmla="*/ 77 h 86"/>
              <a:gd name="T10" fmla="*/ 1 w 59"/>
              <a:gd name="T11" fmla="*/ 58 h 86"/>
              <a:gd name="T12" fmla="*/ 1 w 59"/>
              <a:gd name="T13" fmla="*/ 54 h 86"/>
              <a:gd name="T14" fmla="*/ 7 w 59"/>
              <a:gd name="T15" fmla="*/ 48 h 86"/>
              <a:gd name="T16" fmla="*/ 11 w 59"/>
              <a:gd name="T17" fmla="*/ 48 h 86"/>
              <a:gd name="T18" fmla="*/ 23 w 59"/>
              <a:gd name="T19" fmla="*/ 61 h 86"/>
              <a:gd name="T20" fmla="*/ 23 w 59"/>
              <a:gd name="T21" fmla="*/ 3 h 86"/>
              <a:gd name="T22" fmla="*/ 26 w 59"/>
              <a:gd name="T23" fmla="*/ 0 h 86"/>
              <a:gd name="T24" fmla="*/ 34 w 59"/>
              <a:gd name="T25" fmla="*/ 0 h 86"/>
              <a:gd name="T26" fmla="*/ 36 w 59"/>
              <a:gd name="T27" fmla="*/ 3 h 86"/>
              <a:gd name="T28" fmla="*/ 36 w 59"/>
              <a:gd name="T29" fmla="*/ 61 h 86"/>
              <a:gd name="T30" fmla="*/ 49 w 59"/>
              <a:gd name="T31" fmla="*/ 48 h 86"/>
              <a:gd name="T32" fmla="*/ 52 w 59"/>
              <a:gd name="T33" fmla="*/ 48 h 86"/>
              <a:gd name="T34" fmla="*/ 58 w 59"/>
              <a:gd name="T35" fmla="*/ 54 h 86"/>
              <a:gd name="T36" fmla="*/ 58 w 59"/>
              <a:gd name="T37" fmla="*/ 5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86">
                <a:moveTo>
                  <a:pt x="58" y="58"/>
                </a:moveTo>
                <a:cubicBezTo>
                  <a:pt x="39" y="77"/>
                  <a:pt x="39" y="77"/>
                  <a:pt x="39" y="77"/>
                </a:cubicBezTo>
                <a:cubicBezTo>
                  <a:pt x="31" y="85"/>
                  <a:pt x="31" y="85"/>
                  <a:pt x="31" y="85"/>
                </a:cubicBezTo>
                <a:cubicBezTo>
                  <a:pt x="30" y="86"/>
                  <a:pt x="29" y="86"/>
                  <a:pt x="28" y="85"/>
                </a:cubicBezTo>
                <a:cubicBezTo>
                  <a:pt x="20" y="77"/>
                  <a:pt x="20" y="77"/>
                  <a:pt x="20" y="77"/>
                </a:cubicBezTo>
                <a:cubicBezTo>
                  <a:pt x="1" y="58"/>
                  <a:pt x="1" y="58"/>
                  <a:pt x="1" y="58"/>
                </a:cubicBezTo>
                <a:cubicBezTo>
                  <a:pt x="0" y="57"/>
                  <a:pt x="0" y="55"/>
                  <a:pt x="1" y="54"/>
                </a:cubicBezTo>
                <a:cubicBezTo>
                  <a:pt x="7" y="48"/>
                  <a:pt x="7" y="48"/>
                  <a:pt x="7" y="48"/>
                </a:cubicBezTo>
                <a:cubicBezTo>
                  <a:pt x="8" y="47"/>
                  <a:pt x="9" y="47"/>
                  <a:pt x="11" y="48"/>
                </a:cubicBezTo>
                <a:cubicBezTo>
                  <a:pt x="23" y="61"/>
                  <a:pt x="23" y="61"/>
                  <a:pt x="23" y="61"/>
                </a:cubicBezTo>
                <a:cubicBezTo>
                  <a:pt x="23" y="3"/>
                  <a:pt x="23" y="3"/>
                  <a:pt x="23" y="3"/>
                </a:cubicBezTo>
                <a:cubicBezTo>
                  <a:pt x="23" y="1"/>
                  <a:pt x="24" y="0"/>
                  <a:pt x="26" y="0"/>
                </a:cubicBezTo>
                <a:cubicBezTo>
                  <a:pt x="34" y="0"/>
                  <a:pt x="34" y="0"/>
                  <a:pt x="34" y="0"/>
                </a:cubicBezTo>
                <a:cubicBezTo>
                  <a:pt x="35" y="0"/>
                  <a:pt x="36" y="1"/>
                  <a:pt x="36" y="3"/>
                </a:cubicBezTo>
                <a:cubicBezTo>
                  <a:pt x="36" y="61"/>
                  <a:pt x="36" y="61"/>
                  <a:pt x="36" y="61"/>
                </a:cubicBezTo>
                <a:cubicBezTo>
                  <a:pt x="49" y="48"/>
                  <a:pt x="49" y="48"/>
                  <a:pt x="49" y="48"/>
                </a:cubicBezTo>
                <a:cubicBezTo>
                  <a:pt x="50" y="47"/>
                  <a:pt x="51" y="47"/>
                  <a:pt x="52" y="48"/>
                </a:cubicBezTo>
                <a:cubicBezTo>
                  <a:pt x="58" y="54"/>
                  <a:pt x="58" y="54"/>
                  <a:pt x="58" y="54"/>
                </a:cubicBezTo>
                <a:cubicBezTo>
                  <a:pt x="59" y="55"/>
                  <a:pt x="59" y="57"/>
                  <a:pt x="58" y="58"/>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3" name="Freeform 13">
            <a:extLst>
              <a:ext uri="{FF2B5EF4-FFF2-40B4-BE49-F238E27FC236}">
                <a16:creationId xmlns:a16="http://schemas.microsoft.com/office/drawing/2014/main" id="{8477E9BA-DED9-4420-8B45-27A25759BB2B}"/>
              </a:ext>
            </a:extLst>
          </p:cNvPr>
          <p:cNvSpPr>
            <a:spLocks noChangeAspect="1"/>
          </p:cNvSpPr>
          <p:nvPr/>
        </p:nvSpPr>
        <p:spPr bwMode="auto">
          <a:xfrm>
            <a:off x="6178419" y="4549832"/>
            <a:ext cx="396843" cy="274320"/>
          </a:xfrm>
          <a:custGeom>
            <a:avLst/>
            <a:gdLst>
              <a:gd name="T0" fmla="*/ 31 w 85"/>
              <a:gd name="T1" fmla="*/ 1 h 59"/>
              <a:gd name="T2" fmla="*/ 27 w 85"/>
              <a:gd name="T3" fmla="*/ 1 h 59"/>
              <a:gd name="T4" fmla="*/ 8 w 85"/>
              <a:gd name="T5" fmla="*/ 20 h 59"/>
              <a:gd name="T6" fmla="*/ 1 w 85"/>
              <a:gd name="T7" fmla="*/ 28 h 59"/>
              <a:gd name="T8" fmla="*/ 1 w 85"/>
              <a:gd name="T9" fmla="*/ 32 h 59"/>
              <a:gd name="T10" fmla="*/ 8 w 85"/>
              <a:gd name="T11" fmla="*/ 39 h 59"/>
              <a:gd name="T12" fmla="*/ 27 w 85"/>
              <a:gd name="T13" fmla="*/ 58 h 59"/>
              <a:gd name="T14" fmla="*/ 31 w 85"/>
              <a:gd name="T15" fmla="*/ 58 h 59"/>
              <a:gd name="T16" fmla="*/ 37 w 85"/>
              <a:gd name="T17" fmla="*/ 53 h 59"/>
              <a:gd name="T18" fmla="*/ 37 w 85"/>
              <a:gd name="T19" fmla="*/ 49 h 59"/>
              <a:gd name="T20" fmla="*/ 24 w 85"/>
              <a:gd name="T21" fmla="*/ 36 h 59"/>
              <a:gd name="T22" fmla="*/ 83 w 85"/>
              <a:gd name="T23" fmla="*/ 36 h 59"/>
              <a:gd name="T24" fmla="*/ 85 w 85"/>
              <a:gd name="T25" fmla="*/ 34 h 59"/>
              <a:gd name="T26" fmla="*/ 85 w 85"/>
              <a:gd name="T27" fmla="*/ 26 h 59"/>
              <a:gd name="T28" fmla="*/ 83 w 85"/>
              <a:gd name="T29" fmla="*/ 23 h 59"/>
              <a:gd name="T30" fmla="*/ 24 w 85"/>
              <a:gd name="T31" fmla="*/ 23 h 59"/>
              <a:gd name="T32" fmla="*/ 37 w 85"/>
              <a:gd name="T33" fmla="*/ 11 h 59"/>
              <a:gd name="T34" fmla="*/ 37 w 85"/>
              <a:gd name="T35" fmla="*/ 7 h 59"/>
              <a:gd name="T36" fmla="*/ 31 w 85"/>
              <a:gd name="T37" fmla="*/ 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5" h="59">
                <a:moveTo>
                  <a:pt x="31" y="1"/>
                </a:moveTo>
                <a:cubicBezTo>
                  <a:pt x="30" y="0"/>
                  <a:pt x="28" y="0"/>
                  <a:pt x="27" y="1"/>
                </a:cubicBezTo>
                <a:cubicBezTo>
                  <a:pt x="8" y="20"/>
                  <a:pt x="8" y="20"/>
                  <a:pt x="8" y="20"/>
                </a:cubicBezTo>
                <a:cubicBezTo>
                  <a:pt x="1" y="28"/>
                  <a:pt x="1" y="28"/>
                  <a:pt x="1" y="28"/>
                </a:cubicBezTo>
                <a:cubicBezTo>
                  <a:pt x="0" y="29"/>
                  <a:pt x="0" y="31"/>
                  <a:pt x="1" y="32"/>
                </a:cubicBezTo>
                <a:cubicBezTo>
                  <a:pt x="8" y="39"/>
                  <a:pt x="8" y="39"/>
                  <a:pt x="8" y="39"/>
                </a:cubicBezTo>
                <a:cubicBezTo>
                  <a:pt x="27" y="58"/>
                  <a:pt x="27" y="58"/>
                  <a:pt x="27" y="58"/>
                </a:cubicBezTo>
                <a:cubicBezTo>
                  <a:pt x="28" y="59"/>
                  <a:pt x="30" y="59"/>
                  <a:pt x="31" y="58"/>
                </a:cubicBezTo>
                <a:cubicBezTo>
                  <a:pt x="37" y="53"/>
                  <a:pt x="37" y="53"/>
                  <a:pt x="37" y="53"/>
                </a:cubicBezTo>
                <a:cubicBezTo>
                  <a:pt x="38" y="52"/>
                  <a:pt x="38" y="50"/>
                  <a:pt x="37" y="49"/>
                </a:cubicBezTo>
                <a:cubicBezTo>
                  <a:pt x="24" y="36"/>
                  <a:pt x="24" y="36"/>
                  <a:pt x="24" y="36"/>
                </a:cubicBezTo>
                <a:cubicBezTo>
                  <a:pt x="83" y="36"/>
                  <a:pt x="83" y="36"/>
                  <a:pt x="83" y="36"/>
                </a:cubicBezTo>
                <a:cubicBezTo>
                  <a:pt x="84" y="36"/>
                  <a:pt x="85" y="35"/>
                  <a:pt x="85" y="34"/>
                </a:cubicBezTo>
                <a:cubicBezTo>
                  <a:pt x="85" y="26"/>
                  <a:pt x="85" y="26"/>
                  <a:pt x="85" y="26"/>
                </a:cubicBezTo>
                <a:cubicBezTo>
                  <a:pt x="85" y="24"/>
                  <a:pt x="84" y="23"/>
                  <a:pt x="83" y="23"/>
                </a:cubicBezTo>
                <a:cubicBezTo>
                  <a:pt x="24" y="23"/>
                  <a:pt x="24" y="23"/>
                  <a:pt x="24" y="23"/>
                </a:cubicBezTo>
                <a:cubicBezTo>
                  <a:pt x="37" y="11"/>
                  <a:pt x="37" y="11"/>
                  <a:pt x="37" y="11"/>
                </a:cubicBezTo>
                <a:cubicBezTo>
                  <a:pt x="38" y="10"/>
                  <a:pt x="38" y="8"/>
                  <a:pt x="37" y="7"/>
                </a:cubicBezTo>
                <a:lnTo>
                  <a:pt x="31" y="1"/>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4" name="Freeform 14">
            <a:extLst>
              <a:ext uri="{FF2B5EF4-FFF2-40B4-BE49-F238E27FC236}">
                <a16:creationId xmlns:a16="http://schemas.microsoft.com/office/drawing/2014/main" id="{1D329F26-2569-457C-BEC3-5C8A7CE14CE5}"/>
              </a:ext>
            </a:extLst>
          </p:cNvPr>
          <p:cNvSpPr>
            <a:spLocks noChangeAspect="1"/>
          </p:cNvSpPr>
          <p:nvPr/>
        </p:nvSpPr>
        <p:spPr bwMode="auto">
          <a:xfrm>
            <a:off x="4444249" y="4442643"/>
            <a:ext cx="190896" cy="274320"/>
          </a:xfrm>
          <a:custGeom>
            <a:avLst/>
            <a:gdLst>
              <a:gd name="T0" fmla="*/ 58 w 59"/>
              <a:gd name="T1" fmla="*/ 28 h 85"/>
              <a:gd name="T2" fmla="*/ 39 w 59"/>
              <a:gd name="T3" fmla="*/ 9 h 85"/>
              <a:gd name="T4" fmla="*/ 31 w 59"/>
              <a:gd name="T5" fmla="*/ 1 h 85"/>
              <a:gd name="T6" fmla="*/ 28 w 59"/>
              <a:gd name="T7" fmla="*/ 1 h 85"/>
              <a:gd name="T8" fmla="*/ 20 w 59"/>
              <a:gd name="T9" fmla="*/ 9 h 85"/>
              <a:gd name="T10" fmla="*/ 1 w 59"/>
              <a:gd name="T11" fmla="*/ 28 h 85"/>
              <a:gd name="T12" fmla="*/ 1 w 59"/>
              <a:gd name="T13" fmla="*/ 31 h 85"/>
              <a:gd name="T14" fmla="*/ 7 w 59"/>
              <a:gd name="T15" fmla="*/ 37 h 85"/>
              <a:gd name="T16" fmla="*/ 11 w 59"/>
              <a:gd name="T17" fmla="*/ 37 h 85"/>
              <a:gd name="T18" fmla="*/ 23 w 59"/>
              <a:gd name="T19" fmla="*/ 25 h 85"/>
              <a:gd name="T20" fmla="*/ 23 w 59"/>
              <a:gd name="T21" fmla="*/ 83 h 85"/>
              <a:gd name="T22" fmla="*/ 26 w 59"/>
              <a:gd name="T23" fmla="*/ 85 h 85"/>
              <a:gd name="T24" fmla="*/ 34 w 59"/>
              <a:gd name="T25" fmla="*/ 85 h 85"/>
              <a:gd name="T26" fmla="*/ 36 w 59"/>
              <a:gd name="T27" fmla="*/ 83 h 85"/>
              <a:gd name="T28" fmla="*/ 36 w 59"/>
              <a:gd name="T29" fmla="*/ 25 h 85"/>
              <a:gd name="T30" fmla="*/ 49 w 59"/>
              <a:gd name="T31" fmla="*/ 37 h 85"/>
              <a:gd name="T32" fmla="*/ 52 w 59"/>
              <a:gd name="T33" fmla="*/ 37 h 85"/>
              <a:gd name="T34" fmla="*/ 58 w 59"/>
              <a:gd name="T35" fmla="*/ 31 h 85"/>
              <a:gd name="T36" fmla="*/ 58 w 59"/>
              <a:gd name="T37" fmla="*/ 2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85">
                <a:moveTo>
                  <a:pt x="58" y="28"/>
                </a:moveTo>
                <a:cubicBezTo>
                  <a:pt x="39" y="9"/>
                  <a:pt x="39" y="9"/>
                  <a:pt x="39" y="9"/>
                </a:cubicBezTo>
                <a:cubicBezTo>
                  <a:pt x="31" y="1"/>
                  <a:pt x="31" y="1"/>
                  <a:pt x="31" y="1"/>
                </a:cubicBezTo>
                <a:cubicBezTo>
                  <a:pt x="30" y="0"/>
                  <a:pt x="29" y="0"/>
                  <a:pt x="28" y="1"/>
                </a:cubicBezTo>
                <a:cubicBezTo>
                  <a:pt x="20" y="9"/>
                  <a:pt x="20" y="9"/>
                  <a:pt x="20" y="9"/>
                </a:cubicBezTo>
                <a:cubicBezTo>
                  <a:pt x="1" y="28"/>
                  <a:pt x="1" y="28"/>
                  <a:pt x="1" y="28"/>
                </a:cubicBezTo>
                <a:cubicBezTo>
                  <a:pt x="0" y="29"/>
                  <a:pt x="0" y="30"/>
                  <a:pt x="1" y="31"/>
                </a:cubicBezTo>
                <a:cubicBezTo>
                  <a:pt x="7" y="37"/>
                  <a:pt x="7" y="37"/>
                  <a:pt x="7" y="37"/>
                </a:cubicBezTo>
                <a:cubicBezTo>
                  <a:pt x="8" y="38"/>
                  <a:pt x="9" y="38"/>
                  <a:pt x="11" y="37"/>
                </a:cubicBezTo>
                <a:cubicBezTo>
                  <a:pt x="23" y="25"/>
                  <a:pt x="23" y="25"/>
                  <a:pt x="23" y="25"/>
                </a:cubicBezTo>
                <a:cubicBezTo>
                  <a:pt x="23" y="83"/>
                  <a:pt x="23" y="83"/>
                  <a:pt x="23" y="83"/>
                </a:cubicBezTo>
                <a:cubicBezTo>
                  <a:pt x="23" y="84"/>
                  <a:pt x="24" y="85"/>
                  <a:pt x="26" y="85"/>
                </a:cubicBezTo>
                <a:cubicBezTo>
                  <a:pt x="34" y="85"/>
                  <a:pt x="34" y="85"/>
                  <a:pt x="34" y="85"/>
                </a:cubicBezTo>
                <a:cubicBezTo>
                  <a:pt x="35" y="85"/>
                  <a:pt x="36" y="84"/>
                  <a:pt x="36" y="83"/>
                </a:cubicBezTo>
                <a:cubicBezTo>
                  <a:pt x="36" y="25"/>
                  <a:pt x="36" y="25"/>
                  <a:pt x="36" y="25"/>
                </a:cubicBezTo>
                <a:cubicBezTo>
                  <a:pt x="49" y="37"/>
                  <a:pt x="49" y="37"/>
                  <a:pt x="49" y="37"/>
                </a:cubicBezTo>
                <a:cubicBezTo>
                  <a:pt x="50" y="38"/>
                  <a:pt x="51" y="38"/>
                  <a:pt x="52" y="37"/>
                </a:cubicBezTo>
                <a:cubicBezTo>
                  <a:pt x="58" y="31"/>
                  <a:pt x="58" y="31"/>
                  <a:pt x="58" y="31"/>
                </a:cubicBezTo>
                <a:cubicBezTo>
                  <a:pt x="59" y="30"/>
                  <a:pt x="59" y="29"/>
                  <a:pt x="58" y="28"/>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5" name="Freeform 15">
            <a:extLst>
              <a:ext uri="{FF2B5EF4-FFF2-40B4-BE49-F238E27FC236}">
                <a16:creationId xmlns:a16="http://schemas.microsoft.com/office/drawing/2014/main" id="{6B305CD2-B066-4690-A0C2-D2B7DA7B1DDC}"/>
              </a:ext>
            </a:extLst>
          </p:cNvPr>
          <p:cNvSpPr>
            <a:spLocks noChangeAspect="1"/>
          </p:cNvSpPr>
          <p:nvPr/>
        </p:nvSpPr>
        <p:spPr bwMode="auto">
          <a:xfrm>
            <a:off x="8037007" y="4467526"/>
            <a:ext cx="277509" cy="274320"/>
          </a:xfrm>
          <a:custGeom>
            <a:avLst/>
            <a:gdLst>
              <a:gd name="T0" fmla="*/ 1 w 81"/>
              <a:gd name="T1" fmla="*/ 69 h 80"/>
              <a:gd name="T2" fmla="*/ 58 w 81"/>
              <a:gd name="T3" fmla="*/ 13 h 80"/>
              <a:gd name="T4" fmla="*/ 38 w 81"/>
              <a:gd name="T5" fmla="*/ 13 h 80"/>
              <a:gd name="T6" fmla="*/ 35 w 81"/>
              <a:gd name="T7" fmla="*/ 10 h 80"/>
              <a:gd name="T8" fmla="*/ 35 w 81"/>
              <a:gd name="T9" fmla="*/ 2 h 80"/>
              <a:gd name="T10" fmla="*/ 38 w 81"/>
              <a:gd name="T11" fmla="*/ 0 h 80"/>
              <a:gd name="T12" fmla="*/ 67 w 81"/>
              <a:gd name="T13" fmla="*/ 0 h 80"/>
              <a:gd name="T14" fmla="*/ 78 w 81"/>
              <a:gd name="T15" fmla="*/ 0 h 80"/>
              <a:gd name="T16" fmla="*/ 81 w 81"/>
              <a:gd name="T17" fmla="*/ 2 h 80"/>
              <a:gd name="T18" fmla="*/ 81 w 81"/>
              <a:gd name="T19" fmla="*/ 14 h 80"/>
              <a:gd name="T20" fmla="*/ 81 w 81"/>
              <a:gd name="T21" fmla="*/ 42 h 80"/>
              <a:gd name="T22" fmla="*/ 77 w 81"/>
              <a:gd name="T23" fmla="*/ 45 h 80"/>
              <a:gd name="T24" fmla="*/ 70 w 81"/>
              <a:gd name="T25" fmla="*/ 45 h 80"/>
              <a:gd name="T26" fmla="*/ 67 w 81"/>
              <a:gd name="T27" fmla="*/ 42 h 80"/>
              <a:gd name="T28" fmla="*/ 67 w 81"/>
              <a:gd name="T29" fmla="*/ 22 h 80"/>
              <a:gd name="T30" fmla="*/ 11 w 81"/>
              <a:gd name="T31" fmla="*/ 79 h 80"/>
              <a:gd name="T32" fmla="*/ 7 w 81"/>
              <a:gd name="T33" fmla="*/ 79 h 80"/>
              <a:gd name="T34" fmla="*/ 1 w 81"/>
              <a:gd name="T35" fmla="*/ 73 h 80"/>
              <a:gd name="T36" fmla="*/ 1 w 81"/>
              <a:gd name="T37" fmla="*/ 6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1" h="80">
                <a:moveTo>
                  <a:pt x="1" y="69"/>
                </a:moveTo>
                <a:cubicBezTo>
                  <a:pt x="58" y="13"/>
                  <a:pt x="58" y="13"/>
                  <a:pt x="58" y="13"/>
                </a:cubicBezTo>
                <a:cubicBezTo>
                  <a:pt x="38" y="13"/>
                  <a:pt x="38" y="13"/>
                  <a:pt x="38" y="13"/>
                </a:cubicBezTo>
                <a:cubicBezTo>
                  <a:pt x="36" y="13"/>
                  <a:pt x="35" y="12"/>
                  <a:pt x="35" y="10"/>
                </a:cubicBezTo>
                <a:cubicBezTo>
                  <a:pt x="35" y="2"/>
                  <a:pt x="35" y="2"/>
                  <a:pt x="35" y="2"/>
                </a:cubicBezTo>
                <a:cubicBezTo>
                  <a:pt x="35" y="1"/>
                  <a:pt x="36" y="0"/>
                  <a:pt x="38" y="0"/>
                </a:cubicBezTo>
                <a:cubicBezTo>
                  <a:pt x="67" y="0"/>
                  <a:pt x="67" y="0"/>
                  <a:pt x="67" y="0"/>
                </a:cubicBezTo>
                <a:cubicBezTo>
                  <a:pt x="78" y="0"/>
                  <a:pt x="78" y="0"/>
                  <a:pt x="78" y="0"/>
                </a:cubicBezTo>
                <a:cubicBezTo>
                  <a:pt x="79" y="0"/>
                  <a:pt x="81" y="1"/>
                  <a:pt x="81" y="2"/>
                </a:cubicBezTo>
                <a:cubicBezTo>
                  <a:pt x="81" y="14"/>
                  <a:pt x="81" y="14"/>
                  <a:pt x="81" y="14"/>
                </a:cubicBezTo>
                <a:cubicBezTo>
                  <a:pt x="81" y="42"/>
                  <a:pt x="81" y="42"/>
                  <a:pt x="81" y="42"/>
                </a:cubicBezTo>
                <a:cubicBezTo>
                  <a:pt x="81" y="44"/>
                  <a:pt x="79" y="45"/>
                  <a:pt x="77" y="45"/>
                </a:cubicBezTo>
                <a:cubicBezTo>
                  <a:pt x="70" y="45"/>
                  <a:pt x="70" y="45"/>
                  <a:pt x="70" y="45"/>
                </a:cubicBezTo>
                <a:cubicBezTo>
                  <a:pt x="68" y="45"/>
                  <a:pt x="67" y="44"/>
                  <a:pt x="67" y="42"/>
                </a:cubicBezTo>
                <a:cubicBezTo>
                  <a:pt x="67" y="22"/>
                  <a:pt x="67" y="22"/>
                  <a:pt x="67" y="22"/>
                </a:cubicBezTo>
                <a:cubicBezTo>
                  <a:pt x="11" y="79"/>
                  <a:pt x="11" y="79"/>
                  <a:pt x="11" y="79"/>
                </a:cubicBezTo>
                <a:cubicBezTo>
                  <a:pt x="10" y="80"/>
                  <a:pt x="8" y="80"/>
                  <a:pt x="7" y="79"/>
                </a:cubicBezTo>
                <a:cubicBezTo>
                  <a:pt x="1" y="73"/>
                  <a:pt x="1" y="73"/>
                  <a:pt x="1" y="73"/>
                </a:cubicBezTo>
                <a:cubicBezTo>
                  <a:pt x="0" y="72"/>
                  <a:pt x="0" y="70"/>
                  <a:pt x="1" y="69"/>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6" name="Freeform 16">
            <a:extLst>
              <a:ext uri="{FF2B5EF4-FFF2-40B4-BE49-F238E27FC236}">
                <a16:creationId xmlns:a16="http://schemas.microsoft.com/office/drawing/2014/main" id="{96D112B1-C222-4A5A-8382-3935030030B7}"/>
              </a:ext>
            </a:extLst>
          </p:cNvPr>
          <p:cNvSpPr>
            <a:spLocks noChangeAspect="1"/>
          </p:cNvSpPr>
          <p:nvPr/>
        </p:nvSpPr>
        <p:spPr bwMode="auto">
          <a:xfrm>
            <a:off x="8967259" y="4459870"/>
            <a:ext cx="270378" cy="274320"/>
          </a:xfrm>
          <a:custGeom>
            <a:avLst/>
            <a:gdLst>
              <a:gd name="T0" fmla="*/ 79 w 80"/>
              <a:gd name="T1" fmla="*/ 11 h 81"/>
              <a:gd name="T2" fmla="*/ 22 w 80"/>
              <a:gd name="T3" fmla="*/ 67 h 81"/>
              <a:gd name="T4" fmla="*/ 42 w 80"/>
              <a:gd name="T5" fmla="*/ 67 h 81"/>
              <a:gd name="T6" fmla="*/ 45 w 80"/>
              <a:gd name="T7" fmla="*/ 70 h 81"/>
              <a:gd name="T8" fmla="*/ 45 w 80"/>
              <a:gd name="T9" fmla="*/ 78 h 81"/>
              <a:gd name="T10" fmla="*/ 42 w 80"/>
              <a:gd name="T11" fmla="*/ 81 h 81"/>
              <a:gd name="T12" fmla="*/ 14 w 80"/>
              <a:gd name="T13" fmla="*/ 81 h 81"/>
              <a:gd name="T14" fmla="*/ 2 w 80"/>
              <a:gd name="T15" fmla="*/ 81 h 81"/>
              <a:gd name="T16" fmla="*/ 0 w 80"/>
              <a:gd name="T17" fmla="*/ 78 h 81"/>
              <a:gd name="T18" fmla="*/ 0 w 80"/>
              <a:gd name="T19" fmla="*/ 67 h 81"/>
              <a:gd name="T20" fmla="*/ 0 w 80"/>
              <a:gd name="T21" fmla="*/ 39 h 81"/>
              <a:gd name="T22" fmla="*/ 3 w 80"/>
              <a:gd name="T23" fmla="*/ 35 h 81"/>
              <a:gd name="T24" fmla="*/ 10 w 80"/>
              <a:gd name="T25" fmla="*/ 35 h 81"/>
              <a:gd name="T26" fmla="*/ 13 w 80"/>
              <a:gd name="T27" fmla="*/ 38 h 81"/>
              <a:gd name="T28" fmla="*/ 13 w 80"/>
              <a:gd name="T29" fmla="*/ 58 h 81"/>
              <a:gd name="T30" fmla="*/ 69 w 80"/>
              <a:gd name="T31" fmla="*/ 2 h 81"/>
              <a:gd name="T32" fmla="*/ 73 w 80"/>
              <a:gd name="T33" fmla="*/ 2 h 81"/>
              <a:gd name="T34" fmla="*/ 79 w 80"/>
              <a:gd name="T35" fmla="*/ 8 h 81"/>
              <a:gd name="T36" fmla="*/ 79 w 80"/>
              <a:gd name="T37"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81">
                <a:moveTo>
                  <a:pt x="79" y="11"/>
                </a:moveTo>
                <a:cubicBezTo>
                  <a:pt x="22" y="67"/>
                  <a:pt x="22" y="67"/>
                  <a:pt x="22" y="67"/>
                </a:cubicBezTo>
                <a:cubicBezTo>
                  <a:pt x="42" y="67"/>
                  <a:pt x="42" y="67"/>
                  <a:pt x="42" y="67"/>
                </a:cubicBezTo>
                <a:cubicBezTo>
                  <a:pt x="44" y="67"/>
                  <a:pt x="45" y="69"/>
                  <a:pt x="45" y="70"/>
                </a:cubicBezTo>
                <a:cubicBezTo>
                  <a:pt x="45" y="78"/>
                  <a:pt x="45" y="78"/>
                  <a:pt x="45" y="78"/>
                </a:cubicBezTo>
                <a:cubicBezTo>
                  <a:pt x="45" y="80"/>
                  <a:pt x="44" y="81"/>
                  <a:pt x="42" y="81"/>
                </a:cubicBezTo>
                <a:cubicBezTo>
                  <a:pt x="14" y="81"/>
                  <a:pt x="14" y="81"/>
                  <a:pt x="14" y="81"/>
                </a:cubicBezTo>
                <a:cubicBezTo>
                  <a:pt x="2" y="81"/>
                  <a:pt x="2" y="81"/>
                  <a:pt x="2" y="81"/>
                </a:cubicBezTo>
                <a:cubicBezTo>
                  <a:pt x="1" y="81"/>
                  <a:pt x="0" y="80"/>
                  <a:pt x="0" y="78"/>
                </a:cubicBezTo>
                <a:cubicBezTo>
                  <a:pt x="0" y="67"/>
                  <a:pt x="0" y="67"/>
                  <a:pt x="0" y="67"/>
                </a:cubicBezTo>
                <a:cubicBezTo>
                  <a:pt x="0" y="39"/>
                  <a:pt x="0" y="39"/>
                  <a:pt x="0" y="39"/>
                </a:cubicBezTo>
                <a:cubicBezTo>
                  <a:pt x="0" y="37"/>
                  <a:pt x="1" y="35"/>
                  <a:pt x="3" y="35"/>
                </a:cubicBezTo>
                <a:cubicBezTo>
                  <a:pt x="10" y="35"/>
                  <a:pt x="10" y="35"/>
                  <a:pt x="10" y="35"/>
                </a:cubicBezTo>
                <a:cubicBezTo>
                  <a:pt x="12" y="35"/>
                  <a:pt x="13" y="37"/>
                  <a:pt x="13" y="38"/>
                </a:cubicBezTo>
                <a:cubicBezTo>
                  <a:pt x="13" y="58"/>
                  <a:pt x="13" y="58"/>
                  <a:pt x="13" y="58"/>
                </a:cubicBezTo>
                <a:cubicBezTo>
                  <a:pt x="69" y="2"/>
                  <a:pt x="69" y="2"/>
                  <a:pt x="69" y="2"/>
                </a:cubicBezTo>
                <a:cubicBezTo>
                  <a:pt x="70" y="0"/>
                  <a:pt x="72" y="0"/>
                  <a:pt x="73" y="2"/>
                </a:cubicBezTo>
                <a:cubicBezTo>
                  <a:pt x="79" y="8"/>
                  <a:pt x="79" y="8"/>
                  <a:pt x="79" y="8"/>
                </a:cubicBezTo>
                <a:cubicBezTo>
                  <a:pt x="80" y="9"/>
                  <a:pt x="80" y="10"/>
                  <a:pt x="79" y="1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7" name="Freeform 17">
            <a:extLst>
              <a:ext uri="{FF2B5EF4-FFF2-40B4-BE49-F238E27FC236}">
                <a16:creationId xmlns:a16="http://schemas.microsoft.com/office/drawing/2014/main" id="{09560B40-4264-4E67-ADE0-260135A49F77}"/>
              </a:ext>
            </a:extLst>
          </p:cNvPr>
          <p:cNvSpPr>
            <a:spLocks noChangeAspect="1"/>
          </p:cNvSpPr>
          <p:nvPr/>
        </p:nvSpPr>
        <p:spPr bwMode="auto">
          <a:xfrm>
            <a:off x="9878368" y="4459870"/>
            <a:ext cx="274320" cy="274320"/>
          </a:xfrm>
          <a:custGeom>
            <a:avLst/>
            <a:gdLst>
              <a:gd name="T0" fmla="*/ 1 w 81"/>
              <a:gd name="T1" fmla="*/ 11 h 81"/>
              <a:gd name="T2" fmla="*/ 58 w 81"/>
              <a:gd name="T3" fmla="*/ 67 h 81"/>
              <a:gd name="T4" fmla="*/ 38 w 81"/>
              <a:gd name="T5" fmla="*/ 67 h 81"/>
              <a:gd name="T6" fmla="*/ 35 w 81"/>
              <a:gd name="T7" fmla="*/ 70 h 81"/>
              <a:gd name="T8" fmla="*/ 35 w 81"/>
              <a:gd name="T9" fmla="*/ 78 h 81"/>
              <a:gd name="T10" fmla="*/ 38 w 81"/>
              <a:gd name="T11" fmla="*/ 81 h 81"/>
              <a:gd name="T12" fmla="*/ 67 w 81"/>
              <a:gd name="T13" fmla="*/ 81 h 81"/>
              <a:gd name="T14" fmla="*/ 78 w 81"/>
              <a:gd name="T15" fmla="*/ 81 h 81"/>
              <a:gd name="T16" fmla="*/ 81 w 81"/>
              <a:gd name="T17" fmla="*/ 78 h 81"/>
              <a:gd name="T18" fmla="*/ 81 w 81"/>
              <a:gd name="T19" fmla="*/ 67 h 81"/>
              <a:gd name="T20" fmla="*/ 81 w 81"/>
              <a:gd name="T21" fmla="*/ 39 h 81"/>
              <a:gd name="T22" fmla="*/ 77 w 81"/>
              <a:gd name="T23" fmla="*/ 35 h 81"/>
              <a:gd name="T24" fmla="*/ 70 w 81"/>
              <a:gd name="T25" fmla="*/ 35 h 81"/>
              <a:gd name="T26" fmla="*/ 67 w 81"/>
              <a:gd name="T27" fmla="*/ 38 h 81"/>
              <a:gd name="T28" fmla="*/ 67 w 81"/>
              <a:gd name="T29" fmla="*/ 58 h 81"/>
              <a:gd name="T30" fmla="*/ 11 w 81"/>
              <a:gd name="T31" fmla="*/ 2 h 81"/>
              <a:gd name="T32" fmla="*/ 7 w 81"/>
              <a:gd name="T33" fmla="*/ 2 h 81"/>
              <a:gd name="T34" fmla="*/ 1 w 81"/>
              <a:gd name="T35" fmla="*/ 8 h 81"/>
              <a:gd name="T36" fmla="*/ 1 w 81"/>
              <a:gd name="T37"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1" h="81">
                <a:moveTo>
                  <a:pt x="1" y="11"/>
                </a:moveTo>
                <a:cubicBezTo>
                  <a:pt x="58" y="67"/>
                  <a:pt x="58" y="67"/>
                  <a:pt x="58" y="67"/>
                </a:cubicBezTo>
                <a:cubicBezTo>
                  <a:pt x="38" y="67"/>
                  <a:pt x="38" y="67"/>
                  <a:pt x="38" y="67"/>
                </a:cubicBezTo>
                <a:cubicBezTo>
                  <a:pt x="36" y="67"/>
                  <a:pt x="35" y="69"/>
                  <a:pt x="35" y="70"/>
                </a:cubicBezTo>
                <a:cubicBezTo>
                  <a:pt x="35" y="78"/>
                  <a:pt x="35" y="78"/>
                  <a:pt x="35" y="78"/>
                </a:cubicBezTo>
                <a:cubicBezTo>
                  <a:pt x="35" y="80"/>
                  <a:pt x="36" y="81"/>
                  <a:pt x="38" y="81"/>
                </a:cubicBezTo>
                <a:cubicBezTo>
                  <a:pt x="67" y="81"/>
                  <a:pt x="67" y="81"/>
                  <a:pt x="67" y="81"/>
                </a:cubicBezTo>
                <a:cubicBezTo>
                  <a:pt x="78" y="81"/>
                  <a:pt x="78" y="81"/>
                  <a:pt x="78" y="81"/>
                </a:cubicBezTo>
                <a:cubicBezTo>
                  <a:pt x="79" y="81"/>
                  <a:pt x="81" y="80"/>
                  <a:pt x="81" y="78"/>
                </a:cubicBezTo>
                <a:cubicBezTo>
                  <a:pt x="81" y="67"/>
                  <a:pt x="81" y="67"/>
                  <a:pt x="81" y="67"/>
                </a:cubicBezTo>
                <a:cubicBezTo>
                  <a:pt x="81" y="39"/>
                  <a:pt x="81" y="39"/>
                  <a:pt x="81" y="39"/>
                </a:cubicBezTo>
                <a:cubicBezTo>
                  <a:pt x="81" y="37"/>
                  <a:pt x="79" y="35"/>
                  <a:pt x="77" y="35"/>
                </a:cubicBezTo>
                <a:cubicBezTo>
                  <a:pt x="70" y="35"/>
                  <a:pt x="70" y="35"/>
                  <a:pt x="70" y="35"/>
                </a:cubicBezTo>
                <a:cubicBezTo>
                  <a:pt x="68" y="35"/>
                  <a:pt x="67" y="37"/>
                  <a:pt x="67" y="38"/>
                </a:cubicBezTo>
                <a:cubicBezTo>
                  <a:pt x="67" y="58"/>
                  <a:pt x="67" y="58"/>
                  <a:pt x="67" y="58"/>
                </a:cubicBezTo>
                <a:cubicBezTo>
                  <a:pt x="11" y="2"/>
                  <a:pt x="11" y="2"/>
                  <a:pt x="11" y="2"/>
                </a:cubicBezTo>
                <a:cubicBezTo>
                  <a:pt x="10" y="0"/>
                  <a:pt x="8" y="0"/>
                  <a:pt x="7" y="2"/>
                </a:cubicBezTo>
                <a:cubicBezTo>
                  <a:pt x="1" y="8"/>
                  <a:pt x="1" y="8"/>
                  <a:pt x="1" y="8"/>
                </a:cubicBezTo>
                <a:cubicBezTo>
                  <a:pt x="0" y="9"/>
                  <a:pt x="0" y="10"/>
                  <a:pt x="1" y="1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28" name="Group 127">
            <a:extLst>
              <a:ext uri="{FF2B5EF4-FFF2-40B4-BE49-F238E27FC236}">
                <a16:creationId xmlns:a16="http://schemas.microsoft.com/office/drawing/2014/main" id="{C3728AE1-A369-4F89-9947-BFF0A3132514}"/>
              </a:ext>
            </a:extLst>
          </p:cNvPr>
          <p:cNvGrpSpPr>
            <a:grpSpLocks noChangeAspect="1"/>
          </p:cNvGrpSpPr>
          <p:nvPr/>
        </p:nvGrpSpPr>
        <p:grpSpPr>
          <a:xfrm>
            <a:off x="10783735" y="4484753"/>
            <a:ext cx="310953" cy="274320"/>
            <a:chOff x="9439275" y="314325"/>
            <a:chExt cx="579438" cy="511175"/>
          </a:xfrm>
          <a:solidFill>
            <a:srgbClr val="595555"/>
          </a:solidFill>
        </p:grpSpPr>
        <p:sp>
          <p:nvSpPr>
            <p:cNvPr id="129" name="Freeform 18">
              <a:extLst>
                <a:ext uri="{FF2B5EF4-FFF2-40B4-BE49-F238E27FC236}">
                  <a16:creationId xmlns:a16="http://schemas.microsoft.com/office/drawing/2014/main" id="{D1F90EE3-0A0D-4681-804F-F8FE32E3A51E}"/>
                </a:ext>
              </a:extLst>
            </p:cNvPr>
            <p:cNvSpPr>
              <a:spLocks/>
            </p:cNvSpPr>
            <p:nvPr/>
          </p:nvSpPr>
          <p:spPr bwMode="auto">
            <a:xfrm>
              <a:off x="9439275" y="314325"/>
              <a:ext cx="409575" cy="285750"/>
            </a:xfrm>
            <a:custGeom>
              <a:avLst/>
              <a:gdLst>
                <a:gd name="T0" fmla="*/ 26 w 60"/>
                <a:gd name="T1" fmla="*/ 34 h 42"/>
                <a:gd name="T2" fmla="*/ 17 w 60"/>
                <a:gd name="T3" fmla="*/ 26 h 42"/>
                <a:gd name="T4" fmla="*/ 58 w 60"/>
                <a:gd name="T5" fmla="*/ 26 h 42"/>
                <a:gd name="T6" fmla="*/ 60 w 60"/>
                <a:gd name="T7" fmla="*/ 24 h 42"/>
                <a:gd name="T8" fmla="*/ 60 w 60"/>
                <a:gd name="T9" fmla="*/ 18 h 42"/>
                <a:gd name="T10" fmla="*/ 58 w 60"/>
                <a:gd name="T11" fmla="*/ 16 h 42"/>
                <a:gd name="T12" fmla="*/ 17 w 60"/>
                <a:gd name="T13" fmla="*/ 16 h 42"/>
                <a:gd name="T14" fmla="*/ 26 w 60"/>
                <a:gd name="T15" fmla="*/ 8 h 42"/>
                <a:gd name="T16" fmla="*/ 26 w 60"/>
                <a:gd name="T17" fmla="*/ 5 h 42"/>
                <a:gd name="T18" fmla="*/ 22 w 60"/>
                <a:gd name="T19" fmla="*/ 1 h 42"/>
                <a:gd name="T20" fmla="*/ 19 w 60"/>
                <a:gd name="T21" fmla="*/ 1 h 42"/>
                <a:gd name="T22" fmla="*/ 6 w 60"/>
                <a:gd name="T23" fmla="*/ 14 h 42"/>
                <a:gd name="T24" fmla="*/ 1 w 60"/>
                <a:gd name="T25" fmla="*/ 20 h 42"/>
                <a:gd name="T26" fmla="*/ 1 w 60"/>
                <a:gd name="T27" fmla="*/ 22 h 42"/>
                <a:gd name="T28" fmla="*/ 6 w 60"/>
                <a:gd name="T29" fmla="*/ 28 h 42"/>
                <a:gd name="T30" fmla="*/ 19 w 60"/>
                <a:gd name="T31" fmla="*/ 41 h 42"/>
                <a:gd name="T32" fmla="*/ 22 w 60"/>
                <a:gd name="T33" fmla="*/ 41 h 42"/>
                <a:gd name="T34" fmla="*/ 26 w 60"/>
                <a:gd name="T35" fmla="*/ 37 h 42"/>
                <a:gd name="T36" fmla="*/ 26 w 60"/>
                <a:gd name="T37" fmla="*/ 3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0" h="42">
                  <a:moveTo>
                    <a:pt x="26" y="34"/>
                  </a:moveTo>
                  <a:cubicBezTo>
                    <a:pt x="17" y="26"/>
                    <a:pt x="17" y="26"/>
                    <a:pt x="17" y="26"/>
                  </a:cubicBezTo>
                  <a:cubicBezTo>
                    <a:pt x="58" y="26"/>
                    <a:pt x="58" y="26"/>
                    <a:pt x="58" y="26"/>
                  </a:cubicBezTo>
                  <a:cubicBezTo>
                    <a:pt x="59" y="26"/>
                    <a:pt x="60" y="25"/>
                    <a:pt x="60" y="24"/>
                  </a:cubicBezTo>
                  <a:cubicBezTo>
                    <a:pt x="60" y="18"/>
                    <a:pt x="60" y="18"/>
                    <a:pt x="60" y="18"/>
                  </a:cubicBezTo>
                  <a:cubicBezTo>
                    <a:pt x="60" y="17"/>
                    <a:pt x="59" y="16"/>
                    <a:pt x="58" y="16"/>
                  </a:cubicBezTo>
                  <a:cubicBezTo>
                    <a:pt x="17" y="16"/>
                    <a:pt x="17" y="16"/>
                    <a:pt x="17" y="16"/>
                  </a:cubicBezTo>
                  <a:cubicBezTo>
                    <a:pt x="26" y="8"/>
                    <a:pt x="26" y="8"/>
                    <a:pt x="26" y="8"/>
                  </a:cubicBezTo>
                  <a:cubicBezTo>
                    <a:pt x="27" y="7"/>
                    <a:pt x="27" y="6"/>
                    <a:pt x="26" y="5"/>
                  </a:cubicBezTo>
                  <a:cubicBezTo>
                    <a:pt x="22" y="1"/>
                    <a:pt x="22" y="1"/>
                    <a:pt x="22" y="1"/>
                  </a:cubicBezTo>
                  <a:cubicBezTo>
                    <a:pt x="21" y="0"/>
                    <a:pt x="20" y="0"/>
                    <a:pt x="19" y="1"/>
                  </a:cubicBezTo>
                  <a:cubicBezTo>
                    <a:pt x="6" y="14"/>
                    <a:pt x="6" y="14"/>
                    <a:pt x="6" y="14"/>
                  </a:cubicBezTo>
                  <a:cubicBezTo>
                    <a:pt x="1" y="20"/>
                    <a:pt x="1" y="20"/>
                    <a:pt x="1" y="20"/>
                  </a:cubicBezTo>
                  <a:cubicBezTo>
                    <a:pt x="0" y="21"/>
                    <a:pt x="0" y="22"/>
                    <a:pt x="1" y="22"/>
                  </a:cubicBezTo>
                  <a:cubicBezTo>
                    <a:pt x="6" y="28"/>
                    <a:pt x="6" y="28"/>
                    <a:pt x="6" y="28"/>
                  </a:cubicBezTo>
                  <a:cubicBezTo>
                    <a:pt x="19" y="41"/>
                    <a:pt x="19" y="41"/>
                    <a:pt x="19" y="41"/>
                  </a:cubicBezTo>
                  <a:cubicBezTo>
                    <a:pt x="20" y="42"/>
                    <a:pt x="21" y="42"/>
                    <a:pt x="22" y="41"/>
                  </a:cubicBezTo>
                  <a:cubicBezTo>
                    <a:pt x="26" y="37"/>
                    <a:pt x="26" y="37"/>
                    <a:pt x="26" y="37"/>
                  </a:cubicBezTo>
                  <a:cubicBezTo>
                    <a:pt x="27" y="36"/>
                    <a:pt x="27" y="35"/>
                    <a:pt x="26"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0" name="Freeform 19">
              <a:extLst>
                <a:ext uri="{FF2B5EF4-FFF2-40B4-BE49-F238E27FC236}">
                  <a16:creationId xmlns:a16="http://schemas.microsoft.com/office/drawing/2014/main" id="{8B6E2BAF-A79E-4C49-B425-A68CB1937214}"/>
                </a:ext>
              </a:extLst>
            </p:cNvPr>
            <p:cNvSpPr>
              <a:spLocks/>
            </p:cNvSpPr>
            <p:nvPr/>
          </p:nvSpPr>
          <p:spPr bwMode="auto">
            <a:xfrm>
              <a:off x="9609138" y="546100"/>
              <a:ext cx="409575" cy="279400"/>
            </a:xfrm>
            <a:custGeom>
              <a:avLst/>
              <a:gdLst>
                <a:gd name="T0" fmla="*/ 59 w 60"/>
                <a:gd name="T1" fmla="*/ 19 h 41"/>
                <a:gd name="T2" fmla="*/ 54 w 60"/>
                <a:gd name="T3" fmla="*/ 14 h 41"/>
                <a:gd name="T4" fmla="*/ 41 w 60"/>
                <a:gd name="T5" fmla="*/ 0 h 41"/>
                <a:gd name="T6" fmla="*/ 38 w 60"/>
                <a:gd name="T7" fmla="*/ 0 h 41"/>
                <a:gd name="T8" fmla="*/ 34 w 60"/>
                <a:gd name="T9" fmla="*/ 4 h 41"/>
                <a:gd name="T10" fmla="*/ 34 w 60"/>
                <a:gd name="T11" fmla="*/ 7 h 41"/>
                <a:gd name="T12" fmla="*/ 43 w 60"/>
                <a:gd name="T13" fmla="*/ 16 h 41"/>
                <a:gd name="T14" fmla="*/ 2 w 60"/>
                <a:gd name="T15" fmla="*/ 16 h 41"/>
                <a:gd name="T16" fmla="*/ 0 w 60"/>
                <a:gd name="T17" fmla="*/ 18 h 41"/>
                <a:gd name="T18" fmla="*/ 0 w 60"/>
                <a:gd name="T19" fmla="*/ 23 h 41"/>
                <a:gd name="T20" fmla="*/ 2 w 60"/>
                <a:gd name="T21" fmla="*/ 25 h 41"/>
                <a:gd name="T22" fmla="*/ 43 w 60"/>
                <a:gd name="T23" fmla="*/ 25 h 41"/>
                <a:gd name="T24" fmla="*/ 34 w 60"/>
                <a:gd name="T25" fmla="*/ 34 h 41"/>
                <a:gd name="T26" fmla="*/ 34 w 60"/>
                <a:gd name="T27" fmla="*/ 36 h 41"/>
                <a:gd name="T28" fmla="*/ 38 w 60"/>
                <a:gd name="T29" fmla="*/ 40 h 41"/>
                <a:gd name="T30" fmla="*/ 41 w 60"/>
                <a:gd name="T31" fmla="*/ 40 h 41"/>
                <a:gd name="T32" fmla="*/ 54 w 60"/>
                <a:gd name="T33" fmla="*/ 27 h 41"/>
                <a:gd name="T34" fmla="*/ 59 w 60"/>
                <a:gd name="T35" fmla="*/ 22 h 41"/>
                <a:gd name="T36" fmla="*/ 59 w 60"/>
                <a:gd name="T37" fmla="*/ 1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0" h="41">
                  <a:moveTo>
                    <a:pt x="59" y="19"/>
                  </a:moveTo>
                  <a:cubicBezTo>
                    <a:pt x="54" y="14"/>
                    <a:pt x="54" y="14"/>
                    <a:pt x="54" y="14"/>
                  </a:cubicBezTo>
                  <a:cubicBezTo>
                    <a:pt x="41" y="0"/>
                    <a:pt x="41" y="0"/>
                    <a:pt x="41" y="0"/>
                  </a:cubicBezTo>
                  <a:cubicBezTo>
                    <a:pt x="40" y="0"/>
                    <a:pt x="39" y="0"/>
                    <a:pt x="38" y="0"/>
                  </a:cubicBezTo>
                  <a:cubicBezTo>
                    <a:pt x="34" y="4"/>
                    <a:pt x="34" y="4"/>
                    <a:pt x="34" y="4"/>
                  </a:cubicBezTo>
                  <a:cubicBezTo>
                    <a:pt x="33" y="5"/>
                    <a:pt x="33" y="6"/>
                    <a:pt x="34" y="7"/>
                  </a:cubicBezTo>
                  <a:cubicBezTo>
                    <a:pt x="43" y="16"/>
                    <a:pt x="43" y="16"/>
                    <a:pt x="43" y="16"/>
                  </a:cubicBezTo>
                  <a:cubicBezTo>
                    <a:pt x="2" y="16"/>
                    <a:pt x="2" y="16"/>
                    <a:pt x="2" y="16"/>
                  </a:cubicBezTo>
                  <a:cubicBezTo>
                    <a:pt x="1" y="16"/>
                    <a:pt x="0" y="17"/>
                    <a:pt x="0" y="18"/>
                  </a:cubicBezTo>
                  <a:cubicBezTo>
                    <a:pt x="0" y="23"/>
                    <a:pt x="0" y="23"/>
                    <a:pt x="0" y="23"/>
                  </a:cubicBezTo>
                  <a:cubicBezTo>
                    <a:pt x="0" y="24"/>
                    <a:pt x="1" y="25"/>
                    <a:pt x="2" y="25"/>
                  </a:cubicBezTo>
                  <a:cubicBezTo>
                    <a:pt x="43" y="25"/>
                    <a:pt x="43" y="25"/>
                    <a:pt x="43" y="25"/>
                  </a:cubicBezTo>
                  <a:cubicBezTo>
                    <a:pt x="34" y="34"/>
                    <a:pt x="34" y="34"/>
                    <a:pt x="34" y="34"/>
                  </a:cubicBezTo>
                  <a:cubicBezTo>
                    <a:pt x="33" y="34"/>
                    <a:pt x="33" y="36"/>
                    <a:pt x="34" y="36"/>
                  </a:cubicBezTo>
                  <a:cubicBezTo>
                    <a:pt x="38" y="40"/>
                    <a:pt x="38" y="40"/>
                    <a:pt x="38" y="40"/>
                  </a:cubicBezTo>
                  <a:cubicBezTo>
                    <a:pt x="39" y="41"/>
                    <a:pt x="40" y="41"/>
                    <a:pt x="41" y="40"/>
                  </a:cubicBezTo>
                  <a:cubicBezTo>
                    <a:pt x="54" y="27"/>
                    <a:pt x="54" y="27"/>
                    <a:pt x="54" y="27"/>
                  </a:cubicBezTo>
                  <a:cubicBezTo>
                    <a:pt x="59" y="22"/>
                    <a:pt x="59" y="22"/>
                    <a:pt x="59" y="22"/>
                  </a:cubicBezTo>
                  <a:cubicBezTo>
                    <a:pt x="60" y="21"/>
                    <a:pt x="60" y="20"/>
                    <a:pt x="59"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1" name="Group 130">
            <a:extLst>
              <a:ext uri="{FF2B5EF4-FFF2-40B4-BE49-F238E27FC236}">
                <a16:creationId xmlns:a16="http://schemas.microsoft.com/office/drawing/2014/main" id="{CB831BAD-D070-44D5-89D9-8921C00F81E8}"/>
              </a:ext>
            </a:extLst>
          </p:cNvPr>
          <p:cNvGrpSpPr>
            <a:grpSpLocks noChangeAspect="1"/>
          </p:cNvGrpSpPr>
          <p:nvPr/>
        </p:nvGrpSpPr>
        <p:grpSpPr>
          <a:xfrm>
            <a:off x="696449" y="5418140"/>
            <a:ext cx="242004" cy="274320"/>
            <a:chOff x="1073150" y="1042988"/>
            <a:chExt cx="511176" cy="579438"/>
          </a:xfrm>
          <a:solidFill>
            <a:srgbClr val="595555"/>
          </a:solidFill>
        </p:grpSpPr>
        <p:sp>
          <p:nvSpPr>
            <p:cNvPr id="132" name="Freeform 20">
              <a:extLst>
                <a:ext uri="{FF2B5EF4-FFF2-40B4-BE49-F238E27FC236}">
                  <a16:creationId xmlns:a16="http://schemas.microsoft.com/office/drawing/2014/main" id="{E1BFE848-54D2-43DF-A75F-C1D9B6FE6EF0}"/>
                </a:ext>
              </a:extLst>
            </p:cNvPr>
            <p:cNvSpPr>
              <a:spLocks/>
            </p:cNvSpPr>
            <p:nvPr/>
          </p:nvSpPr>
          <p:spPr bwMode="auto">
            <a:xfrm>
              <a:off x="1073150" y="1214438"/>
              <a:ext cx="285750" cy="407988"/>
            </a:xfrm>
            <a:custGeom>
              <a:avLst/>
              <a:gdLst>
                <a:gd name="T0" fmla="*/ 34 w 42"/>
                <a:gd name="T1" fmla="*/ 34 h 60"/>
                <a:gd name="T2" fmla="*/ 26 w 42"/>
                <a:gd name="T3" fmla="*/ 43 h 60"/>
                <a:gd name="T4" fmla="*/ 26 w 42"/>
                <a:gd name="T5" fmla="*/ 2 h 60"/>
                <a:gd name="T6" fmla="*/ 24 w 42"/>
                <a:gd name="T7" fmla="*/ 0 h 60"/>
                <a:gd name="T8" fmla="*/ 18 w 42"/>
                <a:gd name="T9" fmla="*/ 0 h 60"/>
                <a:gd name="T10" fmla="*/ 16 w 42"/>
                <a:gd name="T11" fmla="*/ 2 h 60"/>
                <a:gd name="T12" fmla="*/ 16 w 42"/>
                <a:gd name="T13" fmla="*/ 43 h 60"/>
                <a:gd name="T14" fmla="*/ 8 w 42"/>
                <a:gd name="T15" fmla="*/ 34 h 60"/>
                <a:gd name="T16" fmla="*/ 5 w 42"/>
                <a:gd name="T17" fmla="*/ 34 h 60"/>
                <a:gd name="T18" fmla="*/ 1 w 42"/>
                <a:gd name="T19" fmla="*/ 38 h 60"/>
                <a:gd name="T20" fmla="*/ 1 w 42"/>
                <a:gd name="T21" fmla="*/ 41 h 60"/>
                <a:gd name="T22" fmla="*/ 14 w 42"/>
                <a:gd name="T23" fmla="*/ 54 h 60"/>
                <a:gd name="T24" fmla="*/ 20 w 42"/>
                <a:gd name="T25" fmla="*/ 60 h 60"/>
                <a:gd name="T26" fmla="*/ 22 w 42"/>
                <a:gd name="T27" fmla="*/ 60 h 60"/>
                <a:gd name="T28" fmla="*/ 28 w 42"/>
                <a:gd name="T29" fmla="*/ 54 h 60"/>
                <a:gd name="T30" fmla="*/ 41 w 42"/>
                <a:gd name="T31" fmla="*/ 41 h 60"/>
                <a:gd name="T32" fmla="*/ 41 w 42"/>
                <a:gd name="T33" fmla="*/ 38 h 60"/>
                <a:gd name="T34" fmla="*/ 37 w 42"/>
                <a:gd name="T35" fmla="*/ 34 h 60"/>
                <a:gd name="T36" fmla="*/ 34 w 42"/>
                <a:gd name="T37"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60">
                  <a:moveTo>
                    <a:pt x="34" y="34"/>
                  </a:moveTo>
                  <a:cubicBezTo>
                    <a:pt x="26" y="43"/>
                    <a:pt x="26" y="43"/>
                    <a:pt x="26" y="43"/>
                  </a:cubicBezTo>
                  <a:cubicBezTo>
                    <a:pt x="26" y="2"/>
                    <a:pt x="26" y="2"/>
                    <a:pt x="26" y="2"/>
                  </a:cubicBezTo>
                  <a:cubicBezTo>
                    <a:pt x="26" y="1"/>
                    <a:pt x="25" y="0"/>
                    <a:pt x="24" y="0"/>
                  </a:cubicBezTo>
                  <a:cubicBezTo>
                    <a:pt x="18" y="0"/>
                    <a:pt x="18" y="0"/>
                    <a:pt x="18" y="0"/>
                  </a:cubicBezTo>
                  <a:cubicBezTo>
                    <a:pt x="17" y="0"/>
                    <a:pt x="16" y="1"/>
                    <a:pt x="16" y="2"/>
                  </a:cubicBezTo>
                  <a:cubicBezTo>
                    <a:pt x="16" y="43"/>
                    <a:pt x="16" y="43"/>
                    <a:pt x="16" y="43"/>
                  </a:cubicBezTo>
                  <a:cubicBezTo>
                    <a:pt x="8" y="34"/>
                    <a:pt x="8" y="34"/>
                    <a:pt x="8" y="34"/>
                  </a:cubicBezTo>
                  <a:cubicBezTo>
                    <a:pt x="7" y="33"/>
                    <a:pt x="6" y="33"/>
                    <a:pt x="5" y="34"/>
                  </a:cubicBezTo>
                  <a:cubicBezTo>
                    <a:pt x="1" y="38"/>
                    <a:pt x="1" y="38"/>
                    <a:pt x="1" y="38"/>
                  </a:cubicBezTo>
                  <a:cubicBezTo>
                    <a:pt x="0" y="39"/>
                    <a:pt x="0" y="40"/>
                    <a:pt x="1" y="41"/>
                  </a:cubicBezTo>
                  <a:cubicBezTo>
                    <a:pt x="14" y="54"/>
                    <a:pt x="14" y="54"/>
                    <a:pt x="14" y="54"/>
                  </a:cubicBezTo>
                  <a:cubicBezTo>
                    <a:pt x="20" y="60"/>
                    <a:pt x="20" y="60"/>
                    <a:pt x="20" y="60"/>
                  </a:cubicBezTo>
                  <a:cubicBezTo>
                    <a:pt x="20" y="60"/>
                    <a:pt x="21" y="60"/>
                    <a:pt x="22" y="60"/>
                  </a:cubicBezTo>
                  <a:cubicBezTo>
                    <a:pt x="28" y="54"/>
                    <a:pt x="28" y="54"/>
                    <a:pt x="28" y="54"/>
                  </a:cubicBezTo>
                  <a:cubicBezTo>
                    <a:pt x="41" y="41"/>
                    <a:pt x="41" y="41"/>
                    <a:pt x="41" y="41"/>
                  </a:cubicBezTo>
                  <a:cubicBezTo>
                    <a:pt x="42" y="40"/>
                    <a:pt x="42" y="39"/>
                    <a:pt x="41" y="38"/>
                  </a:cubicBezTo>
                  <a:cubicBezTo>
                    <a:pt x="37" y="34"/>
                    <a:pt x="37" y="34"/>
                    <a:pt x="37" y="34"/>
                  </a:cubicBezTo>
                  <a:cubicBezTo>
                    <a:pt x="36" y="33"/>
                    <a:pt x="35" y="33"/>
                    <a:pt x="3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3" name="Freeform 21">
              <a:extLst>
                <a:ext uri="{FF2B5EF4-FFF2-40B4-BE49-F238E27FC236}">
                  <a16:creationId xmlns:a16="http://schemas.microsoft.com/office/drawing/2014/main" id="{098724B9-DC38-445B-A077-04F195CA85CA}"/>
                </a:ext>
              </a:extLst>
            </p:cNvPr>
            <p:cNvSpPr>
              <a:spLocks/>
            </p:cNvSpPr>
            <p:nvPr/>
          </p:nvSpPr>
          <p:spPr bwMode="auto">
            <a:xfrm>
              <a:off x="1296988" y="1042988"/>
              <a:ext cx="287338" cy="409575"/>
            </a:xfrm>
            <a:custGeom>
              <a:avLst/>
              <a:gdLst>
                <a:gd name="T0" fmla="*/ 20 w 42"/>
                <a:gd name="T1" fmla="*/ 1 h 60"/>
                <a:gd name="T2" fmla="*/ 15 w 42"/>
                <a:gd name="T3" fmla="*/ 6 h 60"/>
                <a:gd name="T4" fmla="*/ 1 w 42"/>
                <a:gd name="T5" fmla="*/ 20 h 60"/>
                <a:gd name="T6" fmla="*/ 1 w 42"/>
                <a:gd name="T7" fmla="*/ 22 h 60"/>
                <a:gd name="T8" fmla="*/ 5 w 42"/>
                <a:gd name="T9" fmla="*/ 26 h 60"/>
                <a:gd name="T10" fmla="*/ 8 w 42"/>
                <a:gd name="T11" fmla="*/ 26 h 60"/>
                <a:gd name="T12" fmla="*/ 17 w 42"/>
                <a:gd name="T13" fmla="*/ 18 h 60"/>
                <a:gd name="T14" fmla="*/ 17 w 42"/>
                <a:gd name="T15" fmla="*/ 58 h 60"/>
                <a:gd name="T16" fmla="*/ 18 w 42"/>
                <a:gd name="T17" fmla="*/ 60 h 60"/>
                <a:gd name="T18" fmla="*/ 24 w 42"/>
                <a:gd name="T19" fmla="*/ 60 h 60"/>
                <a:gd name="T20" fmla="*/ 26 w 42"/>
                <a:gd name="T21" fmla="*/ 58 h 60"/>
                <a:gd name="T22" fmla="*/ 26 w 42"/>
                <a:gd name="T23" fmla="*/ 18 h 60"/>
                <a:gd name="T24" fmla="*/ 35 w 42"/>
                <a:gd name="T25" fmla="*/ 26 h 60"/>
                <a:gd name="T26" fmla="*/ 37 w 42"/>
                <a:gd name="T27" fmla="*/ 26 h 60"/>
                <a:gd name="T28" fmla="*/ 41 w 42"/>
                <a:gd name="T29" fmla="*/ 22 h 60"/>
                <a:gd name="T30" fmla="*/ 41 w 42"/>
                <a:gd name="T31" fmla="*/ 20 h 60"/>
                <a:gd name="T32" fmla="*/ 28 w 42"/>
                <a:gd name="T33" fmla="*/ 6 h 60"/>
                <a:gd name="T34" fmla="*/ 23 w 42"/>
                <a:gd name="T35" fmla="*/ 1 h 60"/>
                <a:gd name="T36" fmla="*/ 20 w 42"/>
                <a:gd name="T37"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60">
                  <a:moveTo>
                    <a:pt x="20" y="1"/>
                  </a:moveTo>
                  <a:cubicBezTo>
                    <a:pt x="15" y="6"/>
                    <a:pt x="15" y="6"/>
                    <a:pt x="15" y="6"/>
                  </a:cubicBezTo>
                  <a:cubicBezTo>
                    <a:pt x="1" y="20"/>
                    <a:pt x="1" y="20"/>
                    <a:pt x="1" y="20"/>
                  </a:cubicBezTo>
                  <a:cubicBezTo>
                    <a:pt x="0" y="20"/>
                    <a:pt x="0" y="22"/>
                    <a:pt x="1" y="22"/>
                  </a:cubicBezTo>
                  <a:cubicBezTo>
                    <a:pt x="5" y="26"/>
                    <a:pt x="5" y="26"/>
                    <a:pt x="5" y="26"/>
                  </a:cubicBezTo>
                  <a:cubicBezTo>
                    <a:pt x="6" y="27"/>
                    <a:pt x="7" y="27"/>
                    <a:pt x="8" y="26"/>
                  </a:cubicBezTo>
                  <a:cubicBezTo>
                    <a:pt x="17" y="18"/>
                    <a:pt x="17" y="18"/>
                    <a:pt x="17" y="18"/>
                  </a:cubicBezTo>
                  <a:cubicBezTo>
                    <a:pt x="17" y="58"/>
                    <a:pt x="17" y="58"/>
                    <a:pt x="17" y="58"/>
                  </a:cubicBezTo>
                  <a:cubicBezTo>
                    <a:pt x="17" y="59"/>
                    <a:pt x="17" y="60"/>
                    <a:pt x="18" y="60"/>
                  </a:cubicBezTo>
                  <a:cubicBezTo>
                    <a:pt x="24" y="60"/>
                    <a:pt x="24" y="60"/>
                    <a:pt x="24" y="60"/>
                  </a:cubicBezTo>
                  <a:cubicBezTo>
                    <a:pt x="25" y="60"/>
                    <a:pt x="26" y="59"/>
                    <a:pt x="26" y="58"/>
                  </a:cubicBezTo>
                  <a:cubicBezTo>
                    <a:pt x="26" y="18"/>
                    <a:pt x="26" y="18"/>
                    <a:pt x="26" y="18"/>
                  </a:cubicBezTo>
                  <a:cubicBezTo>
                    <a:pt x="35" y="26"/>
                    <a:pt x="35" y="26"/>
                    <a:pt x="35" y="26"/>
                  </a:cubicBezTo>
                  <a:cubicBezTo>
                    <a:pt x="35" y="27"/>
                    <a:pt x="36" y="27"/>
                    <a:pt x="37" y="26"/>
                  </a:cubicBezTo>
                  <a:cubicBezTo>
                    <a:pt x="41" y="22"/>
                    <a:pt x="41" y="22"/>
                    <a:pt x="41" y="22"/>
                  </a:cubicBezTo>
                  <a:cubicBezTo>
                    <a:pt x="42" y="22"/>
                    <a:pt x="42" y="20"/>
                    <a:pt x="41" y="20"/>
                  </a:cubicBezTo>
                  <a:cubicBezTo>
                    <a:pt x="28" y="6"/>
                    <a:pt x="28" y="6"/>
                    <a:pt x="28" y="6"/>
                  </a:cubicBezTo>
                  <a:cubicBezTo>
                    <a:pt x="23" y="1"/>
                    <a:pt x="23" y="1"/>
                    <a:pt x="23" y="1"/>
                  </a:cubicBezTo>
                  <a:cubicBezTo>
                    <a:pt x="22" y="0"/>
                    <a:pt x="21" y="0"/>
                    <a:pt x="2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4" name="Group 133">
            <a:extLst>
              <a:ext uri="{FF2B5EF4-FFF2-40B4-BE49-F238E27FC236}">
                <a16:creationId xmlns:a16="http://schemas.microsoft.com/office/drawing/2014/main" id="{A33ECE4C-2EF9-464F-9FF4-CF6DAF9B2037}"/>
              </a:ext>
            </a:extLst>
          </p:cNvPr>
          <p:cNvGrpSpPr>
            <a:grpSpLocks noChangeAspect="1"/>
          </p:cNvGrpSpPr>
          <p:nvPr/>
        </p:nvGrpSpPr>
        <p:grpSpPr>
          <a:xfrm>
            <a:off x="4354287" y="5525330"/>
            <a:ext cx="375840" cy="274320"/>
            <a:chOff x="4106863" y="1131888"/>
            <a:chExt cx="552450" cy="403225"/>
          </a:xfrm>
          <a:solidFill>
            <a:srgbClr val="595555"/>
          </a:solidFill>
        </p:grpSpPr>
        <p:sp>
          <p:nvSpPr>
            <p:cNvPr id="135" name="Freeform 22">
              <a:extLst>
                <a:ext uri="{FF2B5EF4-FFF2-40B4-BE49-F238E27FC236}">
                  <a16:creationId xmlns:a16="http://schemas.microsoft.com/office/drawing/2014/main" id="{AE16D79F-5F2F-4149-9DA3-FBB30E2FF5A1}"/>
                </a:ext>
              </a:extLst>
            </p:cNvPr>
            <p:cNvSpPr>
              <a:spLocks/>
            </p:cNvSpPr>
            <p:nvPr/>
          </p:nvSpPr>
          <p:spPr bwMode="auto">
            <a:xfrm>
              <a:off x="4106863" y="1131888"/>
              <a:ext cx="258763" cy="403225"/>
            </a:xfrm>
            <a:custGeom>
              <a:avLst/>
              <a:gdLst>
                <a:gd name="T0" fmla="*/ 19 w 38"/>
                <a:gd name="T1" fmla="*/ 32 h 59"/>
                <a:gd name="T2" fmla="*/ 18 w 38"/>
                <a:gd name="T3" fmla="*/ 30 h 59"/>
                <a:gd name="T4" fmla="*/ 18 w 38"/>
                <a:gd name="T5" fmla="*/ 30 h 59"/>
                <a:gd name="T6" fmla="*/ 19 w 38"/>
                <a:gd name="T7" fmla="*/ 28 h 59"/>
                <a:gd name="T8" fmla="*/ 37 w 38"/>
                <a:gd name="T9" fmla="*/ 11 h 59"/>
                <a:gd name="T10" fmla="*/ 37 w 38"/>
                <a:gd name="T11" fmla="*/ 7 h 59"/>
                <a:gd name="T12" fmla="*/ 31 w 38"/>
                <a:gd name="T13" fmla="*/ 1 h 59"/>
                <a:gd name="T14" fmla="*/ 27 w 38"/>
                <a:gd name="T15" fmla="*/ 1 h 59"/>
                <a:gd name="T16" fmla="*/ 9 w 38"/>
                <a:gd name="T17" fmla="*/ 20 h 59"/>
                <a:gd name="T18" fmla="*/ 1 w 38"/>
                <a:gd name="T19" fmla="*/ 28 h 59"/>
                <a:gd name="T20" fmla="*/ 1 w 38"/>
                <a:gd name="T21" fmla="*/ 32 h 59"/>
                <a:gd name="T22" fmla="*/ 9 w 38"/>
                <a:gd name="T23" fmla="*/ 39 h 59"/>
                <a:gd name="T24" fmla="*/ 27 w 38"/>
                <a:gd name="T25" fmla="*/ 58 h 59"/>
                <a:gd name="T26" fmla="*/ 31 w 38"/>
                <a:gd name="T27" fmla="*/ 58 h 59"/>
                <a:gd name="T28" fmla="*/ 37 w 38"/>
                <a:gd name="T29" fmla="*/ 53 h 59"/>
                <a:gd name="T30" fmla="*/ 37 w 38"/>
                <a:gd name="T31" fmla="*/ 49 h 59"/>
                <a:gd name="T32" fmla="*/ 19 w 38"/>
                <a:gd name="T33" fmla="*/ 32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59">
                  <a:moveTo>
                    <a:pt x="19" y="32"/>
                  </a:moveTo>
                  <a:cubicBezTo>
                    <a:pt x="18" y="31"/>
                    <a:pt x="18" y="31"/>
                    <a:pt x="18" y="30"/>
                  </a:cubicBezTo>
                  <a:cubicBezTo>
                    <a:pt x="18" y="30"/>
                    <a:pt x="18" y="30"/>
                    <a:pt x="18" y="30"/>
                  </a:cubicBezTo>
                  <a:cubicBezTo>
                    <a:pt x="18" y="29"/>
                    <a:pt x="18" y="28"/>
                    <a:pt x="19" y="28"/>
                  </a:cubicBezTo>
                  <a:cubicBezTo>
                    <a:pt x="37" y="11"/>
                    <a:pt x="37" y="11"/>
                    <a:pt x="37" y="11"/>
                  </a:cubicBezTo>
                  <a:cubicBezTo>
                    <a:pt x="38" y="10"/>
                    <a:pt x="38" y="8"/>
                    <a:pt x="37" y="7"/>
                  </a:cubicBezTo>
                  <a:cubicBezTo>
                    <a:pt x="31" y="1"/>
                    <a:pt x="31" y="1"/>
                    <a:pt x="31" y="1"/>
                  </a:cubicBezTo>
                  <a:cubicBezTo>
                    <a:pt x="30" y="0"/>
                    <a:pt x="28" y="0"/>
                    <a:pt x="27" y="1"/>
                  </a:cubicBezTo>
                  <a:cubicBezTo>
                    <a:pt x="9" y="20"/>
                    <a:pt x="9" y="20"/>
                    <a:pt x="9" y="20"/>
                  </a:cubicBezTo>
                  <a:cubicBezTo>
                    <a:pt x="1" y="28"/>
                    <a:pt x="1" y="28"/>
                    <a:pt x="1" y="28"/>
                  </a:cubicBezTo>
                  <a:cubicBezTo>
                    <a:pt x="0" y="29"/>
                    <a:pt x="0" y="31"/>
                    <a:pt x="1" y="32"/>
                  </a:cubicBezTo>
                  <a:cubicBezTo>
                    <a:pt x="9" y="39"/>
                    <a:pt x="9" y="39"/>
                    <a:pt x="9" y="39"/>
                  </a:cubicBezTo>
                  <a:cubicBezTo>
                    <a:pt x="27" y="58"/>
                    <a:pt x="27" y="58"/>
                    <a:pt x="27" y="58"/>
                  </a:cubicBezTo>
                  <a:cubicBezTo>
                    <a:pt x="28" y="59"/>
                    <a:pt x="30" y="59"/>
                    <a:pt x="31" y="58"/>
                  </a:cubicBezTo>
                  <a:cubicBezTo>
                    <a:pt x="37" y="53"/>
                    <a:pt x="37" y="53"/>
                    <a:pt x="37" y="53"/>
                  </a:cubicBezTo>
                  <a:cubicBezTo>
                    <a:pt x="38" y="52"/>
                    <a:pt x="38" y="50"/>
                    <a:pt x="37" y="49"/>
                  </a:cubicBezTo>
                  <a:lnTo>
                    <a:pt x="19"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6" name="Freeform 23">
              <a:extLst>
                <a:ext uri="{FF2B5EF4-FFF2-40B4-BE49-F238E27FC236}">
                  <a16:creationId xmlns:a16="http://schemas.microsoft.com/office/drawing/2014/main" id="{5F2E34A2-211E-4B0D-B5FC-89582673FCD4}"/>
                </a:ext>
              </a:extLst>
            </p:cNvPr>
            <p:cNvSpPr>
              <a:spLocks/>
            </p:cNvSpPr>
            <p:nvPr/>
          </p:nvSpPr>
          <p:spPr bwMode="auto">
            <a:xfrm>
              <a:off x="4400550" y="1131888"/>
              <a:ext cx="258763" cy="403225"/>
            </a:xfrm>
            <a:custGeom>
              <a:avLst/>
              <a:gdLst>
                <a:gd name="T0" fmla="*/ 37 w 38"/>
                <a:gd name="T1" fmla="*/ 49 h 59"/>
                <a:gd name="T2" fmla="*/ 18 w 38"/>
                <a:gd name="T3" fmla="*/ 32 h 59"/>
                <a:gd name="T4" fmla="*/ 18 w 38"/>
                <a:gd name="T5" fmla="*/ 30 h 59"/>
                <a:gd name="T6" fmla="*/ 18 w 38"/>
                <a:gd name="T7" fmla="*/ 30 h 59"/>
                <a:gd name="T8" fmla="*/ 18 w 38"/>
                <a:gd name="T9" fmla="*/ 28 h 59"/>
                <a:gd name="T10" fmla="*/ 37 w 38"/>
                <a:gd name="T11" fmla="*/ 11 h 59"/>
                <a:gd name="T12" fmla="*/ 37 w 38"/>
                <a:gd name="T13" fmla="*/ 7 h 59"/>
                <a:gd name="T14" fmla="*/ 31 w 38"/>
                <a:gd name="T15" fmla="*/ 1 h 59"/>
                <a:gd name="T16" fmla="*/ 27 w 38"/>
                <a:gd name="T17" fmla="*/ 1 h 59"/>
                <a:gd name="T18" fmla="*/ 8 w 38"/>
                <a:gd name="T19" fmla="*/ 20 h 59"/>
                <a:gd name="T20" fmla="*/ 1 w 38"/>
                <a:gd name="T21" fmla="*/ 28 h 59"/>
                <a:gd name="T22" fmla="*/ 1 w 38"/>
                <a:gd name="T23" fmla="*/ 32 h 59"/>
                <a:gd name="T24" fmla="*/ 8 w 38"/>
                <a:gd name="T25" fmla="*/ 39 h 59"/>
                <a:gd name="T26" fmla="*/ 27 w 38"/>
                <a:gd name="T27" fmla="*/ 58 h 59"/>
                <a:gd name="T28" fmla="*/ 31 w 38"/>
                <a:gd name="T29" fmla="*/ 58 h 59"/>
                <a:gd name="T30" fmla="*/ 37 w 38"/>
                <a:gd name="T31" fmla="*/ 53 h 59"/>
                <a:gd name="T32" fmla="*/ 37 w 38"/>
                <a:gd name="T33" fmla="*/ 4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59">
                  <a:moveTo>
                    <a:pt x="37" y="49"/>
                  </a:moveTo>
                  <a:cubicBezTo>
                    <a:pt x="18" y="32"/>
                    <a:pt x="18" y="32"/>
                    <a:pt x="18" y="32"/>
                  </a:cubicBezTo>
                  <a:cubicBezTo>
                    <a:pt x="18" y="31"/>
                    <a:pt x="18" y="31"/>
                    <a:pt x="18" y="30"/>
                  </a:cubicBezTo>
                  <a:cubicBezTo>
                    <a:pt x="18" y="30"/>
                    <a:pt x="18" y="30"/>
                    <a:pt x="18" y="30"/>
                  </a:cubicBezTo>
                  <a:cubicBezTo>
                    <a:pt x="18" y="29"/>
                    <a:pt x="18" y="28"/>
                    <a:pt x="18" y="28"/>
                  </a:cubicBezTo>
                  <a:cubicBezTo>
                    <a:pt x="37" y="11"/>
                    <a:pt x="37" y="11"/>
                    <a:pt x="37" y="11"/>
                  </a:cubicBezTo>
                  <a:cubicBezTo>
                    <a:pt x="38" y="10"/>
                    <a:pt x="38" y="8"/>
                    <a:pt x="37" y="7"/>
                  </a:cubicBezTo>
                  <a:cubicBezTo>
                    <a:pt x="31" y="1"/>
                    <a:pt x="31" y="1"/>
                    <a:pt x="31" y="1"/>
                  </a:cubicBezTo>
                  <a:cubicBezTo>
                    <a:pt x="30" y="0"/>
                    <a:pt x="28" y="0"/>
                    <a:pt x="27" y="1"/>
                  </a:cubicBezTo>
                  <a:cubicBezTo>
                    <a:pt x="8" y="20"/>
                    <a:pt x="8" y="20"/>
                    <a:pt x="8" y="20"/>
                  </a:cubicBezTo>
                  <a:cubicBezTo>
                    <a:pt x="1" y="28"/>
                    <a:pt x="1" y="28"/>
                    <a:pt x="1" y="28"/>
                  </a:cubicBezTo>
                  <a:cubicBezTo>
                    <a:pt x="0" y="29"/>
                    <a:pt x="0" y="31"/>
                    <a:pt x="1" y="32"/>
                  </a:cubicBezTo>
                  <a:cubicBezTo>
                    <a:pt x="8" y="39"/>
                    <a:pt x="8" y="39"/>
                    <a:pt x="8" y="39"/>
                  </a:cubicBezTo>
                  <a:cubicBezTo>
                    <a:pt x="27" y="58"/>
                    <a:pt x="27" y="58"/>
                    <a:pt x="27" y="58"/>
                  </a:cubicBezTo>
                  <a:cubicBezTo>
                    <a:pt x="28" y="59"/>
                    <a:pt x="30" y="59"/>
                    <a:pt x="31" y="58"/>
                  </a:cubicBezTo>
                  <a:cubicBezTo>
                    <a:pt x="37" y="53"/>
                    <a:pt x="37" y="53"/>
                    <a:pt x="37" y="53"/>
                  </a:cubicBezTo>
                  <a:cubicBezTo>
                    <a:pt x="38" y="52"/>
                    <a:pt x="38" y="50"/>
                    <a:pt x="37"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7" name="Group 136">
            <a:extLst>
              <a:ext uri="{FF2B5EF4-FFF2-40B4-BE49-F238E27FC236}">
                <a16:creationId xmlns:a16="http://schemas.microsoft.com/office/drawing/2014/main" id="{33EE83B1-9F15-4CF7-8D3B-19C0BD3D583B}"/>
              </a:ext>
            </a:extLst>
          </p:cNvPr>
          <p:cNvGrpSpPr>
            <a:grpSpLocks noChangeAspect="1"/>
          </p:cNvGrpSpPr>
          <p:nvPr/>
        </p:nvGrpSpPr>
        <p:grpSpPr>
          <a:xfrm>
            <a:off x="6285609" y="5443023"/>
            <a:ext cx="202551" cy="274320"/>
            <a:chOff x="5708650" y="1063625"/>
            <a:chExt cx="403225" cy="546101"/>
          </a:xfrm>
          <a:solidFill>
            <a:srgbClr val="595555"/>
          </a:solidFill>
        </p:grpSpPr>
        <p:sp>
          <p:nvSpPr>
            <p:cNvPr id="138" name="Freeform 24">
              <a:extLst>
                <a:ext uri="{FF2B5EF4-FFF2-40B4-BE49-F238E27FC236}">
                  <a16:creationId xmlns:a16="http://schemas.microsoft.com/office/drawing/2014/main" id="{F222632E-2480-4AB7-B916-8AB979113AEE}"/>
                </a:ext>
              </a:extLst>
            </p:cNvPr>
            <p:cNvSpPr>
              <a:spLocks/>
            </p:cNvSpPr>
            <p:nvPr/>
          </p:nvSpPr>
          <p:spPr bwMode="auto">
            <a:xfrm>
              <a:off x="5708650" y="1350963"/>
              <a:ext cx="403225" cy="258763"/>
            </a:xfrm>
            <a:custGeom>
              <a:avLst/>
              <a:gdLst>
                <a:gd name="T0" fmla="*/ 52 w 59"/>
                <a:gd name="T1" fmla="*/ 1 h 38"/>
                <a:gd name="T2" fmla="*/ 49 w 59"/>
                <a:gd name="T3" fmla="*/ 1 h 38"/>
                <a:gd name="T4" fmla="*/ 32 w 59"/>
                <a:gd name="T5" fmla="*/ 20 h 38"/>
                <a:gd name="T6" fmla="*/ 30 w 59"/>
                <a:gd name="T7" fmla="*/ 20 h 38"/>
                <a:gd name="T8" fmla="*/ 29 w 59"/>
                <a:gd name="T9" fmla="*/ 20 h 38"/>
                <a:gd name="T10" fmla="*/ 27 w 59"/>
                <a:gd name="T11" fmla="*/ 20 h 38"/>
                <a:gd name="T12" fmla="*/ 11 w 59"/>
                <a:gd name="T13" fmla="*/ 1 h 38"/>
                <a:gd name="T14" fmla="*/ 7 w 59"/>
                <a:gd name="T15" fmla="*/ 1 h 38"/>
                <a:gd name="T16" fmla="*/ 1 w 59"/>
                <a:gd name="T17" fmla="*/ 7 h 38"/>
                <a:gd name="T18" fmla="*/ 1 w 59"/>
                <a:gd name="T19" fmla="*/ 11 h 38"/>
                <a:gd name="T20" fmla="*/ 20 w 59"/>
                <a:gd name="T21" fmla="*/ 30 h 38"/>
                <a:gd name="T22" fmla="*/ 28 w 59"/>
                <a:gd name="T23" fmla="*/ 37 h 38"/>
                <a:gd name="T24" fmla="*/ 31 w 59"/>
                <a:gd name="T25" fmla="*/ 37 h 38"/>
                <a:gd name="T26" fmla="*/ 39 w 59"/>
                <a:gd name="T27" fmla="*/ 30 h 38"/>
                <a:gd name="T28" fmla="*/ 58 w 59"/>
                <a:gd name="T29" fmla="*/ 11 h 38"/>
                <a:gd name="T30" fmla="*/ 58 w 59"/>
                <a:gd name="T31" fmla="*/ 7 h 38"/>
                <a:gd name="T32" fmla="*/ 52 w 59"/>
                <a:gd name="T33"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38">
                  <a:moveTo>
                    <a:pt x="52" y="1"/>
                  </a:moveTo>
                  <a:cubicBezTo>
                    <a:pt x="51" y="0"/>
                    <a:pt x="50" y="0"/>
                    <a:pt x="49" y="1"/>
                  </a:cubicBezTo>
                  <a:cubicBezTo>
                    <a:pt x="32" y="20"/>
                    <a:pt x="32" y="20"/>
                    <a:pt x="32" y="20"/>
                  </a:cubicBezTo>
                  <a:cubicBezTo>
                    <a:pt x="31" y="20"/>
                    <a:pt x="30" y="20"/>
                    <a:pt x="30" y="20"/>
                  </a:cubicBezTo>
                  <a:cubicBezTo>
                    <a:pt x="29" y="20"/>
                    <a:pt x="29" y="20"/>
                    <a:pt x="29" y="20"/>
                  </a:cubicBezTo>
                  <a:cubicBezTo>
                    <a:pt x="29" y="20"/>
                    <a:pt x="28" y="20"/>
                    <a:pt x="27" y="20"/>
                  </a:cubicBezTo>
                  <a:cubicBezTo>
                    <a:pt x="11" y="1"/>
                    <a:pt x="11" y="1"/>
                    <a:pt x="11" y="1"/>
                  </a:cubicBezTo>
                  <a:cubicBezTo>
                    <a:pt x="9" y="0"/>
                    <a:pt x="8" y="0"/>
                    <a:pt x="7" y="1"/>
                  </a:cubicBezTo>
                  <a:cubicBezTo>
                    <a:pt x="1" y="7"/>
                    <a:pt x="1" y="7"/>
                    <a:pt x="1" y="7"/>
                  </a:cubicBezTo>
                  <a:cubicBezTo>
                    <a:pt x="0" y="8"/>
                    <a:pt x="0" y="10"/>
                    <a:pt x="1" y="11"/>
                  </a:cubicBezTo>
                  <a:cubicBezTo>
                    <a:pt x="20" y="30"/>
                    <a:pt x="20" y="30"/>
                    <a:pt x="20" y="30"/>
                  </a:cubicBezTo>
                  <a:cubicBezTo>
                    <a:pt x="28" y="37"/>
                    <a:pt x="28" y="37"/>
                    <a:pt x="28" y="37"/>
                  </a:cubicBezTo>
                  <a:cubicBezTo>
                    <a:pt x="29" y="38"/>
                    <a:pt x="30" y="38"/>
                    <a:pt x="31" y="37"/>
                  </a:cubicBezTo>
                  <a:cubicBezTo>
                    <a:pt x="39" y="30"/>
                    <a:pt x="39" y="30"/>
                    <a:pt x="39" y="30"/>
                  </a:cubicBezTo>
                  <a:cubicBezTo>
                    <a:pt x="58" y="11"/>
                    <a:pt x="58" y="11"/>
                    <a:pt x="58" y="11"/>
                  </a:cubicBezTo>
                  <a:cubicBezTo>
                    <a:pt x="59" y="10"/>
                    <a:pt x="59" y="8"/>
                    <a:pt x="58" y="7"/>
                  </a:cubicBezTo>
                  <a:lnTo>
                    <a:pt x="52"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Freeform 25">
              <a:extLst>
                <a:ext uri="{FF2B5EF4-FFF2-40B4-BE49-F238E27FC236}">
                  <a16:creationId xmlns:a16="http://schemas.microsoft.com/office/drawing/2014/main" id="{FBE9CC93-9F77-4FFA-97EE-E706E20C399D}"/>
                </a:ext>
              </a:extLst>
            </p:cNvPr>
            <p:cNvSpPr>
              <a:spLocks/>
            </p:cNvSpPr>
            <p:nvPr/>
          </p:nvSpPr>
          <p:spPr bwMode="auto">
            <a:xfrm>
              <a:off x="5708650" y="1063625"/>
              <a:ext cx="403225" cy="258763"/>
            </a:xfrm>
            <a:custGeom>
              <a:avLst/>
              <a:gdLst>
                <a:gd name="T0" fmla="*/ 20 w 59"/>
                <a:gd name="T1" fmla="*/ 29 h 38"/>
                <a:gd name="T2" fmla="*/ 28 w 59"/>
                <a:gd name="T3" fmla="*/ 37 h 38"/>
                <a:gd name="T4" fmla="*/ 31 w 59"/>
                <a:gd name="T5" fmla="*/ 37 h 38"/>
                <a:gd name="T6" fmla="*/ 39 w 59"/>
                <a:gd name="T7" fmla="*/ 29 h 38"/>
                <a:gd name="T8" fmla="*/ 58 w 59"/>
                <a:gd name="T9" fmla="*/ 10 h 38"/>
                <a:gd name="T10" fmla="*/ 58 w 59"/>
                <a:gd name="T11" fmla="*/ 6 h 38"/>
                <a:gd name="T12" fmla="*/ 52 w 59"/>
                <a:gd name="T13" fmla="*/ 1 h 38"/>
                <a:gd name="T14" fmla="*/ 49 w 59"/>
                <a:gd name="T15" fmla="*/ 1 h 38"/>
                <a:gd name="T16" fmla="*/ 32 w 59"/>
                <a:gd name="T17" fmla="*/ 19 h 38"/>
                <a:gd name="T18" fmla="*/ 30 w 59"/>
                <a:gd name="T19" fmla="*/ 20 h 38"/>
                <a:gd name="T20" fmla="*/ 29 w 59"/>
                <a:gd name="T21" fmla="*/ 20 h 38"/>
                <a:gd name="T22" fmla="*/ 27 w 59"/>
                <a:gd name="T23" fmla="*/ 19 h 38"/>
                <a:gd name="T24" fmla="*/ 11 w 59"/>
                <a:gd name="T25" fmla="*/ 1 h 38"/>
                <a:gd name="T26" fmla="*/ 7 w 59"/>
                <a:gd name="T27" fmla="*/ 1 h 38"/>
                <a:gd name="T28" fmla="*/ 1 w 59"/>
                <a:gd name="T29" fmla="*/ 6 h 38"/>
                <a:gd name="T30" fmla="*/ 1 w 59"/>
                <a:gd name="T31" fmla="*/ 10 h 38"/>
                <a:gd name="T32" fmla="*/ 20 w 59"/>
                <a:gd name="T33"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38">
                  <a:moveTo>
                    <a:pt x="20" y="29"/>
                  </a:moveTo>
                  <a:cubicBezTo>
                    <a:pt x="28" y="37"/>
                    <a:pt x="28" y="37"/>
                    <a:pt x="28" y="37"/>
                  </a:cubicBezTo>
                  <a:cubicBezTo>
                    <a:pt x="29" y="38"/>
                    <a:pt x="30" y="38"/>
                    <a:pt x="31" y="37"/>
                  </a:cubicBezTo>
                  <a:cubicBezTo>
                    <a:pt x="39" y="29"/>
                    <a:pt x="39" y="29"/>
                    <a:pt x="39" y="29"/>
                  </a:cubicBezTo>
                  <a:cubicBezTo>
                    <a:pt x="58" y="10"/>
                    <a:pt x="58" y="10"/>
                    <a:pt x="58" y="10"/>
                  </a:cubicBezTo>
                  <a:cubicBezTo>
                    <a:pt x="59" y="9"/>
                    <a:pt x="59" y="7"/>
                    <a:pt x="58" y="6"/>
                  </a:cubicBezTo>
                  <a:cubicBezTo>
                    <a:pt x="52" y="1"/>
                    <a:pt x="52" y="1"/>
                    <a:pt x="52" y="1"/>
                  </a:cubicBezTo>
                  <a:cubicBezTo>
                    <a:pt x="51" y="0"/>
                    <a:pt x="50" y="0"/>
                    <a:pt x="49" y="1"/>
                  </a:cubicBezTo>
                  <a:cubicBezTo>
                    <a:pt x="32" y="19"/>
                    <a:pt x="32" y="19"/>
                    <a:pt x="32" y="19"/>
                  </a:cubicBezTo>
                  <a:cubicBezTo>
                    <a:pt x="31" y="19"/>
                    <a:pt x="30" y="20"/>
                    <a:pt x="30" y="20"/>
                  </a:cubicBezTo>
                  <a:cubicBezTo>
                    <a:pt x="29" y="20"/>
                    <a:pt x="29" y="20"/>
                    <a:pt x="29" y="20"/>
                  </a:cubicBezTo>
                  <a:cubicBezTo>
                    <a:pt x="29" y="20"/>
                    <a:pt x="28" y="19"/>
                    <a:pt x="27" y="19"/>
                  </a:cubicBezTo>
                  <a:cubicBezTo>
                    <a:pt x="11" y="1"/>
                    <a:pt x="11" y="1"/>
                    <a:pt x="11" y="1"/>
                  </a:cubicBezTo>
                  <a:cubicBezTo>
                    <a:pt x="9" y="0"/>
                    <a:pt x="8" y="0"/>
                    <a:pt x="7" y="1"/>
                  </a:cubicBezTo>
                  <a:cubicBezTo>
                    <a:pt x="1" y="6"/>
                    <a:pt x="1" y="6"/>
                    <a:pt x="1" y="6"/>
                  </a:cubicBezTo>
                  <a:cubicBezTo>
                    <a:pt x="0" y="7"/>
                    <a:pt x="0" y="9"/>
                    <a:pt x="1" y="10"/>
                  </a:cubicBezTo>
                  <a:lnTo>
                    <a:pt x="20"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0" name="Group 139">
            <a:extLst>
              <a:ext uri="{FF2B5EF4-FFF2-40B4-BE49-F238E27FC236}">
                <a16:creationId xmlns:a16="http://schemas.microsoft.com/office/drawing/2014/main" id="{D2FE028E-0B95-437A-9E40-FC554368008C}"/>
              </a:ext>
            </a:extLst>
          </p:cNvPr>
          <p:cNvGrpSpPr>
            <a:grpSpLocks noChangeAspect="1"/>
          </p:cNvGrpSpPr>
          <p:nvPr/>
        </p:nvGrpSpPr>
        <p:grpSpPr>
          <a:xfrm>
            <a:off x="7206290" y="5435367"/>
            <a:ext cx="200220" cy="274320"/>
            <a:chOff x="6472238" y="1057275"/>
            <a:chExt cx="403225" cy="552451"/>
          </a:xfrm>
          <a:solidFill>
            <a:srgbClr val="595555"/>
          </a:solidFill>
        </p:grpSpPr>
        <p:sp>
          <p:nvSpPr>
            <p:cNvPr id="141" name="Freeform 26">
              <a:extLst>
                <a:ext uri="{FF2B5EF4-FFF2-40B4-BE49-F238E27FC236}">
                  <a16:creationId xmlns:a16="http://schemas.microsoft.com/office/drawing/2014/main" id="{BDC76627-C50B-4965-94DD-B5B99FF196E5}"/>
                </a:ext>
              </a:extLst>
            </p:cNvPr>
            <p:cNvSpPr>
              <a:spLocks/>
            </p:cNvSpPr>
            <p:nvPr/>
          </p:nvSpPr>
          <p:spPr bwMode="auto">
            <a:xfrm>
              <a:off x="6472238" y="1057275"/>
              <a:ext cx="403225" cy="258763"/>
            </a:xfrm>
            <a:custGeom>
              <a:avLst/>
              <a:gdLst>
                <a:gd name="T0" fmla="*/ 7 w 59"/>
                <a:gd name="T1" fmla="*/ 37 h 38"/>
                <a:gd name="T2" fmla="*/ 11 w 59"/>
                <a:gd name="T3" fmla="*/ 37 h 38"/>
                <a:gd name="T4" fmla="*/ 27 w 59"/>
                <a:gd name="T5" fmla="*/ 19 h 38"/>
                <a:gd name="T6" fmla="*/ 29 w 59"/>
                <a:gd name="T7" fmla="*/ 18 h 38"/>
                <a:gd name="T8" fmla="*/ 30 w 59"/>
                <a:gd name="T9" fmla="*/ 18 h 38"/>
                <a:gd name="T10" fmla="*/ 32 w 59"/>
                <a:gd name="T11" fmla="*/ 19 h 38"/>
                <a:gd name="T12" fmla="*/ 49 w 59"/>
                <a:gd name="T13" fmla="*/ 37 h 38"/>
                <a:gd name="T14" fmla="*/ 52 w 59"/>
                <a:gd name="T15" fmla="*/ 37 h 38"/>
                <a:gd name="T16" fmla="*/ 58 w 59"/>
                <a:gd name="T17" fmla="*/ 31 h 38"/>
                <a:gd name="T18" fmla="*/ 58 w 59"/>
                <a:gd name="T19" fmla="*/ 28 h 38"/>
                <a:gd name="T20" fmla="*/ 39 w 59"/>
                <a:gd name="T21" fmla="*/ 9 h 38"/>
                <a:gd name="T22" fmla="*/ 31 w 59"/>
                <a:gd name="T23" fmla="*/ 1 h 38"/>
                <a:gd name="T24" fmla="*/ 28 w 59"/>
                <a:gd name="T25" fmla="*/ 1 h 38"/>
                <a:gd name="T26" fmla="*/ 20 w 59"/>
                <a:gd name="T27" fmla="*/ 9 h 38"/>
                <a:gd name="T28" fmla="*/ 1 w 59"/>
                <a:gd name="T29" fmla="*/ 28 h 38"/>
                <a:gd name="T30" fmla="*/ 1 w 59"/>
                <a:gd name="T31" fmla="*/ 31 h 38"/>
                <a:gd name="T32" fmla="*/ 7 w 59"/>
                <a:gd name="T33"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38">
                  <a:moveTo>
                    <a:pt x="7" y="37"/>
                  </a:moveTo>
                  <a:cubicBezTo>
                    <a:pt x="8" y="38"/>
                    <a:pt x="9" y="38"/>
                    <a:pt x="11" y="37"/>
                  </a:cubicBezTo>
                  <a:cubicBezTo>
                    <a:pt x="27" y="19"/>
                    <a:pt x="27" y="19"/>
                    <a:pt x="27" y="19"/>
                  </a:cubicBezTo>
                  <a:cubicBezTo>
                    <a:pt x="28" y="18"/>
                    <a:pt x="29" y="18"/>
                    <a:pt x="29" y="18"/>
                  </a:cubicBezTo>
                  <a:cubicBezTo>
                    <a:pt x="30" y="18"/>
                    <a:pt x="30" y="18"/>
                    <a:pt x="30" y="18"/>
                  </a:cubicBezTo>
                  <a:cubicBezTo>
                    <a:pt x="30" y="18"/>
                    <a:pt x="31" y="18"/>
                    <a:pt x="32" y="19"/>
                  </a:cubicBezTo>
                  <a:cubicBezTo>
                    <a:pt x="49" y="37"/>
                    <a:pt x="49" y="37"/>
                    <a:pt x="49" y="37"/>
                  </a:cubicBezTo>
                  <a:cubicBezTo>
                    <a:pt x="50" y="38"/>
                    <a:pt x="51" y="38"/>
                    <a:pt x="52" y="37"/>
                  </a:cubicBezTo>
                  <a:cubicBezTo>
                    <a:pt x="58" y="31"/>
                    <a:pt x="58" y="31"/>
                    <a:pt x="58" y="31"/>
                  </a:cubicBezTo>
                  <a:cubicBezTo>
                    <a:pt x="59" y="30"/>
                    <a:pt x="59" y="29"/>
                    <a:pt x="58" y="28"/>
                  </a:cubicBezTo>
                  <a:cubicBezTo>
                    <a:pt x="39" y="9"/>
                    <a:pt x="39" y="9"/>
                    <a:pt x="39" y="9"/>
                  </a:cubicBezTo>
                  <a:cubicBezTo>
                    <a:pt x="31" y="1"/>
                    <a:pt x="31" y="1"/>
                    <a:pt x="31" y="1"/>
                  </a:cubicBezTo>
                  <a:cubicBezTo>
                    <a:pt x="30" y="0"/>
                    <a:pt x="29" y="0"/>
                    <a:pt x="28" y="1"/>
                  </a:cubicBezTo>
                  <a:cubicBezTo>
                    <a:pt x="20" y="9"/>
                    <a:pt x="20" y="9"/>
                    <a:pt x="20" y="9"/>
                  </a:cubicBezTo>
                  <a:cubicBezTo>
                    <a:pt x="1" y="28"/>
                    <a:pt x="1" y="28"/>
                    <a:pt x="1" y="28"/>
                  </a:cubicBezTo>
                  <a:cubicBezTo>
                    <a:pt x="0" y="29"/>
                    <a:pt x="0" y="30"/>
                    <a:pt x="1" y="31"/>
                  </a:cubicBezTo>
                  <a:lnTo>
                    <a:pt x="7"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2" name="Freeform 27">
              <a:extLst>
                <a:ext uri="{FF2B5EF4-FFF2-40B4-BE49-F238E27FC236}">
                  <a16:creationId xmlns:a16="http://schemas.microsoft.com/office/drawing/2014/main" id="{A6A8AA96-7FAC-4F26-90F6-E5CA5092C15E}"/>
                </a:ext>
              </a:extLst>
            </p:cNvPr>
            <p:cNvSpPr>
              <a:spLocks/>
            </p:cNvSpPr>
            <p:nvPr/>
          </p:nvSpPr>
          <p:spPr bwMode="auto">
            <a:xfrm>
              <a:off x="6472238" y="1350963"/>
              <a:ext cx="403225" cy="258763"/>
            </a:xfrm>
            <a:custGeom>
              <a:avLst/>
              <a:gdLst>
                <a:gd name="T0" fmla="*/ 39 w 59"/>
                <a:gd name="T1" fmla="*/ 9 h 38"/>
                <a:gd name="T2" fmla="*/ 31 w 59"/>
                <a:gd name="T3" fmla="*/ 1 h 38"/>
                <a:gd name="T4" fmla="*/ 28 w 59"/>
                <a:gd name="T5" fmla="*/ 1 h 38"/>
                <a:gd name="T6" fmla="*/ 20 w 59"/>
                <a:gd name="T7" fmla="*/ 9 h 38"/>
                <a:gd name="T8" fmla="*/ 1 w 59"/>
                <a:gd name="T9" fmla="*/ 27 h 38"/>
                <a:gd name="T10" fmla="*/ 1 w 59"/>
                <a:gd name="T11" fmla="*/ 31 h 38"/>
                <a:gd name="T12" fmla="*/ 7 w 59"/>
                <a:gd name="T13" fmla="*/ 37 h 38"/>
                <a:gd name="T14" fmla="*/ 11 w 59"/>
                <a:gd name="T15" fmla="*/ 37 h 38"/>
                <a:gd name="T16" fmla="*/ 27 w 59"/>
                <a:gd name="T17" fmla="*/ 19 h 38"/>
                <a:gd name="T18" fmla="*/ 29 w 59"/>
                <a:gd name="T19" fmla="*/ 18 h 38"/>
                <a:gd name="T20" fmla="*/ 30 w 59"/>
                <a:gd name="T21" fmla="*/ 18 h 38"/>
                <a:gd name="T22" fmla="*/ 32 w 59"/>
                <a:gd name="T23" fmla="*/ 19 h 38"/>
                <a:gd name="T24" fmla="*/ 49 w 59"/>
                <a:gd name="T25" fmla="*/ 37 h 38"/>
                <a:gd name="T26" fmla="*/ 52 w 59"/>
                <a:gd name="T27" fmla="*/ 37 h 38"/>
                <a:gd name="T28" fmla="*/ 58 w 59"/>
                <a:gd name="T29" fmla="*/ 31 h 38"/>
                <a:gd name="T30" fmla="*/ 58 w 59"/>
                <a:gd name="T31" fmla="*/ 27 h 38"/>
                <a:gd name="T32" fmla="*/ 39 w 59"/>
                <a:gd name="T33" fmla="*/ 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38">
                  <a:moveTo>
                    <a:pt x="39" y="9"/>
                  </a:moveTo>
                  <a:cubicBezTo>
                    <a:pt x="31" y="1"/>
                    <a:pt x="31" y="1"/>
                    <a:pt x="31" y="1"/>
                  </a:cubicBezTo>
                  <a:cubicBezTo>
                    <a:pt x="30" y="0"/>
                    <a:pt x="29" y="0"/>
                    <a:pt x="28" y="1"/>
                  </a:cubicBezTo>
                  <a:cubicBezTo>
                    <a:pt x="20" y="9"/>
                    <a:pt x="20" y="9"/>
                    <a:pt x="20" y="9"/>
                  </a:cubicBezTo>
                  <a:cubicBezTo>
                    <a:pt x="1" y="27"/>
                    <a:pt x="1" y="27"/>
                    <a:pt x="1" y="27"/>
                  </a:cubicBezTo>
                  <a:cubicBezTo>
                    <a:pt x="0" y="28"/>
                    <a:pt x="0" y="30"/>
                    <a:pt x="1" y="31"/>
                  </a:cubicBezTo>
                  <a:cubicBezTo>
                    <a:pt x="7" y="37"/>
                    <a:pt x="7" y="37"/>
                    <a:pt x="7" y="37"/>
                  </a:cubicBezTo>
                  <a:cubicBezTo>
                    <a:pt x="8" y="38"/>
                    <a:pt x="9" y="38"/>
                    <a:pt x="11" y="37"/>
                  </a:cubicBezTo>
                  <a:cubicBezTo>
                    <a:pt x="27" y="19"/>
                    <a:pt x="27" y="19"/>
                    <a:pt x="27" y="19"/>
                  </a:cubicBezTo>
                  <a:cubicBezTo>
                    <a:pt x="28" y="18"/>
                    <a:pt x="29" y="18"/>
                    <a:pt x="29" y="18"/>
                  </a:cubicBezTo>
                  <a:cubicBezTo>
                    <a:pt x="30" y="18"/>
                    <a:pt x="30" y="18"/>
                    <a:pt x="30" y="18"/>
                  </a:cubicBezTo>
                  <a:cubicBezTo>
                    <a:pt x="30" y="18"/>
                    <a:pt x="31" y="18"/>
                    <a:pt x="32" y="19"/>
                  </a:cubicBezTo>
                  <a:cubicBezTo>
                    <a:pt x="49" y="37"/>
                    <a:pt x="49" y="37"/>
                    <a:pt x="49" y="37"/>
                  </a:cubicBezTo>
                  <a:cubicBezTo>
                    <a:pt x="50" y="38"/>
                    <a:pt x="51" y="38"/>
                    <a:pt x="52" y="37"/>
                  </a:cubicBezTo>
                  <a:cubicBezTo>
                    <a:pt x="58" y="31"/>
                    <a:pt x="58" y="31"/>
                    <a:pt x="58" y="31"/>
                  </a:cubicBezTo>
                  <a:cubicBezTo>
                    <a:pt x="59" y="30"/>
                    <a:pt x="59" y="28"/>
                    <a:pt x="58" y="27"/>
                  </a:cubicBezTo>
                  <a:lnTo>
                    <a:pt x="3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3" name="Group 142">
            <a:extLst>
              <a:ext uri="{FF2B5EF4-FFF2-40B4-BE49-F238E27FC236}">
                <a16:creationId xmlns:a16="http://schemas.microsoft.com/office/drawing/2014/main" id="{43055E5C-72E9-4B35-9E41-2A59CC6E7900}"/>
              </a:ext>
            </a:extLst>
          </p:cNvPr>
          <p:cNvGrpSpPr>
            <a:grpSpLocks noChangeAspect="1"/>
          </p:cNvGrpSpPr>
          <p:nvPr/>
        </p:nvGrpSpPr>
        <p:grpSpPr>
          <a:xfrm>
            <a:off x="5274967" y="5525330"/>
            <a:ext cx="375840" cy="274320"/>
            <a:chOff x="4870450" y="1131888"/>
            <a:chExt cx="552451" cy="403225"/>
          </a:xfrm>
          <a:solidFill>
            <a:srgbClr val="595555"/>
          </a:solidFill>
        </p:grpSpPr>
        <p:sp>
          <p:nvSpPr>
            <p:cNvPr id="144" name="Freeform 28">
              <a:extLst>
                <a:ext uri="{FF2B5EF4-FFF2-40B4-BE49-F238E27FC236}">
                  <a16:creationId xmlns:a16="http://schemas.microsoft.com/office/drawing/2014/main" id="{27C80EDC-2FB1-4581-9D67-B7FB6D3F6EFE}"/>
                </a:ext>
              </a:extLst>
            </p:cNvPr>
            <p:cNvSpPr>
              <a:spLocks/>
            </p:cNvSpPr>
            <p:nvPr/>
          </p:nvSpPr>
          <p:spPr bwMode="auto">
            <a:xfrm>
              <a:off x="5164138" y="1131888"/>
              <a:ext cx="258763" cy="403225"/>
            </a:xfrm>
            <a:custGeom>
              <a:avLst/>
              <a:gdLst>
                <a:gd name="T0" fmla="*/ 37 w 38"/>
                <a:gd name="T1" fmla="*/ 28 h 59"/>
                <a:gd name="T2" fmla="*/ 29 w 38"/>
                <a:gd name="T3" fmla="*/ 20 h 59"/>
                <a:gd name="T4" fmla="*/ 11 w 38"/>
                <a:gd name="T5" fmla="*/ 1 h 59"/>
                <a:gd name="T6" fmla="*/ 7 w 38"/>
                <a:gd name="T7" fmla="*/ 1 h 59"/>
                <a:gd name="T8" fmla="*/ 1 w 38"/>
                <a:gd name="T9" fmla="*/ 7 h 59"/>
                <a:gd name="T10" fmla="*/ 1 w 38"/>
                <a:gd name="T11" fmla="*/ 11 h 59"/>
                <a:gd name="T12" fmla="*/ 19 w 38"/>
                <a:gd name="T13" fmla="*/ 28 h 59"/>
                <a:gd name="T14" fmla="*/ 20 w 38"/>
                <a:gd name="T15" fmla="*/ 30 h 59"/>
                <a:gd name="T16" fmla="*/ 20 w 38"/>
                <a:gd name="T17" fmla="*/ 30 h 59"/>
                <a:gd name="T18" fmla="*/ 19 w 38"/>
                <a:gd name="T19" fmla="*/ 32 h 59"/>
                <a:gd name="T20" fmla="*/ 1 w 38"/>
                <a:gd name="T21" fmla="*/ 49 h 59"/>
                <a:gd name="T22" fmla="*/ 1 w 38"/>
                <a:gd name="T23" fmla="*/ 53 h 59"/>
                <a:gd name="T24" fmla="*/ 7 w 38"/>
                <a:gd name="T25" fmla="*/ 58 h 59"/>
                <a:gd name="T26" fmla="*/ 11 w 38"/>
                <a:gd name="T27" fmla="*/ 58 h 59"/>
                <a:gd name="T28" fmla="*/ 29 w 38"/>
                <a:gd name="T29" fmla="*/ 39 h 59"/>
                <a:gd name="T30" fmla="*/ 37 w 38"/>
                <a:gd name="T31" fmla="*/ 32 h 59"/>
                <a:gd name="T32" fmla="*/ 37 w 38"/>
                <a:gd name="T33" fmla="*/ 28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59">
                  <a:moveTo>
                    <a:pt x="37" y="28"/>
                  </a:moveTo>
                  <a:cubicBezTo>
                    <a:pt x="29" y="20"/>
                    <a:pt x="29" y="20"/>
                    <a:pt x="29" y="20"/>
                  </a:cubicBezTo>
                  <a:cubicBezTo>
                    <a:pt x="11" y="1"/>
                    <a:pt x="11" y="1"/>
                    <a:pt x="11" y="1"/>
                  </a:cubicBezTo>
                  <a:cubicBezTo>
                    <a:pt x="10" y="0"/>
                    <a:pt x="8" y="0"/>
                    <a:pt x="7" y="1"/>
                  </a:cubicBezTo>
                  <a:cubicBezTo>
                    <a:pt x="1" y="7"/>
                    <a:pt x="1" y="7"/>
                    <a:pt x="1" y="7"/>
                  </a:cubicBezTo>
                  <a:cubicBezTo>
                    <a:pt x="0" y="8"/>
                    <a:pt x="0" y="10"/>
                    <a:pt x="1" y="11"/>
                  </a:cubicBezTo>
                  <a:cubicBezTo>
                    <a:pt x="19" y="28"/>
                    <a:pt x="19" y="28"/>
                    <a:pt x="19" y="28"/>
                  </a:cubicBezTo>
                  <a:cubicBezTo>
                    <a:pt x="20" y="28"/>
                    <a:pt x="20" y="29"/>
                    <a:pt x="20" y="30"/>
                  </a:cubicBezTo>
                  <a:cubicBezTo>
                    <a:pt x="20" y="30"/>
                    <a:pt x="20" y="30"/>
                    <a:pt x="20" y="30"/>
                  </a:cubicBezTo>
                  <a:cubicBezTo>
                    <a:pt x="20" y="31"/>
                    <a:pt x="20" y="31"/>
                    <a:pt x="19" y="32"/>
                  </a:cubicBezTo>
                  <a:cubicBezTo>
                    <a:pt x="1" y="49"/>
                    <a:pt x="1" y="49"/>
                    <a:pt x="1" y="49"/>
                  </a:cubicBezTo>
                  <a:cubicBezTo>
                    <a:pt x="0" y="50"/>
                    <a:pt x="0" y="52"/>
                    <a:pt x="1" y="53"/>
                  </a:cubicBezTo>
                  <a:cubicBezTo>
                    <a:pt x="7" y="58"/>
                    <a:pt x="7" y="58"/>
                    <a:pt x="7" y="58"/>
                  </a:cubicBezTo>
                  <a:cubicBezTo>
                    <a:pt x="8" y="59"/>
                    <a:pt x="10" y="59"/>
                    <a:pt x="11" y="58"/>
                  </a:cubicBezTo>
                  <a:cubicBezTo>
                    <a:pt x="29" y="39"/>
                    <a:pt x="29" y="39"/>
                    <a:pt x="29" y="39"/>
                  </a:cubicBezTo>
                  <a:cubicBezTo>
                    <a:pt x="37" y="32"/>
                    <a:pt x="37" y="32"/>
                    <a:pt x="37" y="32"/>
                  </a:cubicBezTo>
                  <a:cubicBezTo>
                    <a:pt x="38" y="31"/>
                    <a:pt x="38" y="29"/>
                    <a:pt x="37"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29">
              <a:extLst>
                <a:ext uri="{FF2B5EF4-FFF2-40B4-BE49-F238E27FC236}">
                  <a16:creationId xmlns:a16="http://schemas.microsoft.com/office/drawing/2014/main" id="{6A180A02-BC92-45B8-9559-77CF9C9D8D51}"/>
                </a:ext>
              </a:extLst>
            </p:cNvPr>
            <p:cNvSpPr>
              <a:spLocks/>
            </p:cNvSpPr>
            <p:nvPr/>
          </p:nvSpPr>
          <p:spPr bwMode="auto">
            <a:xfrm>
              <a:off x="4870450" y="1131888"/>
              <a:ext cx="258763" cy="403225"/>
            </a:xfrm>
            <a:custGeom>
              <a:avLst/>
              <a:gdLst>
                <a:gd name="T0" fmla="*/ 30 w 38"/>
                <a:gd name="T1" fmla="*/ 20 h 59"/>
                <a:gd name="T2" fmla="*/ 11 w 38"/>
                <a:gd name="T3" fmla="*/ 1 h 59"/>
                <a:gd name="T4" fmla="*/ 7 w 38"/>
                <a:gd name="T5" fmla="*/ 1 h 59"/>
                <a:gd name="T6" fmla="*/ 2 w 38"/>
                <a:gd name="T7" fmla="*/ 7 h 59"/>
                <a:gd name="T8" fmla="*/ 2 w 38"/>
                <a:gd name="T9" fmla="*/ 11 h 59"/>
                <a:gd name="T10" fmla="*/ 20 w 38"/>
                <a:gd name="T11" fmla="*/ 28 h 59"/>
                <a:gd name="T12" fmla="*/ 21 w 38"/>
                <a:gd name="T13" fmla="*/ 30 h 59"/>
                <a:gd name="T14" fmla="*/ 21 w 38"/>
                <a:gd name="T15" fmla="*/ 30 h 59"/>
                <a:gd name="T16" fmla="*/ 20 w 38"/>
                <a:gd name="T17" fmla="*/ 32 h 59"/>
                <a:gd name="T18" fmla="*/ 2 w 38"/>
                <a:gd name="T19" fmla="*/ 49 h 59"/>
                <a:gd name="T20" fmla="*/ 2 w 38"/>
                <a:gd name="T21" fmla="*/ 53 h 59"/>
                <a:gd name="T22" fmla="*/ 7 w 38"/>
                <a:gd name="T23" fmla="*/ 58 h 59"/>
                <a:gd name="T24" fmla="*/ 11 w 38"/>
                <a:gd name="T25" fmla="*/ 58 h 59"/>
                <a:gd name="T26" fmla="*/ 30 w 38"/>
                <a:gd name="T27" fmla="*/ 39 h 59"/>
                <a:gd name="T28" fmla="*/ 37 w 38"/>
                <a:gd name="T29" fmla="*/ 32 h 59"/>
                <a:gd name="T30" fmla="*/ 37 w 38"/>
                <a:gd name="T31" fmla="*/ 28 h 59"/>
                <a:gd name="T32" fmla="*/ 30 w 38"/>
                <a:gd name="T3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59">
                  <a:moveTo>
                    <a:pt x="30" y="20"/>
                  </a:moveTo>
                  <a:cubicBezTo>
                    <a:pt x="11" y="1"/>
                    <a:pt x="11" y="1"/>
                    <a:pt x="11" y="1"/>
                  </a:cubicBezTo>
                  <a:cubicBezTo>
                    <a:pt x="10" y="0"/>
                    <a:pt x="8" y="0"/>
                    <a:pt x="7" y="1"/>
                  </a:cubicBezTo>
                  <a:cubicBezTo>
                    <a:pt x="2" y="7"/>
                    <a:pt x="2" y="7"/>
                    <a:pt x="2" y="7"/>
                  </a:cubicBezTo>
                  <a:cubicBezTo>
                    <a:pt x="0" y="8"/>
                    <a:pt x="0" y="10"/>
                    <a:pt x="2" y="11"/>
                  </a:cubicBezTo>
                  <a:cubicBezTo>
                    <a:pt x="20" y="28"/>
                    <a:pt x="20" y="28"/>
                    <a:pt x="20" y="28"/>
                  </a:cubicBezTo>
                  <a:cubicBezTo>
                    <a:pt x="20" y="28"/>
                    <a:pt x="21" y="29"/>
                    <a:pt x="21" y="30"/>
                  </a:cubicBezTo>
                  <a:cubicBezTo>
                    <a:pt x="21" y="30"/>
                    <a:pt x="21" y="30"/>
                    <a:pt x="21" y="30"/>
                  </a:cubicBezTo>
                  <a:cubicBezTo>
                    <a:pt x="21" y="31"/>
                    <a:pt x="20" y="31"/>
                    <a:pt x="20" y="32"/>
                  </a:cubicBezTo>
                  <a:cubicBezTo>
                    <a:pt x="2" y="49"/>
                    <a:pt x="2" y="49"/>
                    <a:pt x="2" y="49"/>
                  </a:cubicBezTo>
                  <a:cubicBezTo>
                    <a:pt x="0" y="50"/>
                    <a:pt x="0" y="52"/>
                    <a:pt x="2" y="53"/>
                  </a:cubicBezTo>
                  <a:cubicBezTo>
                    <a:pt x="7" y="58"/>
                    <a:pt x="7" y="58"/>
                    <a:pt x="7" y="58"/>
                  </a:cubicBezTo>
                  <a:cubicBezTo>
                    <a:pt x="8" y="59"/>
                    <a:pt x="10" y="59"/>
                    <a:pt x="11" y="58"/>
                  </a:cubicBezTo>
                  <a:cubicBezTo>
                    <a:pt x="30" y="39"/>
                    <a:pt x="30" y="39"/>
                    <a:pt x="30" y="39"/>
                  </a:cubicBezTo>
                  <a:cubicBezTo>
                    <a:pt x="37" y="32"/>
                    <a:pt x="37" y="32"/>
                    <a:pt x="37" y="32"/>
                  </a:cubicBezTo>
                  <a:cubicBezTo>
                    <a:pt x="38" y="31"/>
                    <a:pt x="38" y="29"/>
                    <a:pt x="37" y="28"/>
                  </a:cubicBezTo>
                  <a:lnTo>
                    <a:pt x="3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6" name="Freeform 30">
            <a:extLst>
              <a:ext uri="{FF2B5EF4-FFF2-40B4-BE49-F238E27FC236}">
                <a16:creationId xmlns:a16="http://schemas.microsoft.com/office/drawing/2014/main" id="{11303EDF-59C2-4376-9BCD-BD233710CDB2}"/>
              </a:ext>
            </a:extLst>
          </p:cNvPr>
          <p:cNvSpPr>
            <a:spLocks noChangeAspect="1"/>
          </p:cNvSpPr>
          <p:nvPr/>
        </p:nvSpPr>
        <p:spPr bwMode="auto">
          <a:xfrm>
            <a:off x="1617129" y="5435367"/>
            <a:ext cx="256977" cy="274320"/>
          </a:xfrm>
          <a:custGeom>
            <a:avLst/>
            <a:gdLst>
              <a:gd name="T0" fmla="*/ 75 w 76"/>
              <a:gd name="T1" fmla="*/ 27 h 81"/>
              <a:gd name="T2" fmla="*/ 67 w 76"/>
              <a:gd name="T3" fmla="*/ 20 h 81"/>
              <a:gd name="T4" fmla="*/ 49 w 76"/>
              <a:gd name="T5" fmla="*/ 1 h 81"/>
              <a:gd name="T6" fmla="*/ 45 w 76"/>
              <a:gd name="T7" fmla="*/ 1 h 81"/>
              <a:gd name="T8" fmla="*/ 40 w 76"/>
              <a:gd name="T9" fmla="*/ 7 h 81"/>
              <a:gd name="T10" fmla="*/ 40 w 76"/>
              <a:gd name="T11" fmla="*/ 11 h 81"/>
              <a:gd name="T12" fmla="*/ 53 w 76"/>
              <a:gd name="T13" fmla="*/ 23 h 81"/>
              <a:gd name="T14" fmla="*/ 29 w 76"/>
              <a:gd name="T15" fmla="*/ 23 h 81"/>
              <a:gd name="T16" fmla="*/ 25 w 76"/>
              <a:gd name="T17" fmla="*/ 24 h 81"/>
              <a:gd name="T18" fmla="*/ 0 w 76"/>
              <a:gd name="T19" fmla="*/ 52 h 81"/>
              <a:gd name="T20" fmla="*/ 28 w 76"/>
              <a:gd name="T21" fmla="*/ 81 h 81"/>
              <a:gd name="T22" fmla="*/ 50 w 76"/>
              <a:gd name="T23" fmla="*/ 81 h 81"/>
              <a:gd name="T24" fmla="*/ 50 w 76"/>
              <a:gd name="T25" fmla="*/ 81 h 81"/>
              <a:gd name="T26" fmla="*/ 50 w 76"/>
              <a:gd name="T27" fmla="*/ 81 h 81"/>
              <a:gd name="T28" fmla="*/ 60 w 76"/>
              <a:gd name="T29" fmla="*/ 81 h 81"/>
              <a:gd name="T30" fmla="*/ 62 w 76"/>
              <a:gd name="T31" fmla="*/ 78 h 81"/>
              <a:gd name="T32" fmla="*/ 62 w 76"/>
              <a:gd name="T33" fmla="*/ 70 h 81"/>
              <a:gd name="T34" fmla="*/ 60 w 76"/>
              <a:gd name="T35" fmla="*/ 67 h 81"/>
              <a:gd name="T36" fmla="*/ 50 w 76"/>
              <a:gd name="T37" fmla="*/ 67 h 81"/>
              <a:gd name="T38" fmla="*/ 50 w 76"/>
              <a:gd name="T39" fmla="*/ 68 h 81"/>
              <a:gd name="T40" fmla="*/ 50 w 76"/>
              <a:gd name="T41" fmla="*/ 67 h 81"/>
              <a:gd name="T42" fmla="*/ 36 w 76"/>
              <a:gd name="T43" fmla="*/ 67 h 81"/>
              <a:gd name="T44" fmla="*/ 36 w 76"/>
              <a:gd name="T45" fmla="*/ 67 h 81"/>
              <a:gd name="T46" fmla="*/ 32 w 76"/>
              <a:gd name="T47" fmla="*/ 67 h 81"/>
              <a:gd name="T48" fmla="*/ 28 w 76"/>
              <a:gd name="T49" fmla="*/ 67 h 81"/>
              <a:gd name="T50" fmla="*/ 23 w 76"/>
              <a:gd name="T51" fmla="*/ 67 h 81"/>
              <a:gd name="T52" fmla="*/ 17 w 76"/>
              <a:gd name="T53" fmla="*/ 64 h 81"/>
              <a:gd name="T54" fmla="*/ 14 w 76"/>
              <a:gd name="T55" fmla="*/ 60 h 81"/>
              <a:gd name="T56" fmla="*/ 13 w 76"/>
              <a:gd name="T57" fmla="*/ 56 h 81"/>
              <a:gd name="T58" fmla="*/ 13 w 76"/>
              <a:gd name="T59" fmla="*/ 50 h 81"/>
              <a:gd name="T60" fmla="*/ 30 w 76"/>
              <a:gd name="T61" fmla="*/ 35 h 81"/>
              <a:gd name="T62" fmla="*/ 53 w 76"/>
              <a:gd name="T63" fmla="*/ 35 h 81"/>
              <a:gd name="T64" fmla="*/ 40 w 76"/>
              <a:gd name="T65" fmla="*/ 48 h 81"/>
              <a:gd name="T66" fmla="*/ 40 w 76"/>
              <a:gd name="T67" fmla="*/ 51 h 81"/>
              <a:gd name="T68" fmla="*/ 45 w 76"/>
              <a:gd name="T69" fmla="*/ 57 h 81"/>
              <a:gd name="T70" fmla="*/ 49 w 76"/>
              <a:gd name="T71" fmla="*/ 57 h 81"/>
              <a:gd name="T72" fmla="*/ 67 w 76"/>
              <a:gd name="T73" fmla="*/ 38 h 81"/>
              <a:gd name="T74" fmla="*/ 75 w 76"/>
              <a:gd name="T75" fmla="*/ 31 h 81"/>
              <a:gd name="T76" fmla="*/ 75 w 76"/>
              <a:gd name="T77" fmla="*/ 2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6" h="81">
                <a:moveTo>
                  <a:pt x="75" y="27"/>
                </a:moveTo>
                <a:cubicBezTo>
                  <a:pt x="67" y="20"/>
                  <a:pt x="67" y="20"/>
                  <a:pt x="67" y="20"/>
                </a:cubicBezTo>
                <a:cubicBezTo>
                  <a:pt x="49" y="1"/>
                  <a:pt x="49" y="1"/>
                  <a:pt x="49" y="1"/>
                </a:cubicBezTo>
                <a:cubicBezTo>
                  <a:pt x="48" y="0"/>
                  <a:pt x="46" y="0"/>
                  <a:pt x="45" y="1"/>
                </a:cubicBezTo>
                <a:cubicBezTo>
                  <a:pt x="40" y="7"/>
                  <a:pt x="40" y="7"/>
                  <a:pt x="40" y="7"/>
                </a:cubicBezTo>
                <a:cubicBezTo>
                  <a:pt x="39" y="8"/>
                  <a:pt x="39" y="10"/>
                  <a:pt x="40" y="11"/>
                </a:cubicBezTo>
                <a:cubicBezTo>
                  <a:pt x="53" y="23"/>
                  <a:pt x="53" y="23"/>
                  <a:pt x="53" y="23"/>
                </a:cubicBezTo>
                <a:cubicBezTo>
                  <a:pt x="29" y="23"/>
                  <a:pt x="29" y="23"/>
                  <a:pt x="29" y="23"/>
                </a:cubicBezTo>
                <a:cubicBezTo>
                  <a:pt x="25" y="24"/>
                  <a:pt x="25" y="24"/>
                  <a:pt x="25" y="24"/>
                </a:cubicBezTo>
                <a:cubicBezTo>
                  <a:pt x="11" y="26"/>
                  <a:pt x="0" y="37"/>
                  <a:pt x="0" y="52"/>
                </a:cubicBezTo>
                <a:cubicBezTo>
                  <a:pt x="0" y="67"/>
                  <a:pt x="6" y="81"/>
                  <a:pt x="28" y="81"/>
                </a:cubicBezTo>
                <a:cubicBezTo>
                  <a:pt x="50" y="81"/>
                  <a:pt x="50" y="81"/>
                  <a:pt x="50" y="81"/>
                </a:cubicBezTo>
                <a:cubicBezTo>
                  <a:pt x="50" y="81"/>
                  <a:pt x="50" y="81"/>
                  <a:pt x="50" y="81"/>
                </a:cubicBezTo>
                <a:cubicBezTo>
                  <a:pt x="50" y="81"/>
                  <a:pt x="50" y="81"/>
                  <a:pt x="50" y="81"/>
                </a:cubicBezTo>
                <a:cubicBezTo>
                  <a:pt x="60" y="81"/>
                  <a:pt x="60" y="81"/>
                  <a:pt x="60" y="81"/>
                </a:cubicBezTo>
                <a:cubicBezTo>
                  <a:pt x="61" y="81"/>
                  <a:pt x="62" y="80"/>
                  <a:pt x="62" y="78"/>
                </a:cubicBezTo>
                <a:cubicBezTo>
                  <a:pt x="62" y="70"/>
                  <a:pt x="62" y="70"/>
                  <a:pt x="62" y="70"/>
                </a:cubicBezTo>
                <a:cubicBezTo>
                  <a:pt x="62" y="69"/>
                  <a:pt x="61" y="67"/>
                  <a:pt x="60" y="67"/>
                </a:cubicBezTo>
                <a:cubicBezTo>
                  <a:pt x="50" y="67"/>
                  <a:pt x="50" y="67"/>
                  <a:pt x="50" y="67"/>
                </a:cubicBezTo>
                <a:cubicBezTo>
                  <a:pt x="50" y="68"/>
                  <a:pt x="50" y="68"/>
                  <a:pt x="50" y="68"/>
                </a:cubicBezTo>
                <a:cubicBezTo>
                  <a:pt x="50" y="68"/>
                  <a:pt x="50" y="67"/>
                  <a:pt x="50" y="67"/>
                </a:cubicBezTo>
                <a:cubicBezTo>
                  <a:pt x="36" y="67"/>
                  <a:pt x="36" y="67"/>
                  <a:pt x="36" y="67"/>
                </a:cubicBezTo>
                <a:cubicBezTo>
                  <a:pt x="36" y="67"/>
                  <a:pt x="36" y="67"/>
                  <a:pt x="36" y="67"/>
                </a:cubicBezTo>
                <a:cubicBezTo>
                  <a:pt x="35" y="67"/>
                  <a:pt x="33" y="67"/>
                  <a:pt x="32" y="67"/>
                </a:cubicBezTo>
                <a:cubicBezTo>
                  <a:pt x="31" y="67"/>
                  <a:pt x="29" y="67"/>
                  <a:pt x="28" y="67"/>
                </a:cubicBezTo>
                <a:cubicBezTo>
                  <a:pt x="26" y="67"/>
                  <a:pt x="24" y="67"/>
                  <a:pt x="23" y="67"/>
                </a:cubicBezTo>
                <a:cubicBezTo>
                  <a:pt x="21" y="67"/>
                  <a:pt x="19" y="65"/>
                  <a:pt x="17" y="64"/>
                </a:cubicBezTo>
                <a:cubicBezTo>
                  <a:pt x="16" y="63"/>
                  <a:pt x="15" y="62"/>
                  <a:pt x="14" y="60"/>
                </a:cubicBezTo>
                <a:cubicBezTo>
                  <a:pt x="13" y="59"/>
                  <a:pt x="13" y="57"/>
                  <a:pt x="13" y="56"/>
                </a:cubicBezTo>
                <a:cubicBezTo>
                  <a:pt x="12" y="54"/>
                  <a:pt x="12" y="52"/>
                  <a:pt x="13" y="50"/>
                </a:cubicBezTo>
                <a:cubicBezTo>
                  <a:pt x="13" y="42"/>
                  <a:pt x="21" y="35"/>
                  <a:pt x="30" y="35"/>
                </a:cubicBezTo>
                <a:cubicBezTo>
                  <a:pt x="53" y="35"/>
                  <a:pt x="53" y="35"/>
                  <a:pt x="53" y="35"/>
                </a:cubicBezTo>
                <a:cubicBezTo>
                  <a:pt x="40" y="48"/>
                  <a:pt x="40" y="48"/>
                  <a:pt x="40" y="48"/>
                </a:cubicBezTo>
                <a:cubicBezTo>
                  <a:pt x="39" y="49"/>
                  <a:pt x="39" y="50"/>
                  <a:pt x="40" y="51"/>
                </a:cubicBezTo>
                <a:cubicBezTo>
                  <a:pt x="45" y="57"/>
                  <a:pt x="45" y="57"/>
                  <a:pt x="45" y="57"/>
                </a:cubicBezTo>
                <a:cubicBezTo>
                  <a:pt x="46" y="58"/>
                  <a:pt x="48" y="58"/>
                  <a:pt x="49" y="57"/>
                </a:cubicBezTo>
                <a:cubicBezTo>
                  <a:pt x="67" y="38"/>
                  <a:pt x="67" y="38"/>
                  <a:pt x="67" y="38"/>
                </a:cubicBezTo>
                <a:cubicBezTo>
                  <a:pt x="75" y="31"/>
                  <a:pt x="75" y="31"/>
                  <a:pt x="75" y="31"/>
                </a:cubicBezTo>
                <a:cubicBezTo>
                  <a:pt x="76" y="30"/>
                  <a:pt x="76" y="28"/>
                  <a:pt x="75" y="27"/>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7" name="Freeform 31">
            <a:extLst>
              <a:ext uri="{FF2B5EF4-FFF2-40B4-BE49-F238E27FC236}">
                <a16:creationId xmlns:a16="http://schemas.microsoft.com/office/drawing/2014/main" id="{2F11FBFE-8AC0-4E63-899A-43D0C2909204}"/>
              </a:ext>
            </a:extLst>
          </p:cNvPr>
          <p:cNvSpPr>
            <a:spLocks noChangeAspect="1"/>
          </p:cNvSpPr>
          <p:nvPr/>
        </p:nvSpPr>
        <p:spPr bwMode="auto">
          <a:xfrm>
            <a:off x="2512927" y="5450679"/>
            <a:ext cx="288408" cy="274320"/>
          </a:xfrm>
          <a:custGeom>
            <a:avLst/>
            <a:gdLst>
              <a:gd name="T0" fmla="*/ 81 w 81"/>
              <a:gd name="T1" fmla="*/ 51 h 77"/>
              <a:gd name="T2" fmla="*/ 80 w 81"/>
              <a:gd name="T3" fmla="*/ 29 h 77"/>
              <a:gd name="T4" fmla="*/ 52 w 81"/>
              <a:gd name="T5" fmla="*/ 0 h 77"/>
              <a:gd name="T6" fmla="*/ 23 w 81"/>
              <a:gd name="T7" fmla="*/ 26 h 77"/>
              <a:gd name="T8" fmla="*/ 23 w 81"/>
              <a:gd name="T9" fmla="*/ 30 h 77"/>
              <a:gd name="T10" fmla="*/ 23 w 81"/>
              <a:gd name="T11" fmla="*/ 54 h 77"/>
              <a:gd name="T12" fmla="*/ 10 w 81"/>
              <a:gd name="T13" fmla="*/ 41 h 77"/>
              <a:gd name="T14" fmla="*/ 7 w 81"/>
              <a:gd name="T15" fmla="*/ 41 h 77"/>
              <a:gd name="T16" fmla="*/ 1 w 81"/>
              <a:gd name="T17" fmla="*/ 46 h 77"/>
              <a:gd name="T18" fmla="*/ 1 w 81"/>
              <a:gd name="T19" fmla="*/ 50 h 77"/>
              <a:gd name="T20" fmla="*/ 20 w 81"/>
              <a:gd name="T21" fmla="*/ 69 h 77"/>
              <a:gd name="T22" fmla="*/ 27 w 81"/>
              <a:gd name="T23" fmla="*/ 76 h 77"/>
              <a:gd name="T24" fmla="*/ 31 w 81"/>
              <a:gd name="T25" fmla="*/ 76 h 77"/>
              <a:gd name="T26" fmla="*/ 38 w 81"/>
              <a:gd name="T27" fmla="*/ 69 h 77"/>
              <a:gd name="T28" fmla="*/ 56 w 81"/>
              <a:gd name="T29" fmla="*/ 50 h 77"/>
              <a:gd name="T30" fmla="*/ 56 w 81"/>
              <a:gd name="T31" fmla="*/ 46 h 77"/>
              <a:gd name="T32" fmla="*/ 51 w 81"/>
              <a:gd name="T33" fmla="*/ 41 h 77"/>
              <a:gd name="T34" fmla="*/ 47 w 81"/>
              <a:gd name="T35" fmla="*/ 41 h 77"/>
              <a:gd name="T36" fmla="*/ 35 w 81"/>
              <a:gd name="T37" fmla="*/ 54 h 77"/>
              <a:gd name="T38" fmla="*/ 35 w 81"/>
              <a:gd name="T39" fmla="*/ 31 h 77"/>
              <a:gd name="T40" fmla="*/ 50 w 81"/>
              <a:gd name="T41" fmla="*/ 13 h 77"/>
              <a:gd name="T42" fmla="*/ 55 w 81"/>
              <a:gd name="T43" fmla="*/ 13 h 77"/>
              <a:gd name="T44" fmla="*/ 60 w 81"/>
              <a:gd name="T45" fmla="*/ 15 h 77"/>
              <a:gd name="T46" fmla="*/ 64 w 81"/>
              <a:gd name="T47" fmla="*/ 18 h 77"/>
              <a:gd name="T48" fmla="*/ 67 w 81"/>
              <a:gd name="T49" fmla="*/ 23 h 77"/>
              <a:gd name="T50" fmla="*/ 67 w 81"/>
              <a:gd name="T51" fmla="*/ 29 h 77"/>
              <a:gd name="T52" fmla="*/ 67 w 81"/>
              <a:gd name="T53" fmla="*/ 33 h 77"/>
              <a:gd name="T54" fmla="*/ 67 w 81"/>
              <a:gd name="T55" fmla="*/ 36 h 77"/>
              <a:gd name="T56" fmla="*/ 67 w 81"/>
              <a:gd name="T57" fmla="*/ 37 h 77"/>
              <a:gd name="T58" fmla="*/ 67 w 81"/>
              <a:gd name="T59" fmla="*/ 51 h 77"/>
              <a:gd name="T60" fmla="*/ 67 w 81"/>
              <a:gd name="T61" fmla="*/ 60 h 77"/>
              <a:gd name="T62" fmla="*/ 70 w 81"/>
              <a:gd name="T63" fmla="*/ 63 h 77"/>
              <a:gd name="T64" fmla="*/ 78 w 81"/>
              <a:gd name="T65" fmla="*/ 63 h 77"/>
              <a:gd name="T66" fmla="*/ 81 w 81"/>
              <a:gd name="T67" fmla="*/ 60 h 77"/>
              <a:gd name="T68" fmla="*/ 81 w 81"/>
              <a:gd name="T69" fmla="*/ 51 h 77"/>
              <a:gd name="T70" fmla="*/ 81 w 81"/>
              <a:gd name="T71" fmla="*/ 51 h 77"/>
              <a:gd name="T72" fmla="*/ 81 w 81"/>
              <a:gd name="T73" fmla="*/ 5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77">
                <a:moveTo>
                  <a:pt x="81" y="51"/>
                </a:moveTo>
                <a:cubicBezTo>
                  <a:pt x="80" y="29"/>
                  <a:pt x="80" y="29"/>
                  <a:pt x="80" y="29"/>
                </a:cubicBezTo>
                <a:cubicBezTo>
                  <a:pt x="80" y="7"/>
                  <a:pt x="67" y="0"/>
                  <a:pt x="52" y="0"/>
                </a:cubicBezTo>
                <a:cubicBezTo>
                  <a:pt x="37" y="0"/>
                  <a:pt x="25" y="11"/>
                  <a:pt x="23" y="26"/>
                </a:cubicBezTo>
                <a:cubicBezTo>
                  <a:pt x="23" y="30"/>
                  <a:pt x="23" y="30"/>
                  <a:pt x="23" y="30"/>
                </a:cubicBezTo>
                <a:cubicBezTo>
                  <a:pt x="23" y="54"/>
                  <a:pt x="23" y="54"/>
                  <a:pt x="23" y="54"/>
                </a:cubicBezTo>
                <a:cubicBezTo>
                  <a:pt x="10" y="41"/>
                  <a:pt x="10" y="41"/>
                  <a:pt x="10" y="41"/>
                </a:cubicBezTo>
                <a:cubicBezTo>
                  <a:pt x="9" y="40"/>
                  <a:pt x="8" y="40"/>
                  <a:pt x="7" y="41"/>
                </a:cubicBezTo>
                <a:cubicBezTo>
                  <a:pt x="1" y="46"/>
                  <a:pt x="1" y="46"/>
                  <a:pt x="1" y="46"/>
                </a:cubicBezTo>
                <a:cubicBezTo>
                  <a:pt x="0" y="47"/>
                  <a:pt x="0" y="49"/>
                  <a:pt x="1" y="50"/>
                </a:cubicBezTo>
                <a:cubicBezTo>
                  <a:pt x="20" y="69"/>
                  <a:pt x="20" y="69"/>
                  <a:pt x="20" y="69"/>
                </a:cubicBezTo>
                <a:cubicBezTo>
                  <a:pt x="27" y="76"/>
                  <a:pt x="27" y="76"/>
                  <a:pt x="27" y="76"/>
                </a:cubicBezTo>
                <a:cubicBezTo>
                  <a:pt x="28" y="77"/>
                  <a:pt x="30" y="77"/>
                  <a:pt x="31" y="76"/>
                </a:cubicBezTo>
                <a:cubicBezTo>
                  <a:pt x="38" y="69"/>
                  <a:pt x="38" y="69"/>
                  <a:pt x="38" y="69"/>
                </a:cubicBezTo>
                <a:cubicBezTo>
                  <a:pt x="56" y="50"/>
                  <a:pt x="56" y="50"/>
                  <a:pt x="56" y="50"/>
                </a:cubicBezTo>
                <a:cubicBezTo>
                  <a:pt x="57" y="49"/>
                  <a:pt x="57" y="47"/>
                  <a:pt x="56" y="46"/>
                </a:cubicBezTo>
                <a:cubicBezTo>
                  <a:pt x="51" y="41"/>
                  <a:pt x="51" y="41"/>
                  <a:pt x="51" y="41"/>
                </a:cubicBezTo>
                <a:cubicBezTo>
                  <a:pt x="50" y="40"/>
                  <a:pt x="48" y="40"/>
                  <a:pt x="47" y="41"/>
                </a:cubicBezTo>
                <a:cubicBezTo>
                  <a:pt x="35" y="54"/>
                  <a:pt x="35" y="54"/>
                  <a:pt x="35" y="54"/>
                </a:cubicBezTo>
                <a:cubicBezTo>
                  <a:pt x="35" y="31"/>
                  <a:pt x="35" y="31"/>
                  <a:pt x="35" y="31"/>
                </a:cubicBezTo>
                <a:cubicBezTo>
                  <a:pt x="35" y="22"/>
                  <a:pt x="42" y="14"/>
                  <a:pt x="50" y="13"/>
                </a:cubicBezTo>
                <a:cubicBezTo>
                  <a:pt x="52" y="13"/>
                  <a:pt x="54" y="13"/>
                  <a:pt x="55" y="13"/>
                </a:cubicBezTo>
                <a:cubicBezTo>
                  <a:pt x="57" y="14"/>
                  <a:pt x="59" y="14"/>
                  <a:pt x="60" y="15"/>
                </a:cubicBezTo>
                <a:cubicBezTo>
                  <a:pt x="61" y="16"/>
                  <a:pt x="63" y="16"/>
                  <a:pt x="64" y="18"/>
                </a:cubicBezTo>
                <a:cubicBezTo>
                  <a:pt x="65" y="19"/>
                  <a:pt x="66" y="21"/>
                  <a:pt x="67" y="23"/>
                </a:cubicBezTo>
                <a:cubicBezTo>
                  <a:pt x="67" y="25"/>
                  <a:pt x="67" y="27"/>
                  <a:pt x="67" y="29"/>
                </a:cubicBezTo>
                <a:cubicBezTo>
                  <a:pt x="67" y="30"/>
                  <a:pt x="67" y="31"/>
                  <a:pt x="67" y="33"/>
                </a:cubicBezTo>
                <a:cubicBezTo>
                  <a:pt x="67" y="34"/>
                  <a:pt x="67" y="35"/>
                  <a:pt x="67" y="36"/>
                </a:cubicBezTo>
                <a:cubicBezTo>
                  <a:pt x="67" y="37"/>
                  <a:pt x="67" y="37"/>
                  <a:pt x="67" y="37"/>
                </a:cubicBezTo>
                <a:cubicBezTo>
                  <a:pt x="67" y="51"/>
                  <a:pt x="67" y="51"/>
                  <a:pt x="67" y="51"/>
                </a:cubicBezTo>
                <a:cubicBezTo>
                  <a:pt x="67" y="60"/>
                  <a:pt x="67" y="60"/>
                  <a:pt x="67" y="60"/>
                </a:cubicBezTo>
                <a:cubicBezTo>
                  <a:pt x="67" y="62"/>
                  <a:pt x="68" y="63"/>
                  <a:pt x="70" y="63"/>
                </a:cubicBezTo>
                <a:cubicBezTo>
                  <a:pt x="78" y="63"/>
                  <a:pt x="78" y="63"/>
                  <a:pt x="78" y="63"/>
                </a:cubicBezTo>
                <a:cubicBezTo>
                  <a:pt x="79" y="63"/>
                  <a:pt x="81" y="62"/>
                  <a:pt x="81" y="60"/>
                </a:cubicBezTo>
                <a:cubicBezTo>
                  <a:pt x="81" y="51"/>
                  <a:pt x="81" y="51"/>
                  <a:pt x="81" y="51"/>
                </a:cubicBezTo>
                <a:cubicBezTo>
                  <a:pt x="81" y="51"/>
                  <a:pt x="81" y="51"/>
                  <a:pt x="81" y="51"/>
                </a:cubicBezTo>
                <a:cubicBezTo>
                  <a:pt x="81" y="51"/>
                  <a:pt x="81" y="51"/>
                  <a:pt x="81" y="5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8" name="Freeform 32">
            <a:extLst>
              <a:ext uri="{FF2B5EF4-FFF2-40B4-BE49-F238E27FC236}">
                <a16:creationId xmlns:a16="http://schemas.microsoft.com/office/drawing/2014/main" id="{5A0425B4-35A2-4507-847B-6B72F9F8E1DA}"/>
              </a:ext>
            </a:extLst>
          </p:cNvPr>
          <p:cNvSpPr>
            <a:spLocks noChangeAspect="1"/>
          </p:cNvSpPr>
          <p:nvPr/>
        </p:nvSpPr>
        <p:spPr bwMode="auto">
          <a:xfrm>
            <a:off x="3433606" y="5450679"/>
            <a:ext cx="288408" cy="274320"/>
          </a:xfrm>
          <a:custGeom>
            <a:avLst/>
            <a:gdLst>
              <a:gd name="T0" fmla="*/ 78 w 81"/>
              <a:gd name="T1" fmla="*/ 14 h 77"/>
              <a:gd name="T2" fmla="*/ 70 w 81"/>
              <a:gd name="T3" fmla="*/ 14 h 77"/>
              <a:gd name="T4" fmla="*/ 67 w 81"/>
              <a:gd name="T5" fmla="*/ 17 h 77"/>
              <a:gd name="T6" fmla="*/ 67 w 81"/>
              <a:gd name="T7" fmla="*/ 26 h 77"/>
              <a:gd name="T8" fmla="*/ 67 w 81"/>
              <a:gd name="T9" fmla="*/ 40 h 77"/>
              <a:gd name="T10" fmla="*/ 67 w 81"/>
              <a:gd name="T11" fmla="*/ 41 h 77"/>
              <a:gd name="T12" fmla="*/ 67 w 81"/>
              <a:gd name="T13" fmla="*/ 44 h 77"/>
              <a:gd name="T14" fmla="*/ 67 w 81"/>
              <a:gd name="T15" fmla="*/ 49 h 77"/>
              <a:gd name="T16" fmla="*/ 67 w 81"/>
              <a:gd name="T17" fmla="*/ 54 h 77"/>
              <a:gd name="T18" fmla="*/ 64 w 81"/>
              <a:gd name="T19" fmla="*/ 60 h 77"/>
              <a:gd name="T20" fmla="*/ 60 w 81"/>
              <a:gd name="T21" fmla="*/ 62 h 77"/>
              <a:gd name="T22" fmla="*/ 56 w 81"/>
              <a:gd name="T23" fmla="*/ 64 h 77"/>
              <a:gd name="T24" fmla="*/ 50 w 81"/>
              <a:gd name="T25" fmla="*/ 64 h 77"/>
              <a:gd name="T26" fmla="*/ 35 w 81"/>
              <a:gd name="T27" fmla="*/ 47 h 77"/>
              <a:gd name="T28" fmla="*/ 35 w 81"/>
              <a:gd name="T29" fmla="*/ 23 h 77"/>
              <a:gd name="T30" fmla="*/ 47 w 81"/>
              <a:gd name="T31" fmla="*/ 37 h 77"/>
              <a:gd name="T32" fmla="*/ 51 w 81"/>
              <a:gd name="T33" fmla="*/ 37 h 77"/>
              <a:gd name="T34" fmla="*/ 56 w 81"/>
              <a:gd name="T35" fmla="*/ 31 h 77"/>
              <a:gd name="T36" fmla="*/ 56 w 81"/>
              <a:gd name="T37" fmla="*/ 27 h 77"/>
              <a:gd name="T38" fmla="*/ 38 w 81"/>
              <a:gd name="T39" fmla="*/ 9 h 77"/>
              <a:gd name="T40" fmla="*/ 31 w 81"/>
              <a:gd name="T41" fmla="*/ 1 h 77"/>
              <a:gd name="T42" fmla="*/ 27 w 81"/>
              <a:gd name="T43" fmla="*/ 1 h 77"/>
              <a:gd name="T44" fmla="*/ 20 w 81"/>
              <a:gd name="T45" fmla="*/ 9 h 77"/>
              <a:gd name="T46" fmla="*/ 1 w 81"/>
              <a:gd name="T47" fmla="*/ 27 h 77"/>
              <a:gd name="T48" fmla="*/ 1 w 81"/>
              <a:gd name="T49" fmla="*/ 31 h 77"/>
              <a:gd name="T50" fmla="*/ 7 w 81"/>
              <a:gd name="T51" fmla="*/ 37 h 77"/>
              <a:gd name="T52" fmla="*/ 10 w 81"/>
              <a:gd name="T53" fmla="*/ 37 h 77"/>
              <a:gd name="T54" fmla="*/ 23 w 81"/>
              <a:gd name="T55" fmla="*/ 23 h 77"/>
              <a:gd name="T56" fmla="*/ 23 w 81"/>
              <a:gd name="T57" fmla="*/ 47 h 77"/>
              <a:gd name="T58" fmla="*/ 24 w 81"/>
              <a:gd name="T59" fmla="*/ 51 h 77"/>
              <a:gd name="T60" fmla="*/ 52 w 81"/>
              <a:gd name="T61" fmla="*/ 77 h 77"/>
              <a:gd name="T62" fmla="*/ 80 w 81"/>
              <a:gd name="T63" fmla="*/ 48 h 77"/>
              <a:gd name="T64" fmla="*/ 81 w 81"/>
              <a:gd name="T65" fmla="*/ 26 h 77"/>
              <a:gd name="T66" fmla="*/ 81 w 81"/>
              <a:gd name="T67" fmla="*/ 26 h 77"/>
              <a:gd name="T68" fmla="*/ 81 w 81"/>
              <a:gd name="T69" fmla="*/ 26 h 77"/>
              <a:gd name="T70" fmla="*/ 81 w 81"/>
              <a:gd name="T71" fmla="*/ 17 h 77"/>
              <a:gd name="T72" fmla="*/ 78 w 81"/>
              <a:gd name="T73" fmla="*/ 14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1" h="77">
                <a:moveTo>
                  <a:pt x="78" y="14"/>
                </a:moveTo>
                <a:cubicBezTo>
                  <a:pt x="70" y="14"/>
                  <a:pt x="70" y="14"/>
                  <a:pt x="70" y="14"/>
                </a:cubicBezTo>
                <a:cubicBezTo>
                  <a:pt x="68" y="14"/>
                  <a:pt x="67" y="16"/>
                  <a:pt x="67" y="17"/>
                </a:cubicBezTo>
                <a:cubicBezTo>
                  <a:pt x="67" y="26"/>
                  <a:pt x="67" y="26"/>
                  <a:pt x="67" y="26"/>
                </a:cubicBezTo>
                <a:cubicBezTo>
                  <a:pt x="67" y="40"/>
                  <a:pt x="67" y="40"/>
                  <a:pt x="67" y="40"/>
                </a:cubicBezTo>
                <a:cubicBezTo>
                  <a:pt x="67" y="41"/>
                  <a:pt x="67" y="41"/>
                  <a:pt x="67" y="41"/>
                </a:cubicBezTo>
                <a:cubicBezTo>
                  <a:pt x="67" y="42"/>
                  <a:pt x="67" y="43"/>
                  <a:pt x="67" y="44"/>
                </a:cubicBezTo>
                <a:cubicBezTo>
                  <a:pt x="67" y="46"/>
                  <a:pt x="67" y="47"/>
                  <a:pt x="67" y="49"/>
                </a:cubicBezTo>
                <a:cubicBezTo>
                  <a:pt x="67" y="50"/>
                  <a:pt x="67" y="52"/>
                  <a:pt x="67" y="54"/>
                </a:cubicBezTo>
                <a:cubicBezTo>
                  <a:pt x="66" y="56"/>
                  <a:pt x="65" y="58"/>
                  <a:pt x="64" y="60"/>
                </a:cubicBezTo>
                <a:cubicBezTo>
                  <a:pt x="63" y="61"/>
                  <a:pt x="61" y="62"/>
                  <a:pt x="60" y="62"/>
                </a:cubicBezTo>
                <a:cubicBezTo>
                  <a:pt x="59" y="63"/>
                  <a:pt x="57" y="64"/>
                  <a:pt x="56" y="64"/>
                </a:cubicBezTo>
                <a:cubicBezTo>
                  <a:pt x="54" y="64"/>
                  <a:pt x="52" y="64"/>
                  <a:pt x="50" y="64"/>
                </a:cubicBezTo>
                <a:cubicBezTo>
                  <a:pt x="42" y="63"/>
                  <a:pt x="35" y="55"/>
                  <a:pt x="35" y="47"/>
                </a:cubicBezTo>
                <a:cubicBezTo>
                  <a:pt x="35" y="23"/>
                  <a:pt x="35" y="23"/>
                  <a:pt x="35" y="23"/>
                </a:cubicBezTo>
                <a:cubicBezTo>
                  <a:pt x="47" y="37"/>
                  <a:pt x="47" y="37"/>
                  <a:pt x="47" y="37"/>
                </a:cubicBezTo>
                <a:cubicBezTo>
                  <a:pt x="48" y="38"/>
                  <a:pt x="50" y="38"/>
                  <a:pt x="51" y="37"/>
                </a:cubicBezTo>
                <a:cubicBezTo>
                  <a:pt x="56" y="31"/>
                  <a:pt x="56" y="31"/>
                  <a:pt x="56" y="31"/>
                </a:cubicBezTo>
                <a:cubicBezTo>
                  <a:pt x="58" y="30"/>
                  <a:pt x="58" y="28"/>
                  <a:pt x="56" y="27"/>
                </a:cubicBezTo>
                <a:cubicBezTo>
                  <a:pt x="38" y="9"/>
                  <a:pt x="38" y="9"/>
                  <a:pt x="38" y="9"/>
                </a:cubicBezTo>
                <a:cubicBezTo>
                  <a:pt x="31" y="1"/>
                  <a:pt x="31" y="1"/>
                  <a:pt x="31" y="1"/>
                </a:cubicBezTo>
                <a:cubicBezTo>
                  <a:pt x="30" y="0"/>
                  <a:pt x="28" y="0"/>
                  <a:pt x="27" y="1"/>
                </a:cubicBezTo>
                <a:cubicBezTo>
                  <a:pt x="20" y="9"/>
                  <a:pt x="20" y="9"/>
                  <a:pt x="20" y="9"/>
                </a:cubicBezTo>
                <a:cubicBezTo>
                  <a:pt x="1" y="27"/>
                  <a:pt x="1" y="27"/>
                  <a:pt x="1" y="27"/>
                </a:cubicBezTo>
                <a:cubicBezTo>
                  <a:pt x="0" y="28"/>
                  <a:pt x="0" y="30"/>
                  <a:pt x="1" y="31"/>
                </a:cubicBezTo>
                <a:cubicBezTo>
                  <a:pt x="7" y="37"/>
                  <a:pt x="7" y="37"/>
                  <a:pt x="7" y="37"/>
                </a:cubicBezTo>
                <a:cubicBezTo>
                  <a:pt x="8" y="38"/>
                  <a:pt x="9" y="38"/>
                  <a:pt x="10" y="37"/>
                </a:cubicBezTo>
                <a:cubicBezTo>
                  <a:pt x="23" y="23"/>
                  <a:pt x="23" y="23"/>
                  <a:pt x="23" y="23"/>
                </a:cubicBezTo>
                <a:cubicBezTo>
                  <a:pt x="23" y="47"/>
                  <a:pt x="23" y="47"/>
                  <a:pt x="23" y="47"/>
                </a:cubicBezTo>
                <a:cubicBezTo>
                  <a:pt x="24" y="51"/>
                  <a:pt x="24" y="51"/>
                  <a:pt x="24" y="51"/>
                </a:cubicBezTo>
                <a:cubicBezTo>
                  <a:pt x="25" y="66"/>
                  <a:pt x="37" y="77"/>
                  <a:pt x="52" y="77"/>
                </a:cubicBezTo>
                <a:cubicBezTo>
                  <a:pt x="67" y="77"/>
                  <a:pt x="80" y="71"/>
                  <a:pt x="80" y="48"/>
                </a:cubicBezTo>
                <a:cubicBezTo>
                  <a:pt x="81" y="26"/>
                  <a:pt x="81" y="26"/>
                  <a:pt x="81" y="26"/>
                </a:cubicBezTo>
                <a:cubicBezTo>
                  <a:pt x="81" y="26"/>
                  <a:pt x="81" y="26"/>
                  <a:pt x="81" y="26"/>
                </a:cubicBezTo>
                <a:cubicBezTo>
                  <a:pt x="81" y="26"/>
                  <a:pt x="81" y="26"/>
                  <a:pt x="81" y="26"/>
                </a:cubicBezTo>
                <a:cubicBezTo>
                  <a:pt x="81" y="17"/>
                  <a:pt x="81" y="17"/>
                  <a:pt x="81" y="17"/>
                </a:cubicBezTo>
                <a:cubicBezTo>
                  <a:pt x="81" y="16"/>
                  <a:pt x="79" y="14"/>
                  <a:pt x="78" y="14"/>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49" name="Group 148">
            <a:extLst>
              <a:ext uri="{FF2B5EF4-FFF2-40B4-BE49-F238E27FC236}">
                <a16:creationId xmlns:a16="http://schemas.microsoft.com/office/drawing/2014/main" id="{6835EFF5-3B8D-4279-B40C-9876E06285C5}"/>
              </a:ext>
            </a:extLst>
          </p:cNvPr>
          <p:cNvGrpSpPr>
            <a:grpSpLocks noChangeAspect="1"/>
          </p:cNvGrpSpPr>
          <p:nvPr/>
        </p:nvGrpSpPr>
        <p:grpSpPr>
          <a:xfrm>
            <a:off x="8126970" y="5418140"/>
            <a:ext cx="190896" cy="274320"/>
            <a:chOff x="7235825" y="1042988"/>
            <a:chExt cx="403225" cy="579438"/>
          </a:xfrm>
          <a:solidFill>
            <a:srgbClr val="595555"/>
          </a:solidFill>
        </p:grpSpPr>
        <p:sp>
          <p:nvSpPr>
            <p:cNvPr id="150" name="Freeform 33">
              <a:extLst>
                <a:ext uri="{FF2B5EF4-FFF2-40B4-BE49-F238E27FC236}">
                  <a16:creationId xmlns:a16="http://schemas.microsoft.com/office/drawing/2014/main" id="{FEF9F050-B776-45B1-80CB-0811A83A2768}"/>
                </a:ext>
              </a:extLst>
            </p:cNvPr>
            <p:cNvSpPr>
              <a:spLocks/>
            </p:cNvSpPr>
            <p:nvPr/>
          </p:nvSpPr>
          <p:spPr bwMode="auto">
            <a:xfrm>
              <a:off x="7235825" y="1535113"/>
              <a:ext cx="403225" cy="87313"/>
            </a:xfrm>
            <a:custGeom>
              <a:avLst/>
              <a:gdLst>
                <a:gd name="T0" fmla="*/ 56 w 59"/>
                <a:gd name="T1" fmla="*/ 0 h 13"/>
                <a:gd name="T2" fmla="*/ 3 w 59"/>
                <a:gd name="T3" fmla="*/ 0 h 13"/>
                <a:gd name="T4" fmla="*/ 0 w 59"/>
                <a:gd name="T5" fmla="*/ 3 h 13"/>
                <a:gd name="T6" fmla="*/ 0 w 59"/>
                <a:gd name="T7" fmla="*/ 11 h 13"/>
                <a:gd name="T8" fmla="*/ 3 w 59"/>
                <a:gd name="T9" fmla="*/ 13 h 13"/>
                <a:gd name="T10" fmla="*/ 56 w 59"/>
                <a:gd name="T11" fmla="*/ 13 h 13"/>
                <a:gd name="T12" fmla="*/ 59 w 59"/>
                <a:gd name="T13" fmla="*/ 11 h 13"/>
                <a:gd name="T14" fmla="*/ 59 w 59"/>
                <a:gd name="T15" fmla="*/ 3 h 13"/>
                <a:gd name="T16" fmla="*/ 56 w 5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9" h="13">
                  <a:moveTo>
                    <a:pt x="56" y="0"/>
                  </a:moveTo>
                  <a:cubicBezTo>
                    <a:pt x="3" y="0"/>
                    <a:pt x="3" y="0"/>
                    <a:pt x="3" y="0"/>
                  </a:cubicBezTo>
                  <a:cubicBezTo>
                    <a:pt x="1" y="0"/>
                    <a:pt x="0" y="1"/>
                    <a:pt x="0" y="3"/>
                  </a:cubicBezTo>
                  <a:cubicBezTo>
                    <a:pt x="0" y="11"/>
                    <a:pt x="0" y="11"/>
                    <a:pt x="0" y="11"/>
                  </a:cubicBezTo>
                  <a:cubicBezTo>
                    <a:pt x="0" y="12"/>
                    <a:pt x="1" y="13"/>
                    <a:pt x="3" y="13"/>
                  </a:cubicBezTo>
                  <a:cubicBezTo>
                    <a:pt x="56" y="13"/>
                    <a:pt x="56" y="13"/>
                    <a:pt x="56" y="13"/>
                  </a:cubicBezTo>
                  <a:cubicBezTo>
                    <a:pt x="58" y="13"/>
                    <a:pt x="59" y="12"/>
                    <a:pt x="59" y="11"/>
                  </a:cubicBezTo>
                  <a:cubicBezTo>
                    <a:pt x="59" y="3"/>
                    <a:pt x="59" y="3"/>
                    <a:pt x="59" y="3"/>
                  </a:cubicBezTo>
                  <a:cubicBezTo>
                    <a:pt x="59" y="1"/>
                    <a:pt x="58" y="0"/>
                    <a:pt x="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1" name="Freeform 34">
              <a:extLst>
                <a:ext uri="{FF2B5EF4-FFF2-40B4-BE49-F238E27FC236}">
                  <a16:creationId xmlns:a16="http://schemas.microsoft.com/office/drawing/2014/main" id="{D95C261A-1EB8-4B5C-B306-B1C344A3CE0D}"/>
                </a:ext>
              </a:extLst>
            </p:cNvPr>
            <p:cNvSpPr>
              <a:spLocks/>
            </p:cNvSpPr>
            <p:nvPr/>
          </p:nvSpPr>
          <p:spPr bwMode="auto">
            <a:xfrm>
              <a:off x="7235825" y="1042988"/>
              <a:ext cx="403225" cy="457200"/>
            </a:xfrm>
            <a:custGeom>
              <a:avLst/>
              <a:gdLst>
                <a:gd name="T0" fmla="*/ 7 w 59"/>
                <a:gd name="T1" fmla="*/ 37 h 67"/>
                <a:gd name="T2" fmla="*/ 11 w 59"/>
                <a:gd name="T3" fmla="*/ 37 h 67"/>
                <a:gd name="T4" fmla="*/ 23 w 59"/>
                <a:gd name="T5" fmla="*/ 25 h 67"/>
                <a:gd name="T6" fmla="*/ 23 w 59"/>
                <a:gd name="T7" fmla="*/ 64 h 67"/>
                <a:gd name="T8" fmla="*/ 26 w 59"/>
                <a:gd name="T9" fmla="*/ 67 h 67"/>
                <a:gd name="T10" fmla="*/ 34 w 59"/>
                <a:gd name="T11" fmla="*/ 67 h 67"/>
                <a:gd name="T12" fmla="*/ 36 w 59"/>
                <a:gd name="T13" fmla="*/ 64 h 67"/>
                <a:gd name="T14" fmla="*/ 36 w 59"/>
                <a:gd name="T15" fmla="*/ 25 h 67"/>
                <a:gd name="T16" fmla="*/ 49 w 59"/>
                <a:gd name="T17" fmla="*/ 37 h 67"/>
                <a:gd name="T18" fmla="*/ 52 w 59"/>
                <a:gd name="T19" fmla="*/ 37 h 67"/>
                <a:gd name="T20" fmla="*/ 58 w 59"/>
                <a:gd name="T21" fmla="*/ 31 h 67"/>
                <a:gd name="T22" fmla="*/ 58 w 59"/>
                <a:gd name="T23" fmla="*/ 28 h 67"/>
                <a:gd name="T24" fmla="*/ 39 w 59"/>
                <a:gd name="T25" fmla="*/ 9 h 67"/>
                <a:gd name="T26" fmla="*/ 31 w 59"/>
                <a:gd name="T27" fmla="*/ 1 h 67"/>
                <a:gd name="T28" fmla="*/ 28 w 59"/>
                <a:gd name="T29" fmla="*/ 1 h 67"/>
                <a:gd name="T30" fmla="*/ 20 w 59"/>
                <a:gd name="T31" fmla="*/ 9 h 67"/>
                <a:gd name="T32" fmla="*/ 1 w 59"/>
                <a:gd name="T33" fmla="*/ 28 h 67"/>
                <a:gd name="T34" fmla="*/ 1 w 59"/>
                <a:gd name="T35" fmla="*/ 31 h 67"/>
                <a:gd name="T36" fmla="*/ 7 w 59"/>
                <a:gd name="T37" fmla="*/ 3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67">
                  <a:moveTo>
                    <a:pt x="7" y="37"/>
                  </a:moveTo>
                  <a:cubicBezTo>
                    <a:pt x="8" y="38"/>
                    <a:pt x="9" y="38"/>
                    <a:pt x="11" y="37"/>
                  </a:cubicBezTo>
                  <a:cubicBezTo>
                    <a:pt x="23" y="25"/>
                    <a:pt x="23" y="25"/>
                    <a:pt x="23" y="25"/>
                  </a:cubicBezTo>
                  <a:cubicBezTo>
                    <a:pt x="23" y="64"/>
                    <a:pt x="23" y="64"/>
                    <a:pt x="23" y="64"/>
                  </a:cubicBezTo>
                  <a:cubicBezTo>
                    <a:pt x="23" y="66"/>
                    <a:pt x="24" y="67"/>
                    <a:pt x="26" y="67"/>
                  </a:cubicBezTo>
                  <a:cubicBezTo>
                    <a:pt x="34" y="67"/>
                    <a:pt x="34" y="67"/>
                    <a:pt x="34" y="67"/>
                  </a:cubicBezTo>
                  <a:cubicBezTo>
                    <a:pt x="35" y="67"/>
                    <a:pt x="36" y="66"/>
                    <a:pt x="36" y="64"/>
                  </a:cubicBezTo>
                  <a:cubicBezTo>
                    <a:pt x="36" y="25"/>
                    <a:pt x="36" y="25"/>
                    <a:pt x="36" y="25"/>
                  </a:cubicBezTo>
                  <a:cubicBezTo>
                    <a:pt x="49" y="37"/>
                    <a:pt x="49" y="37"/>
                    <a:pt x="49" y="37"/>
                  </a:cubicBezTo>
                  <a:cubicBezTo>
                    <a:pt x="50" y="38"/>
                    <a:pt x="51" y="38"/>
                    <a:pt x="52" y="37"/>
                  </a:cubicBezTo>
                  <a:cubicBezTo>
                    <a:pt x="58" y="31"/>
                    <a:pt x="58" y="31"/>
                    <a:pt x="58" y="31"/>
                  </a:cubicBezTo>
                  <a:cubicBezTo>
                    <a:pt x="59" y="30"/>
                    <a:pt x="59" y="29"/>
                    <a:pt x="58" y="28"/>
                  </a:cubicBezTo>
                  <a:cubicBezTo>
                    <a:pt x="39" y="9"/>
                    <a:pt x="39" y="9"/>
                    <a:pt x="39" y="9"/>
                  </a:cubicBezTo>
                  <a:cubicBezTo>
                    <a:pt x="31" y="1"/>
                    <a:pt x="31" y="1"/>
                    <a:pt x="31" y="1"/>
                  </a:cubicBezTo>
                  <a:cubicBezTo>
                    <a:pt x="30" y="0"/>
                    <a:pt x="29" y="0"/>
                    <a:pt x="28" y="1"/>
                  </a:cubicBezTo>
                  <a:cubicBezTo>
                    <a:pt x="20" y="9"/>
                    <a:pt x="20" y="9"/>
                    <a:pt x="20" y="9"/>
                  </a:cubicBezTo>
                  <a:cubicBezTo>
                    <a:pt x="1" y="28"/>
                    <a:pt x="1" y="28"/>
                    <a:pt x="1" y="28"/>
                  </a:cubicBezTo>
                  <a:cubicBezTo>
                    <a:pt x="0" y="29"/>
                    <a:pt x="0" y="30"/>
                    <a:pt x="1" y="31"/>
                  </a:cubicBezTo>
                  <a:lnTo>
                    <a:pt x="7"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52" name="Freeform 35">
            <a:extLst>
              <a:ext uri="{FF2B5EF4-FFF2-40B4-BE49-F238E27FC236}">
                <a16:creationId xmlns:a16="http://schemas.microsoft.com/office/drawing/2014/main" id="{183238E0-F004-401C-9E35-3A313B37F11D}"/>
              </a:ext>
            </a:extLst>
          </p:cNvPr>
          <p:cNvSpPr>
            <a:spLocks noChangeAspect="1"/>
          </p:cNvSpPr>
          <p:nvPr/>
        </p:nvSpPr>
        <p:spPr bwMode="auto">
          <a:xfrm>
            <a:off x="9064877" y="5418140"/>
            <a:ext cx="174972" cy="274320"/>
          </a:xfrm>
          <a:custGeom>
            <a:avLst/>
            <a:gdLst>
              <a:gd name="T0" fmla="*/ 54 w 55"/>
              <a:gd name="T1" fmla="*/ 70 h 86"/>
              <a:gd name="T2" fmla="*/ 27 w 55"/>
              <a:gd name="T3" fmla="*/ 46 h 86"/>
              <a:gd name="T4" fmla="*/ 26 w 55"/>
              <a:gd name="T5" fmla="*/ 43 h 86"/>
              <a:gd name="T6" fmla="*/ 26 w 55"/>
              <a:gd name="T7" fmla="*/ 43 h 86"/>
              <a:gd name="T8" fmla="*/ 27 w 55"/>
              <a:gd name="T9" fmla="*/ 40 h 86"/>
              <a:gd name="T10" fmla="*/ 54 w 55"/>
              <a:gd name="T11" fmla="*/ 15 h 86"/>
              <a:gd name="T12" fmla="*/ 54 w 55"/>
              <a:gd name="T13" fmla="*/ 10 h 86"/>
              <a:gd name="T14" fmla="*/ 46 w 55"/>
              <a:gd name="T15" fmla="*/ 1 h 86"/>
              <a:gd name="T16" fmla="*/ 40 w 55"/>
              <a:gd name="T17" fmla="*/ 1 h 86"/>
              <a:gd name="T18" fmla="*/ 13 w 55"/>
              <a:gd name="T19" fmla="*/ 29 h 86"/>
              <a:gd name="T20" fmla="*/ 2 w 55"/>
              <a:gd name="T21" fmla="*/ 40 h 86"/>
              <a:gd name="T22" fmla="*/ 2 w 55"/>
              <a:gd name="T23" fmla="*/ 45 h 86"/>
              <a:gd name="T24" fmla="*/ 13 w 55"/>
              <a:gd name="T25" fmla="*/ 57 h 86"/>
              <a:gd name="T26" fmla="*/ 40 w 55"/>
              <a:gd name="T27" fmla="*/ 84 h 86"/>
              <a:gd name="T28" fmla="*/ 46 w 55"/>
              <a:gd name="T29" fmla="*/ 84 h 86"/>
              <a:gd name="T30" fmla="*/ 54 w 55"/>
              <a:gd name="T31" fmla="*/ 76 h 86"/>
              <a:gd name="T32" fmla="*/ 54 w 55"/>
              <a:gd name="T33" fmla="*/ 7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86">
                <a:moveTo>
                  <a:pt x="54" y="70"/>
                </a:moveTo>
                <a:cubicBezTo>
                  <a:pt x="27" y="46"/>
                  <a:pt x="27" y="46"/>
                  <a:pt x="27" y="46"/>
                </a:cubicBezTo>
                <a:cubicBezTo>
                  <a:pt x="27" y="45"/>
                  <a:pt x="26" y="44"/>
                  <a:pt x="26" y="43"/>
                </a:cubicBezTo>
                <a:cubicBezTo>
                  <a:pt x="26" y="43"/>
                  <a:pt x="26" y="43"/>
                  <a:pt x="26" y="43"/>
                </a:cubicBezTo>
                <a:cubicBezTo>
                  <a:pt x="26" y="41"/>
                  <a:pt x="27" y="40"/>
                  <a:pt x="27" y="40"/>
                </a:cubicBezTo>
                <a:cubicBezTo>
                  <a:pt x="54" y="15"/>
                  <a:pt x="54" y="15"/>
                  <a:pt x="54" y="15"/>
                </a:cubicBezTo>
                <a:cubicBezTo>
                  <a:pt x="55" y="14"/>
                  <a:pt x="55" y="11"/>
                  <a:pt x="54" y="10"/>
                </a:cubicBezTo>
                <a:cubicBezTo>
                  <a:pt x="46" y="1"/>
                  <a:pt x="46" y="1"/>
                  <a:pt x="46" y="1"/>
                </a:cubicBezTo>
                <a:cubicBezTo>
                  <a:pt x="44" y="0"/>
                  <a:pt x="42" y="0"/>
                  <a:pt x="40" y="1"/>
                </a:cubicBezTo>
                <a:cubicBezTo>
                  <a:pt x="13" y="29"/>
                  <a:pt x="13" y="29"/>
                  <a:pt x="13" y="29"/>
                </a:cubicBezTo>
                <a:cubicBezTo>
                  <a:pt x="2" y="40"/>
                  <a:pt x="2" y="40"/>
                  <a:pt x="2" y="40"/>
                </a:cubicBezTo>
                <a:cubicBezTo>
                  <a:pt x="0" y="42"/>
                  <a:pt x="0" y="44"/>
                  <a:pt x="2" y="45"/>
                </a:cubicBezTo>
                <a:cubicBezTo>
                  <a:pt x="13" y="57"/>
                  <a:pt x="13" y="57"/>
                  <a:pt x="13" y="57"/>
                </a:cubicBezTo>
                <a:cubicBezTo>
                  <a:pt x="40" y="84"/>
                  <a:pt x="40" y="84"/>
                  <a:pt x="40" y="84"/>
                </a:cubicBezTo>
                <a:cubicBezTo>
                  <a:pt x="42" y="86"/>
                  <a:pt x="44" y="86"/>
                  <a:pt x="46" y="84"/>
                </a:cubicBezTo>
                <a:cubicBezTo>
                  <a:pt x="54" y="76"/>
                  <a:pt x="54" y="76"/>
                  <a:pt x="54" y="76"/>
                </a:cubicBezTo>
                <a:cubicBezTo>
                  <a:pt x="55" y="74"/>
                  <a:pt x="55" y="72"/>
                  <a:pt x="54" y="7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3" name="Freeform 36">
            <a:extLst>
              <a:ext uri="{FF2B5EF4-FFF2-40B4-BE49-F238E27FC236}">
                <a16:creationId xmlns:a16="http://schemas.microsoft.com/office/drawing/2014/main" id="{517CE40C-445E-4502-935D-8FBDC09F2C2D}"/>
              </a:ext>
            </a:extLst>
          </p:cNvPr>
          <p:cNvSpPr>
            <a:spLocks noChangeAspect="1"/>
          </p:cNvSpPr>
          <p:nvPr/>
        </p:nvSpPr>
        <p:spPr bwMode="auto">
          <a:xfrm>
            <a:off x="9985558" y="5418140"/>
            <a:ext cx="174972" cy="274320"/>
          </a:xfrm>
          <a:custGeom>
            <a:avLst/>
            <a:gdLst>
              <a:gd name="T0" fmla="*/ 1 w 55"/>
              <a:gd name="T1" fmla="*/ 70 h 86"/>
              <a:gd name="T2" fmla="*/ 28 w 55"/>
              <a:gd name="T3" fmla="*/ 46 h 86"/>
              <a:gd name="T4" fmla="*/ 29 w 55"/>
              <a:gd name="T5" fmla="*/ 43 h 86"/>
              <a:gd name="T6" fmla="*/ 29 w 55"/>
              <a:gd name="T7" fmla="*/ 43 h 86"/>
              <a:gd name="T8" fmla="*/ 28 w 55"/>
              <a:gd name="T9" fmla="*/ 40 h 86"/>
              <a:gd name="T10" fmla="*/ 1 w 55"/>
              <a:gd name="T11" fmla="*/ 15 h 86"/>
              <a:gd name="T12" fmla="*/ 1 w 55"/>
              <a:gd name="T13" fmla="*/ 10 h 86"/>
              <a:gd name="T14" fmla="*/ 9 w 55"/>
              <a:gd name="T15" fmla="*/ 1 h 86"/>
              <a:gd name="T16" fmla="*/ 15 w 55"/>
              <a:gd name="T17" fmla="*/ 1 h 86"/>
              <a:gd name="T18" fmla="*/ 42 w 55"/>
              <a:gd name="T19" fmla="*/ 29 h 86"/>
              <a:gd name="T20" fmla="*/ 53 w 55"/>
              <a:gd name="T21" fmla="*/ 40 h 86"/>
              <a:gd name="T22" fmla="*/ 53 w 55"/>
              <a:gd name="T23" fmla="*/ 45 h 86"/>
              <a:gd name="T24" fmla="*/ 42 w 55"/>
              <a:gd name="T25" fmla="*/ 57 h 86"/>
              <a:gd name="T26" fmla="*/ 15 w 55"/>
              <a:gd name="T27" fmla="*/ 84 h 86"/>
              <a:gd name="T28" fmla="*/ 9 w 55"/>
              <a:gd name="T29" fmla="*/ 84 h 86"/>
              <a:gd name="T30" fmla="*/ 1 w 55"/>
              <a:gd name="T31" fmla="*/ 76 h 86"/>
              <a:gd name="T32" fmla="*/ 1 w 55"/>
              <a:gd name="T33" fmla="*/ 7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86">
                <a:moveTo>
                  <a:pt x="1" y="70"/>
                </a:moveTo>
                <a:cubicBezTo>
                  <a:pt x="28" y="46"/>
                  <a:pt x="28" y="46"/>
                  <a:pt x="28" y="46"/>
                </a:cubicBezTo>
                <a:cubicBezTo>
                  <a:pt x="28" y="45"/>
                  <a:pt x="29" y="44"/>
                  <a:pt x="29" y="43"/>
                </a:cubicBezTo>
                <a:cubicBezTo>
                  <a:pt x="29" y="43"/>
                  <a:pt x="29" y="43"/>
                  <a:pt x="29" y="43"/>
                </a:cubicBezTo>
                <a:cubicBezTo>
                  <a:pt x="29" y="41"/>
                  <a:pt x="28" y="40"/>
                  <a:pt x="28" y="40"/>
                </a:cubicBezTo>
                <a:cubicBezTo>
                  <a:pt x="1" y="15"/>
                  <a:pt x="1" y="15"/>
                  <a:pt x="1" y="15"/>
                </a:cubicBezTo>
                <a:cubicBezTo>
                  <a:pt x="0" y="14"/>
                  <a:pt x="0" y="11"/>
                  <a:pt x="1" y="10"/>
                </a:cubicBezTo>
                <a:cubicBezTo>
                  <a:pt x="9" y="1"/>
                  <a:pt x="9" y="1"/>
                  <a:pt x="9" y="1"/>
                </a:cubicBezTo>
                <a:cubicBezTo>
                  <a:pt x="11" y="0"/>
                  <a:pt x="13" y="0"/>
                  <a:pt x="15" y="1"/>
                </a:cubicBezTo>
                <a:cubicBezTo>
                  <a:pt x="42" y="29"/>
                  <a:pt x="42" y="29"/>
                  <a:pt x="42" y="29"/>
                </a:cubicBezTo>
                <a:cubicBezTo>
                  <a:pt x="53" y="40"/>
                  <a:pt x="53" y="40"/>
                  <a:pt x="53" y="40"/>
                </a:cubicBezTo>
                <a:cubicBezTo>
                  <a:pt x="55" y="42"/>
                  <a:pt x="55" y="44"/>
                  <a:pt x="53" y="45"/>
                </a:cubicBezTo>
                <a:cubicBezTo>
                  <a:pt x="42" y="57"/>
                  <a:pt x="42" y="57"/>
                  <a:pt x="42" y="57"/>
                </a:cubicBezTo>
                <a:cubicBezTo>
                  <a:pt x="15" y="84"/>
                  <a:pt x="15" y="84"/>
                  <a:pt x="15" y="84"/>
                </a:cubicBezTo>
                <a:cubicBezTo>
                  <a:pt x="13" y="86"/>
                  <a:pt x="11" y="86"/>
                  <a:pt x="9" y="84"/>
                </a:cubicBezTo>
                <a:cubicBezTo>
                  <a:pt x="1" y="76"/>
                  <a:pt x="1" y="76"/>
                  <a:pt x="1" y="76"/>
                </a:cubicBezTo>
                <a:cubicBezTo>
                  <a:pt x="0" y="74"/>
                  <a:pt x="0" y="72"/>
                  <a:pt x="1" y="7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4" name="Freeform 37">
            <a:extLst>
              <a:ext uri="{FF2B5EF4-FFF2-40B4-BE49-F238E27FC236}">
                <a16:creationId xmlns:a16="http://schemas.microsoft.com/office/drawing/2014/main" id="{5FFF0046-033F-4095-96C9-559160D1D5AF}"/>
              </a:ext>
            </a:extLst>
          </p:cNvPr>
          <p:cNvSpPr>
            <a:spLocks noChangeAspect="1"/>
          </p:cNvSpPr>
          <p:nvPr/>
        </p:nvSpPr>
        <p:spPr bwMode="auto">
          <a:xfrm>
            <a:off x="10776079" y="5542556"/>
            <a:ext cx="433566" cy="274320"/>
          </a:xfrm>
          <a:custGeom>
            <a:avLst/>
            <a:gdLst>
              <a:gd name="T0" fmla="*/ 16 w 87"/>
              <a:gd name="T1" fmla="*/ 1 h 55"/>
              <a:gd name="T2" fmla="*/ 40 w 87"/>
              <a:gd name="T3" fmla="*/ 28 h 55"/>
              <a:gd name="T4" fmla="*/ 43 w 87"/>
              <a:gd name="T5" fmla="*/ 29 h 55"/>
              <a:gd name="T6" fmla="*/ 44 w 87"/>
              <a:gd name="T7" fmla="*/ 29 h 55"/>
              <a:gd name="T8" fmla="*/ 47 w 87"/>
              <a:gd name="T9" fmla="*/ 28 h 55"/>
              <a:gd name="T10" fmla="*/ 71 w 87"/>
              <a:gd name="T11" fmla="*/ 1 h 55"/>
              <a:gd name="T12" fmla="*/ 77 w 87"/>
              <a:gd name="T13" fmla="*/ 1 h 55"/>
              <a:gd name="T14" fmla="*/ 85 w 87"/>
              <a:gd name="T15" fmla="*/ 10 h 55"/>
              <a:gd name="T16" fmla="*/ 85 w 87"/>
              <a:gd name="T17" fmla="*/ 15 h 55"/>
              <a:gd name="T18" fmla="*/ 57 w 87"/>
              <a:gd name="T19" fmla="*/ 43 h 55"/>
              <a:gd name="T20" fmla="*/ 46 w 87"/>
              <a:gd name="T21" fmla="*/ 54 h 55"/>
              <a:gd name="T22" fmla="*/ 41 w 87"/>
              <a:gd name="T23" fmla="*/ 54 h 55"/>
              <a:gd name="T24" fmla="*/ 30 w 87"/>
              <a:gd name="T25" fmla="*/ 43 h 55"/>
              <a:gd name="T26" fmla="*/ 2 w 87"/>
              <a:gd name="T27" fmla="*/ 15 h 55"/>
              <a:gd name="T28" fmla="*/ 2 w 87"/>
              <a:gd name="T29" fmla="*/ 10 h 55"/>
              <a:gd name="T30" fmla="*/ 10 w 87"/>
              <a:gd name="T31" fmla="*/ 1 h 55"/>
              <a:gd name="T32" fmla="*/ 16 w 87"/>
              <a:gd name="T33" fmla="*/ 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55">
                <a:moveTo>
                  <a:pt x="16" y="1"/>
                </a:moveTo>
                <a:cubicBezTo>
                  <a:pt x="40" y="28"/>
                  <a:pt x="40" y="28"/>
                  <a:pt x="40" y="28"/>
                </a:cubicBezTo>
                <a:cubicBezTo>
                  <a:pt x="41" y="29"/>
                  <a:pt x="42" y="29"/>
                  <a:pt x="43" y="29"/>
                </a:cubicBezTo>
                <a:cubicBezTo>
                  <a:pt x="44" y="29"/>
                  <a:pt x="44" y="29"/>
                  <a:pt x="44" y="29"/>
                </a:cubicBezTo>
                <a:cubicBezTo>
                  <a:pt x="45" y="29"/>
                  <a:pt x="46" y="29"/>
                  <a:pt x="47" y="28"/>
                </a:cubicBezTo>
                <a:cubicBezTo>
                  <a:pt x="71" y="1"/>
                  <a:pt x="71" y="1"/>
                  <a:pt x="71" y="1"/>
                </a:cubicBezTo>
                <a:cubicBezTo>
                  <a:pt x="73" y="0"/>
                  <a:pt x="75" y="0"/>
                  <a:pt x="77" y="1"/>
                </a:cubicBezTo>
                <a:cubicBezTo>
                  <a:pt x="85" y="10"/>
                  <a:pt x="85" y="10"/>
                  <a:pt x="85" y="10"/>
                </a:cubicBezTo>
                <a:cubicBezTo>
                  <a:pt x="87" y="11"/>
                  <a:pt x="87" y="14"/>
                  <a:pt x="85" y="15"/>
                </a:cubicBezTo>
                <a:cubicBezTo>
                  <a:pt x="57" y="43"/>
                  <a:pt x="57" y="43"/>
                  <a:pt x="57" y="43"/>
                </a:cubicBezTo>
                <a:cubicBezTo>
                  <a:pt x="46" y="54"/>
                  <a:pt x="46" y="54"/>
                  <a:pt x="46" y="54"/>
                </a:cubicBezTo>
                <a:cubicBezTo>
                  <a:pt x="45" y="55"/>
                  <a:pt x="42" y="55"/>
                  <a:pt x="41" y="54"/>
                </a:cubicBezTo>
                <a:cubicBezTo>
                  <a:pt x="30" y="43"/>
                  <a:pt x="30" y="43"/>
                  <a:pt x="30" y="43"/>
                </a:cubicBezTo>
                <a:cubicBezTo>
                  <a:pt x="2" y="15"/>
                  <a:pt x="2" y="15"/>
                  <a:pt x="2" y="15"/>
                </a:cubicBezTo>
                <a:cubicBezTo>
                  <a:pt x="0" y="14"/>
                  <a:pt x="0" y="11"/>
                  <a:pt x="2" y="10"/>
                </a:cubicBezTo>
                <a:cubicBezTo>
                  <a:pt x="10" y="1"/>
                  <a:pt x="10" y="1"/>
                  <a:pt x="10" y="1"/>
                </a:cubicBezTo>
                <a:cubicBezTo>
                  <a:pt x="12" y="0"/>
                  <a:pt x="14" y="0"/>
                  <a:pt x="16" y="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5" name="Title 157">
            <a:extLst>
              <a:ext uri="{FF2B5EF4-FFF2-40B4-BE49-F238E27FC236}">
                <a16:creationId xmlns:a16="http://schemas.microsoft.com/office/drawing/2014/main" id="{92621C91-7035-4F72-AAB4-24B19F35AAE1}"/>
              </a:ext>
            </a:extLst>
          </p:cNvPr>
          <p:cNvSpPr>
            <a:spLocks noGrp="1"/>
          </p:cNvSpPr>
          <p:nvPr>
            <p:ph type="title"/>
          </p:nvPr>
        </p:nvSpPr>
        <p:spPr>
          <a:xfrm>
            <a:off x="363600" y="363599"/>
            <a:ext cx="11462400" cy="385200"/>
          </a:xfrm>
        </p:spPr>
        <p:txBody>
          <a:bodyPr vert="horz" lIns="0" tIns="0" rIns="0" bIns="0"/>
          <a:lstStyle/>
          <a:p>
            <a:r>
              <a:rPr lang="en-US" dirty="0">
                <a:solidFill>
                  <a:srgbClr val="426DA9"/>
                </a:solidFill>
                <a:latin typeface="verdana" panose="020B0604030504040204" pitchFamily="34" charset="0"/>
              </a:rPr>
              <a:t>ICONS 61 – 120</a:t>
            </a:r>
          </a:p>
        </p:txBody>
      </p:sp>
    </p:spTree>
    <p:extLst>
      <p:ext uri="{BB962C8B-B14F-4D97-AF65-F5344CB8AC3E}">
        <p14:creationId xmlns:p14="http://schemas.microsoft.com/office/powerpoint/2010/main" val="98984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E01F2A-5714-4D71-9584-5F201509BAB5}"/>
              </a:ext>
            </a:extLst>
          </p:cNvPr>
          <p:cNvSpPr>
            <a:spLocks noGrp="1"/>
          </p:cNvSpPr>
          <p:nvPr>
            <p:ph type="sldNum" sz="quarter" idx="12"/>
          </p:nvPr>
        </p:nvSpPr>
        <p:spPr>
          <a:xfrm>
            <a:off x="11289600" y="6490800"/>
            <a:ext cx="540000" cy="277200"/>
          </a:xfrm>
        </p:spPr>
        <p:txBody>
          <a:bodyPr/>
          <a:lstStyle/>
          <a:p>
            <a:pPr algn="r"/>
            <a:fld id="{4FA92F45-BA5D-4C7A-ACC7-D44B34072B97}" type="slidenum">
              <a:rPr lang="en-IN" smtClean="0">
                <a:solidFill>
                  <a:srgbClr val="8C8585"/>
                </a:solidFill>
              </a:rPr>
              <a:pPr algn="r"/>
              <a:t>57</a:t>
            </a:fld>
            <a:endParaRPr lang="en-IN" dirty="0">
              <a:solidFill>
                <a:srgbClr val="8C8585"/>
              </a:solidFill>
            </a:endParaRPr>
          </a:p>
        </p:txBody>
      </p:sp>
      <p:sp>
        <p:nvSpPr>
          <p:cNvPr id="6" name="Title 6">
            <a:extLst>
              <a:ext uri="{FF2B5EF4-FFF2-40B4-BE49-F238E27FC236}">
                <a16:creationId xmlns:a16="http://schemas.microsoft.com/office/drawing/2014/main" id="{A4C31EA0-4C3C-4531-AB87-0DBA743FC70B}"/>
              </a:ext>
            </a:extLst>
          </p:cNvPr>
          <p:cNvSpPr>
            <a:spLocks noGrp="1"/>
          </p:cNvSpPr>
          <p:nvPr>
            <p:ph type="title"/>
          </p:nvPr>
        </p:nvSpPr>
        <p:spPr>
          <a:xfrm>
            <a:off x="363600" y="363599"/>
            <a:ext cx="11462400" cy="385200"/>
          </a:xfrm>
        </p:spPr>
        <p:txBody>
          <a:bodyPr vert="horz" lIns="0" tIns="0" rIns="0" bIns="0"/>
          <a:lstStyle/>
          <a:p>
            <a:r>
              <a:rPr lang="en-US" dirty="0">
                <a:solidFill>
                  <a:srgbClr val="426DA9"/>
                </a:solidFill>
                <a:latin typeface="verdana" panose="020B0604030504040204" pitchFamily="34" charset="0"/>
              </a:rPr>
              <a:t>ICONS 121 – 183</a:t>
            </a:r>
          </a:p>
        </p:txBody>
      </p:sp>
      <p:sp>
        <p:nvSpPr>
          <p:cNvPr id="7" name="Freeform 38">
            <a:extLst>
              <a:ext uri="{FF2B5EF4-FFF2-40B4-BE49-F238E27FC236}">
                <a16:creationId xmlns:a16="http://schemas.microsoft.com/office/drawing/2014/main" id="{6E58865E-F130-481E-8F3E-2C4E8A5FE9F2}"/>
              </a:ext>
            </a:extLst>
          </p:cNvPr>
          <p:cNvSpPr>
            <a:spLocks noChangeAspect="1"/>
          </p:cNvSpPr>
          <p:nvPr/>
        </p:nvSpPr>
        <p:spPr bwMode="auto">
          <a:xfrm>
            <a:off x="673607" y="1031593"/>
            <a:ext cx="426339" cy="274320"/>
          </a:xfrm>
          <a:custGeom>
            <a:avLst/>
            <a:gdLst>
              <a:gd name="T0" fmla="*/ 71 w 87"/>
              <a:gd name="T1" fmla="*/ 54 h 56"/>
              <a:gd name="T2" fmla="*/ 47 w 87"/>
              <a:gd name="T3" fmla="*/ 28 h 56"/>
              <a:gd name="T4" fmla="*/ 44 w 87"/>
              <a:gd name="T5" fmla="*/ 26 h 56"/>
              <a:gd name="T6" fmla="*/ 43 w 87"/>
              <a:gd name="T7" fmla="*/ 26 h 56"/>
              <a:gd name="T8" fmla="*/ 40 w 87"/>
              <a:gd name="T9" fmla="*/ 28 h 56"/>
              <a:gd name="T10" fmla="*/ 16 w 87"/>
              <a:gd name="T11" fmla="*/ 54 h 56"/>
              <a:gd name="T12" fmla="*/ 10 w 87"/>
              <a:gd name="T13" fmla="*/ 54 h 56"/>
              <a:gd name="T14" fmla="*/ 2 w 87"/>
              <a:gd name="T15" fmla="*/ 46 h 56"/>
              <a:gd name="T16" fmla="*/ 2 w 87"/>
              <a:gd name="T17" fmla="*/ 40 h 56"/>
              <a:gd name="T18" fmla="*/ 30 w 87"/>
              <a:gd name="T19" fmla="*/ 13 h 56"/>
              <a:gd name="T20" fmla="*/ 41 w 87"/>
              <a:gd name="T21" fmla="*/ 2 h 56"/>
              <a:gd name="T22" fmla="*/ 46 w 87"/>
              <a:gd name="T23" fmla="*/ 2 h 56"/>
              <a:gd name="T24" fmla="*/ 57 w 87"/>
              <a:gd name="T25" fmla="*/ 13 h 56"/>
              <a:gd name="T26" fmla="*/ 85 w 87"/>
              <a:gd name="T27" fmla="*/ 40 h 56"/>
              <a:gd name="T28" fmla="*/ 85 w 87"/>
              <a:gd name="T29" fmla="*/ 46 h 56"/>
              <a:gd name="T30" fmla="*/ 77 w 87"/>
              <a:gd name="T31" fmla="*/ 54 h 56"/>
              <a:gd name="T32" fmla="*/ 71 w 87"/>
              <a:gd name="T33" fmla="*/ 5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7" h="56">
                <a:moveTo>
                  <a:pt x="71" y="54"/>
                </a:moveTo>
                <a:cubicBezTo>
                  <a:pt x="47" y="28"/>
                  <a:pt x="47" y="28"/>
                  <a:pt x="47" y="28"/>
                </a:cubicBezTo>
                <a:cubicBezTo>
                  <a:pt x="46" y="27"/>
                  <a:pt x="45" y="26"/>
                  <a:pt x="44" y="26"/>
                </a:cubicBezTo>
                <a:cubicBezTo>
                  <a:pt x="43" y="26"/>
                  <a:pt x="43" y="26"/>
                  <a:pt x="43" y="26"/>
                </a:cubicBezTo>
                <a:cubicBezTo>
                  <a:pt x="42" y="26"/>
                  <a:pt x="41" y="27"/>
                  <a:pt x="40" y="28"/>
                </a:cubicBezTo>
                <a:cubicBezTo>
                  <a:pt x="16" y="54"/>
                  <a:pt x="16" y="54"/>
                  <a:pt x="16" y="54"/>
                </a:cubicBezTo>
                <a:cubicBezTo>
                  <a:pt x="14" y="56"/>
                  <a:pt x="12" y="56"/>
                  <a:pt x="10" y="54"/>
                </a:cubicBezTo>
                <a:cubicBezTo>
                  <a:pt x="2" y="46"/>
                  <a:pt x="2" y="46"/>
                  <a:pt x="2" y="46"/>
                </a:cubicBezTo>
                <a:cubicBezTo>
                  <a:pt x="0" y="44"/>
                  <a:pt x="0" y="42"/>
                  <a:pt x="2" y="40"/>
                </a:cubicBezTo>
                <a:cubicBezTo>
                  <a:pt x="30" y="13"/>
                  <a:pt x="30" y="13"/>
                  <a:pt x="30" y="13"/>
                </a:cubicBezTo>
                <a:cubicBezTo>
                  <a:pt x="41" y="2"/>
                  <a:pt x="41" y="2"/>
                  <a:pt x="41" y="2"/>
                </a:cubicBezTo>
                <a:cubicBezTo>
                  <a:pt x="42" y="0"/>
                  <a:pt x="45" y="0"/>
                  <a:pt x="46" y="2"/>
                </a:cubicBezTo>
                <a:cubicBezTo>
                  <a:pt x="57" y="13"/>
                  <a:pt x="57" y="13"/>
                  <a:pt x="57" y="13"/>
                </a:cubicBezTo>
                <a:cubicBezTo>
                  <a:pt x="85" y="40"/>
                  <a:pt x="85" y="40"/>
                  <a:pt x="85" y="40"/>
                </a:cubicBezTo>
                <a:cubicBezTo>
                  <a:pt x="87" y="42"/>
                  <a:pt x="87" y="44"/>
                  <a:pt x="85" y="46"/>
                </a:cubicBezTo>
                <a:cubicBezTo>
                  <a:pt x="77" y="54"/>
                  <a:pt x="77" y="54"/>
                  <a:pt x="77" y="54"/>
                </a:cubicBezTo>
                <a:cubicBezTo>
                  <a:pt x="75" y="56"/>
                  <a:pt x="73" y="56"/>
                  <a:pt x="71" y="54"/>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 name="Freeform 39">
            <a:extLst>
              <a:ext uri="{FF2B5EF4-FFF2-40B4-BE49-F238E27FC236}">
                <a16:creationId xmlns:a16="http://schemas.microsoft.com/office/drawing/2014/main" id="{76E024BB-9BD1-4D91-A3AE-D66C8D1DC0D1}"/>
              </a:ext>
            </a:extLst>
          </p:cNvPr>
          <p:cNvSpPr>
            <a:spLocks noChangeAspect="1"/>
          </p:cNvSpPr>
          <p:nvPr/>
        </p:nvSpPr>
        <p:spPr bwMode="auto">
          <a:xfrm>
            <a:off x="3577811" y="899409"/>
            <a:ext cx="167232" cy="274320"/>
          </a:xfrm>
          <a:custGeom>
            <a:avLst/>
            <a:gdLst>
              <a:gd name="T0" fmla="*/ 49 w 53"/>
              <a:gd name="T1" fmla="*/ 2 h 87"/>
              <a:gd name="T2" fmla="*/ 1 w 53"/>
              <a:gd name="T3" fmla="*/ 42 h 87"/>
              <a:gd name="T4" fmla="*/ 1 w 53"/>
              <a:gd name="T5" fmla="*/ 46 h 87"/>
              <a:gd name="T6" fmla="*/ 49 w 53"/>
              <a:gd name="T7" fmla="*/ 86 h 87"/>
              <a:gd name="T8" fmla="*/ 53 w 53"/>
              <a:gd name="T9" fmla="*/ 84 h 87"/>
              <a:gd name="T10" fmla="*/ 53 w 53"/>
              <a:gd name="T11" fmla="*/ 4 h 87"/>
              <a:gd name="T12" fmla="*/ 49 w 53"/>
              <a:gd name="T13" fmla="*/ 2 h 87"/>
            </a:gdLst>
            <a:ahLst/>
            <a:cxnLst>
              <a:cxn ang="0">
                <a:pos x="T0" y="T1"/>
              </a:cxn>
              <a:cxn ang="0">
                <a:pos x="T2" y="T3"/>
              </a:cxn>
              <a:cxn ang="0">
                <a:pos x="T4" y="T5"/>
              </a:cxn>
              <a:cxn ang="0">
                <a:pos x="T6" y="T7"/>
              </a:cxn>
              <a:cxn ang="0">
                <a:pos x="T8" y="T9"/>
              </a:cxn>
              <a:cxn ang="0">
                <a:pos x="T10" y="T11"/>
              </a:cxn>
              <a:cxn ang="0">
                <a:pos x="T12" y="T13"/>
              </a:cxn>
            </a:cxnLst>
            <a:rect l="0" t="0" r="r" b="b"/>
            <a:pathLst>
              <a:path w="53" h="87">
                <a:moveTo>
                  <a:pt x="49" y="2"/>
                </a:moveTo>
                <a:cubicBezTo>
                  <a:pt x="1" y="42"/>
                  <a:pt x="1" y="42"/>
                  <a:pt x="1" y="42"/>
                </a:cubicBezTo>
                <a:cubicBezTo>
                  <a:pt x="0" y="43"/>
                  <a:pt x="0" y="45"/>
                  <a:pt x="1" y="46"/>
                </a:cubicBezTo>
                <a:cubicBezTo>
                  <a:pt x="49" y="86"/>
                  <a:pt x="49" y="86"/>
                  <a:pt x="49" y="86"/>
                </a:cubicBezTo>
                <a:cubicBezTo>
                  <a:pt x="51" y="87"/>
                  <a:pt x="53" y="86"/>
                  <a:pt x="53" y="84"/>
                </a:cubicBezTo>
                <a:cubicBezTo>
                  <a:pt x="53" y="4"/>
                  <a:pt x="53" y="4"/>
                  <a:pt x="53" y="4"/>
                </a:cubicBezTo>
                <a:cubicBezTo>
                  <a:pt x="53" y="1"/>
                  <a:pt x="51" y="0"/>
                  <a:pt x="49" y="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 name="Freeform 40">
            <a:extLst>
              <a:ext uri="{FF2B5EF4-FFF2-40B4-BE49-F238E27FC236}">
                <a16:creationId xmlns:a16="http://schemas.microsoft.com/office/drawing/2014/main" id="{4152CFC8-2CD3-4F24-B2D8-2B5A8558D629}"/>
              </a:ext>
            </a:extLst>
          </p:cNvPr>
          <p:cNvSpPr>
            <a:spLocks noChangeAspect="1"/>
          </p:cNvSpPr>
          <p:nvPr/>
        </p:nvSpPr>
        <p:spPr bwMode="auto">
          <a:xfrm>
            <a:off x="4499264" y="899409"/>
            <a:ext cx="167232" cy="274320"/>
          </a:xfrm>
          <a:custGeom>
            <a:avLst/>
            <a:gdLst>
              <a:gd name="T0" fmla="*/ 4 w 53"/>
              <a:gd name="T1" fmla="*/ 2 h 87"/>
              <a:gd name="T2" fmla="*/ 52 w 53"/>
              <a:gd name="T3" fmla="*/ 42 h 87"/>
              <a:gd name="T4" fmla="*/ 52 w 53"/>
              <a:gd name="T5" fmla="*/ 46 h 87"/>
              <a:gd name="T6" fmla="*/ 4 w 53"/>
              <a:gd name="T7" fmla="*/ 86 h 87"/>
              <a:gd name="T8" fmla="*/ 0 w 53"/>
              <a:gd name="T9" fmla="*/ 84 h 87"/>
              <a:gd name="T10" fmla="*/ 0 w 53"/>
              <a:gd name="T11" fmla="*/ 4 h 87"/>
              <a:gd name="T12" fmla="*/ 4 w 53"/>
              <a:gd name="T13" fmla="*/ 2 h 87"/>
            </a:gdLst>
            <a:ahLst/>
            <a:cxnLst>
              <a:cxn ang="0">
                <a:pos x="T0" y="T1"/>
              </a:cxn>
              <a:cxn ang="0">
                <a:pos x="T2" y="T3"/>
              </a:cxn>
              <a:cxn ang="0">
                <a:pos x="T4" y="T5"/>
              </a:cxn>
              <a:cxn ang="0">
                <a:pos x="T6" y="T7"/>
              </a:cxn>
              <a:cxn ang="0">
                <a:pos x="T8" y="T9"/>
              </a:cxn>
              <a:cxn ang="0">
                <a:pos x="T10" y="T11"/>
              </a:cxn>
              <a:cxn ang="0">
                <a:pos x="T12" y="T13"/>
              </a:cxn>
            </a:cxnLst>
            <a:rect l="0" t="0" r="r" b="b"/>
            <a:pathLst>
              <a:path w="53" h="87">
                <a:moveTo>
                  <a:pt x="4" y="2"/>
                </a:moveTo>
                <a:cubicBezTo>
                  <a:pt x="52" y="42"/>
                  <a:pt x="52" y="42"/>
                  <a:pt x="52" y="42"/>
                </a:cubicBezTo>
                <a:cubicBezTo>
                  <a:pt x="53" y="43"/>
                  <a:pt x="53" y="45"/>
                  <a:pt x="52" y="46"/>
                </a:cubicBezTo>
                <a:cubicBezTo>
                  <a:pt x="4" y="86"/>
                  <a:pt x="4" y="86"/>
                  <a:pt x="4" y="86"/>
                </a:cubicBezTo>
                <a:cubicBezTo>
                  <a:pt x="3" y="87"/>
                  <a:pt x="0" y="86"/>
                  <a:pt x="0" y="84"/>
                </a:cubicBezTo>
                <a:cubicBezTo>
                  <a:pt x="0" y="4"/>
                  <a:pt x="0" y="4"/>
                  <a:pt x="0" y="4"/>
                </a:cubicBezTo>
                <a:cubicBezTo>
                  <a:pt x="0" y="1"/>
                  <a:pt x="3" y="0"/>
                  <a:pt x="4" y="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41">
            <a:extLst>
              <a:ext uri="{FF2B5EF4-FFF2-40B4-BE49-F238E27FC236}">
                <a16:creationId xmlns:a16="http://schemas.microsoft.com/office/drawing/2014/main" id="{4977A770-3AF9-4BC0-B0E2-F5C4B59BB022}"/>
              </a:ext>
            </a:extLst>
          </p:cNvPr>
          <p:cNvSpPr>
            <a:spLocks noChangeAspect="1"/>
          </p:cNvSpPr>
          <p:nvPr/>
        </p:nvSpPr>
        <p:spPr bwMode="auto">
          <a:xfrm>
            <a:off x="1595061" y="1039256"/>
            <a:ext cx="442221" cy="274320"/>
          </a:xfrm>
          <a:custGeom>
            <a:avLst/>
            <a:gdLst>
              <a:gd name="T0" fmla="*/ 86 w 87"/>
              <a:gd name="T1" fmla="*/ 4 h 54"/>
              <a:gd name="T2" fmla="*/ 45 w 87"/>
              <a:gd name="T3" fmla="*/ 53 h 54"/>
              <a:gd name="T4" fmla="*/ 42 w 87"/>
              <a:gd name="T5" fmla="*/ 53 h 54"/>
              <a:gd name="T6" fmla="*/ 1 w 87"/>
              <a:gd name="T7" fmla="*/ 4 h 54"/>
              <a:gd name="T8" fmla="*/ 3 w 87"/>
              <a:gd name="T9" fmla="*/ 0 h 54"/>
              <a:gd name="T10" fmla="*/ 84 w 87"/>
              <a:gd name="T11" fmla="*/ 0 h 54"/>
              <a:gd name="T12" fmla="*/ 86 w 87"/>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87" h="54">
                <a:moveTo>
                  <a:pt x="86" y="4"/>
                </a:moveTo>
                <a:cubicBezTo>
                  <a:pt x="45" y="53"/>
                  <a:pt x="45" y="53"/>
                  <a:pt x="45" y="53"/>
                </a:cubicBezTo>
                <a:cubicBezTo>
                  <a:pt x="44" y="54"/>
                  <a:pt x="43" y="54"/>
                  <a:pt x="42" y="53"/>
                </a:cubicBezTo>
                <a:cubicBezTo>
                  <a:pt x="1" y="4"/>
                  <a:pt x="1" y="4"/>
                  <a:pt x="1" y="4"/>
                </a:cubicBezTo>
                <a:cubicBezTo>
                  <a:pt x="0" y="3"/>
                  <a:pt x="1" y="0"/>
                  <a:pt x="3" y="0"/>
                </a:cubicBezTo>
                <a:cubicBezTo>
                  <a:pt x="84" y="0"/>
                  <a:pt x="84" y="0"/>
                  <a:pt x="84" y="0"/>
                </a:cubicBezTo>
                <a:cubicBezTo>
                  <a:pt x="86" y="0"/>
                  <a:pt x="87" y="3"/>
                  <a:pt x="86" y="4"/>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1" name="Freeform 42">
            <a:extLst>
              <a:ext uri="{FF2B5EF4-FFF2-40B4-BE49-F238E27FC236}">
                <a16:creationId xmlns:a16="http://schemas.microsoft.com/office/drawing/2014/main" id="{05902159-A1C4-43AD-A194-6904D27E768A}"/>
              </a:ext>
            </a:extLst>
          </p:cNvPr>
          <p:cNvSpPr>
            <a:spLocks noChangeAspect="1"/>
          </p:cNvSpPr>
          <p:nvPr/>
        </p:nvSpPr>
        <p:spPr bwMode="auto">
          <a:xfrm>
            <a:off x="2516512" y="1039256"/>
            <a:ext cx="449982" cy="274320"/>
          </a:xfrm>
          <a:custGeom>
            <a:avLst/>
            <a:gdLst>
              <a:gd name="T0" fmla="*/ 86 w 87"/>
              <a:gd name="T1" fmla="*/ 49 h 53"/>
              <a:gd name="T2" fmla="*/ 45 w 87"/>
              <a:gd name="T3" fmla="*/ 1 h 53"/>
              <a:gd name="T4" fmla="*/ 42 w 87"/>
              <a:gd name="T5" fmla="*/ 1 h 53"/>
              <a:gd name="T6" fmla="*/ 1 w 87"/>
              <a:gd name="T7" fmla="*/ 49 h 53"/>
              <a:gd name="T8" fmla="*/ 3 w 87"/>
              <a:gd name="T9" fmla="*/ 53 h 53"/>
              <a:gd name="T10" fmla="*/ 84 w 87"/>
              <a:gd name="T11" fmla="*/ 53 h 53"/>
              <a:gd name="T12" fmla="*/ 86 w 87"/>
              <a:gd name="T13" fmla="*/ 49 h 53"/>
            </a:gdLst>
            <a:ahLst/>
            <a:cxnLst>
              <a:cxn ang="0">
                <a:pos x="T0" y="T1"/>
              </a:cxn>
              <a:cxn ang="0">
                <a:pos x="T2" y="T3"/>
              </a:cxn>
              <a:cxn ang="0">
                <a:pos x="T4" y="T5"/>
              </a:cxn>
              <a:cxn ang="0">
                <a:pos x="T6" y="T7"/>
              </a:cxn>
              <a:cxn ang="0">
                <a:pos x="T8" y="T9"/>
              </a:cxn>
              <a:cxn ang="0">
                <a:pos x="T10" y="T11"/>
              </a:cxn>
              <a:cxn ang="0">
                <a:pos x="T12" y="T13"/>
              </a:cxn>
            </a:cxnLst>
            <a:rect l="0" t="0" r="r" b="b"/>
            <a:pathLst>
              <a:path w="87" h="53">
                <a:moveTo>
                  <a:pt x="86" y="49"/>
                </a:moveTo>
                <a:cubicBezTo>
                  <a:pt x="45" y="1"/>
                  <a:pt x="45" y="1"/>
                  <a:pt x="45" y="1"/>
                </a:cubicBezTo>
                <a:cubicBezTo>
                  <a:pt x="44" y="0"/>
                  <a:pt x="43" y="0"/>
                  <a:pt x="42" y="1"/>
                </a:cubicBezTo>
                <a:cubicBezTo>
                  <a:pt x="1" y="49"/>
                  <a:pt x="1" y="49"/>
                  <a:pt x="1" y="49"/>
                </a:cubicBezTo>
                <a:cubicBezTo>
                  <a:pt x="0" y="51"/>
                  <a:pt x="1" y="53"/>
                  <a:pt x="3" y="53"/>
                </a:cubicBezTo>
                <a:cubicBezTo>
                  <a:pt x="84" y="53"/>
                  <a:pt x="84" y="53"/>
                  <a:pt x="84" y="53"/>
                </a:cubicBezTo>
                <a:cubicBezTo>
                  <a:pt x="86" y="53"/>
                  <a:pt x="87" y="51"/>
                  <a:pt x="86" y="49"/>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43">
            <a:extLst>
              <a:ext uri="{FF2B5EF4-FFF2-40B4-BE49-F238E27FC236}">
                <a16:creationId xmlns:a16="http://schemas.microsoft.com/office/drawing/2014/main" id="{FF22A093-A5A7-4A12-9D23-DE1B8C39A27F}"/>
              </a:ext>
            </a:extLst>
          </p:cNvPr>
          <p:cNvSpPr>
            <a:spLocks noChangeAspect="1"/>
          </p:cNvSpPr>
          <p:nvPr/>
        </p:nvSpPr>
        <p:spPr bwMode="auto">
          <a:xfrm>
            <a:off x="5305773" y="907072"/>
            <a:ext cx="266826" cy="274320"/>
          </a:xfrm>
          <a:custGeom>
            <a:avLst/>
            <a:gdLst>
              <a:gd name="T0" fmla="*/ 82 w 83"/>
              <a:gd name="T1" fmla="*/ 35 h 85"/>
              <a:gd name="T2" fmla="*/ 82 w 83"/>
              <a:gd name="T3" fmla="*/ 31 h 85"/>
              <a:gd name="T4" fmla="*/ 74 w 83"/>
              <a:gd name="T5" fmla="*/ 22 h 85"/>
              <a:gd name="T6" fmla="*/ 54 w 83"/>
              <a:gd name="T7" fmla="*/ 1 h 85"/>
              <a:gd name="T8" fmla="*/ 50 w 83"/>
              <a:gd name="T9" fmla="*/ 1 h 85"/>
              <a:gd name="T10" fmla="*/ 44 w 83"/>
              <a:gd name="T11" fmla="*/ 8 h 85"/>
              <a:gd name="T12" fmla="*/ 44 w 83"/>
              <a:gd name="T13" fmla="*/ 12 h 85"/>
              <a:gd name="T14" fmla="*/ 58 w 83"/>
              <a:gd name="T15" fmla="*/ 25 h 85"/>
              <a:gd name="T16" fmla="*/ 39 w 83"/>
              <a:gd name="T17" fmla="*/ 25 h 85"/>
              <a:gd name="T18" fmla="*/ 23 w 83"/>
              <a:gd name="T19" fmla="*/ 29 h 85"/>
              <a:gd name="T20" fmla="*/ 11 w 83"/>
              <a:gd name="T21" fmla="*/ 38 h 85"/>
              <a:gd name="T22" fmla="*/ 3 w 83"/>
              <a:gd name="T23" fmla="*/ 51 h 85"/>
              <a:gd name="T24" fmla="*/ 1 w 83"/>
              <a:gd name="T25" fmla="*/ 57 h 85"/>
              <a:gd name="T26" fmla="*/ 1 w 83"/>
              <a:gd name="T27" fmla="*/ 60 h 85"/>
              <a:gd name="T28" fmla="*/ 1 w 83"/>
              <a:gd name="T29" fmla="*/ 70 h 85"/>
              <a:gd name="T30" fmla="*/ 1 w 83"/>
              <a:gd name="T31" fmla="*/ 81 h 85"/>
              <a:gd name="T32" fmla="*/ 1 w 83"/>
              <a:gd name="T33" fmla="*/ 82 h 85"/>
              <a:gd name="T34" fmla="*/ 4 w 83"/>
              <a:gd name="T35" fmla="*/ 85 h 85"/>
              <a:gd name="T36" fmla="*/ 12 w 83"/>
              <a:gd name="T37" fmla="*/ 85 h 85"/>
              <a:gd name="T38" fmla="*/ 15 w 83"/>
              <a:gd name="T39" fmla="*/ 82 h 85"/>
              <a:gd name="T40" fmla="*/ 15 w 83"/>
              <a:gd name="T41" fmla="*/ 63 h 85"/>
              <a:gd name="T42" fmla="*/ 39 w 83"/>
              <a:gd name="T43" fmla="*/ 41 h 85"/>
              <a:gd name="T44" fmla="*/ 58 w 83"/>
              <a:gd name="T45" fmla="*/ 41 h 85"/>
              <a:gd name="T46" fmla="*/ 44 w 83"/>
              <a:gd name="T47" fmla="*/ 54 h 85"/>
              <a:gd name="T48" fmla="*/ 44 w 83"/>
              <a:gd name="T49" fmla="*/ 58 h 85"/>
              <a:gd name="T50" fmla="*/ 50 w 83"/>
              <a:gd name="T51" fmla="*/ 64 h 85"/>
              <a:gd name="T52" fmla="*/ 54 w 83"/>
              <a:gd name="T53" fmla="*/ 64 h 85"/>
              <a:gd name="T54" fmla="*/ 74 w 83"/>
              <a:gd name="T55" fmla="*/ 44 h 85"/>
              <a:gd name="T56" fmla="*/ 82 w 83"/>
              <a:gd name="T57" fmla="*/ 3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3" h="85">
                <a:moveTo>
                  <a:pt x="82" y="35"/>
                </a:moveTo>
                <a:cubicBezTo>
                  <a:pt x="83" y="34"/>
                  <a:pt x="83" y="32"/>
                  <a:pt x="82" y="31"/>
                </a:cubicBezTo>
                <a:cubicBezTo>
                  <a:pt x="74" y="22"/>
                  <a:pt x="74" y="22"/>
                  <a:pt x="74" y="22"/>
                </a:cubicBezTo>
                <a:cubicBezTo>
                  <a:pt x="54" y="1"/>
                  <a:pt x="54" y="1"/>
                  <a:pt x="54" y="1"/>
                </a:cubicBezTo>
                <a:cubicBezTo>
                  <a:pt x="53" y="0"/>
                  <a:pt x="51" y="0"/>
                  <a:pt x="50" y="1"/>
                </a:cubicBezTo>
                <a:cubicBezTo>
                  <a:pt x="44" y="8"/>
                  <a:pt x="44" y="8"/>
                  <a:pt x="44" y="8"/>
                </a:cubicBezTo>
                <a:cubicBezTo>
                  <a:pt x="43" y="9"/>
                  <a:pt x="43" y="11"/>
                  <a:pt x="44" y="12"/>
                </a:cubicBezTo>
                <a:cubicBezTo>
                  <a:pt x="44" y="12"/>
                  <a:pt x="58" y="25"/>
                  <a:pt x="58" y="25"/>
                </a:cubicBezTo>
                <a:cubicBezTo>
                  <a:pt x="58" y="25"/>
                  <a:pt x="39" y="25"/>
                  <a:pt x="39" y="25"/>
                </a:cubicBezTo>
                <a:cubicBezTo>
                  <a:pt x="33" y="25"/>
                  <a:pt x="28" y="27"/>
                  <a:pt x="23" y="29"/>
                </a:cubicBezTo>
                <a:cubicBezTo>
                  <a:pt x="19" y="31"/>
                  <a:pt x="14" y="34"/>
                  <a:pt x="11" y="38"/>
                </a:cubicBezTo>
                <a:cubicBezTo>
                  <a:pt x="8" y="42"/>
                  <a:pt x="5" y="46"/>
                  <a:pt x="3" y="51"/>
                </a:cubicBezTo>
                <a:cubicBezTo>
                  <a:pt x="2" y="53"/>
                  <a:pt x="2" y="55"/>
                  <a:pt x="1" y="57"/>
                </a:cubicBezTo>
                <a:cubicBezTo>
                  <a:pt x="1" y="58"/>
                  <a:pt x="1" y="59"/>
                  <a:pt x="1" y="60"/>
                </a:cubicBezTo>
                <a:cubicBezTo>
                  <a:pt x="0" y="63"/>
                  <a:pt x="1" y="67"/>
                  <a:pt x="1" y="70"/>
                </a:cubicBezTo>
                <a:cubicBezTo>
                  <a:pt x="1" y="74"/>
                  <a:pt x="1" y="78"/>
                  <a:pt x="1" y="81"/>
                </a:cubicBezTo>
                <a:cubicBezTo>
                  <a:pt x="1" y="82"/>
                  <a:pt x="1" y="82"/>
                  <a:pt x="1" y="82"/>
                </a:cubicBezTo>
                <a:cubicBezTo>
                  <a:pt x="1" y="84"/>
                  <a:pt x="2" y="85"/>
                  <a:pt x="4" y="85"/>
                </a:cubicBezTo>
                <a:cubicBezTo>
                  <a:pt x="12" y="85"/>
                  <a:pt x="12" y="85"/>
                  <a:pt x="12" y="85"/>
                </a:cubicBezTo>
                <a:cubicBezTo>
                  <a:pt x="14" y="85"/>
                  <a:pt x="15" y="84"/>
                  <a:pt x="15" y="82"/>
                </a:cubicBezTo>
                <a:cubicBezTo>
                  <a:pt x="15" y="63"/>
                  <a:pt x="15" y="63"/>
                  <a:pt x="15" y="63"/>
                </a:cubicBezTo>
                <a:cubicBezTo>
                  <a:pt x="16" y="50"/>
                  <a:pt x="26" y="41"/>
                  <a:pt x="39" y="41"/>
                </a:cubicBezTo>
                <a:cubicBezTo>
                  <a:pt x="39" y="41"/>
                  <a:pt x="58" y="41"/>
                  <a:pt x="58" y="41"/>
                </a:cubicBezTo>
                <a:cubicBezTo>
                  <a:pt x="44" y="54"/>
                  <a:pt x="44" y="54"/>
                  <a:pt x="44" y="54"/>
                </a:cubicBezTo>
                <a:cubicBezTo>
                  <a:pt x="43" y="55"/>
                  <a:pt x="43" y="57"/>
                  <a:pt x="44" y="58"/>
                </a:cubicBezTo>
                <a:cubicBezTo>
                  <a:pt x="50" y="64"/>
                  <a:pt x="50" y="64"/>
                  <a:pt x="50" y="64"/>
                </a:cubicBezTo>
                <a:cubicBezTo>
                  <a:pt x="51" y="66"/>
                  <a:pt x="53" y="66"/>
                  <a:pt x="54" y="64"/>
                </a:cubicBezTo>
                <a:cubicBezTo>
                  <a:pt x="74" y="44"/>
                  <a:pt x="74" y="44"/>
                  <a:pt x="74" y="44"/>
                </a:cubicBezTo>
                <a:lnTo>
                  <a:pt x="82" y="3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44">
            <a:extLst>
              <a:ext uri="{FF2B5EF4-FFF2-40B4-BE49-F238E27FC236}">
                <a16:creationId xmlns:a16="http://schemas.microsoft.com/office/drawing/2014/main" id="{30C654A7-C66E-4534-9631-427BB712C4DC}"/>
              </a:ext>
            </a:extLst>
          </p:cNvPr>
          <p:cNvSpPr>
            <a:spLocks noChangeAspect="1"/>
          </p:cNvSpPr>
          <p:nvPr/>
        </p:nvSpPr>
        <p:spPr bwMode="auto">
          <a:xfrm>
            <a:off x="6209984" y="907072"/>
            <a:ext cx="267576" cy="274320"/>
          </a:xfrm>
          <a:custGeom>
            <a:avLst/>
            <a:gdLst>
              <a:gd name="T0" fmla="*/ 1 w 83"/>
              <a:gd name="T1" fmla="*/ 35 h 85"/>
              <a:gd name="T2" fmla="*/ 1 w 83"/>
              <a:gd name="T3" fmla="*/ 31 h 85"/>
              <a:gd name="T4" fmla="*/ 9 w 83"/>
              <a:gd name="T5" fmla="*/ 22 h 85"/>
              <a:gd name="T6" fmla="*/ 29 w 83"/>
              <a:gd name="T7" fmla="*/ 1 h 85"/>
              <a:gd name="T8" fmla="*/ 33 w 83"/>
              <a:gd name="T9" fmla="*/ 1 h 85"/>
              <a:gd name="T10" fmla="*/ 39 w 83"/>
              <a:gd name="T11" fmla="*/ 8 h 85"/>
              <a:gd name="T12" fmla="*/ 39 w 83"/>
              <a:gd name="T13" fmla="*/ 12 h 85"/>
              <a:gd name="T14" fmla="*/ 25 w 83"/>
              <a:gd name="T15" fmla="*/ 25 h 85"/>
              <a:gd name="T16" fmla="*/ 44 w 83"/>
              <a:gd name="T17" fmla="*/ 25 h 85"/>
              <a:gd name="T18" fmla="*/ 60 w 83"/>
              <a:gd name="T19" fmla="*/ 29 h 85"/>
              <a:gd name="T20" fmla="*/ 72 w 83"/>
              <a:gd name="T21" fmla="*/ 38 h 85"/>
              <a:gd name="T22" fmla="*/ 80 w 83"/>
              <a:gd name="T23" fmla="*/ 51 h 85"/>
              <a:gd name="T24" fmla="*/ 82 w 83"/>
              <a:gd name="T25" fmla="*/ 57 h 85"/>
              <a:gd name="T26" fmla="*/ 82 w 83"/>
              <a:gd name="T27" fmla="*/ 60 h 85"/>
              <a:gd name="T28" fmla="*/ 83 w 83"/>
              <a:gd name="T29" fmla="*/ 70 h 85"/>
              <a:gd name="T30" fmla="*/ 83 w 83"/>
              <a:gd name="T31" fmla="*/ 81 h 85"/>
              <a:gd name="T32" fmla="*/ 83 w 83"/>
              <a:gd name="T33" fmla="*/ 82 h 85"/>
              <a:gd name="T34" fmla="*/ 79 w 83"/>
              <a:gd name="T35" fmla="*/ 85 h 85"/>
              <a:gd name="T36" fmla="*/ 71 w 83"/>
              <a:gd name="T37" fmla="*/ 85 h 85"/>
              <a:gd name="T38" fmla="*/ 68 w 83"/>
              <a:gd name="T39" fmla="*/ 82 h 85"/>
              <a:gd name="T40" fmla="*/ 68 w 83"/>
              <a:gd name="T41" fmla="*/ 63 h 85"/>
              <a:gd name="T42" fmla="*/ 44 w 83"/>
              <a:gd name="T43" fmla="*/ 41 h 85"/>
              <a:gd name="T44" fmla="*/ 25 w 83"/>
              <a:gd name="T45" fmla="*/ 41 h 85"/>
              <a:gd name="T46" fmla="*/ 39 w 83"/>
              <a:gd name="T47" fmla="*/ 54 h 85"/>
              <a:gd name="T48" fmla="*/ 39 w 83"/>
              <a:gd name="T49" fmla="*/ 58 h 85"/>
              <a:gd name="T50" fmla="*/ 33 w 83"/>
              <a:gd name="T51" fmla="*/ 64 h 85"/>
              <a:gd name="T52" fmla="*/ 29 w 83"/>
              <a:gd name="T53" fmla="*/ 64 h 85"/>
              <a:gd name="T54" fmla="*/ 9 w 83"/>
              <a:gd name="T55" fmla="*/ 44 h 85"/>
              <a:gd name="T56" fmla="*/ 1 w 83"/>
              <a:gd name="T57" fmla="*/ 3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3" h="85">
                <a:moveTo>
                  <a:pt x="1" y="35"/>
                </a:moveTo>
                <a:cubicBezTo>
                  <a:pt x="0" y="34"/>
                  <a:pt x="0" y="32"/>
                  <a:pt x="1" y="31"/>
                </a:cubicBezTo>
                <a:cubicBezTo>
                  <a:pt x="9" y="22"/>
                  <a:pt x="9" y="22"/>
                  <a:pt x="9" y="22"/>
                </a:cubicBezTo>
                <a:cubicBezTo>
                  <a:pt x="29" y="1"/>
                  <a:pt x="29" y="1"/>
                  <a:pt x="29" y="1"/>
                </a:cubicBezTo>
                <a:cubicBezTo>
                  <a:pt x="30" y="0"/>
                  <a:pt x="32" y="0"/>
                  <a:pt x="33" y="1"/>
                </a:cubicBezTo>
                <a:cubicBezTo>
                  <a:pt x="39" y="8"/>
                  <a:pt x="39" y="8"/>
                  <a:pt x="39" y="8"/>
                </a:cubicBezTo>
                <a:cubicBezTo>
                  <a:pt x="40" y="9"/>
                  <a:pt x="40" y="11"/>
                  <a:pt x="39" y="12"/>
                </a:cubicBezTo>
                <a:cubicBezTo>
                  <a:pt x="39" y="12"/>
                  <a:pt x="25" y="25"/>
                  <a:pt x="25" y="25"/>
                </a:cubicBezTo>
                <a:cubicBezTo>
                  <a:pt x="25" y="25"/>
                  <a:pt x="44" y="25"/>
                  <a:pt x="44" y="25"/>
                </a:cubicBezTo>
                <a:cubicBezTo>
                  <a:pt x="50" y="25"/>
                  <a:pt x="55" y="27"/>
                  <a:pt x="60" y="29"/>
                </a:cubicBezTo>
                <a:cubicBezTo>
                  <a:pt x="64" y="31"/>
                  <a:pt x="69" y="34"/>
                  <a:pt x="72" y="38"/>
                </a:cubicBezTo>
                <a:cubicBezTo>
                  <a:pt x="76" y="42"/>
                  <a:pt x="78" y="46"/>
                  <a:pt x="80" y="51"/>
                </a:cubicBezTo>
                <a:cubicBezTo>
                  <a:pt x="81" y="53"/>
                  <a:pt x="81" y="55"/>
                  <a:pt x="82" y="57"/>
                </a:cubicBezTo>
                <a:cubicBezTo>
                  <a:pt x="82" y="58"/>
                  <a:pt x="82" y="59"/>
                  <a:pt x="82" y="60"/>
                </a:cubicBezTo>
                <a:cubicBezTo>
                  <a:pt x="83" y="63"/>
                  <a:pt x="83" y="67"/>
                  <a:pt x="83" y="70"/>
                </a:cubicBezTo>
                <a:cubicBezTo>
                  <a:pt x="83" y="74"/>
                  <a:pt x="83" y="78"/>
                  <a:pt x="83" y="81"/>
                </a:cubicBezTo>
                <a:cubicBezTo>
                  <a:pt x="83" y="82"/>
                  <a:pt x="83" y="82"/>
                  <a:pt x="83" y="82"/>
                </a:cubicBezTo>
                <a:cubicBezTo>
                  <a:pt x="83" y="84"/>
                  <a:pt x="81" y="85"/>
                  <a:pt x="79" y="85"/>
                </a:cubicBezTo>
                <a:cubicBezTo>
                  <a:pt x="71" y="85"/>
                  <a:pt x="71" y="85"/>
                  <a:pt x="71" y="85"/>
                </a:cubicBezTo>
                <a:cubicBezTo>
                  <a:pt x="69" y="85"/>
                  <a:pt x="68" y="84"/>
                  <a:pt x="68" y="82"/>
                </a:cubicBezTo>
                <a:cubicBezTo>
                  <a:pt x="68" y="63"/>
                  <a:pt x="68" y="63"/>
                  <a:pt x="68" y="63"/>
                </a:cubicBezTo>
                <a:cubicBezTo>
                  <a:pt x="67" y="50"/>
                  <a:pt x="57" y="41"/>
                  <a:pt x="44" y="41"/>
                </a:cubicBezTo>
                <a:cubicBezTo>
                  <a:pt x="44" y="41"/>
                  <a:pt x="25" y="41"/>
                  <a:pt x="25" y="41"/>
                </a:cubicBezTo>
                <a:cubicBezTo>
                  <a:pt x="39" y="54"/>
                  <a:pt x="39" y="54"/>
                  <a:pt x="39" y="54"/>
                </a:cubicBezTo>
                <a:cubicBezTo>
                  <a:pt x="40" y="55"/>
                  <a:pt x="40" y="57"/>
                  <a:pt x="39" y="58"/>
                </a:cubicBezTo>
                <a:cubicBezTo>
                  <a:pt x="33" y="64"/>
                  <a:pt x="33" y="64"/>
                  <a:pt x="33" y="64"/>
                </a:cubicBezTo>
                <a:cubicBezTo>
                  <a:pt x="32" y="66"/>
                  <a:pt x="30" y="66"/>
                  <a:pt x="29" y="64"/>
                </a:cubicBezTo>
                <a:cubicBezTo>
                  <a:pt x="9" y="44"/>
                  <a:pt x="9" y="44"/>
                  <a:pt x="9" y="44"/>
                </a:cubicBezTo>
                <a:lnTo>
                  <a:pt x="1" y="3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45">
            <a:extLst>
              <a:ext uri="{FF2B5EF4-FFF2-40B4-BE49-F238E27FC236}">
                <a16:creationId xmlns:a16="http://schemas.microsoft.com/office/drawing/2014/main" id="{3EDCAE17-F991-4C1D-972A-CDB1B406458A}"/>
              </a:ext>
            </a:extLst>
          </p:cNvPr>
          <p:cNvSpPr>
            <a:spLocks noChangeAspect="1" noEditPoints="1"/>
          </p:cNvSpPr>
          <p:nvPr/>
        </p:nvSpPr>
        <p:spPr bwMode="auto">
          <a:xfrm>
            <a:off x="7133352" y="907072"/>
            <a:ext cx="273570" cy="274320"/>
          </a:xfrm>
          <a:custGeom>
            <a:avLst/>
            <a:gdLst>
              <a:gd name="T0" fmla="*/ 43 w 85"/>
              <a:gd name="T1" fmla="*/ 0 h 85"/>
              <a:gd name="T2" fmla="*/ 0 w 85"/>
              <a:gd name="T3" fmla="*/ 43 h 85"/>
              <a:gd name="T4" fmla="*/ 43 w 85"/>
              <a:gd name="T5" fmla="*/ 85 h 85"/>
              <a:gd name="T6" fmla="*/ 85 w 85"/>
              <a:gd name="T7" fmla="*/ 43 h 85"/>
              <a:gd name="T8" fmla="*/ 43 w 85"/>
              <a:gd name="T9" fmla="*/ 0 h 85"/>
              <a:gd name="T10" fmla="*/ 65 w 85"/>
              <a:gd name="T11" fmla="*/ 30 h 85"/>
              <a:gd name="T12" fmla="*/ 36 w 85"/>
              <a:gd name="T13" fmla="*/ 64 h 85"/>
              <a:gd name="T14" fmla="*/ 34 w 85"/>
              <a:gd name="T15" fmla="*/ 64 h 85"/>
              <a:gd name="T16" fmla="*/ 17 w 85"/>
              <a:gd name="T17" fmla="*/ 49 h 85"/>
              <a:gd name="T18" fmla="*/ 17 w 85"/>
              <a:gd name="T19" fmla="*/ 47 h 85"/>
              <a:gd name="T20" fmla="*/ 21 w 85"/>
              <a:gd name="T21" fmla="*/ 42 h 85"/>
              <a:gd name="T22" fmla="*/ 24 w 85"/>
              <a:gd name="T23" fmla="*/ 42 h 85"/>
              <a:gd name="T24" fmla="*/ 34 w 85"/>
              <a:gd name="T25" fmla="*/ 52 h 85"/>
              <a:gd name="T26" fmla="*/ 58 w 85"/>
              <a:gd name="T27" fmla="*/ 24 h 85"/>
              <a:gd name="T28" fmla="*/ 60 w 85"/>
              <a:gd name="T29" fmla="*/ 24 h 85"/>
              <a:gd name="T30" fmla="*/ 65 w 85"/>
              <a:gd name="T31" fmla="*/ 28 h 85"/>
              <a:gd name="T32" fmla="*/ 65 w 85"/>
              <a:gd name="T33" fmla="*/ 3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85">
                <a:moveTo>
                  <a:pt x="43" y="0"/>
                </a:moveTo>
                <a:cubicBezTo>
                  <a:pt x="19" y="0"/>
                  <a:pt x="0" y="19"/>
                  <a:pt x="0" y="43"/>
                </a:cubicBezTo>
                <a:cubicBezTo>
                  <a:pt x="0" y="66"/>
                  <a:pt x="19" y="85"/>
                  <a:pt x="43" y="85"/>
                </a:cubicBezTo>
                <a:cubicBezTo>
                  <a:pt x="66" y="85"/>
                  <a:pt x="85" y="66"/>
                  <a:pt x="85" y="43"/>
                </a:cubicBezTo>
                <a:cubicBezTo>
                  <a:pt x="85" y="19"/>
                  <a:pt x="66" y="0"/>
                  <a:pt x="43" y="0"/>
                </a:cubicBezTo>
                <a:close/>
                <a:moveTo>
                  <a:pt x="65" y="30"/>
                </a:moveTo>
                <a:cubicBezTo>
                  <a:pt x="36" y="64"/>
                  <a:pt x="36" y="64"/>
                  <a:pt x="36" y="64"/>
                </a:cubicBezTo>
                <a:cubicBezTo>
                  <a:pt x="36" y="65"/>
                  <a:pt x="35" y="65"/>
                  <a:pt x="34" y="64"/>
                </a:cubicBezTo>
                <a:cubicBezTo>
                  <a:pt x="17" y="49"/>
                  <a:pt x="17" y="49"/>
                  <a:pt x="17" y="49"/>
                </a:cubicBezTo>
                <a:cubicBezTo>
                  <a:pt x="17" y="48"/>
                  <a:pt x="17" y="47"/>
                  <a:pt x="17" y="47"/>
                </a:cubicBezTo>
                <a:cubicBezTo>
                  <a:pt x="21" y="42"/>
                  <a:pt x="21" y="42"/>
                  <a:pt x="21" y="42"/>
                </a:cubicBezTo>
                <a:cubicBezTo>
                  <a:pt x="22" y="42"/>
                  <a:pt x="23" y="42"/>
                  <a:pt x="24" y="42"/>
                </a:cubicBezTo>
                <a:cubicBezTo>
                  <a:pt x="34" y="52"/>
                  <a:pt x="34" y="52"/>
                  <a:pt x="34" y="52"/>
                </a:cubicBezTo>
                <a:cubicBezTo>
                  <a:pt x="58" y="24"/>
                  <a:pt x="58" y="24"/>
                  <a:pt x="58" y="24"/>
                </a:cubicBezTo>
                <a:cubicBezTo>
                  <a:pt x="59" y="23"/>
                  <a:pt x="60" y="23"/>
                  <a:pt x="60" y="24"/>
                </a:cubicBezTo>
                <a:cubicBezTo>
                  <a:pt x="65" y="28"/>
                  <a:pt x="65" y="28"/>
                  <a:pt x="65" y="28"/>
                </a:cubicBezTo>
                <a:cubicBezTo>
                  <a:pt x="66" y="28"/>
                  <a:pt x="66" y="29"/>
                  <a:pt x="65" y="3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46">
            <a:extLst>
              <a:ext uri="{FF2B5EF4-FFF2-40B4-BE49-F238E27FC236}">
                <a16:creationId xmlns:a16="http://schemas.microsoft.com/office/drawing/2014/main" id="{E30A0BDD-2503-441C-BB2D-AF3A0D22EAD7}"/>
              </a:ext>
            </a:extLst>
          </p:cNvPr>
          <p:cNvSpPr>
            <a:spLocks noChangeAspect="1"/>
          </p:cNvSpPr>
          <p:nvPr/>
        </p:nvSpPr>
        <p:spPr bwMode="auto">
          <a:xfrm>
            <a:off x="9123766" y="907072"/>
            <a:ext cx="155694" cy="274320"/>
          </a:xfrm>
          <a:custGeom>
            <a:avLst/>
            <a:gdLst>
              <a:gd name="T0" fmla="*/ 7 w 49"/>
              <a:gd name="T1" fmla="*/ 0 h 86"/>
              <a:gd name="T2" fmla="*/ 48 w 49"/>
              <a:gd name="T3" fmla="*/ 42 h 86"/>
              <a:gd name="T4" fmla="*/ 48 w 49"/>
              <a:gd name="T5" fmla="*/ 43 h 86"/>
              <a:gd name="T6" fmla="*/ 48 w 49"/>
              <a:gd name="T7" fmla="*/ 44 h 86"/>
              <a:gd name="T8" fmla="*/ 7 w 49"/>
              <a:gd name="T9" fmla="*/ 85 h 86"/>
              <a:gd name="T10" fmla="*/ 5 w 49"/>
              <a:gd name="T11" fmla="*/ 85 h 86"/>
              <a:gd name="T12" fmla="*/ 1 w 49"/>
              <a:gd name="T13" fmla="*/ 81 h 86"/>
              <a:gd name="T14" fmla="*/ 1 w 49"/>
              <a:gd name="T15" fmla="*/ 79 h 86"/>
              <a:gd name="T16" fmla="*/ 38 w 49"/>
              <a:gd name="T17" fmla="*/ 43 h 86"/>
              <a:gd name="T18" fmla="*/ 1 w 49"/>
              <a:gd name="T19" fmla="*/ 6 h 86"/>
              <a:gd name="T20" fmla="*/ 1 w 49"/>
              <a:gd name="T21" fmla="*/ 4 h 86"/>
              <a:gd name="T22" fmla="*/ 5 w 49"/>
              <a:gd name="T23" fmla="*/ 0 h 86"/>
              <a:gd name="T24" fmla="*/ 7 w 49"/>
              <a:gd name="T2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86">
                <a:moveTo>
                  <a:pt x="7" y="0"/>
                </a:moveTo>
                <a:cubicBezTo>
                  <a:pt x="48" y="42"/>
                  <a:pt x="48" y="42"/>
                  <a:pt x="48" y="42"/>
                </a:cubicBezTo>
                <a:cubicBezTo>
                  <a:pt x="49" y="42"/>
                  <a:pt x="49" y="43"/>
                  <a:pt x="48" y="43"/>
                </a:cubicBezTo>
                <a:cubicBezTo>
                  <a:pt x="48" y="44"/>
                  <a:pt x="48" y="44"/>
                  <a:pt x="48" y="44"/>
                </a:cubicBezTo>
                <a:cubicBezTo>
                  <a:pt x="7" y="85"/>
                  <a:pt x="7" y="85"/>
                  <a:pt x="7" y="85"/>
                </a:cubicBezTo>
                <a:cubicBezTo>
                  <a:pt x="6" y="86"/>
                  <a:pt x="5" y="86"/>
                  <a:pt x="5" y="85"/>
                </a:cubicBezTo>
                <a:cubicBezTo>
                  <a:pt x="1" y="81"/>
                  <a:pt x="1" y="81"/>
                  <a:pt x="1" y="81"/>
                </a:cubicBezTo>
                <a:cubicBezTo>
                  <a:pt x="0" y="81"/>
                  <a:pt x="0" y="80"/>
                  <a:pt x="1" y="79"/>
                </a:cubicBezTo>
                <a:cubicBezTo>
                  <a:pt x="38" y="43"/>
                  <a:pt x="38" y="43"/>
                  <a:pt x="38" y="43"/>
                </a:cubicBezTo>
                <a:cubicBezTo>
                  <a:pt x="1" y="6"/>
                  <a:pt x="1" y="6"/>
                  <a:pt x="1" y="6"/>
                </a:cubicBezTo>
                <a:cubicBezTo>
                  <a:pt x="0" y="6"/>
                  <a:pt x="0" y="5"/>
                  <a:pt x="1" y="4"/>
                </a:cubicBezTo>
                <a:cubicBezTo>
                  <a:pt x="5" y="0"/>
                  <a:pt x="5" y="0"/>
                  <a:pt x="5" y="0"/>
                </a:cubicBezTo>
                <a:cubicBezTo>
                  <a:pt x="5" y="0"/>
                  <a:pt x="6" y="0"/>
                  <a:pt x="7" y="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47">
            <a:extLst>
              <a:ext uri="{FF2B5EF4-FFF2-40B4-BE49-F238E27FC236}">
                <a16:creationId xmlns:a16="http://schemas.microsoft.com/office/drawing/2014/main" id="{31A2047C-A02C-48A9-881F-C6C82ED992ED}"/>
              </a:ext>
            </a:extLst>
          </p:cNvPr>
          <p:cNvSpPr>
            <a:spLocks noChangeAspect="1"/>
          </p:cNvSpPr>
          <p:nvPr/>
        </p:nvSpPr>
        <p:spPr bwMode="auto">
          <a:xfrm>
            <a:off x="9897709" y="1064159"/>
            <a:ext cx="486054" cy="274320"/>
          </a:xfrm>
          <a:custGeom>
            <a:avLst/>
            <a:gdLst>
              <a:gd name="T0" fmla="*/ 85 w 85"/>
              <a:gd name="T1" fmla="*/ 6 h 48"/>
              <a:gd name="T2" fmla="*/ 44 w 85"/>
              <a:gd name="T3" fmla="*/ 47 h 48"/>
              <a:gd name="T4" fmla="*/ 42 w 85"/>
              <a:gd name="T5" fmla="*/ 48 h 48"/>
              <a:gd name="T6" fmla="*/ 41 w 85"/>
              <a:gd name="T7" fmla="*/ 47 h 48"/>
              <a:gd name="T8" fmla="*/ 0 w 85"/>
              <a:gd name="T9" fmla="*/ 6 h 48"/>
              <a:gd name="T10" fmla="*/ 0 w 85"/>
              <a:gd name="T11" fmla="*/ 4 h 48"/>
              <a:gd name="T12" fmla="*/ 4 w 85"/>
              <a:gd name="T13" fmla="*/ 0 h 48"/>
              <a:gd name="T14" fmla="*/ 6 w 85"/>
              <a:gd name="T15" fmla="*/ 0 h 48"/>
              <a:gd name="T16" fmla="*/ 43 w 85"/>
              <a:gd name="T17" fmla="*/ 37 h 48"/>
              <a:gd name="T18" fmla="*/ 79 w 85"/>
              <a:gd name="T19" fmla="*/ 0 h 48"/>
              <a:gd name="T20" fmla="*/ 81 w 85"/>
              <a:gd name="T21" fmla="*/ 0 h 48"/>
              <a:gd name="T22" fmla="*/ 85 w 85"/>
              <a:gd name="T23" fmla="*/ 4 h 48"/>
              <a:gd name="T24" fmla="*/ 85 w 85"/>
              <a:gd name="T25"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48">
                <a:moveTo>
                  <a:pt x="85" y="6"/>
                </a:moveTo>
                <a:cubicBezTo>
                  <a:pt x="44" y="47"/>
                  <a:pt x="44" y="47"/>
                  <a:pt x="44" y="47"/>
                </a:cubicBezTo>
                <a:cubicBezTo>
                  <a:pt x="43" y="48"/>
                  <a:pt x="43" y="48"/>
                  <a:pt x="42" y="48"/>
                </a:cubicBezTo>
                <a:cubicBezTo>
                  <a:pt x="42" y="48"/>
                  <a:pt x="42" y="47"/>
                  <a:pt x="41" y="47"/>
                </a:cubicBezTo>
                <a:cubicBezTo>
                  <a:pt x="0" y="6"/>
                  <a:pt x="0" y="6"/>
                  <a:pt x="0" y="6"/>
                </a:cubicBezTo>
                <a:cubicBezTo>
                  <a:pt x="0" y="5"/>
                  <a:pt x="0" y="4"/>
                  <a:pt x="0" y="4"/>
                </a:cubicBezTo>
                <a:cubicBezTo>
                  <a:pt x="4" y="0"/>
                  <a:pt x="4" y="0"/>
                  <a:pt x="4" y="0"/>
                </a:cubicBezTo>
                <a:cubicBezTo>
                  <a:pt x="4" y="0"/>
                  <a:pt x="5" y="0"/>
                  <a:pt x="6" y="0"/>
                </a:cubicBezTo>
                <a:cubicBezTo>
                  <a:pt x="43" y="37"/>
                  <a:pt x="43" y="37"/>
                  <a:pt x="43" y="37"/>
                </a:cubicBezTo>
                <a:cubicBezTo>
                  <a:pt x="79" y="0"/>
                  <a:pt x="79" y="0"/>
                  <a:pt x="79" y="0"/>
                </a:cubicBezTo>
                <a:cubicBezTo>
                  <a:pt x="80" y="0"/>
                  <a:pt x="81" y="0"/>
                  <a:pt x="81" y="0"/>
                </a:cubicBezTo>
                <a:cubicBezTo>
                  <a:pt x="85" y="4"/>
                  <a:pt x="85" y="4"/>
                  <a:pt x="85" y="4"/>
                </a:cubicBezTo>
                <a:cubicBezTo>
                  <a:pt x="85" y="4"/>
                  <a:pt x="85" y="5"/>
                  <a:pt x="85" y="6"/>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48">
            <a:extLst>
              <a:ext uri="{FF2B5EF4-FFF2-40B4-BE49-F238E27FC236}">
                <a16:creationId xmlns:a16="http://schemas.microsoft.com/office/drawing/2014/main" id="{62E8412B-93A1-42BD-BE1C-EAFA5A37CFF5}"/>
              </a:ext>
            </a:extLst>
          </p:cNvPr>
          <p:cNvSpPr>
            <a:spLocks noChangeAspect="1"/>
          </p:cNvSpPr>
          <p:nvPr/>
        </p:nvSpPr>
        <p:spPr bwMode="auto">
          <a:xfrm>
            <a:off x="10819161" y="1064159"/>
            <a:ext cx="486054" cy="274320"/>
          </a:xfrm>
          <a:custGeom>
            <a:avLst/>
            <a:gdLst>
              <a:gd name="T0" fmla="*/ 85 w 85"/>
              <a:gd name="T1" fmla="*/ 42 h 48"/>
              <a:gd name="T2" fmla="*/ 44 w 85"/>
              <a:gd name="T3" fmla="*/ 0 h 48"/>
              <a:gd name="T4" fmla="*/ 42 w 85"/>
              <a:gd name="T5" fmla="*/ 0 h 48"/>
              <a:gd name="T6" fmla="*/ 41 w 85"/>
              <a:gd name="T7" fmla="*/ 0 h 48"/>
              <a:gd name="T8" fmla="*/ 0 w 85"/>
              <a:gd name="T9" fmla="*/ 42 h 48"/>
              <a:gd name="T10" fmla="*/ 0 w 85"/>
              <a:gd name="T11" fmla="*/ 44 h 48"/>
              <a:gd name="T12" fmla="*/ 4 w 85"/>
              <a:gd name="T13" fmla="*/ 47 h 48"/>
              <a:gd name="T14" fmla="*/ 6 w 85"/>
              <a:gd name="T15" fmla="*/ 47 h 48"/>
              <a:gd name="T16" fmla="*/ 43 w 85"/>
              <a:gd name="T17" fmla="*/ 10 h 48"/>
              <a:gd name="T18" fmla="*/ 79 w 85"/>
              <a:gd name="T19" fmla="*/ 47 h 48"/>
              <a:gd name="T20" fmla="*/ 81 w 85"/>
              <a:gd name="T21" fmla="*/ 47 h 48"/>
              <a:gd name="T22" fmla="*/ 85 w 85"/>
              <a:gd name="T23" fmla="*/ 44 h 48"/>
              <a:gd name="T24" fmla="*/ 85 w 85"/>
              <a:gd name="T25" fmla="*/ 4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48">
                <a:moveTo>
                  <a:pt x="85" y="42"/>
                </a:moveTo>
                <a:cubicBezTo>
                  <a:pt x="44" y="0"/>
                  <a:pt x="44" y="0"/>
                  <a:pt x="44" y="0"/>
                </a:cubicBezTo>
                <a:cubicBezTo>
                  <a:pt x="43" y="0"/>
                  <a:pt x="43" y="0"/>
                  <a:pt x="42" y="0"/>
                </a:cubicBezTo>
                <a:cubicBezTo>
                  <a:pt x="42" y="0"/>
                  <a:pt x="42" y="0"/>
                  <a:pt x="41" y="0"/>
                </a:cubicBezTo>
                <a:cubicBezTo>
                  <a:pt x="0" y="42"/>
                  <a:pt x="0" y="42"/>
                  <a:pt x="0" y="42"/>
                </a:cubicBezTo>
                <a:cubicBezTo>
                  <a:pt x="0" y="42"/>
                  <a:pt x="0" y="43"/>
                  <a:pt x="0" y="44"/>
                </a:cubicBezTo>
                <a:cubicBezTo>
                  <a:pt x="4" y="47"/>
                  <a:pt x="4" y="47"/>
                  <a:pt x="4" y="47"/>
                </a:cubicBezTo>
                <a:cubicBezTo>
                  <a:pt x="4" y="48"/>
                  <a:pt x="5" y="48"/>
                  <a:pt x="6" y="47"/>
                </a:cubicBezTo>
                <a:cubicBezTo>
                  <a:pt x="43" y="10"/>
                  <a:pt x="43" y="10"/>
                  <a:pt x="43" y="10"/>
                </a:cubicBezTo>
                <a:cubicBezTo>
                  <a:pt x="79" y="47"/>
                  <a:pt x="79" y="47"/>
                  <a:pt x="79" y="47"/>
                </a:cubicBezTo>
                <a:cubicBezTo>
                  <a:pt x="80" y="48"/>
                  <a:pt x="81" y="48"/>
                  <a:pt x="81" y="47"/>
                </a:cubicBezTo>
                <a:cubicBezTo>
                  <a:pt x="85" y="44"/>
                  <a:pt x="85" y="44"/>
                  <a:pt x="85" y="44"/>
                </a:cubicBezTo>
                <a:cubicBezTo>
                  <a:pt x="85" y="43"/>
                  <a:pt x="85" y="42"/>
                  <a:pt x="85" y="4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49">
            <a:extLst>
              <a:ext uri="{FF2B5EF4-FFF2-40B4-BE49-F238E27FC236}">
                <a16:creationId xmlns:a16="http://schemas.microsoft.com/office/drawing/2014/main" id="{9EC029FF-8115-462F-9B5C-D840DF693C37}"/>
              </a:ext>
            </a:extLst>
          </p:cNvPr>
          <p:cNvSpPr>
            <a:spLocks noChangeAspect="1"/>
          </p:cNvSpPr>
          <p:nvPr/>
        </p:nvSpPr>
        <p:spPr bwMode="auto">
          <a:xfrm>
            <a:off x="8202313" y="907072"/>
            <a:ext cx="155694" cy="274320"/>
          </a:xfrm>
          <a:custGeom>
            <a:avLst/>
            <a:gdLst>
              <a:gd name="T0" fmla="*/ 43 w 49"/>
              <a:gd name="T1" fmla="*/ 0 h 86"/>
              <a:gd name="T2" fmla="*/ 1 w 49"/>
              <a:gd name="T3" fmla="*/ 42 h 86"/>
              <a:gd name="T4" fmla="*/ 1 w 49"/>
              <a:gd name="T5" fmla="*/ 43 h 86"/>
              <a:gd name="T6" fmla="*/ 1 w 49"/>
              <a:gd name="T7" fmla="*/ 44 h 86"/>
              <a:gd name="T8" fmla="*/ 43 w 49"/>
              <a:gd name="T9" fmla="*/ 85 h 86"/>
              <a:gd name="T10" fmla="*/ 44 w 49"/>
              <a:gd name="T11" fmla="*/ 85 h 86"/>
              <a:gd name="T12" fmla="*/ 48 w 49"/>
              <a:gd name="T13" fmla="*/ 81 h 86"/>
              <a:gd name="T14" fmla="*/ 48 w 49"/>
              <a:gd name="T15" fmla="*/ 79 h 86"/>
              <a:gd name="T16" fmla="*/ 11 w 49"/>
              <a:gd name="T17" fmla="*/ 43 h 86"/>
              <a:gd name="T18" fmla="*/ 48 w 49"/>
              <a:gd name="T19" fmla="*/ 6 h 86"/>
              <a:gd name="T20" fmla="*/ 48 w 49"/>
              <a:gd name="T21" fmla="*/ 4 h 86"/>
              <a:gd name="T22" fmla="*/ 44 w 49"/>
              <a:gd name="T23" fmla="*/ 0 h 86"/>
              <a:gd name="T24" fmla="*/ 43 w 49"/>
              <a:gd name="T25"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86">
                <a:moveTo>
                  <a:pt x="43" y="0"/>
                </a:moveTo>
                <a:cubicBezTo>
                  <a:pt x="1" y="42"/>
                  <a:pt x="1" y="42"/>
                  <a:pt x="1" y="42"/>
                </a:cubicBezTo>
                <a:cubicBezTo>
                  <a:pt x="0" y="42"/>
                  <a:pt x="0" y="43"/>
                  <a:pt x="1" y="43"/>
                </a:cubicBezTo>
                <a:cubicBezTo>
                  <a:pt x="1" y="44"/>
                  <a:pt x="1" y="44"/>
                  <a:pt x="1" y="44"/>
                </a:cubicBezTo>
                <a:cubicBezTo>
                  <a:pt x="43" y="85"/>
                  <a:pt x="43" y="85"/>
                  <a:pt x="43" y="85"/>
                </a:cubicBezTo>
                <a:cubicBezTo>
                  <a:pt x="43" y="86"/>
                  <a:pt x="44" y="86"/>
                  <a:pt x="44" y="85"/>
                </a:cubicBezTo>
                <a:cubicBezTo>
                  <a:pt x="48" y="81"/>
                  <a:pt x="48" y="81"/>
                  <a:pt x="48" y="81"/>
                </a:cubicBezTo>
                <a:cubicBezTo>
                  <a:pt x="49" y="81"/>
                  <a:pt x="49" y="80"/>
                  <a:pt x="48" y="79"/>
                </a:cubicBezTo>
                <a:cubicBezTo>
                  <a:pt x="11" y="43"/>
                  <a:pt x="11" y="43"/>
                  <a:pt x="11" y="43"/>
                </a:cubicBezTo>
                <a:cubicBezTo>
                  <a:pt x="48" y="6"/>
                  <a:pt x="48" y="6"/>
                  <a:pt x="48" y="6"/>
                </a:cubicBezTo>
                <a:cubicBezTo>
                  <a:pt x="49" y="6"/>
                  <a:pt x="49" y="5"/>
                  <a:pt x="48" y="4"/>
                </a:cubicBezTo>
                <a:cubicBezTo>
                  <a:pt x="44" y="0"/>
                  <a:pt x="44" y="0"/>
                  <a:pt x="44" y="0"/>
                </a:cubicBezTo>
                <a:cubicBezTo>
                  <a:pt x="44" y="0"/>
                  <a:pt x="43" y="0"/>
                  <a:pt x="43" y="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9" name="Group 18">
            <a:extLst>
              <a:ext uri="{FF2B5EF4-FFF2-40B4-BE49-F238E27FC236}">
                <a16:creationId xmlns:a16="http://schemas.microsoft.com/office/drawing/2014/main" id="{F60CBE82-BE13-41C7-A0A8-649E2ECA47D1}"/>
              </a:ext>
            </a:extLst>
          </p:cNvPr>
          <p:cNvGrpSpPr>
            <a:grpSpLocks noChangeAspect="1"/>
          </p:cNvGrpSpPr>
          <p:nvPr/>
        </p:nvGrpSpPr>
        <p:grpSpPr>
          <a:xfrm>
            <a:off x="1602724" y="1928141"/>
            <a:ext cx="382164" cy="274320"/>
            <a:chOff x="1801813" y="2652713"/>
            <a:chExt cx="579437" cy="415925"/>
          </a:xfrm>
          <a:solidFill>
            <a:srgbClr val="595555"/>
          </a:solidFill>
        </p:grpSpPr>
        <p:sp>
          <p:nvSpPr>
            <p:cNvPr id="20" name="Freeform 50">
              <a:extLst>
                <a:ext uri="{FF2B5EF4-FFF2-40B4-BE49-F238E27FC236}">
                  <a16:creationId xmlns:a16="http://schemas.microsoft.com/office/drawing/2014/main" id="{4BA90EBB-BD7B-4589-BC9C-56DC73A3A3D3}"/>
                </a:ext>
              </a:extLst>
            </p:cNvPr>
            <p:cNvSpPr>
              <a:spLocks/>
            </p:cNvSpPr>
            <p:nvPr/>
          </p:nvSpPr>
          <p:spPr bwMode="auto">
            <a:xfrm>
              <a:off x="1911350" y="2795588"/>
              <a:ext cx="469900" cy="273050"/>
            </a:xfrm>
            <a:custGeom>
              <a:avLst/>
              <a:gdLst>
                <a:gd name="T0" fmla="*/ 69 w 69"/>
                <a:gd name="T1" fmla="*/ 18 h 40"/>
                <a:gd name="T2" fmla="*/ 60 w 69"/>
                <a:gd name="T3" fmla="*/ 6 h 40"/>
                <a:gd name="T4" fmla="*/ 60 w 69"/>
                <a:gd name="T5" fmla="*/ 5 h 40"/>
                <a:gd name="T6" fmla="*/ 57 w 69"/>
                <a:gd name="T7" fmla="*/ 1 h 40"/>
                <a:gd name="T8" fmla="*/ 56 w 69"/>
                <a:gd name="T9" fmla="*/ 1 h 40"/>
                <a:gd name="T10" fmla="*/ 55 w 69"/>
                <a:gd name="T11" fmla="*/ 1 h 40"/>
                <a:gd name="T12" fmla="*/ 50 w 69"/>
                <a:gd name="T13" fmla="*/ 4 h 40"/>
                <a:gd name="T14" fmla="*/ 49 w 69"/>
                <a:gd name="T15" fmla="*/ 5 h 40"/>
                <a:gd name="T16" fmla="*/ 48 w 69"/>
                <a:gd name="T17" fmla="*/ 6 h 40"/>
                <a:gd name="T18" fmla="*/ 38 w 69"/>
                <a:gd name="T19" fmla="*/ 13 h 40"/>
                <a:gd name="T20" fmla="*/ 37 w 69"/>
                <a:gd name="T21" fmla="*/ 15 h 40"/>
                <a:gd name="T22" fmla="*/ 40 w 69"/>
                <a:gd name="T23" fmla="*/ 19 h 40"/>
                <a:gd name="T24" fmla="*/ 42 w 69"/>
                <a:gd name="T25" fmla="*/ 19 h 40"/>
                <a:gd name="T26" fmla="*/ 50 w 69"/>
                <a:gd name="T27" fmla="*/ 13 h 40"/>
                <a:gd name="T28" fmla="*/ 26 w 69"/>
                <a:gd name="T29" fmla="*/ 33 h 40"/>
                <a:gd name="T30" fmla="*/ 7 w 69"/>
                <a:gd name="T31" fmla="*/ 22 h 40"/>
                <a:gd name="T32" fmla="*/ 0 w 69"/>
                <a:gd name="T33" fmla="*/ 26 h 40"/>
                <a:gd name="T34" fmla="*/ 26 w 69"/>
                <a:gd name="T35" fmla="*/ 40 h 40"/>
                <a:gd name="T36" fmla="*/ 57 w 69"/>
                <a:gd name="T37" fmla="*/ 13 h 40"/>
                <a:gd name="T38" fmla="*/ 63 w 69"/>
                <a:gd name="T39" fmla="*/ 22 h 40"/>
                <a:gd name="T40" fmla="*/ 65 w 69"/>
                <a:gd name="T41" fmla="*/ 22 h 40"/>
                <a:gd name="T42" fmla="*/ 69 w 69"/>
                <a:gd name="T43" fmla="*/ 20 h 40"/>
                <a:gd name="T44" fmla="*/ 69 w 69"/>
                <a:gd name="T45" fmla="*/ 1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9" h="40">
                  <a:moveTo>
                    <a:pt x="69" y="18"/>
                  </a:moveTo>
                  <a:cubicBezTo>
                    <a:pt x="60" y="6"/>
                    <a:pt x="60" y="6"/>
                    <a:pt x="60" y="6"/>
                  </a:cubicBezTo>
                  <a:cubicBezTo>
                    <a:pt x="60" y="5"/>
                    <a:pt x="60" y="5"/>
                    <a:pt x="60" y="5"/>
                  </a:cubicBezTo>
                  <a:cubicBezTo>
                    <a:pt x="57" y="1"/>
                    <a:pt x="57" y="1"/>
                    <a:pt x="57" y="1"/>
                  </a:cubicBezTo>
                  <a:cubicBezTo>
                    <a:pt x="56" y="1"/>
                    <a:pt x="56" y="1"/>
                    <a:pt x="56" y="1"/>
                  </a:cubicBezTo>
                  <a:cubicBezTo>
                    <a:pt x="55" y="0"/>
                    <a:pt x="55" y="1"/>
                    <a:pt x="55" y="1"/>
                  </a:cubicBezTo>
                  <a:cubicBezTo>
                    <a:pt x="50" y="4"/>
                    <a:pt x="50" y="4"/>
                    <a:pt x="50" y="4"/>
                  </a:cubicBezTo>
                  <a:cubicBezTo>
                    <a:pt x="49" y="5"/>
                    <a:pt x="49" y="5"/>
                    <a:pt x="49" y="5"/>
                  </a:cubicBezTo>
                  <a:cubicBezTo>
                    <a:pt x="48" y="6"/>
                    <a:pt x="48" y="6"/>
                    <a:pt x="48" y="6"/>
                  </a:cubicBezTo>
                  <a:cubicBezTo>
                    <a:pt x="38" y="13"/>
                    <a:pt x="38" y="13"/>
                    <a:pt x="38" y="13"/>
                  </a:cubicBezTo>
                  <a:cubicBezTo>
                    <a:pt x="37" y="13"/>
                    <a:pt x="37" y="14"/>
                    <a:pt x="37" y="15"/>
                  </a:cubicBezTo>
                  <a:cubicBezTo>
                    <a:pt x="40" y="19"/>
                    <a:pt x="40" y="19"/>
                    <a:pt x="40" y="19"/>
                  </a:cubicBezTo>
                  <a:cubicBezTo>
                    <a:pt x="41" y="19"/>
                    <a:pt x="41" y="19"/>
                    <a:pt x="42" y="19"/>
                  </a:cubicBezTo>
                  <a:cubicBezTo>
                    <a:pt x="50" y="13"/>
                    <a:pt x="50" y="13"/>
                    <a:pt x="50" y="13"/>
                  </a:cubicBezTo>
                  <a:cubicBezTo>
                    <a:pt x="48" y="24"/>
                    <a:pt x="38" y="33"/>
                    <a:pt x="26" y="33"/>
                  </a:cubicBezTo>
                  <a:cubicBezTo>
                    <a:pt x="18" y="33"/>
                    <a:pt x="11" y="29"/>
                    <a:pt x="7" y="22"/>
                  </a:cubicBezTo>
                  <a:cubicBezTo>
                    <a:pt x="0" y="26"/>
                    <a:pt x="0" y="26"/>
                    <a:pt x="0" y="26"/>
                  </a:cubicBezTo>
                  <a:cubicBezTo>
                    <a:pt x="6" y="35"/>
                    <a:pt x="15" y="40"/>
                    <a:pt x="26" y="40"/>
                  </a:cubicBezTo>
                  <a:cubicBezTo>
                    <a:pt x="42" y="40"/>
                    <a:pt x="55" y="28"/>
                    <a:pt x="57" y="13"/>
                  </a:cubicBezTo>
                  <a:cubicBezTo>
                    <a:pt x="63" y="22"/>
                    <a:pt x="63" y="22"/>
                    <a:pt x="63" y="22"/>
                  </a:cubicBezTo>
                  <a:cubicBezTo>
                    <a:pt x="63" y="23"/>
                    <a:pt x="64" y="23"/>
                    <a:pt x="65" y="22"/>
                  </a:cubicBezTo>
                  <a:cubicBezTo>
                    <a:pt x="69" y="20"/>
                    <a:pt x="69" y="20"/>
                    <a:pt x="69" y="20"/>
                  </a:cubicBezTo>
                  <a:cubicBezTo>
                    <a:pt x="69" y="19"/>
                    <a:pt x="69" y="19"/>
                    <a:pt x="69"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51">
              <a:extLst>
                <a:ext uri="{FF2B5EF4-FFF2-40B4-BE49-F238E27FC236}">
                  <a16:creationId xmlns:a16="http://schemas.microsoft.com/office/drawing/2014/main" id="{391E5BC2-9DB9-4636-BA96-784D7FB8BF30}"/>
                </a:ext>
              </a:extLst>
            </p:cNvPr>
            <p:cNvSpPr>
              <a:spLocks/>
            </p:cNvSpPr>
            <p:nvPr/>
          </p:nvSpPr>
          <p:spPr bwMode="auto">
            <a:xfrm>
              <a:off x="1801813" y="2652713"/>
              <a:ext cx="469900" cy="279400"/>
            </a:xfrm>
            <a:custGeom>
              <a:avLst/>
              <a:gdLst>
                <a:gd name="T0" fmla="*/ 20 w 69"/>
                <a:gd name="T1" fmla="*/ 37 h 41"/>
                <a:gd name="T2" fmla="*/ 21 w 69"/>
                <a:gd name="T3" fmla="*/ 36 h 41"/>
                <a:gd name="T4" fmla="*/ 31 w 69"/>
                <a:gd name="T5" fmla="*/ 29 h 41"/>
                <a:gd name="T6" fmla="*/ 32 w 69"/>
                <a:gd name="T7" fmla="*/ 27 h 41"/>
                <a:gd name="T8" fmla="*/ 29 w 69"/>
                <a:gd name="T9" fmla="*/ 23 h 41"/>
                <a:gd name="T10" fmla="*/ 27 w 69"/>
                <a:gd name="T11" fmla="*/ 23 h 41"/>
                <a:gd name="T12" fmla="*/ 19 w 69"/>
                <a:gd name="T13" fmla="*/ 29 h 41"/>
                <a:gd name="T14" fmla="*/ 42 w 69"/>
                <a:gd name="T15" fmla="*/ 7 h 41"/>
                <a:gd name="T16" fmla="*/ 63 w 69"/>
                <a:gd name="T17" fmla="*/ 19 h 41"/>
                <a:gd name="T18" fmla="*/ 69 w 69"/>
                <a:gd name="T19" fmla="*/ 15 h 41"/>
                <a:gd name="T20" fmla="*/ 42 w 69"/>
                <a:gd name="T21" fmla="*/ 0 h 41"/>
                <a:gd name="T22" fmla="*/ 12 w 69"/>
                <a:gd name="T23" fmla="*/ 28 h 41"/>
                <a:gd name="T24" fmla="*/ 6 w 69"/>
                <a:gd name="T25" fmla="*/ 19 h 41"/>
                <a:gd name="T26" fmla="*/ 4 w 69"/>
                <a:gd name="T27" fmla="*/ 19 h 41"/>
                <a:gd name="T28" fmla="*/ 0 w 69"/>
                <a:gd name="T29" fmla="*/ 22 h 41"/>
                <a:gd name="T30" fmla="*/ 0 w 69"/>
                <a:gd name="T31" fmla="*/ 24 h 41"/>
                <a:gd name="T32" fmla="*/ 9 w 69"/>
                <a:gd name="T33" fmla="*/ 36 h 41"/>
                <a:gd name="T34" fmla="*/ 10 w 69"/>
                <a:gd name="T35" fmla="*/ 37 h 41"/>
                <a:gd name="T36" fmla="*/ 12 w 69"/>
                <a:gd name="T37" fmla="*/ 40 h 41"/>
                <a:gd name="T38" fmla="*/ 14 w 69"/>
                <a:gd name="T39" fmla="*/ 41 h 41"/>
                <a:gd name="T40" fmla="*/ 14 w 69"/>
                <a:gd name="T41" fmla="*/ 41 h 41"/>
                <a:gd name="T42" fmla="*/ 19 w 69"/>
                <a:gd name="T43" fmla="*/ 37 h 41"/>
                <a:gd name="T44" fmla="*/ 20 w 69"/>
                <a:gd name="T45" fmla="*/ 3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9" h="41">
                  <a:moveTo>
                    <a:pt x="20" y="37"/>
                  </a:moveTo>
                  <a:cubicBezTo>
                    <a:pt x="21" y="36"/>
                    <a:pt x="21" y="36"/>
                    <a:pt x="21" y="36"/>
                  </a:cubicBezTo>
                  <a:cubicBezTo>
                    <a:pt x="31" y="29"/>
                    <a:pt x="31" y="29"/>
                    <a:pt x="31" y="29"/>
                  </a:cubicBezTo>
                  <a:cubicBezTo>
                    <a:pt x="32" y="28"/>
                    <a:pt x="32" y="27"/>
                    <a:pt x="32" y="27"/>
                  </a:cubicBezTo>
                  <a:cubicBezTo>
                    <a:pt x="29" y="23"/>
                    <a:pt x="29" y="23"/>
                    <a:pt x="29" y="23"/>
                  </a:cubicBezTo>
                  <a:cubicBezTo>
                    <a:pt x="29" y="22"/>
                    <a:pt x="28" y="22"/>
                    <a:pt x="27" y="23"/>
                  </a:cubicBezTo>
                  <a:cubicBezTo>
                    <a:pt x="19" y="29"/>
                    <a:pt x="19" y="29"/>
                    <a:pt x="19" y="29"/>
                  </a:cubicBezTo>
                  <a:cubicBezTo>
                    <a:pt x="20" y="17"/>
                    <a:pt x="30" y="7"/>
                    <a:pt x="42" y="7"/>
                  </a:cubicBezTo>
                  <a:cubicBezTo>
                    <a:pt x="51" y="7"/>
                    <a:pt x="59" y="12"/>
                    <a:pt x="63" y="19"/>
                  </a:cubicBezTo>
                  <a:cubicBezTo>
                    <a:pt x="69" y="15"/>
                    <a:pt x="69" y="15"/>
                    <a:pt x="69" y="15"/>
                  </a:cubicBezTo>
                  <a:cubicBezTo>
                    <a:pt x="64" y="6"/>
                    <a:pt x="54" y="0"/>
                    <a:pt x="42" y="0"/>
                  </a:cubicBezTo>
                  <a:cubicBezTo>
                    <a:pt x="26" y="0"/>
                    <a:pt x="13" y="12"/>
                    <a:pt x="12" y="28"/>
                  </a:cubicBezTo>
                  <a:cubicBezTo>
                    <a:pt x="6" y="19"/>
                    <a:pt x="6" y="19"/>
                    <a:pt x="6" y="19"/>
                  </a:cubicBezTo>
                  <a:cubicBezTo>
                    <a:pt x="6" y="19"/>
                    <a:pt x="5" y="18"/>
                    <a:pt x="4" y="19"/>
                  </a:cubicBezTo>
                  <a:cubicBezTo>
                    <a:pt x="0" y="22"/>
                    <a:pt x="0" y="22"/>
                    <a:pt x="0" y="22"/>
                  </a:cubicBezTo>
                  <a:cubicBezTo>
                    <a:pt x="0" y="22"/>
                    <a:pt x="0" y="23"/>
                    <a:pt x="0" y="24"/>
                  </a:cubicBezTo>
                  <a:cubicBezTo>
                    <a:pt x="9" y="36"/>
                    <a:pt x="9" y="36"/>
                    <a:pt x="9" y="36"/>
                  </a:cubicBezTo>
                  <a:cubicBezTo>
                    <a:pt x="10" y="37"/>
                    <a:pt x="10" y="37"/>
                    <a:pt x="10" y="37"/>
                  </a:cubicBezTo>
                  <a:cubicBezTo>
                    <a:pt x="12" y="40"/>
                    <a:pt x="12" y="40"/>
                    <a:pt x="12" y="40"/>
                  </a:cubicBezTo>
                  <a:cubicBezTo>
                    <a:pt x="13" y="41"/>
                    <a:pt x="13" y="41"/>
                    <a:pt x="14" y="41"/>
                  </a:cubicBezTo>
                  <a:cubicBezTo>
                    <a:pt x="14" y="41"/>
                    <a:pt x="14" y="41"/>
                    <a:pt x="14" y="41"/>
                  </a:cubicBezTo>
                  <a:cubicBezTo>
                    <a:pt x="19" y="37"/>
                    <a:pt x="19" y="37"/>
                    <a:pt x="19" y="37"/>
                  </a:cubicBezTo>
                  <a:lnTo>
                    <a:pt x="2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2" name="Freeform 52">
            <a:extLst>
              <a:ext uri="{FF2B5EF4-FFF2-40B4-BE49-F238E27FC236}">
                <a16:creationId xmlns:a16="http://schemas.microsoft.com/office/drawing/2014/main" id="{A9BB8748-EAD4-419D-90AC-A310AB37FDDC}"/>
              </a:ext>
            </a:extLst>
          </p:cNvPr>
          <p:cNvSpPr>
            <a:spLocks noChangeAspect="1"/>
          </p:cNvSpPr>
          <p:nvPr/>
        </p:nvSpPr>
        <p:spPr bwMode="auto">
          <a:xfrm>
            <a:off x="738741" y="1830440"/>
            <a:ext cx="229227" cy="274320"/>
          </a:xfrm>
          <a:custGeom>
            <a:avLst/>
            <a:gdLst>
              <a:gd name="T0" fmla="*/ 39 w 71"/>
              <a:gd name="T1" fmla="*/ 14 h 85"/>
              <a:gd name="T2" fmla="*/ 50 w 71"/>
              <a:gd name="T3" fmla="*/ 7 h 85"/>
              <a:gd name="T4" fmla="*/ 50 w 71"/>
              <a:gd name="T5" fmla="*/ 5 h 85"/>
              <a:gd name="T6" fmla="*/ 47 w 71"/>
              <a:gd name="T7" fmla="*/ 1 h 85"/>
              <a:gd name="T8" fmla="*/ 45 w 71"/>
              <a:gd name="T9" fmla="*/ 0 h 85"/>
              <a:gd name="T10" fmla="*/ 31 w 71"/>
              <a:gd name="T11" fmla="*/ 11 h 85"/>
              <a:gd name="T12" fmla="*/ 30 w 71"/>
              <a:gd name="T13" fmla="*/ 11 h 85"/>
              <a:gd name="T14" fmla="*/ 25 w 71"/>
              <a:gd name="T15" fmla="*/ 15 h 85"/>
              <a:gd name="T16" fmla="*/ 25 w 71"/>
              <a:gd name="T17" fmla="*/ 16 h 85"/>
              <a:gd name="T18" fmla="*/ 25 w 71"/>
              <a:gd name="T19" fmla="*/ 17 h 85"/>
              <a:gd name="T20" fmla="*/ 29 w 71"/>
              <a:gd name="T21" fmla="*/ 23 h 85"/>
              <a:gd name="T22" fmla="*/ 29 w 71"/>
              <a:gd name="T23" fmla="*/ 23 h 85"/>
              <a:gd name="T24" fmla="*/ 31 w 71"/>
              <a:gd name="T25" fmla="*/ 25 h 85"/>
              <a:gd name="T26" fmla="*/ 39 w 71"/>
              <a:gd name="T27" fmla="*/ 37 h 85"/>
              <a:gd name="T28" fmla="*/ 42 w 71"/>
              <a:gd name="T29" fmla="*/ 37 h 85"/>
              <a:gd name="T30" fmla="*/ 46 w 71"/>
              <a:gd name="T31" fmla="*/ 34 h 85"/>
              <a:gd name="T32" fmla="*/ 46 w 71"/>
              <a:gd name="T33" fmla="*/ 32 h 85"/>
              <a:gd name="T34" fmla="*/ 39 w 71"/>
              <a:gd name="T35" fmla="*/ 23 h 85"/>
              <a:gd name="T36" fmla="*/ 63 w 71"/>
              <a:gd name="T37" fmla="*/ 50 h 85"/>
              <a:gd name="T38" fmla="*/ 36 w 71"/>
              <a:gd name="T39" fmla="*/ 77 h 85"/>
              <a:gd name="T40" fmla="*/ 8 w 71"/>
              <a:gd name="T41" fmla="*/ 50 h 85"/>
              <a:gd name="T42" fmla="*/ 18 w 71"/>
              <a:gd name="T43" fmla="*/ 29 h 85"/>
              <a:gd name="T44" fmla="*/ 13 w 71"/>
              <a:gd name="T45" fmla="*/ 22 h 85"/>
              <a:gd name="T46" fmla="*/ 0 w 71"/>
              <a:gd name="T47" fmla="*/ 50 h 85"/>
              <a:gd name="T48" fmla="*/ 36 w 71"/>
              <a:gd name="T49" fmla="*/ 85 h 85"/>
              <a:gd name="T50" fmla="*/ 71 w 71"/>
              <a:gd name="T51" fmla="*/ 50 h 85"/>
              <a:gd name="T52" fmla="*/ 39 w 71"/>
              <a:gd name="T53" fmla="*/ 14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5">
                <a:moveTo>
                  <a:pt x="39" y="14"/>
                </a:moveTo>
                <a:cubicBezTo>
                  <a:pt x="50" y="7"/>
                  <a:pt x="50" y="7"/>
                  <a:pt x="50" y="7"/>
                </a:cubicBezTo>
                <a:cubicBezTo>
                  <a:pt x="51" y="7"/>
                  <a:pt x="51" y="6"/>
                  <a:pt x="50" y="5"/>
                </a:cubicBezTo>
                <a:cubicBezTo>
                  <a:pt x="47" y="1"/>
                  <a:pt x="47" y="1"/>
                  <a:pt x="47" y="1"/>
                </a:cubicBezTo>
                <a:cubicBezTo>
                  <a:pt x="47" y="0"/>
                  <a:pt x="46" y="0"/>
                  <a:pt x="45" y="0"/>
                </a:cubicBezTo>
                <a:cubicBezTo>
                  <a:pt x="31" y="11"/>
                  <a:pt x="31" y="11"/>
                  <a:pt x="31" y="11"/>
                </a:cubicBezTo>
                <a:cubicBezTo>
                  <a:pt x="30" y="11"/>
                  <a:pt x="30" y="11"/>
                  <a:pt x="30" y="11"/>
                </a:cubicBezTo>
                <a:cubicBezTo>
                  <a:pt x="25" y="15"/>
                  <a:pt x="25" y="15"/>
                  <a:pt x="25" y="15"/>
                </a:cubicBezTo>
                <a:cubicBezTo>
                  <a:pt x="25" y="15"/>
                  <a:pt x="25" y="15"/>
                  <a:pt x="25" y="16"/>
                </a:cubicBezTo>
                <a:cubicBezTo>
                  <a:pt x="25" y="16"/>
                  <a:pt x="25" y="17"/>
                  <a:pt x="25" y="17"/>
                </a:cubicBezTo>
                <a:cubicBezTo>
                  <a:pt x="29" y="23"/>
                  <a:pt x="29" y="23"/>
                  <a:pt x="29" y="23"/>
                </a:cubicBezTo>
                <a:cubicBezTo>
                  <a:pt x="29" y="23"/>
                  <a:pt x="29" y="23"/>
                  <a:pt x="29" y="23"/>
                </a:cubicBezTo>
                <a:cubicBezTo>
                  <a:pt x="31" y="25"/>
                  <a:pt x="31" y="25"/>
                  <a:pt x="31" y="25"/>
                </a:cubicBezTo>
                <a:cubicBezTo>
                  <a:pt x="39" y="37"/>
                  <a:pt x="39" y="37"/>
                  <a:pt x="39" y="37"/>
                </a:cubicBezTo>
                <a:cubicBezTo>
                  <a:pt x="40" y="37"/>
                  <a:pt x="41" y="38"/>
                  <a:pt x="42" y="37"/>
                </a:cubicBezTo>
                <a:cubicBezTo>
                  <a:pt x="46" y="34"/>
                  <a:pt x="46" y="34"/>
                  <a:pt x="46" y="34"/>
                </a:cubicBezTo>
                <a:cubicBezTo>
                  <a:pt x="46" y="33"/>
                  <a:pt x="47" y="32"/>
                  <a:pt x="46" y="32"/>
                </a:cubicBezTo>
                <a:cubicBezTo>
                  <a:pt x="39" y="23"/>
                  <a:pt x="39" y="23"/>
                  <a:pt x="39" y="23"/>
                </a:cubicBezTo>
                <a:cubicBezTo>
                  <a:pt x="53" y="25"/>
                  <a:pt x="63" y="36"/>
                  <a:pt x="63" y="50"/>
                </a:cubicBezTo>
                <a:cubicBezTo>
                  <a:pt x="63" y="65"/>
                  <a:pt x="51" y="77"/>
                  <a:pt x="36" y="77"/>
                </a:cubicBezTo>
                <a:cubicBezTo>
                  <a:pt x="20" y="77"/>
                  <a:pt x="8" y="65"/>
                  <a:pt x="8" y="50"/>
                </a:cubicBezTo>
                <a:cubicBezTo>
                  <a:pt x="8" y="41"/>
                  <a:pt x="12" y="34"/>
                  <a:pt x="18" y="29"/>
                </a:cubicBezTo>
                <a:cubicBezTo>
                  <a:pt x="13" y="22"/>
                  <a:pt x="13" y="22"/>
                  <a:pt x="13" y="22"/>
                </a:cubicBezTo>
                <a:cubicBezTo>
                  <a:pt x="5" y="29"/>
                  <a:pt x="0" y="39"/>
                  <a:pt x="0" y="50"/>
                </a:cubicBezTo>
                <a:cubicBezTo>
                  <a:pt x="0" y="70"/>
                  <a:pt x="16" y="85"/>
                  <a:pt x="36" y="85"/>
                </a:cubicBezTo>
                <a:cubicBezTo>
                  <a:pt x="55" y="85"/>
                  <a:pt x="71" y="70"/>
                  <a:pt x="71" y="50"/>
                </a:cubicBezTo>
                <a:cubicBezTo>
                  <a:pt x="71" y="32"/>
                  <a:pt x="57" y="16"/>
                  <a:pt x="39" y="14"/>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3" name="Group 22">
            <a:extLst>
              <a:ext uri="{FF2B5EF4-FFF2-40B4-BE49-F238E27FC236}">
                <a16:creationId xmlns:a16="http://schemas.microsoft.com/office/drawing/2014/main" id="{492F18AF-3125-4C01-B1DE-471867774E6A}"/>
              </a:ext>
            </a:extLst>
          </p:cNvPr>
          <p:cNvGrpSpPr>
            <a:grpSpLocks noChangeAspect="1"/>
          </p:cNvGrpSpPr>
          <p:nvPr/>
        </p:nvGrpSpPr>
        <p:grpSpPr>
          <a:xfrm>
            <a:off x="2648696" y="1830440"/>
            <a:ext cx="180375" cy="274320"/>
            <a:chOff x="2668588" y="2571750"/>
            <a:chExt cx="381000" cy="579438"/>
          </a:xfrm>
          <a:solidFill>
            <a:srgbClr val="595555"/>
          </a:solidFill>
        </p:grpSpPr>
        <p:sp>
          <p:nvSpPr>
            <p:cNvPr id="24" name="Freeform 53">
              <a:extLst>
                <a:ext uri="{FF2B5EF4-FFF2-40B4-BE49-F238E27FC236}">
                  <a16:creationId xmlns:a16="http://schemas.microsoft.com/office/drawing/2014/main" id="{65385399-BD08-4071-BEDB-9269F6602202}"/>
                </a:ext>
              </a:extLst>
            </p:cNvPr>
            <p:cNvSpPr>
              <a:spLocks/>
            </p:cNvSpPr>
            <p:nvPr/>
          </p:nvSpPr>
          <p:spPr bwMode="auto">
            <a:xfrm>
              <a:off x="2687638" y="2816225"/>
              <a:ext cx="361950" cy="334963"/>
            </a:xfrm>
            <a:custGeom>
              <a:avLst/>
              <a:gdLst>
                <a:gd name="T0" fmla="*/ 52 w 53"/>
                <a:gd name="T1" fmla="*/ 32 h 49"/>
                <a:gd name="T2" fmla="*/ 52 w 53"/>
                <a:gd name="T3" fmla="*/ 29 h 49"/>
                <a:gd name="T4" fmla="*/ 47 w 53"/>
                <a:gd name="T5" fmla="*/ 24 h 49"/>
                <a:gd name="T6" fmla="*/ 34 w 53"/>
                <a:gd name="T7" fmla="*/ 12 h 49"/>
                <a:gd name="T8" fmla="*/ 32 w 53"/>
                <a:gd name="T9" fmla="*/ 12 h 49"/>
                <a:gd name="T10" fmla="*/ 28 w 53"/>
                <a:gd name="T11" fmla="*/ 16 h 49"/>
                <a:gd name="T12" fmla="*/ 28 w 53"/>
                <a:gd name="T13" fmla="*/ 18 h 49"/>
                <a:gd name="T14" fmla="*/ 37 w 53"/>
                <a:gd name="T15" fmla="*/ 26 h 49"/>
                <a:gd name="T16" fmla="*/ 25 w 53"/>
                <a:gd name="T17" fmla="*/ 26 h 49"/>
                <a:gd name="T18" fmla="*/ 10 w 53"/>
                <a:gd name="T19" fmla="*/ 13 h 49"/>
                <a:gd name="T20" fmla="*/ 10 w 53"/>
                <a:gd name="T21" fmla="*/ 2 h 49"/>
                <a:gd name="T22" fmla="*/ 8 w 53"/>
                <a:gd name="T23" fmla="*/ 0 h 49"/>
                <a:gd name="T24" fmla="*/ 2 w 53"/>
                <a:gd name="T25" fmla="*/ 0 h 49"/>
                <a:gd name="T26" fmla="*/ 1 w 53"/>
                <a:gd name="T27" fmla="*/ 2 h 49"/>
                <a:gd name="T28" fmla="*/ 1 w 53"/>
                <a:gd name="T29" fmla="*/ 2 h 49"/>
                <a:gd name="T30" fmla="*/ 1 w 53"/>
                <a:gd name="T31" fmla="*/ 9 h 49"/>
                <a:gd name="T32" fmla="*/ 1 w 53"/>
                <a:gd name="T33" fmla="*/ 15 h 49"/>
                <a:gd name="T34" fmla="*/ 1 w 53"/>
                <a:gd name="T35" fmla="*/ 17 h 49"/>
                <a:gd name="T36" fmla="*/ 2 w 53"/>
                <a:gd name="T37" fmla="*/ 20 h 49"/>
                <a:gd name="T38" fmla="*/ 7 w 53"/>
                <a:gd name="T39" fmla="*/ 28 h 49"/>
                <a:gd name="T40" fmla="*/ 15 w 53"/>
                <a:gd name="T41" fmla="*/ 33 h 49"/>
                <a:gd name="T42" fmla="*/ 25 w 53"/>
                <a:gd name="T43" fmla="*/ 35 h 49"/>
                <a:gd name="T44" fmla="*/ 37 w 53"/>
                <a:gd name="T45" fmla="*/ 35 h 49"/>
                <a:gd name="T46" fmla="*/ 28 w 53"/>
                <a:gd name="T47" fmla="*/ 43 h 49"/>
                <a:gd name="T48" fmla="*/ 28 w 53"/>
                <a:gd name="T49" fmla="*/ 45 h 49"/>
                <a:gd name="T50" fmla="*/ 32 w 53"/>
                <a:gd name="T51" fmla="*/ 49 h 49"/>
                <a:gd name="T52" fmla="*/ 34 w 53"/>
                <a:gd name="T53" fmla="*/ 49 h 49"/>
                <a:gd name="T54" fmla="*/ 47 w 53"/>
                <a:gd name="T55" fmla="*/ 37 h 49"/>
                <a:gd name="T56" fmla="*/ 52 w 53"/>
                <a:gd name="T57"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3" h="49">
                  <a:moveTo>
                    <a:pt x="52" y="32"/>
                  </a:moveTo>
                  <a:cubicBezTo>
                    <a:pt x="53" y="31"/>
                    <a:pt x="53" y="30"/>
                    <a:pt x="52" y="29"/>
                  </a:cubicBezTo>
                  <a:cubicBezTo>
                    <a:pt x="47" y="24"/>
                    <a:pt x="47" y="24"/>
                    <a:pt x="47" y="24"/>
                  </a:cubicBezTo>
                  <a:cubicBezTo>
                    <a:pt x="34" y="12"/>
                    <a:pt x="34" y="12"/>
                    <a:pt x="34" y="12"/>
                  </a:cubicBezTo>
                  <a:cubicBezTo>
                    <a:pt x="34" y="11"/>
                    <a:pt x="33" y="11"/>
                    <a:pt x="32" y="12"/>
                  </a:cubicBezTo>
                  <a:cubicBezTo>
                    <a:pt x="28" y="16"/>
                    <a:pt x="28" y="16"/>
                    <a:pt x="28" y="16"/>
                  </a:cubicBezTo>
                  <a:cubicBezTo>
                    <a:pt x="27" y="16"/>
                    <a:pt x="27" y="18"/>
                    <a:pt x="28" y="18"/>
                  </a:cubicBezTo>
                  <a:cubicBezTo>
                    <a:pt x="37" y="26"/>
                    <a:pt x="37" y="26"/>
                    <a:pt x="37" y="26"/>
                  </a:cubicBezTo>
                  <a:cubicBezTo>
                    <a:pt x="37" y="26"/>
                    <a:pt x="25" y="26"/>
                    <a:pt x="25" y="26"/>
                  </a:cubicBezTo>
                  <a:cubicBezTo>
                    <a:pt x="17" y="26"/>
                    <a:pt x="11" y="20"/>
                    <a:pt x="10" y="13"/>
                  </a:cubicBezTo>
                  <a:cubicBezTo>
                    <a:pt x="10" y="2"/>
                    <a:pt x="10" y="2"/>
                    <a:pt x="10" y="2"/>
                  </a:cubicBezTo>
                  <a:cubicBezTo>
                    <a:pt x="10" y="1"/>
                    <a:pt x="9" y="0"/>
                    <a:pt x="8" y="0"/>
                  </a:cubicBezTo>
                  <a:cubicBezTo>
                    <a:pt x="2" y="0"/>
                    <a:pt x="2" y="0"/>
                    <a:pt x="2" y="0"/>
                  </a:cubicBezTo>
                  <a:cubicBezTo>
                    <a:pt x="1" y="0"/>
                    <a:pt x="1" y="1"/>
                    <a:pt x="1" y="2"/>
                  </a:cubicBezTo>
                  <a:cubicBezTo>
                    <a:pt x="1" y="2"/>
                    <a:pt x="1" y="2"/>
                    <a:pt x="1" y="2"/>
                  </a:cubicBezTo>
                  <a:cubicBezTo>
                    <a:pt x="1" y="5"/>
                    <a:pt x="1" y="7"/>
                    <a:pt x="1" y="9"/>
                  </a:cubicBezTo>
                  <a:cubicBezTo>
                    <a:pt x="1" y="11"/>
                    <a:pt x="0" y="13"/>
                    <a:pt x="1" y="15"/>
                  </a:cubicBezTo>
                  <a:cubicBezTo>
                    <a:pt x="1" y="16"/>
                    <a:pt x="1" y="16"/>
                    <a:pt x="1" y="17"/>
                  </a:cubicBezTo>
                  <a:cubicBezTo>
                    <a:pt x="1" y="18"/>
                    <a:pt x="2" y="19"/>
                    <a:pt x="2" y="20"/>
                  </a:cubicBezTo>
                  <a:cubicBezTo>
                    <a:pt x="3" y="23"/>
                    <a:pt x="5" y="25"/>
                    <a:pt x="7" y="28"/>
                  </a:cubicBezTo>
                  <a:cubicBezTo>
                    <a:pt x="9" y="30"/>
                    <a:pt x="12" y="32"/>
                    <a:pt x="15" y="33"/>
                  </a:cubicBezTo>
                  <a:cubicBezTo>
                    <a:pt x="18" y="34"/>
                    <a:pt x="21" y="35"/>
                    <a:pt x="25" y="35"/>
                  </a:cubicBezTo>
                  <a:cubicBezTo>
                    <a:pt x="37" y="35"/>
                    <a:pt x="37" y="35"/>
                    <a:pt x="37" y="35"/>
                  </a:cubicBezTo>
                  <a:cubicBezTo>
                    <a:pt x="37" y="35"/>
                    <a:pt x="28" y="43"/>
                    <a:pt x="28" y="43"/>
                  </a:cubicBezTo>
                  <a:cubicBezTo>
                    <a:pt x="27" y="43"/>
                    <a:pt x="27" y="44"/>
                    <a:pt x="28" y="45"/>
                  </a:cubicBezTo>
                  <a:cubicBezTo>
                    <a:pt x="32" y="49"/>
                    <a:pt x="32" y="49"/>
                    <a:pt x="32" y="49"/>
                  </a:cubicBezTo>
                  <a:cubicBezTo>
                    <a:pt x="33" y="49"/>
                    <a:pt x="34" y="49"/>
                    <a:pt x="34" y="49"/>
                  </a:cubicBezTo>
                  <a:cubicBezTo>
                    <a:pt x="47" y="37"/>
                    <a:pt x="47" y="37"/>
                    <a:pt x="47" y="37"/>
                  </a:cubicBezTo>
                  <a:lnTo>
                    <a:pt x="52"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54">
              <a:extLst>
                <a:ext uri="{FF2B5EF4-FFF2-40B4-BE49-F238E27FC236}">
                  <a16:creationId xmlns:a16="http://schemas.microsoft.com/office/drawing/2014/main" id="{BD8377D8-9528-4F20-AD5F-ED85FCF77D9E}"/>
                </a:ext>
              </a:extLst>
            </p:cNvPr>
            <p:cNvSpPr>
              <a:spLocks/>
            </p:cNvSpPr>
            <p:nvPr/>
          </p:nvSpPr>
          <p:spPr bwMode="auto">
            <a:xfrm>
              <a:off x="2668588" y="2571750"/>
              <a:ext cx="360363" cy="333375"/>
            </a:xfrm>
            <a:custGeom>
              <a:avLst/>
              <a:gdLst>
                <a:gd name="T0" fmla="*/ 19 w 53"/>
                <a:gd name="T1" fmla="*/ 37 h 49"/>
                <a:gd name="T2" fmla="*/ 22 w 53"/>
                <a:gd name="T3" fmla="*/ 37 h 49"/>
                <a:gd name="T4" fmla="*/ 25 w 53"/>
                <a:gd name="T5" fmla="*/ 34 h 49"/>
                <a:gd name="T6" fmla="*/ 25 w 53"/>
                <a:gd name="T7" fmla="*/ 31 h 49"/>
                <a:gd name="T8" fmla="*/ 16 w 53"/>
                <a:gd name="T9" fmla="*/ 23 h 49"/>
                <a:gd name="T10" fmla="*/ 29 w 53"/>
                <a:gd name="T11" fmla="*/ 23 h 49"/>
                <a:gd name="T12" fmla="*/ 44 w 53"/>
                <a:gd name="T13" fmla="*/ 36 h 49"/>
                <a:gd name="T14" fmla="*/ 44 w 53"/>
                <a:gd name="T15" fmla="*/ 48 h 49"/>
                <a:gd name="T16" fmla="*/ 45 w 53"/>
                <a:gd name="T17" fmla="*/ 49 h 49"/>
                <a:gd name="T18" fmla="*/ 51 w 53"/>
                <a:gd name="T19" fmla="*/ 49 h 49"/>
                <a:gd name="T20" fmla="*/ 53 w 53"/>
                <a:gd name="T21" fmla="*/ 48 h 49"/>
                <a:gd name="T22" fmla="*/ 53 w 53"/>
                <a:gd name="T23" fmla="*/ 47 h 49"/>
                <a:gd name="T24" fmla="*/ 53 w 53"/>
                <a:gd name="T25" fmla="*/ 41 h 49"/>
                <a:gd name="T26" fmla="*/ 53 w 53"/>
                <a:gd name="T27" fmla="*/ 35 h 49"/>
                <a:gd name="T28" fmla="*/ 52 w 53"/>
                <a:gd name="T29" fmla="*/ 33 h 49"/>
                <a:gd name="T30" fmla="*/ 51 w 53"/>
                <a:gd name="T31" fmla="*/ 30 h 49"/>
                <a:gd name="T32" fmla="*/ 46 w 53"/>
                <a:gd name="T33" fmla="*/ 22 h 49"/>
                <a:gd name="T34" fmla="*/ 38 w 53"/>
                <a:gd name="T35" fmla="*/ 17 h 49"/>
                <a:gd name="T36" fmla="*/ 29 w 53"/>
                <a:gd name="T37" fmla="*/ 15 h 49"/>
                <a:gd name="T38" fmla="*/ 16 w 53"/>
                <a:gd name="T39" fmla="*/ 15 h 49"/>
                <a:gd name="T40" fmla="*/ 25 w 53"/>
                <a:gd name="T41" fmla="*/ 7 h 49"/>
                <a:gd name="T42" fmla="*/ 25 w 53"/>
                <a:gd name="T43" fmla="*/ 5 h 49"/>
                <a:gd name="T44" fmla="*/ 22 w 53"/>
                <a:gd name="T45" fmla="*/ 1 h 49"/>
                <a:gd name="T46" fmla="*/ 19 w 53"/>
                <a:gd name="T47" fmla="*/ 1 h 49"/>
                <a:gd name="T48" fmla="*/ 6 w 53"/>
                <a:gd name="T49" fmla="*/ 13 h 49"/>
                <a:gd name="T50" fmla="*/ 1 w 53"/>
                <a:gd name="T51" fmla="*/ 18 h 49"/>
                <a:gd name="T52" fmla="*/ 1 w 53"/>
                <a:gd name="T53" fmla="*/ 20 h 49"/>
                <a:gd name="T54" fmla="*/ 6 w 53"/>
                <a:gd name="T55" fmla="*/ 25 h 49"/>
                <a:gd name="T56" fmla="*/ 19 w 53"/>
                <a:gd name="T57"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3" h="49">
                  <a:moveTo>
                    <a:pt x="19" y="37"/>
                  </a:moveTo>
                  <a:cubicBezTo>
                    <a:pt x="20" y="38"/>
                    <a:pt x="21" y="38"/>
                    <a:pt x="22" y="37"/>
                  </a:cubicBezTo>
                  <a:cubicBezTo>
                    <a:pt x="25" y="34"/>
                    <a:pt x="25" y="34"/>
                    <a:pt x="25" y="34"/>
                  </a:cubicBezTo>
                  <a:cubicBezTo>
                    <a:pt x="26" y="33"/>
                    <a:pt x="26" y="32"/>
                    <a:pt x="25" y="31"/>
                  </a:cubicBezTo>
                  <a:cubicBezTo>
                    <a:pt x="16" y="23"/>
                    <a:pt x="16" y="23"/>
                    <a:pt x="16" y="23"/>
                  </a:cubicBezTo>
                  <a:cubicBezTo>
                    <a:pt x="16" y="23"/>
                    <a:pt x="29" y="23"/>
                    <a:pt x="29" y="23"/>
                  </a:cubicBezTo>
                  <a:cubicBezTo>
                    <a:pt x="36" y="23"/>
                    <a:pt x="43" y="29"/>
                    <a:pt x="44" y="36"/>
                  </a:cubicBezTo>
                  <a:cubicBezTo>
                    <a:pt x="44" y="48"/>
                    <a:pt x="44" y="48"/>
                    <a:pt x="44" y="48"/>
                  </a:cubicBezTo>
                  <a:cubicBezTo>
                    <a:pt x="44" y="49"/>
                    <a:pt x="44" y="49"/>
                    <a:pt x="45" y="49"/>
                  </a:cubicBezTo>
                  <a:cubicBezTo>
                    <a:pt x="51" y="49"/>
                    <a:pt x="51" y="49"/>
                    <a:pt x="51" y="49"/>
                  </a:cubicBezTo>
                  <a:cubicBezTo>
                    <a:pt x="52" y="49"/>
                    <a:pt x="53" y="49"/>
                    <a:pt x="53" y="48"/>
                  </a:cubicBezTo>
                  <a:cubicBezTo>
                    <a:pt x="53" y="47"/>
                    <a:pt x="53" y="47"/>
                    <a:pt x="53" y="47"/>
                  </a:cubicBezTo>
                  <a:cubicBezTo>
                    <a:pt x="53" y="45"/>
                    <a:pt x="53" y="43"/>
                    <a:pt x="53" y="41"/>
                  </a:cubicBezTo>
                  <a:cubicBezTo>
                    <a:pt x="53" y="39"/>
                    <a:pt x="53" y="37"/>
                    <a:pt x="53" y="35"/>
                  </a:cubicBezTo>
                  <a:cubicBezTo>
                    <a:pt x="53" y="34"/>
                    <a:pt x="52" y="33"/>
                    <a:pt x="52" y="33"/>
                  </a:cubicBezTo>
                  <a:cubicBezTo>
                    <a:pt x="52" y="32"/>
                    <a:pt x="52" y="31"/>
                    <a:pt x="51" y="30"/>
                  </a:cubicBezTo>
                  <a:cubicBezTo>
                    <a:pt x="50" y="27"/>
                    <a:pt x="48" y="24"/>
                    <a:pt x="46" y="22"/>
                  </a:cubicBezTo>
                  <a:cubicBezTo>
                    <a:pt x="44" y="20"/>
                    <a:pt x="41" y="18"/>
                    <a:pt x="38" y="17"/>
                  </a:cubicBezTo>
                  <a:cubicBezTo>
                    <a:pt x="35" y="15"/>
                    <a:pt x="32" y="15"/>
                    <a:pt x="29" y="15"/>
                  </a:cubicBezTo>
                  <a:cubicBezTo>
                    <a:pt x="16" y="15"/>
                    <a:pt x="16" y="15"/>
                    <a:pt x="16" y="15"/>
                  </a:cubicBezTo>
                  <a:cubicBezTo>
                    <a:pt x="16" y="15"/>
                    <a:pt x="25" y="7"/>
                    <a:pt x="25" y="7"/>
                  </a:cubicBezTo>
                  <a:cubicBezTo>
                    <a:pt x="26" y="6"/>
                    <a:pt x="26" y="5"/>
                    <a:pt x="25" y="5"/>
                  </a:cubicBezTo>
                  <a:cubicBezTo>
                    <a:pt x="22" y="1"/>
                    <a:pt x="22" y="1"/>
                    <a:pt x="22" y="1"/>
                  </a:cubicBezTo>
                  <a:cubicBezTo>
                    <a:pt x="21" y="0"/>
                    <a:pt x="20" y="0"/>
                    <a:pt x="19" y="1"/>
                  </a:cubicBezTo>
                  <a:cubicBezTo>
                    <a:pt x="6" y="13"/>
                    <a:pt x="6" y="13"/>
                    <a:pt x="6" y="13"/>
                  </a:cubicBezTo>
                  <a:cubicBezTo>
                    <a:pt x="1" y="18"/>
                    <a:pt x="1" y="18"/>
                    <a:pt x="1" y="18"/>
                  </a:cubicBezTo>
                  <a:cubicBezTo>
                    <a:pt x="0" y="19"/>
                    <a:pt x="0" y="20"/>
                    <a:pt x="1" y="20"/>
                  </a:cubicBezTo>
                  <a:cubicBezTo>
                    <a:pt x="6" y="25"/>
                    <a:pt x="6" y="25"/>
                    <a:pt x="6" y="25"/>
                  </a:cubicBezTo>
                  <a:lnTo>
                    <a:pt x="19"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6" name="Freeform 55">
            <a:extLst>
              <a:ext uri="{FF2B5EF4-FFF2-40B4-BE49-F238E27FC236}">
                <a16:creationId xmlns:a16="http://schemas.microsoft.com/office/drawing/2014/main" id="{25292C66-0B58-4420-9F2E-7364F993B10C}"/>
              </a:ext>
            </a:extLst>
          </p:cNvPr>
          <p:cNvSpPr>
            <a:spLocks noChangeAspect="1" noEditPoints="1"/>
          </p:cNvSpPr>
          <p:nvPr/>
        </p:nvSpPr>
        <p:spPr bwMode="auto">
          <a:xfrm>
            <a:off x="3445627" y="1830440"/>
            <a:ext cx="271347" cy="274320"/>
          </a:xfrm>
          <a:custGeom>
            <a:avLst/>
            <a:gdLst>
              <a:gd name="T0" fmla="*/ 42 w 85"/>
              <a:gd name="T1" fmla="*/ 0 h 86"/>
              <a:gd name="T2" fmla="*/ 0 w 85"/>
              <a:gd name="T3" fmla="*/ 43 h 86"/>
              <a:gd name="T4" fmla="*/ 43 w 85"/>
              <a:gd name="T5" fmla="*/ 85 h 86"/>
              <a:gd name="T6" fmla="*/ 85 w 85"/>
              <a:gd name="T7" fmla="*/ 42 h 86"/>
              <a:gd name="T8" fmla="*/ 42 w 85"/>
              <a:gd name="T9" fmla="*/ 0 h 86"/>
              <a:gd name="T10" fmla="*/ 67 w 85"/>
              <a:gd name="T11" fmla="*/ 47 h 86"/>
              <a:gd name="T12" fmla="*/ 65 w 85"/>
              <a:gd name="T13" fmla="*/ 48 h 86"/>
              <a:gd name="T14" fmla="*/ 20 w 85"/>
              <a:gd name="T15" fmla="*/ 48 h 86"/>
              <a:gd name="T16" fmla="*/ 19 w 85"/>
              <a:gd name="T17" fmla="*/ 47 h 86"/>
              <a:gd name="T18" fmla="*/ 19 w 85"/>
              <a:gd name="T19" fmla="*/ 39 h 86"/>
              <a:gd name="T20" fmla="*/ 20 w 85"/>
              <a:gd name="T21" fmla="*/ 37 h 86"/>
              <a:gd name="T22" fmla="*/ 65 w 85"/>
              <a:gd name="T23" fmla="*/ 37 h 86"/>
              <a:gd name="T24" fmla="*/ 67 w 85"/>
              <a:gd name="T25" fmla="*/ 39 h 86"/>
              <a:gd name="T26" fmla="*/ 67 w 85"/>
              <a:gd name="T27" fmla="*/ 4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 h="86">
                <a:moveTo>
                  <a:pt x="42" y="0"/>
                </a:moveTo>
                <a:cubicBezTo>
                  <a:pt x="19" y="0"/>
                  <a:pt x="0" y="20"/>
                  <a:pt x="0" y="43"/>
                </a:cubicBezTo>
                <a:cubicBezTo>
                  <a:pt x="0" y="67"/>
                  <a:pt x="19" y="86"/>
                  <a:pt x="43" y="85"/>
                </a:cubicBezTo>
                <a:cubicBezTo>
                  <a:pt x="66" y="85"/>
                  <a:pt x="85" y="66"/>
                  <a:pt x="85" y="42"/>
                </a:cubicBezTo>
                <a:cubicBezTo>
                  <a:pt x="85" y="19"/>
                  <a:pt x="66" y="0"/>
                  <a:pt x="42" y="0"/>
                </a:cubicBezTo>
                <a:close/>
                <a:moveTo>
                  <a:pt x="67" y="47"/>
                </a:moveTo>
                <a:cubicBezTo>
                  <a:pt x="67" y="48"/>
                  <a:pt x="66" y="48"/>
                  <a:pt x="65" y="48"/>
                </a:cubicBezTo>
                <a:cubicBezTo>
                  <a:pt x="20" y="48"/>
                  <a:pt x="20" y="48"/>
                  <a:pt x="20" y="48"/>
                </a:cubicBezTo>
                <a:cubicBezTo>
                  <a:pt x="19" y="48"/>
                  <a:pt x="19" y="48"/>
                  <a:pt x="19" y="47"/>
                </a:cubicBezTo>
                <a:cubicBezTo>
                  <a:pt x="19" y="39"/>
                  <a:pt x="19" y="39"/>
                  <a:pt x="19" y="39"/>
                </a:cubicBezTo>
                <a:cubicBezTo>
                  <a:pt x="19" y="38"/>
                  <a:pt x="19" y="37"/>
                  <a:pt x="20" y="37"/>
                </a:cubicBezTo>
                <a:cubicBezTo>
                  <a:pt x="65" y="37"/>
                  <a:pt x="65" y="37"/>
                  <a:pt x="65" y="37"/>
                </a:cubicBezTo>
                <a:cubicBezTo>
                  <a:pt x="66" y="37"/>
                  <a:pt x="67" y="38"/>
                  <a:pt x="67" y="39"/>
                </a:cubicBezTo>
                <a:lnTo>
                  <a:pt x="67" y="47"/>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56">
            <a:extLst>
              <a:ext uri="{FF2B5EF4-FFF2-40B4-BE49-F238E27FC236}">
                <a16:creationId xmlns:a16="http://schemas.microsoft.com/office/drawing/2014/main" id="{1C4053C9-BCE4-475D-BCF7-3887ECC6732E}"/>
              </a:ext>
            </a:extLst>
          </p:cNvPr>
          <p:cNvSpPr>
            <a:spLocks noChangeAspect="1"/>
          </p:cNvSpPr>
          <p:nvPr/>
        </p:nvSpPr>
        <p:spPr bwMode="auto">
          <a:xfrm flipV="1">
            <a:off x="4367080" y="1921827"/>
            <a:ext cx="513192" cy="115292"/>
          </a:xfrm>
          <a:custGeom>
            <a:avLst/>
            <a:gdLst>
              <a:gd name="T0" fmla="*/ 83 w 85"/>
              <a:gd name="T1" fmla="*/ 0 h 19"/>
              <a:gd name="T2" fmla="*/ 3 w 85"/>
              <a:gd name="T3" fmla="*/ 0 h 19"/>
              <a:gd name="T4" fmla="*/ 0 w 85"/>
              <a:gd name="T5" fmla="*/ 3 h 19"/>
              <a:gd name="T6" fmla="*/ 0 w 85"/>
              <a:gd name="T7" fmla="*/ 16 h 19"/>
              <a:gd name="T8" fmla="*/ 3 w 85"/>
              <a:gd name="T9" fmla="*/ 19 h 19"/>
              <a:gd name="T10" fmla="*/ 83 w 85"/>
              <a:gd name="T11" fmla="*/ 19 h 19"/>
              <a:gd name="T12" fmla="*/ 85 w 85"/>
              <a:gd name="T13" fmla="*/ 16 h 19"/>
              <a:gd name="T14" fmla="*/ 85 w 85"/>
              <a:gd name="T15" fmla="*/ 3 h 19"/>
              <a:gd name="T16" fmla="*/ 83 w 85"/>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9">
                <a:moveTo>
                  <a:pt x="83" y="0"/>
                </a:moveTo>
                <a:cubicBezTo>
                  <a:pt x="3" y="0"/>
                  <a:pt x="3" y="0"/>
                  <a:pt x="3" y="0"/>
                </a:cubicBezTo>
                <a:cubicBezTo>
                  <a:pt x="1" y="0"/>
                  <a:pt x="0" y="2"/>
                  <a:pt x="0" y="3"/>
                </a:cubicBezTo>
                <a:cubicBezTo>
                  <a:pt x="0" y="16"/>
                  <a:pt x="0" y="16"/>
                  <a:pt x="0" y="16"/>
                </a:cubicBezTo>
                <a:cubicBezTo>
                  <a:pt x="0" y="18"/>
                  <a:pt x="1" y="19"/>
                  <a:pt x="3" y="19"/>
                </a:cubicBezTo>
                <a:cubicBezTo>
                  <a:pt x="83" y="19"/>
                  <a:pt x="83" y="19"/>
                  <a:pt x="83" y="19"/>
                </a:cubicBezTo>
                <a:cubicBezTo>
                  <a:pt x="84" y="19"/>
                  <a:pt x="85" y="18"/>
                  <a:pt x="85" y="16"/>
                </a:cubicBezTo>
                <a:cubicBezTo>
                  <a:pt x="85" y="3"/>
                  <a:pt x="85" y="3"/>
                  <a:pt x="85" y="3"/>
                </a:cubicBezTo>
                <a:cubicBezTo>
                  <a:pt x="85" y="2"/>
                  <a:pt x="84" y="0"/>
                  <a:pt x="83" y="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8" name="Group 27">
            <a:extLst>
              <a:ext uri="{FF2B5EF4-FFF2-40B4-BE49-F238E27FC236}">
                <a16:creationId xmlns:a16="http://schemas.microsoft.com/office/drawing/2014/main" id="{15CFD29E-C2C5-4C97-AF3A-1A0CCB206143}"/>
              </a:ext>
            </a:extLst>
          </p:cNvPr>
          <p:cNvGrpSpPr>
            <a:grpSpLocks noChangeAspect="1"/>
          </p:cNvGrpSpPr>
          <p:nvPr/>
        </p:nvGrpSpPr>
        <p:grpSpPr>
          <a:xfrm>
            <a:off x="5346002" y="1830440"/>
            <a:ext cx="229227" cy="274320"/>
            <a:chOff x="4903788" y="2571750"/>
            <a:chExt cx="484188" cy="579438"/>
          </a:xfrm>
          <a:solidFill>
            <a:srgbClr val="595555"/>
          </a:solidFill>
        </p:grpSpPr>
        <p:sp>
          <p:nvSpPr>
            <p:cNvPr id="29" name="Freeform 57">
              <a:extLst>
                <a:ext uri="{FF2B5EF4-FFF2-40B4-BE49-F238E27FC236}">
                  <a16:creationId xmlns:a16="http://schemas.microsoft.com/office/drawing/2014/main" id="{9B5F71DD-46C4-405B-A4DE-579425BE2AC0}"/>
                </a:ext>
              </a:extLst>
            </p:cNvPr>
            <p:cNvSpPr>
              <a:spLocks/>
            </p:cNvSpPr>
            <p:nvPr/>
          </p:nvSpPr>
          <p:spPr bwMode="auto">
            <a:xfrm>
              <a:off x="4903788" y="2571750"/>
              <a:ext cx="484188" cy="579438"/>
            </a:xfrm>
            <a:custGeom>
              <a:avLst/>
              <a:gdLst>
                <a:gd name="T0" fmla="*/ 39 w 71"/>
                <a:gd name="T1" fmla="*/ 14 h 85"/>
                <a:gd name="T2" fmla="*/ 50 w 71"/>
                <a:gd name="T3" fmla="*/ 7 h 85"/>
                <a:gd name="T4" fmla="*/ 50 w 71"/>
                <a:gd name="T5" fmla="*/ 5 h 85"/>
                <a:gd name="T6" fmla="*/ 47 w 71"/>
                <a:gd name="T7" fmla="*/ 1 h 85"/>
                <a:gd name="T8" fmla="*/ 45 w 71"/>
                <a:gd name="T9" fmla="*/ 0 h 85"/>
                <a:gd name="T10" fmla="*/ 31 w 71"/>
                <a:gd name="T11" fmla="*/ 11 h 85"/>
                <a:gd name="T12" fmla="*/ 30 w 71"/>
                <a:gd name="T13" fmla="*/ 11 h 85"/>
                <a:gd name="T14" fmla="*/ 25 w 71"/>
                <a:gd name="T15" fmla="*/ 15 h 85"/>
                <a:gd name="T16" fmla="*/ 25 w 71"/>
                <a:gd name="T17" fmla="*/ 16 h 85"/>
                <a:gd name="T18" fmla="*/ 25 w 71"/>
                <a:gd name="T19" fmla="*/ 17 h 85"/>
                <a:gd name="T20" fmla="*/ 29 w 71"/>
                <a:gd name="T21" fmla="*/ 23 h 85"/>
                <a:gd name="T22" fmla="*/ 29 w 71"/>
                <a:gd name="T23" fmla="*/ 23 h 85"/>
                <a:gd name="T24" fmla="*/ 31 w 71"/>
                <a:gd name="T25" fmla="*/ 25 h 85"/>
                <a:gd name="T26" fmla="*/ 39 w 71"/>
                <a:gd name="T27" fmla="*/ 37 h 85"/>
                <a:gd name="T28" fmla="*/ 42 w 71"/>
                <a:gd name="T29" fmla="*/ 37 h 85"/>
                <a:gd name="T30" fmla="*/ 46 w 71"/>
                <a:gd name="T31" fmla="*/ 34 h 85"/>
                <a:gd name="T32" fmla="*/ 46 w 71"/>
                <a:gd name="T33" fmla="*/ 32 h 85"/>
                <a:gd name="T34" fmla="*/ 39 w 71"/>
                <a:gd name="T35" fmla="*/ 23 h 85"/>
                <a:gd name="T36" fmla="*/ 63 w 71"/>
                <a:gd name="T37" fmla="*/ 50 h 85"/>
                <a:gd name="T38" fmla="*/ 36 w 71"/>
                <a:gd name="T39" fmla="*/ 77 h 85"/>
                <a:gd name="T40" fmla="*/ 8 w 71"/>
                <a:gd name="T41" fmla="*/ 50 h 85"/>
                <a:gd name="T42" fmla="*/ 18 w 71"/>
                <a:gd name="T43" fmla="*/ 29 h 85"/>
                <a:gd name="T44" fmla="*/ 13 w 71"/>
                <a:gd name="T45" fmla="*/ 22 h 85"/>
                <a:gd name="T46" fmla="*/ 0 w 71"/>
                <a:gd name="T47" fmla="*/ 50 h 85"/>
                <a:gd name="T48" fmla="*/ 36 w 71"/>
                <a:gd name="T49" fmla="*/ 85 h 85"/>
                <a:gd name="T50" fmla="*/ 71 w 71"/>
                <a:gd name="T51" fmla="*/ 50 h 85"/>
                <a:gd name="T52" fmla="*/ 39 w 71"/>
                <a:gd name="T53" fmla="*/ 14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 h="85">
                  <a:moveTo>
                    <a:pt x="39" y="14"/>
                  </a:moveTo>
                  <a:cubicBezTo>
                    <a:pt x="50" y="7"/>
                    <a:pt x="50" y="7"/>
                    <a:pt x="50" y="7"/>
                  </a:cubicBezTo>
                  <a:cubicBezTo>
                    <a:pt x="51" y="7"/>
                    <a:pt x="51" y="6"/>
                    <a:pt x="50" y="5"/>
                  </a:cubicBezTo>
                  <a:cubicBezTo>
                    <a:pt x="47" y="1"/>
                    <a:pt x="47" y="1"/>
                    <a:pt x="47" y="1"/>
                  </a:cubicBezTo>
                  <a:cubicBezTo>
                    <a:pt x="47" y="0"/>
                    <a:pt x="46" y="0"/>
                    <a:pt x="45" y="0"/>
                  </a:cubicBezTo>
                  <a:cubicBezTo>
                    <a:pt x="31" y="11"/>
                    <a:pt x="31" y="11"/>
                    <a:pt x="31" y="11"/>
                  </a:cubicBezTo>
                  <a:cubicBezTo>
                    <a:pt x="30" y="11"/>
                    <a:pt x="30" y="11"/>
                    <a:pt x="30" y="11"/>
                  </a:cubicBezTo>
                  <a:cubicBezTo>
                    <a:pt x="25" y="15"/>
                    <a:pt x="25" y="15"/>
                    <a:pt x="25" y="15"/>
                  </a:cubicBezTo>
                  <a:cubicBezTo>
                    <a:pt x="25" y="15"/>
                    <a:pt x="25" y="15"/>
                    <a:pt x="25" y="16"/>
                  </a:cubicBezTo>
                  <a:cubicBezTo>
                    <a:pt x="25" y="16"/>
                    <a:pt x="25" y="17"/>
                    <a:pt x="25" y="17"/>
                  </a:cubicBezTo>
                  <a:cubicBezTo>
                    <a:pt x="29" y="23"/>
                    <a:pt x="29" y="23"/>
                    <a:pt x="29" y="23"/>
                  </a:cubicBezTo>
                  <a:cubicBezTo>
                    <a:pt x="29" y="23"/>
                    <a:pt x="29" y="23"/>
                    <a:pt x="29" y="23"/>
                  </a:cubicBezTo>
                  <a:cubicBezTo>
                    <a:pt x="31" y="25"/>
                    <a:pt x="31" y="25"/>
                    <a:pt x="31" y="25"/>
                  </a:cubicBezTo>
                  <a:cubicBezTo>
                    <a:pt x="39" y="37"/>
                    <a:pt x="39" y="37"/>
                    <a:pt x="39" y="37"/>
                  </a:cubicBezTo>
                  <a:cubicBezTo>
                    <a:pt x="40" y="37"/>
                    <a:pt x="41" y="38"/>
                    <a:pt x="42" y="37"/>
                  </a:cubicBezTo>
                  <a:cubicBezTo>
                    <a:pt x="46" y="34"/>
                    <a:pt x="46" y="34"/>
                    <a:pt x="46" y="34"/>
                  </a:cubicBezTo>
                  <a:cubicBezTo>
                    <a:pt x="46" y="33"/>
                    <a:pt x="47" y="32"/>
                    <a:pt x="46" y="32"/>
                  </a:cubicBezTo>
                  <a:cubicBezTo>
                    <a:pt x="39" y="23"/>
                    <a:pt x="39" y="23"/>
                    <a:pt x="39" y="23"/>
                  </a:cubicBezTo>
                  <a:cubicBezTo>
                    <a:pt x="53" y="25"/>
                    <a:pt x="63" y="36"/>
                    <a:pt x="63" y="50"/>
                  </a:cubicBezTo>
                  <a:cubicBezTo>
                    <a:pt x="63" y="65"/>
                    <a:pt x="51" y="77"/>
                    <a:pt x="36" y="77"/>
                  </a:cubicBezTo>
                  <a:cubicBezTo>
                    <a:pt x="20" y="77"/>
                    <a:pt x="8" y="65"/>
                    <a:pt x="8" y="50"/>
                  </a:cubicBezTo>
                  <a:cubicBezTo>
                    <a:pt x="8" y="41"/>
                    <a:pt x="12" y="34"/>
                    <a:pt x="18" y="29"/>
                  </a:cubicBezTo>
                  <a:cubicBezTo>
                    <a:pt x="13" y="22"/>
                    <a:pt x="13" y="22"/>
                    <a:pt x="13" y="22"/>
                  </a:cubicBezTo>
                  <a:cubicBezTo>
                    <a:pt x="5" y="29"/>
                    <a:pt x="0" y="39"/>
                    <a:pt x="0" y="50"/>
                  </a:cubicBezTo>
                  <a:cubicBezTo>
                    <a:pt x="0" y="70"/>
                    <a:pt x="16" y="85"/>
                    <a:pt x="36" y="85"/>
                  </a:cubicBezTo>
                  <a:cubicBezTo>
                    <a:pt x="55" y="85"/>
                    <a:pt x="71" y="70"/>
                    <a:pt x="71" y="50"/>
                  </a:cubicBezTo>
                  <a:cubicBezTo>
                    <a:pt x="71" y="32"/>
                    <a:pt x="57" y="16"/>
                    <a:pt x="3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0" name="Freeform 58">
              <a:extLst>
                <a:ext uri="{FF2B5EF4-FFF2-40B4-BE49-F238E27FC236}">
                  <a16:creationId xmlns:a16="http://schemas.microsoft.com/office/drawing/2014/main" id="{B9AE62BA-3075-4CF0-AC5D-35ED1B6ACB2F}"/>
                </a:ext>
              </a:extLst>
            </p:cNvPr>
            <p:cNvSpPr>
              <a:spLocks/>
            </p:cNvSpPr>
            <p:nvPr/>
          </p:nvSpPr>
          <p:spPr bwMode="auto">
            <a:xfrm>
              <a:off x="5027613" y="2851150"/>
              <a:ext cx="149225" cy="184150"/>
            </a:xfrm>
            <a:custGeom>
              <a:avLst/>
              <a:gdLst>
                <a:gd name="T0" fmla="*/ 60 w 94"/>
                <a:gd name="T1" fmla="*/ 116 h 116"/>
                <a:gd name="T2" fmla="*/ 64 w 94"/>
                <a:gd name="T3" fmla="*/ 116 h 116"/>
                <a:gd name="T4" fmla="*/ 69 w 94"/>
                <a:gd name="T5" fmla="*/ 116 h 116"/>
                <a:gd name="T6" fmla="*/ 86 w 94"/>
                <a:gd name="T7" fmla="*/ 116 h 116"/>
                <a:gd name="T8" fmla="*/ 94 w 94"/>
                <a:gd name="T9" fmla="*/ 116 h 116"/>
                <a:gd name="T10" fmla="*/ 94 w 94"/>
                <a:gd name="T11" fmla="*/ 30 h 116"/>
                <a:gd name="T12" fmla="*/ 94 w 94"/>
                <a:gd name="T13" fmla="*/ 26 h 116"/>
                <a:gd name="T14" fmla="*/ 94 w 94"/>
                <a:gd name="T15" fmla="*/ 8 h 116"/>
                <a:gd name="T16" fmla="*/ 94 w 94"/>
                <a:gd name="T17" fmla="*/ 0 h 116"/>
                <a:gd name="T18" fmla="*/ 69 w 94"/>
                <a:gd name="T19" fmla="*/ 0 h 116"/>
                <a:gd name="T20" fmla="*/ 0 w 94"/>
                <a:gd name="T21" fmla="*/ 0 h 116"/>
                <a:gd name="T22" fmla="*/ 0 w 94"/>
                <a:gd name="T23" fmla="*/ 8 h 116"/>
                <a:gd name="T24" fmla="*/ 0 w 94"/>
                <a:gd name="T25" fmla="*/ 26 h 116"/>
                <a:gd name="T26" fmla="*/ 0 w 94"/>
                <a:gd name="T27" fmla="*/ 30 h 116"/>
                <a:gd name="T28" fmla="*/ 0 w 94"/>
                <a:gd name="T29" fmla="*/ 34 h 116"/>
                <a:gd name="T30" fmla="*/ 60 w 94"/>
                <a:gd name="T31" fmla="*/ 34 h 116"/>
                <a:gd name="T32" fmla="*/ 60 w 94"/>
                <a:gd name="T33" fmla="*/ 1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116">
                  <a:moveTo>
                    <a:pt x="60" y="116"/>
                  </a:moveTo>
                  <a:lnTo>
                    <a:pt x="64" y="116"/>
                  </a:lnTo>
                  <a:lnTo>
                    <a:pt x="69" y="116"/>
                  </a:lnTo>
                  <a:lnTo>
                    <a:pt x="86" y="116"/>
                  </a:lnTo>
                  <a:lnTo>
                    <a:pt x="94" y="116"/>
                  </a:lnTo>
                  <a:lnTo>
                    <a:pt x="94" y="30"/>
                  </a:lnTo>
                  <a:lnTo>
                    <a:pt x="94" y="26"/>
                  </a:lnTo>
                  <a:lnTo>
                    <a:pt x="94" y="8"/>
                  </a:lnTo>
                  <a:lnTo>
                    <a:pt x="94" y="0"/>
                  </a:lnTo>
                  <a:lnTo>
                    <a:pt x="69" y="0"/>
                  </a:lnTo>
                  <a:lnTo>
                    <a:pt x="0" y="0"/>
                  </a:lnTo>
                  <a:lnTo>
                    <a:pt x="0" y="8"/>
                  </a:lnTo>
                  <a:lnTo>
                    <a:pt x="0" y="26"/>
                  </a:lnTo>
                  <a:lnTo>
                    <a:pt x="0" y="30"/>
                  </a:lnTo>
                  <a:lnTo>
                    <a:pt x="0" y="34"/>
                  </a:lnTo>
                  <a:lnTo>
                    <a:pt x="60" y="34"/>
                  </a:lnTo>
                  <a:lnTo>
                    <a:pt x="60"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1" name="Group 30">
            <a:extLst>
              <a:ext uri="{FF2B5EF4-FFF2-40B4-BE49-F238E27FC236}">
                <a16:creationId xmlns:a16="http://schemas.microsoft.com/office/drawing/2014/main" id="{84C4CBD2-8342-4BF4-BEBC-255A60C6C13D}"/>
              </a:ext>
            </a:extLst>
          </p:cNvPr>
          <p:cNvGrpSpPr>
            <a:grpSpLocks noChangeAspect="1"/>
          </p:cNvGrpSpPr>
          <p:nvPr/>
        </p:nvGrpSpPr>
        <p:grpSpPr>
          <a:xfrm>
            <a:off x="6209984" y="1830440"/>
            <a:ext cx="275073" cy="274320"/>
            <a:chOff x="5619750" y="2571750"/>
            <a:chExt cx="581026" cy="579438"/>
          </a:xfrm>
          <a:solidFill>
            <a:srgbClr val="595555"/>
          </a:solidFill>
        </p:grpSpPr>
        <p:sp>
          <p:nvSpPr>
            <p:cNvPr id="32" name="Freeform 59">
              <a:extLst>
                <a:ext uri="{FF2B5EF4-FFF2-40B4-BE49-F238E27FC236}">
                  <a16:creationId xmlns:a16="http://schemas.microsoft.com/office/drawing/2014/main" id="{3F4599B0-4585-4A6A-9880-23A5EF854818}"/>
                </a:ext>
              </a:extLst>
            </p:cNvPr>
            <p:cNvSpPr>
              <a:spLocks/>
            </p:cNvSpPr>
            <p:nvPr/>
          </p:nvSpPr>
          <p:spPr bwMode="auto">
            <a:xfrm>
              <a:off x="5619750" y="2571750"/>
              <a:ext cx="252413" cy="252413"/>
            </a:xfrm>
            <a:custGeom>
              <a:avLst/>
              <a:gdLst>
                <a:gd name="T0" fmla="*/ 35 w 37"/>
                <a:gd name="T1" fmla="*/ 0 h 37"/>
                <a:gd name="T2" fmla="*/ 3 w 37"/>
                <a:gd name="T3" fmla="*/ 0 h 37"/>
                <a:gd name="T4" fmla="*/ 0 w 37"/>
                <a:gd name="T5" fmla="*/ 3 h 37"/>
                <a:gd name="T6" fmla="*/ 0 w 37"/>
                <a:gd name="T7" fmla="*/ 35 h 37"/>
                <a:gd name="T8" fmla="*/ 3 w 37"/>
                <a:gd name="T9" fmla="*/ 37 h 37"/>
                <a:gd name="T10" fmla="*/ 35 w 37"/>
                <a:gd name="T11" fmla="*/ 37 h 37"/>
                <a:gd name="T12" fmla="*/ 37 w 37"/>
                <a:gd name="T13" fmla="*/ 35 h 37"/>
                <a:gd name="T14" fmla="*/ 37 w 37"/>
                <a:gd name="T15" fmla="*/ 3 h 37"/>
                <a:gd name="T16" fmla="*/ 35 w 37"/>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7">
                  <a:moveTo>
                    <a:pt x="35" y="0"/>
                  </a:moveTo>
                  <a:cubicBezTo>
                    <a:pt x="3" y="0"/>
                    <a:pt x="3" y="0"/>
                    <a:pt x="3" y="0"/>
                  </a:cubicBezTo>
                  <a:cubicBezTo>
                    <a:pt x="1" y="0"/>
                    <a:pt x="0" y="1"/>
                    <a:pt x="0" y="3"/>
                  </a:cubicBezTo>
                  <a:cubicBezTo>
                    <a:pt x="0" y="35"/>
                    <a:pt x="0" y="35"/>
                    <a:pt x="0" y="35"/>
                  </a:cubicBezTo>
                  <a:cubicBezTo>
                    <a:pt x="0" y="36"/>
                    <a:pt x="1" y="37"/>
                    <a:pt x="3" y="37"/>
                  </a:cubicBezTo>
                  <a:cubicBezTo>
                    <a:pt x="35" y="37"/>
                    <a:pt x="35" y="37"/>
                    <a:pt x="35" y="37"/>
                  </a:cubicBezTo>
                  <a:cubicBezTo>
                    <a:pt x="36" y="37"/>
                    <a:pt x="37" y="36"/>
                    <a:pt x="37" y="35"/>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60">
              <a:extLst>
                <a:ext uri="{FF2B5EF4-FFF2-40B4-BE49-F238E27FC236}">
                  <a16:creationId xmlns:a16="http://schemas.microsoft.com/office/drawing/2014/main" id="{B69B6F1A-8610-435A-91E8-870424997717}"/>
                </a:ext>
              </a:extLst>
            </p:cNvPr>
            <p:cNvSpPr>
              <a:spLocks/>
            </p:cNvSpPr>
            <p:nvPr/>
          </p:nvSpPr>
          <p:spPr bwMode="auto">
            <a:xfrm>
              <a:off x="5619750" y="2898775"/>
              <a:ext cx="252413" cy="252413"/>
            </a:xfrm>
            <a:custGeom>
              <a:avLst/>
              <a:gdLst>
                <a:gd name="T0" fmla="*/ 35 w 37"/>
                <a:gd name="T1" fmla="*/ 0 h 37"/>
                <a:gd name="T2" fmla="*/ 3 w 37"/>
                <a:gd name="T3" fmla="*/ 0 h 37"/>
                <a:gd name="T4" fmla="*/ 0 w 37"/>
                <a:gd name="T5" fmla="*/ 3 h 37"/>
                <a:gd name="T6" fmla="*/ 0 w 37"/>
                <a:gd name="T7" fmla="*/ 35 h 37"/>
                <a:gd name="T8" fmla="*/ 3 w 37"/>
                <a:gd name="T9" fmla="*/ 37 h 37"/>
                <a:gd name="T10" fmla="*/ 35 w 37"/>
                <a:gd name="T11" fmla="*/ 37 h 37"/>
                <a:gd name="T12" fmla="*/ 37 w 37"/>
                <a:gd name="T13" fmla="*/ 35 h 37"/>
                <a:gd name="T14" fmla="*/ 37 w 37"/>
                <a:gd name="T15" fmla="*/ 3 h 37"/>
                <a:gd name="T16" fmla="*/ 35 w 37"/>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7">
                  <a:moveTo>
                    <a:pt x="35" y="0"/>
                  </a:moveTo>
                  <a:cubicBezTo>
                    <a:pt x="3" y="0"/>
                    <a:pt x="3" y="0"/>
                    <a:pt x="3" y="0"/>
                  </a:cubicBezTo>
                  <a:cubicBezTo>
                    <a:pt x="1" y="0"/>
                    <a:pt x="0" y="1"/>
                    <a:pt x="0" y="3"/>
                  </a:cubicBezTo>
                  <a:cubicBezTo>
                    <a:pt x="0" y="35"/>
                    <a:pt x="0" y="35"/>
                    <a:pt x="0" y="35"/>
                  </a:cubicBezTo>
                  <a:cubicBezTo>
                    <a:pt x="0" y="36"/>
                    <a:pt x="1" y="37"/>
                    <a:pt x="3" y="37"/>
                  </a:cubicBezTo>
                  <a:cubicBezTo>
                    <a:pt x="35" y="37"/>
                    <a:pt x="35" y="37"/>
                    <a:pt x="35" y="37"/>
                  </a:cubicBezTo>
                  <a:cubicBezTo>
                    <a:pt x="36" y="37"/>
                    <a:pt x="37" y="36"/>
                    <a:pt x="37" y="35"/>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4" name="Freeform 61">
              <a:extLst>
                <a:ext uri="{FF2B5EF4-FFF2-40B4-BE49-F238E27FC236}">
                  <a16:creationId xmlns:a16="http://schemas.microsoft.com/office/drawing/2014/main" id="{8BB9D6D0-43E2-4F1C-96D2-7E58AD6155F0}"/>
                </a:ext>
              </a:extLst>
            </p:cNvPr>
            <p:cNvSpPr>
              <a:spLocks/>
            </p:cNvSpPr>
            <p:nvPr/>
          </p:nvSpPr>
          <p:spPr bwMode="auto">
            <a:xfrm>
              <a:off x="5948363" y="2571750"/>
              <a:ext cx="252413" cy="252413"/>
            </a:xfrm>
            <a:custGeom>
              <a:avLst/>
              <a:gdLst>
                <a:gd name="T0" fmla="*/ 35 w 37"/>
                <a:gd name="T1" fmla="*/ 0 h 37"/>
                <a:gd name="T2" fmla="*/ 3 w 37"/>
                <a:gd name="T3" fmla="*/ 0 h 37"/>
                <a:gd name="T4" fmla="*/ 0 w 37"/>
                <a:gd name="T5" fmla="*/ 3 h 37"/>
                <a:gd name="T6" fmla="*/ 0 w 37"/>
                <a:gd name="T7" fmla="*/ 35 h 37"/>
                <a:gd name="T8" fmla="*/ 3 w 37"/>
                <a:gd name="T9" fmla="*/ 37 h 37"/>
                <a:gd name="T10" fmla="*/ 35 w 37"/>
                <a:gd name="T11" fmla="*/ 37 h 37"/>
                <a:gd name="T12" fmla="*/ 37 w 37"/>
                <a:gd name="T13" fmla="*/ 35 h 37"/>
                <a:gd name="T14" fmla="*/ 37 w 37"/>
                <a:gd name="T15" fmla="*/ 3 h 37"/>
                <a:gd name="T16" fmla="*/ 35 w 37"/>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7">
                  <a:moveTo>
                    <a:pt x="35" y="0"/>
                  </a:moveTo>
                  <a:cubicBezTo>
                    <a:pt x="3" y="0"/>
                    <a:pt x="3" y="0"/>
                    <a:pt x="3" y="0"/>
                  </a:cubicBezTo>
                  <a:cubicBezTo>
                    <a:pt x="1" y="0"/>
                    <a:pt x="0" y="1"/>
                    <a:pt x="0" y="3"/>
                  </a:cubicBezTo>
                  <a:cubicBezTo>
                    <a:pt x="0" y="35"/>
                    <a:pt x="0" y="35"/>
                    <a:pt x="0" y="35"/>
                  </a:cubicBezTo>
                  <a:cubicBezTo>
                    <a:pt x="0" y="36"/>
                    <a:pt x="1" y="37"/>
                    <a:pt x="3" y="37"/>
                  </a:cubicBezTo>
                  <a:cubicBezTo>
                    <a:pt x="35" y="37"/>
                    <a:pt x="35" y="37"/>
                    <a:pt x="35" y="37"/>
                  </a:cubicBezTo>
                  <a:cubicBezTo>
                    <a:pt x="36" y="37"/>
                    <a:pt x="37" y="36"/>
                    <a:pt x="37" y="35"/>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 name="Freeform 62">
              <a:extLst>
                <a:ext uri="{FF2B5EF4-FFF2-40B4-BE49-F238E27FC236}">
                  <a16:creationId xmlns:a16="http://schemas.microsoft.com/office/drawing/2014/main" id="{E321847D-50A0-4FBC-BFD8-309B596F098A}"/>
                </a:ext>
              </a:extLst>
            </p:cNvPr>
            <p:cNvSpPr>
              <a:spLocks/>
            </p:cNvSpPr>
            <p:nvPr/>
          </p:nvSpPr>
          <p:spPr bwMode="auto">
            <a:xfrm>
              <a:off x="5948363" y="2898775"/>
              <a:ext cx="252413" cy="252413"/>
            </a:xfrm>
            <a:custGeom>
              <a:avLst/>
              <a:gdLst>
                <a:gd name="T0" fmla="*/ 35 w 37"/>
                <a:gd name="T1" fmla="*/ 0 h 37"/>
                <a:gd name="T2" fmla="*/ 3 w 37"/>
                <a:gd name="T3" fmla="*/ 0 h 37"/>
                <a:gd name="T4" fmla="*/ 0 w 37"/>
                <a:gd name="T5" fmla="*/ 3 h 37"/>
                <a:gd name="T6" fmla="*/ 0 w 37"/>
                <a:gd name="T7" fmla="*/ 35 h 37"/>
                <a:gd name="T8" fmla="*/ 3 w 37"/>
                <a:gd name="T9" fmla="*/ 37 h 37"/>
                <a:gd name="T10" fmla="*/ 35 w 37"/>
                <a:gd name="T11" fmla="*/ 37 h 37"/>
                <a:gd name="T12" fmla="*/ 37 w 37"/>
                <a:gd name="T13" fmla="*/ 35 h 37"/>
                <a:gd name="T14" fmla="*/ 37 w 37"/>
                <a:gd name="T15" fmla="*/ 3 h 37"/>
                <a:gd name="T16" fmla="*/ 35 w 37"/>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37">
                  <a:moveTo>
                    <a:pt x="35" y="0"/>
                  </a:moveTo>
                  <a:cubicBezTo>
                    <a:pt x="3" y="0"/>
                    <a:pt x="3" y="0"/>
                    <a:pt x="3" y="0"/>
                  </a:cubicBezTo>
                  <a:cubicBezTo>
                    <a:pt x="1" y="0"/>
                    <a:pt x="0" y="1"/>
                    <a:pt x="0" y="3"/>
                  </a:cubicBezTo>
                  <a:cubicBezTo>
                    <a:pt x="0" y="35"/>
                    <a:pt x="0" y="35"/>
                    <a:pt x="0" y="35"/>
                  </a:cubicBezTo>
                  <a:cubicBezTo>
                    <a:pt x="0" y="36"/>
                    <a:pt x="1" y="37"/>
                    <a:pt x="3" y="37"/>
                  </a:cubicBezTo>
                  <a:cubicBezTo>
                    <a:pt x="35" y="37"/>
                    <a:pt x="35" y="37"/>
                    <a:pt x="35" y="37"/>
                  </a:cubicBezTo>
                  <a:cubicBezTo>
                    <a:pt x="36" y="37"/>
                    <a:pt x="37" y="36"/>
                    <a:pt x="37" y="35"/>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6" name="Group 35">
            <a:extLst>
              <a:ext uri="{FF2B5EF4-FFF2-40B4-BE49-F238E27FC236}">
                <a16:creationId xmlns:a16="http://schemas.microsoft.com/office/drawing/2014/main" id="{CCA5716D-4B38-438B-AC2E-40C267D0A17F}"/>
              </a:ext>
            </a:extLst>
          </p:cNvPr>
          <p:cNvGrpSpPr>
            <a:grpSpLocks noChangeAspect="1"/>
          </p:cNvGrpSpPr>
          <p:nvPr/>
        </p:nvGrpSpPr>
        <p:grpSpPr>
          <a:xfrm>
            <a:off x="7133352" y="1830440"/>
            <a:ext cx="274320" cy="274320"/>
            <a:chOff x="6384925" y="2571750"/>
            <a:chExt cx="579438" cy="579438"/>
          </a:xfrm>
          <a:solidFill>
            <a:srgbClr val="595555"/>
          </a:solidFill>
        </p:grpSpPr>
        <p:sp>
          <p:nvSpPr>
            <p:cNvPr id="37" name="Freeform 63">
              <a:extLst>
                <a:ext uri="{FF2B5EF4-FFF2-40B4-BE49-F238E27FC236}">
                  <a16:creationId xmlns:a16="http://schemas.microsoft.com/office/drawing/2014/main" id="{0F721A49-4AED-408F-88E8-59F3E916A02F}"/>
                </a:ext>
              </a:extLst>
            </p:cNvPr>
            <p:cNvSpPr>
              <a:spLocks/>
            </p:cNvSpPr>
            <p:nvPr/>
          </p:nvSpPr>
          <p:spPr bwMode="auto">
            <a:xfrm>
              <a:off x="6384925" y="2571750"/>
              <a:ext cx="250825" cy="252413"/>
            </a:xfrm>
            <a:custGeom>
              <a:avLst/>
              <a:gdLst>
                <a:gd name="T0" fmla="*/ 35 w 37"/>
                <a:gd name="T1" fmla="*/ 0 h 37"/>
                <a:gd name="T2" fmla="*/ 34 w 37"/>
                <a:gd name="T3" fmla="*/ 0 h 37"/>
                <a:gd name="T4" fmla="*/ 0 w 37"/>
                <a:gd name="T5" fmla="*/ 0 h 37"/>
                <a:gd name="T6" fmla="*/ 0 w 37"/>
                <a:gd name="T7" fmla="*/ 3 h 37"/>
                <a:gd name="T8" fmla="*/ 0 w 37"/>
                <a:gd name="T9" fmla="*/ 8 h 37"/>
                <a:gd name="T10" fmla="*/ 0 w 37"/>
                <a:gd name="T11" fmla="*/ 11 h 37"/>
                <a:gd name="T12" fmla="*/ 0 w 37"/>
                <a:gd name="T13" fmla="*/ 35 h 37"/>
                <a:gd name="T14" fmla="*/ 0 w 37"/>
                <a:gd name="T15" fmla="*/ 35 h 37"/>
                <a:gd name="T16" fmla="*/ 3 w 37"/>
                <a:gd name="T17" fmla="*/ 37 h 37"/>
                <a:gd name="T18" fmla="*/ 8 w 37"/>
                <a:gd name="T19" fmla="*/ 37 h 37"/>
                <a:gd name="T20" fmla="*/ 11 w 37"/>
                <a:gd name="T21" fmla="*/ 35 h 37"/>
                <a:gd name="T22" fmla="*/ 11 w 37"/>
                <a:gd name="T23" fmla="*/ 11 h 37"/>
                <a:gd name="T24" fmla="*/ 35 w 37"/>
                <a:gd name="T25" fmla="*/ 11 h 37"/>
                <a:gd name="T26" fmla="*/ 37 w 37"/>
                <a:gd name="T27" fmla="*/ 8 h 37"/>
                <a:gd name="T28" fmla="*/ 37 w 37"/>
                <a:gd name="T29" fmla="*/ 3 h 37"/>
                <a:gd name="T30" fmla="*/ 35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0"/>
                  </a:moveTo>
                  <a:cubicBezTo>
                    <a:pt x="34" y="0"/>
                    <a:pt x="34" y="0"/>
                    <a:pt x="34" y="0"/>
                  </a:cubicBezTo>
                  <a:cubicBezTo>
                    <a:pt x="0" y="0"/>
                    <a:pt x="0" y="0"/>
                    <a:pt x="0" y="0"/>
                  </a:cubicBezTo>
                  <a:cubicBezTo>
                    <a:pt x="0" y="3"/>
                    <a:pt x="0" y="3"/>
                    <a:pt x="0" y="3"/>
                  </a:cubicBezTo>
                  <a:cubicBezTo>
                    <a:pt x="0" y="8"/>
                    <a:pt x="0" y="8"/>
                    <a:pt x="0" y="8"/>
                  </a:cubicBezTo>
                  <a:cubicBezTo>
                    <a:pt x="0" y="11"/>
                    <a:pt x="0" y="11"/>
                    <a:pt x="0" y="11"/>
                  </a:cubicBezTo>
                  <a:cubicBezTo>
                    <a:pt x="0" y="35"/>
                    <a:pt x="0" y="35"/>
                    <a:pt x="0" y="35"/>
                  </a:cubicBezTo>
                  <a:cubicBezTo>
                    <a:pt x="0" y="35"/>
                    <a:pt x="0" y="35"/>
                    <a:pt x="0" y="35"/>
                  </a:cubicBezTo>
                  <a:cubicBezTo>
                    <a:pt x="0" y="36"/>
                    <a:pt x="1" y="37"/>
                    <a:pt x="3" y="37"/>
                  </a:cubicBezTo>
                  <a:cubicBezTo>
                    <a:pt x="8" y="37"/>
                    <a:pt x="8" y="37"/>
                    <a:pt x="8" y="37"/>
                  </a:cubicBezTo>
                  <a:cubicBezTo>
                    <a:pt x="9" y="37"/>
                    <a:pt x="11" y="36"/>
                    <a:pt x="11" y="35"/>
                  </a:cubicBezTo>
                  <a:cubicBezTo>
                    <a:pt x="11" y="11"/>
                    <a:pt x="11" y="11"/>
                    <a:pt x="11" y="11"/>
                  </a:cubicBezTo>
                  <a:cubicBezTo>
                    <a:pt x="35" y="11"/>
                    <a:pt x="35" y="11"/>
                    <a:pt x="35" y="11"/>
                  </a:cubicBezTo>
                  <a:cubicBezTo>
                    <a:pt x="36" y="11"/>
                    <a:pt x="37" y="10"/>
                    <a:pt x="37" y="8"/>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64">
              <a:extLst>
                <a:ext uri="{FF2B5EF4-FFF2-40B4-BE49-F238E27FC236}">
                  <a16:creationId xmlns:a16="http://schemas.microsoft.com/office/drawing/2014/main" id="{C7BAE077-54ED-4E37-A25D-E200E6A6B148}"/>
                </a:ext>
              </a:extLst>
            </p:cNvPr>
            <p:cNvSpPr>
              <a:spLocks/>
            </p:cNvSpPr>
            <p:nvPr/>
          </p:nvSpPr>
          <p:spPr bwMode="auto">
            <a:xfrm>
              <a:off x="6711950" y="2571750"/>
              <a:ext cx="252413" cy="252413"/>
            </a:xfrm>
            <a:custGeom>
              <a:avLst/>
              <a:gdLst>
                <a:gd name="T0" fmla="*/ 3 w 37"/>
                <a:gd name="T1" fmla="*/ 0 h 37"/>
                <a:gd name="T2" fmla="*/ 3 w 37"/>
                <a:gd name="T3" fmla="*/ 0 h 37"/>
                <a:gd name="T4" fmla="*/ 0 w 37"/>
                <a:gd name="T5" fmla="*/ 3 h 37"/>
                <a:gd name="T6" fmla="*/ 0 w 37"/>
                <a:gd name="T7" fmla="*/ 8 h 37"/>
                <a:gd name="T8" fmla="*/ 3 w 37"/>
                <a:gd name="T9" fmla="*/ 11 h 37"/>
                <a:gd name="T10" fmla="*/ 27 w 37"/>
                <a:gd name="T11" fmla="*/ 11 h 37"/>
                <a:gd name="T12" fmla="*/ 27 w 37"/>
                <a:gd name="T13" fmla="*/ 35 h 37"/>
                <a:gd name="T14" fmla="*/ 29 w 37"/>
                <a:gd name="T15" fmla="*/ 37 h 37"/>
                <a:gd name="T16" fmla="*/ 35 w 37"/>
                <a:gd name="T17" fmla="*/ 37 h 37"/>
                <a:gd name="T18" fmla="*/ 37 w 37"/>
                <a:gd name="T19" fmla="*/ 35 h 37"/>
                <a:gd name="T20" fmla="*/ 37 w 37"/>
                <a:gd name="T21" fmla="*/ 35 h 37"/>
                <a:gd name="T22" fmla="*/ 37 w 37"/>
                <a:gd name="T23" fmla="*/ 11 h 37"/>
                <a:gd name="T24" fmla="*/ 37 w 37"/>
                <a:gd name="T25" fmla="*/ 8 h 37"/>
                <a:gd name="T26" fmla="*/ 37 w 37"/>
                <a:gd name="T27" fmla="*/ 3 h 37"/>
                <a:gd name="T28" fmla="*/ 37 w 37"/>
                <a:gd name="T29" fmla="*/ 0 h 37"/>
                <a:gd name="T30" fmla="*/ 3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 y="0"/>
                  </a:moveTo>
                  <a:cubicBezTo>
                    <a:pt x="3" y="0"/>
                    <a:pt x="3" y="0"/>
                    <a:pt x="3" y="0"/>
                  </a:cubicBezTo>
                  <a:cubicBezTo>
                    <a:pt x="1" y="0"/>
                    <a:pt x="0" y="1"/>
                    <a:pt x="0" y="3"/>
                  </a:cubicBezTo>
                  <a:cubicBezTo>
                    <a:pt x="0" y="8"/>
                    <a:pt x="0" y="8"/>
                    <a:pt x="0" y="8"/>
                  </a:cubicBezTo>
                  <a:cubicBezTo>
                    <a:pt x="0" y="10"/>
                    <a:pt x="1" y="11"/>
                    <a:pt x="3" y="11"/>
                  </a:cubicBezTo>
                  <a:cubicBezTo>
                    <a:pt x="27" y="11"/>
                    <a:pt x="27" y="11"/>
                    <a:pt x="27" y="11"/>
                  </a:cubicBezTo>
                  <a:cubicBezTo>
                    <a:pt x="27" y="35"/>
                    <a:pt x="27" y="35"/>
                    <a:pt x="27" y="35"/>
                  </a:cubicBezTo>
                  <a:cubicBezTo>
                    <a:pt x="27" y="36"/>
                    <a:pt x="28" y="37"/>
                    <a:pt x="29" y="37"/>
                  </a:cubicBezTo>
                  <a:cubicBezTo>
                    <a:pt x="35" y="37"/>
                    <a:pt x="35" y="37"/>
                    <a:pt x="35" y="37"/>
                  </a:cubicBezTo>
                  <a:cubicBezTo>
                    <a:pt x="36" y="37"/>
                    <a:pt x="37" y="36"/>
                    <a:pt x="37" y="35"/>
                  </a:cubicBezTo>
                  <a:cubicBezTo>
                    <a:pt x="37" y="35"/>
                    <a:pt x="37" y="35"/>
                    <a:pt x="37" y="35"/>
                  </a:cubicBezTo>
                  <a:cubicBezTo>
                    <a:pt x="37" y="11"/>
                    <a:pt x="37" y="11"/>
                    <a:pt x="37" y="11"/>
                  </a:cubicBezTo>
                  <a:cubicBezTo>
                    <a:pt x="37" y="8"/>
                    <a:pt x="37" y="8"/>
                    <a:pt x="37" y="8"/>
                  </a:cubicBezTo>
                  <a:cubicBezTo>
                    <a:pt x="37" y="3"/>
                    <a:pt x="37" y="3"/>
                    <a:pt x="37" y="3"/>
                  </a:cubicBezTo>
                  <a:cubicBezTo>
                    <a:pt x="37" y="0"/>
                    <a:pt x="37" y="0"/>
                    <a:pt x="37"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65">
              <a:extLst>
                <a:ext uri="{FF2B5EF4-FFF2-40B4-BE49-F238E27FC236}">
                  <a16:creationId xmlns:a16="http://schemas.microsoft.com/office/drawing/2014/main" id="{1C14FF57-E894-4EDB-9D1C-F5C9ED812D4D}"/>
                </a:ext>
              </a:extLst>
            </p:cNvPr>
            <p:cNvSpPr>
              <a:spLocks/>
            </p:cNvSpPr>
            <p:nvPr/>
          </p:nvSpPr>
          <p:spPr bwMode="auto">
            <a:xfrm>
              <a:off x="6384925" y="2898775"/>
              <a:ext cx="250825" cy="252413"/>
            </a:xfrm>
            <a:custGeom>
              <a:avLst/>
              <a:gdLst>
                <a:gd name="T0" fmla="*/ 35 w 37"/>
                <a:gd name="T1" fmla="*/ 27 h 37"/>
                <a:gd name="T2" fmla="*/ 11 w 37"/>
                <a:gd name="T3" fmla="*/ 27 h 37"/>
                <a:gd name="T4" fmla="*/ 11 w 37"/>
                <a:gd name="T5" fmla="*/ 3 h 37"/>
                <a:gd name="T6" fmla="*/ 8 w 37"/>
                <a:gd name="T7" fmla="*/ 0 h 37"/>
                <a:gd name="T8" fmla="*/ 3 w 37"/>
                <a:gd name="T9" fmla="*/ 0 h 37"/>
                <a:gd name="T10" fmla="*/ 0 w 37"/>
                <a:gd name="T11" fmla="*/ 3 h 37"/>
                <a:gd name="T12" fmla="*/ 0 w 37"/>
                <a:gd name="T13" fmla="*/ 3 h 37"/>
                <a:gd name="T14" fmla="*/ 0 w 37"/>
                <a:gd name="T15" fmla="*/ 27 h 37"/>
                <a:gd name="T16" fmla="*/ 0 w 37"/>
                <a:gd name="T17" fmla="*/ 29 h 37"/>
                <a:gd name="T18" fmla="*/ 0 w 37"/>
                <a:gd name="T19" fmla="*/ 35 h 37"/>
                <a:gd name="T20" fmla="*/ 0 w 37"/>
                <a:gd name="T21" fmla="*/ 37 h 37"/>
                <a:gd name="T22" fmla="*/ 34 w 37"/>
                <a:gd name="T23" fmla="*/ 37 h 37"/>
                <a:gd name="T24" fmla="*/ 35 w 37"/>
                <a:gd name="T25" fmla="*/ 37 h 37"/>
                <a:gd name="T26" fmla="*/ 37 w 37"/>
                <a:gd name="T27" fmla="*/ 35 h 37"/>
                <a:gd name="T28" fmla="*/ 37 w 37"/>
                <a:gd name="T29" fmla="*/ 29 h 37"/>
                <a:gd name="T30" fmla="*/ 35 w 37"/>
                <a:gd name="T31" fmla="*/ 2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27"/>
                  </a:moveTo>
                  <a:cubicBezTo>
                    <a:pt x="11" y="27"/>
                    <a:pt x="11" y="27"/>
                    <a:pt x="11" y="27"/>
                  </a:cubicBezTo>
                  <a:cubicBezTo>
                    <a:pt x="11" y="3"/>
                    <a:pt x="11" y="3"/>
                    <a:pt x="11" y="3"/>
                  </a:cubicBezTo>
                  <a:cubicBezTo>
                    <a:pt x="11" y="1"/>
                    <a:pt x="9" y="0"/>
                    <a:pt x="8" y="0"/>
                  </a:cubicBezTo>
                  <a:cubicBezTo>
                    <a:pt x="3" y="0"/>
                    <a:pt x="3" y="0"/>
                    <a:pt x="3" y="0"/>
                  </a:cubicBezTo>
                  <a:cubicBezTo>
                    <a:pt x="1" y="0"/>
                    <a:pt x="0" y="1"/>
                    <a:pt x="0" y="3"/>
                  </a:cubicBezTo>
                  <a:cubicBezTo>
                    <a:pt x="0" y="3"/>
                    <a:pt x="0" y="3"/>
                    <a:pt x="0" y="3"/>
                  </a:cubicBezTo>
                  <a:cubicBezTo>
                    <a:pt x="0" y="27"/>
                    <a:pt x="0" y="27"/>
                    <a:pt x="0" y="27"/>
                  </a:cubicBezTo>
                  <a:cubicBezTo>
                    <a:pt x="0" y="29"/>
                    <a:pt x="0" y="29"/>
                    <a:pt x="0" y="29"/>
                  </a:cubicBezTo>
                  <a:cubicBezTo>
                    <a:pt x="0" y="35"/>
                    <a:pt x="0" y="35"/>
                    <a:pt x="0" y="35"/>
                  </a:cubicBezTo>
                  <a:cubicBezTo>
                    <a:pt x="0" y="37"/>
                    <a:pt x="0" y="37"/>
                    <a:pt x="0" y="37"/>
                  </a:cubicBezTo>
                  <a:cubicBezTo>
                    <a:pt x="34" y="37"/>
                    <a:pt x="34" y="37"/>
                    <a:pt x="34" y="37"/>
                  </a:cubicBezTo>
                  <a:cubicBezTo>
                    <a:pt x="35" y="37"/>
                    <a:pt x="35" y="37"/>
                    <a:pt x="35" y="37"/>
                  </a:cubicBezTo>
                  <a:cubicBezTo>
                    <a:pt x="36" y="37"/>
                    <a:pt x="37" y="36"/>
                    <a:pt x="37" y="35"/>
                  </a:cubicBezTo>
                  <a:cubicBezTo>
                    <a:pt x="37" y="29"/>
                    <a:pt x="37" y="29"/>
                    <a:pt x="37" y="29"/>
                  </a:cubicBezTo>
                  <a:cubicBezTo>
                    <a:pt x="37" y="28"/>
                    <a:pt x="36" y="27"/>
                    <a:pt x="35"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0" name="Freeform 66">
              <a:extLst>
                <a:ext uri="{FF2B5EF4-FFF2-40B4-BE49-F238E27FC236}">
                  <a16:creationId xmlns:a16="http://schemas.microsoft.com/office/drawing/2014/main" id="{F90D7D42-F425-475B-A059-F628EB437A9E}"/>
                </a:ext>
              </a:extLst>
            </p:cNvPr>
            <p:cNvSpPr>
              <a:spLocks/>
            </p:cNvSpPr>
            <p:nvPr/>
          </p:nvSpPr>
          <p:spPr bwMode="auto">
            <a:xfrm>
              <a:off x="6711950" y="2898775"/>
              <a:ext cx="252413" cy="252413"/>
            </a:xfrm>
            <a:custGeom>
              <a:avLst/>
              <a:gdLst>
                <a:gd name="T0" fmla="*/ 35 w 37"/>
                <a:gd name="T1" fmla="*/ 0 h 37"/>
                <a:gd name="T2" fmla="*/ 29 w 37"/>
                <a:gd name="T3" fmla="*/ 0 h 37"/>
                <a:gd name="T4" fmla="*/ 27 w 37"/>
                <a:gd name="T5" fmla="*/ 3 h 37"/>
                <a:gd name="T6" fmla="*/ 27 w 37"/>
                <a:gd name="T7" fmla="*/ 27 h 37"/>
                <a:gd name="T8" fmla="*/ 3 w 37"/>
                <a:gd name="T9" fmla="*/ 27 h 37"/>
                <a:gd name="T10" fmla="*/ 0 w 37"/>
                <a:gd name="T11" fmla="*/ 29 h 37"/>
                <a:gd name="T12" fmla="*/ 0 w 37"/>
                <a:gd name="T13" fmla="*/ 35 h 37"/>
                <a:gd name="T14" fmla="*/ 3 w 37"/>
                <a:gd name="T15" fmla="*/ 37 h 37"/>
                <a:gd name="T16" fmla="*/ 3 w 37"/>
                <a:gd name="T17" fmla="*/ 37 h 37"/>
                <a:gd name="T18" fmla="*/ 37 w 37"/>
                <a:gd name="T19" fmla="*/ 37 h 37"/>
                <a:gd name="T20" fmla="*/ 37 w 37"/>
                <a:gd name="T21" fmla="*/ 35 h 37"/>
                <a:gd name="T22" fmla="*/ 37 w 37"/>
                <a:gd name="T23" fmla="*/ 29 h 37"/>
                <a:gd name="T24" fmla="*/ 37 w 37"/>
                <a:gd name="T25" fmla="*/ 27 h 37"/>
                <a:gd name="T26" fmla="*/ 37 w 37"/>
                <a:gd name="T27" fmla="*/ 3 h 37"/>
                <a:gd name="T28" fmla="*/ 37 w 37"/>
                <a:gd name="T29" fmla="*/ 3 h 37"/>
                <a:gd name="T30" fmla="*/ 35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0"/>
                  </a:moveTo>
                  <a:cubicBezTo>
                    <a:pt x="29" y="0"/>
                    <a:pt x="29" y="0"/>
                    <a:pt x="29" y="0"/>
                  </a:cubicBezTo>
                  <a:cubicBezTo>
                    <a:pt x="28" y="0"/>
                    <a:pt x="27" y="1"/>
                    <a:pt x="27" y="3"/>
                  </a:cubicBezTo>
                  <a:cubicBezTo>
                    <a:pt x="27" y="27"/>
                    <a:pt x="27" y="27"/>
                    <a:pt x="27" y="27"/>
                  </a:cubicBezTo>
                  <a:cubicBezTo>
                    <a:pt x="3" y="27"/>
                    <a:pt x="3" y="27"/>
                    <a:pt x="3" y="27"/>
                  </a:cubicBezTo>
                  <a:cubicBezTo>
                    <a:pt x="1" y="27"/>
                    <a:pt x="0" y="28"/>
                    <a:pt x="0" y="29"/>
                  </a:cubicBezTo>
                  <a:cubicBezTo>
                    <a:pt x="0" y="35"/>
                    <a:pt x="0" y="35"/>
                    <a:pt x="0" y="35"/>
                  </a:cubicBezTo>
                  <a:cubicBezTo>
                    <a:pt x="0" y="36"/>
                    <a:pt x="1" y="37"/>
                    <a:pt x="3" y="37"/>
                  </a:cubicBezTo>
                  <a:cubicBezTo>
                    <a:pt x="3" y="37"/>
                    <a:pt x="3" y="37"/>
                    <a:pt x="3" y="37"/>
                  </a:cubicBezTo>
                  <a:cubicBezTo>
                    <a:pt x="37" y="37"/>
                    <a:pt x="37" y="37"/>
                    <a:pt x="37" y="37"/>
                  </a:cubicBezTo>
                  <a:cubicBezTo>
                    <a:pt x="37" y="35"/>
                    <a:pt x="37" y="35"/>
                    <a:pt x="37" y="35"/>
                  </a:cubicBezTo>
                  <a:cubicBezTo>
                    <a:pt x="37" y="29"/>
                    <a:pt x="37" y="29"/>
                    <a:pt x="37" y="29"/>
                  </a:cubicBezTo>
                  <a:cubicBezTo>
                    <a:pt x="37" y="27"/>
                    <a:pt x="37" y="27"/>
                    <a:pt x="37" y="27"/>
                  </a:cubicBezTo>
                  <a:cubicBezTo>
                    <a:pt x="37" y="3"/>
                    <a:pt x="37" y="3"/>
                    <a:pt x="37" y="3"/>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1" name="Group 40">
            <a:extLst>
              <a:ext uri="{FF2B5EF4-FFF2-40B4-BE49-F238E27FC236}">
                <a16:creationId xmlns:a16="http://schemas.microsoft.com/office/drawing/2014/main" id="{669F72B9-F0CD-46B6-BD76-31353B00DBCB}"/>
              </a:ext>
            </a:extLst>
          </p:cNvPr>
          <p:cNvGrpSpPr>
            <a:grpSpLocks noChangeAspect="1"/>
          </p:cNvGrpSpPr>
          <p:nvPr/>
        </p:nvGrpSpPr>
        <p:grpSpPr>
          <a:xfrm>
            <a:off x="8976256" y="1830440"/>
            <a:ext cx="274320" cy="274320"/>
            <a:chOff x="7912100" y="2571750"/>
            <a:chExt cx="579438" cy="579438"/>
          </a:xfrm>
          <a:solidFill>
            <a:srgbClr val="595555"/>
          </a:solidFill>
        </p:grpSpPr>
        <p:sp>
          <p:nvSpPr>
            <p:cNvPr id="42" name="Freeform 67">
              <a:extLst>
                <a:ext uri="{FF2B5EF4-FFF2-40B4-BE49-F238E27FC236}">
                  <a16:creationId xmlns:a16="http://schemas.microsoft.com/office/drawing/2014/main" id="{B26BD6F9-2304-413B-B713-C49C3268CA25}"/>
                </a:ext>
              </a:extLst>
            </p:cNvPr>
            <p:cNvSpPr>
              <a:spLocks/>
            </p:cNvSpPr>
            <p:nvPr/>
          </p:nvSpPr>
          <p:spPr bwMode="auto">
            <a:xfrm>
              <a:off x="7912100" y="2571750"/>
              <a:ext cx="252413" cy="252413"/>
            </a:xfrm>
            <a:custGeom>
              <a:avLst/>
              <a:gdLst>
                <a:gd name="T0" fmla="*/ 35 w 37"/>
                <a:gd name="T1" fmla="*/ 0 h 37"/>
                <a:gd name="T2" fmla="*/ 29 w 37"/>
                <a:gd name="T3" fmla="*/ 0 h 37"/>
                <a:gd name="T4" fmla="*/ 27 w 37"/>
                <a:gd name="T5" fmla="*/ 3 h 37"/>
                <a:gd name="T6" fmla="*/ 27 w 37"/>
                <a:gd name="T7" fmla="*/ 27 h 37"/>
                <a:gd name="T8" fmla="*/ 3 w 37"/>
                <a:gd name="T9" fmla="*/ 27 h 37"/>
                <a:gd name="T10" fmla="*/ 0 w 37"/>
                <a:gd name="T11" fmla="*/ 29 h 37"/>
                <a:gd name="T12" fmla="*/ 0 w 37"/>
                <a:gd name="T13" fmla="*/ 35 h 37"/>
                <a:gd name="T14" fmla="*/ 3 w 37"/>
                <a:gd name="T15" fmla="*/ 37 h 37"/>
                <a:gd name="T16" fmla="*/ 3 w 37"/>
                <a:gd name="T17" fmla="*/ 37 h 37"/>
                <a:gd name="T18" fmla="*/ 37 w 37"/>
                <a:gd name="T19" fmla="*/ 37 h 37"/>
                <a:gd name="T20" fmla="*/ 37 w 37"/>
                <a:gd name="T21" fmla="*/ 35 h 37"/>
                <a:gd name="T22" fmla="*/ 37 w 37"/>
                <a:gd name="T23" fmla="*/ 29 h 37"/>
                <a:gd name="T24" fmla="*/ 37 w 37"/>
                <a:gd name="T25" fmla="*/ 27 h 37"/>
                <a:gd name="T26" fmla="*/ 37 w 37"/>
                <a:gd name="T27" fmla="*/ 3 h 37"/>
                <a:gd name="T28" fmla="*/ 37 w 37"/>
                <a:gd name="T29" fmla="*/ 3 h 37"/>
                <a:gd name="T30" fmla="*/ 35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0"/>
                  </a:moveTo>
                  <a:cubicBezTo>
                    <a:pt x="29" y="0"/>
                    <a:pt x="29" y="0"/>
                    <a:pt x="29" y="0"/>
                  </a:cubicBezTo>
                  <a:cubicBezTo>
                    <a:pt x="28" y="0"/>
                    <a:pt x="27" y="1"/>
                    <a:pt x="27" y="3"/>
                  </a:cubicBezTo>
                  <a:cubicBezTo>
                    <a:pt x="27" y="27"/>
                    <a:pt x="27" y="27"/>
                    <a:pt x="27" y="27"/>
                  </a:cubicBezTo>
                  <a:cubicBezTo>
                    <a:pt x="3" y="27"/>
                    <a:pt x="3" y="27"/>
                    <a:pt x="3" y="27"/>
                  </a:cubicBezTo>
                  <a:cubicBezTo>
                    <a:pt x="1" y="27"/>
                    <a:pt x="0" y="28"/>
                    <a:pt x="0" y="29"/>
                  </a:cubicBezTo>
                  <a:cubicBezTo>
                    <a:pt x="0" y="35"/>
                    <a:pt x="0" y="35"/>
                    <a:pt x="0" y="35"/>
                  </a:cubicBezTo>
                  <a:cubicBezTo>
                    <a:pt x="0" y="36"/>
                    <a:pt x="1" y="37"/>
                    <a:pt x="3" y="37"/>
                  </a:cubicBezTo>
                  <a:cubicBezTo>
                    <a:pt x="3" y="37"/>
                    <a:pt x="3" y="37"/>
                    <a:pt x="3" y="37"/>
                  </a:cubicBezTo>
                  <a:cubicBezTo>
                    <a:pt x="37" y="37"/>
                    <a:pt x="37" y="37"/>
                    <a:pt x="37" y="37"/>
                  </a:cubicBezTo>
                  <a:cubicBezTo>
                    <a:pt x="37" y="35"/>
                    <a:pt x="37" y="35"/>
                    <a:pt x="37" y="35"/>
                  </a:cubicBezTo>
                  <a:cubicBezTo>
                    <a:pt x="37" y="29"/>
                    <a:pt x="37" y="29"/>
                    <a:pt x="37" y="29"/>
                  </a:cubicBezTo>
                  <a:cubicBezTo>
                    <a:pt x="37" y="27"/>
                    <a:pt x="37" y="27"/>
                    <a:pt x="37" y="27"/>
                  </a:cubicBezTo>
                  <a:cubicBezTo>
                    <a:pt x="37" y="3"/>
                    <a:pt x="37" y="3"/>
                    <a:pt x="37" y="3"/>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68">
              <a:extLst>
                <a:ext uri="{FF2B5EF4-FFF2-40B4-BE49-F238E27FC236}">
                  <a16:creationId xmlns:a16="http://schemas.microsoft.com/office/drawing/2014/main" id="{1510F4AD-392F-4F35-BC02-BDC9CD6F916A}"/>
                </a:ext>
              </a:extLst>
            </p:cNvPr>
            <p:cNvSpPr>
              <a:spLocks/>
            </p:cNvSpPr>
            <p:nvPr/>
          </p:nvSpPr>
          <p:spPr bwMode="auto">
            <a:xfrm>
              <a:off x="8239125" y="2571750"/>
              <a:ext cx="252413" cy="252413"/>
            </a:xfrm>
            <a:custGeom>
              <a:avLst/>
              <a:gdLst>
                <a:gd name="T0" fmla="*/ 35 w 37"/>
                <a:gd name="T1" fmla="*/ 27 h 37"/>
                <a:gd name="T2" fmla="*/ 11 w 37"/>
                <a:gd name="T3" fmla="*/ 27 h 37"/>
                <a:gd name="T4" fmla="*/ 11 w 37"/>
                <a:gd name="T5" fmla="*/ 3 h 37"/>
                <a:gd name="T6" fmla="*/ 8 w 37"/>
                <a:gd name="T7" fmla="*/ 0 h 37"/>
                <a:gd name="T8" fmla="*/ 3 w 37"/>
                <a:gd name="T9" fmla="*/ 0 h 37"/>
                <a:gd name="T10" fmla="*/ 0 w 37"/>
                <a:gd name="T11" fmla="*/ 3 h 37"/>
                <a:gd name="T12" fmla="*/ 0 w 37"/>
                <a:gd name="T13" fmla="*/ 3 h 37"/>
                <a:gd name="T14" fmla="*/ 0 w 37"/>
                <a:gd name="T15" fmla="*/ 27 h 37"/>
                <a:gd name="T16" fmla="*/ 0 w 37"/>
                <a:gd name="T17" fmla="*/ 29 h 37"/>
                <a:gd name="T18" fmla="*/ 0 w 37"/>
                <a:gd name="T19" fmla="*/ 35 h 37"/>
                <a:gd name="T20" fmla="*/ 0 w 37"/>
                <a:gd name="T21" fmla="*/ 37 h 37"/>
                <a:gd name="T22" fmla="*/ 34 w 37"/>
                <a:gd name="T23" fmla="*/ 37 h 37"/>
                <a:gd name="T24" fmla="*/ 35 w 37"/>
                <a:gd name="T25" fmla="*/ 37 h 37"/>
                <a:gd name="T26" fmla="*/ 37 w 37"/>
                <a:gd name="T27" fmla="*/ 35 h 37"/>
                <a:gd name="T28" fmla="*/ 37 w 37"/>
                <a:gd name="T29" fmla="*/ 29 h 37"/>
                <a:gd name="T30" fmla="*/ 35 w 37"/>
                <a:gd name="T31" fmla="*/ 2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27"/>
                  </a:moveTo>
                  <a:cubicBezTo>
                    <a:pt x="11" y="27"/>
                    <a:pt x="11" y="27"/>
                    <a:pt x="11" y="27"/>
                  </a:cubicBezTo>
                  <a:cubicBezTo>
                    <a:pt x="11" y="3"/>
                    <a:pt x="11" y="3"/>
                    <a:pt x="11" y="3"/>
                  </a:cubicBezTo>
                  <a:cubicBezTo>
                    <a:pt x="11" y="1"/>
                    <a:pt x="9" y="0"/>
                    <a:pt x="8" y="0"/>
                  </a:cubicBezTo>
                  <a:cubicBezTo>
                    <a:pt x="3" y="0"/>
                    <a:pt x="3" y="0"/>
                    <a:pt x="3" y="0"/>
                  </a:cubicBezTo>
                  <a:cubicBezTo>
                    <a:pt x="1" y="0"/>
                    <a:pt x="0" y="1"/>
                    <a:pt x="0" y="3"/>
                  </a:cubicBezTo>
                  <a:cubicBezTo>
                    <a:pt x="0" y="3"/>
                    <a:pt x="0" y="3"/>
                    <a:pt x="0" y="3"/>
                  </a:cubicBezTo>
                  <a:cubicBezTo>
                    <a:pt x="0" y="27"/>
                    <a:pt x="0" y="27"/>
                    <a:pt x="0" y="27"/>
                  </a:cubicBezTo>
                  <a:cubicBezTo>
                    <a:pt x="0" y="29"/>
                    <a:pt x="0" y="29"/>
                    <a:pt x="0" y="29"/>
                  </a:cubicBezTo>
                  <a:cubicBezTo>
                    <a:pt x="0" y="35"/>
                    <a:pt x="0" y="35"/>
                    <a:pt x="0" y="35"/>
                  </a:cubicBezTo>
                  <a:cubicBezTo>
                    <a:pt x="0" y="37"/>
                    <a:pt x="0" y="37"/>
                    <a:pt x="0" y="37"/>
                  </a:cubicBezTo>
                  <a:cubicBezTo>
                    <a:pt x="34" y="37"/>
                    <a:pt x="34" y="37"/>
                    <a:pt x="34" y="37"/>
                  </a:cubicBezTo>
                  <a:cubicBezTo>
                    <a:pt x="35" y="37"/>
                    <a:pt x="35" y="37"/>
                    <a:pt x="35" y="37"/>
                  </a:cubicBezTo>
                  <a:cubicBezTo>
                    <a:pt x="36" y="37"/>
                    <a:pt x="37" y="36"/>
                    <a:pt x="37" y="35"/>
                  </a:cubicBezTo>
                  <a:cubicBezTo>
                    <a:pt x="37" y="29"/>
                    <a:pt x="37" y="29"/>
                    <a:pt x="37" y="29"/>
                  </a:cubicBezTo>
                  <a:cubicBezTo>
                    <a:pt x="37" y="28"/>
                    <a:pt x="36" y="27"/>
                    <a:pt x="35"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4" name="Freeform 69">
              <a:extLst>
                <a:ext uri="{FF2B5EF4-FFF2-40B4-BE49-F238E27FC236}">
                  <a16:creationId xmlns:a16="http://schemas.microsoft.com/office/drawing/2014/main" id="{2584CF27-C8B9-4DD5-8514-02BE765C9BEF}"/>
                </a:ext>
              </a:extLst>
            </p:cNvPr>
            <p:cNvSpPr>
              <a:spLocks/>
            </p:cNvSpPr>
            <p:nvPr/>
          </p:nvSpPr>
          <p:spPr bwMode="auto">
            <a:xfrm>
              <a:off x="7912100" y="2898775"/>
              <a:ext cx="252413" cy="252413"/>
            </a:xfrm>
            <a:custGeom>
              <a:avLst/>
              <a:gdLst>
                <a:gd name="T0" fmla="*/ 3 w 37"/>
                <a:gd name="T1" fmla="*/ 0 h 37"/>
                <a:gd name="T2" fmla="*/ 0 w 37"/>
                <a:gd name="T3" fmla="*/ 3 h 37"/>
                <a:gd name="T4" fmla="*/ 0 w 37"/>
                <a:gd name="T5" fmla="*/ 8 h 37"/>
                <a:gd name="T6" fmla="*/ 3 w 37"/>
                <a:gd name="T7" fmla="*/ 11 h 37"/>
                <a:gd name="T8" fmla="*/ 27 w 37"/>
                <a:gd name="T9" fmla="*/ 11 h 37"/>
                <a:gd name="T10" fmla="*/ 27 w 37"/>
                <a:gd name="T11" fmla="*/ 35 h 37"/>
                <a:gd name="T12" fmla="*/ 29 w 37"/>
                <a:gd name="T13" fmla="*/ 37 h 37"/>
                <a:gd name="T14" fmla="*/ 35 w 37"/>
                <a:gd name="T15" fmla="*/ 37 h 37"/>
                <a:gd name="T16" fmla="*/ 37 w 37"/>
                <a:gd name="T17" fmla="*/ 35 h 37"/>
                <a:gd name="T18" fmla="*/ 37 w 37"/>
                <a:gd name="T19" fmla="*/ 35 h 37"/>
                <a:gd name="T20" fmla="*/ 37 w 37"/>
                <a:gd name="T21" fmla="*/ 11 h 37"/>
                <a:gd name="T22" fmla="*/ 37 w 37"/>
                <a:gd name="T23" fmla="*/ 8 h 37"/>
                <a:gd name="T24" fmla="*/ 37 w 37"/>
                <a:gd name="T25" fmla="*/ 3 h 37"/>
                <a:gd name="T26" fmla="*/ 37 w 37"/>
                <a:gd name="T27" fmla="*/ 0 h 37"/>
                <a:gd name="T28" fmla="*/ 3 w 37"/>
                <a:gd name="T2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37">
                  <a:moveTo>
                    <a:pt x="3" y="0"/>
                  </a:moveTo>
                  <a:cubicBezTo>
                    <a:pt x="1" y="0"/>
                    <a:pt x="0" y="1"/>
                    <a:pt x="0" y="3"/>
                  </a:cubicBezTo>
                  <a:cubicBezTo>
                    <a:pt x="0" y="8"/>
                    <a:pt x="0" y="8"/>
                    <a:pt x="0" y="8"/>
                  </a:cubicBezTo>
                  <a:cubicBezTo>
                    <a:pt x="0" y="10"/>
                    <a:pt x="1" y="11"/>
                    <a:pt x="3" y="11"/>
                  </a:cubicBezTo>
                  <a:cubicBezTo>
                    <a:pt x="27" y="11"/>
                    <a:pt x="27" y="11"/>
                    <a:pt x="27" y="11"/>
                  </a:cubicBezTo>
                  <a:cubicBezTo>
                    <a:pt x="27" y="35"/>
                    <a:pt x="27" y="35"/>
                    <a:pt x="27" y="35"/>
                  </a:cubicBezTo>
                  <a:cubicBezTo>
                    <a:pt x="27" y="36"/>
                    <a:pt x="28" y="37"/>
                    <a:pt x="29" y="37"/>
                  </a:cubicBezTo>
                  <a:cubicBezTo>
                    <a:pt x="35" y="37"/>
                    <a:pt x="35" y="37"/>
                    <a:pt x="35" y="37"/>
                  </a:cubicBezTo>
                  <a:cubicBezTo>
                    <a:pt x="36" y="37"/>
                    <a:pt x="37" y="36"/>
                    <a:pt x="37" y="35"/>
                  </a:cubicBezTo>
                  <a:cubicBezTo>
                    <a:pt x="37" y="35"/>
                    <a:pt x="37" y="35"/>
                    <a:pt x="37" y="35"/>
                  </a:cubicBezTo>
                  <a:cubicBezTo>
                    <a:pt x="37" y="11"/>
                    <a:pt x="37" y="11"/>
                    <a:pt x="37" y="11"/>
                  </a:cubicBezTo>
                  <a:cubicBezTo>
                    <a:pt x="37" y="8"/>
                    <a:pt x="37" y="8"/>
                    <a:pt x="37" y="8"/>
                  </a:cubicBezTo>
                  <a:cubicBezTo>
                    <a:pt x="37" y="3"/>
                    <a:pt x="37" y="3"/>
                    <a:pt x="37" y="3"/>
                  </a:cubicBezTo>
                  <a:cubicBezTo>
                    <a:pt x="37" y="0"/>
                    <a:pt x="37" y="0"/>
                    <a:pt x="37" y="0"/>
                  </a:cubicBezTo>
                  <a:cubicBezTo>
                    <a:pt x="3" y="0"/>
                    <a:pt x="3"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5" name="Freeform 70">
              <a:extLst>
                <a:ext uri="{FF2B5EF4-FFF2-40B4-BE49-F238E27FC236}">
                  <a16:creationId xmlns:a16="http://schemas.microsoft.com/office/drawing/2014/main" id="{F74EBF8F-CE56-4651-A326-C97CA4E6D01C}"/>
                </a:ext>
              </a:extLst>
            </p:cNvPr>
            <p:cNvSpPr>
              <a:spLocks/>
            </p:cNvSpPr>
            <p:nvPr/>
          </p:nvSpPr>
          <p:spPr bwMode="auto">
            <a:xfrm>
              <a:off x="8239125" y="2898775"/>
              <a:ext cx="252413" cy="252413"/>
            </a:xfrm>
            <a:custGeom>
              <a:avLst/>
              <a:gdLst>
                <a:gd name="T0" fmla="*/ 35 w 37"/>
                <a:gd name="T1" fmla="*/ 0 h 37"/>
                <a:gd name="T2" fmla="*/ 34 w 37"/>
                <a:gd name="T3" fmla="*/ 0 h 37"/>
                <a:gd name="T4" fmla="*/ 0 w 37"/>
                <a:gd name="T5" fmla="*/ 0 h 37"/>
                <a:gd name="T6" fmla="*/ 0 w 37"/>
                <a:gd name="T7" fmla="*/ 3 h 37"/>
                <a:gd name="T8" fmla="*/ 0 w 37"/>
                <a:gd name="T9" fmla="*/ 8 h 37"/>
                <a:gd name="T10" fmla="*/ 0 w 37"/>
                <a:gd name="T11" fmla="*/ 11 h 37"/>
                <a:gd name="T12" fmla="*/ 0 w 37"/>
                <a:gd name="T13" fmla="*/ 35 h 37"/>
                <a:gd name="T14" fmla="*/ 0 w 37"/>
                <a:gd name="T15" fmla="*/ 35 h 37"/>
                <a:gd name="T16" fmla="*/ 3 w 37"/>
                <a:gd name="T17" fmla="*/ 37 h 37"/>
                <a:gd name="T18" fmla="*/ 8 w 37"/>
                <a:gd name="T19" fmla="*/ 37 h 37"/>
                <a:gd name="T20" fmla="*/ 11 w 37"/>
                <a:gd name="T21" fmla="*/ 35 h 37"/>
                <a:gd name="T22" fmla="*/ 11 w 37"/>
                <a:gd name="T23" fmla="*/ 11 h 37"/>
                <a:gd name="T24" fmla="*/ 35 w 37"/>
                <a:gd name="T25" fmla="*/ 11 h 37"/>
                <a:gd name="T26" fmla="*/ 37 w 37"/>
                <a:gd name="T27" fmla="*/ 8 h 37"/>
                <a:gd name="T28" fmla="*/ 37 w 37"/>
                <a:gd name="T29" fmla="*/ 3 h 37"/>
                <a:gd name="T30" fmla="*/ 35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0"/>
                  </a:moveTo>
                  <a:cubicBezTo>
                    <a:pt x="34" y="0"/>
                    <a:pt x="34" y="0"/>
                    <a:pt x="34" y="0"/>
                  </a:cubicBezTo>
                  <a:cubicBezTo>
                    <a:pt x="0" y="0"/>
                    <a:pt x="0" y="0"/>
                    <a:pt x="0" y="0"/>
                  </a:cubicBezTo>
                  <a:cubicBezTo>
                    <a:pt x="0" y="3"/>
                    <a:pt x="0" y="3"/>
                    <a:pt x="0" y="3"/>
                  </a:cubicBezTo>
                  <a:cubicBezTo>
                    <a:pt x="0" y="8"/>
                    <a:pt x="0" y="8"/>
                    <a:pt x="0" y="8"/>
                  </a:cubicBezTo>
                  <a:cubicBezTo>
                    <a:pt x="0" y="11"/>
                    <a:pt x="0" y="11"/>
                    <a:pt x="0" y="11"/>
                  </a:cubicBezTo>
                  <a:cubicBezTo>
                    <a:pt x="0" y="35"/>
                    <a:pt x="0" y="35"/>
                    <a:pt x="0" y="35"/>
                  </a:cubicBezTo>
                  <a:cubicBezTo>
                    <a:pt x="0" y="35"/>
                    <a:pt x="0" y="35"/>
                    <a:pt x="0" y="35"/>
                  </a:cubicBezTo>
                  <a:cubicBezTo>
                    <a:pt x="0" y="36"/>
                    <a:pt x="1" y="37"/>
                    <a:pt x="3" y="37"/>
                  </a:cubicBezTo>
                  <a:cubicBezTo>
                    <a:pt x="8" y="37"/>
                    <a:pt x="8" y="37"/>
                    <a:pt x="8" y="37"/>
                  </a:cubicBezTo>
                  <a:cubicBezTo>
                    <a:pt x="9" y="37"/>
                    <a:pt x="11" y="36"/>
                    <a:pt x="11" y="35"/>
                  </a:cubicBezTo>
                  <a:cubicBezTo>
                    <a:pt x="11" y="11"/>
                    <a:pt x="11" y="11"/>
                    <a:pt x="11" y="11"/>
                  </a:cubicBezTo>
                  <a:cubicBezTo>
                    <a:pt x="35" y="11"/>
                    <a:pt x="35" y="11"/>
                    <a:pt x="35" y="11"/>
                  </a:cubicBezTo>
                  <a:cubicBezTo>
                    <a:pt x="36" y="11"/>
                    <a:pt x="37" y="10"/>
                    <a:pt x="37" y="8"/>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46" name="Group 45">
            <a:extLst>
              <a:ext uri="{FF2B5EF4-FFF2-40B4-BE49-F238E27FC236}">
                <a16:creationId xmlns:a16="http://schemas.microsoft.com/office/drawing/2014/main" id="{15DE56A9-E15D-4B16-B39B-3B7C891BB2A1}"/>
              </a:ext>
            </a:extLst>
          </p:cNvPr>
          <p:cNvGrpSpPr>
            <a:grpSpLocks noChangeAspect="1"/>
          </p:cNvGrpSpPr>
          <p:nvPr/>
        </p:nvGrpSpPr>
        <p:grpSpPr>
          <a:xfrm>
            <a:off x="8054805" y="1830440"/>
            <a:ext cx="274320" cy="274320"/>
            <a:chOff x="7148513" y="2571750"/>
            <a:chExt cx="579438" cy="579438"/>
          </a:xfrm>
          <a:solidFill>
            <a:srgbClr val="595555"/>
          </a:solidFill>
        </p:grpSpPr>
        <p:sp>
          <p:nvSpPr>
            <p:cNvPr id="47" name="Freeform 71">
              <a:extLst>
                <a:ext uri="{FF2B5EF4-FFF2-40B4-BE49-F238E27FC236}">
                  <a16:creationId xmlns:a16="http://schemas.microsoft.com/office/drawing/2014/main" id="{F8B1F5FA-52EC-44A5-B5F7-F1649F2F07DA}"/>
                </a:ext>
              </a:extLst>
            </p:cNvPr>
            <p:cNvSpPr>
              <a:spLocks/>
            </p:cNvSpPr>
            <p:nvPr/>
          </p:nvSpPr>
          <p:spPr bwMode="auto">
            <a:xfrm>
              <a:off x="7148513" y="2571750"/>
              <a:ext cx="252413" cy="252413"/>
            </a:xfrm>
            <a:custGeom>
              <a:avLst/>
              <a:gdLst>
                <a:gd name="T0" fmla="*/ 3 w 37"/>
                <a:gd name="T1" fmla="*/ 37 h 37"/>
                <a:gd name="T2" fmla="*/ 8 w 37"/>
                <a:gd name="T3" fmla="*/ 37 h 37"/>
                <a:gd name="T4" fmla="*/ 11 w 37"/>
                <a:gd name="T5" fmla="*/ 35 h 37"/>
                <a:gd name="T6" fmla="*/ 11 w 37"/>
                <a:gd name="T7" fmla="*/ 11 h 37"/>
                <a:gd name="T8" fmla="*/ 35 w 37"/>
                <a:gd name="T9" fmla="*/ 11 h 37"/>
                <a:gd name="T10" fmla="*/ 37 w 37"/>
                <a:gd name="T11" fmla="*/ 8 h 37"/>
                <a:gd name="T12" fmla="*/ 37 w 37"/>
                <a:gd name="T13" fmla="*/ 3 h 37"/>
                <a:gd name="T14" fmla="*/ 35 w 37"/>
                <a:gd name="T15" fmla="*/ 0 h 37"/>
                <a:gd name="T16" fmla="*/ 34 w 37"/>
                <a:gd name="T17" fmla="*/ 0 h 37"/>
                <a:gd name="T18" fmla="*/ 0 w 37"/>
                <a:gd name="T19" fmla="*/ 0 h 37"/>
                <a:gd name="T20" fmla="*/ 0 w 37"/>
                <a:gd name="T21" fmla="*/ 3 h 37"/>
                <a:gd name="T22" fmla="*/ 0 w 37"/>
                <a:gd name="T23" fmla="*/ 8 h 37"/>
                <a:gd name="T24" fmla="*/ 0 w 37"/>
                <a:gd name="T25" fmla="*/ 11 h 37"/>
                <a:gd name="T26" fmla="*/ 0 w 37"/>
                <a:gd name="T27" fmla="*/ 35 h 37"/>
                <a:gd name="T28" fmla="*/ 0 w 37"/>
                <a:gd name="T29" fmla="*/ 35 h 37"/>
                <a:gd name="T30" fmla="*/ 3 w 37"/>
                <a:gd name="T31"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 y="37"/>
                  </a:moveTo>
                  <a:cubicBezTo>
                    <a:pt x="8" y="37"/>
                    <a:pt x="8" y="37"/>
                    <a:pt x="8" y="37"/>
                  </a:cubicBezTo>
                  <a:cubicBezTo>
                    <a:pt x="9" y="37"/>
                    <a:pt x="11" y="36"/>
                    <a:pt x="11" y="35"/>
                  </a:cubicBezTo>
                  <a:cubicBezTo>
                    <a:pt x="11" y="11"/>
                    <a:pt x="11" y="11"/>
                    <a:pt x="11" y="11"/>
                  </a:cubicBezTo>
                  <a:cubicBezTo>
                    <a:pt x="35" y="11"/>
                    <a:pt x="35" y="11"/>
                    <a:pt x="35" y="11"/>
                  </a:cubicBezTo>
                  <a:cubicBezTo>
                    <a:pt x="36" y="11"/>
                    <a:pt x="37" y="10"/>
                    <a:pt x="37" y="8"/>
                  </a:cubicBezTo>
                  <a:cubicBezTo>
                    <a:pt x="37" y="3"/>
                    <a:pt x="37" y="3"/>
                    <a:pt x="37" y="3"/>
                  </a:cubicBezTo>
                  <a:cubicBezTo>
                    <a:pt x="37" y="1"/>
                    <a:pt x="36" y="0"/>
                    <a:pt x="35" y="0"/>
                  </a:cubicBezTo>
                  <a:cubicBezTo>
                    <a:pt x="34" y="0"/>
                    <a:pt x="34" y="0"/>
                    <a:pt x="34" y="0"/>
                  </a:cubicBezTo>
                  <a:cubicBezTo>
                    <a:pt x="0" y="0"/>
                    <a:pt x="0" y="0"/>
                    <a:pt x="0" y="0"/>
                  </a:cubicBezTo>
                  <a:cubicBezTo>
                    <a:pt x="0" y="3"/>
                    <a:pt x="0" y="3"/>
                    <a:pt x="0" y="3"/>
                  </a:cubicBezTo>
                  <a:cubicBezTo>
                    <a:pt x="0" y="8"/>
                    <a:pt x="0" y="8"/>
                    <a:pt x="0" y="8"/>
                  </a:cubicBezTo>
                  <a:cubicBezTo>
                    <a:pt x="0" y="11"/>
                    <a:pt x="0" y="11"/>
                    <a:pt x="0" y="11"/>
                  </a:cubicBezTo>
                  <a:cubicBezTo>
                    <a:pt x="0" y="35"/>
                    <a:pt x="0" y="35"/>
                    <a:pt x="0" y="35"/>
                  </a:cubicBezTo>
                  <a:cubicBezTo>
                    <a:pt x="0" y="35"/>
                    <a:pt x="0" y="35"/>
                    <a:pt x="0" y="35"/>
                  </a:cubicBezTo>
                  <a:cubicBezTo>
                    <a:pt x="0" y="36"/>
                    <a:pt x="1" y="37"/>
                    <a:pt x="3"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 name="Freeform 72">
              <a:extLst>
                <a:ext uri="{FF2B5EF4-FFF2-40B4-BE49-F238E27FC236}">
                  <a16:creationId xmlns:a16="http://schemas.microsoft.com/office/drawing/2014/main" id="{9C241CCD-A113-4079-9A5E-69A5F16BD905}"/>
                </a:ext>
              </a:extLst>
            </p:cNvPr>
            <p:cNvSpPr>
              <a:spLocks/>
            </p:cNvSpPr>
            <p:nvPr/>
          </p:nvSpPr>
          <p:spPr bwMode="auto">
            <a:xfrm>
              <a:off x="7475538" y="2571750"/>
              <a:ext cx="252413" cy="252413"/>
            </a:xfrm>
            <a:custGeom>
              <a:avLst/>
              <a:gdLst>
                <a:gd name="T0" fmla="*/ 3 w 37"/>
                <a:gd name="T1" fmla="*/ 0 h 37"/>
                <a:gd name="T2" fmla="*/ 3 w 37"/>
                <a:gd name="T3" fmla="*/ 0 h 37"/>
                <a:gd name="T4" fmla="*/ 0 w 37"/>
                <a:gd name="T5" fmla="*/ 3 h 37"/>
                <a:gd name="T6" fmla="*/ 0 w 37"/>
                <a:gd name="T7" fmla="*/ 8 h 37"/>
                <a:gd name="T8" fmla="*/ 3 w 37"/>
                <a:gd name="T9" fmla="*/ 11 h 37"/>
                <a:gd name="T10" fmla="*/ 27 w 37"/>
                <a:gd name="T11" fmla="*/ 11 h 37"/>
                <a:gd name="T12" fmla="*/ 27 w 37"/>
                <a:gd name="T13" fmla="*/ 35 h 37"/>
                <a:gd name="T14" fmla="*/ 29 w 37"/>
                <a:gd name="T15" fmla="*/ 37 h 37"/>
                <a:gd name="T16" fmla="*/ 35 w 37"/>
                <a:gd name="T17" fmla="*/ 37 h 37"/>
                <a:gd name="T18" fmla="*/ 37 w 37"/>
                <a:gd name="T19" fmla="*/ 35 h 37"/>
                <a:gd name="T20" fmla="*/ 37 w 37"/>
                <a:gd name="T21" fmla="*/ 35 h 37"/>
                <a:gd name="T22" fmla="*/ 37 w 37"/>
                <a:gd name="T23" fmla="*/ 11 h 37"/>
                <a:gd name="T24" fmla="*/ 37 w 37"/>
                <a:gd name="T25" fmla="*/ 8 h 37"/>
                <a:gd name="T26" fmla="*/ 37 w 37"/>
                <a:gd name="T27" fmla="*/ 3 h 37"/>
                <a:gd name="T28" fmla="*/ 37 w 37"/>
                <a:gd name="T29" fmla="*/ 0 h 37"/>
                <a:gd name="T30" fmla="*/ 3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 y="0"/>
                  </a:moveTo>
                  <a:cubicBezTo>
                    <a:pt x="3" y="0"/>
                    <a:pt x="3" y="0"/>
                    <a:pt x="3" y="0"/>
                  </a:cubicBezTo>
                  <a:cubicBezTo>
                    <a:pt x="1" y="0"/>
                    <a:pt x="0" y="1"/>
                    <a:pt x="0" y="3"/>
                  </a:cubicBezTo>
                  <a:cubicBezTo>
                    <a:pt x="0" y="8"/>
                    <a:pt x="0" y="8"/>
                    <a:pt x="0" y="8"/>
                  </a:cubicBezTo>
                  <a:cubicBezTo>
                    <a:pt x="0" y="10"/>
                    <a:pt x="1" y="11"/>
                    <a:pt x="3" y="11"/>
                  </a:cubicBezTo>
                  <a:cubicBezTo>
                    <a:pt x="27" y="11"/>
                    <a:pt x="27" y="11"/>
                    <a:pt x="27" y="11"/>
                  </a:cubicBezTo>
                  <a:cubicBezTo>
                    <a:pt x="27" y="35"/>
                    <a:pt x="27" y="35"/>
                    <a:pt x="27" y="35"/>
                  </a:cubicBezTo>
                  <a:cubicBezTo>
                    <a:pt x="27" y="36"/>
                    <a:pt x="28" y="37"/>
                    <a:pt x="29" y="37"/>
                  </a:cubicBezTo>
                  <a:cubicBezTo>
                    <a:pt x="35" y="37"/>
                    <a:pt x="35" y="37"/>
                    <a:pt x="35" y="37"/>
                  </a:cubicBezTo>
                  <a:cubicBezTo>
                    <a:pt x="36" y="37"/>
                    <a:pt x="37" y="36"/>
                    <a:pt x="37" y="35"/>
                  </a:cubicBezTo>
                  <a:cubicBezTo>
                    <a:pt x="37" y="35"/>
                    <a:pt x="37" y="35"/>
                    <a:pt x="37" y="35"/>
                  </a:cubicBezTo>
                  <a:cubicBezTo>
                    <a:pt x="37" y="11"/>
                    <a:pt x="37" y="11"/>
                    <a:pt x="37" y="11"/>
                  </a:cubicBezTo>
                  <a:cubicBezTo>
                    <a:pt x="37" y="8"/>
                    <a:pt x="37" y="8"/>
                    <a:pt x="37" y="8"/>
                  </a:cubicBezTo>
                  <a:cubicBezTo>
                    <a:pt x="37" y="3"/>
                    <a:pt x="37" y="3"/>
                    <a:pt x="37" y="3"/>
                  </a:cubicBezTo>
                  <a:cubicBezTo>
                    <a:pt x="37" y="0"/>
                    <a:pt x="37" y="0"/>
                    <a:pt x="37" y="0"/>
                  </a:cubicBezTo>
                  <a:lnTo>
                    <a:pt x="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73">
              <a:extLst>
                <a:ext uri="{FF2B5EF4-FFF2-40B4-BE49-F238E27FC236}">
                  <a16:creationId xmlns:a16="http://schemas.microsoft.com/office/drawing/2014/main" id="{79A20D05-38D2-4117-979F-6BDF4E2AB19F}"/>
                </a:ext>
              </a:extLst>
            </p:cNvPr>
            <p:cNvSpPr>
              <a:spLocks/>
            </p:cNvSpPr>
            <p:nvPr/>
          </p:nvSpPr>
          <p:spPr bwMode="auto">
            <a:xfrm>
              <a:off x="7148513" y="2898775"/>
              <a:ext cx="252413" cy="252413"/>
            </a:xfrm>
            <a:custGeom>
              <a:avLst/>
              <a:gdLst>
                <a:gd name="T0" fmla="*/ 35 w 37"/>
                <a:gd name="T1" fmla="*/ 27 h 37"/>
                <a:gd name="T2" fmla="*/ 11 w 37"/>
                <a:gd name="T3" fmla="*/ 27 h 37"/>
                <a:gd name="T4" fmla="*/ 11 w 37"/>
                <a:gd name="T5" fmla="*/ 3 h 37"/>
                <a:gd name="T6" fmla="*/ 8 w 37"/>
                <a:gd name="T7" fmla="*/ 0 h 37"/>
                <a:gd name="T8" fmla="*/ 3 w 37"/>
                <a:gd name="T9" fmla="*/ 0 h 37"/>
                <a:gd name="T10" fmla="*/ 0 w 37"/>
                <a:gd name="T11" fmla="*/ 3 h 37"/>
                <a:gd name="T12" fmla="*/ 0 w 37"/>
                <a:gd name="T13" fmla="*/ 3 h 37"/>
                <a:gd name="T14" fmla="*/ 0 w 37"/>
                <a:gd name="T15" fmla="*/ 27 h 37"/>
                <a:gd name="T16" fmla="*/ 0 w 37"/>
                <a:gd name="T17" fmla="*/ 29 h 37"/>
                <a:gd name="T18" fmla="*/ 0 w 37"/>
                <a:gd name="T19" fmla="*/ 35 h 37"/>
                <a:gd name="T20" fmla="*/ 0 w 37"/>
                <a:gd name="T21" fmla="*/ 37 h 37"/>
                <a:gd name="T22" fmla="*/ 34 w 37"/>
                <a:gd name="T23" fmla="*/ 37 h 37"/>
                <a:gd name="T24" fmla="*/ 35 w 37"/>
                <a:gd name="T25" fmla="*/ 37 h 37"/>
                <a:gd name="T26" fmla="*/ 37 w 37"/>
                <a:gd name="T27" fmla="*/ 35 h 37"/>
                <a:gd name="T28" fmla="*/ 37 w 37"/>
                <a:gd name="T29" fmla="*/ 29 h 37"/>
                <a:gd name="T30" fmla="*/ 35 w 37"/>
                <a:gd name="T31" fmla="*/ 2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27"/>
                  </a:moveTo>
                  <a:cubicBezTo>
                    <a:pt x="11" y="27"/>
                    <a:pt x="11" y="27"/>
                    <a:pt x="11" y="27"/>
                  </a:cubicBezTo>
                  <a:cubicBezTo>
                    <a:pt x="11" y="3"/>
                    <a:pt x="11" y="3"/>
                    <a:pt x="11" y="3"/>
                  </a:cubicBezTo>
                  <a:cubicBezTo>
                    <a:pt x="11" y="1"/>
                    <a:pt x="9" y="0"/>
                    <a:pt x="8" y="0"/>
                  </a:cubicBezTo>
                  <a:cubicBezTo>
                    <a:pt x="3" y="0"/>
                    <a:pt x="3" y="0"/>
                    <a:pt x="3" y="0"/>
                  </a:cubicBezTo>
                  <a:cubicBezTo>
                    <a:pt x="1" y="0"/>
                    <a:pt x="0" y="1"/>
                    <a:pt x="0" y="3"/>
                  </a:cubicBezTo>
                  <a:cubicBezTo>
                    <a:pt x="0" y="3"/>
                    <a:pt x="0" y="3"/>
                    <a:pt x="0" y="3"/>
                  </a:cubicBezTo>
                  <a:cubicBezTo>
                    <a:pt x="0" y="27"/>
                    <a:pt x="0" y="27"/>
                    <a:pt x="0" y="27"/>
                  </a:cubicBezTo>
                  <a:cubicBezTo>
                    <a:pt x="0" y="29"/>
                    <a:pt x="0" y="29"/>
                    <a:pt x="0" y="29"/>
                  </a:cubicBezTo>
                  <a:cubicBezTo>
                    <a:pt x="0" y="35"/>
                    <a:pt x="0" y="35"/>
                    <a:pt x="0" y="35"/>
                  </a:cubicBezTo>
                  <a:cubicBezTo>
                    <a:pt x="0" y="37"/>
                    <a:pt x="0" y="37"/>
                    <a:pt x="0" y="37"/>
                  </a:cubicBezTo>
                  <a:cubicBezTo>
                    <a:pt x="34" y="37"/>
                    <a:pt x="34" y="37"/>
                    <a:pt x="34" y="37"/>
                  </a:cubicBezTo>
                  <a:cubicBezTo>
                    <a:pt x="35" y="37"/>
                    <a:pt x="35" y="37"/>
                    <a:pt x="35" y="37"/>
                  </a:cubicBezTo>
                  <a:cubicBezTo>
                    <a:pt x="36" y="37"/>
                    <a:pt x="37" y="36"/>
                    <a:pt x="37" y="35"/>
                  </a:cubicBezTo>
                  <a:cubicBezTo>
                    <a:pt x="37" y="29"/>
                    <a:pt x="37" y="29"/>
                    <a:pt x="37" y="29"/>
                  </a:cubicBezTo>
                  <a:cubicBezTo>
                    <a:pt x="37" y="28"/>
                    <a:pt x="36" y="27"/>
                    <a:pt x="35"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74">
              <a:extLst>
                <a:ext uri="{FF2B5EF4-FFF2-40B4-BE49-F238E27FC236}">
                  <a16:creationId xmlns:a16="http://schemas.microsoft.com/office/drawing/2014/main" id="{08F9F5B2-4D16-4518-99A6-ECCB9D83AFEA}"/>
                </a:ext>
              </a:extLst>
            </p:cNvPr>
            <p:cNvSpPr>
              <a:spLocks/>
            </p:cNvSpPr>
            <p:nvPr/>
          </p:nvSpPr>
          <p:spPr bwMode="auto">
            <a:xfrm>
              <a:off x="7475538" y="2898775"/>
              <a:ext cx="252413" cy="252413"/>
            </a:xfrm>
            <a:custGeom>
              <a:avLst/>
              <a:gdLst>
                <a:gd name="T0" fmla="*/ 35 w 37"/>
                <a:gd name="T1" fmla="*/ 0 h 37"/>
                <a:gd name="T2" fmla="*/ 29 w 37"/>
                <a:gd name="T3" fmla="*/ 0 h 37"/>
                <a:gd name="T4" fmla="*/ 27 w 37"/>
                <a:gd name="T5" fmla="*/ 3 h 37"/>
                <a:gd name="T6" fmla="*/ 27 w 37"/>
                <a:gd name="T7" fmla="*/ 27 h 37"/>
                <a:gd name="T8" fmla="*/ 3 w 37"/>
                <a:gd name="T9" fmla="*/ 27 h 37"/>
                <a:gd name="T10" fmla="*/ 0 w 37"/>
                <a:gd name="T11" fmla="*/ 29 h 37"/>
                <a:gd name="T12" fmla="*/ 0 w 37"/>
                <a:gd name="T13" fmla="*/ 35 h 37"/>
                <a:gd name="T14" fmla="*/ 3 w 37"/>
                <a:gd name="T15" fmla="*/ 37 h 37"/>
                <a:gd name="T16" fmla="*/ 3 w 37"/>
                <a:gd name="T17" fmla="*/ 37 h 37"/>
                <a:gd name="T18" fmla="*/ 37 w 37"/>
                <a:gd name="T19" fmla="*/ 37 h 37"/>
                <a:gd name="T20" fmla="*/ 37 w 37"/>
                <a:gd name="T21" fmla="*/ 35 h 37"/>
                <a:gd name="T22" fmla="*/ 37 w 37"/>
                <a:gd name="T23" fmla="*/ 29 h 37"/>
                <a:gd name="T24" fmla="*/ 37 w 37"/>
                <a:gd name="T25" fmla="*/ 27 h 37"/>
                <a:gd name="T26" fmla="*/ 37 w 37"/>
                <a:gd name="T27" fmla="*/ 3 h 37"/>
                <a:gd name="T28" fmla="*/ 37 w 37"/>
                <a:gd name="T29" fmla="*/ 3 h 37"/>
                <a:gd name="T30" fmla="*/ 35 w 37"/>
                <a:gd name="T31"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35" y="0"/>
                  </a:moveTo>
                  <a:cubicBezTo>
                    <a:pt x="29" y="0"/>
                    <a:pt x="29" y="0"/>
                    <a:pt x="29" y="0"/>
                  </a:cubicBezTo>
                  <a:cubicBezTo>
                    <a:pt x="28" y="0"/>
                    <a:pt x="27" y="1"/>
                    <a:pt x="27" y="3"/>
                  </a:cubicBezTo>
                  <a:cubicBezTo>
                    <a:pt x="27" y="27"/>
                    <a:pt x="27" y="27"/>
                    <a:pt x="27" y="27"/>
                  </a:cubicBezTo>
                  <a:cubicBezTo>
                    <a:pt x="3" y="27"/>
                    <a:pt x="3" y="27"/>
                    <a:pt x="3" y="27"/>
                  </a:cubicBezTo>
                  <a:cubicBezTo>
                    <a:pt x="1" y="27"/>
                    <a:pt x="0" y="28"/>
                    <a:pt x="0" y="29"/>
                  </a:cubicBezTo>
                  <a:cubicBezTo>
                    <a:pt x="0" y="35"/>
                    <a:pt x="0" y="35"/>
                    <a:pt x="0" y="35"/>
                  </a:cubicBezTo>
                  <a:cubicBezTo>
                    <a:pt x="0" y="36"/>
                    <a:pt x="1" y="37"/>
                    <a:pt x="3" y="37"/>
                  </a:cubicBezTo>
                  <a:cubicBezTo>
                    <a:pt x="3" y="37"/>
                    <a:pt x="3" y="37"/>
                    <a:pt x="3" y="37"/>
                  </a:cubicBezTo>
                  <a:cubicBezTo>
                    <a:pt x="37" y="37"/>
                    <a:pt x="37" y="37"/>
                    <a:pt x="37" y="37"/>
                  </a:cubicBezTo>
                  <a:cubicBezTo>
                    <a:pt x="37" y="35"/>
                    <a:pt x="37" y="35"/>
                    <a:pt x="37" y="35"/>
                  </a:cubicBezTo>
                  <a:cubicBezTo>
                    <a:pt x="37" y="29"/>
                    <a:pt x="37" y="29"/>
                    <a:pt x="37" y="29"/>
                  </a:cubicBezTo>
                  <a:cubicBezTo>
                    <a:pt x="37" y="27"/>
                    <a:pt x="37" y="27"/>
                    <a:pt x="37" y="27"/>
                  </a:cubicBezTo>
                  <a:cubicBezTo>
                    <a:pt x="37" y="3"/>
                    <a:pt x="37" y="3"/>
                    <a:pt x="37" y="3"/>
                  </a:cubicBezTo>
                  <a:cubicBezTo>
                    <a:pt x="37" y="3"/>
                    <a:pt x="37" y="3"/>
                    <a:pt x="37" y="3"/>
                  </a:cubicBezTo>
                  <a:cubicBezTo>
                    <a:pt x="37" y="1"/>
                    <a:pt x="36" y="0"/>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75">
              <a:extLst>
                <a:ext uri="{FF2B5EF4-FFF2-40B4-BE49-F238E27FC236}">
                  <a16:creationId xmlns:a16="http://schemas.microsoft.com/office/drawing/2014/main" id="{F2805480-4389-4974-BBE1-1F8641BDCBF8}"/>
                </a:ext>
              </a:extLst>
            </p:cNvPr>
            <p:cNvSpPr>
              <a:spLocks/>
            </p:cNvSpPr>
            <p:nvPr/>
          </p:nvSpPr>
          <p:spPr bwMode="auto">
            <a:xfrm>
              <a:off x="7291388" y="2714625"/>
              <a:ext cx="293688" cy="293688"/>
            </a:xfrm>
            <a:custGeom>
              <a:avLst/>
              <a:gdLst>
                <a:gd name="T0" fmla="*/ 116 w 185"/>
                <a:gd name="T1" fmla="*/ 185 h 185"/>
                <a:gd name="T2" fmla="*/ 116 w 185"/>
                <a:gd name="T3" fmla="*/ 116 h 185"/>
                <a:gd name="T4" fmla="*/ 185 w 185"/>
                <a:gd name="T5" fmla="*/ 116 h 185"/>
                <a:gd name="T6" fmla="*/ 185 w 185"/>
                <a:gd name="T7" fmla="*/ 69 h 185"/>
                <a:gd name="T8" fmla="*/ 116 w 185"/>
                <a:gd name="T9" fmla="*/ 69 h 185"/>
                <a:gd name="T10" fmla="*/ 116 w 185"/>
                <a:gd name="T11" fmla="*/ 0 h 185"/>
                <a:gd name="T12" fmla="*/ 69 w 185"/>
                <a:gd name="T13" fmla="*/ 0 h 185"/>
                <a:gd name="T14" fmla="*/ 69 w 185"/>
                <a:gd name="T15" fmla="*/ 69 h 185"/>
                <a:gd name="T16" fmla="*/ 0 w 185"/>
                <a:gd name="T17" fmla="*/ 69 h 185"/>
                <a:gd name="T18" fmla="*/ 0 w 185"/>
                <a:gd name="T19" fmla="*/ 116 h 185"/>
                <a:gd name="T20" fmla="*/ 69 w 185"/>
                <a:gd name="T21" fmla="*/ 116 h 185"/>
                <a:gd name="T22" fmla="*/ 69 w 185"/>
                <a:gd name="T23" fmla="*/ 185 h 185"/>
                <a:gd name="T24" fmla="*/ 116 w 185"/>
                <a:gd name="T25"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185">
                  <a:moveTo>
                    <a:pt x="116" y="185"/>
                  </a:moveTo>
                  <a:lnTo>
                    <a:pt x="116" y="116"/>
                  </a:lnTo>
                  <a:lnTo>
                    <a:pt x="185" y="116"/>
                  </a:lnTo>
                  <a:lnTo>
                    <a:pt x="185" y="69"/>
                  </a:lnTo>
                  <a:lnTo>
                    <a:pt x="116" y="69"/>
                  </a:lnTo>
                  <a:lnTo>
                    <a:pt x="116" y="0"/>
                  </a:lnTo>
                  <a:lnTo>
                    <a:pt x="69" y="0"/>
                  </a:lnTo>
                  <a:lnTo>
                    <a:pt x="69" y="69"/>
                  </a:lnTo>
                  <a:lnTo>
                    <a:pt x="0" y="69"/>
                  </a:lnTo>
                  <a:lnTo>
                    <a:pt x="0" y="116"/>
                  </a:lnTo>
                  <a:lnTo>
                    <a:pt x="69" y="116"/>
                  </a:lnTo>
                  <a:lnTo>
                    <a:pt x="69" y="185"/>
                  </a:lnTo>
                  <a:lnTo>
                    <a:pt x="116" y="1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52" name="Group 51">
            <a:extLst>
              <a:ext uri="{FF2B5EF4-FFF2-40B4-BE49-F238E27FC236}">
                <a16:creationId xmlns:a16="http://schemas.microsoft.com/office/drawing/2014/main" id="{36069F9B-DA7C-4B90-8334-518E487167D3}"/>
              </a:ext>
            </a:extLst>
          </p:cNvPr>
          <p:cNvGrpSpPr>
            <a:grpSpLocks noChangeAspect="1"/>
          </p:cNvGrpSpPr>
          <p:nvPr/>
        </p:nvGrpSpPr>
        <p:grpSpPr>
          <a:xfrm>
            <a:off x="9955180" y="1830440"/>
            <a:ext cx="225468" cy="274320"/>
            <a:chOff x="8723313" y="2571750"/>
            <a:chExt cx="476250" cy="579438"/>
          </a:xfrm>
          <a:solidFill>
            <a:srgbClr val="595555"/>
          </a:solidFill>
        </p:grpSpPr>
        <p:sp>
          <p:nvSpPr>
            <p:cNvPr id="53" name="Freeform 76">
              <a:extLst>
                <a:ext uri="{FF2B5EF4-FFF2-40B4-BE49-F238E27FC236}">
                  <a16:creationId xmlns:a16="http://schemas.microsoft.com/office/drawing/2014/main" id="{1964D3CA-DD41-4DD0-9BF2-030DD8687B0D}"/>
                </a:ext>
              </a:extLst>
            </p:cNvPr>
            <p:cNvSpPr>
              <a:spLocks/>
            </p:cNvSpPr>
            <p:nvPr/>
          </p:nvSpPr>
          <p:spPr bwMode="auto">
            <a:xfrm>
              <a:off x="8804275" y="2652713"/>
              <a:ext cx="395288" cy="498475"/>
            </a:xfrm>
            <a:custGeom>
              <a:avLst/>
              <a:gdLst>
                <a:gd name="T0" fmla="*/ 56 w 58"/>
                <a:gd name="T1" fmla="*/ 0 h 73"/>
                <a:gd name="T2" fmla="*/ 48 w 58"/>
                <a:gd name="T3" fmla="*/ 0 h 73"/>
                <a:gd name="T4" fmla="*/ 2 w 58"/>
                <a:gd name="T5" fmla="*/ 0 h 73"/>
                <a:gd name="T6" fmla="*/ 0 w 58"/>
                <a:gd name="T7" fmla="*/ 3 h 73"/>
                <a:gd name="T8" fmla="*/ 0 w 58"/>
                <a:gd name="T9" fmla="*/ 61 h 73"/>
                <a:gd name="T10" fmla="*/ 0 w 58"/>
                <a:gd name="T11" fmla="*/ 67 h 73"/>
                <a:gd name="T12" fmla="*/ 0 w 58"/>
                <a:gd name="T13" fmla="*/ 68 h 73"/>
                <a:gd name="T14" fmla="*/ 0 w 58"/>
                <a:gd name="T15" fmla="*/ 71 h 73"/>
                <a:gd name="T16" fmla="*/ 2 w 58"/>
                <a:gd name="T17" fmla="*/ 73 h 73"/>
                <a:gd name="T18" fmla="*/ 56 w 58"/>
                <a:gd name="T19" fmla="*/ 73 h 73"/>
                <a:gd name="T20" fmla="*/ 58 w 58"/>
                <a:gd name="T21" fmla="*/ 71 h 73"/>
                <a:gd name="T22" fmla="*/ 58 w 58"/>
                <a:gd name="T23" fmla="*/ 68 h 73"/>
                <a:gd name="T24" fmla="*/ 58 w 58"/>
                <a:gd name="T25" fmla="*/ 67 h 73"/>
                <a:gd name="T26" fmla="*/ 58 w 58"/>
                <a:gd name="T27" fmla="*/ 3 h 73"/>
                <a:gd name="T28" fmla="*/ 56 w 58"/>
                <a:gd name="T29" fmla="*/ 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 h="73">
                  <a:moveTo>
                    <a:pt x="56" y="0"/>
                  </a:moveTo>
                  <a:cubicBezTo>
                    <a:pt x="48" y="0"/>
                    <a:pt x="48" y="0"/>
                    <a:pt x="48" y="0"/>
                  </a:cubicBezTo>
                  <a:cubicBezTo>
                    <a:pt x="2" y="0"/>
                    <a:pt x="2" y="0"/>
                    <a:pt x="2" y="0"/>
                  </a:cubicBezTo>
                  <a:cubicBezTo>
                    <a:pt x="1" y="0"/>
                    <a:pt x="0" y="1"/>
                    <a:pt x="0" y="3"/>
                  </a:cubicBezTo>
                  <a:cubicBezTo>
                    <a:pt x="0" y="61"/>
                    <a:pt x="0" y="61"/>
                    <a:pt x="0" y="61"/>
                  </a:cubicBezTo>
                  <a:cubicBezTo>
                    <a:pt x="0" y="67"/>
                    <a:pt x="0" y="67"/>
                    <a:pt x="0" y="67"/>
                  </a:cubicBezTo>
                  <a:cubicBezTo>
                    <a:pt x="0" y="68"/>
                    <a:pt x="0" y="68"/>
                    <a:pt x="0" y="68"/>
                  </a:cubicBezTo>
                  <a:cubicBezTo>
                    <a:pt x="0" y="71"/>
                    <a:pt x="0" y="71"/>
                    <a:pt x="0" y="71"/>
                  </a:cubicBezTo>
                  <a:cubicBezTo>
                    <a:pt x="0" y="72"/>
                    <a:pt x="1" y="73"/>
                    <a:pt x="2" y="73"/>
                  </a:cubicBezTo>
                  <a:cubicBezTo>
                    <a:pt x="56" y="73"/>
                    <a:pt x="56" y="73"/>
                    <a:pt x="56" y="73"/>
                  </a:cubicBezTo>
                  <a:cubicBezTo>
                    <a:pt x="57" y="73"/>
                    <a:pt x="58" y="72"/>
                    <a:pt x="58" y="71"/>
                  </a:cubicBezTo>
                  <a:cubicBezTo>
                    <a:pt x="58" y="68"/>
                    <a:pt x="58" y="68"/>
                    <a:pt x="58" y="68"/>
                  </a:cubicBezTo>
                  <a:cubicBezTo>
                    <a:pt x="58" y="67"/>
                    <a:pt x="58" y="67"/>
                    <a:pt x="58" y="67"/>
                  </a:cubicBezTo>
                  <a:cubicBezTo>
                    <a:pt x="58" y="3"/>
                    <a:pt x="58" y="3"/>
                    <a:pt x="58" y="3"/>
                  </a:cubicBezTo>
                  <a:cubicBezTo>
                    <a:pt x="58" y="1"/>
                    <a:pt x="57" y="0"/>
                    <a:pt x="5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77">
              <a:extLst>
                <a:ext uri="{FF2B5EF4-FFF2-40B4-BE49-F238E27FC236}">
                  <a16:creationId xmlns:a16="http://schemas.microsoft.com/office/drawing/2014/main" id="{83F1DBB8-A649-4E4B-B573-01B6832FD833}"/>
                </a:ext>
              </a:extLst>
            </p:cNvPr>
            <p:cNvSpPr>
              <a:spLocks/>
            </p:cNvSpPr>
            <p:nvPr/>
          </p:nvSpPr>
          <p:spPr bwMode="auto">
            <a:xfrm>
              <a:off x="8723313" y="2571750"/>
              <a:ext cx="395288" cy="511175"/>
            </a:xfrm>
            <a:custGeom>
              <a:avLst/>
              <a:gdLst>
                <a:gd name="T0" fmla="*/ 58 w 58"/>
                <a:gd name="T1" fmla="*/ 3 h 75"/>
                <a:gd name="T2" fmla="*/ 56 w 58"/>
                <a:gd name="T3" fmla="*/ 0 h 75"/>
                <a:gd name="T4" fmla="*/ 2 w 58"/>
                <a:gd name="T5" fmla="*/ 0 h 75"/>
                <a:gd name="T6" fmla="*/ 0 w 58"/>
                <a:gd name="T7" fmla="*/ 3 h 75"/>
                <a:gd name="T8" fmla="*/ 0 w 58"/>
                <a:gd name="T9" fmla="*/ 72 h 75"/>
                <a:gd name="T10" fmla="*/ 2 w 58"/>
                <a:gd name="T11" fmla="*/ 75 h 75"/>
                <a:gd name="T12" fmla="*/ 8 w 58"/>
                <a:gd name="T13" fmla="*/ 75 h 75"/>
                <a:gd name="T14" fmla="*/ 8 w 58"/>
                <a:gd name="T15" fmla="*/ 11 h 75"/>
                <a:gd name="T16" fmla="*/ 10 w 58"/>
                <a:gd name="T17" fmla="*/ 8 h 75"/>
                <a:gd name="T18" fmla="*/ 58 w 58"/>
                <a:gd name="T19" fmla="*/ 8 h 75"/>
                <a:gd name="T20" fmla="*/ 58 w 58"/>
                <a:gd name="T21" fmla="*/ 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75">
                  <a:moveTo>
                    <a:pt x="58" y="3"/>
                  </a:moveTo>
                  <a:cubicBezTo>
                    <a:pt x="58" y="1"/>
                    <a:pt x="57" y="0"/>
                    <a:pt x="56" y="0"/>
                  </a:cubicBezTo>
                  <a:cubicBezTo>
                    <a:pt x="2" y="0"/>
                    <a:pt x="2" y="0"/>
                    <a:pt x="2" y="0"/>
                  </a:cubicBezTo>
                  <a:cubicBezTo>
                    <a:pt x="1" y="0"/>
                    <a:pt x="0" y="1"/>
                    <a:pt x="0" y="3"/>
                  </a:cubicBezTo>
                  <a:cubicBezTo>
                    <a:pt x="0" y="72"/>
                    <a:pt x="0" y="72"/>
                    <a:pt x="0" y="72"/>
                  </a:cubicBezTo>
                  <a:cubicBezTo>
                    <a:pt x="0" y="74"/>
                    <a:pt x="1" y="75"/>
                    <a:pt x="2" y="75"/>
                  </a:cubicBezTo>
                  <a:cubicBezTo>
                    <a:pt x="8" y="75"/>
                    <a:pt x="8" y="75"/>
                    <a:pt x="8" y="75"/>
                  </a:cubicBezTo>
                  <a:cubicBezTo>
                    <a:pt x="8" y="11"/>
                    <a:pt x="8" y="11"/>
                    <a:pt x="8" y="11"/>
                  </a:cubicBezTo>
                  <a:cubicBezTo>
                    <a:pt x="8" y="9"/>
                    <a:pt x="9" y="8"/>
                    <a:pt x="10" y="8"/>
                  </a:cubicBezTo>
                  <a:cubicBezTo>
                    <a:pt x="58" y="8"/>
                    <a:pt x="58" y="8"/>
                    <a:pt x="58" y="8"/>
                  </a:cubicBezTo>
                  <a:lnTo>
                    <a:pt x="58"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5" name="Oval 78">
            <a:extLst>
              <a:ext uri="{FF2B5EF4-FFF2-40B4-BE49-F238E27FC236}">
                <a16:creationId xmlns:a16="http://schemas.microsoft.com/office/drawing/2014/main" id="{A51A0C31-2BEA-47AD-8048-70C1CB5109B3}"/>
              </a:ext>
            </a:extLst>
          </p:cNvPr>
          <p:cNvSpPr>
            <a:spLocks noChangeAspect="1" noChangeArrowheads="1"/>
          </p:cNvSpPr>
          <p:nvPr/>
        </p:nvSpPr>
        <p:spPr bwMode="auto">
          <a:xfrm>
            <a:off x="10819161" y="1830440"/>
            <a:ext cx="274320" cy="274320"/>
          </a:xfrm>
          <a:prstGeom prst="ellipse">
            <a:avLst/>
          </a:pr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6" name="Freeform 79">
            <a:extLst>
              <a:ext uri="{FF2B5EF4-FFF2-40B4-BE49-F238E27FC236}">
                <a16:creationId xmlns:a16="http://schemas.microsoft.com/office/drawing/2014/main" id="{CF287D4B-35EC-40AA-B546-5249AE4977FD}"/>
              </a:ext>
            </a:extLst>
          </p:cNvPr>
          <p:cNvSpPr>
            <a:spLocks noChangeAspect="1" noEditPoints="1"/>
          </p:cNvSpPr>
          <p:nvPr/>
        </p:nvSpPr>
        <p:spPr bwMode="auto">
          <a:xfrm>
            <a:off x="681270" y="2751892"/>
            <a:ext cx="271347" cy="274320"/>
          </a:xfrm>
          <a:custGeom>
            <a:avLst/>
            <a:gdLst>
              <a:gd name="T0" fmla="*/ 42 w 85"/>
              <a:gd name="T1" fmla="*/ 0 h 86"/>
              <a:gd name="T2" fmla="*/ 0 w 85"/>
              <a:gd name="T3" fmla="*/ 43 h 86"/>
              <a:gd name="T4" fmla="*/ 43 w 85"/>
              <a:gd name="T5" fmla="*/ 85 h 86"/>
              <a:gd name="T6" fmla="*/ 85 w 85"/>
              <a:gd name="T7" fmla="*/ 42 h 86"/>
              <a:gd name="T8" fmla="*/ 42 w 85"/>
              <a:gd name="T9" fmla="*/ 0 h 86"/>
              <a:gd name="T10" fmla="*/ 67 w 85"/>
              <a:gd name="T11" fmla="*/ 47 h 86"/>
              <a:gd name="T12" fmla="*/ 65 w 85"/>
              <a:gd name="T13" fmla="*/ 48 h 86"/>
              <a:gd name="T14" fmla="*/ 48 w 85"/>
              <a:gd name="T15" fmla="*/ 48 h 86"/>
              <a:gd name="T16" fmla="*/ 48 w 85"/>
              <a:gd name="T17" fmla="*/ 65 h 86"/>
              <a:gd name="T18" fmla="*/ 47 w 85"/>
              <a:gd name="T19" fmla="*/ 67 h 86"/>
              <a:gd name="T20" fmla="*/ 39 w 85"/>
              <a:gd name="T21" fmla="*/ 67 h 86"/>
              <a:gd name="T22" fmla="*/ 37 w 85"/>
              <a:gd name="T23" fmla="*/ 65 h 86"/>
              <a:gd name="T24" fmla="*/ 37 w 85"/>
              <a:gd name="T25" fmla="*/ 48 h 86"/>
              <a:gd name="T26" fmla="*/ 20 w 85"/>
              <a:gd name="T27" fmla="*/ 48 h 86"/>
              <a:gd name="T28" fmla="*/ 19 w 85"/>
              <a:gd name="T29" fmla="*/ 47 h 86"/>
              <a:gd name="T30" fmla="*/ 19 w 85"/>
              <a:gd name="T31" fmla="*/ 39 h 86"/>
              <a:gd name="T32" fmla="*/ 20 w 85"/>
              <a:gd name="T33" fmla="*/ 37 h 86"/>
              <a:gd name="T34" fmla="*/ 37 w 85"/>
              <a:gd name="T35" fmla="*/ 37 h 86"/>
              <a:gd name="T36" fmla="*/ 37 w 85"/>
              <a:gd name="T37" fmla="*/ 20 h 86"/>
              <a:gd name="T38" fmla="*/ 39 w 85"/>
              <a:gd name="T39" fmla="*/ 19 h 86"/>
              <a:gd name="T40" fmla="*/ 47 w 85"/>
              <a:gd name="T41" fmla="*/ 19 h 86"/>
              <a:gd name="T42" fmla="*/ 48 w 85"/>
              <a:gd name="T43" fmla="*/ 20 h 86"/>
              <a:gd name="T44" fmla="*/ 48 w 85"/>
              <a:gd name="T45" fmla="*/ 37 h 86"/>
              <a:gd name="T46" fmla="*/ 65 w 85"/>
              <a:gd name="T47" fmla="*/ 37 h 86"/>
              <a:gd name="T48" fmla="*/ 67 w 85"/>
              <a:gd name="T49" fmla="*/ 39 h 86"/>
              <a:gd name="T50" fmla="*/ 67 w 85"/>
              <a:gd name="T51" fmla="*/ 4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5" h="86">
                <a:moveTo>
                  <a:pt x="42" y="0"/>
                </a:moveTo>
                <a:cubicBezTo>
                  <a:pt x="19" y="0"/>
                  <a:pt x="0" y="20"/>
                  <a:pt x="0" y="43"/>
                </a:cubicBezTo>
                <a:cubicBezTo>
                  <a:pt x="0" y="67"/>
                  <a:pt x="19" y="86"/>
                  <a:pt x="43" y="85"/>
                </a:cubicBezTo>
                <a:cubicBezTo>
                  <a:pt x="66" y="85"/>
                  <a:pt x="85" y="66"/>
                  <a:pt x="85" y="42"/>
                </a:cubicBezTo>
                <a:cubicBezTo>
                  <a:pt x="85" y="19"/>
                  <a:pt x="66" y="0"/>
                  <a:pt x="42" y="0"/>
                </a:cubicBezTo>
                <a:close/>
                <a:moveTo>
                  <a:pt x="67" y="47"/>
                </a:moveTo>
                <a:cubicBezTo>
                  <a:pt x="67" y="48"/>
                  <a:pt x="66" y="48"/>
                  <a:pt x="65" y="48"/>
                </a:cubicBezTo>
                <a:cubicBezTo>
                  <a:pt x="48" y="48"/>
                  <a:pt x="48" y="48"/>
                  <a:pt x="48" y="48"/>
                </a:cubicBezTo>
                <a:cubicBezTo>
                  <a:pt x="48" y="65"/>
                  <a:pt x="48" y="65"/>
                  <a:pt x="48" y="65"/>
                </a:cubicBezTo>
                <a:cubicBezTo>
                  <a:pt x="48" y="66"/>
                  <a:pt x="47" y="67"/>
                  <a:pt x="47" y="67"/>
                </a:cubicBezTo>
                <a:cubicBezTo>
                  <a:pt x="39" y="67"/>
                  <a:pt x="39" y="67"/>
                  <a:pt x="39" y="67"/>
                </a:cubicBezTo>
                <a:cubicBezTo>
                  <a:pt x="38" y="67"/>
                  <a:pt x="37" y="66"/>
                  <a:pt x="37" y="65"/>
                </a:cubicBezTo>
                <a:cubicBezTo>
                  <a:pt x="37" y="48"/>
                  <a:pt x="37" y="48"/>
                  <a:pt x="37" y="48"/>
                </a:cubicBezTo>
                <a:cubicBezTo>
                  <a:pt x="20" y="48"/>
                  <a:pt x="20" y="48"/>
                  <a:pt x="20" y="48"/>
                </a:cubicBezTo>
                <a:cubicBezTo>
                  <a:pt x="19" y="48"/>
                  <a:pt x="19" y="48"/>
                  <a:pt x="19" y="47"/>
                </a:cubicBezTo>
                <a:cubicBezTo>
                  <a:pt x="19" y="39"/>
                  <a:pt x="19" y="39"/>
                  <a:pt x="19" y="39"/>
                </a:cubicBezTo>
                <a:cubicBezTo>
                  <a:pt x="19" y="38"/>
                  <a:pt x="19" y="37"/>
                  <a:pt x="20" y="37"/>
                </a:cubicBezTo>
                <a:cubicBezTo>
                  <a:pt x="37" y="37"/>
                  <a:pt x="37" y="37"/>
                  <a:pt x="37" y="37"/>
                </a:cubicBezTo>
                <a:cubicBezTo>
                  <a:pt x="37" y="20"/>
                  <a:pt x="37" y="20"/>
                  <a:pt x="37" y="20"/>
                </a:cubicBezTo>
                <a:cubicBezTo>
                  <a:pt x="37" y="19"/>
                  <a:pt x="38" y="19"/>
                  <a:pt x="39" y="19"/>
                </a:cubicBezTo>
                <a:cubicBezTo>
                  <a:pt x="47" y="19"/>
                  <a:pt x="47" y="19"/>
                  <a:pt x="47" y="19"/>
                </a:cubicBezTo>
                <a:cubicBezTo>
                  <a:pt x="47" y="19"/>
                  <a:pt x="48" y="19"/>
                  <a:pt x="48" y="20"/>
                </a:cubicBezTo>
                <a:cubicBezTo>
                  <a:pt x="48" y="37"/>
                  <a:pt x="48" y="37"/>
                  <a:pt x="48" y="37"/>
                </a:cubicBezTo>
                <a:cubicBezTo>
                  <a:pt x="65" y="37"/>
                  <a:pt x="65" y="37"/>
                  <a:pt x="65" y="37"/>
                </a:cubicBezTo>
                <a:cubicBezTo>
                  <a:pt x="66" y="37"/>
                  <a:pt x="67" y="38"/>
                  <a:pt x="67" y="39"/>
                </a:cubicBezTo>
                <a:lnTo>
                  <a:pt x="67" y="47"/>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80">
            <a:extLst>
              <a:ext uri="{FF2B5EF4-FFF2-40B4-BE49-F238E27FC236}">
                <a16:creationId xmlns:a16="http://schemas.microsoft.com/office/drawing/2014/main" id="{F9A76D48-A267-4D45-8AD0-3A43E43B16D6}"/>
              </a:ext>
            </a:extLst>
          </p:cNvPr>
          <p:cNvSpPr>
            <a:spLocks noChangeAspect="1"/>
          </p:cNvSpPr>
          <p:nvPr/>
        </p:nvSpPr>
        <p:spPr bwMode="auto">
          <a:xfrm>
            <a:off x="1602724" y="2751892"/>
            <a:ext cx="274320" cy="274320"/>
          </a:xfrm>
          <a:custGeom>
            <a:avLst/>
            <a:gdLst>
              <a:gd name="T0" fmla="*/ 83 w 85"/>
              <a:gd name="T1" fmla="*/ 33 h 85"/>
              <a:gd name="T2" fmla="*/ 52 w 85"/>
              <a:gd name="T3" fmla="*/ 33 h 85"/>
              <a:gd name="T4" fmla="*/ 52 w 85"/>
              <a:gd name="T5" fmla="*/ 3 h 85"/>
              <a:gd name="T6" fmla="*/ 49 w 85"/>
              <a:gd name="T7" fmla="*/ 0 h 85"/>
              <a:gd name="T8" fmla="*/ 36 w 85"/>
              <a:gd name="T9" fmla="*/ 0 h 85"/>
              <a:gd name="T10" fmla="*/ 33 w 85"/>
              <a:gd name="T11" fmla="*/ 3 h 85"/>
              <a:gd name="T12" fmla="*/ 33 w 85"/>
              <a:gd name="T13" fmla="*/ 33 h 85"/>
              <a:gd name="T14" fmla="*/ 3 w 85"/>
              <a:gd name="T15" fmla="*/ 33 h 85"/>
              <a:gd name="T16" fmla="*/ 0 w 85"/>
              <a:gd name="T17" fmla="*/ 36 h 85"/>
              <a:gd name="T18" fmla="*/ 0 w 85"/>
              <a:gd name="T19" fmla="*/ 49 h 85"/>
              <a:gd name="T20" fmla="*/ 3 w 85"/>
              <a:gd name="T21" fmla="*/ 52 h 85"/>
              <a:gd name="T22" fmla="*/ 33 w 85"/>
              <a:gd name="T23" fmla="*/ 52 h 85"/>
              <a:gd name="T24" fmla="*/ 33 w 85"/>
              <a:gd name="T25" fmla="*/ 83 h 85"/>
              <a:gd name="T26" fmla="*/ 36 w 85"/>
              <a:gd name="T27" fmla="*/ 85 h 85"/>
              <a:gd name="T28" fmla="*/ 49 w 85"/>
              <a:gd name="T29" fmla="*/ 85 h 85"/>
              <a:gd name="T30" fmla="*/ 52 w 85"/>
              <a:gd name="T31" fmla="*/ 83 h 85"/>
              <a:gd name="T32" fmla="*/ 52 w 85"/>
              <a:gd name="T33" fmla="*/ 52 h 85"/>
              <a:gd name="T34" fmla="*/ 83 w 85"/>
              <a:gd name="T35" fmla="*/ 52 h 85"/>
              <a:gd name="T36" fmla="*/ 85 w 85"/>
              <a:gd name="T37" fmla="*/ 49 h 85"/>
              <a:gd name="T38" fmla="*/ 85 w 85"/>
              <a:gd name="T39" fmla="*/ 36 h 85"/>
              <a:gd name="T40" fmla="*/ 83 w 85"/>
              <a:gd name="T41" fmla="*/ 3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85">
                <a:moveTo>
                  <a:pt x="83" y="33"/>
                </a:moveTo>
                <a:cubicBezTo>
                  <a:pt x="52" y="33"/>
                  <a:pt x="52" y="33"/>
                  <a:pt x="52" y="33"/>
                </a:cubicBezTo>
                <a:cubicBezTo>
                  <a:pt x="52" y="3"/>
                  <a:pt x="52" y="3"/>
                  <a:pt x="52" y="3"/>
                </a:cubicBezTo>
                <a:cubicBezTo>
                  <a:pt x="52" y="1"/>
                  <a:pt x="51" y="0"/>
                  <a:pt x="49" y="0"/>
                </a:cubicBezTo>
                <a:cubicBezTo>
                  <a:pt x="36" y="0"/>
                  <a:pt x="36" y="0"/>
                  <a:pt x="36" y="0"/>
                </a:cubicBezTo>
                <a:cubicBezTo>
                  <a:pt x="34" y="0"/>
                  <a:pt x="33" y="1"/>
                  <a:pt x="33" y="3"/>
                </a:cubicBezTo>
                <a:cubicBezTo>
                  <a:pt x="33" y="33"/>
                  <a:pt x="33" y="33"/>
                  <a:pt x="33" y="33"/>
                </a:cubicBezTo>
                <a:cubicBezTo>
                  <a:pt x="3" y="33"/>
                  <a:pt x="3" y="33"/>
                  <a:pt x="3" y="33"/>
                </a:cubicBezTo>
                <a:cubicBezTo>
                  <a:pt x="1" y="33"/>
                  <a:pt x="0" y="35"/>
                  <a:pt x="0" y="36"/>
                </a:cubicBezTo>
                <a:cubicBezTo>
                  <a:pt x="0" y="49"/>
                  <a:pt x="0" y="49"/>
                  <a:pt x="0" y="49"/>
                </a:cubicBezTo>
                <a:cubicBezTo>
                  <a:pt x="0" y="51"/>
                  <a:pt x="1" y="52"/>
                  <a:pt x="3" y="52"/>
                </a:cubicBezTo>
                <a:cubicBezTo>
                  <a:pt x="33" y="52"/>
                  <a:pt x="33" y="52"/>
                  <a:pt x="33" y="52"/>
                </a:cubicBezTo>
                <a:cubicBezTo>
                  <a:pt x="33" y="83"/>
                  <a:pt x="33" y="83"/>
                  <a:pt x="33" y="83"/>
                </a:cubicBezTo>
                <a:cubicBezTo>
                  <a:pt x="33" y="84"/>
                  <a:pt x="34" y="85"/>
                  <a:pt x="36" y="85"/>
                </a:cubicBezTo>
                <a:cubicBezTo>
                  <a:pt x="49" y="85"/>
                  <a:pt x="49" y="85"/>
                  <a:pt x="49" y="85"/>
                </a:cubicBezTo>
                <a:cubicBezTo>
                  <a:pt x="51" y="85"/>
                  <a:pt x="52" y="84"/>
                  <a:pt x="52" y="83"/>
                </a:cubicBezTo>
                <a:cubicBezTo>
                  <a:pt x="52" y="52"/>
                  <a:pt x="52" y="52"/>
                  <a:pt x="52" y="52"/>
                </a:cubicBezTo>
                <a:cubicBezTo>
                  <a:pt x="83" y="52"/>
                  <a:pt x="83" y="52"/>
                  <a:pt x="83" y="52"/>
                </a:cubicBezTo>
                <a:cubicBezTo>
                  <a:pt x="84" y="52"/>
                  <a:pt x="85" y="51"/>
                  <a:pt x="85" y="49"/>
                </a:cubicBezTo>
                <a:cubicBezTo>
                  <a:pt x="85" y="36"/>
                  <a:pt x="85" y="36"/>
                  <a:pt x="85" y="36"/>
                </a:cubicBezTo>
                <a:cubicBezTo>
                  <a:pt x="85" y="35"/>
                  <a:pt x="84" y="33"/>
                  <a:pt x="83" y="3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81">
            <a:extLst>
              <a:ext uri="{FF2B5EF4-FFF2-40B4-BE49-F238E27FC236}">
                <a16:creationId xmlns:a16="http://schemas.microsoft.com/office/drawing/2014/main" id="{2F2A8C15-117D-428D-92B4-4DB8C6BC17AF}"/>
              </a:ext>
            </a:extLst>
          </p:cNvPr>
          <p:cNvSpPr>
            <a:spLocks noChangeAspect="1" noEditPoints="1"/>
          </p:cNvSpPr>
          <p:nvPr/>
        </p:nvSpPr>
        <p:spPr bwMode="auto">
          <a:xfrm>
            <a:off x="2524174" y="2751892"/>
            <a:ext cx="271347" cy="274320"/>
          </a:xfrm>
          <a:custGeom>
            <a:avLst/>
            <a:gdLst>
              <a:gd name="T0" fmla="*/ 42 w 85"/>
              <a:gd name="T1" fmla="*/ 0 h 86"/>
              <a:gd name="T2" fmla="*/ 0 w 85"/>
              <a:gd name="T3" fmla="*/ 43 h 86"/>
              <a:gd name="T4" fmla="*/ 43 w 85"/>
              <a:gd name="T5" fmla="*/ 85 h 86"/>
              <a:gd name="T6" fmla="*/ 85 w 85"/>
              <a:gd name="T7" fmla="*/ 42 h 86"/>
              <a:gd name="T8" fmla="*/ 42 w 85"/>
              <a:gd name="T9" fmla="*/ 0 h 86"/>
              <a:gd name="T10" fmla="*/ 40 w 85"/>
              <a:gd name="T11" fmla="*/ 67 h 86"/>
              <a:gd name="T12" fmla="*/ 35 w 85"/>
              <a:gd name="T13" fmla="*/ 61 h 86"/>
              <a:gd name="T14" fmla="*/ 36 w 85"/>
              <a:gd name="T15" fmla="*/ 57 h 86"/>
              <a:gd name="T16" fmla="*/ 39 w 85"/>
              <a:gd name="T17" fmla="*/ 42 h 86"/>
              <a:gd name="T18" fmla="*/ 39 w 85"/>
              <a:gd name="T19" fmla="*/ 40 h 86"/>
              <a:gd name="T20" fmla="*/ 38 w 85"/>
              <a:gd name="T21" fmla="*/ 39 h 86"/>
              <a:gd name="T22" fmla="*/ 34 w 85"/>
              <a:gd name="T23" fmla="*/ 40 h 86"/>
              <a:gd name="T24" fmla="*/ 33 w 85"/>
              <a:gd name="T25" fmla="*/ 39 h 86"/>
              <a:gd name="T26" fmla="*/ 44 w 85"/>
              <a:gd name="T27" fmla="*/ 32 h 86"/>
              <a:gd name="T28" fmla="*/ 48 w 85"/>
              <a:gd name="T29" fmla="*/ 38 h 86"/>
              <a:gd name="T30" fmla="*/ 48 w 85"/>
              <a:gd name="T31" fmla="*/ 43 h 86"/>
              <a:gd name="T32" fmla="*/ 45 w 85"/>
              <a:gd name="T33" fmla="*/ 57 h 86"/>
              <a:gd name="T34" fmla="*/ 44 w 85"/>
              <a:gd name="T35" fmla="*/ 59 h 86"/>
              <a:gd name="T36" fmla="*/ 46 w 85"/>
              <a:gd name="T37" fmla="*/ 61 h 86"/>
              <a:gd name="T38" fmla="*/ 50 w 85"/>
              <a:gd name="T39" fmla="*/ 59 h 86"/>
              <a:gd name="T40" fmla="*/ 50 w 85"/>
              <a:gd name="T41" fmla="*/ 61 h 86"/>
              <a:gd name="T42" fmla="*/ 40 w 85"/>
              <a:gd name="T43" fmla="*/ 67 h 86"/>
              <a:gd name="T44" fmla="*/ 47 w 85"/>
              <a:gd name="T45" fmla="*/ 28 h 86"/>
              <a:gd name="T46" fmla="*/ 42 w 85"/>
              <a:gd name="T47" fmla="*/ 23 h 86"/>
              <a:gd name="T48" fmla="*/ 47 w 85"/>
              <a:gd name="T49" fmla="*/ 18 h 86"/>
              <a:gd name="T50" fmla="*/ 52 w 85"/>
              <a:gd name="T51" fmla="*/ 23 h 86"/>
              <a:gd name="T52" fmla="*/ 47 w 85"/>
              <a:gd name="T53" fmla="*/ 2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86">
                <a:moveTo>
                  <a:pt x="42" y="0"/>
                </a:moveTo>
                <a:cubicBezTo>
                  <a:pt x="19" y="0"/>
                  <a:pt x="0" y="20"/>
                  <a:pt x="0" y="43"/>
                </a:cubicBezTo>
                <a:cubicBezTo>
                  <a:pt x="0" y="67"/>
                  <a:pt x="19" y="86"/>
                  <a:pt x="43" y="85"/>
                </a:cubicBezTo>
                <a:cubicBezTo>
                  <a:pt x="66" y="85"/>
                  <a:pt x="85" y="66"/>
                  <a:pt x="85" y="42"/>
                </a:cubicBezTo>
                <a:cubicBezTo>
                  <a:pt x="85" y="19"/>
                  <a:pt x="66" y="0"/>
                  <a:pt x="42" y="0"/>
                </a:cubicBezTo>
                <a:close/>
                <a:moveTo>
                  <a:pt x="40" y="67"/>
                </a:moveTo>
                <a:cubicBezTo>
                  <a:pt x="37" y="67"/>
                  <a:pt x="35" y="65"/>
                  <a:pt x="35" y="61"/>
                </a:cubicBezTo>
                <a:cubicBezTo>
                  <a:pt x="35" y="60"/>
                  <a:pt x="35" y="59"/>
                  <a:pt x="36" y="57"/>
                </a:cubicBezTo>
                <a:cubicBezTo>
                  <a:pt x="39" y="42"/>
                  <a:pt x="39" y="42"/>
                  <a:pt x="39" y="42"/>
                </a:cubicBezTo>
                <a:cubicBezTo>
                  <a:pt x="39" y="42"/>
                  <a:pt x="39" y="41"/>
                  <a:pt x="39" y="40"/>
                </a:cubicBezTo>
                <a:cubicBezTo>
                  <a:pt x="39" y="39"/>
                  <a:pt x="39" y="39"/>
                  <a:pt x="38" y="39"/>
                </a:cubicBezTo>
                <a:cubicBezTo>
                  <a:pt x="37" y="39"/>
                  <a:pt x="35" y="39"/>
                  <a:pt x="34" y="40"/>
                </a:cubicBezTo>
                <a:cubicBezTo>
                  <a:pt x="33" y="39"/>
                  <a:pt x="33" y="39"/>
                  <a:pt x="33" y="39"/>
                </a:cubicBezTo>
                <a:cubicBezTo>
                  <a:pt x="35" y="36"/>
                  <a:pt x="40" y="32"/>
                  <a:pt x="44" y="32"/>
                </a:cubicBezTo>
                <a:cubicBezTo>
                  <a:pt x="47" y="32"/>
                  <a:pt x="48" y="35"/>
                  <a:pt x="48" y="38"/>
                </a:cubicBezTo>
                <a:cubicBezTo>
                  <a:pt x="48" y="40"/>
                  <a:pt x="48" y="41"/>
                  <a:pt x="48" y="43"/>
                </a:cubicBezTo>
                <a:cubicBezTo>
                  <a:pt x="45" y="57"/>
                  <a:pt x="45" y="57"/>
                  <a:pt x="45" y="57"/>
                </a:cubicBezTo>
                <a:cubicBezTo>
                  <a:pt x="44" y="58"/>
                  <a:pt x="44" y="59"/>
                  <a:pt x="44" y="59"/>
                </a:cubicBezTo>
                <a:cubicBezTo>
                  <a:pt x="44" y="61"/>
                  <a:pt x="45" y="61"/>
                  <a:pt x="46" y="61"/>
                </a:cubicBezTo>
                <a:cubicBezTo>
                  <a:pt x="47" y="61"/>
                  <a:pt x="48" y="61"/>
                  <a:pt x="50" y="59"/>
                </a:cubicBezTo>
                <a:cubicBezTo>
                  <a:pt x="50" y="61"/>
                  <a:pt x="50" y="61"/>
                  <a:pt x="50" y="61"/>
                </a:cubicBezTo>
                <a:cubicBezTo>
                  <a:pt x="48" y="63"/>
                  <a:pt x="44" y="67"/>
                  <a:pt x="40" y="67"/>
                </a:cubicBezTo>
                <a:close/>
                <a:moveTo>
                  <a:pt x="47" y="28"/>
                </a:moveTo>
                <a:cubicBezTo>
                  <a:pt x="44" y="28"/>
                  <a:pt x="42" y="26"/>
                  <a:pt x="42" y="23"/>
                </a:cubicBezTo>
                <a:cubicBezTo>
                  <a:pt x="42" y="20"/>
                  <a:pt x="44" y="18"/>
                  <a:pt x="47" y="18"/>
                </a:cubicBezTo>
                <a:cubicBezTo>
                  <a:pt x="50" y="18"/>
                  <a:pt x="52" y="20"/>
                  <a:pt x="52" y="23"/>
                </a:cubicBezTo>
                <a:cubicBezTo>
                  <a:pt x="52" y="26"/>
                  <a:pt x="50" y="28"/>
                  <a:pt x="47" y="28"/>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9" name="Freeform 82">
            <a:extLst>
              <a:ext uri="{FF2B5EF4-FFF2-40B4-BE49-F238E27FC236}">
                <a16:creationId xmlns:a16="http://schemas.microsoft.com/office/drawing/2014/main" id="{B3A4D231-5E45-4AB9-972F-7501FAFF18F2}"/>
              </a:ext>
            </a:extLst>
          </p:cNvPr>
          <p:cNvSpPr>
            <a:spLocks noChangeAspect="1" noEditPoints="1"/>
          </p:cNvSpPr>
          <p:nvPr/>
        </p:nvSpPr>
        <p:spPr bwMode="auto">
          <a:xfrm>
            <a:off x="3660186" y="2751892"/>
            <a:ext cx="106722" cy="274320"/>
          </a:xfrm>
          <a:custGeom>
            <a:avLst/>
            <a:gdLst>
              <a:gd name="T0" fmla="*/ 10 w 33"/>
              <a:gd name="T1" fmla="*/ 42 h 85"/>
              <a:gd name="T2" fmla="*/ 11 w 33"/>
              <a:gd name="T3" fmla="*/ 39 h 85"/>
              <a:gd name="T4" fmla="*/ 8 w 33"/>
              <a:gd name="T5" fmla="*/ 35 h 85"/>
              <a:gd name="T6" fmla="*/ 1 w 33"/>
              <a:gd name="T7" fmla="*/ 39 h 85"/>
              <a:gd name="T8" fmla="*/ 0 w 33"/>
              <a:gd name="T9" fmla="*/ 36 h 85"/>
              <a:gd name="T10" fmla="*/ 19 w 33"/>
              <a:gd name="T11" fmla="*/ 25 h 85"/>
              <a:gd name="T12" fmla="*/ 27 w 33"/>
              <a:gd name="T13" fmla="*/ 35 h 85"/>
              <a:gd name="T14" fmla="*/ 26 w 33"/>
              <a:gd name="T15" fmla="*/ 42 h 85"/>
              <a:gd name="T16" fmla="*/ 20 w 33"/>
              <a:gd name="T17" fmla="*/ 68 h 85"/>
              <a:gd name="T18" fmla="*/ 20 w 33"/>
              <a:gd name="T19" fmla="*/ 72 h 85"/>
              <a:gd name="T20" fmla="*/ 22 w 33"/>
              <a:gd name="T21" fmla="*/ 75 h 85"/>
              <a:gd name="T22" fmla="*/ 29 w 33"/>
              <a:gd name="T23" fmla="*/ 71 h 85"/>
              <a:gd name="T24" fmla="*/ 30 w 33"/>
              <a:gd name="T25" fmla="*/ 74 h 85"/>
              <a:gd name="T26" fmla="*/ 11 w 33"/>
              <a:gd name="T27" fmla="*/ 85 h 85"/>
              <a:gd name="T28" fmla="*/ 3 w 33"/>
              <a:gd name="T29" fmla="*/ 75 h 85"/>
              <a:gd name="T30" fmla="*/ 4 w 33"/>
              <a:gd name="T31" fmla="*/ 68 h 85"/>
              <a:gd name="T32" fmla="*/ 10 w 33"/>
              <a:gd name="T33" fmla="*/ 42 h 85"/>
              <a:gd name="T34" fmla="*/ 16 w 33"/>
              <a:gd name="T35" fmla="*/ 9 h 85"/>
              <a:gd name="T36" fmla="*/ 24 w 33"/>
              <a:gd name="T37" fmla="*/ 0 h 85"/>
              <a:gd name="T38" fmla="*/ 33 w 33"/>
              <a:gd name="T39" fmla="*/ 9 h 85"/>
              <a:gd name="T40" fmla="*/ 24 w 33"/>
              <a:gd name="T41" fmla="*/ 17 h 85"/>
              <a:gd name="T42" fmla="*/ 16 w 33"/>
              <a:gd name="T43" fmla="*/ 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3" h="85">
                <a:moveTo>
                  <a:pt x="10" y="42"/>
                </a:moveTo>
                <a:cubicBezTo>
                  <a:pt x="11" y="41"/>
                  <a:pt x="11" y="40"/>
                  <a:pt x="11" y="39"/>
                </a:cubicBezTo>
                <a:cubicBezTo>
                  <a:pt x="11" y="37"/>
                  <a:pt x="10" y="35"/>
                  <a:pt x="8" y="35"/>
                </a:cubicBezTo>
                <a:cubicBezTo>
                  <a:pt x="6" y="35"/>
                  <a:pt x="4" y="37"/>
                  <a:pt x="1" y="39"/>
                </a:cubicBezTo>
                <a:cubicBezTo>
                  <a:pt x="0" y="36"/>
                  <a:pt x="0" y="36"/>
                  <a:pt x="0" y="36"/>
                </a:cubicBezTo>
                <a:cubicBezTo>
                  <a:pt x="4" y="32"/>
                  <a:pt x="12" y="25"/>
                  <a:pt x="19" y="25"/>
                </a:cubicBezTo>
                <a:cubicBezTo>
                  <a:pt x="24" y="25"/>
                  <a:pt x="27" y="28"/>
                  <a:pt x="27" y="35"/>
                </a:cubicBezTo>
                <a:cubicBezTo>
                  <a:pt x="27" y="37"/>
                  <a:pt x="27" y="40"/>
                  <a:pt x="26" y="42"/>
                </a:cubicBezTo>
                <a:cubicBezTo>
                  <a:pt x="20" y="68"/>
                  <a:pt x="20" y="68"/>
                  <a:pt x="20" y="68"/>
                </a:cubicBezTo>
                <a:cubicBezTo>
                  <a:pt x="20" y="70"/>
                  <a:pt x="20" y="71"/>
                  <a:pt x="20" y="72"/>
                </a:cubicBezTo>
                <a:cubicBezTo>
                  <a:pt x="20" y="74"/>
                  <a:pt x="20" y="75"/>
                  <a:pt x="22" y="75"/>
                </a:cubicBezTo>
                <a:cubicBezTo>
                  <a:pt x="24" y="75"/>
                  <a:pt x="26" y="74"/>
                  <a:pt x="29" y="71"/>
                </a:cubicBezTo>
                <a:cubicBezTo>
                  <a:pt x="30" y="74"/>
                  <a:pt x="30" y="74"/>
                  <a:pt x="30" y="74"/>
                </a:cubicBezTo>
                <a:cubicBezTo>
                  <a:pt x="26" y="79"/>
                  <a:pt x="19" y="85"/>
                  <a:pt x="11" y="85"/>
                </a:cubicBezTo>
                <a:cubicBezTo>
                  <a:pt x="6" y="85"/>
                  <a:pt x="3" y="82"/>
                  <a:pt x="3" y="75"/>
                </a:cubicBezTo>
                <a:cubicBezTo>
                  <a:pt x="3" y="73"/>
                  <a:pt x="4" y="71"/>
                  <a:pt x="4" y="68"/>
                </a:cubicBezTo>
                <a:lnTo>
                  <a:pt x="10" y="42"/>
                </a:lnTo>
                <a:close/>
                <a:moveTo>
                  <a:pt x="16" y="9"/>
                </a:moveTo>
                <a:cubicBezTo>
                  <a:pt x="16" y="4"/>
                  <a:pt x="19" y="0"/>
                  <a:pt x="24" y="0"/>
                </a:cubicBezTo>
                <a:cubicBezTo>
                  <a:pt x="29" y="0"/>
                  <a:pt x="33" y="4"/>
                  <a:pt x="33" y="9"/>
                </a:cubicBezTo>
                <a:cubicBezTo>
                  <a:pt x="33" y="13"/>
                  <a:pt x="29" y="17"/>
                  <a:pt x="24" y="17"/>
                </a:cubicBezTo>
                <a:cubicBezTo>
                  <a:pt x="19" y="17"/>
                  <a:pt x="16" y="13"/>
                  <a:pt x="16" y="9"/>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id="{42315060-87E0-4955-A887-B3F05F9EDBC4}"/>
              </a:ext>
            </a:extLst>
          </p:cNvPr>
          <p:cNvGrpSpPr>
            <a:grpSpLocks noChangeAspect="1"/>
          </p:cNvGrpSpPr>
          <p:nvPr/>
        </p:nvGrpSpPr>
        <p:grpSpPr>
          <a:xfrm>
            <a:off x="4367080" y="2751892"/>
            <a:ext cx="274320" cy="274320"/>
            <a:chOff x="4092575" y="3335338"/>
            <a:chExt cx="579438" cy="579438"/>
          </a:xfrm>
          <a:solidFill>
            <a:srgbClr val="595555"/>
          </a:solidFill>
        </p:grpSpPr>
        <p:sp>
          <p:nvSpPr>
            <p:cNvPr id="61" name="Freeform 83">
              <a:extLst>
                <a:ext uri="{FF2B5EF4-FFF2-40B4-BE49-F238E27FC236}">
                  <a16:creationId xmlns:a16="http://schemas.microsoft.com/office/drawing/2014/main" id="{1F586D77-2894-41C8-8E64-658562463392}"/>
                </a:ext>
              </a:extLst>
            </p:cNvPr>
            <p:cNvSpPr>
              <a:spLocks/>
            </p:cNvSpPr>
            <p:nvPr/>
          </p:nvSpPr>
          <p:spPr bwMode="auto">
            <a:xfrm>
              <a:off x="4237038" y="3335338"/>
              <a:ext cx="434975" cy="457200"/>
            </a:xfrm>
            <a:custGeom>
              <a:avLst/>
              <a:gdLst>
                <a:gd name="T0" fmla="*/ 62 w 64"/>
                <a:gd name="T1" fmla="*/ 0 h 67"/>
                <a:gd name="T2" fmla="*/ 53 w 64"/>
                <a:gd name="T3" fmla="*/ 0 h 67"/>
                <a:gd name="T4" fmla="*/ 29 w 64"/>
                <a:gd name="T5" fmla="*/ 0 h 67"/>
                <a:gd name="T6" fmla="*/ 27 w 64"/>
                <a:gd name="T7" fmla="*/ 2 h 67"/>
                <a:gd name="T8" fmla="*/ 27 w 64"/>
                <a:gd name="T9" fmla="*/ 9 h 67"/>
                <a:gd name="T10" fmla="*/ 29 w 64"/>
                <a:gd name="T11" fmla="*/ 11 h 67"/>
                <a:gd name="T12" fmla="*/ 46 w 64"/>
                <a:gd name="T13" fmla="*/ 11 h 67"/>
                <a:gd name="T14" fmla="*/ 1 w 64"/>
                <a:gd name="T15" fmla="*/ 57 h 67"/>
                <a:gd name="T16" fmla="*/ 1 w 64"/>
                <a:gd name="T17" fmla="*/ 61 h 67"/>
                <a:gd name="T18" fmla="*/ 6 w 64"/>
                <a:gd name="T19" fmla="*/ 66 h 67"/>
                <a:gd name="T20" fmla="*/ 9 w 64"/>
                <a:gd name="T21" fmla="*/ 66 h 67"/>
                <a:gd name="T22" fmla="*/ 54 w 64"/>
                <a:gd name="T23" fmla="*/ 19 h 67"/>
                <a:gd name="T24" fmla="*/ 54 w 64"/>
                <a:gd name="T25" fmla="*/ 35 h 67"/>
                <a:gd name="T26" fmla="*/ 56 w 64"/>
                <a:gd name="T27" fmla="*/ 37 h 67"/>
                <a:gd name="T28" fmla="*/ 62 w 64"/>
                <a:gd name="T29" fmla="*/ 37 h 67"/>
                <a:gd name="T30" fmla="*/ 64 w 64"/>
                <a:gd name="T31" fmla="*/ 35 h 67"/>
                <a:gd name="T32" fmla="*/ 64 w 64"/>
                <a:gd name="T33" fmla="*/ 11 h 67"/>
                <a:gd name="T34" fmla="*/ 64 w 64"/>
                <a:gd name="T35" fmla="*/ 2 h 67"/>
                <a:gd name="T36" fmla="*/ 62 w 64"/>
                <a:gd name="T37"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67">
                  <a:moveTo>
                    <a:pt x="62" y="0"/>
                  </a:moveTo>
                  <a:cubicBezTo>
                    <a:pt x="53" y="0"/>
                    <a:pt x="53" y="0"/>
                    <a:pt x="53" y="0"/>
                  </a:cubicBezTo>
                  <a:cubicBezTo>
                    <a:pt x="29" y="0"/>
                    <a:pt x="29" y="0"/>
                    <a:pt x="29" y="0"/>
                  </a:cubicBezTo>
                  <a:cubicBezTo>
                    <a:pt x="28" y="0"/>
                    <a:pt x="27" y="1"/>
                    <a:pt x="27" y="2"/>
                  </a:cubicBezTo>
                  <a:cubicBezTo>
                    <a:pt x="27" y="9"/>
                    <a:pt x="27" y="9"/>
                    <a:pt x="27" y="9"/>
                  </a:cubicBezTo>
                  <a:cubicBezTo>
                    <a:pt x="27" y="10"/>
                    <a:pt x="28" y="11"/>
                    <a:pt x="29" y="11"/>
                  </a:cubicBezTo>
                  <a:cubicBezTo>
                    <a:pt x="46" y="11"/>
                    <a:pt x="46" y="11"/>
                    <a:pt x="46" y="11"/>
                  </a:cubicBezTo>
                  <a:cubicBezTo>
                    <a:pt x="1" y="57"/>
                    <a:pt x="1" y="57"/>
                    <a:pt x="1" y="57"/>
                  </a:cubicBezTo>
                  <a:cubicBezTo>
                    <a:pt x="0" y="58"/>
                    <a:pt x="0" y="60"/>
                    <a:pt x="1" y="61"/>
                  </a:cubicBezTo>
                  <a:cubicBezTo>
                    <a:pt x="6" y="66"/>
                    <a:pt x="6" y="66"/>
                    <a:pt x="6" y="66"/>
                  </a:cubicBezTo>
                  <a:cubicBezTo>
                    <a:pt x="6" y="67"/>
                    <a:pt x="8" y="67"/>
                    <a:pt x="9" y="66"/>
                  </a:cubicBezTo>
                  <a:cubicBezTo>
                    <a:pt x="54" y="19"/>
                    <a:pt x="54" y="19"/>
                    <a:pt x="54" y="19"/>
                  </a:cubicBezTo>
                  <a:cubicBezTo>
                    <a:pt x="54" y="35"/>
                    <a:pt x="54" y="35"/>
                    <a:pt x="54" y="35"/>
                  </a:cubicBezTo>
                  <a:cubicBezTo>
                    <a:pt x="54" y="36"/>
                    <a:pt x="55" y="37"/>
                    <a:pt x="56" y="37"/>
                  </a:cubicBezTo>
                  <a:cubicBezTo>
                    <a:pt x="62" y="37"/>
                    <a:pt x="62" y="37"/>
                    <a:pt x="62" y="37"/>
                  </a:cubicBezTo>
                  <a:cubicBezTo>
                    <a:pt x="63" y="37"/>
                    <a:pt x="64" y="36"/>
                    <a:pt x="64" y="35"/>
                  </a:cubicBezTo>
                  <a:cubicBezTo>
                    <a:pt x="64" y="11"/>
                    <a:pt x="64" y="11"/>
                    <a:pt x="64" y="11"/>
                  </a:cubicBezTo>
                  <a:cubicBezTo>
                    <a:pt x="64" y="2"/>
                    <a:pt x="64" y="2"/>
                    <a:pt x="64" y="2"/>
                  </a:cubicBezTo>
                  <a:cubicBezTo>
                    <a:pt x="64" y="1"/>
                    <a:pt x="63"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2" name="Freeform 84">
              <a:extLst>
                <a:ext uri="{FF2B5EF4-FFF2-40B4-BE49-F238E27FC236}">
                  <a16:creationId xmlns:a16="http://schemas.microsoft.com/office/drawing/2014/main" id="{C39CD7CF-AE8F-4CEA-86C0-3A41DEB9290A}"/>
                </a:ext>
              </a:extLst>
            </p:cNvPr>
            <p:cNvSpPr>
              <a:spLocks/>
            </p:cNvSpPr>
            <p:nvPr/>
          </p:nvSpPr>
          <p:spPr bwMode="auto">
            <a:xfrm>
              <a:off x="4092575" y="3335338"/>
              <a:ext cx="579438" cy="579438"/>
            </a:xfrm>
            <a:custGeom>
              <a:avLst/>
              <a:gdLst>
                <a:gd name="T0" fmla="*/ 83 w 85"/>
                <a:gd name="T1" fmla="*/ 51 h 85"/>
                <a:gd name="T2" fmla="*/ 77 w 85"/>
                <a:gd name="T3" fmla="*/ 51 h 85"/>
                <a:gd name="T4" fmla="*/ 75 w 85"/>
                <a:gd name="T5" fmla="*/ 53 h 85"/>
                <a:gd name="T6" fmla="*/ 75 w 85"/>
                <a:gd name="T7" fmla="*/ 75 h 85"/>
                <a:gd name="T8" fmla="*/ 60 w 85"/>
                <a:gd name="T9" fmla="*/ 75 h 85"/>
                <a:gd name="T10" fmla="*/ 51 w 85"/>
                <a:gd name="T11" fmla="*/ 75 h 85"/>
                <a:gd name="T12" fmla="*/ 35 w 85"/>
                <a:gd name="T13" fmla="*/ 75 h 85"/>
                <a:gd name="T14" fmla="*/ 28 w 85"/>
                <a:gd name="T15" fmla="*/ 75 h 85"/>
                <a:gd name="T16" fmla="*/ 11 w 85"/>
                <a:gd name="T17" fmla="*/ 75 h 85"/>
                <a:gd name="T18" fmla="*/ 11 w 85"/>
                <a:gd name="T19" fmla="*/ 56 h 85"/>
                <a:gd name="T20" fmla="*/ 11 w 85"/>
                <a:gd name="T21" fmla="*/ 51 h 85"/>
                <a:gd name="T22" fmla="*/ 11 w 85"/>
                <a:gd name="T23" fmla="*/ 35 h 85"/>
                <a:gd name="T24" fmla="*/ 11 w 85"/>
                <a:gd name="T25" fmla="*/ 24 h 85"/>
                <a:gd name="T26" fmla="*/ 11 w 85"/>
                <a:gd name="T27" fmla="*/ 11 h 85"/>
                <a:gd name="T28" fmla="*/ 32 w 85"/>
                <a:gd name="T29" fmla="*/ 11 h 85"/>
                <a:gd name="T30" fmla="*/ 35 w 85"/>
                <a:gd name="T31" fmla="*/ 8 h 85"/>
                <a:gd name="T32" fmla="*/ 35 w 85"/>
                <a:gd name="T33" fmla="*/ 3 h 85"/>
                <a:gd name="T34" fmla="*/ 32 w 85"/>
                <a:gd name="T35" fmla="*/ 0 h 85"/>
                <a:gd name="T36" fmla="*/ 0 w 85"/>
                <a:gd name="T37" fmla="*/ 0 h 85"/>
                <a:gd name="T38" fmla="*/ 0 w 85"/>
                <a:gd name="T39" fmla="*/ 3 h 85"/>
                <a:gd name="T40" fmla="*/ 0 w 85"/>
                <a:gd name="T41" fmla="*/ 8 h 85"/>
                <a:gd name="T42" fmla="*/ 0 w 85"/>
                <a:gd name="T43" fmla="*/ 11 h 85"/>
                <a:gd name="T44" fmla="*/ 0 w 85"/>
                <a:gd name="T45" fmla="*/ 24 h 85"/>
                <a:gd name="T46" fmla="*/ 0 w 85"/>
                <a:gd name="T47" fmla="*/ 35 h 85"/>
                <a:gd name="T48" fmla="*/ 0 w 85"/>
                <a:gd name="T49" fmla="*/ 35 h 85"/>
                <a:gd name="T50" fmla="*/ 0 w 85"/>
                <a:gd name="T51" fmla="*/ 51 h 85"/>
                <a:gd name="T52" fmla="*/ 0 w 85"/>
                <a:gd name="T53" fmla="*/ 51 h 85"/>
                <a:gd name="T54" fmla="*/ 0 w 85"/>
                <a:gd name="T55" fmla="*/ 56 h 85"/>
                <a:gd name="T56" fmla="*/ 0 w 85"/>
                <a:gd name="T57" fmla="*/ 85 h 85"/>
                <a:gd name="T58" fmla="*/ 3 w 85"/>
                <a:gd name="T59" fmla="*/ 85 h 85"/>
                <a:gd name="T60" fmla="*/ 8 w 85"/>
                <a:gd name="T61" fmla="*/ 85 h 85"/>
                <a:gd name="T62" fmla="*/ 11 w 85"/>
                <a:gd name="T63" fmla="*/ 85 h 85"/>
                <a:gd name="T64" fmla="*/ 28 w 85"/>
                <a:gd name="T65" fmla="*/ 85 h 85"/>
                <a:gd name="T66" fmla="*/ 34 w 85"/>
                <a:gd name="T67" fmla="*/ 85 h 85"/>
                <a:gd name="T68" fmla="*/ 35 w 85"/>
                <a:gd name="T69" fmla="*/ 85 h 85"/>
                <a:gd name="T70" fmla="*/ 51 w 85"/>
                <a:gd name="T71" fmla="*/ 85 h 85"/>
                <a:gd name="T72" fmla="*/ 51 w 85"/>
                <a:gd name="T73" fmla="*/ 85 h 85"/>
                <a:gd name="T74" fmla="*/ 60 w 85"/>
                <a:gd name="T75" fmla="*/ 85 h 85"/>
                <a:gd name="T76" fmla="*/ 85 w 85"/>
                <a:gd name="T77" fmla="*/ 85 h 85"/>
                <a:gd name="T78" fmla="*/ 85 w 85"/>
                <a:gd name="T79" fmla="*/ 83 h 85"/>
                <a:gd name="T80" fmla="*/ 85 w 85"/>
                <a:gd name="T81" fmla="*/ 77 h 85"/>
                <a:gd name="T82" fmla="*/ 85 w 85"/>
                <a:gd name="T83" fmla="*/ 75 h 85"/>
                <a:gd name="T84" fmla="*/ 85 w 85"/>
                <a:gd name="T85" fmla="*/ 53 h 85"/>
                <a:gd name="T86" fmla="*/ 83 w 85"/>
                <a:gd name="T87" fmla="*/ 5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83" y="51"/>
                  </a:moveTo>
                  <a:cubicBezTo>
                    <a:pt x="77" y="51"/>
                    <a:pt x="77" y="51"/>
                    <a:pt x="77" y="51"/>
                  </a:cubicBezTo>
                  <a:cubicBezTo>
                    <a:pt x="76" y="51"/>
                    <a:pt x="75" y="52"/>
                    <a:pt x="75" y="53"/>
                  </a:cubicBezTo>
                  <a:cubicBezTo>
                    <a:pt x="75" y="75"/>
                    <a:pt x="75" y="75"/>
                    <a:pt x="75" y="75"/>
                  </a:cubicBezTo>
                  <a:cubicBezTo>
                    <a:pt x="60" y="75"/>
                    <a:pt x="60" y="75"/>
                    <a:pt x="60" y="75"/>
                  </a:cubicBezTo>
                  <a:cubicBezTo>
                    <a:pt x="51" y="75"/>
                    <a:pt x="51" y="75"/>
                    <a:pt x="51" y="75"/>
                  </a:cubicBezTo>
                  <a:cubicBezTo>
                    <a:pt x="35" y="75"/>
                    <a:pt x="35" y="75"/>
                    <a:pt x="35" y="75"/>
                  </a:cubicBezTo>
                  <a:cubicBezTo>
                    <a:pt x="28" y="75"/>
                    <a:pt x="28" y="75"/>
                    <a:pt x="28" y="75"/>
                  </a:cubicBezTo>
                  <a:cubicBezTo>
                    <a:pt x="11" y="75"/>
                    <a:pt x="11" y="75"/>
                    <a:pt x="11" y="75"/>
                  </a:cubicBezTo>
                  <a:cubicBezTo>
                    <a:pt x="11" y="56"/>
                    <a:pt x="11" y="56"/>
                    <a:pt x="11" y="56"/>
                  </a:cubicBezTo>
                  <a:cubicBezTo>
                    <a:pt x="11" y="51"/>
                    <a:pt x="11" y="51"/>
                    <a:pt x="11" y="51"/>
                  </a:cubicBezTo>
                  <a:cubicBezTo>
                    <a:pt x="11" y="35"/>
                    <a:pt x="11" y="35"/>
                    <a:pt x="11" y="35"/>
                  </a:cubicBezTo>
                  <a:cubicBezTo>
                    <a:pt x="11" y="24"/>
                    <a:pt x="11" y="24"/>
                    <a:pt x="11" y="24"/>
                  </a:cubicBezTo>
                  <a:cubicBezTo>
                    <a:pt x="11" y="11"/>
                    <a:pt x="11" y="11"/>
                    <a:pt x="11" y="11"/>
                  </a:cubicBezTo>
                  <a:cubicBezTo>
                    <a:pt x="32" y="11"/>
                    <a:pt x="32" y="11"/>
                    <a:pt x="32" y="11"/>
                  </a:cubicBezTo>
                  <a:cubicBezTo>
                    <a:pt x="33" y="11"/>
                    <a:pt x="35" y="10"/>
                    <a:pt x="35" y="8"/>
                  </a:cubicBezTo>
                  <a:cubicBezTo>
                    <a:pt x="35" y="3"/>
                    <a:pt x="35" y="3"/>
                    <a:pt x="35" y="3"/>
                  </a:cubicBezTo>
                  <a:cubicBezTo>
                    <a:pt x="35" y="1"/>
                    <a:pt x="33" y="0"/>
                    <a:pt x="32" y="0"/>
                  </a:cubicBezTo>
                  <a:cubicBezTo>
                    <a:pt x="0" y="0"/>
                    <a:pt x="0" y="0"/>
                    <a:pt x="0" y="0"/>
                  </a:cubicBezTo>
                  <a:cubicBezTo>
                    <a:pt x="0" y="3"/>
                    <a:pt x="0" y="3"/>
                    <a:pt x="0" y="3"/>
                  </a:cubicBezTo>
                  <a:cubicBezTo>
                    <a:pt x="0" y="8"/>
                    <a:pt x="0" y="8"/>
                    <a:pt x="0" y="8"/>
                  </a:cubicBezTo>
                  <a:cubicBezTo>
                    <a:pt x="0" y="11"/>
                    <a:pt x="0" y="11"/>
                    <a:pt x="0" y="11"/>
                  </a:cubicBezTo>
                  <a:cubicBezTo>
                    <a:pt x="0" y="24"/>
                    <a:pt x="0" y="24"/>
                    <a:pt x="0" y="24"/>
                  </a:cubicBezTo>
                  <a:cubicBezTo>
                    <a:pt x="0" y="35"/>
                    <a:pt x="0" y="35"/>
                    <a:pt x="0" y="35"/>
                  </a:cubicBezTo>
                  <a:cubicBezTo>
                    <a:pt x="0" y="35"/>
                    <a:pt x="0" y="35"/>
                    <a:pt x="0" y="35"/>
                  </a:cubicBezTo>
                  <a:cubicBezTo>
                    <a:pt x="0" y="51"/>
                    <a:pt x="0" y="51"/>
                    <a:pt x="0" y="51"/>
                  </a:cubicBezTo>
                  <a:cubicBezTo>
                    <a:pt x="0" y="51"/>
                    <a:pt x="0" y="51"/>
                    <a:pt x="0" y="51"/>
                  </a:cubicBezTo>
                  <a:cubicBezTo>
                    <a:pt x="0" y="56"/>
                    <a:pt x="0" y="56"/>
                    <a:pt x="0" y="56"/>
                  </a:cubicBezTo>
                  <a:cubicBezTo>
                    <a:pt x="0" y="85"/>
                    <a:pt x="0" y="85"/>
                    <a:pt x="0" y="85"/>
                  </a:cubicBezTo>
                  <a:cubicBezTo>
                    <a:pt x="3" y="85"/>
                    <a:pt x="3" y="85"/>
                    <a:pt x="3" y="85"/>
                  </a:cubicBezTo>
                  <a:cubicBezTo>
                    <a:pt x="8" y="85"/>
                    <a:pt x="8" y="85"/>
                    <a:pt x="8" y="85"/>
                  </a:cubicBezTo>
                  <a:cubicBezTo>
                    <a:pt x="11" y="85"/>
                    <a:pt x="11" y="85"/>
                    <a:pt x="11" y="85"/>
                  </a:cubicBezTo>
                  <a:cubicBezTo>
                    <a:pt x="28" y="85"/>
                    <a:pt x="28" y="85"/>
                    <a:pt x="28" y="85"/>
                  </a:cubicBezTo>
                  <a:cubicBezTo>
                    <a:pt x="34" y="85"/>
                    <a:pt x="34" y="85"/>
                    <a:pt x="34" y="85"/>
                  </a:cubicBezTo>
                  <a:cubicBezTo>
                    <a:pt x="35" y="85"/>
                    <a:pt x="35" y="85"/>
                    <a:pt x="35" y="85"/>
                  </a:cubicBezTo>
                  <a:cubicBezTo>
                    <a:pt x="51" y="85"/>
                    <a:pt x="51" y="85"/>
                    <a:pt x="51" y="85"/>
                  </a:cubicBezTo>
                  <a:cubicBezTo>
                    <a:pt x="51" y="85"/>
                    <a:pt x="51" y="85"/>
                    <a:pt x="51" y="85"/>
                  </a:cubicBezTo>
                  <a:cubicBezTo>
                    <a:pt x="60" y="85"/>
                    <a:pt x="60" y="85"/>
                    <a:pt x="60" y="85"/>
                  </a:cubicBezTo>
                  <a:cubicBezTo>
                    <a:pt x="85" y="85"/>
                    <a:pt x="85" y="85"/>
                    <a:pt x="85" y="85"/>
                  </a:cubicBezTo>
                  <a:cubicBezTo>
                    <a:pt x="85" y="83"/>
                    <a:pt x="85" y="83"/>
                    <a:pt x="85" y="83"/>
                  </a:cubicBezTo>
                  <a:cubicBezTo>
                    <a:pt x="85" y="77"/>
                    <a:pt x="85" y="77"/>
                    <a:pt x="85" y="77"/>
                  </a:cubicBezTo>
                  <a:cubicBezTo>
                    <a:pt x="85" y="75"/>
                    <a:pt x="85" y="75"/>
                    <a:pt x="85" y="75"/>
                  </a:cubicBezTo>
                  <a:cubicBezTo>
                    <a:pt x="85" y="53"/>
                    <a:pt x="85" y="53"/>
                    <a:pt x="85" y="53"/>
                  </a:cubicBezTo>
                  <a:cubicBezTo>
                    <a:pt x="85" y="52"/>
                    <a:pt x="84" y="51"/>
                    <a:pt x="8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3" name="Group 62">
            <a:extLst>
              <a:ext uri="{FF2B5EF4-FFF2-40B4-BE49-F238E27FC236}">
                <a16:creationId xmlns:a16="http://schemas.microsoft.com/office/drawing/2014/main" id="{09EF70E6-8181-4DEC-8D48-372DEEC32516}"/>
              </a:ext>
            </a:extLst>
          </p:cNvPr>
          <p:cNvGrpSpPr>
            <a:grpSpLocks noChangeAspect="1"/>
          </p:cNvGrpSpPr>
          <p:nvPr/>
        </p:nvGrpSpPr>
        <p:grpSpPr>
          <a:xfrm>
            <a:off x="5288532" y="2751892"/>
            <a:ext cx="274320" cy="274320"/>
            <a:chOff x="4856163" y="3335338"/>
            <a:chExt cx="579438" cy="579438"/>
          </a:xfrm>
          <a:solidFill>
            <a:srgbClr val="595555"/>
          </a:solidFill>
        </p:grpSpPr>
        <p:sp>
          <p:nvSpPr>
            <p:cNvPr id="64" name="Freeform 85">
              <a:extLst>
                <a:ext uri="{FF2B5EF4-FFF2-40B4-BE49-F238E27FC236}">
                  <a16:creationId xmlns:a16="http://schemas.microsoft.com/office/drawing/2014/main" id="{68A5374A-0DD9-48CE-AC8D-99B749CDD7EE}"/>
                </a:ext>
              </a:extLst>
            </p:cNvPr>
            <p:cNvSpPr>
              <a:spLocks/>
            </p:cNvSpPr>
            <p:nvPr/>
          </p:nvSpPr>
          <p:spPr bwMode="auto">
            <a:xfrm>
              <a:off x="4986338" y="3335338"/>
              <a:ext cx="320675" cy="463550"/>
            </a:xfrm>
            <a:custGeom>
              <a:avLst/>
              <a:gdLst>
                <a:gd name="T0" fmla="*/ 1 w 47"/>
                <a:gd name="T1" fmla="*/ 43 h 68"/>
                <a:gd name="T2" fmla="*/ 1 w 47"/>
                <a:gd name="T3" fmla="*/ 46 h 68"/>
                <a:gd name="T4" fmla="*/ 16 w 47"/>
                <a:gd name="T5" fmla="*/ 61 h 68"/>
                <a:gd name="T6" fmla="*/ 22 w 47"/>
                <a:gd name="T7" fmla="*/ 67 h 68"/>
                <a:gd name="T8" fmla="*/ 25 w 47"/>
                <a:gd name="T9" fmla="*/ 67 h 68"/>
                <a:gd name="T10" fmla="*/ 31 w 47"/>
                <a:gd name="T11" fmla="*/ 61 h 68"/>
                <a:gd name="T12" fmla="*/ 46 w 47"/>
                <a:gd name="T13" fmla="*/ 46 h 68"/>
                <a:gd name="T14" fmla="*/ 46 w 47"/>
                <a:gd name="T15" fmla="*/ 43 h 68"/>
                <a:gd name="T16" fmla="*/ 42 w 47"/>
                <a:gd name="T17" fmla="*/ 39 h 68"/>
                <a:gd name="T18" fmla="*/ 39 w 47"/>
                <a:gd name="T19" fmla="*/ 39 h 68"/>
                <a:gd name="T20" fmla="*/ 29 w 47"/>
                <a:gd name="T21" fmla="*/ 49 h 68"/>
                <a:gd name="T22" fmla="*/ 29 w 47"/>
                <a:gd name="T23" fmla="*/ 2 h 68"/>
                <a:gd name="T24" fmla="*/ 27 w 47"/>
                <a:gd name="T25" fmla="*/ 0 h 68"/>
                <a:gd name="T26" fmla="*/ 20 w 47"/>
                <a:gd name="T27" fmla="*/ 0 h 68"/>
                <a:gd name="T28" fmla="*/ 18 w 47"/>
                <a:gd name="T29" fmla="*/ 2 h 68"/>
                <a:gd name="T30" fmla="*/ 18 w 47"/>
                <a:gd name="T31" fmla="*/ 49 h 68"/>
                <a:gd name="T32" fmla="*/ 8 w 47"/>
                <a:gd name="T33" fmla="*/ 39 h 68"/>
                <a:gd name="T34" fmla="*/ 5 w 47"/>
                <a:gd name="T35" fmla="*/ 39 h 68"/>
                <a:gd name="T36" fmla="*/ 1 w 47"/>
                <a:gd name="T37" fmla="*/ 4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68">
                  <a:moveTo>
                    <a:pt x="1" y="43"/>
                  </a:moveTo>
                  <a:cubicBezTo>
                    <a:pt x="0" y="44"/>
                    <a:pt x="0" y="45"/>
                    <a:pt x="1" y="46"/>
                  </a:cubicBezTo>
                  <a:cubicBezTo>
                    <a:pt x="16" y="61"/>
                    <a:pt x="16" y="61"/>
                    <a:pt x="16" y="61"/>
                  </a:cubicBezTo>
                  <a:cubicBezTo>
                    <a:pt x="22" y="67"/>
                    <a:pt x="22" y="67"/>
                    <a:pt x="22" y="67"/>
                  </a:cubicBezTo>
                  <a:cubicBezTo>
                    <a:pt x="23" y="68"/>
                    <a:pt x="24" y="68"/>
                    <a:pt x="25" y="67"/>
                  </a:cubicBezTo>
                  <a:cubicBezTo>
                    <a:pt x="31" y="61"/>
                    <a:pt x="31" y="61"/>
                    <a:pt x="31" y="61"/>
                  </a:cubicBezTo>
                  <a:cubicBezTo>
                    <a:pt x="46" y="46"/>
                    <a:pt x="46" y="46"/>
                    <a:pt x="46" y="46"/>
                  </a:cubicBezTo>
                  <a:cubicBezTo>
                    <a:pt x="47" y="45"/>
                    <a:pt x="47" y="44"/>
                    <a:pt x="46" y="43"/>
                  </a:cubicBezTo>
                  <a:cubicBezTo>
                    <a:pt x="42" y="39"/>
                    <a:pt x="42" y="39"/>
                    <a:pt x="42" y="39"/>
                  </a:cubicBezTo>
                  <a:cubicBezTo>
                    <a:pt x="41" y="38"/>
                    <a:pt x="40" y="38"/>
                    <a:pt x="39" y="39"/>
                  </a:cubicBezTo>
                  <a:cubicBezTo>
                    <a:pt x="29" y="49"/>
                    <a:pt x="29" y="49"/>
                    <a:pt x="29" y="49"/>
                  </a:cubicBezTo>
                  <a:cubicBezTo>
                    <a:pt x="29" y="2"/>
                    <a:pt x="29" y="2"/>
                    <a:pt x="29" y="2"/>
                  </a:cubicBezTo>
                  <a:cubicBezTo>
                    <a:pt x="29" y="1"/>
                    <a:pt x="28" y="0"/>
                    <a:pt x="27" y="0"/>
                  </a:cubicBezTo>
                  <a:cubicBezTo>
                    <a:pt x="20" y="0"/>
                    <a:pt x="20" y="0"/>
                    <a:pt x="20" y="0"/>
                  </a:cubicBezTo>
                  <a:cubicBezTo>
                    <a:pt x="19" y="0"/>
                    <a:pt x="18" y="1"/>
                    <a:pt x="18" y="2"/>
                  </a:cubicBezTo>
                  <a:cubicBezTo>
                    <a:pt x="18" y="49"/>
                    <a:pt x="18" y="49"/>
                    <a:pt x="18" y="49"/>
                  </a:cubicBezTo>
                  <a:cubicBezTo>
                    <a:pt x="8" y="39"/>
                    <a:pt x="8" y="39"/>
                    <a:pt x="8" y="39"/>
                  </a:cubicBezTo>
                  <a:cubicBezTo>
                    <a:pt x="7" y="38"/>
                    <a:pt x="6" y="38"/>
                    <a:pt x="5" y="39"/>
                  </a:cubicBezTo>
                  <a:lnTo>
                    <a:pt x="1"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86">
              <a:extLst>
                <a:ext uri="{FF2B5EF4-FFF2-40B4-BE49-F238E27FC236}">
                  <a16:creationId xmlns:a16="http://schemas.microsoft.com/office/drawing/2014/main" id="{A8C0BDEA-7D3D-4EDE-9AA1-843E50701DB6}"/>
                </a:ext>
              </a:extLst>
            </p:cNvPr>
            <p:cNvSpPr>
              <a:spLocks/>
            </p:cNvSpPr>
            <p:nvPr/>
          </p:nvSpPr>
          <p:spPr bwMode="auto">
            <a:xfrm>
              <a:off x="4856163" y="3471863"/>
              <a:ext cx="579438" cy="442913"/>
            </a:xfrm>
            <a:custGeom>
              <a:avLst/>
              <a:gdLst>
                <a:gd name="T0" fmla="*/ 85 w 85"/>
                <a:gd name="T1" fmla="*/ 5 h 65"/>
                <a:gd name="T2" fmla="*/ 85 w 85"/>
                <a:gd name="T3" fmla="*/ 0 h 65"/>
                <a:gd name="T4" fmla="*/ 67 w 85"/>
                <a:gd name="T5" fmla="*/ 0 h 65"/>
                <a:gd name="T6" fmla="*/ 66 w 85"/>
                <a:gd name="T7" fmla="*/ 0 h 65"/>
                <a:gd name="T8" fmla="*/ 66 w 85"/>
                <a:gd name="T9" fmla="*/ 0 h 65"/>
                <a:gd name="T10" fmla="*/ 62 w 85"/>
                <a:gd name="T11" fmla="*/ 0 h 65"/>
                <a:gd name="T12" fmla="*/ 60 w 85"/>
                <a:gd name="T13" fmla="*/ 3 h 65"/>
                <a:gd name="T14" fmla="*/ 60 w 85"/>
                <a:gd name="T15" fmla="*/ 8 h 65"/>
                <a:gd name="T16" fmla="*/ 62 w 85"/>
                <a:gd name="T17" fmla="*/ 11 h 65"/>
                <a:gd name="T18" fmla="*/ 66 w 85"/>
                <a:gd name="T19" fmla="*/ 11 h 65"/>
                <a:gd name="T20" fmla="*/ 66 w 85"/>
                <a:gd name="T21" fmla="*/ 11 h 65"/>
                <a:gd name="T22" fmla="*/ 67 w 85"/>
                <a:gd name="T23" fmla="*/ 11 h 65"/>
                <a:gd name="T24" fmla="*/ 75 w 85"/>
                <a:gd name="T25" fmla="*/ 11 h 65"/>
                <a:gd name="T26" fmla="*/ 75 w 85"/>
                <a:gd name="T27" fmla="*/ 31 h 65"/>
                <a:gd name="T28" fmla="*/ 75 w 85"/>
                <a:gd name="T29" fmla="*/ 32 h 65"/>
                <a:gd name="T30" fmla="*/ 75 w 85"/>
                <a:gd name="T31" fmla="*/ 55 h 65"/>
                <a:gd name="T32" fmla="*/ 57 w 85"/>
                <a:gd name="T33" fmla="*/ 55 h 65"/>
                <a:gd name="T34" fmla="*/ 51 w 85"/>
                <a:gd name="T35" fmla="*/ 55 h 65"/>
                <a:gd name="T36" fmla="*/ 35 w 85"/>
                <a:gd name="T37" fmla="*/ 55 h 65"/>
                <a:gd name="T38" fmla="*/ 28 w 85"/>
                <a:gd name="T39" fmla="*/ 55 h 65"/>
                <a:gd name="T40" fmla="*/ 11 w 85"/>
                <a:gd name="T41" fmla="*/ 55 h 65"/>
                <a:gd name="T42" fmla="*/ 11 w 85"/>
                <a:gd name="T43" fmla="*/ 31 h 65"/>
                <a:gd name="T44" fmla="*/ 11 w 85"/>
                <a:gd name="T45" fmla="*/ 31 h 65"/>
                <a:gd name="T46" fmla="*/ 11 w 85"/>
                <a:gd name="T47" fmla="*/ 11 h 65"/>
                <a:gd name="T48" fmla="*/ 19 w 85"/>
                <a:gd name="T49" fmla="*/ 11 h 65"/>
                <a:gd name="T50" fmla="*/ 23 w 85"/>
                <a:gd name="T51" fmla="*/ 11 h 65"/>
                <a:gd name="T52" fmla="*/ 25 w 85"/>
                <a:gd name="T53" fmla="*/ 8 h 65"/>
                <a:gd name="T54" fmla="*/ 25 w 85"/>
                <a:gd name="T55" fmla="*/ 3 h 65"/>
                <a:gd name="T56" fmla="*/ 23 w 85"/>
                <a:gd name="T57" fmla="*/ 0 h 65"/>
                <a:gd name="T58" fmla="*/ 19 w 85"/>
                <a:gd name="T59" fmla="*/ 0 h 65"/>
                <a:gd name="T60" fmla="*/ 0 w 85"/>
                <a:gd name="T61" fmla="*/ 0 h 65"/>
                <a:gd name="T62" fmla="*/ 0 w 85"/>
                <a:gd name="T63" fmla="*/ 5 h 65"/>
                <a:gd name="T64" fmla="*/ 0 w 85"/>
                <a:gd name="T65" fmla="*/ 5 h 65"/>
                <a:gd name="T66" fmla="*/ 0 w 85"/>
                <a:gd name="T67" fmla="*/ 32 h 65"/>
                <a:gd name="T68" fmla="*/ 0 w 85"/>
                <a:gd name="T69" fmla="*/ 32 h 65"/>
                <a:gd name="T70" fmla="*/ 0 w 85"/>
                <a:gd name="T71" fmla="*/ 55 h 65"/>
                <a:gd name="T72" fmla="*/ 0 w 85"/>
                <a:gd name="T73" fmla="*/ 57 h 65"/>
                <a:gd name="T74" fmla="*/ 0 w 85"/>
                <a:gd name="T75" fmla="*/ 63 h 65"/>
                <a:gd name="T76" fmla="*/ 0 w 85"/>
                <a:gd name="T77" fmla="*/ 65 h 65"/>
                <a:gd name="T78" fmla="*/ 28 w 85"/>
                <a:gd name="T79" fmla="*/ 65 h 65"/>
                <a:gd name="T80" fmla="*/ 34 w 85"/>
                <a:gd name="T81" fmla="*/ 65 h 65"/>
                <a:gd name="T82" fmla="*/ 35 w 85"/>
                <a:gd name="T83" fmla="*/ 65 h 65"/>
                <a:gd name="T84" fmla="*/ 51 w 85"/>
                <a:gd name="T85" fmla="*/ 65 h 65"/>
                <a:gd name="T86" fmla="*/ 51 w 85"/>
                <a:gd name="T87" fmla="*/ 65 h 65"/>
                <a:gd name="T88" fmla="*/ 57 w 85"/>
                <a:gd name="T89" fmla="*/ 65 h 65"/>
                <a:gd name="T90" fmla="*/ 85 w 85"/>
                <a:gd name="T91" fmla="*/ 65 h 65"/>
                <a:gd name="T92" fmla="*/ 85 w 85"/>
                <a:gd name="T93" fmla="*/ 63 h 65"/>
                <a:gd name="T94" fmla="*/ 85 w 85"/>
                <a:gd name="T95" fmla="*/ 57 h 65"/>
                <a:gd name="T96" fmla="*/ 85 w 85"/>
                <a:gd name="T97" fmla="*/ 55 h 65"/>
                <a:gd name="T98" fmla="*/ 85 w 85"/>
                <a:gd name="T99" fmla="*/ 32 h 65"/>
                <a:gd name="T100" fmla="*/ 85 w 85"/>
                <a:gd name="T101" fmla="*/ 31 h 65"/>
                <a:gd name="T102" fmla="*/ 85 w 85"/>
                <a:gd name="T103" fmla="*/ 31 h 65"/>
                <a:gd name="T104" fmla="*/ 85 w 85"/>
                <a:gd name="T105" fmla="*/ 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5" h="65">
                  <a:moveTo>
                    <a:pt x="85" y="5"/>
                  </a:moveTo>
                  <a:cubicBezTo>
                    <a:pt x="85" y="0"/>
                    <a:pt x="85" y="0"/>
                    <a:pt x="85" y="0"/>
                  </a:cubicBezTo>
                  <a:cubicBezTo>
                    <a:pt x="67" y="0"/>
                    <a:pt x="67" y="0"/>
                    <a:pt x="67" y="0"/>
                  </a:cubicBezTo>
                  <a:cubicBezTo>
                    <a:pt x="66" y="0"/>
                    <a:pt x="66" y="0"/>
                    <a:pt x="66" y="0"/>
                  </a:cubicBezTo>
                  <a:cubicBezTo>
                    <a:pt x="66" y="0"/>
                    <a:pt x="66" y="0"/>
                    <a:pt x="66" y="0"/>
                  </a:cubicBezTo>
                  <a:cubicBezTo>
                    <a:pt x="62" y="0"/>
                    <a:pt x="62" y="0"/>
                    <a:pt x="62" y="0"/>
                  </a:cubicBezTo>
                  <a:cubicBezTo>
                    <a:pt x="61" y="0"/>
                    <a:pt x="60" y="1"/>
                    <a:pt x="60" y="3"/>
                  </a:cubicBezTo>
                  <a:cubicBezTo>
                    <a:pt x="60" y="8"/>
                    <a:pt x="60" y="8"/>
                    <a:pt x="60" y="8"/>
                  </a:cubicBezTo>
                  <a:cubicBezTo>
                    <a:pt x="60" y="10"/>
                    <a:pt x="61" y="11"/>
                    <a:pt x="62" y="11"/>
                  </a:cubicBezTo>
                  <a:cubicBezTo>
                    <a:pt x="66" y="11"/>
                    <a:pt x="66" y="11"/>
                    <a:pt x="66" y="11"/>
                  </a:cubicBezTo>
                  <a:cubicBezTo>
                    <a:pt x="66" y="11"/>
                    <a:pt x="66" y="11"/>
                    <a:pt x="66" y="11"/>
                  </a:cubicBezTo>
                  <a:cubicBezTo>
                    <a:pt x="66" y="11"/>
                    <a:pt x="66" y="11"/>
                    <a:pt x="67" y="11"/>
                  </a:cubicBezTo>
                  <a:cubicBezTo>
                    <a:pt x="75" y="11"/>
                    <a:pt x="75" y="11"/>
                    <a:pt x="75" y="11"/>
                  </a:cubicBezTo>
                  <a:cubicBezTo>
                    <a:pt x="75" y="31"/>
                    <a:pt x="75" y="31"/>
                    <a:pt x="75" y="31"/>
                  </a:cubicBezTo>
                  <a:cubicBezTo>
                    <a:pt x="75" y="32"/>
                    <a:pt x="75" y="32"/>
                    <a:pt x="75" y="32"/>
                  </a:cubicBezTo>
                  <a:cubicBezTo>
                    <a:pt x="75" y="55"/>
                    <a:pt x="75" y="55"/>
                    <a:pt x="75" y="55"/>
                  </a:cubicBezTo>
                  <a:cubicBezTo>
                    <a:pt x="57" y="55"/>
                    <a:pt x="57" y="55"/>
                    <a:pt x="57" y="55"/>
                  </a:cubicBezTo>
                  <a:cubicBezTo>
                    <a:pt x="51" y="55"/>
                    <a:pt x="51" y="55"/>
                    <a:pt x="51" y="55"/>
                  </a:cubicBezTo>
                  <a:cubicBezTo>
                    <a:pt x="35" y="55"/>
                    <a:pt x="35" y="55"/>
                    <a:pt x="35" y="55"/>
                  </a:cubicBezTo>
                  <a:cubicBezTo>
                    <a:pt x="28" y="55"/>
                    <a:pt x="28" y="55"/>
                    <a:pt x="28" y="55"/>
                  </a:cubicBezTo>
                  <a:cubicBezTo>
                    <a:pt x="11" y="55"/>
                    <a:pt x="11" y="55"/>
                    <a:pt x="11" y="55"/>
                  </a:cubicBezTo>
                  <a:cubicBezTo>
                    <a:pt x="11" y="31"/>
                    <a:pt x="11" y="31"/>
                    <a:pt x="11" y="31"/>
                  </a:cubicBezTo>
                  <a:cubicBezTo>
                    <a:pt x="11" y="31"/>
                    <a:pt x="11" y="31"/>
                    <a:pt x="11" y="31"/>
                  </a:cubicBezTo>
                  <a:cubicBezTo>
                    <a:pt x="11" y="11"/>
                    <a:pt x="11" y="11"/>
                    <a:pt x="11" y="11"/>
                  </a:cubicBezTo>
                  <a:cubicBezTo>
                    <a:pt x="19" y="11"/>
                    <a:pt x="19" y="11"/>
                    <a:pt x="19" y="11"/>
                  </a:cubicBezTo>
                  <a:cubicBezTo>
                    <a:pt x="23" y="11"/>
                    <a:pt x="23" y="11"/>
                    <a:pt x="23" y="11"/>
                  </a:cubicBezTo>
                  <a:cubicBezTo>
                    <a:pt x="24" y="11"/>
                    <a:pt x="25" y="10"/>
                    <a:pt x="25" y="8"/>
                  </a:cubicBezTo>
                  <a:cubicBezTo>
                    <a:pt x="25" y="3"/>
                    <a:pt x="25" y="3"/>
                    <a:pt x="25" y="3"/>
                  </a:cubicBezTo>
                  <a:cubicBezTo>
                    <a:pt x="25" y="1"/>
                    <a:pt x="24" y="0"/>
                    <a:pt x="23" y="0"/>
                  </a:cubicBezTo>
                  <a:cubicBezTo>
                    <a:pt x="19" y="0"/>
                    <a:pt x="19" y="0"/>
                    <a:pt x="19" y="0"/>
                  </a:cubicBezTo>
                  <a:cubicBezTo>
                    <a:pt x="0" y="0"/>
                    <a:pt x="0" y="0"/>
                    <a:pt x="0" y="0"/>
                  </a:cubicBezTo>
                  <a:cubicBezTo>
                    <a:pt x="0" y="5"/>
                    <a:pt x="0" y="5"/>
                    <a:pt x="0" y="5"/>
                  </a:cubicBezTo>
                  <a:cubicBezTo>
                    <a:pt x="0" y="5"/>
                    <a:pt x="0" y="5"/>
                    <a:pt x="0" y="5"/>
                  </a:cubicBezTo>
                  <a:cubicBezTo>
                    <a:pt x="0" y="32"/>
                    <a:pt x="0" y="32"/>
                    <a:pt x="0" y="32"/>
                  </a:cubicBezTo>
                  <a:cubicBezTo>
                    <a:pt x="0" y="32"/>
                    <a:pt x="0" y="32"/>
                    <a:pt x="0" y="32"/>
                  </a:cubicBezTo>
                  <a:cubicBezTo>
                    <a:pt x="0" y="55"/>
                    <a:pt x="0" y="55"/>
                    <a:pt x="0" y="55"/>
                  </a:cubicBezTo>
                  <a:cubicBezTo>
                    <a:pt x="0" y="57"/>
                    <a:pt x="0" y="57"/>
                    <a:pt x="0" y="57"/>
                  </a:cubicBezTo>
                  <a:cubicBezTo>
                    <a:pt x="0" y="63"/>
                    <a:pt x="0" y="63"/>
                    <a:pt x="0" y="63"/>
                  </a:cubicBezTo>
                  <a:cubicBezTo>
                    <a:pt x="0" y="65"/>
                    <a:pt x="0" y="65"/>
                    <a:pt x="0" y="65"/>
                  </a:cubicBezTo>
                  <a:cubicBezTo>
                    <a:pt x="28" y="65"/>
                    <a:pt x="28" y="65"/>
                    <a:pt x="28" y="65"/>
                  </a:cubicBezTo>
                  <a:cubicBezTo>
                    <a:pt x="34" y="65"/>
                    <a:pt x="34" y="65"/>
                    <a:pt x="34" y="65"/>
                  </a:cubicBezTo>
                  <a:cubicBezTo>
                    <a:pt x="35" y="65"/>
                    <a:pt x="35" y="65"/>
                    <a:pt x="35" y="65"/>
                  </a:cubicBezTo>
                  <a:cubicBezTo>
                    <a:pt x="51" y="65"/>
                    <a:pt x="51" y="65"/>
                    <a:pt x="51" y="65"/>
                  </a:cubicBezTo>
                  <a:cubicBezTo>
                    <a:pt x="51" y="65"/>
                    <a:pt x="51" y="65"/>
                    <a:pt x="51" y="65"/>
                  </a:cubicBezTo>
                  <a:cubicBezTo>
                    <a:pt x="57" y="65"/>
                    <a:pt x="57" y="65"/>
                    <a:pt x="57" y="65"/>
                  </a:cubicBezTo>
                  <a:cubicBezTo>
                    <a:pt x="85" y="65"/>
                    <a:pt x="85" y="65"/>
                    <a:pt x="85" y="65"/>
                  </a:cubicBezTo>
                  <a:cubicBezTo>
                    <a:pt x="85" y="63"/>
                    <a:pt x="85" y="63"/>
                    <a:pt x="85" y="63"/>
                  </a:cubicBezTo>
                  <a:cubicBezTo>
                    <a:pt x="85" y="57"/>
                    <a:pt x="85" y="57"/>
                    <a:pt x="85" y="57"/>
                  </a:cubicBezTo>
                  <a:cubicBezTo>
                    <a:pt x="85" y="55"/>
                    <a:pt x="85" y="55"/>
                    <a:pt x="85" y="55"/>
                  </a:cubicBezTo>
                  <a:cubicBezTo>
                    <a:pt x="85" y="32"/>
                    <a:pt x="85" y="32"/>
                    <a:pt x="85" y="32"/>
                  </a:cubicBezTo>
                  <a:cubicBezTo>
                    <a:pt x="85" y="31"/>
                    <a:pt x="85" y="31"/>
                    <a:pt x="85" y="31"/>
                  </a:cubicBezTo>
                  <a:cubicBezTo>
                    <a:pt x="85" y="31"/>
                    <a:pt x="85" y="31"/>
                    <a:pt x="85" y="31"/>
                  </a:cubicBezTo>
                  <a:cubicBezTo>
                    <a:pt x="85" y="5"/>
                    <a:pt x="85" y="5"/>
                    <a:pt x="8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6" name="Group 65">
            <a:extLst>
              <a:ext uri="{FF2B5EF4-FFF2-40B4-BE49-F238E27FC236}">
                <a16:creationId xmlns:a16="http://schemas.microsoft.com/office/drawing/2014/main" id="{B58C2EFB-4B76-4DA6-96FE-4E334EEDBEC0}"/>
              </a:ext>
            </a:extLst>
          </p:cNvPr>
          <p:cNvGrpSpPr>
            <a:grpSpLocks noChangeAspect="1"/>
          </p:cNvGrpSpPr>
          <p:nvPr/>
        </p:nvGrpSpPr>
        <p:grpSpPr>
          <a:xfrm>
            <a:off x="6209983" y="2751892"/>
            <a:ext cx="275073" cy="274320"/>
            <a:chOff x="5619750" y="3335338"/>
            <a:chExt cx="581025" cy="579437"/>
          </a:xfrm>
          <a:solidFill>
            <a:srgbClr val="595555"/>
          </a:solidFill>
        </p:grpSpPr>
        <p:sp>
          <p:nvSpPr>
            <p:cNvPr id="67" name="Freeform 87">
              <a:extLst>
                <a:ext uri="{FF2B5EF4-FFF2-40B4-BE49-F238E27FC236}">
                  <a16:creationId xmlns:a16="http://schemas.microsoft.com/office/drawing/2014/main" id="{23857961-4293-4FC3-B221-521C7359301C}"/>
                </a:ext>
              </a:extLst>
            </p:cNvPr>
            <p:cNvSpPr>
              <a:spLocks/>
            </p:cNvSpPr>
            <p:nvPr/>
          </p:nvSpPr>
          <p:spPr bwMode="auto">
            <a:xfrm>
              <a:off x="5749925" y="3335338"/>
              <a:ext cx="320675" cy="463550"/>
            </a:xfrm>
            <a:custGeom>
              <a:avLst/>
              <a:gdLst>
                <a:gd name="T0" fmla="*/ 5 w 47"/>
                <a:gd name="T1" fmla="*/ 30 h 68"/>
                <a:gd name="T2" fmla="*/ 8 w 47"/>
                <a:gd name="T3" fmla="*/ 30 h 68"/>
                <a:gd name="T4" fmla="*/ 18 w 47"/>
                <a:gd name="T5" fmla="*/ 20 h 68"/>
                <a:gd name="T6" fmla="*/ 18 w 47"/>
                <a:gd name="T7" fmla="*/ 66 h 68"/>
                <a:gd name="T8" fmla="*/ 20 w 47"/>
                <a:gd name="T9" fmla="*/ 68 h 68"/>
                <a:gd name="T10" fmla="*/ 27 w 47"/>
                <a:gd name="T11" fmla="*/ 68 h 68"/>
                <a:gd name="T12" fmla="*/ 29 w 47"/>
                <a:gd name="T13" fmla="*/ 66 h 68"/>
                <a:gd name="T14" fmla="*/ 29 w 47"/>
                <a:gd name="T15" fmla="*/ 20 h 68"/>
                <a:gd name="T16" fmla="*/ 39 w 47"/>
                <a:gd name="T17" fmla="*/ 30 h 68"/>
                <a:gd name="T18" fmla="*/ 42 w 47"/>
                <a:gd name="T19" fmla="*/ 30 h 68"/>
                <a:gd name="T20" fmla="*/ 46 w 47"/>
                <a:gd name="T21" fmla="*/ 25 h 68"/>
                <a:gd name="T22" fmla="*/ 46 w 47"/>
                <a:gd name="T23" fmla="*/ 22 h 68"/>
                <a:gd name="T24" fmla="*/ 31 w 47"/>
                <a:gd name="T25" fmla="*/ 7 h 68"/>
                <a:gd name="T26" fmla="*/ 25 w 47"/>
                <a:gd name="T27" fmla="*/ 1 h 68"/>
                <a:gd name="T28" fmla="*/ 22 w 47"/>
                <a:gd name="T29" fmla="*/ 1 h 68"/>
                <a:gd name="T30" fmla="*/ 16 w 47"/>
                <a:gd name="T31" fmla="*/ 7 h 68"/>
                <a:gd name="T32" fmla="*/ 1 w 47"/>
                <a:gd name="T33" fmla="*/ 22 h 68"/>
                <a:gd name="T34" fmla="*/ 1 w 47"/>
                <a:gd name="T35" fmla="*/ 25 h 68"/>
                <a:gd name="T36" fmla="*/ 5 w 47"/>
                <a:gd name="T37" fmla="*/ 3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68">
                  <a:moveTo>
                    <a:pt x="5" y="30"/>
                  </a:moveTo>
                  <a:cubicBezTo>
                    <a:pt x="6" y="30"/>
                    <a:pt x="7" y="30"/>
                    <a:pt x="8" y="30"/>
                  </a:cubicBezTo>
                  <a:cubicBezTo>
                    <a:pt x="18" y="20"/>
                    <a:pt x="18" y="20"/>
                    <a:pt x="18" y="20"/>
                  </a:cubicBezTo>
                  <a:cubicBezTo>
                    <a:pt x="18" y="66"/>
                    <a:pt x="18" y="66"/>
                    <a:pt x="18" y="66"/>
                  </a:cubicBezTo>
                  <a:cubicBezTo>
                    <a:pt x="18" y="67"/>
                    <a:pt x="19" y="68"/>
                    <a:pt x="20" y="68"/>
                  </a:cubicBezTo>
                  <a:cubicBezTo>
                    <a:pt x="27" y="68"/>
                    <a:pt x="27" y="68"/>
                    <a:pt x="27" y="68"/>
                  </a:cubicBezTo>
                  <a:cubicBezTo>
                    <a:pt x="28" y="68"/>
                    <a:pt x="29" y="67"/>
                    <a:pt x="29" y="66"/>
                  </a:cubicBezTo>
                  <a:cubicBezTo>
                    <a:pt x="29" y="20"/>
                    <a:pt x="29" y="20"/>
                    <a:pt x="29" y="20"/>
                  </a:cubicBezTo>
                  <a:cubicBezTo>
                    <a:pt x="39" y="30"/>
                    <a:pt x="39" y="30"/>
                    <a:pt x="39" y="30"/>
                  </a:cubicBezTo>
                  <a:cubicBezTo>
                    <a:pt x="40" y="30"/>
                    <a:pt x="41" y="30"/>
                    <a:pt x="42" y="30"/>
                  </a:cubicBezTo>
                  <a:cubicBezTo>
                    <a:pt x="46" y="25"/>
                    <a:pt x="46" y="25"/>
                    <a:pt x="46" y="25"/>
                  </a:cubicBezTo>
                  <a:cubicBezTo>
                    <a:pt x="47" y="24"/>
                    <a:pt x="47" y="23"/>
                    <a:pt x="46" y="22"/>
                  </a:cubicBezTo>
                  <a:cubicBezTo>
                    <a:pt x="31" y="7"/>
                    <a:pt x="31" y="7"/>
                    <a:pt x="31" y="7"/>
                  </a:cubicBezTo>
                  <a:cubicBezTo>
                    <a:pt x="25" y="1"/>
                    <a:pt x="25" y="1"/>
                    <a:pt x="25" y="1"/>
                  </a:cubicBezTo>
                  <a:cubicBezTo>
                    <a:pt x="24" y="0"/>
                    <a:pt x="23" y="0"/>
                    <a:pt x="22" y="1"/>
                  </a:cubicBezTo>
                  <a:cubicBezTo>
                    <a:pt x="16" y="7"/>
                    <a:pt x="16" y="7"/>
                    <a:pt x="16" y="7"/>
                  </a:cubicBezTo>
                  <a:cubicBezTo>
                    <a:pt x="1" y="22"/>
                    <a:pt x="1" y="22"/>
                    <a:pt x="1" y="22"/>
                  </a:cubicBezTo>
                  <a:cubicBezTo>
                    <a:pt x="0" y="23"/>
                    <a:pt x="0" y="24"/>
                    <a:pt x="1" y="25"/>
                  </a:cubicBezTo>
                  <a:lnTo>
                    <a:pt x="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8" name="Freeform 88">
              <a:extLst>
                <a:ext uri="{FF2B5EF4-FFF2-40B4-BE49-F238E27FC236}">
                  <a16:creationId xmlns:a16="http://schemas.microsoft.com/office/drawing/2014/main" id="{BD06F8BF-0DDC-4C89-8C51-2EA06B43ADC2}"/>
                </a:ext>
              </a:extLst>
            </p:cNvPr>
            <p:cNvSpPr>
              <a:spLocks/>
            </p:cNvSpPr>
            <p:nvPr/>
          </p:nvSpPr>
          <p:spPr bwMode="auto">
            <a:xfrm>
              <a:off x="5619750" y="3581400"/>
              <a:ext cx="581025" cy="333375"/>
            </a:xfrm>
            <a:custGeom>
              <a:avLst/>
              <a:gdLst>
                <a:gd name="T0" fmla="*/ 85 w 85"/>
                <a:gd name="T1" fmla="*/ 5 h 49"/>
                <a:gd name="T2" fmla="*/ 85 w 85"/>
                <a:gd name="T3" fmla="*/ 0 h 49"/>
                <a:gd name="T4" fmla="*/ 67 w 85"/>
                <a:gd name="T5" fmla="*/ 0 h 49"/>
                <a:gd name="T6" fmla="*/ 66 w 85"/>
                <a:gd name="T7" fmla="*/ 0 h 49"/>
                <a:gd name="T8" fmla="*/ 66 w 85"/>
                <a:gd name="T9" fmla="*/ 0 h 49"/>
                <a:gd name="T10" fmla="*/ 62 w 85"/>
                <a:gd name="T11" fmla="*/ 0 h 49"/>
                <a:gd name="T12" fmla="*/ 60 w 85"/>
                <a:gd name="T13" fmla="*/ 3 h 49"/>
                <a:gd name="T14" fmla="*/ 60 w 85"/>
                <a:gd name="T15" fmla="*/ 8 h 49"/>
                <a:gd name="T16" fmla="*/ 62 w 85"/>
                <a:gd name="T17" fmla="*/ 11 h 49"/>
                <a:gd name="T18" fmla="*/ 66 w 85"/>
                <a:gd name="T19" fmla="*/ 11 h 49"/>
                <a:gd name="T20" fmla="*/ 66 w 85"/>
                <a:gd name="T21" fmla="*/ 11 h 49"/>
                <a:gd name="T22" fmla="*/ 67 w 85"/>
                <a:gd name="T23" fmla="*/ 11 h 49"/>
                <a:gd name="T24" fmla="*/ 75 w 85"/>
                <a:gd name="T25" fmla="*/ 11 h 49"/>
                <a:gd name="T26" fmla="*/ 75 w 85"/>
                <a:gd name="T27" fmla="*/ 21 h 49"/>
                <a:gd name="T28" fmla="*/ 75 w 85"/>
                <a:gd name="T29" fmla="*/ 31 h 49"/>
                <a:gd name="T30" fmla="*/ 75 w 85"/>
                <a:gd name="T31" fmla="*/ 32 h 49"/>
                <a:gd name="T32" fmla="*/ 75 w 85"/>
                <a:gd name="T33" fmla="*/ 37 h 49"/>
                <a:gd name="T34" fmla="*/ 75 w 85"/>
                <a:gd name="T35" fmla="*/ 39 h 49"/>
                <a:gd name="T36" fmla="*/ 57 w 85"/>
                <a:gd name="T37" fmla="*/ 39 h 49"/>
                <a:gd name="T38" fmla="*/ 51 w 85"/>
                <a:gd name="T39" fmla="*/ 39 h 49"/>
                <a:gd name="T40" fmla="*/ 35 w 85"/>
                <a:gd name="T41" fmla="*/ 39 h 49"/>
                <a:gd name="T42" fmla="*/ 28 w 85"/>
                <a:gd name="T43" fmla="*/ 39 h 49"/>
                <a:gd name="T44" fmla="*/ 11 w 85"/>
                <a:gd name="T45" fmla="*/ 39 h 49"/>
                <a:gd name="T46" fmla="*/ 11 w 85"/>
                <a:gd name="T47" fmla="*/ 33 h 49"/>
                <a:gd name="T48" fmla="*/ 11 w 85"/>
                <a:gd name="T49" fmla="*/ 31 h 49"/>
                <a:gd name="T50" fmla="*/ 11 w 85"/>
                <a:gd name="T51" fmla="*/ 17 h 49"/>
                <a:gd name="T52" fmla="*/ 11 w 85"/>
                <a:gd name="T53" fmla="*/ 17 h 49"/>
                <a:gd name="T54" fmla="*/ 11 w 85"/>
                <a:gd name="T55" fmla="*/ 11 h 49"/>
                <a:gd name="T56" fmla="*/ 19 w 85"/>
                <a:gd name="T57" fmla="*/ 11 h 49"/>
                <a:gd name="T58" fmla="*/ 23 w 85"/>
                <a:gd name="T59" fmla="*/ 11 h 49"/>
                <a:gd name="T60" fmla="*/ 25 w 85"/>
                <a:gd name="T61" fmla="*/ 8 h 49"/>
                <a:gd name="T62" fmla="*/ 25 w 85"/>
                <a:gd name="T63" fmla="*/ 3 h 49"/>
                <a:gd name="T64" fmla="*/ 23 w 85"/>
                <a:gd name="T65" fmla="*/ 0 h 49"/>
                <a:gd name="T66" fmla="*/ 19 w 85"/>
                <a:gd name="T67" fmla="*/ 0 h 49"/>
                <a:gd name="T68" fmla="*/ 0 w 85"/>
                <a:gd name="T69" fmla="*/ 0 h 49"/>
                <a:gd name="T70" fmla="*/ 0 w 85"/>
                <a:gd name="T71" fmla="*/ 5 h 49"/>
                <a:gd name="T72" fmla="*/ 0 w 85"/>
                <a:gd name="T73" fmla="*/ 5 h 49"/>
                <a:gd name="T74" fmla="*/ 0 w 85"/>
                <a:gd name="T75" fmla="*/ 32 h 49"/>
                <a:gd name="T76" fmla="*/ 0 w 85"/>
                <a:gd name="T77" fmla="*/ 32 h 49"/>
                <a:gd name="T78" fmla="*/ 0 w 85"/>
                <a:gd name="T79" fmla="*/ 33 h 49"/>
                <a:gd name="T80" fmla="*/ 0 w 85"/>
                <a:gd name="T81" fmla="*/ 39 h 49"/>
                <a:gd name="T82" fmla="*/ 0 w 85"/>
                <a:gd name="T83" fmla="*/ 41 h 49"/>
                <a:gd name="T84" fmla="*/ 0 w 85"/>
                <a:gd name="T85" fmla="*/ 47 h 49"/>
                <a:gd name="T86" fmla="*/ 0 w 85"/>
                <a:gd name="T87" fmla="*/ 49 h 49"/>
                <a:gd name="T88" fmla="*/ 28 w 85"/>
                <a:gd name="T89" fmla="*/ 49 h 49"/>
                <a:gd name="T90" fmla="*/ 34 w 85"/>
                <a:gd name="T91" fmla="*/ 49 h 49"/>
                <a:gd name="T92" fmla="*/ 35 w 85"/>
                <a:gd name="T93" fmla="*/ 49 h 49"/>
                <a:gd name="T94" fmla="*/ 51 w 85"/>
                <a:gd name="T95" fmla="*/ 49 h 49"/>
                <a:gd name="T96" fmla="*/ 51 w 85"/>
                <a:gd name="T97" fmla="*/ 49 h 49"/>
                <a:gd name="T98" fmla="*/ 57 w 85"/>
                <a:gd name="T99" fmla="*/ 49 h 49"/>
                <a:gd name="T100" fmla="*/ 85 w 85"/>
                <a:gd name="T101" fmla="*/ 49 h 49"/>
                <a:gd name="T102" fmla="*/ 85 w 85"/>
                <a:gd name="T103" fmla="*/ 47 h 49"/>
                <a:gd name="T104" fmla="*/ 85 w 85"/>
                <a:gd name="T105" fmla="*/ 41 h 49"/>
                <a:gd name="T106" fmla="*/ 85 w 85"/>
                <a:gd name="T107" fmla="*/ 39 h 49"/>
                <a:gd name="T108" fmla="*/ 85 w 85"/>
                <a:gd name="T109" fmla="*/ 37 h 49"/>
                <a:gd name="T110" fmla="*/ 85 w 85"/>
                <a:gd name="T111" fmla="*/ 32 h 49"/>
                <a:gd name="T112" fmla="*/ 85 w 85"/>
                <a:gd name="T113" fmla="*/ 31 h 49"/>
                <a:gd name="T114" fmla="*/ 85 w 85"/>
                <a:gd name="T115" fmla="*/ 31 h 49"/>
                <a:gd name="T116" fmla="*/ 85 w 85"/>
                <a:gd name="T117" fmla="*/ 21 h 49"/>
                <a:gd name="T118" fmla="*/ 85 w 85"/>
                <a:gd name="T119" fmla="*/ 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5" h="49">
                  <a:moveTo>
                    <a:pt x="85" y="5"/>
                  </a:moveTo>
                  <a:cubicBezTo>
                    <a:pt x="85" y="0"/>
                    <a:pt x="85" y="0"/>
                    <a:pt x="85" y="0"/>
                  </a:cubicBezTo>
                  <a:cubicBezTo>
                    <a:pt x="67" y="0"/>
                    <a:pt x="67" y="0"/>
                    <a:pt x="67" y="0"/>
                  </a:cubicBezTo>
                  <a:cubicBezTo>
                    <a:pt x="66" y="0"/>
                    <a:pt x="66" y="0"/>
                    <a:pt x="66" y="0"/>
                  </a:cubicBezTo>
                  <a:cubicBezTo>
                    <a:pt x="66" y="0"/>
                    <a:pt x="66" y="0"/>
                    <a:pt x="66" y="0"/>
                  </a:cubicBezTo>
                  <a:cubicBezTo>
                    <a:pt x="62" y="0"/>
                    <a:pt x="62" y="0"/>
                    <a:pt x="62" y="0"/>
                  </a:cubicBezTo>
                  <a:cubicBezTo>
                    <a:pt x="61" y="0"/>
                    <a:pt x="60" y="1"/>
                    <a:pt x="60" y="3"/>
                  </a:cubicBezTo>
                  <a:cubicBezTo>
                    <a:pt x="60" y="8"/>
                    <a:pt x="60" y="8"/>
                    <a:pt x="60" y="8"/>
                  </a:cubicBezTo>
                  <a:cubicBezTo>
                    <a:pt x="60" y="10"/>
                    <a:pt x="61" y="11"/>
                    <a:pt x="62" y="11"/>
                  </a:cubicBezTo>
                  <a:cubicBezTo>
                    <a:pt x="66" y="11"/>
                    <a:pt x="66" y="11"/>
                    <a:pt x="66" y="11"/>
                  </a:cubicBezTo>
                  <a:cubicBezTo>
                    <a:pt x="66" y="11"/>
                    <a:pt x="66" y="11"/>
                    <a:pt x="66" y="11"/>
                  </a:cubicBezTo>
                  <a:cubicBezTo>
                    <a:pt x="66" y="11"/>
                    <a:pt x="66" y="11"/>
                    <a:pt x="67" y="11"/>
                  </a:cubicBezTo>
                  <a:cubicBezTo>
                    <a:pt x="75" y="11"/>
                    <a:pt x="75" y="11"/>
                    <a:pt x="75" y="11"/>
                  </a:cubicBezTo>
                  <a:cubicBezTo>
                    <a:pt x="75" y="21"/>
                    <a:pt x="75" y="21"/>
                    <a:pt x="75" y="21"/>
                  </a:cubicBezTo>
                  <a:cubicBezTo>
                    <a:pt x="75" y="31"/>
                    <a:pt x="75" y="31"/>
                    <a:pt x="75" y="31"/>
                  </a:cubicBezTo>
                  <a:cubicBezTo>
                    <a:pt x="75" y="32"/>
                    <a:pt x="75" y="32"/>
                    <a:pt x="75" y="32"/>
                  </a:cubicBezTo>
                  <a:cubicBezTo>
                    <a:pt x="75" y="37"/>
                    <a:pt x="75" y="37"/>
                    <a:pt x="75" y="37"/>
                  </a:cubicBezTo>
                  <a:cubicBezTo>
                    <a:pt x="75" y="39"/>
                    <a:pt x="75" y="39"/>
                    <a:pt x="75" y="39"/>
                  </a:cubicBezTo>
                  <a:cubicBezTo>
                    <a:pt x="57" y="39"/>
                    <a:pt x="57" y="39"/>
                    <a:pt x="57" y="39"/>
                  </a:cubicBezTo>
                  <a:cubicBezTo>
                    <a:pt x="51" y="39"/>
                    <a:pt x="51" y="39"/>
                    <a:pt x="51" y="39"/>
                  </a:cubicBezTo>
                  <a:cubicBezTo>
                    <a:pt x="35" y="39"/>
                    <a:pt x="35" y="39"/>
                    <a:pt x="35" y="39"/>
                  </a:cubicBezTo>
                  <a:cubicBezTo>
                    <a:pt x="28" y="39"/>
                    <a:pt x="28" y="39"/>
                    <a:pt x="28" y="39"/>
                  </a:cubicBezTo>
                  <a:cubicBezTo>
                    <a:pt x="11" y="39"/>
                    <a:pt x="11" y="39"/>
                    <a:pt x="11" y="39"/>
                  </a:cubicBezTo>
                  <a:cubicBezTo>
                    <a:pt x="11" y="33"/>
                    <a:pt x="11" y="33"/>
                    <a:pt x="11" y="33"/>
                  </a:cubicBezTo>
                  <a:cubicBezTo>
                    <a:pt x="11" y="31"/>
                    <a:pt x="11" y="31"/>
                    <a:pt x="11" y="31"/>
                  </a:cubicBezTo>
                  <a:cubicBezTo>
                    <a:pt x="11" y="17"/>
                    <a:pt x="11" y="17"/>
                    <a:pt x="11" y="17"/>
                  </a:cubicBezTo>
                  <a:cubicBezTo>
                    <a:pt x="11" y="17"/>
                    <a:pt x="11" y="17"/>
                    <a:pt x="11" y="17"/>
                  </a:cubicBezTo>
                  <a:cubicBezTo>
                    <a:pt x="11" y="11"/>
                    <a:pt x="11" y="11"/>
                    <a:pt x="11" y="11"/>
                  </a:cubicBezTo>
                  <a:cubicBezTo>
                    <a:pt x="19" y="11"/>
                    <a:pt x="19" y="11"/>
                    <a:pt x="19" y="11"/>
                  </a:cubicBezTo>
                  <a:cubicBezTo>
                    <a:pt x="23" y="11"/>
                    <a:pt x="23" y="11"/>
                    <a:pt x="23" y="11"/>
                  </a:cubicBezTo>
                  <a:cubicBezTo>
                    <a:pt x="24" y="11"/>
                    <a:pt x="25" y="10"/>
                    <a:pt x="25" y="8"/>
                  </a:cubicBezTo>
                  <a:cubicBezTo>
                    <a:pt x="25" y="3"/>
                    <a:pt x="25" y="3"/>
                    <a:pt x="25" y="3"/>
                  </a:cubicBezTo>
                  <a:cubicBezTo>
                    <a:pt x="25" y="1"/>
                    <a:pt x="24" y="0"/>
                    <a:pt x="23" y="0"/>
                  </a:cubicBezTo>
                  <a:cubicBezTo>
                    <a:pt x="19" y="0"/>
                    <a:pt x="19" y="0"/>
                    <a:pt x="19" y="0"/>
                  </a:cubicBezTo>
                  <a:cubicBezTo>
                    <a:pt x="0" y="0"/>
                    <a:pt x="0" y="0"/>
                    <a:pt x="0" y="0"/>
                  </a:cubicBezTo>
                  <a:cubicBezTo>
                    <a:pt x="0" y="5"/>
                    <a:pt x="0" y="5"/>
                    <a:pt x="0" y="5"/>
                  </a:cubicBezTo>
                  <a:cubicBezTo>
                    <a:pt x="0" y="5"/>
                    <a:pt x="0" y="5"/>
                    <a:pt x="0" y="5"/>
                  </a:cubicBezTo>
                  <a:cubicBezTo>
                    <a:pt x="0" y="32"/>
                    <a:pt x="0" y="32"/>
                    <a:pt x="0" y="32"/>
                  </a:cubicBezTo>
                  <a:cubicBezTo>
                    <a:pt x="0" y="32"/>
                    <a:pt x="0" y="32"/>
                    <a:pt x="0" y="32"/>
                  </a:cubicBezTo>
                  <a:cubicBezTo>
                    <a:pt x="0" y="33"/>
                    <a:pt x="0" y="33"/>
                    <a:pt x="0" y="33"/>
                  </a:cubicBezTo>
                  <a:cubicBezTo>
                    <a:pt x="0" y="39"/>
                    <a:pt x="0" y="39"/>
                    <a:pt x="0" y="39"/>
                  </a:cubicBezTo>
                  <a:cubicBezTo>
                    <a:pt x="0" y="41"/>
                    <a:pt x="0" y="41"/>
                    <a:pt x="0" y="41"/>
                  </a:cubicBezTo>
                  <a:cubicBezTo>
                    <a:pt x="0" y="47"/>
                    <a:pt x="0" y="47"/>
                    <a:pt x="0" y="47"/>
                  </a:cubicBezTo>
                  <a:cubicBezTo>
                    <a:pt x="0" y="49"/>
                    <a:pt x="0" y="49"/>
                    <a:pt x="0" y="49"/>
                  </a:cubicBezTo>
                  <a:cubicBezTo>
                    <a:pt x="28" y="49"/>
                    <a:pt x="28" y="49"/>
                    <a:pt x="28" y="49"/>
                  </a:cubicBezTo>
                  <a:cubicBezTo>
                    <a:pt x="34" y="49"/>
                    <a:pt x="34" y="49"/>
                    <a:pt x="34" y="49"/>
                  </a:cubicBezTo>
                  <a:cubicBezTo>
                    <a:pt x="35" y="49"/>
                    <a:pt x="35" y="49"/>
                    <a:pt x="35" y="49"/>
                  </a:cubicBezTo>
                  <a:cubicBezTo>
                    <a:pt x="51" y="49"/>
                    <a:pt x="51" y="49"/>
                    <a:pt x="51" y="49"/>
                  </a:cubicBezTo>
                  <a:cubicBezTo>
                    <a:pt x="51" y="49"/>
                    <a:pt x="51" y="49"/>
                    <a:pt x="51" y="49"/>
                  </a:cubicBezTo>
                  <a:cubicBezTo>
                    <a:pt x="57" y="49"/>
                    <a:pt x="57" y="49"/>
                    <a:pt x="57" y="49"/>
                  </a:cubicBezTo>
                  <a:cubicBezTo>
                    <a:pt x="85" y="49"/>
                    <a:pt x="85" y="49"/>
                    <a:pt x="85" y="49"/>
                  </a:cubicBezTo>
                  <a:cubicBezTo>
                    <a:pt x="85" y="47"/>
                    <a:pt x="85" y="47"/>
                    <a:pt x="85" y="47"/>
                  </a:cubicBezTo>
                  <a:cubicBezTo>
                    <a:pt x="85" y="41"/>
                    <a:pt x="85" y="41"/>
                    <a:pt x="85" y="41"/>
                  </a:cubicBezTo>
                  <a:cubicBezTo>
                    <a:pt x="85" y="39"/>
                    <a:pt x="85" y="39"/>
                    <a:pt x="85" y="39"/>
                  </a:cubicBezTo>
                  <a:cubicBezTo>
                    <a:pt x="85" y="37"/>
                    <a:pt x="85" y="37"/>
                    <a:pt x="85" y="37"/>
                  </a:cubicBezTo>
                  <a:cubicBezTo>
                    <a:pt x="85" y="32"/>
                    <a:pt x="85" y="32"/>
                    <a:pt x="85" y="32"/>
                  </a:cubicBezTo>
                  <a:cubicBezTo>
                    <a:pt x="85" y="31"/>
                    <a:pt x="85" y="31"/>
                    <a:pt x="85" y="31"/>
                  </a:cubicBezTo>
                  <a:cubicBezTo>
                    <a:pt x="85" y="31"/>
                    <a:pt x="85" y="31"/>
                    <a:pt x="85" y="31"/>
                  </a:cubicBezTo>
                  <a:cubicBezTo>
                    <a:pt x="85" y="21"/>
                    <a:pt x="85" y="21"/>
                    <a:pt x="85" y="21"/>
                  </a:cubicBezTo>
                  <a:cubicBezTo>
                    <a:pt x="85" y="5"/>
                    <a:pt x="85" y="5"/>
                    <a:pt x="8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9" name="Group 68">
            <a:extLst>
              <a:ext uri="{FF2B5EF4-FFF2-40B4-BE49-F238E27FC236}">
                <a16:creationId xmlns:a16="http://schemas.microsoft.com/office/drawing/2014/main" id="{1E138549-48C0-42AA-8FDC-246BE2E41146}"/>
              </a:ext>
            </a:extLst>
          </p:cNvPr>
          <p:cNvGrpSpPr>
            <a:grpSpLocks noChangeAspect="1"/>
          </p:cNvGrpSpPr>
          <p:nvPr/>
        </p:nvGrpSpPr>
        <p:grpSpPr>
          <a:xfrm>
            <a:off x="7133351" y="2826604"/>
            <a:ext cx="348873" cy="274320"/>
            <a:chOff x="6384925" y="3397250"/>
            <a:chExt cx="579438" cy="455613"/>
          </a:xfrm>
          <a:solidFill>
            <a:srgbClr val="595555"/>
          </a:solidFill>
        </p:grpSpPr>
        <p:sp>
          <p:nvSpPr>
            <p:cNvPr id="70" name="Freeform 89">
              <a:extLst>
                <a:ext uri="{FF2B5EF4-FFF2-40B4-BE49-F238E27FC236}">
                  <a16:creationId xmlns:a16="http://schemas.microsoft.com/office/drawing/2014/main" id="{168965CA-18C5-4688-810B-1D70F0B3DD0E}"/>
                </a:ext>
              </a:extLst>
            </p:cNvPr>
            <p:cNvSpPr>
              <a:spLocks/>
            </p:cNvSpPr>
            <p:nvPr/>
          </p:nvSpPr>
          <p:spPr bwMode="auto">
            <a:xfrm>
              <a:off x="6384925" y="3397250"/>
              <a:ext cx="579438" cy="95250"/>
            </a:xfrm>
            <a:custGeom>
              <a:avLst/>
              <a:gdLst>
                <a:gd name="T0" fmla="*/ 0 w 85"/>
                <a:gd name="T1" fmla="*/ 3 h 14"/>
                <a:gd name="T2" fmla="*/ 0 w 85"/>
                <a:gd name="T3" fmla="*/ 11 h 14"/>
                <a:gd name="T4" fmla="*/ 3 w 85"/>
                <a:gd name="T5" fmla="*/ 14 h 14"/>
                <a:gd name="T6" fmla="*/ 83 w 85"/>
                <a:gd name="T7" fmla="*/ 14 h 14"/>
                <a:gd name="T8" fmla="*/ 85 w 85"/>
                <a:gd name="T9" fmla="*/ 11 h 14"/>
                <a:gd name="T10" fmla="*/ 85 w 85"/>
                <a:gd name="T11" fmla="*/ 3 h 14"/>
                <a:gd name="T12" fmla="*/ 83 w 85"/>
                <a:gd name="T13" fmla="*/ 0 h 14"/>
                <a:gd name="T14" fmla="*/ 3 w 85"/>
                <a:gd name="T15" fmla="*/ 0 h 14"/>
                <a:gd name="T16" fmla="*/ 0 w 85"/>
                <a:gd name="T17"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4">
                  <a:moveTo>
                    <a:pt x="0" y="3"/>
                  </a:moveTo>
                  <a:cubicBezTo>
                    <a:pt x="0" y="11"/>
                    <a:pt x="0" y="11"/>
                    <a:pt x="0" y="11"/>
                  </a:cubicBezTo>
                  <a:cubicBezTo>
                    <a:pt x="0" y="13"/>
                    <a:pt x="1" y="14"/>
                    <a:pt x="3" y="14"/>
                  </a:cubicBezTo>
                  <a:cubicBezTo>
                    <a:pt x="83" y="14"/>
                    <a:pt x="83" y="14"/>
                    <a:pt x="83" y="14"/>
                  </a:cubicBezTo>
                  <a:cubicBezTo>
                    <a:pt x="84" y="14"/>
                    <a:pt x="85" y="13"/>
                    <a:pt x="85" y="11"/>
                  </a:cubicBezTo>
                  <a:cubicBezTo>
                    <a:pt x="85" y="3"/>
                    <a:pt x="85" y="3"/>
                    <a:pt x="85" y="3"/>
                  </a:cubicBezTo>
                  <a:cubicBezTo>
                    <a:pt x="85" y="2"/>
                    <a:pt x="84" y="0"/>
                    <a:pt x="83" y="0"/>
                  </a:cubicBezTo>
                  <a:cubicBezTo>
                    <a:pt x="3" y="0"/>
                    <a:pt x="3" y="0"/>
                    <a:pt x="3" y="0"/>
                  </a:cubicBezTo>
                  <a:cubicBezTo>
                    <a:pt x="1" y="0"/>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90">
              <a:extLst>
                <a:ext uri="{FF2B5EF4-FFF2-40B4-BE49-F238E27FC236}">
                  <a16:creationId xmlns:a16="http://schemas.microsoft.com/office/drawing/2014/main" id="{ED4EF80C-11BE-4010-9EC3-A6C98A886521}"/>
                </a:ext>
              </a:extLst>
            </p:cNvPr>
            <p:cNvSpPr>
              <a:spLocks/>
            </p:cNvSpPr>
            <p:nvPr/>
          </p:nvSpPr>
          <p:spPr bwMode="auto">
            <a:xfrm>
              <a:off x="6384925" y="3581400"/>
              <a:ext cx="579438" cy="87313"/>
            </a:xfrm>
            <a:custGeom>
              <a:avLst/>
              <a:gdLst>
                <a:gd name="T0" fmla="*/ 3 w 85"/>
                <a:gd name="T1" fmla="*/ 13 h 13"/>
                <a:gd name="T2" fmla="*/ 83 w 85"/>
                <a:gd name="T3" fmla="*/ 13 h 13"/>
                <a:gd name="T4" fmla="*/ 85 w 85"/>
                <a:gd name="T5" fmla="*/ 11 h 13"/>
                <a:gd name="T6" fmla="*/ 85 w 85"/>
                <a:gd name="T7" fmla="*/ 3 h 13"/>
                <a:gd name="T8" fmla="*/ 83 w 85"/>
                <a:gd name="T9" fmla="*/ 0 h 13"/>
                <a:gd name="T10" fmla="*/ 3 w 85"/>
                <a:gd name="T11" fmla="*/ 0 h 13"/>
                <a:gd name="T12" fmla="*/ 0 w 85"/>
                <a:gd name="T13" fmla="*/ 3 h 13"/>
                <a:gd name="T14" fmla="*/ 0 w 85"/>
                <a:gd name="T15" fmla="*/ 11 h 13"/>
                <a:gd name="T16" fmla="*/ 3 w 85"/>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3">
                  <a:moveTo>
                    <a:pt x="3" y="13"/>
                  </a:moveTo>
                  <a:cubicBezTo>
                    <a:pt x="83" y="13"/>
                    <a:pt x="83" y="13"/>
                    <a:pt x="83" y="13"/>
                  </a:cubicBezTo>
                  <a:cubicBezTo>
                    <a:pt x="84" y="13"/>
                    <a:pt x="85" y="12"/>
                    <a:pt x="85" y="11"/>
                  </a:cubicBezTo>
                  <a:cubicBezTo>
                    <a:pt x="85" y="3"/>
                    <a:pt x="85" y="3"/>
                    <a:pt x="85" y="3"/>
                  </a:cubicBezTo>
                  <a:cubicBezTo>
                    <a:pt x="85" y="1"/>
                    <a:pt x="84" y="0"/>
                    <a:pt x="83" y="0"/>
                  </a:cubicBezTo>
                  <a:cubicBezTo>
                    <a:pt x="3" y="0"/>
                    <a:pt x="3" y="0"/>
                    <a:pt x="3" y="0"/>
                  </a:cubicBezTo>
                  <a:cubicBezTo>
                    <a:pt x="1" y="0"/>
                    <a:pt x="0" y="1"/>
                    <a:pt x="0" y="3"/>
                  </a:cubicBezTo>
                  <a:cubicBezTo>
                    <a:pt x="0" y="11"/>
                    <a:pt x="0" y="11"/>
                    <a:pt x="0" y="11"/>
                  </a:cubicBezTo>
                  <a:cubicBezTo>
                    <a:pt x="0" y="12"/>
                    <a:pt x="1" y="13"/>
                    <a:pt x="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91">
              <a:extLst>
                <a:ext uri="{FF2B5EF4-FFF2-40B4-BE49-F238E27FC236}">
                  <a16:creationId xmlns:a16="http://schemas.microsoft.com/office/drawing/2014/main" id="{75B7E2CD-08B8-4006-BFD6-8BDCE29427A5}"/>
                </a:ext>
              </a:extLst>
            </p:cNvPr>
            <p:cNvSpPr>
              <a:spLocks/>
            </p:cNvSpPr>
            <p:nvPr/>
          </p:nvSpPr>
          <p:spPr bwMode="auto">
            <a:xfrm>
              <a:off x="6384925" y="3765550"/>
              <a:ext cx="579438" cy="87313"/>
            </a:xfrm>
            <a:custGeom>
              <a:avLst/>
              <a:gdLst>
                <a:gd name="T0" fmla="*/ 3 w 85"/>
                <a:gd name="T1" fmla="*/ 13 h 13"/>
                <a:gd name="T2" fmla="*/ 83 w 85"/>
                <a:gd name="T3" fmla="*/ 13 h 13"/>
                <a:gd name="T4" fmla="*/ 85 w 85"/>
                <a:gd name="T5" fmla="*/ 10 h 13"/>
                <a:gd name="T6" fmla="*/ 85 w 85"/>
                <a:gd name="T7" fmla="*/ 2 h 13"/>
                <a:gd name="T8" fmla="*/ 83 w 85"/>
                <a:gd name="T9" fmla="*/ 0 h 13"/>
                <a:gd name="T10" fmla="*/ 3 w 85"/>
                <a:gd name="T11" fmla="*/ 0 h 13"/>
                <a:gd name="T12" fmla="*/ 0 w 85"/>
                <a:gd name="T13" fmla="*/ 2 h 13"/>
                <a:gd name="T14" fmla="*/ 0 w 85"/>
                <a:gd name="T15" fmla="*/ 10 h 13"/>
                <a:gd name="T16" fmla="*/ 3 w 85"/>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13">
                  <a:moveTo>
                    <a:pt x="3" y="13"/>
                  </a:moveTo>
                  <a:cubicBezTo>
                    <a:pt x="83" y="13"/>
                    <a:pt x="83" y="13"/>
                    <a:pt x="83" y="13"/>
                  </a:cubicBezTo>
                  <a:cubicBezTo>
                    <a:pt x="84" y="13"/>
                    <a:pt x="85" y="12"/>
                    <a:pt x="85" y="10"/>
                  </a:cubicBezTo>
                  <a:cubicBezTo>
                    <a:pt x="85" y="2"/>
                    <a:pt x="85" y="2"/>
                    <a:pt x="85" y="2"/>
                  </a:cubicBezTo>
                  <a:cubicBezTo>
                    <a:pt x="85" y="1"/>
                    <a:pt x="84" y="0"/>
                    <a:pt x="83" y="0"/>
                  </a:cubicBezTo>
                  <a:cubicBezTo>
                    <a:pt x="3" y="0"/>
                    <a:pt x="3" y="0"/>
                    <a:pt x="3" y="0"/>
                  </a:cubicBezTo>
                  <a:cubicBezTo>
                    <a:pt x="1" y="0"/>
                    <a:pt x="0" y="1"/>
                    <a:pt x="0" y="2"/>
                  </a:cubicBezTo>
                  <a:cubicBezTo>
                    <a:pt x="0" y="10"/>
                    <a:pt x="0" y="10"/>
                    <a:pt x="0" y="10"/>
                  </a:cubicBezTo>
                  <a:cubicBezTo>
                    <a:pt x="0" y="12"/>
                    <a:pt x="1" y="13"/>
                    <a:pt x="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3" name="Freeform 92">
            <a:extLst>
              <a:ext uri="{FF2B5EF4-FFF2-40B4-BE49-F238E27FC236}">
                <a16:creationId xmlns:a16="http://schemas.microsoft.com/office/drawing/2014/main" id="{DA998777-A69E-44D5-AB3E-F04184F43A82}"/>
              </a:ext>
            </a:extLst>
          </p:cNvPr>
          <p:cNvSpPr>
            <a:spLocks noChangeAspect="1" noEditPoints="1"/>
          </p:cNvSpPr>
          <p:nvPr/>
        </p:nvSpPr>
        <p:spPr bwMode="auto">
          <a:xfrm>
            <a:off x="8054805" y="2751892"/>
            <a:ext cx="274320" cy="274320"/>
          </a:xfrm>
          <a:custGeom>
            <a:avLst/>
            <a:gdLst>
              <a:gd name="T0" fmla="*/ 43 w 85"/>
              <a:gd name="T1" fmla="*/ 0 h 85"/>
              <a:gd name="T2" fmla="*/ 0 w 85"/>
              <a:gd name="T3" fmla="*/ 43 h 85"/>
              <a:gd name="T4" fmla="*/ 43 w 85"/>
              <a:gd name="T5" fmla="*/ 85 h 85"/>
              <a:gd name="T6" fmla="*/ 85 w 85"/>
              <a:gd name="T7" fmla="*/ 43 h 85"/>
              <a:gd name="T8" fmla="*/ 43 w 85"/>
              <a:gd name="T9" fmla="*/ 0 h 85"/>
              <a:gd name="T10" fmla="*/ 48 w 85"/>
              <a:gd name="T11" fmla="*/ 68 h 85"/>
              <a:gd name="T12" fmla="*/ 37 w 85"/>
              <a:gd name="T13" fmla="*/ 68 h 85"/>
              <a:gd name="T14" fmla="*/ 37 w 85"/>
              <a:gd name="T15" fmla="*/ 57 h 85"/>
              <a:gd name="T16" fmla="*/ 48 w 85"/>
              <a:gd name="T17" fmla="*/ 57 h 85"/>
              <a:gd name="T18" fmla="*/ 48 w 85"/>
              <a:gd name="T19" fmla="*/ 68 h 85"/>
              <a:gd name="T20" fmla="*/ 46 w 85"/>
              <a:gd name="T21" fmla="*/ 52 h 85"/>
              <a:gd name="T22" fmla="*/ 39 w 85"/>
              <a:gd name="T23" fmla="*/ 52 h 85"/>
              <a:gd name="T24" fmla="*/ 36 w 85"/>
              <a:gd name="T25" fmla="*/ 19 h 85"/>
              <a:gd name="T26" fmla="*/ 49 w 85"/>
              <a:gd name="T27" fmla="*/ 19 h 85"/>
              <a:gd name="T28" fmla="*/ 46 w 85"/>
              <a:gd name="T29" fmla="*/ 5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85">
                <a:moveTo>
                  <a:pt x="43" y="0"/>
                </a:moveTo>
                <a:cubicBezTo>
                  <a:pt x="19" y="0"/>
                  <a:pt x="0" y="19"/>
                  <a:pt x="0" y="43"/>
                </a:cubicBezTo>
                <a:cubicBezTo>
                  <a:pt x="0" y="66"/>
                  <a:pt x="19" y="85"/>
                  <a:pt x="43" y="85"/>
                </a:cubicBezTo>
                <a:cubicBezTo>
                  <a:pt x="66" y="85"/>
                  <a:pt x="85" y="66"/>
                  <a:pt x="85" y="43"/>
                </a:cubicBezTo>
                <a:cubicBezTo>
                  <a:pt x="85" y="19"/>
                  <a:pt x="66" y="0"/>
                  <a:pt x="43" y="0"/>
                </a:cubicBezTo>
                <a:close/>
                <a:moveTo>
                  <a:pt x="48" y="68"/>
                </a:moveTo>
                <a:cubicBezTo>
                  <a:pt x="37" y="68"/>
                  <a:pt x="37" y="68"/>
                  <a:pt x="37" y="68"/>
                </a:cubicBezTo>
                <a:cubicBezTo>
                  <a:pt x="37" y="57"/>
                  <a:pt x="37" y="57"/>
                  <a:pt x="37" y="57"/>
                </a:cubicBezTo>
                <a:cubicBezTo>
                  <a:pt x="48" y="57"/>
                  <a:pt x="48" y="57"/>
                  <a:pt x="48" y="57"/>
                </a:cubicBezTo>
                <a:lnTo>
                  <a:pt x="48" y="68"/>
                </a:lnTo>
                <a:close/>
                <a:moveTo>
                  <a:pt x="46" y="52"/>
                </a:moveTo>
                <a:cubicBezTo>
                  <a:pt x="39" y="52"/>
                  <a:pt x="39" y="52"/>
                  <a:pt x="39" y="52"/>
                </a:cubicBezTo>
                <a:cubicBezTo>
                  <a:pt x="38" y="41"/>
                  <a:pt x="37" y="30"/>
                  <a:pt x="36" y="19"/>
                </a:cubicBezTo>
                <a:cubicBezTo>
                  <a:pt x="49" y="19"/>
                  <a:pt x="49" y="19"/>
                  <a:pt x="49" y="19"/>
                </a:cubicBezTo>
                <a:cubicBezTo>
                  <a:pt x="48" y="30"/>
                  <a:pt x="47" y="41"/>
                  <a:pt x="46" y="5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74" name="Group 73">
            <a:extLst>
              <a:ext uri="{FF2B5EF4-FFF2-40B4-BE49-F238E27FC236}">
                <a16:creationId xmlns:a16="http://schemas.microsoft.com/office/drawing/2014/main" id="{C7C5B1E6-C0C6-4EFA-A474-DF041ACE5354}"/>
              </a:ext>
            </a:extLst>
          </p:cNvPr>
          <p:cNvGrpSpPr>
            <a:grpSpLocks noChangeAspect="1"/>
          </p:cNvGrpSpPr>
          <p:nvPr/>
        </p:nvGrpSpPr>
        <p:grpSpPr>
          <a:xfrm>
            <a:off x="9231045" y="2751892"/>
            <a:ext cx="74406" cy="274320"/>
            <a:chOff x="8123238" y="3335338"/>
            <a:chExt cx="157163" cy="579438"/>
          </a:xfrm>
          <a:solidFill>
            <a:srgbClr val="595555"/>
          </a:solidFill>
        </p:grpSpPr>
        <p:sp>
          <p:nvSpPr>
            <p:cNvPr id="75" name="Freeform 93">
              <a:extLst>
                <a:ext uri="{FF2B5EF4-FFF2-40B4-BE49-F238E27FC236}">
                  <a16:creationId xmlns:a16="http://schemas.microsoft.com/office/drawing/2014/main" id="{F1EBA8ED-3A40-4424-91AF-069ACD254796}"/>
                </a:ext>
              </a:extLst>
            </p:cNvPr>
            <p:cNvSpPr>
              <a:spLocks/>
            </p:cNvSpPr>
            <p:nvPr/>
          </p:nvSpPr>
          <p:spPr bwMode="auto">
            <a:xfrm>
              <a:off x="8123238" y="3335338"/>
              <a:ext cx="157163" cy="388938"/>
            </a:xfrm>
            <a:custGeom>
              <a:avLst/>
              <a:gdLst>
                <a:gd name="T0" fmla="*/ 17 w 23"/>
                <a:gd name="T1" fmla="*/ 57 h 57"/>
                <a:gd name="T2" fmla="*/ 23 w 23"/>
                <a:gd name="T3" fmla="*/ 0 h 57"/>
                <a:gd name="T4" fmla="*/ 0 w 23"/>
                <a:gd name="T5" fmla="*/ 0 h 57"/>
                <a:gd name="T6" fmla="*/ 6 w 23"/>
                <a:gd name="T7" fmla="*/ 57 h 57"/>
                <a:gd name="T8" fmla="*/ 17 w 23"/>
                <a:gd name="T9" fmla="*/ 57 h 57"/>
              </a:gdLst>
              <a:ahLst/>
              <a:cxnLst>
                <a:cxn ang="0">
                  <a:pos x="T0" y="T1"/>
                </a:cxn>
                <a:cxn ang="0">
                  <a:pos x="T2" y="T3"/>
                </a:cxn>
                <a:cxn ang="0">
                  <a:pos x="T4" y="T5"/>
                </a:cxn>
                <a:cxn ang="0">
                  <a:pos x="T6" y="T7"/>
                </a:cxn>
                <a:cxn ang="0">
                  <a:pos x="T8" y="T9"/>
                </a:cxn>
              </a:cxnLst>
              <a:rect l="0" t="0" r="r" b="b"/>
              <a:pathLst>
                <a:path w="23" h="57">
                  <a:moveTo>
                    <a:pt x="17" y="57"/>
                  </a:moveTo>
                  <a:cubicBezTo>
                    <a:pt x="19" y="38"/>
                    <a:pt x="21" y="19"/>
                    <a:pt x="23" y="0"/>
                  </a:cubicBezTo>
                  <a:cubicBezTo>
                    <a:pt x="0" y="0"/>
                    <a:pt x="0" y="0"/>
                    <a:pt x="0" y="0"/>
                  </a:cubicBezTo>
                  <a:cubicBezTo>
                    <a:pt x="2" y="19"/>
                    <a:pt x="4" y="38"/>
                    <a:pt x="6" y="57"/>
                  </a:cubicBezTo>
                  <a:lnTo>
                    <a:pt x="17"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6" name="Rectangle 94">
              <a:extLst>
                <a:ext uri="{FF2B5EF4-FFF2-40B4-BE49-F238E27FC236}">
                  <a16:creationId xmlns:a16="http://schemas.microsoft.com/office/drawing/2014/main" id="{D26A08B5-67FD-4573-ACA7-91506CE6AA3E}"/>
                </a:ext>
              </a:extLst>
            </p:cNvPr>
            <p:cNvSpPr>
              <a:spLocks noChangeArrowheads="1"/>
            </p:cNvSpPr>
            <p:nvPr/>
          </p:nvSpPr>
          <p:spPr bwMode="auto">
            <a:xfrm>
              <a:off x="8135938" y="3792538"/>
              <a:ext cx="1301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77" name="Freeform 95">
            <a:extLst>
              <a:ext uri="{FF2B5EF4-FFF2-40B4-BE49-F238E27FC236}">
                <a16:creationId xmlns:a16="http://schemas.microsoft.com/office/drawing/2014/main" id="{7EA80969-41C6-4B5C-930A-65BC5D9622AE}"/>
              </a:ext>
            </a:extLst>
          </p:cNvPr>
          <p:cNvSpPr>
            <a:spLocks noChangeAspect="1"/>
          </p:cNvSpPr>
          <p:nvPr/>
        </p:nvSpPr>
        <p:spPr bwMode="auto">
          <a:xfrm>
            <a:off x="10819160" y="2751892"/>
            <a:ext cx="271347" cy="274320"/>
          </a:xfrm>
          <a:custGeom>
            <a:avLst/>
            <a:gdLst>
              <a:gd name="T0" fmla="*/ 57 w 85"/>
              <a:gd name="T1" fmla="*/ 43 h 86"/>
              <a:gd name="T2" fmla="*/ 84 w 85"/>
              <a:gd name="T3" fmla="*/ 15 h 86"/>
              <a:gd name="T4" fmla="*/ 84 w 85"/>
              <a:gd name="T5" fmla="*/ 12 h 86"/>
              <a:gd name="T6" fmla="*/ 74 w 85"/>
              <a:gd name="T7" fmla="*/ 1 h 86"/>
              <a:gd name="T8" fmla="*/ 70 w 85"/>
              <a:gd name="T9" fmla="*/ 1 h 86"/>
              <a:gd name="T10" fmla="*/ 42 w 85"/>
              <a:gd name="T11" fmla="*/ 28 h 86"/>
              <a:gd name="T12" fmla="*/ 15 w 85"/>
              <a:gd name="T13" fmla="*/ 1 h 86"/>
              <a:gd name="T14" fmla="*/ 12 w 85"/>
              <a:gd name="T15" fmla="*/ 1 h 86"/>
              <a:gd name="T16" fmla="*/ 1 w 85"/>
              <a:gd name="T17" fmla="*/ 12 h 86"/>
              <a:gd name="T18" fmla="*/ 1 w 85"/>
              <a:gd name="T19" fmla="*/ 16 h 86"/>
              <a:gd name="T20" fmla="*/ 28 w 85"/>
              <a:gd name="T21" fmla="*/ 43 h 86"/>
              <a:gd name="T22" fmla="*/ 1 w 85"/>
              <a:gd name="T23" fmla="*/ 70 h 86"/>
              <a:gd name="T24" fmla="*/ 1 w 85"/>
              <a:gd name="T25" fmla="*/ 74 h 86"/>
              <a:gd name="T26" fmla="*/ 12 w 85"/>
              <a:gd name="T27" fmla="*/ 84 h 86"/>
              <a:gd name="T28" fmla="*/ 15 w 85"/>
              <a:gd name="T29" fmla="*/ 84 h 86"/>
              <a:gd name="T30" fmla="*/ 42 w 85"/>
              <a:gd name="T31" fmla="*/ 57 h 86"/>
              <a:gd name="T32" fmla="*/ 70 w 85"/>
              <a:gd name="T33" fmla="*/ 85 h 86"/>
              <a:gd name="T34" fmla="*/ 73 w 85"/>
              <a:gd name="T35" fmla="*/ 85 h 86"/>
              <a:gd name="T36" fmla="*/ 84 w 85"/>
              <a:gd name="T37" fmla="*/ 74 h 86"/>
              <a:gd name="T38" fmla="*/ 84 w 85"/>
              <a:gd name="T39" fmla="*/ 70 h 86"/>
              <a:gd name="T40" fmla="*/ 57 w 85"/>
              <a:gd name="T41"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5" h="86">
                <a:moveTo>
                  <a:pt x="57" y="43"/>
                </a:moveTo>
                <a:cubicBezTo>
                  <a:pt x="84" y="15"/>
                  <a:pt x="84" y="15"/>
                  <a:pt x="84" y="15"/>
                </a:cubicBezTo>
                <a:cubicBezTo>
                  <a:pt x="85" y="14"/>
                  <a:pt x="85" y="13"/>
                  <a:pt x="84" y="12"/>
                </a:cubicBezTo>
                <a:cubicBezTo>
                  <a:pt x="74" y="1"/>
                  <a:pt x="74" y="1"/>
                  <a:pt x="74" y="1"/>
                </a:cubicBezTo>
                <a:cubicBezTo>
                  <a:pt x="73" y="0"/>
                  <a:pt x="71" y="0"/>
                  <a:pt x="70" y="1"/>
                </a:cubicBezTo>
                <a:cubicBezTo>
                  <a:pt x="42" y="28"/>
                  <a:pt x="42" y="28"/>
                  <a:pt x="42" y="28"/>
                </a:cubicBezTo>
                <a:cubicBezTo>
                  <a:pt x="15" y="1"/>
                  <a:pt x="15" y="1"/>
                  <a:pt x="15" y="1"/>
                </a:cubicBezTo>
                <a:cubicBezTo>
                  <a:pt x="14" y="0"/>
                  <a:pt x="13" y="0"/>
                  <a:pt x="12" y="1"/>
                </a:cubicBezTo>
                <a:cubicBezTo>
                  <a:pt x="1" y="12"/>
                  <a:pt x="1" y="12"/>
                  <a:pt x="1" y="12"/>
                </a:cubicBezTo>
                <a:cubicBezTo>
                  <a:pt x="0" y="13"/>
                  <a:pt x="0" y="15"/>
                  <a:pt x="1" y="16"/>
                </a:cubicBezTo>
                <a:cubicBezTo>
                  <a:pt x="28" y="43"/>
                  <a:pt x="28" y="43"/>
                  <a:pt x="28" y="43"/>
                </a:cubicBezTo>
                <a:cubicBezTo>
                  <a:pt x="1" y="70"/>
                  <a:pt x="1" y="70"/>
                  <a:pt x="1" y="70"/>
                </a:cubicBezTo>
                <a:cubicBezTo>
                  <a:pt x="0" y="71"/>
                  <a:pt x="0" y="73"/>
                  <a:pt x="1" y="74"/>
                </a:cubicBezTo>
                <a:cubicBezTo>
                  <a:pt x="12" y="84"/>
                  <a:pt x="12" y="84"/>
                  <a:pt x="12" y="84"/>
                </a:cubicBezTo>
                <a:cubicBezTo>
                  <a:pt x="13" y="86"/>
                  <a:pt x="14" y="86"/>
                  <a:pt x="15" y="84"/>
                </a:cubicBezTo>
                <a:cubicBezTo>
                  <a:pt x="42" y="57"/>
                  <a:pt x="42" y="57"/>
                  <a:pt x="42" y="57"/>
                </a:cubicBezTo>
                <a:cubicBezTo>
                  <a:pt x="70" y="85"/>
                  <a:pt x="70" y="85"/>
                  <a:pt x="70" y="85"/>
                </a:cubicBezTo>
                <a:cubicBezTo>
                  <a:pt x="71" y="86"/>
                  <a:pt x="72" y="86"/>
                  <a:pt x="73" y="85"/>
                </a:cubicBezTo>
                <a:cubicBezTo>
                  <a:pt x="84" y="74"/>
                  <a:pt x="84" y="74"/>
                  <a:pt x="84" y="74"/>
                </a:cubicBezTo>
                <a:cubicBezTo>
                  <a:pt x="85" y="73"/>
                  <a:pt x="85" y="71"/>
                  <a:pt x="84" y="70"/>
                </a:cubicBezTo>
                <a:lnTo>
                  <a:pt x="57" y="43"/>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8" name="Freeform 96">
            <a:extLst>
              <a:ext uri="{FF2B5EF4-FFF2-40B4-BE49-F238E27FC236}">
                <a16:creationId xmlns:a16="http://schemas.microsoft.com/office/drawing/2014/main" id="{7241F5FE-2483-436B-A2FF-1A4CF1913D3F}"/>
              </a:ext>
            </a:extLst>
          </p:cNvPr>
          <p:cNvSpPr>
            <a:spLocks noChangeAspect="1" noEditPoints="1"/>
          </p:cNvSpPr>
          <p:nvPr/>
        </p:nvSpPr>
        <p:spPr bwMode="auto">
          <a:xfrm>
            <a:off x="9897708" y="2751892"/>
            <a:ext cx="271347" cy="274320"/>
          </a:xfrm>
          <a:custGeom>
            <a:avLst/>
            <a:gdLst>
              <a:gd name="T0" fmla="*/ 42 w 85"/>
              <a:gd name="T1" fmla="*/ 0 h 86"/>
              <a:gd name="T2" fmla="*/ 0 w 85"/>
              <a:gd name="T3" fmla="*/ 43 h 86"/>
              <a:gd name="T4" fmla="*/ 43 w 85"/>
              <a:gd name="T5" fmla="*/ 85 h 86"/>
              <a:gd name="T6" fmla="*/ 85 w 85"/>
              <a:gd name="T7" fmla="*/ 42 h 86"/>
              <a:gd name="T8" fmla="*/ 42 w 85"/>
              <a:gd name="T9" fmla="*/ 0 h 86"/>
              <a:gd name="T10" fmla="*/ 62 w 85"/>
              <a:gd name="T11" fmla="*/ 57 h 86"/>
              <a:gd name="T12" fmla="*/ 57 w 85"/>
              <a:gd name="T13" fmla="*/ 62 h 86"/>
              <a:gd name="T14" fmla="*/ 55 w 85"/>
              <a:gd name="T15" fmla="*/ 62 h 86"/>
              <a:gd name="T16" fmla="*/ 43 w 85"/>
              <a:gd name="T17" fmla="*/ 50 h 86"/>
              <a:gd name="T18" fmla="*/ 30 w 85"/>
              <a:gd name="T19" fmla="*/ 62 h 86"/>
              <a:gd name="T20" fmla="*/ 28 w 85"/>
              <a:gd name="T21" fmla="*/ 62 h 86"/>
              <a:gd name="T22" fmla="*/ 23 w 85"/>
              <a:gd name="T23" fmla="*/ 57 h 86"/>
              <a:gd name="T24" fmla="*/ 23 w 85"/>
              <a:gd name="T25" fmla="*/ 56 h 86"/>
              <a:gd name="T26" fmla="*/ 36 w 85"/>
              <a:gd name="T27" fmla="*/ 43 h 86"/>
              <a:gd name="T28" fmla="*/ 23 w 85"/>
              <a:gd name="T29" fmla="*/ 30 h 86"/>
              <a:gd name="T30" fmla="*/ 23 w 85"/>
              <a:gd name="T31" fmla="*/ 28 h 86"/>
              <a:gd name="T32" fmla="*/ 28 w 85"/>
              <a:gd name="T33" fmla="*/ 23 h 86"/>
              <a:gd name="T34" fmla="*/ 30 w 85"/>
              <a:gd name="T35" fmla="*/ 23 h 86"/>
              <a:gd name="T36" fmla="*/ 42 w 85"/>
              <a:gd name="T37" fmla="*/ 36 h 86"/>
              <a:gd name="T38" fmla="*/ 55 w 85"/>
              <a:gd name="T39" fmla="*/ 23 h 86"/>
              <a:gd name="T40" fmla="*/ 57 w 85"/>
              <a:gd name="T41" fmla="*/ 23 h 86"/>
              <a:gd name="T42" fmla="*/ 62 w 85"/>
              <a:gd name="T43" fmla="*/ 28 h 86"/>
              <a:gd name="T44" fmla="*/ 62 w 85"/>
              <a:gd name="T45" fmla="*/ 30 h 86"/>
              <a:gd name="T46" fmla="*/ 49 w 85"/>
              <a:gd name="T47" fmla="*/ 43 h 86"/>
              <a:gd name="T48" fmla="*/ 62 w 85"/>
              <a:gd name="T49" fmla="*/ 55 h 86"/>
              <a:gd name="T50" fmla="*/ 62 w 85"/>
              <a:gd name="T51" fmla="*/ 5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5" h="86">
                <a:moveTo>
                  <a:pt x="42" y="0"/>
                </a:moveTo>
                <a:cubicBezTo>
                  <a:pt x="19" y="0"/>
                  <a:pt x="0" y="20"/>
                  <a:pt x="0" y="43"/>
                </a:cubicBezTo>
                <a:cubicBezTo>
                  <a:pt x="0" y="67"/>
                  <a:pt x="19" y="86"/>
                  <a:pt x="43" y="85"/>
                </a:cubicBezTo>
                <a:cubicBezTo>
                  <a:pt x="66" y="85"/>
                  <a:pt x="85" y="66"/>
                  <a:pt x="85" y="42"/>
                </a:cubicBezTo>
                <a:cubicBezTo>
                  <a:pt x="85" y="19"/>
                  <a:pt x="66" y="0"/>
                  <a:pt x="42" y="0"/>
                </a:cubicBezTo>
                <a:close/>
                <a:moveTo>
                  <a:pt x="62" y="57"/>
                </a:moveTo>
                <a:cubicBezTo>
                  <a:pt x="57" y="62"/>
                  <a:pt x="57" y="62"/>
                  <a:pt x="57" y="62"/>
                </a:cubicBezTo>
                <a:cubicBezTo>
                  <a:pt x="57" y="63"/>
                  <a:pt x="56" y="63"/>
                  <a:pt x="55" y="62"/>
                </a:cubicBezTo>
                <a:cubicBezTo>
                  <a:pt x="43" y="50"/>
                  <a:pt x="43" y="50"/>
                  <a:pt x="43" y="50"/>
                </a:cubicBezTo>
                <a:cubicBezTo>
                  <a:pt x="30" y="62"/>
                  <a:pt x="30" y="62"/>
                  <a:pt x="30" y="62"/>
                </a:cubicBezTo>
                <a:cubicBezTo>
                  <a:pt x="30" y="63"/>
                  <a:pt x="29" y="63"/>
                  <a:pt x="28" y="62"/>
                </a:cubicBezTo>
                <a:cubicBezTo>
                  <a:pt x="23" y="57"/>
                  <a:pt x="23" y="57"/>
                  <a:pt x="23" y="57"/>
                </a:cubicBezTo>
                <a:cubicBezTo>
                  <a:pt x="23" y="57"/>
                  <a:pt x="23" y="56"/>
                  <a:pt x="23" y="56"/>
                </a:cubicBezTo>
                <a:cubicBezTo>
                  <a:pt x="36" y="43"/>
                  <a:pt x="36" y="43"/>
                  <a:pt x="36" y="43"/>
                </a:cubicBezTo>
                <a:cubicBezTo>
                  <a:pt x="23" y="30"/>
                  <a:pt x="23" y="30"/>
                  <a:pt x="23" y="30"/>
                </a:cubicBezTo>
                <a:cubicBezTo>
                  <a:pt x="22" y="30"/>
                  <a:pt x="22" y="29"/>
                  <a:pt x="23" y="28"/>
                </a:cubicBezTo>
                <a:cubicBezTo>
                  <a:pt x="28" y="23"/>
                  <a:pt x="28" y="23"/>
                  <a:pt x="28" y="23"/>
                </a:cubicBezTo>
                <a:cubicBezTo>
                  <a:pt x="28" y="23"/>
                  <a:pt x="29" y="23"/>
                  <a:pt x="30" y="23"/>
                </a:cubicBezTo>
                <a:cubicBezTo>
                  <a:pt x="42" y="36"/>
                  <a:pt x="42" y="36"/>
                  <a:pt x="42" y="36"/>
                </a:cubicBezTo>
                <a:cubicBezTo>
                  <a:pt x="55" y="23"/>
                  <a:pt x="55" y="23"/>
                  <a:pt x="55" y="23"/>
                </a:cubicBezTo>
                <a:cubicBezTo>
                  <a:pt x="56" y="23"/>
                  <a:pt x="56" y="23"/>
                  <a:pt x="57" y="23"/>
                </a:cubicBezTo>
                <a:cubicBezTo>
                  <a:pt x="62" y="28"/>
                  <a:pt x="62" y="28"/>
                  <a:pt x="62" y="28"/>
                </a:cubicBezTo>
                <a:cubicBezTo>
                  <a:pt x="63" y="29"/>
                  <a:pt x="63" y="29"/>
                  <a:pt x="62" y="30"/>
                </a:cubicBezTo>
                <a:cubicBezTo>
                  <a:pt x="49" y="43"/>
                  <a:pt x="49" y="43"/>
                  <a:pt x="49" y="43"/>
                </a:cubicBezTo>
                <a:cubicBezTo>
                  <a:pt x="62" y="55"/>
                  <a:pt x="62" y="55"/>
                  <a:pt x="62" y="55"/>
                </a:cubicBezTo>
                <a:cubicBezTo>
                  <a:pt x="63" y="56"/>
                  <a:pt x="63" y="57"/>
                  <a:pt x="62" y="57"/>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9" name="Freeform 97">
            <a:extLst>
              <a:ext uri="{FF2B5EF4-FFF2-40B4-BE49-F238E27FC236}">
                <a16:creationId xmlns:a16="http://schemas.microsoft.com/office/drawing/2014/main" id="{9B781C73-029F-4CE8-A908-2C3134B40D14}"/>
              </a:ext>
            </a:extLst>
          </p:cNvPr>
          <p:cNvSpPr>
            <a:spLocks noChangeAspect="1" noEditPoints="1"/>
          </p:cNvSpPr>
          <p:nvPr/>
        </p:nvSpPr>
        <p:spPr bwMode="auto">
          <a:xfrm>
            <a:off x="681271" y="3673344"/>
            <a:ext cx="274320" cy="274320"/>
          </a:xfrm>
          <a:custGeom>
            <a:avLst/>
            <a:gdLst>
              <a:gd name="T0" fmla="*/ 43 w 85"/>
              <a:gd name="T1" fmla="*/ 0 h 85"/>
              <a:gd name="T2" fmla="*/ 0 w 85"/>
              <a:gd name="T3" fmla="*/ 43 h 85"/>
              <a:gd name="T4" fmla="*/ 43 w 85"/>
              <a:gd name="T5" fmla="*/ 85 h 85"/>
              <a:gd name="T6" fmla="*/ 85 w 85"/>
              <a:gd name="T7" fmla="*/ 43 h 85"/>
              <a:gd name="T8" fmla="*/ 43 w 85"/>
              <a:gd name="T9" fmla="*/ 0 h 85"/>
              <a:gd name="T10" fmla="*/ 59 w 85"/>
              <a:gd name="T11" fmla="*/ 45 h 85"/>
              <a:gd name="T12" fmla="*/ 33 w 85"/>
              <a:gd name="T13" fmla="*/ 60 h 85"/>
              <a:gd name="T14" fmla="*/ 31 w 85"/>
              <a:gd name="T15" fmla="*/ 59 h 85"/>
              <a:gd name="T16" fmla="*/ 31 w 85"/>
              <a:gd name="T17" fmla="*/ 26 h 85"/>
              <a:gd name="T18" fmla="*/ 33 w 85"/>
              <a:gd name="T19" fmla="*/ 26 h 85"/>
              <a:gd name="T20" fmla="*/ 59 w 85"/>
              <a:gd name="T21" fmla="*/ 40 h 85"/>
              <a:gd name="T22" fmla="*/ 59 w 85"/>
              <a:gd name="T23" fmla="*/ 4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85">
                <a:moveTo>
                  <a:pt x="43" y="0"/>
                </a:moveTo>
                <a:cubicBezTo>
                  <a:pt x="19" y="0"/>
                  <a:pt x="0" y="19"/>
                  <a:pt x="0" y="43"/>
                </a:cubicBezTo>
                <a:cubicBezTo>
                  <a:pt x="0" y="66"/>
                  <a:pt x="19" y="85"/>
                  <a:pt x="43" y="85"/>
                </a:cubicBezTo>
                <a:cubicBezTo>
                  <a:pt x="66" y="85"/>
                  <a:pt x="85" y="66"/>
                  <a:pt x="85" y="43"/>
                </a:cubicBezTo>
                <a:cubicBezTo>
                  <a:pt x="85" y="19"/>
                  <a:pt x="66" y="0"/>
                  <a:pt x="43" y="0"/>
                </a:cubicBezTo>
                <a:close/>
                <a:moveTo>
                  <a:pt x="59" y="45"/>
                </a:moveTo>
                <a:cubicBezTo>
                  <a:pt x="33" y="60"/>
                  <a:pt x="33" y="60"/>
                  <a:pt x="33" y="60"/>
                </a:cubicBezTo>
                <a:cubicBezTo>
                  <a:pt x="32" y="60"/>
                  <a:pt x="31" y="60"/>
                  <a:pt x="31" y="59"/>
                </a:cubicBezTo>
                <a:cubicBezTo>
                  <a:pt x="31" y="26"/>
                  <a:pt x="31" y="26"/>
                  <a:pt x="31" y="26"/>
                </a:cubicBezTo>
                <a:cubicBezTo>
                  <a:pt x="31" y="26"/>
                  <a:pt x="32" y="25"/>
                  <a:pt x="33" y="26"/>
                </a:cubicBezTo>
                <a:cubicBezTo>
                  <a:pt x="59" y="40"/>
                  <a:pt x="59" y="40"/>
                  <a:pt x="59" y="40"/>
                </a:cubicBezTo>
                <a:cubicBezTo>
                  <a:pt x="62" y="42"/>
                  <a:pt x="62" y="44"/>
                  <a:pt x="59" y="45"/>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0" name="Freeform 98">
            <a:extLst>
              <a:ext uri="{FF2B5EF4-FFF2-40B4-BE49-F238E27FC236}">
                <a16:creationId xmlns:a16="http://schemas.microsoft.com/office/drawing/2014/main" id="{0ED7B8F7-34D5-41BE-90C3-22185173E9CB}"/>
              </a:ext>
            </a:extLst>
          </p:cNvPr>
          <p:cNvSpPr>
            <a:spLocks noChangeAspect="1" noEditPoints="1"/>
          </p:cNvSpPr>
          <p:nvPr/>
        </p:nvSpPr>
        <p:spPr bwMode="auto">
          <a:xfrm>
            <a:off x="1602724" y="3763383"/>
            <a:ext cx="364098" cy="274320"/>
          </a:xfrm>
          <a:custGeom>
            <a:avLst/>
            <a:gdLst>
              <a:gd name="T0" fmla="*/ 83 w 85"/>
              <a:gd name="T1" fmla="*/ 0 h 64"/>
              <a:gd name="T2" fmla="*/ 3 w 85"/>
              <a:gd name="T3" fmla="*/ 0 h 64"/>
              <a:gd name="T4" fmla="*/ 0 w 85"/>
              <a:gd name="T5" fmla="*/ 2 h 64"/>
              <a:gd name="T6" fmla="*/ 0 w 85"/>
              <a:gd name="T7" fmla="*/ 61 h 64"/>
              <a:gd name="T8" fmla="*/ 3 w 85"/>
              <a:gd name="T9" fmla="*/ 64 h 64"/>
              <a:gd name="T10" fmla="*/ 83 w 85"/>
              <a:gd name="T11" fmla="*/ 64 h 64"/>
              <a:gd name="T12" fmla="*/ 85 w 85"/>
              <a:gd name="T13" fmla="*/ 61 h 64"/>
              <a:gd name="T14" fmla="*/ 85 w 85"/>
              <a:gd name="T15" fmla="*/ 2 h 64"/>
              <a:gd name="T16" fmla="*/ 83 w 85"/>
              <a:gd name="T17" fmla="*/ 0 h 64"/>
              <a:gd name="T18" fmla="*/ 59 w 85"/>
              <a:gd name="T19" fmla="*/ 34 h 64"/>
              <a:gd name="T20" fmla="*/ 33 w 85"/>
              <a:gd name="T21" fmla="*/ 49 h 64"/>
              <a:gd name="T22" fmla="*/ 31 w 85"/>
              <a:gd name="T23" fmla="*/ 48 h 64"/>
              <a:gd name="T24" fmla="*/ 31 w 85"/>
              <a:gd name="T25" fmla="*/ 15 h 64"/>
              <a:gd name="T26" fmla="*/ 33 w 85"/>
              <a:gd name="T27" fmla="*/ 15 h 64"/>
              <a:gd name="T28" fmla="*/ 59 w 85"/>
              <a:gd name="T29" fmla="*/ 29 h 64"/>
              <a:gd name="T30" fmla="*/ 59 w 85"/>
              <a:gd name="T31" fmla="*/ 3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5" h="64">
                <a:moveTo>
                  <a:pt x="83" y="0"/>
                </a:moveTo>
                <a:cubicBezTo>
                  <a:pt x="3" y="0"/>
                  <a:pt x="3" y="0"/>
                  <a:pt x="3" y="0"/>
                </a:cubicBezTo>
                <a:cubicBezTo>
                  <a:pt x="1" y="0"/>
                  <a:pt x="0" y="1"/>
                  <a:pt x="0" y="2"/>
                </a:cubicBezTo>
                <a:cubicBezTo>
                  <a:pt x="0" y="61"/>
                  <a:pt x="0" y="61"/>
                  <a:pt x="0" y="61"/>
                </a:cubicBezTo>
                <a:cubicBezTo>
                  <a:pt x="0" y="63"/>
                  <a:pt x="1" y="64"/>
                  <a:pt x="3" y="64"/>
                </a:cubicBezTo>
                <a:cubicBezTo>
                  <a:pt x="83" y="64"/>
                  <a:pt x="83" y="64"/>
                  <a:pt x="83" y="64"/>
                </a:cubicBezTo>
                <a:cubicBezTo>
                  <a:pt x="84" y="64"/>
                  <a:pt x="85" y="63"/>
                  <a:pt x="85" y="61"/>
                </a:cubicBezTo>
                <a:cubicBezTo>
                  <a:pt x="85" y="2"/>
                  <a:pt x="85" y="2"/>
                  <a:pt x="85" y="2"/>
                </a:cubicBezTo>
                <a:cubicBezTo>
                  <a:pt x="85" y="1"/>
                  <a:pt x="84" y="0"/>
                  <a:pt x="83" y="0"/>
                </a:cubicBezTo>
                <a:close/>
                <a:moveTo>
                  <a:pt x="59" y="34"/>
                </a:moveTo>
                <a:cubicBezTo>
                  <a:pt x="33" y="49"/>
                  <a:pt x="33" y="49"/>
                  <a:pt x="33" y="49"/>
                </a:cubicBezTo>
                <a:cubicBezTo>
                  <a:pt x="32" y="49"/>
                  <a:pt x="31" y="49"/>
                  <a:pt x="31" y="48"/>
                </a:cubicBezTo>
                <a:cubicBezTo>
                  <a:pt x="31" y="15"/>
                  <a:pt x="31" y="15"/>
                  <a:pt x="31" y="15"/>
                </a:cubicBezTo>
                <a:cubicBezTo>
                  <a:pt x="31" y="15"/>
                  <a:pt x="32" y="14"/>
                  <a:pt x="33" y="15"/>
                </a:cubicBezTo>
                <a:cubicBezTo>
                  <a:pt x="59" y="29"/>
                  <a:pt x="59" y="29"/>
                  <a:pt x="59" y="29"/>
                </a:cubicBezTo>
                <a:cubicBezTo>
                  <a:pt x="62" y="31"/>
                  <a:pt x="62" y="33"/>
                  <a:pt x="59" y="34"/>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81" name="Group 80">
            <a:extLst>
              <a:ext uri="{FF2B5EF4-FFF2-40B4-BE49-F238E27FC236}">
                <a16:creationId xmlns:a16="http://schemas.microsoft.com/office/drawing/2014/main" id="{DAC5A076-EFDF-42DE-8399-041D0D0444B6}"/>
              </a:ext>
            </a:extLst>
          </p:cNvPr>
          <p:cNvGrpSpPr>
            <a:grpSpLocks noChangeAspect="1"/>
          </p:cNvGrpSpPr>
          <p:nvPr/>
        </p:nvGrpSpPr>
        <p:grpSpPr>
          <a:xfrm>
            <a:off x="2524174" y="3748057"/>
            <a:ext cx="347661" cy="274320"/>
            <a:chOff x="2565400" y="4160838"/>
            <a:chExt cx="579438" cy="457200"/>
          </a:xfrm>
          <a:solidFill>
            <a:srgbClr val="595555"/>
          </a:solidFill>
        </p:grpSpPr>
        <p:sp>
          <p:nvSpPr>
            <p:cNvPr id="82" name="Freeform 99">
              <a:extLst>
                <a:ext uri="{FF2B5EF4-FFF2-40B4-BE49-F238E27FC236}">
                  <a16:creationId xmlns:a16="http://schemas.microsoft.com/office/drawing/2014/main" id="{71B9184F-D79D-428A-A5D6-7D0F5BE0B003}"/>
                </a:ext>
              </a:extLst>
            </p:cNvPr>
            <p:cNvSpPr>
              <a:spLocks/>
            </p:cNvSpPr>
            <p:nvPr/>
          </p:nvSpPr>
          <p:spPr bwMode="auto">
            <a:xfrm>
              <a:off x="2565400" y="4160838"/>
              <a:ext cx="88900" cy="95250"/>
            </a:xfrm>
            <a:custGeom>
              <a:avLst/>
              <a:gdLst>
                <a:gd name="T0" fmla="*/ 11 w 13"/>
                <a:gd name="T1" fmla="*/ 0 h 14"/>
                <a:gd name="T2" fmla="*/ 3 w 13"/>
                <a:gd name="T3" fmla="*/ 0 h 14"/>
                <a:gd name="T4" fmla="*/ 0 w 13"/>
                <a:gd name="T5" fmla="*/ 3 h 14"/>
                <a:gd name="T6" fmla="*/ 0 w 13"/>
                <a:gd name="T7" fmla="*/ 11 h 14"/>
                <a:gd name="T8" fmla="*/ 3 w 13"/>
                <a:gd name="T9" fmla="*/ 14 h 14"/>
                <a:gd name="T10" fmla="*/ 11 w 13"/>
                <a:gd name="T11" fmla="*/ 14 h 14"/>
                <a:gd name="T12" fmla="*/ 13 w 13"/>
                <a:gd name="T13" fmla="*/ 11 h 14"/>
                <a:gd name="T14" fmla="*/ 13 w 13"/>
                <a:gd name="T15" fmla="*/ 3 h 14"/>
                <a:gd name="T16" fmla="*/ 11 w 1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4">
                  <a:moveTo>
                    <a:pt x="11" y="0"/>
                  </a:moveTo>
                  <a:cubicBezTo>
                    <a:pt x="3" y="0"/>
                    <a:pt x="3" y="0"/>
                    <a:pt x="3" y="0"/>
                  </a:cubicBezTo>
                  <a:cubicBezTo>
                    <a:pt x="1" y="0"/>
                    <a:pt x="0" y="2"/>
                    <a:pt x="0" y="3"/>
                  </a:cubicBezTo>
                  <a:cubicBezTo>
                    <a:pt x="0" y="11"/>
                    <a:pt x="0" y="11"/>
                    <a:pt x="0" y="11"/>
                  </a:cubicBezTo>
                  <a:cubicBezTo>
                    <a:pt x="0" y="13"/>
                    <a:pt x="1" y="14"/>
                    <a:pt x="3" y="14"/>
                  </a:cubicBezTo>
                  <a:cubicBezTo>
                    <a:pt x="11" y="14"/>
                    <a:pt x="11" y="14"/>
                    <a:pt x="11" y="14"/>
                  </a:cubicBezTo>
                  <a:cubicBezTo>
                    <a:pt x="12" y="14"/>
                    <a:pt x="13" y="13"/>
                    <a:pt x="13" y="11"/>
                  </a:cubicBezTo>
                  <a:cubicBezTo>
                    <a:pt x="13" y="3"/>
                    <a:pt x="13" y="3"/>
                    <a:pt x="13" y="3"/>
                  </a:cubicBezTo>
                  <a:cubicBezTo>
                    <a:pt x="13" y="2"/>
                    <a:pt x="12"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100">
              <a:extLst>
                <a:ext uri="{FF2B5EF4-FFF2-40B4-BE49-F238E27FC236}">
                  <a16:creationId xmlns:a16="http://schemas.microsoft.com/office/drawing/2014/main" id="{7A2746F3-D546-4189-94FD-90A665C71F47}"/>
                </a:ext>
              </a:extLst>
            </p:cNvPr>
            <p:cNvSpPr>
              <a:spLocks/>
            </p:cNvSpPr>
            <p:nvPr/>
          </p:nvSpPr>
          <p:spPr bwMode="auto">
            <a:xfrm>
              <a:off x="2565400" y="4344988"/>
              <a:ext cx="88900" cy="88900"/>
            </a:xfrm>
            <a:custGeom>
              <a:avLst/>
              <a:gdLst>
                <a:gd name="T0" fmla="*/ 11 w 13"/>
                <a:gd name="T1" fmla="*/ 0 h 13"/>
                <a:gd name="T2" fmla="*/ 3 w 13"/>
                <a:gd name="T3" fmla="*/ 0 h 13"/>
                <a:gd name="T4" fmla="*/ 0 w 13"/>
                <a:gd name="T5" fmla="*/ 3 h 13"/>
                <a:gd name="T6" fmla="*/ 0 w 13"/>
                <a:gd name="T7" fmla="*/ 11 h 13"/>
                <a:gd name="T8" fmla="*/ 3 w 13"/>
                <a:gd name="T9" fmla="*/ 13 h 13"/>
                <a:gd name="T10" fmla="*/ 11 w 13"/>
                <a:gd name="T11" fmla="*/ 13 h 13"/>
                <a:gd name="T12" fmla="*/ 13 w 13"/>
                <a:gd name="T13" fmla="*/ 11 h 13"/>
                <a:gd name="T14" fmla="*/ 13 w 13"/>
                <a:gd name="T15" fmla="*/ 3 h 13"/>
                <a:gd name="T16" fmla="*/ 11 w 13"/>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3">
                  <a:moveTo>
                    <a:pt x="11" y="0"/>
                  </a:moveTo>
                  <a:cubicBezTo>
                    <a:pt x="3" y="0"/>
                    <a:pt x="3" y="0"/>
                    <a:pt x="3" y="0"/>
                  </a:cubicBezTo>
                  <a:cubicBezTo>
                    <a:pt x="1" y="0"/>
                    <a:pt x="0" y="1"/>
                    <a:pt x="0" y="3"/>
                  </a:cubicBezTo>
                  <a:cubicBezTo>
                    <a:pt x="0" y="11"/>
                    <a:pt x="0" y="11"/>
                    <a:pt x="0" y="11"/>
                  </a:cubicBezTo>
                  <a:cubicBezTo>
                    <a:pt x="0" y="12"/>
                    <a:pt x="1" y="13"/>
                    <a:pt x="3" y="13"/>
                  </a:cubicBezTo>
                  <a:cubicBezTo>
                    <a:pt x="11" y="13"/>
                    <a:pt x="11" y="13"/>
                    <a:pt x="11" y="13"/>
                  </a:cubicBezTo>
                  <a:cubicBezTo>
                    <a:pt x="12" y="13"/>
                    <a:pt x="13" y="12"/>
                    <a:pt x="13" y="11"/>
                  </a:cubicBezTo>
                  <a:cubicBezTo>
                    <a:pt x="13" y="3"/>
                    <a:pt x="13" y="3"/>
                    <a:pt x="13" y="3"/>
                  </a:cubicBezTo>
                  <a:cubicBezTo>
                    <a:pt x="13" y="1"/>
                    <a:pt x="12"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101">
              <a:extLst>
                <a:ext uri="{FF2B5EF4-FFF2-40B4-BE49-F238E27FC236}">
                  <a16:creationId xmlns:a16="http://schemas.microsoft.com/office/drawing/2014/main" id="{D7115A89-0795-4D9C-9F3E-B7AEE909724D}"/>
                </a:ext>
              </a:extLst>
            </p:cNvPr>
            <p:cNvSpPr>
              <a:spLocks/>
            </p:cNvSpPr>
            <p:nvPr/>
          </p:nvSpPr>
          <p:spPr bwMode="auto">
            <a:xfrm>
              <a:off x="2565400" y="4529138"/>
              <a:ext cx="88900" cy="88900"/>
            </a:xfrm>
            <a:custGeom>
              <a:avLst/>
              <a:gdLst>
                <a:gd name="T0" fmla="*/ 11 w 13"/>
                <a:gd name="T1" fmla="*/ 0 h 13"/>
                <a:gd name="T2" fmla="*/ 3 w 13"/>
                <a:gd name="T3" fmla="*/ 0 h 13"/>
                <a:gd name="T4" fmla="*/ 0 w 13"/>
                <a:gd name="T5" fmla="*/ 2 h 13"/>
                <a:gd name="T6" fmla="*/ 0 w 13"/>
                <a:gd name="T7" fmla="*/ 10 h 13"/>
                <a:gd name="T8" fmla="*/ 3 w 13"/>
                <a:gd name="T9" fmla="*/ 13 h 13"/>
                <a:gd name="T10" fmla="*/ 11 w 13"/>
                <a:gd name="T11" fmla="*/ 13 h 13"/>
                <a:gd name="T12" fmla="*/ 13 w 13"/>
                <a:gd name="T13" fmla="*/ 10 h 13"/>
                <a:gd name="T14" fmla="*/ 13 w 13"/>
                <a:gd name="T15" fmla="*/ 2 h 13"/>
                <a:gd name="T16" fmla="*/ 11 w 13"/>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13">
                  <a:moveTo>
                    <a:pt x="11" y="0"/>
                  </a:moveTo>
                  <a:cubicBezTo>
                    <a:pt x="3" y="0"/>
                    <a:pt x="3" y="0"/>
                    <a:pt x="3" y="0"/>
                  </a:cubicBezTo>
                  <a:cubicBezTo>
                    <a:pt x="1" y="0"/>
                    <a:pt x="0" y="1"/>
                    <a:pt x="0" y="2"/>
                  </a:cubicBezTo>
                  <a:cubicBezTo>
                    <a:pt x="0" y="10"/>
                    <a:pt x="0" y="10"/>
                    <a:pt x="0" y="10"/>
                  </a:cubicBezTo>
                  <a:cubicBezTo>
                    <a:pt x="0" y="12"/>
                    <a:pt x="1" y="13"/>
                    <a:pt x="3" y="13"/>
                  </a:cubicBezTo>
                  <a:cubicBezTo>
                    <a:pt x="11" y="13"/>
                    <a:pt x="11" y="13"/>
                    <a:pt x="11" y="13"/>
                  </a:cubicBezTo>
                  <a:cubicBezTo>
                    <a:pt x="12" y="13"/>
                    <a:pt x="13" y="12"/>
                    <a:pt x="13" y="10"/>
                  </a:cubicBezTo>
                  <a:cubicBezTo>
                    <a:pt x="13" y="2"/>
                    <a:pt x="13" y="2"/>
                    <a:pt x="13" y="2"/>
                  </a:cubicBezTo>
                  <a:cubicBezTo>
                    <a:pt x="13" y="1"/>
                    <a:pt x="12"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5" name="Freeform 102">
              <a:extLst>
                <a:ext uri="{FF2B5EF4-FFF2-40B4-BE49-F238E27FC236}">
                  <a16:creationId xmlns:a16="http://schemas.microsoft.com/office/drawing/2014/main" id="{31EA5C9D-3555-47C2-848C-3CE564744D07}"/>
                </a:ext>
              </a:extLst>
            </p:cNvPr>
            <p:cNvSpPr>
              <a:spLocks/>
            </p:cNvSpPr>
            <p:nvPr/>
          </p:nvSpPr>
          <p:spPr bwMode="auto">
            <a:xfrm>
              <a:off x="2708275" y="4160838"/>
              <a:ext cx="436563" cy="95250"/>
            </a:xfrm>
            <a:custGeom>
              <a:avLst/>
              <a:gdLst>
                <a:gd name="T0" fmla="*/ 62 w 64"/>
                <a:gd name="T1" fmla="*/ 0 h 14"/>
                <a:gd name="T2" fmla="*/ 59 w 64"/>
                <a:gd name="T3" fmla="*/ 0 h 14"/>
                <a:gd name="T4" fmla="*/ 55 w 64"/>
                <a:gd name="T5" fmla="*/ 0 h 14"/>
                <a:gd name="T6" fmla="*/ 3 w 64"/>
                <a:gd name="T7" fmla="*/ 0 h 14"/>
                <a:gd name="T8" fmla="*/ 0 w 64"/>
                <a:gd name="T9" fmla="*/ 3 h 14"/>
                <a:gd name="T10" fmla="*/ 0 w 64"/>
                <a:gd name="T11" fmla="*/ 11 h 14"/>
                <a:gd name="T12" fmla="*/ 3 w 64"/>
                <a:gd name="T13" fmla="*/ 14 h 14"/>
                <a:gd name="T14" fmla="*/ 55 w 64"/>
                <a:gd name="T15" fmla="*/ 14 h 14"/>
                <a:gd name="T16" fmla="*/ 59 w 64"/>
                <a:gd name="T17" fmla="*/ 14 h 14"/>
                <a:gd name="T18" fmla="*/ 62 w 64"/>
                <a:gd name="T19" fmla="*/ 14 h 14"/>
                <a:gd name="T20" fmla="*/ 64 w 64"/>
                <a:gd name="T21" fmla="*/ 11 h 14"/>
                <a:gd name="T22" fmla="*/ 64 w 64"/>
                <a:gd name="T23" fmla="*/ 6 h 14"/>
                <a:gd name="T24" fmla="*/ 64 w 64"/>
                <a:gd name="T25" fmla="*/ 3 h 14"/>
                <a:gd name="T26" fmla="*/ 62 w 64"/>
                <a:gd name="T2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14">
                  <a:moveTo>
                    <a:pt x="62" y="0"/>
                  </a:moveTo>
                  <a:cubicBezTo>
                    <a:pt x="59" y="0"/>
                    <a:pt x="59" y="0"/>
                    <a:pt x="59" y="0"/>
                  </a:cubicBezTo>
                  <a:cubicBezTo>
                    <a:pt x="55" y="0"/>
                    <a:pt x="55" y="0"/>
                    <a:pt x="55" y="0"/>
                  </a:cubicBezTo>
                  <a:cubicBezTo>
                    <a:pt x="3" y="0"/>
                    <a:pt x="3" y="0"/>
                    <a:pt x="3" y="0"/>
                  </a:cubicBezTo>
                  <a:cubicBezTo>
                    <a:pt x="1" y="0"/>
                    <a:pt x="0" y="2"/>
                    <a:pt x="0" y="3"/>
                  </a:cubicBezTo>
                  <a:cubicBezTo>
                    <a:pt x="0" y="11"/>
                    <a:pt x="0" y="11"/>
                    <a:pt x="0" y="11"/>
                  </a:cubicBezTo>
                  <a:cubicBezTo>
                    <a:pt x="0" y="13"/>
                    <a:pt x="1" y="14"/>
                    <a:pt x="3" y="14"/>
                  </a:cubicBezTo>
                  <a:cubicBezTo>
                    <a:pt x="55" y="14"/>
                    <a:pt x="55" y="14"/>
                    <a:pt x="55" y="14"/>
                  </a:cubicBezTo>
                  <a:cubicBezTo>
                    <a:pt x="59" y="14"/>
                    <a:pt x="59" y="14"/>
                    <a:pt x="59" y="14"/>
                  </a:cubicBezTo>
                  <a:cubicBezTo>
                    <a:pt x="62" y="14"/>
                    <a:pt x="62" y="14"/>
                    <a:pt x="62" y="14"/>
                  </a:cubicBezTo>
                  <a:cubicBezTo>
                    <a:pt x="63" y="14"/>
                    <a:pt x="64" y="13"/>
                    <a:pt x="64" y="11"/>
                  </a:cubicBezTo>
                  <a:cubicBezTo>
                    <a:pt x="64" y="6"/>
                    <a:pt x="64" y="6"/>
                    <a:pt x="64" y="6"/>
                  </a:cubicBezTo>
                  <a:cubicBezTo>
                    <a:pt x="64" y="3"/>
                    <a:pt x="64" y="3"/>
                    <a:pt x="64" y="3"/>
                  </a:cubicBezTo>
                  <a:cubicBezTo>
                    <a:pt x="64" y="2"/>
                    <a:pt x="63"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103">
              <a:extLst>
                <a:ext uri="{FF2B5EF4-FFF2-40B4-BE49-F238E27FC236}">
                  <a16:creationId xmlns:a16="http://schemas.microsoft.com/office/drawing/2014/main" id="{547C54E0-6F0F-4253-879B-B4B2CA141F70}"/>
                </a:ext>
              </a:extLst>
            </p:cNvPr>
            <p:cNvSpPr>
              <a:spLocks/>
            </p:cNvSpPr>
            <p:nvPr/>
          </p:nvSpPr>
          <p:spPr bwMode="auto">
            <a:xfrm>
              <a:off x="2708275" y="4344988"/>
              <a:ext cx="436563" cy="88900"/>
            </a:xfrm>
            <a:custGeom>
              <a:avLst/>
              <a:gdLst>
                <a:gd name="T0" fmla="*/ 62 w 64"/>
                <a:gd name="T1" fmla="*/ 0 h 13"/>
                <a:gd name="T2" fmla="*/ 59 w 64"/>
                <a:gd name="T3" fmla="*/ 0 h 13"/>
                <a:gd name="T4" fmla="*/ 55 w 64"/>
                <a:gd name="T5" fmla="*/ 0 h 13"/>
                <a:gd name="T6" fmla="*/ 3 w 64"/>
                <a:gd name="T7" fmla="*/ 0 h 13"/>
                <a:gd name="T8" fmla="*/ 0 w 64"/>
                <a:gd name="T9" fmla="*/ 3 h 13"/>
                <a:gd name="T10" fmla="*/ 0 w 64"/>
                <a:gd name="T11" fmla="*/ 11 h 13"/>
                <a:gd name="T12" fmla="*/ 3 w 64"/>
                <a:gd name="T13" fmla="*/ 13 h 13"/>
                <a:gd name="T14" fmla="*/ 55 w 64"/>
                <a:gd name="T15" fmla="*/ 13 h 13"/>
                <a:gd name="T16" fmla="*/ 59 w 64"/>
                <a:gd name="T17" fmla="*/ 13 h 13"/>
                <a:gd name="T18" fmla="*/ 62 w 64"/>
                <a:gd name="T19" fmla="*/ 13 h 13"/>
                <a:gd name="T20" fmla="*/ 64 w 64"/>
                <a:gd name="T21" fmla="*/ 11 h 13"/>
                <a:gd name="T22" fmla="*/ 64 w 64"/>
                <a:gd name="T23" fmla="*/ 3 h 13"/>
                <a:gd name="T24" fmla="*/ 62 w 64"/>
                <a:gd name="T2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 h="13">
                  <a:moveTo>
                    <a:pt x="62" y="0"/>
                  </a:moveTo>
                  <a:cubicBezTo>
                    <a:pt x="59" y="0"/>
                    <a:pt x="59" y="0"/>
                    <a:pt x="59" y="0"/>
                  </a:cubicBezTo>
                  <a:cubicBezTo>
                    <a:pt x="55" y="0"/>
                    <a:pt x="55" y="0"/>
                    <a:pt x="55" y="0"/>
                  </a:cubicBezTo>
                  <a:cubicBezTo>
                    <a:pt x="3" y="0"/>
                    <a:pt x="3" y="0"/>
                    <a:pt x="3" y="0"/>
                  </a:cubicBezTo>
                  <a:cubicBezTo>
                    <a:pt x="1" y="0"/>
                    <a:pt x="0" y="1"/>
                    <a:pt x="0" y="3"/>
                  </a:cubicBezTo>
                  <a:cubicBezTo>
                    <a:pt x="0" y="11"/>
                    <a:pt x="0" y="11"/>
                    <a:pt x="0" y="11"/>
                  </a:cubicBezTo>
                  <a:cubicBezTo>
                    <a:pt x="0" y="12"/>
                    <a:pt x="1" y="13"/>
                    <a:pt x="3" y="13"/>
                  </a:cubicBezTo>
                  <a:cubicBezTo>
                    <a:pt x="55" y="13"/>
                    <a:pt x="55" y="13"/>
                    <a:pt x="55" y="13"/>
                  </a:cubicBezTo>
                  <a:cubicBezTo>
                    <a:pt x="59" y="13"/>
                    <a:pt x="59" y="13"/>
                    <a:pt x="59" y="13"/>
                  </a:cubicBezTo>
                  <a:cubicBezTo>
                    <a:pt x="62" y="13"/>
                    <a:pt x="62" y="13"/>
                    <a:pt x="62" y="13"/>
                  </a:cubicBezTo>
                  <a:cubicBezTo>
                    <a:pt x="63" y="13"/>
                    <a:pt x="64" y="12"/>
                    <a:pt x="64" y="11"/>
                  </a:cubicBezTo>
                  <a:cubicBezTo>
                    <a:pt x="64" y="3"/>
                    <a:pt x="64" y="3"/>
                    <a:pt x="64" y="3"/>
                  </a:cubicBezTo>
                  <a:cubicBezTo>
                    <a:pt x="64" y="1"/>
                    <a:pt x="63"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7" name="Freeform 104">
              <a:extLst>
                <a:ext uri="{FF2B5EF4-FFF2-40B4-BE49-F238E27FC236}">
                  <a16:creationId xmlns:a16="http://schemas.microsoft.com/office/drawing/2014/main" id="{B9B462DC-0459-4E2F-A69F-6651708F49CA}"/>
                </a:ext>
              </a:extLst>
            </p:cNvPr>
            <p:cNvSpPr>
              <a:spLocks/>
            </p:cNvSpPr>
            <p:nvPr/>
          </p:nvSpPr>
          <p:spPr bwMode="auto">
            <a:xfrm>
              <a:off x="2708275" y="4529138"/>
              <a:ext cx="436563" cy="88900"/>
            </a:xfrm>
            <a:custGeom>
              <a:avLst/>
              <a:gdLst>
                <a:gd name="T0" fmla="*/ 62 w 64"/>
                <a:gd name="T1" fmla="*/ 0 h 13"/>
                <a:gd name="T2" fmla="*/ 59 w 64"/>
                <a:gd name="T3" fmla="*/ 0 h 13"/>
                <a:gd name="T4" fmla="*/ 55 w 64"/>
                <a:gd name="T5" fmla="*/ 0 h 13"/>
                <a:gd name="T6" fmla="*/ 3 w 64"/>
                <a:gd name="T7" fmla="*/ 0 h 13"/>
                <a:gd name="T8" fmla="*/ 0 w 64"/>
                <a:gd name="T9" fmla="*/ 2 h 13"/>
                <a:gd name="T10" fmla="*/ 0 w 64"/>
                <a:gd name="T11" fmla="*/ 10 h 13"/>
                <a:gd name="T12" fmla="*/ 3 w 64"/>
                <a:gd name="T13" fmla="*/ 13 h 13"/>
                <a:gd name="T14" fmla="*/ 55 w 64"/>
                <a:gd name="T15" fmla="*/ 13 h 13"/>
                <a:gd name="T16" fmla="*/ 59 w 64"/>
                <a:gd name="T17" fmla="*/ 13 h 13"/>
                <a:gd name="T18" fmla="*/ 62 w 64"/>
                <a:gd name="T19" fmla="*/ 13 h 13"/>
                <a:gd name="T20" fmla="*/ 64 w 64"/>
                <a:gd name="T21" fmla="*/ 10 h 13"/>
                <a:gd name="T22" fmla="*/ 64 w 64"/>
                <a:gd name="T23" fmla="*/ 2 h 13"/>
                <a:gd name="T24" fmla="*/ 62 w 64"/>
                <a:gd name="T25"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4" h="13">
                  <a:moveTo>
                    <a:pt x="62" y="0"/>
                  </a:moveTo>
                  <a:cubicBezTo>
                    <a:pt x="59" y="0"/>
                    <a:pt x="59" y="0"/>
                    <a:pt x="59" y="0"/>
                  </a:cubicBezTo>
                  <a:cubicBezTo>
                    <a:pt x="55" y="0"/>
                    <a:pt x="55" y="0"/>
                    <a:pt x="55" y="0"/>
                  </a:cubicBezTo>
                  <a:cubicBezTo>
                    <a:pt x="3" y="0"/>
                    <a:pt x="3" y="0"/>
                    <a:pt x="3" y="0"/>
                  </a:cubicBezTo>
                  <a:cubicBezTo>
                    <a:pt x="1" y="0"/>
                    <a:pt x="0" y="1"/>
                    <a:pt x="0" y="2"/>
                  </a:cubicBezTo>
                  <a:cubicBezTo>
                    <a:pt x="0" y="10"/>
                    <a:pt x="0" y="10"/>
                    <a:pt x="0" y="10"/>
                  </a:cubicBezTo>
                  <a:cubicBezTo>
                    <a:pt x="0" y="12"/>
                    <a:pt x="1" y="13"/>
                    <a:pt x="3" y="13"/>
                  </a:cubicBezTo>
                  <a:cubicBezTo>
                    <a:pt x="55" y="13"/>
                    <a:pt x="55" y="13"/>
                    <a:pt x="55" y="13"/>
                  </a:cubicBezTo>
                  <a:cubicBezTo>
                    <a:pt x="59" y="13"/>
                    <a:pt x="59" y="13"/>
                    <a:pt x="59" y="13"/>
                  </a:cubicBezTo>
                  <a:cubicBezTo>
                    <a:pt x="62" y="13"/>
                    <a:pt x="62" y="13"/>
                    <a:pt x="62" y="13"/>
                  </a:cubicBezTo>
                  <a:cubicBezTo>
                    <a:pt x="63" y="13"/>
                    <a:pt x="64" y="12"/>
                    <a:pt x="64" y="10"/>
                  </a:cubicBezTo>
                  <a:cubicBezTo>
                    <a:pt x="64" y="2"/>
                    <a:pt x="64" y="2"/>
                    <a:pt x="64" y="2"/>
                  </a:cubicBezTo>
                  <a:cubicBezTo>
                    <a:pt x="64" y="1"/>
                    <a:pt x="63"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88" name="Freeform 105">
            <a:extLst>
              <a:ext uri="{FF2B5EF4-FFF2-40B4-BE49-F238E27FC236}">
                <a16:creationId xmlns:a16="http://schemas.microsoft.com/office/drawing/2014/main" id="{926DFC3F-6B30-4C8E-A107-9C675B5937F3}"/>
              </a:ext>
            </a:extLst>
          </p:cNvPr>
          <p:cNvSpPr>
            <a:spLocks noChangeAspect="1" noEditPoints="1"/>
          </p:cNvSpPr>
          <p:nvPr/>
        </p:nvSpPr>
        <p:spPr bwMode="auto">
          <a:xfrm>
            <a:off x="4499264" y="3673344"/>
            <a:ext cx="167598" cy="274320"/>
          </a:xfrm>
          <a:custGeom>
            <a:avLst/>
            <a:gdLst>
              <a:gd name="T0" fmla="*/ 18 w 52"/>
              <a:gd name="T1" fmla="*/ 59 h 85"/>
              <a:gd name="T2" fmla="*/ 33 w 52"/>
              <a:gd name="T3" fmla="*/ 22 h 85"/>
              <a:gd name="T4" fmla="*/ 22 w 52"/>
              <a:gd name="T5" fmla="*/ 14 h 85"/>
              <a:gd name="T6" fmla="*/ 7 w 52"/>
              <a:gd name="T7" fmla="*/ 20 h 85"/>
              <a:gd name="T8" fmla="*/ 0 w 52"/>
              <a:gd name="T9" fmla="*/ 10 h 85"/>
              <a:gd name="T10" fmla="*/ 28 w 52"/>
              <a:gd name="T11" fmla="*/ 0 h 85"/>
              <a:gd name="T12" fmla="*/ 52 w 52"/>
              <a:gd name="T13" fmla="*/ 20 h 85"/>
              <a:gd name="T14" fmla="*/ 33 w 52"/>
              <a:gd name="T15" fmla="*/ 59 h 85"/>
              <a:gd name="T16" fmla="*/ 18 w 52"/>
              <a:gd name="T17" fmla="*/ 59 h 85"/>
              <a:gd name="T18" fmla="*/ 17 w 52"/>
              <a:gd name="T19" fmla="*/ 85 h 85"/>
              <a:gd name="T20" fmla="*/ 17 w 52"/>
              <a:gd name="T21" fmla="*/ 67 h 85"/>
              <a:gd name="T22" fmla="*/ 36 w 52"/>
              <a:gd name="T23" fmla="*/ 67 h 85"/>
              <a:gd name="T24" fmla="*/ 36 w 52"/>
              <a:gd name="T25" fmla="*/ 85 h 85"/>
              <a:gd name="T26" fmla="*/ 17 w 52"/>
              <a:gd name="T2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85">
                <a:moveTo>
                  <a:pt x="18" y="59"/>
                </a:moveTo>
                <a:cubicBezTo>
                  <a:pt x="18" y="41"/>
                  <a:pt x="33" y="32"/>
                  <a:pt x="33" y="22"/>
                </a:cubicBezTo>
                <a:cubicBezTo>
                  <a:pt x="33" y="17"/>
                  <a:pt x="29" y="14"/>
                  <a:pt x="22" y="14"/>
                </a:cubicBezTo>
                <a:cubicBezTo>
                  <a:pt x="18" y="14"/>
                  <a:pt x="11" y="17"/>
                  <a:pt x="7" y="20"/>
                </a:cubicBezTo>
                <a:cubicBezTo>
                  <a:pt x="0" y="10"/>
                  <a:pt x="0" y="10"/>
                  <a:pt x="0" y="10"/>
                </a:cubicBezTo>
                <a:cubicBezTo>
                  <a:pt x="5" y="6"/>
                  <a:pt x="15" y="0"/>
                  <a:pt x="28" y="0"/>
                </a:cubicBezTo>
                <a:cubicBezTo>
                  <a:pt x="40" y="0"/>
                  <a:pt x="52" y="8"/>
                  <a:pt x="52" y="20"/>
                </a:cubicBezTo>
                <a:cubicBezTo>
                  <a:pt x="52" y="36"/>
                  <a:pt x="34" y="45"/>
                  <a:pt x="33" y="59"/>
                </a:cubicBezTo>
                <a:lnTo>
                  <a:pt x="18" y="59"/>
                </a:lnTo>
                <a:close/>
                <a:moveTo>
                  <a:pt x="17" y="85"/>
                </a:moveTo>
                <a:cubicBezTo>
                  <a:pt x="17" y="67"/>
                  <a:pt x="17" y="67"/>
                  <a:pt x="17" y="67"/>
                </a:cubicBezTo>
                <a:cubicBezTo>
                  <a:pt x="36" y="67"/>
                  <a:pt x="36" y="67"/>
                  <a:pt x="36" y="67"/>
                </a:cubicBezTo>
                <a:cubicBezTo>
                  <a:pt x="36" y="85"/>
                  <a:pt x="36" y="85"/>
                  <a:pt x="36" y="85"/>
                </a:cubicBezTo>
                <a:lnTo>
                  <a:pt x="17" y="8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89" name="Freeform 106">
            <a:extLst>
              <a:ext uri="{FF2B5EF4-FFF2-40B4-BE49-F238E27FC236}">
                <a16:creationId xmlns:a16="http://schemas.microsoft.com/office/drawing/2014/main" id="{AD675AFE-DFC5-4C82-9824-0C540800D72B}"/>
              </a:ext>
            </a:extLst>
          </p:cNvPr>
          <p:cNvSpPr>
            <a:spLocks noChangeAspect="1" noEditPoints="1"/>
          </p:cNvSpPr>
          <p:nvPr/>
        </p:nvSpPr>
        <p:spPr bwMode="auto">
          <a:xfrm>
            <a:off x="3445628" y="3673344"/>
            <a:ext cx="274320" cy="274320"/>
          </a:xfrm>
          <a:custGeom>
            <a:avLst/>
            <a:gdLst>
              <a:gd name="T0" fmla="*/ 43 w 85"/>
              <a:gd name="T1" fmla="*/ 0 h 85"/>
              <a:gd name="T2" fmla="*/ 0 w 85"/>
              <a:gd name="T3" fmla="*/ 43 h 85"/>
              <a:gd name="T4" fmla="*/ 43 w 85"/>
              <a:gd name="T5" fmla="*/ 85 h 85"/>
              <a:gd name="T6" fmla="*/ 85 w 85"/>
              <a:gd name="T7" fmla="*/ 43 h 85"/>
              <a:gd name="T8" fmla="*/ 43 w 85"/>
              <a:gd name="T9" fmla="*/ 0 h 85"/>
              <a:gd name="T10" fmla="*/ 48 w 85"/>
              <a:gd name="T11" fmla="*/ 69 h 85"/>
              <a:gd name="T12" fmla="*/ 37 w 85"/>
              <a:gd name="T13" fmla="*/ 69 h 85"/>
              <a:gd name="T14" fmla="*/ 37 w 85"/>
              <a:gd name="T15" fmla="*/ 59 h 85"/>
              <a:gd name="T16" fmla="*/ 48 w 85"/>
              <a:gd name="T17" fmla="*/ 59 h 85"/>
              <a:gd name="T18" fmla="*/ 48 w 85"/>
              <a:gd name="T19" fmla="*/ 69 h 85"/>
              <a:gd name="T20" fmla="*/ 46 w 85"/>
              <a:gd name="T21" fmla="*/ 53 h 85"/>
              <a:gd name="T22" fmla="*/ 38 w 85"/>
              <a:gd name="T23" fmla="*/ 53 h 85"/>
              <a:gd name="T24" fmla="*/ 46 w 85"/>
              <a:gd name="T25" fmla="*/ 32 h 85"/>
              <a:gd name="T26" fmla="*/ 40 w 85"/>
              <a:gd name="T27" fmla="*/ 27 h 85"/>
              <a:gd name="T28" fmla="*/ 31 w 85"/>
              <a:gd name="T29" fmla="*/ 31 h 85"/>
              <a:gd name="T30" fmla="*/ 27 w 85"/>
              <a:gd name="T31" fmla="*/ 25 h 85"/>
              <a:gd name="T32" fmla="*/ 44 w 85"/>
              <a:gd name="T33" fmla="*/ 19 h 85"/>
              <a:gd name="T34" fmla="*/ 58 w 85"/>
              <a:gd name="T35" fmla="*/ 30 h 85"/>
              <a:gd name="T36" fmla="*/ 46 w 85"/>
              <a:gd name="T37" fmla="*/ 5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5" h="85">
                <a:moveTo>
                  <a:pt x="43" y="0"/>
                </a:moveTo>
                <a:cubicBezTo>
                  <a:pt x="19" y="0"/>
                  <a:pt x="0" y="19"/>
                  <a:pt x="0" y="43"/>
                </a:cubicBezTo>
                <a:cubicBezTo>
                  <a:pt x="0" y="66"/>
                  <a:pt x="19" y="85"/>
                  <a:pt x="43" y="85"/>
                </a:cubicBezTo>
                <a:cubicBezTo>
                  <a:pt x="66" y="85"/>
                  <a:pt x="85" y="66"/>
                  <a:pt x="85" y="43"/>
                </a:cubicBezTo>
                <a:cubicBezTo>
                  <a:pt x="85" y="19"/>
                  <a:pt x="66" y="0"/>
                  <a:pt x="43" y="0"/>
                </a:cubicBezTo>
                <a:close/>
                <a:moveTo>
                  <a:pt x="48" y="69"/>
                </a:moveTo>
                <a:cubicBezTo>
                  <a:pt x="37" y="69"/>
                  <a:pt x="37" y="69"/>
                  <a:pt x="37" y="69"/>
                </a:cubicBezTo>
                <a:cubicBezTo>
                  <a:pt x="37" y="59"/>
                  <a:pt x="37" y="59"/>
                  <a:pt x="37" y="59"/>
                </a:cubicBezTo>
                <a:cubicBezTo>
                  <a:pt x="48" y="59"/>
                  <a:pt x="48" y="59"/>
                  <a:pt x="48" y="59"/>
                </a:cubicBezTo>
                <a:lnTo>
                  <a:pt x="48" y="69"/>
                </a:lnTo>
                <a:close/>
                <a:moveTo>
                  <a:pt x="46" y="53"/>
                </a:moveTo>
                <a:cubicBezTo>
                  <a:pt x="38" y="53"/>
                  <a:pt x="38" y="53"/>
                  <a:pt x="38" y="53"/>
                </a:cubicBezTo>
                <a:cubicBezTo>
                  <a:pt x="38" y="43"/>
                  <a:pt x="46" y="38"/>
                  <a:pt x="46" y="32"/>
                </a:cubicBezTo>
                <a:cubicBezTo>
                  <a:pt x="46" y="29"/>
                  <a:pt x="44" y="27"/>
                  <a:pt x="40" y="27"/>
                </a:cubicBezTo>
                <a:cubicBezTo>
                  <a:pt x="38" y="27"/>
                  <a:pt x="34" y="29"/>
                  <a:pt x="31" y="31"/>
                </a:cubicBezTo>
                <a:cubicBezTo>
                  <a:pt x="27" y="25"/>
                  <a:pt x="27" y="25"/>
                  <a:pt x="27" y="25"/>
                </a:cubicBezTo>
                <a:cubicBezTo>
                  <a:pt x="30" y="22"/>
                  <a:pt x="36" y="19"/>
                  <a:pt x="44" y="19"/>
                </a:cubicBezTo>
                <a:cubicBezTo>
                  <a:pt x="51" y="19"/>
                  <a:pt x="58" y="23"/>
                  <a:pt x="58" y="30"/>
                </a:cubicBezTo>
                <a:cubicBezTo>
                  <a:pt x="58" y="40"/>
                  <a:pt x="47" y="45"/>
                  <a:pt x="46" y="53"/>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0" name="Freeform 107">
            <a:extLst>
              <a:ext uri="{FF2B5EF4-FFF2-40B4-BE49-F238E27FC236}">
                <a16:creationId xmlns:a16="http://schemas.microsoft.com/office/drawing/2014/main" id="{25455074-3EAF-42CD-B374-54E0CCB3357E}"/>
              </a:ext>
            </a:extLst>
          </p:cNvPr>
          <p:cNvSpPr>
            <a:spLocks noChangeAspect="1" noEditPoints="1"/>
          </p:cNvSpPr>
          <p:nvPr/>
        </p:nvSpPr>
        <p:spPr bwMode="auto">
          <a:xfrm>
            <a:off x="5288532" y="3673344"/>
            <a:ext cx="274320" cy="274320"/>
          </a:xfrm>
          <a:custGeom>
            <a:avLst/>
            <a:gdLst>
              <a:gd name="T0" fmla="*/ 43 w 85"/>
              <a:gd name="T1" fmla="*/ 0 h 85"/>
              <a:gd name="T2" fmla="*/ 0 w 85"/>
              <a:gd name="T3" fmla="*/ 43 h 85"/>
              <a:gd name="T4" fmla="*/ 6 w 85"/>
              <a:gd name="T5" fmla="*/ 64 h 85"/>
              <a:gd name="T6" fmla="*/ 6 w 85"/>
              <a:gd name="T7" fmla="*/ 64 h 85"/>
              <a:gd name="T8" fmla="*/ 0 w 85"/>
              <a:gd name="T9" fmla="*/ 83 h 85"/>
              <a:gd name="T10" fmla="*/ 2 w 85"/>
              <a:gd name="T11" fmla="*/ 85 h 85"/>
              <a:gd name="T12" fmla="*/ 22 w 85"/>
              <a:gd name="T13" fmla="*/ 80 h 85"/>
              <a:gd name="T14" fmla="*/ 22 w 85"/>
              <a:gd name="T15" fmla="*/ 80 h 85"/>
              <a:gd name="T16" fmla="*/ 43 w 85"/>
              <a:gd name="T17" fmla="*/ 85 h 85"/>
              <a:gd name="T18" fmla="*/ 85 w 85"/>
              <a:gd name="T19" fmla="*/ 43 h 85"/>
              <a:gd name="T20" fmla="*/ 43 w 85"/>
              <a:gd name="T21" fmla="*/ 0 h 85"/>
              <a:gd name="T22" fmla="*/ 47 w 85"/>
              <a:gd name="T23" fmla="*/ 67 h 85"/>
              <a:gd name="T24" fmla="*/ 37 w 85"/>
              <a:gd name="T25" fmla="*/ 67 h 85"/>
              <a:gd name="T26" fmla="*/ 37 w 85"/>
              <a:gd name="T27" fmla="*/ 59 h 85"/>
              <a:gd name="T28" fmla="*/ 47 w 85"/>
              <a:gd name="T29" fmla="*/ 59 h 85"/>
              <a:gd name="T30" fmla="*/ 47 w 85"/>
              <a:gd name="T31" fmla="*/ 67 h 85"/>
              <a:gd name="T32" fmla="*/ 46 w 85"/>
              <a:gd name="T33" fmla="*/ 52 h 85"/>
              <a:gd name="T34" fmla="*/ 39 w 85"/>
              <a:gd name="T35" fmla="*/ 52 h 85"/>
              <a:gd name="T36" fmla="*/ 48 w 85"/>
              <a:gd name="T37" fmla="*/ 30 h 85"/>
              <a:gd name="T38" fmla="*/ 41 w 85"/>
              <a:gd name="T39" fmla="*/ 25 h 85"/>
              <a:gd name="T40" fmla="*/ 32 w 85"/>
              <a:gd name="T41" fmla="*/ 29 h 85"/>
              <a:gd name="T42" fmla="*/ 28 w 85"/>
              <a:gd name="T43" fmla="*/ 24 h 85"/>
              <a:gd name="T44" fmla="*/ 43 w 85"/>
              <a:gd name="T45" fmla="*/ 18 h 85"/>
              <a:gd name="T46" fmla="*/ 57 w 85"/>
              <a:gd name="T47" fmla="*/ 29 h 85"/>
              <a:gd name="T48" fmla="*/ 46 w 85"/>
              <a:gd name="T49" fmla="*/ 5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85">
                <a:moveTo>
                  <a:pt x="43" y="0"/>
                </a:moveTo>
                <a:cubicBezTo>
                  <a:pt x="19" y="0"/>
                  <a:pt x="0" y="19"/>
                  <a:pt x="0" y="43"/>
                </a:cubicBezTo>
                <a:cubicBezTo>
                  <a:pt x="0" y="51"/>
                  <a:pt x="2" y="58"/>
                  <a:pt x="6" y="64"/>
                </a:cubicBezTo>
                <a:cubicBezTo>
                  <a:pt x="6" y="64"/>
                  <a:pt x="6" y="64"/>
                  <a:pt x="6" y="64"/>
                </a:cubicBezTo>
                <a:cubicBezTo>
                  <a:pt x="0" y="83"/>
                  <a:pt x="0" y="83"/>
                  <a:pt x="0" y="83"/>
                </a:cubicBezTo>
                <a:cubicBezTo>
                  <a:pt x="0" y="84"/>
                  <a:pt x="1" y="85"/>
                  <a:pt x="2" y="85"/>
                </a:cubicBezTo>
                <a:cubicBezTo>
                  <a:pt x="22" y="80"/>
                  <a:pt x="22" y="80"/>
                  <a:pt x="22" y="80"/>
                </a:cubicBezTo>
                <a:cubicBezTo>
                  <a:pt x="22" y="80"/>
                  <a:pt x="22" y="80"/>
                  <a:pt x="22" y="80"/>
                </a:cubicBezTo>
                <a:cubicBezTo>
                  <a:pt x="28" y="84"/>
                  <a:pt x="35" y="85"/>
                  <a:pt x="43" y="85"/>
                </a:cubicBezTo>
                <a:cubicBezTo>
                  <a:pt x="66" y="85"/>
                  <a:pt x="85" y="66"/>
                  <a:pt x="85" y="43"/>
                </a:cubicBezTo>
                <a:cubicBezTo>
                  <a:pt x="85" y="19"/>
                  <a:pt x="66" y="0"/>
                  <a:pt x="43" y="0"/>
                </a:cubicBezTo>
                <a:close/>
                <a:moveTo>
                  <a:pt x="47" y="67"/>
                </a:moveTo>
                <a:cubicBezTo>
                  <a:pt x="37" y="67"/>
                  <a:pt x="37" y="67"/>
                  <a:pt x="37" y="67"/>
                </a:cubicBezTo>
                <a:cubicBezTo>
                  <a:pt x="37" y="59"/>
                  <a:pt x="37" y="59"/>
                  <a:pt x="37" y="59"/>
                </a:cubicBezTo>
                <a:cubicBezTo>
                  <a:pt x="47" y="59"/>
                  <a:pt x="47" y="59"/>
                  <a:pt x="47" y="59"/>
                </a:cubicBezTo>
                <a:lnTo>
                  <a:pt x="47" y="67"/>
                </a:lnTo>
                <a:close/>
                <a:moveTo>
                  <a:pt x="46" y="52"/>
                </a:moveTo>
                <a:cubicBezTo>
                  <a:pt x="39" y="52"/>
                  <a:pt x="39" y="52"/>
                  <a:pt x="39" y="52"/>
                </a:cubicBezTo>
                <a:cubicBezTo>
                  <a:pt x="39" y="42"/>
                  <a:pt x="48" y="37"/>
                  <a:pt x="48" y="30"/>
                </a:cubicBezTo>
                <a:cubicBezTo>
                  <a:pt x="48" y="27"/>
                  <a:pt x="45" y="25"/>
                  <a:pt x="41" y="25"/>
                </a:cubicBezTo>
                <a:cubicBezTo>
                  <a:pt x="38" y="25"/>
                  <a:pt x="34" y="27"/>
                  <a:pt x="32" y="29"/>
                </a:cubicBezTo>
                <a:cubicBezTo>
                  <a:pt x="28" y="24"/>
                  <a:pt x="28" y="24"/>
                  <a:pt x="28" y="24"/>
                </a:cubicBezTo>
                <a:cubicBezTo>
                  <a:pt x="31" y="22"/>
                  <a:pt x="37" y="18"/>
                  <a:pt x="43" y="18"/>
                </a:cubicBezTo>
                <a:cubicBezTo>
                  <a:pt x="50" y="18"/>
                  <a:pt x="57" y="22"/>
                  <a:pt x="57" y="29"/>
                </a:cubicBezTo>
                <a:cubicBezTo>
                  <a:pt x="57" y="38"/>
                  <a:pt x="47" y="43"/>
                  <a:pt x="46" y="52"/>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1" name="Freeform 108">
            <a:extLst>
              <a:ext uri="{FF2B5EF4-FFF2-40B4-BE49-F238E27FC236}">
                <a16:creationId xmlns:a16="http://schemas.microsoft.com/office/drawing/2014/main" id="{FC80EC43-0FEA-4894-B0D7-68196E3C8EC6}"/>
              </a:ext>
            </a:extLst>
          </p:cNvPr>
          <p:cNvSpPr>
            <a:spLocks noChangeAspect="1"/>
          </p:cNvSpPr>
          <p:nvPr/>
        </p:nvSpPr>
        <p:spPr bwMode="auto">
          <a:xfrm>
            <a:off x="6309600" y="3673344"/>
            <a:ext cx="194247" cy="274320"/>
          </a:xfrm>
          <a:custGeom>
            <a:avLst/>
            <a:gdLst>
              <a:gd name="T0" fmla="*/ 31 w 61"/>
              <a:gd name="T1" fmla="*/ 0 h 86"/>
              <a:gd name="T2" fmla="*/ 0 w 61"/>
              <a:gd name="T3" fmla="*/ 30 h 86"/>
              <a:gd name="T4" fmla="*/ 29 w 61"/>
              <a:gd name="T5" fmla="*/ 84 h 86"/>
              <a:gd name="T6" fmla="*/ 32 w 61"/>
              <a:gd name="T7" fmla="*/ 84 h 86"/>
              <a:gd name="T8" fmla="*/ 61 w 61"/>
              <a:gd name="T9" fmla="*/ 30 h 86"/>
              <a:gd name="T10" fmla="*/ 31 w 61"/>
              <a:gd name="T11" fmla="*/ 0 h 86"/>
            </a:gdLst>
            <a:ahLst/>
            <a:cxnLst>
              <a:cxn ang="0">
                <a:pos x="T0" y="T1"/>
              </a:cxn>
              <a:cxn ang="0">
                <a:pos x="T2" y="T3"/>
              </a:cxn>
              <a:cxn ang="0">
                <a:pos x="T4" y="T5"/>
              </a:cxn>
              <a:cxn ang="0">
                <a:pos x="T6" y="T7"/>
              </a:cxn>
              <a:cxn ang="0">
                <a:pos x="T8" y="T9"/>
              </a:cxn>
              <a:cxn ang="0">
                <a:pos x="T10" y="T11"/>
              </a:cxn>
            </a:cxnLst>
            <a:rect l="0" t="0" r="r" b="b"/>
            <a:pathLst>
              <a:path w="61" h="86">
                <a:moveTo>
                  <a:pt x="31" y="0"/>
                </a:moveTo>
                <a:cubicBezTo>
                  <a:pt x="14" y="0"/>
                  <a:pt x="0" y="14"/>
                  <a:pt x="0" y="30"/>
                </a:cubicBezTo>
                <a:cubicBezTo>
                  <a:pt x="0" y="47"/>
                  <a:pt x="29" y="84"/>
                  <a:pt x="29" y="84"/>
                </a:cubicBezTo>
                <a:cubicBezTo>
                  <a:pt x="30" y="86"/>
                  <a:pt x="31" y="86"/>
                  <a:pt x="32" y="84"/>
                </a:cubicBezTo>
                <a:cubicBezTo>
                  <a:pt x="32" y="84"/>
                  <a:pt x="61" y="47"/>
                  <a:pt x="61" y="30"/>
                </a:cubicBezTo>
                <a:cubicBezTo>
                  <a:pt x="61" y="14"/>
                  <a:pt x="47" y="0"/>
                  <a:pt x="31" y="0"/>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2" name="Freeform 109">
            <a:extLst>
              <a:ext uri="{FF2B5EF4-FFF2-40B4-BE49-F238E27FC236}">
                <a16:creationId xmlns:a16="http://schemas.microsoft.com/office/drawing/2014/main" id="{C8AD5F5F-4835-4E7B-9293-4B940B4A3549}"/>
              </a:ext>
            </a:extLst>
          </p:cNvPr>
          <p:cNvSpPr>
            <a:spLocks noChangeAspect="1" noEditPoints="1"/>
          </p:cNvSpPr>
          <p:nvPr/>
        </p:nvSpPr>
        <p:spPr bwMode="auto">
          <a:xfrm>
            <a:off x="7231053" y="3673344"/>
            <a:ext cx="194247" cy="274320"/>
          </a:xfrm>
          <a:custGeom>
            <a:avLst/>
            <a:gdLst>
              <a:gd name="T0" fmla="*/ 31 w 61"/>
              <a:gd name="T1" fmla="*/ 0 h 86"/>
              <a:gd name="T2" fmla="*/ 0 w 61"/>
              <a:gd name="T3" fmla="*/ 30 h 86"/>
              <a:gd name="T4" fmla="*/ 29 w 61"/>
              <a:gd name="T5" fmla="*/ 84 h 86"/>
              <a:gd name="T6" fmla="*/ 32 w 61"/>
              <a:gd name="T7" fmla="*/ 84 h 86"/>
              <a:gd name="T8" fmla="*/ 61 w 61"/>
              <a:gd name="T9" fmla="*/ 30 h 86"/>
              <a:gd name="T10" fmla="*/ 31 w 61"/>
              <a:gd name="T11" fmla="*/ 0 h 86"/>
              <a:gd name="T12" fmla="*/ 39 w 61"/>
              <a:gd name="T13" fmla="*/ 43 h 86"/>
              <a:gd name="T14" fmla="*/ 31 w 61"/>
              <a:gd name="T15" fmla="*/ 38 h 86"/>
              <a:gd name="T16" fmla="*/ 22 w 61"/>
              <a:gd name="T17" fmla="*/ 43 h 86"/>
              <a:gd name="T18" fmla="*/ 24 w 61"/>
              <a:gd name="T19" fmla="*/ 33 h 86"/>
              <a:gd name="T20" fmla="*/ 17 w 61"/>
              <a:gd name="T21" fmla="*/ 26 h 86"/>
              <a:gd name="T22" fmla="*/ 26 w 61"/>
              <a:gd name="T23" fmla="*/ 25 h 86"/>
              <a:gd name="T24" fmla="*/ 31 w 61"/>
              <a:gd name="T25" fmla="*/ 16 h 86"/>
              <a:gd name="T26" fmla="*/ 35 w 61"/>
              <a:gd name="T27" fmla="*/ 25 h 86"/>
              <a:gd name="T28" fmla="*/ 45 w 61"/>
              <a:gd name="T29" fmla="*/ 26 h 86"/>
              <a:gd name="T30" fmla="*/ 38 w 61"/>
              <a:gd name="T31" fmla="*/ 33 h 86"/>
              <a:gd name="T32" fmla="*/ 39 w 61"/>
              <a:gd name="T33"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1" h="86">
                <a:moveTo>
                  <a:pt x="31" y="0"/>
                </a:moveTo>
                <a:cubicBezTo>
                  <a:pt x="14" y="0"/>
                  <a:pt x="0" y="14"/>
                  <a:pt x="0" y="30"/>
                </a:cubicBezTo>
                <a:cubicBezTo>
                  <a:pt x="0" y="47"/>
                  <a:pt x="29" y="84"/>
                  <a:pt x="29" y="84"/>
                </a:cubicBezTo>
                <a:cubicBezTo>
                  <a:pt x="30" y="86"/>
                  <a:pt x="31" y="86"/>
                  <a:pt x="32" y="84"/>
                </a:cubicBezTo>
                <a:cubicBezTo>
                  <a:pt x="32" y="84"/>
                  <a:pt x="61" y="47"/>
                  <a:pt x="61" y="30"/>
                </a:cubicBezTo>
                <a:cubicBezTo>
                  <a:pt x="61" y="14"/>
                  <a:pt x="47" y="0"/>
                  <a:pt x="31" y="0"/>
                </a:cubicBezTo>
                <a:close/>
                <a:moveTo>
                  <a:pt x="39" y="43"/>
                </a:moveTo>
                <a:cubicBezTo>
                  <a:pt x="31" y="38"/>
                  <a:pt x="31" y="38"/>
                  <a:pt x="31" y="38"/>
                </a:cubicBezTo>
                <a:cubicBezTo>
                  <a:pt x="22" y="43"/>
                  <a:pt x="22" y="43"/>
                  <a:pt x="22" y="43"/>
                </a:cubicBezTo>
                <a:cubicBezTo>
                  <a:pt x="24" y="33"/>
                  <a:pt x="24" y="33"/>
                  <a:pt x="24" y="33"/>
                </a:cubicBezTo>
                <a:cubicBezTo>
                  <a:pt x="17" y="26"/>
                  <a:pt x="17" y="26"/>
                  <a:pt x="17" y="26"/>
                </a:cubicBezTo>
                <a:cubicBezTo>
                  <a:pt x="26" y="25"/>
                  <a:pt x="26" y="25"/>
                  <a:pt x="26" y="25"/>
                </a:cubicBezTo>
                <a:cubicBezTo>
                  <a:pt x="31" y="16"/>
                  <a:pt x="31" y="16"/>
                  <a:pt x="31" y="16"/>
                </a:cubicBezTo>
                <a:cubicBezTo>
                  <a:pt x="35" y="25"/>
                  <a:pt x="35" y="25"/>
                  <a:pt x="35" y="25"/>
                </a:cubicBezTo>
                <a:cubicBezTo>
                  <a:pt x="45" y="26"/>
                  <a:pt x="45" y="26"/>
                  <a:pt x="45" y="26"/>
                </a:cubicBezTo>
                <a:cubicBezTo>
                  <a:pt x="38" y="33"/>
                  <a:pt x="38" y="33"/>
                  <a:pt x="38" y="33"/>
                </a:cubicBezTo>
                <a:lnTo>
                  <a:pt x="39" y="43"/>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3" name="Freeform 110">
            <a:extLst>
              <a:ext uri="{FF2B5EF4-FFF2-40B4-BE49-F238E27FC236}">
                <a16:creationId xmlns:a16="http://schemas.microsoft.com/office/drawing/2014/main" id="{B33C7134-7FC8-4EE8-A399-4D685B7EF7D5}"/>
              </a:ext>
            </a:extLst>
          </p:cNvPr>
          <p:cNvSpPr>
            <a:spLocks noChangeAspect="1" noEditPoints="1"/>
          </p:cNvSpPr>
          <p:nvPr/>
        </p:nvSpPr>
        <p:spPr bwMode="auto">
          <a:xfrm>
            <a:off x="8054805" y="3673344"/>
            <a:ext cx="270612" cy="274320"/>
          </a:xfrm>
          <a:custGeom>
            <a:avLst/>
            <a:gdLst>
              <a:gd name="T0" fmla="*/ 42 w 85"/>
              <a:gd name="T1" fmla="*/ 0 h 86"/>
              <a:gd name="T2" fmla="*/ 0 w 85"/>
              <a:gd name="T3" fmla="*/ 43 h 86"/>
              <a:gd name="T4" fmla="*/ 43 w 85"/>
              <a:gd name="T5" fmla="*/ 85 h 86"/>
              <a:gd name="T6" fmla="*/ 85 w 85"/>
              <a:gd name="T7" fmla="*/ 42 h 86"/>
              <a:gd name="T8" fmla="*/ 42 w 85"/>
              <a:gd name="T9" fmla="*/ 0 h 86"/>
              <a:gd name="T10" fmla="*/ 48 w 85"/>
              <a:gd name="T11" fmla="*/ 76 h 86"/>
              <a:gd name="T12" fmla="*/ 48 w 85"/>
              <a:gd name="T13" fmla="*/ 59 h 86"/>
              <a:gd name="T14" fmla="*/ 45 w 85"/>
              <a:gd name="T15" fmla="*/ 56 h 86"/>
              <a:gd name="T16" fmla="*/ 40 w 85"/>
              <a:gd name="T17" fmla="*/ 56 h 86"/>
              <a:gd name="T18" fmla="*/ 37 w 85"/>
              <a:gd name="T19" fmla="*/ 59 h 86"/>
              <a:gd name="T20" fmla="*/ 37 w 85"/>
              <a:gd name="T21" fmla="*/ 76 h 86"/>
              <a:gd name="T22" fmla="*/ 9 w 85"/>
              <a:gd name="T23" fmla="*/ 48 h 86"/>
              <a:gd name="T24" fmla="*/ 27 w 85"/>
              <a:gd name="T25" fmla="*/ 48 h 86"/>
              <a:gd name="T26" fmla="*/ 29 w 85"/>
              <a:gd name="T27" fmla="*/ 45 h 86"/>
              <a:gd name="T28" fmla="*/ 29 w 85"/>
              <a:gd name="T29" fmla="*/ 40 h 86"/>
              <a:gd name="T30" fmla="*/ 27 w 85"/>
              <a:gd name="T31" fmla="*/ 37 h 86"/>
              <a:gd name="T32" fmla="*/ 9 w 85"/>
              <a:gd name="T33" fmla="*/ 37 h 86"/>
              <a:gd name="T34" fmla="*/ 37 w 85"/>
              <a:gd name="T35" fmla="*/ 9 h 86"/>
              <a:gd name="T36" fmla="*/ 37 w 85"/>
              <a:gd name="T37" fmla="*/ 27 h 86"/>
              <a:gd name="T38" fmla="*/ 40 w 85"/>
              <a:gd name="T39" fmla="*/ 29 h 86"/>
              <a:gd name="T40" fmla="*/ 45 w 85"/>
              <a:gd name="T41" fmla="*/ 29 h 86"/>
              <a:gd name="T42" fmla="*/ 48 w 85"/>
              <a:gd name="T43" fmla="*/ 27 h 86"/>
              <a:gd name="T44" fmla="*/ 48 w 85"/>
              <a:gd name="T45" fmla="*/ 9 h 86"/>
              <a:gd name="T46" fmla="*/ 76 w 85"/>
              <a:gd name="T47" fmla="*/ 37 h 86"/>
              <a:gd name="T48" fmla="*/ 59 w 85"/>
              <a:gd name="T49" fmla="*/ 37 h 86"/>
              <a:gd name="T50" fmla="*/ 56 w 85"/>
              <a:gd name="T51" fmla="*/ 40 h 86"/>
              <a:gd name="T52" fmla="*/ 56 w 85"/>
              <a:gd name="T53" fmla="*/ 45 h 86"/>
              <a:gd name="T54" fmla="*/ 59 w 85"/>
              <a:gd name="T55" fmla="*/ 48 h 86"/>
              <a:gd name="T56" fmla="*/ 76 w 85"/>
              <a:gd name="T57" fmla="*/ 48 h 86"/>
              <a:gd name="T58" fmla="*/ 48 w 85"/>
              <a:gd name="T59" fmla="*/ 7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86">
                <a:moveTo>
                  <a:pt x="42" y="0"/>
                </a:moveTo>
                <a:cubicBezTo>
                  <a:pt x="19" y="0"/>
                  <a:pt x="0" y="20"/>
                  <a:pt x="0" y="43"/>
                </a:cubicBezTo>
                <a:cubicBezTo>
                  <a:pt x="0" y="67"/>
                  <a:pt x="19" y="86"/>
                  <a:pt x="43" y="85"/>
                </a:cubicBezTo>
                <a:cubicBezTo>
                  <a:pt x="66" y="85"/>
                  <a:pt x="85" y="66"/>
                  <a:pt x="85" y="42"/>
                </a:cubicBezTo>
                <a:cubicBezTo>
                  <a:pt x="85" y="19"/>
                  <a:pt x="66" y="0"/>
                  <a:pt x="42" y="0"/>
                </a:cubicBezTo>
                <a:close/>
                <a:moveTo>
                  <a:pt x="48" y="76"/>
                </a:moveTo>
                <a:cubicBezTo>
                  <a:pt x="48" y="59"/>
                  <a:pt x="48" y="59"/>
                  <a:pt x="48" y="59"/>
                </a:cubicBezTo>
                <a:cubicBezTo>
                  <a:pt x="48" y="57"/>
                  <a:pt x="47" y="56"/>
                  <a:pt x="45" y="56"/>
                </a:cubicBezTo>
                <a:cubicBezTo>
                  <a:pt x="40" y="56"/>
                  <a:pt x="40" y="56"/>
                  <a:pt x="40" y="56"/>
                </a:cubicBezTo>
                <a:cubicBezTo>
                  <a:pt x="38" y="56"/>
                  <a:pt x="37" y="57"/>
                  <a:pt x="37" y="59"/>
                </a:cubicBezTo>
                <a:cubicBezTo>
                  <a:pt x="37" y="76"/>
                  <a:pt x="37" y="76"/>
                  <a:pt x="37" y="76"/>
                </a:cubicBezTo>
                <a:cubicBezTo>
                  <a:pt x="23" y="74"/>
                  <a:pt x="11" y="63"/>
                  <a:pt x="9" y="48"/>
                </a:cubicBezTo>
                <a:cubicBezTo>
                  <a:pt x="27" y="48"/>
                  <a:pt x="27" y="48"/>
                  <a:pt x="27" y="48"/>
                </a:cubicBezTo>
                <a:cubicBezTo>
                  <a:pt x="28" y="48"/>
                  <a:pt x="29" y="47"/>
                  <a:pt x="29" y="45"/>
                </a:cubicBezTo>
                <a:cubicBezTo>
                  <a:pt x="29" y="40"/>
                  <a:pt x="29" y="40"/>
                  <a:pt x="29" y="40"/>
                </a:cubicBezTo>
                <a:cubicBezTo>
                  <a:pt x="29" y="39"/>
                  <a:pt x="28" y="37"/>
                  <a:pt x="27" y="37"/>
                </a:cubicBezTo>
                <a:cubicBezTo>
                  <a:pt x="9" y="37"/>
                  <a:pt x="9" y="37"/>
                  <a:pt x="9" y="37"/>
                </a:cubicBezTo>
                <a:cubicBezTo>
                  <a:pt x="11" y="23"/>
                  <a:pt x="23" y="12"/>
                  <a:pt x="37" y="9"/>
                </a:cubicBezTo>
                <a:cubicBezTo>
                  <a:pt x="37" y="27"/>
                  <a:pt x="37" y="27"/>
                  <a:pt x="37" y="27"/>
                </a:cubicBezTo>
                <a:cubicBezTo>
                  <a:pt x="37" y="28"/>
                  <a:pt x="38" y="29"/>
                  <a:pt x="40" y="29"/>
                </a:cubicBezTo>
                <a:cubicBezTo>
                  <a:pt x="45" y="29"/>
                  <a:pt x="45" y="29"/>
                  <a:pt x="45" y="29"/>
                </a:cubicBezTo>
                <a:cubicBezTo>
                  <a:pt x="47" y="29"/>
                  <a:pt x="48" y="28"/>
                  <a:pt x="48" y="27"/>
                </a:cubicBezTo>
                <a:cubicBezTo>
                  <a:pt x="48" y="9"/>
                  <a:pt x="48" y="9"/>
                  <a:pt x="48" y="9"/>
                </a:cubicBezTo>
                <a:cubicBezTo>
                  <a:pt x="62" y="12"/>
                  <a:pt x="74" y="23"/>
                  <a:pt x="76" y="37"/>
                </a:cubicBezTo>
                <a:cubicBezTo>
                  <a:pt x="59" y="37"/>
                  <a:pt x="59" y="37"/>
                  <a:pt x="59" y="37"/>
                </a:cubicBezTo>
                <a:cubicBezTo>
                  <a:pt x="57" y="37"/>
                  <a:pt x="56" y="39"/>
                  <a:pt x="56" y="40"/>
                </a:cubicBezTo>
                <a:cubicBezTo>
                  <a:pt x="56" y="45"/>
                  <a:pt x="56" y="45"/>
                  <a:pt x="56" y="45"/>
                </a:cubicBezTo>
                <a:cubicBezTo>
                  <a:pt x="56" y="47"/>
                  <a:pt x="57" y="48"/>
                  <a:pt x="59" y="48"/>
                </a:cubicBezTo>
                <a:cubicBezTo>
                  <a:pt x="76" y="48"/>
                  <a:pt x="76" y="48"/>
                  <a:pt x="76" y="48"/>
                </a:cubicBezTo>
                <a:cubicBezTo>
                  <a:pt x="74" y="63"/>
                  <a:pt x="62" y="74"/>
                  <a:pt x="48" y="76"/>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94" name="Freeform 111">
            <a:extLst>
              <a:ext uri="{FF2B5EF4-FFF2-40B4-BE49-F238E27FC236}">
                <a16:creationId xmlns:a16="http://schemas.microsoft.com/office/drawing/2014/main" id="{229E42D5-8C64-477D-A083-C09AF47BA557}"/>
              </a:ext>
            </a:extLst>
          </p:cNvPr>
          <p:cNvSpPr>
            <a:spLocks noChangeAspect="1"/>
          </p:cNvSpPr>
          <p:nvPr/>
        </p:nvSpPr>
        <p:spPr bwMode="auto">
          <a:xfrm>
            <a:off x="9024149" y="3673344"/>
            <a:ext cx="235989" cy="274320"/>
          </a:xfrm>
          <a:custGeom>
            <a:avLst/>
            <a:gdLst>
              <a:gd name="T0" fmla="*/ 61 w 73"/>
              <a:gd name="T1" fmla="*/ 61 h 85"/>
              <a:gd name="T2" fmla="*/ 55 w 73"/>
              <a:gd name="T3" fmla="*/ 63 h 85"/>
              <a:gd name="T4" fmla="*/ 24 w 73"/>
              <a:gd name="T5" fmla="*/ 45 h 85"/>
              <a:gd name="T6" fmla="*/ 24 w 73"/>
              <a:gd name="T7" fmla="*/ 43 h 85"/>
              <a:gd name="T8" fmla="*/ 24 w 73"/>
              <a:gd name="T9" fmla="*/ 40 h 85"/>
              <a:gd name="T10" fmla="*/ 55 w 73"/>
              <a:gd name="T11" fmla="*/ 22 h 85"/>
              <a:gd name="T12" fmla="*/ 61 w 73"/>
              <a:gd name="T13" fmla="*/ 24 h 85"/>
              <a:gd name="T14" fmla="*/ 73 w 73"/>
              <a:gd name="T15" fmla="*/ 12 h 85"/>
              <a:gd name="T16" fmla="*/ 61 w 73"/>
              <a:gd name="T17" fmla="*/ 0 h 85"/>
              <a:gd name="T18" fmla="*/ 49 w 73"/>
              <a:gd name="T19" fmla="*/ 12 h 85"/>
              <a:gd name="T20" fmla="*/ 49 w 73"/>
              <a:gd name="T21" fmla="*/ 13 h 85"/>
              <a:gd name="T22" fmla="*/ 17 w 73"/>
              <a:gd name="T23" fmla="*/ 32 h 85"/>
              <a:gd name="T24" fmla="*/ 12 w 73"/>
              <a:gd name="T25" fmla="*/ 31 h 85"/>
              <a:gd name="T26" fmla="*/ 0 w 73"/>
              <a:gd name="T27" fmla="*/ 43 h 85"/>
              <a:gd name="T28" fmla="*/ 12 w 73"/>
              <a:gd name="T29" fmla="*/ 55 h 85"/>
              <a:gd name="T30" fmla="*/ 17 w 73"/>
              <a:gd name="T31" fmla="*/ 54 h 85"/>
              <a:gd name="T32" fmla="*/ 49 w 73"/>
              <a:gd name="T33" fmla="*/ 73 h 85"/>
              <a:gd name="T34" fmla="*/ 49 w 73"/>
              <a:gd name="T35" fmla="*/ 73 h 85"/>
              <a:gd name="T36" fmla="*/ 61 w 73"/>
              <a:gd name="T37" fmla="*/ 85 h 85"/>
              <a:gd name="T38" fmla="*/ 73 w 73"/>
              <a:gd name="T39" fmla="*/ 73 h 85"/>
              <a:gd name="T40" fmla="*/ 61 w 73"/>
              <a:gd name="T41" fmla="*/ 6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3" h="85">
                <a:moveTo>
                  <a:pt x="61" y="61"/>
                </a:moveTo>
                <a:cubicBezTo>
                  <a:pt x="59" y="61"/>
                  <a:pt x="56" y="62"/>
                  <a:pt x="55" y="63"/>
                </a:cubicBezTo>
                <a:cubicBezTo>
                  <a:pt x="24" y="45"/>
                  <a:pt x="24" y="45"/>
                  <a:pt x="24" y="45"/>
                </a:cubicBezTo>
                <a:cubicBezTo>
                  <a:pt x="24" y="44"/>
                  <a:pt x="24" y="44"/>
                  <a:pt x="24" y="43"/>
                </a:cubicBezTo>
                <a:cubicBezTo>
                  <a:pt x="24" y="42"/>
                  <a:pt x="24" y="41"/>
                  <a:pt x="24" y="40"/>
                </a:cubicBezTo>
                <a:cubicBezTo>
                  <a:pt x="55" y="22"/>
                  <a:pt x="55" y="22"/>
                  <a:pt x="55" y="22"/>
                </a:cubicBezTo>
                <a:cubicBezTo>
                  <a:pt x="56" y="23"/>
                  <a:pt x="59" y="24"/>
                  <a:pt x="61" y="24"/>
                </a:cubicBezTo>
                <a:cubicBezTo>
                  <a:pt x="68" y="24"/>
                  <a:pt x="73" y="19"/>
                  <a:pt x="73" y="12"/>
                </a:cubicBezTo>
                <a:cubicBezTo>
                  <a:pt x="73" y="5"/>
                  <a:pt x="68" y="0"/>
                  <a:pt x="61" y="0"/>
                </a:cubicBezTo>
                <a:cubicBezTo>
                  <a:pt x="55" y="0"/>
                  <a:pt x="49" y="5"/>
                  <a:pt x="49" y="12"/>
                </a:cubicBezTo>
                <a:cubicBezTo>
                  <a:pt x="49" y="12"/>
                  <a:pt x="49" y="13"/>
                  <a:pt x="49" y="13"/>
                </a:cubicBezTo>
                <a:cubicBezTo>
                  <a:pt x="17" y="32"/>
                  <a:pt x="17" y="32"/>
                  <a:pt x="17" y="32"/>
                </a:cubicBezTo>
                <a:cubicBezTo>
                  <a:pt x="15" y="31"/>
                  <a:pt x="14" y="31"/>
                  <a:pt x="12" y="31"/>
                </a:cubicBezTo>
                <a:cubicBezTo>
                  <a:pt x="5" y="31"/>
                  <a:pt x="0" y="36"/>
                  <a:pt x="0" y="43"/>
                </a:cubicBezTo>
                <a:cubicBezTo>
                  <a:pt x="0" y="49"/>
                  <a:pt x="5" y="55"/>
                  <a:pt x="12" y="55"/>
                </a:cubicBezTo>
                <a:cubicBezTo>
                  <a:pt x="14" y="55"/>
                  <a:pt x="15" y="54"/>
                  <a:pt x="17" y="54"/>
                </a:cubicBezTo>
                <a:cubicBezTo>
                  <a:pt x="49" y="73"/>
                  <a:pt x="49" y="73"/>
                  <a:pt x="49" y="73"/>
                </a:cubicBezTo>
                <a:cubicBezTo>
                  <a:pt x="49" y="73"/>
                  <a:pt x="49" y="73"/>
                  <a:pt x="49" y="73"/>
                </a:cubicBezTo>
                <a:cubicBezTo>
                  <a:pt x="49" y="80"/>
                  <a:pt x="55" y="85"/>
                  <a:pt x="61" y="85"/>
                </a:cubicBezTo>
                <a:cubicBezTo>
                  <a:pt x="68" y="85"/>
                  <a:pt x="73" y="80"/>
                  <a:pt x="73" y="73"/>
                </a:cubicBezTo>
                <a:cubicBezTo>
                  <a:pt x="73" y="67"/>
                  <a:pt x="68" y="61"/>
                  <a:pt x="61" y="61"/>
                </a:cubicBez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95" name="Group 94">
            <a:extLst>
              <a:ext uri="{FF2B5EF4-FFF2-40B4-BE49-F238E27FC236}">
                <a16:creationId xmlns:a16="http://schemas.microsoft.com/office/drawing/2014/main" id="{C6B8D40B-029B-47B9-BD70-A8934415D680}"/>
              </a:ext>
            </a:extLst>
          </p:cNvPr>
          <p:cNvGrpSpPr>
            <a:grpSpLocks noChangeAspect="1"/>
          </p:cNvGrpSpPr>
          <p:nvPr/>
        </p:nvGrpSpPr>
        <p:grpSpPr>
          <a:xfrm>
            <a:off x="9897709" y="3673344"/>
            <a:ext cx="274320" cy="274320"/>
            <a:chOff x="8675688" y="4098925"/>
            <a:chExt cx="579438" cy="579438"/>
          </a:xfrm>
          <a:solidFill>
            <a:srgbClr val="595555"/>
          </a:solidFill>
        </p:grpSpPr>
        <p:sp>
          <p:nvSpPr>
            <p:cNvPr id="96" name="Oval 112">
              <a:extLst>
                <a:ext uri="{FF2B5EF4-FFF2-40B4-BE49-F238E27FC236}">
                  <a16:creationId xmlns:a16="http://schemas.microsoft.com/office/drawing/2014/main" id="{428F1836-0A55-4127-86C7-6703D6BACA69}"/>
                </a:ext>
              </a:extLst>
            </p:cNvPr>
            <p:cNvSpPr>
              <a:spLocks noChangeArrowheads="1"/>
            </p:cNvSpPr>
            <p:nvPr/>
          </p:nvSpPr>
          <p:spPr bwMode="auto">
            <a:xfrm>
              <a:off x="8812213" y="4098925"/>
              <a:ext cx="306388" cy="3476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7" name="Freeform 113">
              <a:extLst>
                <a:ext uri="{FF2B5EF4-FFF2-40B4-BE49-F238E27FC236}">
                  <a16:creationId xmlns:a16="http://schemas.microsoft.com/office/drawing/2014/main" id="{5DF7FF98-3764-4FAA-9F7C-F4C19B4258DA}"/>
                </a:ext>
              </a:extLst>
            </p:cNvPr>
            <p:cNvSpPr>
              <a:spLocks/>
            </p:cNvSpPr>
            <p:nvPr/>
          </p:nvSpPr>
          <p:spPr bwMode="auto">
            <a:xfrm>
              <a:off x="8675688" y="4481513"/>
              <a:ext cx="579438" cy="196850"/>
            </a:xfrm>
            <a:custGeom>
              <a:avLst/>
              <a:gdLst>
                <a:gd name="T0" fmla="*/ 51 w 85"/>
                <a:gd name="T1" fmla="*/ 0 h 29"/>
                <a:gd name="T2" fmla="*/ 50 w 85"/>
                <a:gd name="T3" fmla="*/ 0 h 29"/>
                <a:gd name="T4" fmla="*/ 48 w 85"/>
                <a:gd name="T5" fmla="*/ 0 h 29"/>
                <a:gd name="T6" fmla="*/ 47 w 85"/>
                <a:gd name="T7" fmla="*/ 0 h 29"/>
                <a:gd name="T8" fmla="*/ 39 w 85"/>
                <a:gd name="T9" fmla="*/ 0 h 29"/>
                <a:gd name="T10" fmla="*/ 37 w 85"/>
                <a:gd name="T11" fmla="*/ 0 h 29"/>
                <a:gd name="T12" fmla="*/ 35 w 85"/>
                <a:gd name="T13" fmla="*/ 0 h 29"/>
                <a:gd name="T14" fmla="*/ 35 w 85"/>
                <a:gd name="T15" fmla="*/ 0 h 29"/>
                <a:gd name="T16" fmla="*/ 0 w 85"/>
                <a:gd name="T17" fmla="*/ 29 h 29"/>
                <a:gd name="T18" fmla="*/ 37 w 85"/>
                <a:gd name="T19" fmla="*/ 29 h 29"/>
                <a:gd name="T20" fmla="*/ 38 w 85"/>
                <a:gd name="T21" fmla="*/ 29 h 29"/>
                <a:gd name="T22" fmla="*/ 47 w 85"/>
                <a:gd name="T23" fmla="*/ 29 h 29"/>
                <a:gd name="T24" fmla="*/ 48 w 85"/>
                <a:gd name="T25" fmla="*/ 29 h 29"/>
                <a:gd name="T26" fmla="*/ 85 w 85"/>
                <a:gd name="T27" fmla="*/ 29 h 29"/>
                <a:gd name="T28" fmla="*/ 51 w 85"/>
                <a:gd name="T2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29">
                  <a:moveTo>
                    <a:pt x="51" y="0"/>
                  </a:moveTo>
                  <a:cubicBezTo>
                    <a:pt x="50" y="0"/>
                    <a:pt x="50" y="0"/>
                    <a:pt x="50" y="0"/>
                  </a:cubicBezTo>
                  <a:cubicBezTo>
                    <a:pt x="50" y="0"/>
                    <a:pt x="50" y="0"/>
                    <a:pt x="48" y="0"/>
                  </a:cubicBezTo>
                  <a:cubicBezTo>
                    <a:pt x="47" y="0"/>
                    <a:pt x="47" y="0"/>
                    <a:pt x="47" y="0"/>
                  </a:cubicBezTo>
                  <a:cubicBezTo>
                    <a:pt x="39" y="0"/>
                    <a:pt x="39" y="0"/>
                    <a:pt x="39" y="0"/>
                  </a:cubicBezTo>
                  <a:cubicBezTo>
                    <a:pt x="37" y="0"/>
                    <a:pt x="37" y="0"/>
                    <a:pt x="37" y="0"/>
                  </a:cubicBezTo>
                  <a:cubicBezTo>
                    <a:pt x="37" y="0"/>
                    <a:pt x="36" y="0"/>
                    <a:pt x="35" y="0"/>
                  </a:cubicBezTo>
                  <a:cubicBezTo>
                    <a:pt x="35" y="0"/>
                    <a:pt x="35" y="0"/>
                    <a:pt x="35" y="0"/>
                  </a:cubicBezTo>
                  <a:cubicBezTo>
                    <a:pt x="9" y="0"/>
                    <a:pt x="0" y="29"/>
                    <a:pt x="0" y="29"/>
                  </a:cubicBezTo>
                  <a:cubicBezTo>
                    <a:pt x="37" y="29"/>
                    <a:pt x="37" y="29"/>
                    <a:pt x="37" y="29"/>
                  </a:cubicBezTo>
                  <a:cubicBezTo>
                    <a:pt x="38" y="29"/>
                    <a:pt x="38" y="29"/>
                    <a:pt x="38" y="29"/>
                  </a:cubicBezTo>
                  <a:cubicBezTo>
                    <a:pt x="47" y="29"/>
                    <a:pt x="47" y="29"/>
                    <a:pt x="47" y="29"/>
                  </a:cubicBezTo>
                  <a:cubicBezTo>
                    <a:pt x="48" y="29"/>
                    <a:pt x="48" y="29"/>
                    <a:pt x="48" y="29"/>
                  </a:cubicBezTo>
                  <a:cubicBezTo>
                    <a:pt x="85" y="29"/>
                    <a:pt x="85" y="29"/>
                    <a:pt x="85" y="29"/>
                  </a:cubicBezTo>
                  <a:cubicBezTo>
                    <a:pt x="85" y="29"/>
                    <a:pt x="76" y="0"/>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98" name="Group 97">
            <a:extLst>
              <a:ext uri="{FF2B5EF4-FFF2-40B4-BE49-F238E27FC236}">
                <a16:creationId xmlns:a16="http://schemas.microsoft.com/office/drawing/2014/main" id="{66263440-1D57-4DAD-B4D1-2A41CE205B2E}"/>
              </a:ext>
            </a:extLst>
          </p:cNvPr>
          <p:cNvGrpSpPr>
            <a:grpSpLocks noChangeAspect="1"/>
          </p:cNvGrpSpPr>
          <p:nvPr/>
        </p:nvGrpSpPr>
        <p:grpSpPr>
          <a:xfrm>
            <a:off x="10819161" y="3673344"/>
            <a:ext cx="274320" cy="274320"/>
            <a:chOff x="9439275" y="4098925"/>
            <a:chExt cx="579438" cy="579438"/>
          </a:xfrm>
          <a:solidFill>
            <a:srgbClr val="595555"/>
          </a:solidFill>
        </p:grpSpPr>
        <p:sp>
          <p:nvSpPr>
            <p:cNvPr id="99" name="Freeform 114">
              <a:extLst>
                <a:ext uri="{FF2B5EF4-FFF2-40B4-BE49-F238E27FC236}">
                  <a16:creationId xmlns:a16="http://schemas.microsoft.com/office/drawing/2014/main" id="{79034A11-AC24-4346-9B1F-08C76CCA00BF}"/>
                </a:ext>
              </a:extLst>
            </p:cNvPr>
            <p:cNvSpPr>
              <a:spLocks/>
            </p:cNvSpPr>
            <p:nvPr/>
          </p:nvSpPr>
          <p:spPr bwMode="auto">
            <a:xfrm>
              <a:off x="9439275" y="4098925"/>
              <a:ext cx="579438" cy="579438"/>
            </a:xfrm>
            <a:custGeom>
              <a:avLst/>
              <a:gdLst>
                <a:gd name="T0" fmla="*/ 0 w 85"/>
                <a:gd name="T1" fmla="*/ 0 h 85"/>
                <a:gd name="T2" fmla="*/ 0 w 85"/>
                <a:gd name="T3" fmla="*/ 12 h 85"/>
                <a:gd name="T4" fmla="*/ 73 w 85"/>
                <a:gd name="T5" fmla="*/ 85 h 85"/>
                <a:gd name="T6" fmla="*/ 85 w 85"/>
                <a:gd name="T7" fmla="*/ 85 h 85"/>
                <a:gd name="T8" fmla="*/ 0 w 85"/>
                <a:gd name="T9" fmla="*/ 0 h 85"/>
              </a:gdLst>
              <a:ahLst/>
              <a:cxnLst>
                <a:cxn ang="0">
                  <a:pos x="T0" y="T1"/>
                </a:cxn>
                <a:cxn ang="0">
                  <a:pos x="T2" y="T3"/>
                </a:cxn>
                <a:cxn ang="0">
                  <a:pos x="T4" y="T5"/>
                </a:cxn>
                <a:cxn ang="0">
                  <a:pos x="T6" y="T7"/>
                </a:cxn>
                <a:cxn ang="0">
                  <a:pos x="T8" y="T9"/>
                </a:cxn>
              </a:cxnLst>
              <a:rect l="0" t="0" r="r" b="b"/>
              <a:pathLst>
                <a:path w="85" h="85">
                  <a:moveTo>
                    <a:pt x="0" y="0"/>
                  </a:moveTo>
                  <a:cubicBezTo>
                    <a:pt x="0" y="12"/>
                    <a:pt x="0" y="12"/>
                    <a:pt x="0" y="12"/>
                  </a:cubicBezTo>
                  <a:cubicBezTo>
                    <a:pt x="39" y="14"/>
                    <a:pt x="71" y="46"/>
                    <a:pt x="73" y="85"/>
                  </a:cubicBezTo>
                  <a:cubicBezTo>
                    <a:pt x="85" y="85"/>
                    <a:pt x="85" y="85"/>
                    <a:pt x="85" y="85"/>
                  </a:cubicBezTo>
                  <a:cubicBezTo>
                    <a:pt x="83" y="39"/>
                    <a:pt x="46"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115">
              <a:extLst>
                <a:ext uri="{FF2B5EF4-FFF2-40B4-BE49-F238E27FC236}">
                  <a16:creationId xmlns:a16="http://schemas.microsoft.com/office/drawing/2014/main" id="{AA1B92FA-3BD5-4DE3-BF49-0E0608982244}"/>
                </a:ext>
              </a:extLst>
            </p:cNvPr>
            <p:cNvSpPr>
              <a:spLocks/>
            </p:cNvSpPr>
            <p:nvPr/>
          </p:nvSpPr>
          <p:spPr bwMode="auto">
            <a:xfrm>
              <a:off x="9439275" y="4310063"/>
              <a:ext cx="368300" cy="368300"/>
            </a:xfrm>
            <a:custGeom>
              <a:avLst/>
              <a:gdLst>
                <a:gd name="T0" fmla="*/ 0 w 54"/>
                <a:gd name="T1" fmla="*/ 0 h 54"/>
                <a:gd name="T2" fmla="*/ 0 w 54"/>
                <a:gd name="T3" fmla="*/ 13 h 54"/>
                <a:gd name="T4" fmla="*/ 42 w 54"/>
                <a:gd name="T5" fmla="*/ 54 h 54"/>
                <a:gd name="T6" fmla="*/ 54 w 54"/>
                <a:gd name="T7" fmla="*/ 54 h 54"/>
                <a:gd name="T8" fmla="*/ 0 w 54"/>
                <a:gd name="T9" fmla="*/ 0 h 54"/>
              </a:gdLst>
              <a:ahLst/>
              <a:cxnLst>
                <a:cxn ang="0">
                  <a:pos x="T0" y="T1"/>
                </a:cxn>
                <a:cxn ang="0">
                  <a:pos x="T2" y="T3"/>
                </a:cxn>
                <a:cxn ang="0">
                  <a:pos x="T4" y="T5"/>
                </a:cxn>
                <a:cxn ang="0">
                  <a:pos x="T6" y="T7"/>
                </a:cxn>
                <a:cxn ang="0">
                  <a:pos x="T8" y="T9"/>
                </a:cxn>
              </a:cxnLst>
              <a:rect l="0" t="0" r="r" b="b"/>
              <a:pathLst>
                <a:path w="54" h="54">
                  <a:moveTo>
                    <a:pt x="0" y="0"/>
                  </a:moveTo>
                  <a:cubicBezTo>
                    <a:pt x="0" y="13"/>
                    <a:pt x="0" y="13"/>
                    <a:pt x="0" y="13"/>
                  </a:cubicBezTo>
                  <a:cubicBezTo>
                    <a:pt x="22" y="15"/>
                    <a:pt x="39" y="32"/>
                    <a:pt x="42" y="54"/>
                  </a:cubicBezTo>
                  <a:cubicBezTo>
                    <a:pt x="54" y="54"/>
                    <a:pt x="54" y="54"/>
                    <a:pt x="54" y="54"/>
                  </a:cubicBezTo>
                  <a:cubicBezTo>
                    <a:pt x="52" y="25"/>
                    <a:pt x="29" y="2"/>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1" name="Oval 116">
              <a:extLst>
                <a:ext uri="{FF2B5EF4-FFF2-40B4-BE49-F238E27FC236}">
                  <a16:creationId xmlns:a16="http://schemas.microsoft.com/office/drawing/2014/main" id="{C14948CF-6AF6-45EB-9FF2-EA63634EB221}"/>
                </a:ext>
              </a:extLst>
            </p:cNvPr>
            <p:cNvSpPr>
              <a:spLocks noChangeArrowheads="1"/>
            </p:cNvSpPr>
            <p:nvPr/>
          </p:nvSpPr>
          <p:spPr bwMode="auto">
            <a:xfrm>
              <a:off x="9439275" y="4535488"/>
              <a:ext cx="149225" cy="1428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02" name="Freeform 117">
            <a:extLst>
              <a:ext uri="{FF2B5EF4-FFF2-40B4-BE49-F238E27FC236}">
                <a16:creationId xmlns:a16="http://schemas.microsoft.com/office/drawing/2014/main" id="{F4A356FD-6575-4119-9116-6F36152745EF}"/>
              </a:ext>
            </a:extLst>
          </p:cNvPr>
          <p:cNvSpPr>
            <a:spLocks noChangeAspect="1"/>
          </p:cNvSpPr>
          <p:nvPr/>
        </p:nvSpPr>
        <p:spPr bwMode="auto">
          <a:xfrm>
            <a:off x="1767474" y="4594797"/>
            <a:ext cx="148404" cy="274320"/>
          </a:xfrm>
          <a:custGeom>
            <a:avLst/>
            <a:gdLst>
              <a:gd name="T0" fmla="*/ 17 w 46"/>
              <a:gd name="T1" fmla="*/ 85 h 85"/>
              <a:gd name="T2" fmla="*/ 17 w 46"/>
              <a:gd name="T3" fmla="*/ 73 h 85"/>
              <a:gd name="T4" fmla="*/ 0 w 46"/>
              <a:gd name="T5" fmla="*/ 68 h 85"/>
              <a:gd name="T6" fmla="*/ 6 w 46"/>
              <a:gd name="T7" fmla="*/ 56 h 85"/>
              <a:gd name="T8" fmla="*/ 20 w 46"/>
              <a:gd name="T9" fmla="*/ 60 h 85"/>
              <a:gd name="T10" fmla="*/ 28 w 46"/>
              <a:gd name="T11" fmla="*/ 55 h 85"/>
              <a:gd name="T12" fmla="*/ 2 w 46"/>
              <a:gd name="T13" fmla="*/ 30 h 85"/>
              <a:gd name="T14" fmla="*/ 17 w 46"/>
              <a:gd name="T15" fmla="*/ 12 h 85"/>
              <a:gd name="T16" fmla="*/ 17 w 46"/>
              <a:gd name="T17" fmla="*/ 0 h 85"/>
              <a:gd name="T18" fmla="*/ 29 w 46"/>
              <a:gd name="T19" fmla="*/ 0 h 85"/>
              <a:gd name="T20" fmla="*/ 29 w 46"/>
              <a:gd name="T21" fmla="*/ 11 h 85"/>
              <a:gd name="T22" fmla="*/ 45 w 46"/>
              <a:gd name="T23" fmla="*/ 16 h 85"/>
              <a:gd name="T24" fmla="*/ 40 w 46"/>
              <a:gd name="T25" fmla="*/ 28 h 85"/>
              <a:gd name="T26" fmla="*/ 27 w 46"/>
              <a:gd name="T27" fmla="*/ 25 h 85"/>
              <a:gd name="T28" fmla="*/ 19 w 46"/>
              <a:gd name="T29" fmla="*/ 29 h 85"/>
              <a:gd name="T30" fmla="*/ 46 w 46"/>
              <a:gd name="T31" fmla="*/ 54 h 85"/>
              <a:gd name="T32" fmla="*/ 29 w 46"/>
              <a:gd name="T33" fmla="*/ 73 h 85"/>
              <a:gd name="T34" fmla="*/ 29 w 46"/>
              <a:gd name="T35" fmla="*/ 85 h 85"/>
              <a:gd name="T36" fmla="*/ 17 w 46"/>
              <a:gd name="T37" fmla="*/ 8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6" h="85">
                <a:moveTo>
                  <a:pt x="17" y="85"/>
                </a:moveTo>
                <a:cubicBezTo>
                  <a:pt x="17" y="73"/>
                  <a:pt x="17" y="73"/>
                  <a:pt x="17" y="73"/>
                </a:cubicBezTo>
                <a:cubicBezTo>
                  <a:pt x="11" y="73"/>
                  <a:pt x="5" y="71"/>
                  <a:pt x="0" y="68"/>
                </a:cubicBezTo>
                <a:cubicBezTo>
                  <a:pt x="6" y="56"/>
                  <a:pt x="6" y="56"/>
                  <a:pt x="6" y="56"/>
                </a:cubicBezTo>
                <a:cubicBezTo>
                  <a:pt x="9" y="58"/>
                  <a:pt x="15" y="60"/>
                  <a:pt x="20" y="60"/>
                </a:cubicBezTo>
                <a:cubicBezTo>
                  <a:pt x="25" y="60"/>
                  <a:pt x="28" y="58"/>
                  <a:pt x="28" y="55"/>
                </a:cubicBezTo>
                <a:cubicBezTo>
                  <a:pt x="28" y="46"/>
                  <a:pt x="2" y="50"/>
                  <a:pt x="2" y="30"/>
                </a:cubicBezTo>
                <a:cubicBezTo>
                  <a:pt x="2" y="20"/>
                  <a:pt x="8" y="14"/>
                  <a:pt x="17" y="12"/>
                </a:cubicBezTo>
                <a:cubicBezTo>
                  <a:pt x="17" y="0"/>
                  <a:pt x="17" y="0"/>
                  <a:pt x="17" y="0"/>
                </a:cubicBezTo>
                <a:cubicBezTo>
                  <a:pt x="29" y="0"/>
                  <a:pt x="29" y="0"/>
                  <a:pt x="29" y="0"/>
                </a:cubicBezTo>
                <a:cubicBezTo>
                  <a:pt x="29" y="11"/>
                  <a:pt x="29" y="11"/>
                  <a:pt x="29" y="11"/>
                </a:cubicBezTo>
                <a:cubicBezTo>
                  <a:pt x="35" y="12"/>
                  <a:pt x="41" y="14"/>
                  <a:pt x="45" y="16"/>
                </a:cubicBezTo>
                <a:cubicBezTo>
                  <a:pt x="40" y="28"/>
                  <a:pt x="40" y="28"/>
                  <a:pt x="40" y="28"/>
                </a:cubicBezTo>
                <a:cubicBezTo>
                  <a:pt x="36" y="27"/>
                  <a:pt x="31" y="25"/>
                  <a:pt x="27" y="25"/>
                </a:cubicBezTo>
                <a:cubicBezTo>
                  <a:pt x="22" y="25"/>
                  <a:pt x="19" y="27"/>
                  <a:pt x="19" y="29"/>
                </a:cubicBezTo>
                <a:cubicBezTo>
                  <a:pt x="19" y="37"/>
                  <a:pt x="46" y="34"/>
                  <a:pt x="46" y="54"/>
                </a:cubicBezTo>
                <a:cubicBezTo>
                  <a:pt x="46" y="64"/>
                  <a:pt x="39" y="70"/>
                  <a:pt x="29" y="73"/>
                </a:cubicBezTo>
                <a:cubicBezTo>
                  <a:pt x="29" y="85"/>
                  <a:pt x="29" y="85"/>
                  <a:pt x="29" y="85"/>
                </a:cubicBezTo>
                <a:lnTo>
                  <a:pt x="17" y="8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03" name="Group 102">
            <a:extLst>
              <a:ext uri="{FF2B5EF4-FFF2-40B4-BE49-F238E27FC236}">
                <a16:creationId xmlns:a16="http://schemas.microsoft.com/office/drawing/2014/main" id="{69EA2709-4BC6-44A9-A82E-8D1F176A2012}"/>
              </a:ext>
            </a:extLst>
          </p:cNvPr>
          <p:cNvGrpSpPr>
            <a:grpSpLocks noChangeAspect="1"/>
          </p:cNvGrpSpPr>
          <p:nvPr/>
        </p:nvGrpSpPr>
        <p:grpSpPr>
          <a:xfrm>
            <a:off x="2524175" y="4594797"/>
            <a:ext cx="273570" cy="274320"/>
            <a:chOff x="2565400" y="4862513"/>
            <a:chExt cx="579438" cy="581025"/>
          </a:xfrm>
          <a:solidFill>
            <a:srgbClr val="595555"/>
          </a:solidFill>
        </p:grpSpPr>
        <p:sp>
          <p:nvSpPr>
            <p:cNvPr id="104" name="Freeform 118">
              <a:extLst>
                <a:ext uri="{FF2B5EF4-FFF2-40B4-BE49-F238E27FC236}">
                  <a16:creationId xmlns:a16="http://schemas.microsoft.com/office/drawing/2014/main" id="{AD71CC56-713B-433D-9621-C656FAA98BE4}"/>
                </a:ext>
              </a:extLst>
            </p:cNvPr>
            <p:cNvSpPr>
              <a:spLocks/>
            </p:cNvSpPr>
            <p:nvPr/>
          </p:nvSpPr>
          <p:spPr bwMode="auto">
            <a:xfrm>
              <a:off x="2716213" y="5019675"/>
              <a:ext cx="128588" cy="122238"/>
            </a:xfrm>
            <a:custGeom>
              <a:avLst/>
              <a:gdLst>
                <a:gd name="T0" fmla="*/ 0 w 19"/>
                <a:gd name="T1" fmla="*/ 18 h 18"/>
                <a:gd name="T2" fmla="*/ 19 w 19"/>
                <a:gd name="T3" fmla="*/ 18 h 18"/>
                <a:gd name="T4" fmla="*/ 19 w 19"/>
                <a:gd name="T5" fmla="*/ 2 h 18"/>
                <a:gd name="T6" fmla="*/ 3 w 19"/>
                <a:gd name="T7" fmla="*/ 0 h 18"/>
                <a:gd name="T8" fmla="*/ 0 w 19"/>
                <a:gd name="T9" fmla="*/ 18 h 18"/>
              </a:gdLst>
              <a:ahLst/>
              <a:cxnLst>
                <a:cxn ang="0">
                  <a:pos x="T0" y="T1"/>
                </a:cxn>
                <a:cxn ang="0">
                  <a:pos x="T2" y="T3"/>
                </a:cxn>
                <a:cxn ang="0">
                  <a:pos x="T4" y="T5"/>
                </a:cxn>
                <a:cxn ang="0">
                  <a:pos x="T6" y="T7"/>
                </a:cxn>
                <a:cxn ang="0">
                  <a:pos x="T8" y="T9"/>
                </a:cxn>
              </a:cxnLst>
              <a:rect l="0" t="0" r="r" b="b"/>
              <a:pathLst>
                <a:path w="19" h="18">
                  <a:moveTo>
                    <a:pt x="0" y="18"/>
                  </a:moveTo>
                  <a:cubicBezTo>
                    <a:pt x="19" y="18"/>
                    <a:pt x="19" y="18"/>
                    <a:pt x="19" y="18"/>
                  </a:cubicBezTo>
                  <a:cubicBezTo>
                    <a:pt x="19" y="2"/>
                    <a:pt x="19" y="2"/>
                    <a:pt x="19" y="2"/>
                  </a:cubicBezTo>
                  <a:cubicBezTo>
                    <a:pt x="14" y="1"/>
                    <a:pt x="8" y="1"/>
                    <a:pt x="3" y="0"/>
                  </a:cubicBezTo>
                  <a:cubicBezTo>
                    <a:pt x="1" y="5"/>
                    <a:pt x="0" y="12"/>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5" name="Freeform 119">
              <a:extLst>
                <a:ext uri="{FF2B5EF4-FFF2-40B4-BE49-F238E27FC236}">
                  <a16:creationId xmlns:a16="http://schemas.microsoft.com/office/drawing/2014/main" id="{25D84EA5-936C-47C7-B20D-7BF23D4AC824}"/>
                </a:ext>
              </a:extLst>
            </p:cNvPr>
            <p:cNvSpPr>
              <a:spLocks/>
            </p:cNvSpPr>
            <p:nvPr/>
          </p:nvSpPr>
          <p:spPr bwMode="auto">
            <a:xfrm>
              <a:off x="2647950" y="4862513"/>
              <a:ext cx="149225" cy="123825"/>
            </a:xfrm>
            <a:custGeom>
              <a:avLst/>
              <a:gdLst>
                <a:gd name="T0" fmla="*/ 11 w 22"/>
                <a:gd name="T1" fmla="*/ 18 h 18"/>
                <a:gd name="T2" fmla="*/ 13 w 22"/>
                <a:gd name="T3" fmla="*/ 11 h 18"/>
                <a:gd name="T4" fmla="*/ 22 w 22"/>
                <a:gd name="T5" fmla="*/ 0 h 18"/>
                <a:gd name="T6" fmla="*/ 0 w 22"/>
                <a:gd name="T7" fmla="*/ 13 h 18"/>
                <a:gd name="T8" fmla="*/ 2 w 22"/>
                <a:gd name="T9" fmla="*/ 14 h 18"/>
                <a:gd name="T10" fmla="*/ 11 w 22"/>
                <a:gd name="T11" fmla="*/ 18 h 18"/>
              </a:gdLst>
              <a:ahLst/>
              <a:cxnLst>
                <a:cxn ang="0">
                  <a:pos x="T0" y="T1"/>
                </a:cxn>
                <a:cxn ang="0">
                  <a:pos x="T2" y="T3"/>
                </a:cxn>
                <a:cxn ang="0">
                  <a:pos x="T4" y="T5"/>
                </a:cxn>
                <a:cxn ang="0">
                  <a:pos x="T6" y="T7"/>
                </a:cxn>
                <a:cxn ang="0">
                  <a:pos x="T8" y="T9"/>
                </a:cxn>
                <a:cxn ang="0">
                  <a:pos x="T10" y="T11"/>
                </a:cxn>
              </a:cxnLst>
              <a:rect l="0" t="0" r="r" b="b"/>
              <a:pathLst>
                <a:path w="22" h="18">
                  <a:moveTo>
                    <a:pt x="11" y="18"/>
                  </a:moveTo>
                  <a:cubicBezTo>
                    <a:pt x="11" y="15"/>
                    <a:pt x="12" y="13"/>
                    <a:pt x="13" y="11"/>
                  </a:cubicBezTo>
                  <a:cubicBezTo>
                    <a:pt x="16" y="6"/>
                    <a:pt x="19" y="3"/>
                    <a:pt x="22" y="0"/>
                  </a:cubicBezTo>
                  <a:cubicBezTo>
                    <a:pt x="14" y="2"/>
                    <a:pt x="6" y="7"/>
                    <a:pt x="0" y="13"/>
                  </a:cubicBezTo>
                  <a:cubicBezTo>
                    <a:pt x="1" y="13"/>
                    <a:pt x="1" y="14"/>
                    <a:pt x="2" y="14"/>
                  </a:cubicBezTo>
                  <a:cubicBezTo>
                    <a:pt x="4" y="15"/>
                    <a:pt x="7" y="17"/>
                    <a:pt x="11"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6" name="Freeform 120">
              <a:extLst>
                <a:ext uri="{FF2B5EF4-FFF2-40B4-BE49-F238E27FC236}">
                  <a16:creationId xmlns:a16="http://schemas.microsoft.com/office/drawing/2014/main" id="{AAA2A572-B485-4A11-BFE0-2BBF42F3372D}"/>
                </a:ext>
              </a:extLst>
            </p:cNvPr>
            <p:cNvSpPr>
              <a:spLocks/>
            </p:cNvSpPr>
            <p:nvPr/>
          </p:nvSpPr>
          <p:spPr bwMode="auto">
            <a:xfrm>
              <a:off x="2743200" y="4870450"/>
              <a:ext cx="101600" cy="136525"/>
            </a:xfrm>
            <a:custGeom>
              <a:avLst/>
              <a:gdLst>
                <a:gd name="T0" fmla="*/ 3 w 15"/>
                <a:gd name="T1" fmla="*/ 12 h 20"/>
                <a:gd name="T2" fmla="*/ 0 w 15"/>
                <a:gd name="T3" fmla="*/ 18 h 20"/>
                <a:gd name="T4" fmla="*/ 15 w 15"/>
                <a:gd name="T5" fmla="*/ 20 h 20"/>
                <a:gd name="T6" fmla="*/ 15 w 15"/>
                <a:gd name="T7" fmla="*/ 0 h 20"/>
                <a:gd name="T8" fmla="*/ 10 w 15"/>
                <a:gd name="T9" fmla="*/ 3 h 20"/>
                <a:gd name="T10" fmla="*/ 3 w 15"/>
                <a:gd name="T11" fmla="*/ 12 h 20"/>
              </a:gdLst>
              <a:ahLst/>
              <a:cxnLst>
                <a:cxn ang="0">
                  <a:pos x="T0" y="T1"/>
                </a:cxn>
                <a:cxn ang="0">
                  <a:pos x="T2" y="T3"/>
                </a:cxn>
                <a:cxn ang="0">
                  <a:pos x="T4" y="T5"/>
                </a:cxn>
                <a:cxn ang="0">
                  <a:pos x="T6" y="T7"/>
                </a:cxn>
                <a:cxn ang="0">
                  <a:pos x="T8" y="T9"/>
                </a:cxn>
                <a:cxn ang="0">
                  <a:pos x="T10" y="T11"/>
                </a:cxn>
              </a:cxnLst>
              <a:rect l="0" t="0" r="r" b="b"/>
              <a:pathLst>
                <a:path w="15" h="20">
                  <a:moveTo>
                    <a:pt x="3" y="12"/>
                  </a:moveTo>
                  <a:cubicBezTo>
                    <a:pt x="2" y="14"/>
                    <a:pt x="1" y="16"/>
                    <a:pt x="0" y="18"/>
                  </a:cubicBezTo>
                  <a:cubicBezTo>
                    <a:pt x="5" y="19"/>
                    <a:pt x="10" y="20"/>
                    <a:pt x="15" y="20"/>
                  </a:cubicBezTo>
                  <a:cubicBezTo>
                    <a:pt x="15" y="0"/>
                    <a:pt x="15" y="0"/>
                    <a:pt x="15" y="0"/>
                  </a:cubicBezTo>
                  <a:cubicBezTo>
                    <a:pt x="13" y="1"/>
                    <a:pt x="11" y="2"/>
                    <a:pt x="10" y="3"/>
                  </a:cubicBezTo>
                  <a:cubicBezTo>
                    <a:pt x="7" y="5"/>
                    <a:pt x="5" y="8"/>
                    <a:pt x="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7" name="Freeform 121">
              <a:extLst>
                <a:ext uri="{FF2B5EF4-FFF2-40B4-BE49-F238E27FC236}">
                  <a16:creationId xmlns:a16="http://schemas.microsoft.com/office/drawing/2014/main" id="{41B91015-3335-439C-9C21-5962D2EAE43E}"/>
                </a:ext>
              </a:extLst>
            </p:cNvPr>
            <p:cNvSpPr>
              <a:spLocks/>
            </p:cNvSpPr>
            <p:nvPr/>
          </p:nvSpPr>
          <p:spPr bwMode="auto">
            <a:xfrm>
              <a:off x="2565400" y="4972050"/>
              <a:ext cx="142875" cy="169863"/>
            </a:xfrm>
            <a:custGeom>
              <a:avLst/>
              <a:gdLst>
                <a:gd name="T0" fmla="*/ 21 w 21"/>
                <a:gd name="T1" fmla="*/ 5 h 25"/>
                <a:gd name="T2" fmla="*/ 12 w 21"/>
                <a:gd name="T3" fmla="*/ 1 h 25"/>
                <a:gd name="T4" fmla="*/ 9 w 21"/>
                <a:gd name="T5" fmla="*/ 0 h 25"/>
                <a:gd name="T6" fmla="*/ 0 w 21"/>
                <a:gd name="T7" fmla="*/ 25 h 25"/>
                <a:gd name="T8" fmla="*/ 18 w 21"/>
                <a:gd name="T9" fmla="*/ 25 h 25"/>
                <a:gd name="T10" fmla="*/ 21 w 21"/>
                <a:gd name="T11" fmla="*/ 5 h 25"/>
              </a:gdLst>
              <a:ahLst/>
              <a:cxnLst>
                <a:cxn ang="0">
                  <a:pos x="T0" y="T1"/>
                </a:cxn>
                <a:cxn ang="0">
                  <a:pos x="T2" y="T3"/>
                </a:cxn>
                <a:cxn ang="0">
                  <a:pos x="T4" y="T5"/>
                </a:cxn>
                <a:cxn ang="0">
                  <a:pos x="T6" y="T7"/>
                </a:cxn>
                <a:cxn ang="0">
                  <a:pos x="T8" y="T9"/>
                </a:cxn>
                <a:cxn ang="0">
                  <a:pos x="T10" y="T11"/>
                </a:cxn>
              </a:cxnLst>
              <a:rect l="0" t="0" r="r" b="b"/>
              <a:pathLst>
                <a:path w="21" h="25">
                  <a:moveTo>
                    <a:pt x="21" y="5"/>
                  </a:moveTo>
                  <a:cubicBezTo>
                    <a:pt x="18" y="4"/>
                    <a:pt x="15" y="3"/>
                    <a:pt x="12" y="1"/>
                  </a:cubicBezTo>
                  <a:cubicBezTo>
                    <a:pt x="11" y="1"/>
                    <a:pt x="10" y="0"/>
                    <a:pt x="9" y="0"/>
                  </a:cubicBezTo>
                  <a:cubicBezTo>
                    <a:pt x="4" y="7"/>
                    <a:pt x="0" y="16"/>
                    <a:pt x="0" y="25"/>
                  </a:cubicBezTo>
                  <a:cubicBezTo>
                    <a:pt x="18" y="25"/>
                    <a:pt x="18" y="25"/>
                    <a:pt x="18" y="25"/>
                  </a:cubicBezTo>
                  <a:cubicBezTo>
                    <a:pt x="19" y="18"/>
                    <a:pt x="20" y="12"/>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8" name="Freeform 122">
              <a:extLst>
                <a:ext uri="{FF2B5EF4-FFF2-40B4-BE49-F238E27FC236}">
                  <a16:creationId xmlns:a16="http://schemas.microsoft.com/office/drawing/2014/main" id="{F39F1603-2BBE-4DB0-A6FA-57AAF7984003}"/>
                </a:ext>
              </a:extLst>
            </p:cNvPr>
            <p:cNvSpPr>
              <a:spLocks/>
            </p:cNvSpPr>
            <p:nvPr/>
          </p:nvSpPr>
          <p:spPr bwMode="auto">
            <a:xfrm>
              <a:off x="2865438" y="5019675"/>
              <a:ext cx="130175" cy="122238"/>
            </a:xfrm>
            <a:custGeom>
              <a:avLst/>
              <a:gdLst>
                <a:gd name="T0" fmla="*/ 16 w 19"/>
                <a:gd name="T1" fmla="*/ 0 h 18"/>
                <a:gd name="T2" fmla="*/ 0 w 19"/>
                <a:gd name="T3" fmla="*/ 2 h 18"/>
                <a:gd name="T4" fmla="*/ 0 w 19"/>
                <a:gd name="T5" fmla="*/ 18 h 18"/>
                <a:gd name="T6" fmla="*/ 19 w 19"/>
                <a:gd name="T7" fmla="*/ 18 h 18"/>
                <a:gd name="T8" fmla="*/ 16 w 19"/>
                <a:gd name="T9" fmla="*/ 0 h 18"/>
              </a:gdLst>
              <a:ahLst/>
              <a:cxnLst>
                <a:cxn ang="0">
                  <a:pos x="T0" y="T1"/>
                </a:cxn>
                <a:cxn ang="0">
                  <a:pos x="T2" y="T3"/>
                </a:cxn>
                <a:cxn ang="0">
                  <a:pos x="T4" y="T5"/>
                </a:cxn>
                <a:cxn ang="0">
                  <a:pos x="T6" y="T7"/>
                </a:cxn>
                <a:cxn ang="0">
                  <a:pos x="T8" y="T9"/>
                </a:cxn>
              </a:cxnLst>
              <a:rect l="0" t="0" r="r" b="b"/>
              <a:pathLst>
                <a:path w="19" h="18">
                  <a:moveTo>
                    <a:pt x="16" y="0"/>
                  </a:moveTo>
                  <a:cubicBezTo>
                    <a:pt x="11" y="1"/>
                    <a:pt x="6" y="1"/>
                    <a:pt x="0" y="2"/>
                  </a:cubicBezTo>
                  <a:cubicBezTo>
                    <a:pt x="0" y="18"/>
                    <a:pt x="0" y="18"/>
                    <a:pt x="0" y="18"/>
                  </a:cubicBezTo>
                  <a:cubicBezTo>
                    <a:pt x="19" y="18"/>
                    <a:pt x="19" y="18"/>
                    <a:pt x="19" y="18"/>
                  </a:cubicBezTo>
                  <a:cubicBezTo>
                    <a:pt x="19" y="12"/>
                    <a:pt x="18" y="5"/>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9" name="Freeform 123">
              <a:extLst>
                <a:ext uri="{FF2B5EF4-FFF2-40B4-BE49-F238E27FC236}">
                  <a16:creationId xmlns:a16="http://schemas.microsoft.com/office/drawing/2014/main" id="{6A971951-757E-4B24-9130-E829B8056563}"/>
                </a:ext>
              </a:extLst>
            </p:cNvPr>
            <p:cNvSpPr>
              <a:spLocks/>
            </p:cNvSpPr>
            <p:nvPr/>
          </p:nvSpPr>
          <p:spPr bwMode="auto">
            <a:xfrm>
              <a:off x="2913063" y="4862513"/>
              <a:ext cx="150813" cy="123825"/>
            </a:xfrm>
            <a:custGeom>
              <a:avLst/>
              <a:gdLst>
                <a:gd name="T0" fmla="*/ 9 w 22"/>
                <a:gd name="T1" fmla="*/ 11 h 18"/>
                <a:gd name="T2" fmla="*/ 11 w 22"/>
                <a:gd name="T3" fmla="*/ 18 h 18"/>
                <a:gd name="T4" fmla="*/ 20 w 22"/>
                <a:gd name="T5" fmla="*/ 14 h 18"/>
                <a:gd name="T6" fmla="*/ 22 w 22"/>
                <a:gd name="T7" fmla="*/ 13 h 18"/>
                <a:gd name="T8" fmla="*/ 0 w 22"/>
                <a:gd name="T9" fmla="*/ 0 h 18"/>
                <a:gd name="T10" fmla="*/ 9 w 22"/>
                <a:gd name="T11" fmla="*/ 11 h 18"/>
              </a:gdLst>
              <a:ahLst/>
              <a:cxnLst>
                <a:cxn ang="0">
                  <a:pos x="T0" y="T1"/>
                </a:cxn>
                <a:cxn ang="0">
                  <a:pos x="T2" y="T3"/>
                </a:cxn>
                <a:cxn ang="0">
                  <a:pos x="T4" y="T5"/>
                </a:cxn>
                <a:cxn ang="0">
                  <a:pos x="T6" y="T7"/>
                </a:cxn>
                <a:cxn ang="0">
                  <a:pos x="T8" y="T9"/>
                </a:cxn>
                <a:cxn ang="0">
                  <a:pos x="T10" y="T11"/>
                </a:cxn>
              </a:cxnLst>
              <a:rect l="0" t="0" r="r" b="b"/>
              <a:pathLst>
                <a:path w="22" h="18">
                  <a:moveTo>
                    <a:pt x="9" y="11"/>
                  </a:moveTo>
                  <a:cubicBezTo>
                    <a:pt x="10" y="13"/>
                    <a:pt x="11" y="15"/>
                    <a:pt x="11" y="18"/>
                  </a:cubicBezTo>
                  <a:cubicBezTo>
                    <a:pt x="15" y="17"/>
                    <a:pt x="18" y="15"/>
                    <a:pt x="20" y="14"/>
                  </a:cubicBezTo>
                  <a:cubicBezTo>
                    <a:pt x="21" y="14"/>
                    <a:pt x="22" y="13"/>
                    <a:pt x="22" y="13"/>
                  </a:cubicBezTo>
                  <a:cubicBezTo>
                    <a:pt x="16" y="7"/>
                    <a:pt x="8" y="2"/>
                    <a:pt x="0" y="0"/>
                  </a:cubicBezTo>
                  <a:cubicBezTo>
                    <a:pt x="3" y="3"/>
                    <a:pt x="6" y="6"/>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0" name="Freeform 124">
              <a:extLst>
                <a:ext uri="{FF2B5EF4-FFF2-40B4-BE49-F238E27FC236}">
                  <a16:creationId xmlns:a16="http://schemas.microsoft.com/office/drawing/2014/main" id="{B45B890A-428E-4D5F-BC28-6CDDB780AA87}"/>
                </a:ext>
              </a:extLst>
            </p:cNvPr>
            <p:cNvSpPr>
              <a:spLocks/>
            </p:cNvSpPr>
            <p:nvPr/>
          </p:nvSpPr>
          <p:spPr bwMode="auto">
            <a:xfrm>
              <a:off x="2865438" y="4870450"/>
              <a:ext cx="103188" cy="136525"/>
            </a:xfrm>
            <a:custGeom>
              <a:avLst/>
              <a:gdLst>
                <a:gd name="T0" fmla="*/ 12 w 15"/>
                <a:gd name="T1" fmla="*/ 12 h 20"/>
                <a:gd name="T2" fmla="*/ 5 w 15"/>
                <a:gd name="T3" fmla="*/ 3 h 20"/>
                <a:gd name="T4" fmla="*/ 0 w 15"/>
                <a:gd name="T5" fmla="*/ 0 h 20"/>
                <a:gd name="T6" fmla="*/ 0 w 15"/>
                <a:gd name="T7" fmla="*/ 20 h 20"/>
                <a:gd name="T8" fmla="*/ 15 w 15"/>
                <a:gd name="T9" fmla="*/ 18 h 20"/>
                <a:gd name="T10" fmla="*/ 12 w 15"/>
                <a:gd name="T11" fmla="*/ 12 h 20"/>
              </a:gdLst>
              <a:ahLst/>
              <a:cxnLst>
                <a:cxn ang="0">
                  <a:pos x="T0" y="T1"/>
                </a:cxn>
                <a:cxn ang="0">
                  <a:pos x="T2" y="T3"/>
                </a:cxn>
                <a:cxn ang="0">
                  <a:pos x="T4" y="T5"/>
                </a:cxn>
                <a:cxn ang="0">
                  <a:pos x="T6" y="T7"/>
                </a:cxn>
                <a:cxn ang="0">
                  <a:pos x="T8" y="T9"/>
                </a:cxn>
                <a:cxn ang="0">
                  <a:pos x="T10" y="T11"/>
                </a:cxn>
              </a:cxnLst>
              <a:rect l="0" t="0" r="r" b="b"/>
              <a:pathLst>
                <a:path w="15" h="20">
                  <a:moveTo>
                    <a:pt x="12" y="12"/>
                  </a:moveTo>
                  <a:cubicBezTo>
                    <a:pt x="10" y="8"/>
                    <a:pt x="8" y="5"/>
                    <a:pt x="5" y="3"/>
                  </a:cubicBezTo>
                  <a:cubicBezTo>
                    <a:pt x="4" y="2"/>
                    <a:pt x="2" y="1"/>
                    <a:pt x="0" y="0"/>
                  </a:cubicBezTo>
                  <a:cubicBezTo>
                    <a:pt x="0" y="20"/>
                    <a:pt x="0" y="20"/>
                    <a:pt x="0" y="20"/>
                  </a:cubicBezTo>
                  <a:cubicBezTo>
                    <a:pt x="5" y="20"/>
                    <a:pt x="10" y="19"/>
                    <a:pt x="15" y="18"/>
                  </a:cubicBezTo>
                  <a:cubicBezTo>
                    <a:pt x="14" y="16"/>
                    <a:pt x="13" y="14"/>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1" name="Freeform 125">
              <a:extLst>
                <a:ext uri="{FF2B5EF4-FFF2-40B4-BE49-F238E27FC236}">
                  <a16:creationId xmlns:a16="http://schemas.microsoft.com/office/drawing/2014/main" id="{B88FD2EC-4869-4BBC-AC97-8A566B43ED81}"/>
                </a:ext>
              </a:extLst>
            </p:cNvPr>
            <p:cNvSpPr>
              <a:spLocks/>
            </p:cNvSpPr>
            <p:nvPr/>
          </p:nvSpPr>
          <p:spPr bwMode="auto">
            <a:xfrm>
              <a:off x="3001963" y="4972050"/>
              <a:ext cx="142875" cy="169863"/>
            </a:xfrm>
            <a:custGeom>
              <a:avLst/>
              <a:gdLst>
                <a:gd name="T0" fmla="*/ 3 w 21"/>
                <a:gd name="T1" fmla="*/ 25 h 25"/>
                <a:gd name="T2" fmla="*/ 21 w 21"/>
                <a:gd name="T3" fmla="*/ 25 h 25"/>
                <a:gd name="T4" fmla="*/ 12 w 21"/>
                <a:gd name="T5" fmla="*/ 0 h 25"/>
                <a:gd name="T6" fmla="*/ 9 w 21"/>
                <a:gd name="T7" fmla="*/ 1 h 25"/>
                <a:gd name="T8" fmla="*/ 0 w 21"/>
                <a:gd name="T9" fmla="*/ 5 h 25"/>
                <a:gd name="T10" fmla="*/ 3 w 21"/>
                <a:gd name="T11" fmla="*/ 25 h 25"/>
              </a:gdLst>
              <a:ahLst/>
              <a:cxnLst>
                <a:cxn ang="0">
                  <a:pos x="T0" y="T1"/>
                </a:cxn>
                <a:cxn ang="0">
                  <a:pos x="T2" y="T3"/>
                </a:cxn>
                <a:cxn ang="0">
                  <a:pos x="T4" y="T5"/>
                </a:cxn>
                <a:cxn ang="0">
                  <a:pos x="T6" y="T7"/>
                </a:cxn>
                <a:cxn ang="0">
                  <a:pos x="T8" y="T9"/>
                </a:cxn>
                <a:cxn ang="0">
                  <a:pos x="T10" y="T11"/>
                </a:cxn>
              </a:cxnLst>
              <a:rect l="0" t="0" r="r" b="b"/>
              <a:pathLst>
                <a:path w="21" h="25">
                  <a:moveTo>
                    <a:pt x="3" y="25"/>
                  </a:moveTo>
                  <a:cubicBezTo>
                    <a:pt x="21" y="25"/>
                    <a:pt x="21" y="25"/>
                    <a:pt x="21" y="25"/>
                  </a:cubicBezTo>
                  <a:cubicBezTo>
                    <a:pt x="21" y="16"/>
                    <a:pt x="17" y="7"/>
                    <a:pt x="12" y="0"/>
                  </a:cubicBezTo>
                  <a:cubicBezTo>
                    <a:pt x="11" y="0"/>
                    <a:pt x="10" y="1"/>
                    <a:pt x="9" y="1"/>
                  </a:cubicBezTo>
                  <a:cubicBezTo>
                    <a:pt x="6" y="3"/>
                    <a:pt x="3" y="4"/>
                    <a:pt x="0" y="5"/>
                  </a:cubicBezTo>
                  <a:cubicBezTo>
                    <a:pt x="1" y="12"/>
                    <a:pt x="2" y="18"/>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2" name="Freeform 126">
              <a:extLst>
                <a:ext uri="{FF2B5EF4-FFF2-40B4-BE49-F238E27FC236}">
                  <a16:creationId xmlns:a16="http://schemas.microsoft.com/office/drawing/2014/main" id="{33F9A555-EB69-463D-8DD0-C8371F9423B5}"/>
                </a:ext>
              </a:extLst>
            </p:cNvPr>
            <p:cNvSpPr>
              <a:spLocks/>
            </p:cNvSpPr>
            <p:nvPr/>
          </p:nvSpPr>
          <p:spPr bwMode="auto">
            <a:xfrm>
              <a:off x="2716213" y="5162550"/>
              <a:ext cx="128588" cy="130175"/>
            </a:xfrm>
            <a:custGeom>
              <a:avLst/>
              <a:gdLst>
                <a:gd name="T0" fmla="*/ 3 w 19"/>
                <a:gd name="T1" fmla="*/ 19 h 19"/>
                <a:gd name="T2" fmla="*/ 19 w 19"/>
                <a:gd name="T3" fmla="*/ 17 h 19"/>
                <a:gd name="T4" fmla="*/ 19 w 19"/>
                <a:gd name="T5" fmla="*/ 0 h 19"/>
                <a:gd name="T6" fmla="*/ 0 w 19"/>
                <a:gd name="T7" fmla="*/ 0 h 19"/>
                <a:gd name="T8" fmla="*/ 3 w 19"/>
                <a:gd name="T9" fmla="*/ 19 h 19"/>
              </a:gdLst>
              <a:ahLst/>
              <a:cxnLst>
                <a:cxn ang="0">
                  <a:pos x="T0" y="T1"/>
                </a:cxn>
                <a:cxn ang="0">
                  <a:pos x="T2" y="T3"/>
                </a:cxn>
                <a:cxn ang="0">
                  <a:pos x="T4" y="T5"/>
                </a:cxn>
                <a:cxn ang="0">
                  <a:pos x="T6" y="T7"/>
                </a:cxn>
                <a:cxn ang="0">
                  <a:pos x="T8" y="T9"/>
                </a:cxn>
              </a:cxnLst>
              <a:rect l="0" t="0" r="r" b="b"/>
              <a:pathLst>
                <a:path w="19" h="19">
                  <a:moveTo>
                    <a:pt x="3" y="19"/>
                  </a:moveTo>
                  <a:cubicBezTo>
                    <a:pt x="8" y="18"/>
                    <a:pt x="14" y="17"/>
                    <a:pt x="19" y="17"/>
                  </a:cubicBezTo>
                  <a:cubicBezTo>
                    <a:pt x="19" y="0"/>
                    <a:pt x="19" y="0"/>
                    <a:pt x="19" y="0"/>
                  </a:cubicBezTo>
                  <a:cubicBezTo>
                    <a:pt x="0" y="0"/>
                    <a:pt x="0" y="0"/>
                    <a:pt x="0" y="0"/>
                  </a:cubicBezTo>
                  <a:cubicBezTo>
                    <a:pt x="0" y="7"/>
                    <a:pt x="1" y="13"/>
                    <a:pt x="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3" name="Freeform 127">
              <a:extLst>
                <a:ext uri="{FF2B5EF4-FFF2-40B4-BE49-F238E27FC236}">
                  <a16:creationId xmlns:a16="http://schemas.microsoft.com/office/drawing/2014/main" id="{12FB5F41-CF55-491D-AC39-2FFA20178882}"/>
                </a:ext>
              </a:extLst>
            </p:cNvPr>
            <p:cNvSpPr>
              <a:spLocks/>
            </p:cNvSpPr>
            <p:nvPr/>
          </p:nvSpPr>
          <p:spPr bwMode="auto">
            <a:xfrm>
              <a:off x="2647950" y="5326063"/>
              <a:ext cx="149225" cy="117475"/>
            </a:xfrm>
            <a:custGeom>
              <a:avLst/>
              <a:gdLst>
                <a:gd name="T0" fmla="*/ 13 w 22"/>
                <a:gd name="T1" fmla="*/ 6 h 17"/>
                <a:gd name="T2" fmla="*/ 11 w 22"/>
                <a:gd name="T3" fmla="*/ 0 h 17"/>
                <a:gd name="T4" fmla="*/ 2 w 22"/>
                <a:gd name="T5" fmla="*/ 4 h 17"/>
                <a:gd name="T6" fmla="*/ 0 w 22"/>
                <a:gd name="T7" fmla="*/ 5 h 17"/>
                <a:gd name="T8" fmla="*/ 22 w 22"/>
                <a:gd name="T9" fmla="*/ 17 h 17"/>
                <a:gd name="T10" fmla="*/ 13 w 22"/>
                <a:gd name="T11" fmla="*/ 6 h 17"/>
              </a:gdLst>
              <a:ahLst/>
              <a:cxnLst>
                <a:cxn ang="0">
                  <a:pos x="T0" y="T1"/>
                </a:cxn>
                <a:cxn ang="0">
                  <a:pos x="T2" y="T3"/>
                </a:cxn>
                <a:cxn ang="0">
                  <a:pos x="T4" y="T5"/>
                </a:cxn>
                <a:cxn ang="0">
                  <a:pos x="T6" y="T7"/>
                </a:cxn>
                <a:cxn ang="0">
                  <a:pos x="T8" y="T9"/>
                </a:cxn>
                <a:cxn ang="0">
                  <a:pos x="T10" y="T11"/>
                </a:cxn>
              </a:cxnLst>
              <a:rect l="0" t="0" r="r" b="b"/>
              <a:pathLst>
                <a:path w="22" h="17">
                  <a:moveTo>
                    <a:pt x="13" y="6"/>
                  </a:moveTo>
                  <a:cubicBezTo>
                    <a:pt x="12" y="4"/>
                    <a:pt x="11" y="2"/>
                    <a:pt x="11" y="0"/>
                  </a:cubicBezTo>
                  <a:cubicBezTo>
                    <a:pt x="7" y="1"/>
                    <a:pt x="4" y="2"/>
                    <a:pt x="2" y="4"/>
                  </a:cubicBezTo>
                  <a:cubicBezTo>
                    <a:pt x="1" y="4"/>
                    <a:pt x="1" y="4"/>
                    <a:pt x="0" y="5"/>
                  </a:cubicBezTo>
                  <a:cubicBezTo>
                    <a:pt x="6" y="11"/>
                    <a:pt x="14" y="16"/>
                    <a:pt x="22" y="17"/>
                  </a:cubicBezTo>
                  <a:cubicBezTo>
                    <a:pt x="19" y="15"/>
                    <a:pt x="16" y="11"/>
                    <a:pt x="1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4" name="Freeform 128">
              <a:extLst>
                <a:ext uri="{FF2B5EF4-FFF2-40B4-BE49-F238E27FC236}">
                  <a16:creationId xmlns:a16="http://schemas.microsoft.com/office/drawing/2014/main" id="{83CCC2AC-D00B-48E6-A012-DF278C627276}"/>
                </a:ext>
              </a:extLst>
            </p:cNvPr>
            <p:cNvSpPr>
              <a:spLocks/>
            </p:cNvSpPr>
            <p:nvPr/>
          </p:nvSpPr>
          <p:spPr bwMode="auto">
            <a:xfrm>
              <a:off x="2743200" y="5307013"/>
              <a:ext cx="101600" cy="128588"/>
            </a:xfrm>
            <a:custGeom>
              <a:avLst/>
              <a:gdLst>
                <a:gd name="T0" fmla="*/ 3 w 15"/>
                <a:gd name="T1" fmla="*/ 7 h 19"/>
                <a:gd name="T2" fmla="*/ 10 w 15"/>
                <a:gd name="T3" fmla="*/ 16 h 19"/>
                <a:gd name="T4" fmla="*/ 15 w 15"/>
                <a:gd name="T5" fmla="*/ 19 h 19"/>
                <a:gd name="T6" fmla="*/ 15 w 15"/>
                <a:gd name="T7" fmla="*/ 0 h 19"/>
                <a:gd name="T8" fmla="*/ 0 w 15"/>
                <a:gd name="T9" fmla="*/ 2 h 19"/>
                <a:gd name="T10" fmla="*/ 3 w 15"/>
                <a:gd name="T11" fmla="*/ 7 h 19"/>
              </a:gdLst>
              <a:ahLst/>
              <a:cxnLst>
                <a:cxn ang="0">
                  <a:pos x="T0" y="T1"/>
                </a:cxn>
                <a:cxn ang="0">
                  <a:pos x="T2" y="T3"/>
                </a:cxn>
                <a:cxn ang="0">
                  <a:pos x="T4" y="T5"/>
                </a:cxn>
                <a:cxn ang="0">
                  <a:pos x="T6" y="T7"/>
                </a:cxn>
                <a:cxn ang="0">
                  <a:pos x="T8" y="T9"/>
                </a:cxn>
                <a:cxn ang="0">
                  <a:pos x="T10" y="T11"/>
                </a:cxn>
              </a:cxnLst>
              <a:rect l="0" t="0" r="r" b="b"/>
              <a:pathLst>
                <a:path w="15" h="19">
                  <a:moveTo>
                    <a:pt x="3" y="7"/>
                  </a:moveTo>
                  <a:cubicBezTo>
                    <a:pt x="5" y="11"/>
                    <a:pt x="7" y="14"/>
                    <a:pt x="10" y="16"/>
                  </a:cubicBezTo>
                  <a:cubicBezTo>
                    <a:pt x="11" y="18"/>
                    <a:pt x="13" y="19"/>
                    <a:pt x="15" y="19"/>
                  </a:cubicBezTo>
                  <a:cubicBezTo>
                    <a:pt x="15" y="0"/>
                    <a:pt x="15" y="0"/>
                    <a:pt x="15" y="0"/>
                  </a:cubicBezTo>
                  <a:cubicBezTo>
                    <a:pt x="10" y="0"/>
                    <a:pt x="5" y="1"/>
                    <a:pt x="0" y="2"/>
                  </a:cubicBezTo>
                  <a:cubicBezTo>
                    <a:pt x="1" y="4"/>
                    <a:pt x="2" y="6"/>
                    <a:pt x="3"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5" name="Freeform 129">
              <a:extLst>
                <a:ext uri="{FF2B5EF4-FFF2-40B4-BE49-F238E27FC236}">
                  <a16:creationId xmlns:a16="http://schemas.microsoft.com/office/drawing/2014/main" id="{15D3893E-68A4-4FAF-95C6-A8B9B4B69F34}"/>
                </a:ext>
              </a:extLst>
            </p:cNvPr>
            <p:cNvSpPr>
              <a:spLocks/>
            </p:cNvSpPr>
            <p:nvPr/>
          </p:nvSpPr>
          <p:spPr bwMode="auto">
            <a:xfrm>
              <a:off x="2565400" y="5162550"/>
              <a:ext cx="142875" cy="177800"/>
            </a:xfrm>
            <a:custGeom>
              <a:avLst/>
              <a:gdLst>
                <a:gd name="T0" fmla="*/ 18 w 21"/>
                <a:gd name="T1" fmla="*/ 0 h 26"/>
                <a:gd name="T2" fmla="*/ 0 w 21"/>
                <a:gd name="T3" fmla="*/ 0 h 26"/>
                <a:gd name="T4" fmla="*/ 9 w 21"/>
                <a:gd name="T5" fmla="*/ 26 h 26"/>
                <a:gd name="T6" fmla="*/ 12 w 21"/>
                <a:gd name="T7" fmla="*/ 24 h 26"/>
                <a:gd name="T8" fmla="*/ 21 w 21"/>
                <a:gd name="T9" fmla="*/ 20 h 26"/>
                <a:gd name="T10" fmla="*/ 18 w 21"/>
                <a:gd name="T11" fmla="*/ 0 h 26"/>
              </a:gdLst>
              <a:ahLst/>
              <a:cxnLst>
                <a:cxn ang="0">
                  <a:pos x="T0" y="T1"/>
                </a:cxn>
                <a:cxn ang="0">
                  <a:pos x="T2" y="T3"/>
                </a:cxn>
                <a:cxn ang="0">
                  <a:pos x="T4" y="T5"/>
                </a:cxn>
                <a:cxn ang="0">
                  <a:pos x="T6" y="T7"/>
                </a:cxn>
                <a:cxn ang="0">
                  <a:pos x="T8" y="T9"/>
                </a:cxn>
                <a:cxn ang="0">
                  <a:pos x="T10" y="T11"/>
                </a:cxn>
              </a:cxnLst>
              <a:rect l="0" t="0" r="r" b="b"/>
              <a:pathLst>
                <a:path w="21" h="26">
                  <a:moveTo>
                    <a:pt x="18" y="0"/>
                  </a:moveTo>
                  <a:cubicBezTo>
                    <a:pt x="0" y="0"/>
                    <a:pt x="0" y="0"/>
                    <a:pt x="0" y="0"/>
                  </a:cubicBezTo>
                  <a:cubicBezTo>
                    <a:pt x="0" y="10"/>
                    <a:pt x="4" y="18"/>
                    <a:pt x="9" y="26"/>
                  </a:cubicBezTo>
                  <a:cubicBezTo>
                    <a:pt x="10" y="25"/>
                    <a:pt x="11" y="25"/>
                    <a:pt x="12" y="24"/>
                  </a:cubicBezTo>
                  <a:cubicBezTo>
                    <a:pt x="15" y="23"/>
                    <a:pt x="18" y="21"/>
                    <a:pt x="21" y="20"/>
                  </a:cubicBezTo>
                  <a:cubicBezTo>
                    <a:pt x="20" y="14"/>
                    <a:pt x="19" y="7"/>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6" name="Freeform 130">
              <a:extLst>
                <a:ext uri="{FF2B5EF4-FFF2-40B4-BE49-F238E27FC236}">
                  <a16:creationId xmlns:a16="http://schemas.microsoft.com/office/drawing/2014/main" id="{2361750C-3F07-48C5-A124-97AD4A4B3B87}"/>
                </a:ext>
              </a:extLst>
            </p:cNvPr>
            <p:cNvSpPr>
              <a:spLocks/>
            </p:cNvSpPr>
            <p:nvPr/>
          </p:nvSpPr>
          <p:spPr bwMode="auto">
            <a:xfrm>
              <a:off x="2865438" y="5162550"/>
              <a:ext cx="130175" cy="130175"/>
            </a:xfrm>
            <a:custGeom>
              <a:avLst/>
              <a:gdLst>
                <a:gd name="T0" fmla="*/ 19 w 19"/>
                <a:gd name="T1" fmla="*/ 0 h 19"/>
                <a:gd name="T2" fmla="*/ 0 w 19"/>
                <a:gd name="T3" fmla="*/ 0 h 19"/>
                <a:gd name="T4" fmla="*/ 0 w 19"/>
                <a:gd name="T5" fmla="*/ 17 h 19"/>
                <a:gd name="T6" fmla="*/ 16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0" y="0"/>
                    <a:pt x="0" y="0"/>
                    <a:pt x="0" y="0"/>
                  </a:cubicBezTo>
                  <a:cubicBezTo>
                    <a:pt x="0" y="17"/>
                    <a:pt x="0" y="17"/>
                    <a:pt x="0" y="17"/>
                  </a:cubicBezTo>
                  <a:cubicBezTo>
                    <a:pt x="6" y="17"/>
                    <a:pt x="11" y="18"/>
                    <a:pt x="16" y="19"/>
                  </a:cubicBezTo>
                  <a:cubicBezTo>
                    <a:pt x="18" y="13"/>
                    <a:pt x="19"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7" name="Freeform 131">
              <a:extLst>
                <a:ext uri="{FF2B5EF4-FFF2-40B4-BE49-F238E27FC236}">
                  <a16:creationId xmlns:a16="http://schemas.microsoft.com/office/drawing/2014/main" id="{904635A1-060B-4E51-B690-DE93E86AD8BA}"/>
                </a:ext>
              </a:extLst>
            </p:cNvPr>
            <p:cNvSpPr>
              <a:spLocks/>
            </p:cNvSpPr>
            <p:nvPr/>
          </p:nvSpPr>
          <p:spPr bwMode="auto">
            <a:xfrm>
              <a:off x="2913063" y="5326063"/>
              <a:ext cx="150813" cy="117475"/>
            </a:xfrm>
            <a:custGeom>
              <a:avLst/>
              <a:gdLst>
                <a:gd name="T0" fmla="*/ 11 w 22"/>
                <a:gd name="T1" fmla="*/ 0 h 17"/>
                <a:gd name="T2" fmla="*/ 9 w 22"/>
                <a:gd name="T3" fmla="*/ 6 h 17"/>
                <a:gd name="T4" fmla="*/ 0 w 22"/>
                <a:gd name="T5" fmla="*/ 17 h 17"/>
                <a:gd name="T6" fmla="*/ 22 w 22"/>
                <a:gd name="T7" fmla="*/ 5 h 17"/>
                <a:gd name="T8" fmla="*/ 20 w 22"/>
                <a:gd name="T9" fmla="*/ 4 h 17"/>
                <a:gd name="T10" fmla="*/ 11 w 22"/>
                <a:gd name="T11" fmla="*/ 0 h 17"/>
              </a:gdLst>
              <a:ahLst/>
              <a:cxnLst>
                <a:cxn ang="0">
                  <a:pos x="T0" y="T1"/>
                </a:cxn>
                <a:cxn ang="0">
                  <a:pos x="T2" y="T3"/>
                </a:cxn>
                <a:cxn ang="0">
                  <a:pos x="T4" y="T5"/>
                </a:cxn>
                <a:cxn ang="0">
                  <a:pos x="T6" y="T7"/>
                </a:cxn>
                <a:cxn ang="0">
                  <a:pos x="T8" y="T9"/>
                </a:cxn>
                <a:cxn ang="0">
                  <a:pos x="T10" y="T11"/>
                </a:cxn>
              </a:cxnLst>
              <a:rect l="0" t="0" r="r" b="b"/>
              <a:pathLst>
                <a:path w="22" h="17">
                  <a:moveTo>
                    <a:pt x="11" y="0"/>
                  </a:moveTo>
                  <a:cubicBezTo>
                    <a:pt x="11" y="2"/>
                    <a:pt x="10" y="4"/>
                    <a:pt x="9" y="6"/>
                  </a:cubicBezTo>
                  <a:cubicBezTo>
                    <a:pt x="6" y="11"/>
                    <a:pt x="3" y="15"/>
                    <a:pt x="0" y="17"/>
                  </a:cubicBezTo>
                  <a:cubicBezTo>
                    <a:pt x="8" y="16"/>
                    <a:pt x="16" y="11"/>
                    <a:pt x="22" y="5"/>
                  </a:cubicBezTo>
                  <a:cubicBezTo>
                    <a:pt x="22" y="4"/>
                    <a:pt x="21" y="4"/>
                    <a:pt x="20" y="4"/>
                  </a:cubicBezTo>
                  <a:cubicBezTo>
                    <a:pt x="18" y="2"/>
                    <a:pt x="15"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8" name="Freeform 132">
              <a:extLst>
                <a:ext uri="{FF2B5EF4-FFF2-40B4-BE49-F238E27FC236}">
                  <a16:creationId xmlns:a16="http://schemas.microsoft.com/office/drawing/2014/main" id="{3CC36B2D-E25F-4352-98DB-D0F822828E35}"/>
                </a:ext>
              </a:extLst>
            </p:cNvPr>
            <p:cNvSpPr>
              <a:spLocks/>
            </p:cNvSpPr>
            <p:nvPr/>
          </p:nvSpPr>
          <p:spPr bwMode="auto">
            <a:xfrm>
              <a:off x="2865438" y="5307013"/>
              <a:ext cx="103188" cy="128588"/>
            </a:xfrm>
            <a:custGeom>
              <a:avLst/>
              <a:gdLst>
                <a:gd name="T0" fmla="*/ 12 w 15"/>
                <a:gd name="T1" fmla="*/ 7 h 19"/>
                <a:gd name="T2" fmla="*/ 15 w 15"/>
                <a:gd name="T3" fmla="*/ 2 h 19"/>
                <a:gd name="T4" fmla="*/ 0 w 15"/>
                <a:gd name="T5" fmla="*/ 0 h 19"/>
                <a:gd name="T6" fmla="*/ 0 w 15"/>
                <a:gd name="T7" fmla="*/ 19 h 19"/>
                <a:gd name="T8" fmla="*/ 5 w 15"/>
                <a:gd name="T9" fmla="*/ 16 h 19"/>
                <a:gd name="T10" fmla="*/ 12 w 15"/>
                <a:gd name="T11" fmla="*/ 7 h 19"/>
              </a:gdLst>
              <a:ahLst/>
              <a:cxnLst>
                <a:cxn ang="0">
                  <a:pos x="T0" y="T1"/>
                </a:cxn>
                <a:cxn ang="0">
                  <a:pos x="T2" y="T3"/>
                </a:cxn>
                <a:cxn ang="0">
                  <a:pos x="T4" y="T5"/>
                </a:cxn>
                <a:cxn ang="0">
                  <a:pos x="T6" y="T7"/>
                </a:cxn>
                <a:cxn ang="0">
                  <a:pos x="T8" y="T9"/>
                </a:cxn>
                <a:cxn ang="0">
                  <a:pos x="T10" y="T11"/>
                </a:cxn>
              </a:cxnLst>
              <a:rect l="0" t="0" r="r" b="b"/>
              <a:pathLst>
                <a:path w="15" h="19">
                  <a:moveTo>
                    <a:pt x="12" y="7"/>
                  </a:moveTo>
                  <a:cubicBezTo>
                    <a:pt x="13" y="6"/>
                    <a:pt x="14" y="4"/>
                    <a:pt x="15" y="2"/>
                  </a:cubicBezTo>
                  <a:cubicBezTo>
                    <a:pt x="10" y="1"/>
                    <a:pt x="5" y="0"/>
                    <a:pt x="0" y="0"/>
                  </a:cubicBezTo>
                  <a:cubicBezTo>
                    <a:pt x="0" y="19"/>
                    <a:pt x="0" y="19"/>
                    <a:pt x="0" y="19"/>
                  </a:cubicBezTo>
                  <a:cubicBezTo>
                    <a:pt x="2" y="19"/>
                    <a:pt x="4" y="18"/>
                    <a:pt x="5" y="16"/>
                  </a:cubicBezTo>
                  <a:cubicBezTo>
                    <a:pt x="8" y="14"/>
                    <a:pt x="10" y="11"/>
                    <a:pt x="12"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9" name="Freeform 133">
              <a:extLst>
                <a:ext uri="{FF2B5EF4-FFF2-40B4-BE49-F238E27FC236}">
                  <a16:creationId xmlns:a16="http://schemas.microsoft.com/office/drawing/2014/main" id="{E05C261D-6EC1-4D6E-B475-7DA8063C7004}"/>
                </a:ext>
              </a:extLst>
            </p:cNvPr>
            <p:cNvSpPr>
              <a:spLocks/>
            </p:cNvSpPr>
            <p:nvPr/>
          </p:nvSpPr>
          <p:spPr bwMode="auto">
            <a:xfrm>
              <a:off x="3001963" y="5162550"/>
              <a:ext cx="142875" cy="177800"/>
            </a:xfrm>
            <a:custGeom>
              <a:avLst/>
              <a:gdLst>
                <a:gd name="T0" fmla="*/ 0 w 21"/>
                <a:gd name="T1" fmla="*/ 20 h 26"/>
                <a:gd name="T2" fmla="*/ 9 w 21"/>
                <a:gd name="T3" fmla="*/ 24 h 26"/>
                <a:gd name="T4" fmla="*/ 12 w 21"/>
                <a:gd name="T5" fmla="*/ 26 h 26"/>
                <a:gd name="T6" fmla="*/ 21 w 21"/>
                <a:gd name="T7" fmla="*/ 0 h 26"/>
                <a:gd name="T8" fmla="*/ 3 w 21"/>
                <a:gd name="T9" fmla="*/ 0 h 26"/>
                <a:gd name="T10" fmla="*/ 0 w 21"/>
                <a:gd name="T11" fmla="*/ 20 h 26"/>
              </a:gdLst>
              <a:ahLst/>
              <a:cxnLst>
                <a:cxn ang="0">
                  <a:pos x="T0" y="T1"/>
                </a:cxn>
                <a:cxn ang="0">
                  <a:pos x="T2" y="T3"/>
                </a:cxn>
                <a:cxn ang="0">
                  <a:pos x="T4" y="T5"/>
                </a:cxn>
                <a:cxn ang="0">
                  <a:pos x="T6" y="T7"/>
                </a:cxn>
                <a:cxn ang="0">
                  <a:pos x="T8" y="T9"/>
                </a:cxn>
                <a:cxn ang="0">
                  <a:pos x="T10" y="T11"/>
                </a:cxn>
              </a:cxnLst>
              <a:rect l="0" t="0" r="r" b="b"/>
              <a:pathLst>
                <a:path w="21" h="26">
                  <a:moveTo>
                    <a:pt x="0" y="20"/>
                  </a:moveTo>
                  <a:cubicBezTo>
                    <a:pt x="3" y="21"/>
                    <a:pt x="6" y="23"/>
                    <a:pt x="9" y="24"/>
                  </a:cubicBezTo>
                  <a:cubicBezTo>
                    <a:pt x="10" y="25"/>
                    <a:pt x="11" y="25"/>
                    <a:pt x="12" y="26"/>
                  </a:cubicBezTo>
                  <a:cubicBezTo>
                    <a:pt x="17" y="18"/>
                    <a:pt x="21" y="10"/>
                    <a:pt x="21" y="0"/>
                  </a:cubicBezTo>
                  <a:cubicBezTo>
                    <a:pt x="3" y="0"/>
                    <a:pt x="3" y="0"/>
                    <a:pt x="3" y="0"/>
                  </a:cubicBezTo>
                  <a:cubicBezTo>
                    <a:pt x="2" y="7"/>
                    <a:pt x="1" y="14"/>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0" name="Group 119">
            <a:extLst>
              <a:ext uri="{FF2B5EF4-FFF2-40B4-BE49-F238E27FC236}">
                <a16:creationId xmlns:a16="http://schemas.microsoft.com/office/drawing/2014/main" id="{FC3FCD43-B87C-4644-9382-C1A9A5F4FF9D}"/>
              </a:ext>
            </a:extLst>
          </p:cNvPr>
          <p:cNvGrpSpPr>
            <a:grpSpLocks noChangeAspect="1"/>
          </p:cNvGrpSpPr>
          <p:nvPr/>
        </p:nvGrpSpPr>
        <p:grpSpPr>
          <a:xfrm>
            <a:off x="681271" y="4652268"/>
            <a:ext cx="332646" cy="274320"/>
            <a:chOff x="1038225" y="4910138"/>
            <a:chExt cx="579438" cy="477838"/>
          </a:xfrm>
          <a:solidFill>
            <a:srgbClr val="595555"/>
          </a:solidFill>
        </p:grpSpPr>
        <p:sp>
          <p:nvSpPr>
            <p:cNvPr id="121" name="Freeform 134">
              <a:extLst>
                <a:ext uri="{FF2B5EF4-FFF2-40B4-BE49-F238E27FC236}">
                  <a16:creationId xmlns:a16="http://schemas.microsoft.com/office/drawing/2014/main" id="{AABD92F8-5A34-488B-A6C9-E141E87A774B}"/>
                </a:ext>
              </a:extLst>
            </p:cNvPr>
            <p:cNvSpPr>
              <a:spLocks noEditPoints="1"/>
            </p:cNvSpPr>
            <p:nvPr/>
          </p:nvSpPr>
          <p:spPr bwMode="auto">
            <a:xfrm>
              <a:off x="1038225" y="4910138"/>
              <a:ext cx="579438" cy="477838"/>
            </a:xfrm>
            <a:custGeom>
              <a:avLst/>
              <a:gdLst>
                <a:gd name="T0" fmla="*/ 83 w 85"/>
                <a:gd name="T1" fmla="*/ 8 h 70"/>
                <a:gd name="T2" fmla="*/ 59 w 85"/>
                <a:gd name="T3" fmla="*/ 8 h 70"/>
                <a:gd name="T4" fmla="*/ 59 w 85"/>
                <a:gd name="T5" fmla="*/ 2 h 70"/>
                <a:gd name="T6" fmla="*/ 56 w 85"/>
                <a:gd name="T7" fmla="*/ 0 h 70"/>
                <a:gd name="T8" fmla="*/ 29 w 85"/>
                <a:gd name="T9" fmla="*/ 0 h 70"/>
                <a:gd name="T10" fmla="*/ 27 w 85"/>
                <a:gd name="T11" fmla="*/ 2 h 70"/>
                <a:gd name="T12" fmla="*/ 27 w 85"/>
                <a:gd name="T13" fmla="*/ 8 h 70"/>
                <a:gd name="T14" fmla="*/ 3 w 85"/>
                <a:gd name="T15" fmla="*/ 8 h 70"/>
                <a:gd name="T16" fmla="*/ 0 w 85"/>
                <a:gd name="T17" fmla="*/ 10 h 70"/>
                <a:gd name="T18" fmla="*/ 0 w 85"/>
                <a:gd name="T19" fmla="*/ 68 h 70"/>
                <a:gd name="T20" fmla="*/ 3 w 85"/>
                <a:gd name="T21" fmla="*/ 70 h 70"/>
                <a:gd name="T22" fmla="*/ 83 w 85"/>
                <a:gd name="T23" fmla="*/ 70 h 70"/>
                <a:gd name="T24" fmla="*/ 85 w 85"/>
                <a:gd name="T25" fmla="*/ 68 h 70"/>
                <a:gd name="T26" fmla="*/ 85 w 85"/>
                <a:gd name="T27" fmla="*/ 10 h 70"/>
                <a:gd name="T28" fmla="*/ 83 w 85"/>
                <a:gd name="T29" fmla="*/ 8 h 70"/>
                <a:gd name="T30" fmla="*/ 45 w 85"/>
                <a:gd name="T31" fmla="*/ 59 h 70"/>
                <a:gd name="T32" fmla="*/ 23 w 85"/>
                <a:gd name="T33" fmla="*/ 37 h 70"/>
                <a:gd name="T34" fmla="*/ 40 w 85"/>
                <a:gd name="T35" fmla="*/ 20 h 70"/>
                <a:gd name="T36" fmla="*/ 62 w 85"/>
                <a:gd name="T37" fmla="*/ 42 h 70"/>
                <a:gd name="T38" fmla="*/ 45 w 85"/>
                <a:gd name="T39" fmla="*/ 59 h 70"/>
                <a:gd name="T40" fmla="*/ 80 w 85"/>
                <a:gd name="T41" fmla="*/ 20 h 70"/>
                <a:gd name="T42" fmla="*/ 63 w 85"/>
                <a:gd name="T43" fmla="*/ 20 h 70"/>
                <a:gd name="T44" fmla="*/ 63 w 85"/>
                <a:gd name="T45" fmla="*/ 14 h 70"/>
                <a:gd name="T46" fmla="*/ 80 w 85"/>
                <a:gd name="T47" fmla="*/ 14 h 70"/>
                <a:gd name="T48" fmla="*/ 80 w 85"/>
                <a:gd name="T49" fmla="*/ 2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5" h="70">
                  <a:moveTo>
                    <a:pt x="83" y="8"/>
                  </a:moveTo>
                  <a:cubicBezTo>
                    <a:pt x="59" y="8"/>
                    <a:pt x="59" y="8"/>
                    <a:pt x="59" y="8"/>
                  </a:cubicBezTo>
                  <a:cubicBezTo>
                    <a:pt x="59" y="2"/>
                    <a:pt x="59" y="2"/>
                    <a:pt x="59" y="2"/>
                  </a:cubicBezTo>
                  <a:cubicBezTo>
                    <a:pt x="59" y="1"/>
                    <a:pt x="57" y="0"/>
                    <a:pt x="56" y="0"/>
                  </a:cubicBezTo>
                  <a:cubicBezTo>
                    <a:pt x="29" y="0"/>
                    <a:pt x="29" y="0"/>
                    <a:pt x="29" y="0"/>
                  </a:cubicBezTo>
                  <a:cubicBezTo>
                    <a:pt x="28" y="0"/>
                    <a:pt x="27" y="1"/>
                    <a:pt x="27" y="2"/>
                  </a:cubicBezTo>
                  <a:cubicBezTo>
                    <a:pt x="27" y="8"/>
                    <a:pt x="27" y="8"/>
                    <a:pt x="27" y="8"/>
                  </a:cubicBezTo>
                  <a:cubicBezTo>
                    <a:pt x="3" y="8"/>
                    <a:pt x="3" y="8"/>
                    <a:pt x="3" y="8"/>
                  </a:cubicBezTo>
                  <a:cubicBezTo>
                    <a:pt x="1" y="8"/>
                    <a:pt x="0" y="9"/>
                    <a:pt x="0" y="10"/>
                  </a:cubicBezTo>
                  <a:cubicBezTo>
                    <a:pt x="0" y="68"/>
                    <a:pt x="0" y="68"/>
                    <a:pt x="0" y="68"/>
                  </a:cubicBezTo>
                  <a:cubicBezTo>
                    <a:pt x="0" y="69"/>
                    <a:pt x="1" y="70"/>
                    <a:pt x="3" y="70"/>
                  </a:cubicBezTo>
                  <a:cubicBezTo>
                    <a:pt x="83" y="70"/>
                    <a:pt x="83" y="70"/>
                    <a:pt x="83" y="70"/>
                  </a:cubicBezTo>
                  <a:cubicBezTo>
                    <a:pt x="84" y="70"/>
                    <a:pt x="85" y="69"/>
                    <a:pt x="85" y="68"/>
                  </a:cubicBezTo>
                  <a:cubicBezTo>
                    <a:pt x="85" y="10"/>
                    <a:pt x="85" y="10"/>
                    <a:pt x="85" y="10"/>
                  </a:cubicBezTo>
                  <a:cubicBezTo>
                    <a:pt x="85" y="9"/>
                    <a:pt x="84" y="8"/>
                    <a:pt x="83" y="8"/>
                  </a:cubicBezTo>
                  <a:close/>
                  <a:moveTo>
                    <a:pt x="45" y="59"/>
                  </a:moveTo>
                  <a:cubicBezTo>
                    <a:pt x="32" y="61"/>
                    <a:pt x="21" y="50"/>
                    <a:pt x="23" y="37"/>
                  </a:cubicBezTo>
                  <a:cubicBezTo>
                    <a:pt x="24" y="28"/>
                    <a:pt x="31" y="21"/>
                    <a:pt x="40" y="20"/>
                  </a:cubicBezTo>
                  <a:cubicBezTo>
                    <a:pt x="53" y="19"/>
                    <a:pt x="64" y="29"/>
                    <a:pt x="62" y="42"/>
                  </a:cubicBezTo>
                  <a:cubicBezTo>
                    <a:pt x="61" y="51"/>
                    <a:pt x="54" y="58"/>
                    <a:pt x="45" y="59"/>
                  </a:cubicBezTo>
                  <a:close/>
                  <a:moveTo>
                    <a:pt x="80" y="20"/>
                  </a:moveTo>
                  <a:cubicBezTo>
                    <a:pt x="63" y="20"/>
                    <a:pt x="63" y="20"/>
                    <a:pt x="63" y="20"/>
                  </a:cubicBezTo>
                  <a:cubicBezTo>
                    <a:pt x="63" y="14"/>
                    <a:pt x="63" y="14"/>
                    <a:pt x="63" y="14"/>
                  </a:cubicBezTo>
                  <a:cubicBezTo>
                    <a:pt x="80" y="14"/>
                    <a:pt x="80" y="14"/>
                    <a:pt x="80" y="14"/>
                  </a:cubicBezTo>
                  <a:lnTo>
                    <a:pt x="8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2" name="Freeform 135">
              <a:extLst>
                <a:ext uri="{FF2B5EF4-FFF2-40B4-BE49-F238E27FC236}">
                  <a16:creationId xmlns:a16="http://schemas.microsoft.com/office/drawing/2014/main" id="{161DD3B7-F41A-49F3-975B-503800CAF3E7}"/>
                </a:ext>
              </a:extLst>
            </p:cNvPr>
            <p:cNvSpPr>
              <a:spLocks/>
            </p:cNvSpPr>
            <p:nvPr/>
          </p:nvSpPr>
          <p:spPr bwMode="auto">
            <a:xfrm>
              <a:off x="1222375" y="5073650"/>
              <a:ext cx="211138" cy="219075"/>
            </a:xfrm>
            <a:custGeom>
              <a:avLst/>
              <a:gdLst>
                <a:gd name="T0" fmla="*/ 18 w 31"/>
                <a:gd name="T1" fmla="*/ 2 h 32"/>
                <a:gd name="T2" fmla="*/ 1 w 31"/>
                <a:gd name="T3" fmla="*/ 18 h 32"/>
                <a:gd name="T4" fmla="*/ 13 w 31"/>
                <a:gd name="T5" fmla="*/ 30 h 32"/>
                <a:gd name="T6" fmla="*/ 30 w 31"/>
                <a:gd name="T7" fmla="*/ 13 h 32"/>
                <a:gd name="T8" fmla="*/ 18 w 31"/>
                <a:gd name="T9" fmla="*/ 2 h 32"/>
              </a:gdLst>
              <a:ahLst/>
              <a:cxnLst>
                <a:cxn ang="0">
                  <a:pos x="T0" y="T1"/>
                </a:cxn>
                <a:cxn ang="0">
                  <a:pos x="T2" y="T3"/>
                </a:cxn>
                <a:cxn ang="0">
                  <a:pos x="T4" y="T5"/>
                </a:cxn>
                <a:cxn ang="0">
                  <a:pos x="T6" y="T7"/>
                </a:cxn>
                <a:cxn ang="0">
                  <a:pos x="T8" y="T9"/>
                </a:cxn>
              </a:cxnLst>
              <a:rect l="0" t="0" r="r" b="b"/>
              <a:pathLst>
                <a:path w="31" h="32">
                  <a:moveTo>
                    <a:pt x="18" y="2"/>
                  </a:moveTo>
                  <a:cubicBezTo>
                    <a:pt x="8" y="0"/>
                    <a:pt x="0" y="8"/>
                    <a:pt x="1" y="18"/>
                  </a:cubicBezTo>
                  <a:cubicBezTo>
                    <a:pt x="2" y="24"/>
                    <a:pt x="7" y="29"/>
                    <a:pt x="13" y="30"/>
                  </a:cubicBezTo>
                  <a:cubicBezTo>
                    <a:pt x="23" y="32"/>
                    <a:pt x="31" y="23"/>
                    <a:pt x="30" y="13"/>
                  </a:cubicBezTo>
                  <a:cubicBezTo>
                    <a:pt x="29" y="7"/>
                    <a:pt x="24" y="3"/>
                    <a:pt x="1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3" name="Group 122">
            <a:extLst>
              <a:ext uri="{FF2B5EF4-FFF2-40B4-BE49-F238E27FC236}">
                <a16:creationId xmlns:a16="http://schemas.microsoft.com/office/drawing/2014/main" id="{83B35197-F90C-45B3-B97A-4CE8D087379A}"/>
              </a:ext>
            </a:extLst>
          </p:cNvPr>
          <p:cNvGrpSpPr>
            <a:grpSpLocks noChangeAspect="1"/>
          </p:cNvGrpSpPr>
          <p:nvPr/>
        </p:nvGrpSpPr>
        <p:grpSpPr>
          <a:xfrm>
            <a:off x="3445628" y="4587134"/>
            <a:ext cx="274320" cy="274320"/>
            <a:chOff x="3328988" y="4856163"/>
            <a:chExt cx="587375" cy="587375"/>
          </a:xfrm>
          <a:solidFill>
            <a:srgbClr val="595555"/>
          </a:solidFill>
        </p:grpSpPr>
        <p:sp>
          <p:nvSpPr>
            <p:cNvPr id="124" name="Freeform 136">
              <a:extLst>
                <a:ext uri="{FF2B5EF4-FFF2-40B4-BE49-F238E27FC236}">
                  <a16:creationId xmlns:a16="http://schemas.microsoft.com/office/drawing/2014/main" id="{8F40DC94-07F9-41DE-92AC-B4188990EDFA}"/>
                </a:ext>
              </a:extLst>
            </p:cNvPr>
            <p:cNvSpPr>
              <a:spLocks/>
            </p:cNvSpPr>
            <p:nvPr/>
          </p:nvSpPr>
          <p:spPr bwMode="auto">
            <a:xfrm>
              <a:off x="3328988" y="5265738"/>
              <a:ext cx="177800" cy="177800"/>
            </a:xfrm>
            <a:custGeom>
              <a:avLst/>
              <a:gdLst>
                <a:gd name="T0" fmla="*/ 0 w 112"/>
                <a:gd name="T1" fmla="*/ 112 h 112"/>
                <a:gd name="T2" fmla="*/ 112 w 112"/>
                <a:gd name="T3" fmla="*/ 60 h 112"/>
                <a:gd name="T4" fmla="*/ 52 w 112"/>
                <a:gd name="T5" fmla="*/ 0 h 112"/>
                <a:gd name="T6" fmla="*/ 0 w 112"/>
                <a:gd name="T7" fmla="*/ 112 h 112"/>
              </a:gdLst>
              <a:ahLst/>
              <a:cxnLst>
                <a:cxn ang="0">
                  <a:pos x="T0" y="T1"/>
                </a:cxn>
                <a:cxn ang="0">
                  <a:pos x="T2" y="T3"/>
                </a:cxn>
                <a:cxn ang="0">
                  <a:pos x="T4" y="T5"/>
                </a:cxn>
                <a:cxn ang="0">
                  <a:pos x="T6" y="T7"/>
                </a:cxn>
              </a:cxnLst>
              <a:rect l="0" t="0" r="r" b="b"/>
              <a:pathLst>
                <a:path w="112" h="112">
                  <a:moveTo>
                    <a:pt x="0" y="112"/>
                  </a:moveTo>
                  <a:lnTo>
                    <a:pt x="112" y="60"/>
                  </a:lnTo>
                  <a:lnTo>
                    <a:pt x="52" y="0"/>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137">
              <a:extLst>
                <a:ext uri="{FF2B5EF4-FFF2-40B4-BE49-F238E27FC236}">
                  <a16:creationId xmlns:a16="http://schemas.microsoft.com/office/drawing/2014/main" id="{EFEB367A-D6A9-4BA8-9451-9C5167FB59B4}"/>
                </a:ext>
              </a:extLst>
            </p:cNvPr>
            <p:cNvSpPr>
              <a:spLocks noEditPoints="1"/>
            </p:cNvSpPr>
            <p:nvPr/>
          </p:nvSpPr>
          <p:spPr bwMode="auto">
            <a:xfrm>
              <a:off x="3328988" y="4856163"/>
              <a:ext cx="587375" cy="587375"/>
            </a:xfrm>
            <a:custGeom>
              <a:avLst/>
              <a:gdLst>
                <a:gd name="T0" fmla="*/ 83 w 86"/>
                <a:gd name="T1" fmla="*/ 27 h 86"/>
                <a:gd name="T2" fmla="*/ 75 w 86"/>
                <a:gd name="T3" fmla="*/ 18 h 86"/>
                <a:gd name="T4" fmla="*/ 68 w 86"/>
                <a:gd name="T5" fmla="*/ 12 h 86"/>
                <a:gd name="T6" fmla="*/ 60 w 86"/>
                <a:gd name="T7" fmla="*/ 3 h 86"/>
                <a:gd name="T8" fmla="*/ 50 w 86"/>
                <a:gd name="T9" fmla="*/ 3 h 86"/>
                <a:gd name="T10" fmla="*/ 50 w 86"/>
                <a:gd name="T11" fmla="*/ 12 h 86"/>
                <a:gd name="T12" fmla="*/ 50 w 86"/>
                <a:gd name="T13" fmla="*/ 13 h 86"/>
                <a:gd name="T14" fmla="*/ 19 w 86"/>
                <a:gd name="T15" fmla="*/ 35 h 86"/>
                <a:gd name="T16" fmla="*/ 9 w 86"/>
                <a:gd name="T17" fmla="*/ 33 h 86"/>
                <a:gd name="T18" fmla="*/ 4 w 86"/>
                <a:gd name="T19" fmla="*/ 33 h 86"/>
                <a:gd name="T20" fmla="*/ 1 w 86"/>
                <a:gd name="T21" fmla="*/ 35 h 86"/>
                <a:gd name="T22" fmla="*/ 1 w 86"/>
                <a:gd name="T23" fmla="*/ 35 h 86"/>
                <a:gd name="T24" fmla="*/ 1 w 86"/>
                <a:gd name="T25" fmla="*/ 38 h 86"/>
                <a:gd name="T26" fmla="*/ 1 w 86"/>
                <a:gd name="T27" fmla="*/ 38 h 86"/>
                <a:gd name="T28" fmla="*/ 48 w 86"/>
                <a:gd name="T29" fmla="*/ 85 h 86"/>
                <a:gd name="T30" fmla="*/ 48 w 86"/>
                <a:gd name="T31" fmla="*/ 85 h 86"/>
                <a:gd name="T32" fmla="*/ 51 w 86"/>
                <a:gd name="T33" fmla="*/ 85 h 86"/>
                <a:gd name="T34" fmla="*/ 51 w 86"/>
                <a:gd name="T35" fmla="*/ 85 h 86"/>
                <a:gd name="T36" fmla="*/ 53 w 86"/>
                <a:gd name="T37" fmla="*/ 82 h 86"/>
                <a:gd name="T38" fmla="*/ 54 w 86"/>
                <a:gd name="T39" fmla="*/ 77 h 86"/>
                <a:gd name="T40" fmla="*/ 51 w 86"/>
                <a:gd name="T41" fmla="*/ 67 h 86"/>
                <a:gd name="T42" fmla="*/ 73 w 86"/>
                <a:gd name="T43" fmla="*/ 35 h 86"/>
                <a:gd name="T44" fmla="*/ 74 w 86"/>
                <a:gd name="T45" fmla="*/ 36 h 86"/>
                <a:gd name="T46" fmla="*/ 83 w 86"/>
                <a:gd name="T47" fmla="*/ 36 h 86"/>
                <a:gd name="T48" fmla="*/ 83 w 86"/>
                <a:gd name="T49" fmla="*/ 27 h 86"/>
                <a:gd name="T50" fmla="*/ 28 w 86"/>
                <a:gd name="T51" fmla="*/ 43 h 86"/>
                <a:gd name="T52" fmla="*/ 24 w 86"/>
                <a:gd name="T53" fmla="*/ 39 h 86"/>
                <a:gd name="T54" fmla="*/ 54 w 86"/>
                <a:gd name="T55" fmla="*/ 17 h 86"/>
                <a:gd name="T56" fmla="*/ 58 w 86"/>
                <a:gd name="T57" fmla="*/ 20 h 86"/>
                <a:gd name="T58" fmla="*/ 28 w 86"/>
                <a:gd name="T59"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86">
                  <a:moveTo>
                    <a:pt x="83" y="27"/>
                  </a:moveTo>
                  <a:cubicBezTo>
                    <a:pt x="75" y="18"/>
                    <a:pt x="75" y="18"/>
                    <a:pt x="75" y="18"/>
                  </a:cubicBezTo>
                  <a:cubicBezTo>
                    <a:pt x="68" y="12"/>
                    <a:pt x="68" y="12"/>
                    <a:pt x="68" y="12"/>
                  </a:cubicBezTo>
                  <a:cubicBezTo>
                    <a:pt x="60" y="3"/>
                    <a:pt x="60" y="3"/>
                    <a:pt x="60" y="3"/>
                  </a:cubicBezTo>
                  <a:cubicBezTo>
                    <a:pt x="57" y="1"/>
                    <a:pt x="53" y="0"/>
                    <a:pt x="50" y="3"/>
                  </a:cubicBezTo>
                  <a:cubicBezTo>
                    <a:pt x="47" y="5"/>
                    <a:pt x="48" y="10"/>
                    <a:pt x="50" y="12"/>
                  </a:cubicBezTo>
                  <a:cubicBezTo>
                    <a:pt x="50" y="13"/>
                    <a:pt x="50" y="13"/>
                    <a:pt x="50" y="13"/>
                  </a:cubicBezTo>
                  <a:cubicBezTo>
                    <a:pt x="19" y="35"/>
                    <a:pt x="19" y="35"/>
                    <a:pt x="19" y="35"/>
                  </a:cubicBezTo>
                  <a:cubicBezTo>
                    <a:pt x="16" y="33"/>
                    <a:pt x="13" y="33"/>
                    <a:pt x="9" y="33"/>
                  </a:cubicBezTo>
                  <a:cubicBezTo>
                    <a:pt x="8" y="33"/>
                    <a:pt x="6" y="33"/>
                    <a:pt x="4" y="33"/>
                  </a:cubicBezTo>
                  <a:cubicBezTo>
                    <a:pt x="3" y="34"/>
                    <a:pt x="2" y="34"/>
                    <a:pt x="1" y="35"/>
                  </a:cubicBezTo>
                  <a:cubicBezTo>
                    <a:pt x="1" y="35"/>
                    <a:pt x="1" y="35"/>
                    <a:pt x="1" y="35"/>
                  </a:cubicBezTo>
                  <a:cubicBezTo>
                    <a:pt x="0" y="36"/>
                    <a:pt x="0" y="37"/>
                    <a:pt x="1" y="38"/>
                  </a:cubicBezTo>
                  <a:cubicBezTo>
                    <a:pt x="1" y="38"/>
                    <a:pt x="1" y="38"/>
                    <a:pt x="1" y="38"/>
                  </a:cubicBezTo>
                  <a:cubicBezTo>
                    <a:pt x="48" y="85"/>
                    <a:pt x="48" y="85"/>
                    <a:pt x="48" y="85"/>
                  </a:cubicBezTo>
                  <a:cubicBezTo>
                    <a:pt x="48" y="85"/>
                    <a:pt x="48" y="85"/>
                    <a:pt x="48" y="85"/>
                  </a:cubicBezTo>
                  <a:cubicBezTo>
                    <a:pt x="49" y="86"/>
                    <a:pt x="50" y="86"/>
                    <a:pt x="51" y="85"/>
                  </a:cubicBezTo>
                  <a:cubicBezTo>
                    <a:pt x="51" y="85"/>
                    <a:pt x="51" y="85"/>
                    <a:pt x="51" y="85"/>
                  </a:cubicBezTo>
                  <a:cubicBezTo>
                    <a:pt x="52" y="84"/>
                    <a:pt x="53" y="83"/>
                    <a:pt x="53" y="82"/>
                  </a:cubicBezTo>
                  <a:cubicBezTo>
                    <a:pt x="54" y="80"/>
                    <a:pt x="54" y="79"/>
                    <a:pt x="54" y="77"/>
                  </a:cubicBezTo>
                  <a:cubicBezTo>
                    <a:pt x="54" y="73"/>
                    <a:pt x="53" y="70"/>
                    <a:pt x="51" y="67"/>
                  </a:cubicBezTo>
                  <a:cubicBezTo>
                    <a:pt x="73" y="35"/>
                    <a:pt x="73" y="35"/>
                    <a:pt x="73" y="35"/>
                  </a:cubicBezTo>
                  <a:cubicBezTo>
                    <a:pt x="74" y="36"/>
                    <a:pt x="74" y="36"/>
                    <a:pt x="74" y="36"/>
                  </a:cubicBezTo>
                  <a:cubicBezTo>
                    <a:pt x="77" y="39"/>
                    <a:pt x="81" y="39"/>
                    <a:pt x="83" y="36"/>
                  </a:cubicBezTo>
                  <a:cubicBezTo>
                    <a:pt x="86" y="34"/>
                    <a:pt x="86" y="30"/>
                    <a:pt x="83" y="27"/>
                  </a:cubicBezTo>
                  <a:close/>
                  <a:moveTo>
                    <a:pt x="28" y="43"/>
                  </a:moveTo>
                  <a:cubicBezTo>
                    <a:pt x="24" y="39"/>
                    <a:pt x="24" y="39"/>
                    <a:pt x="24" y="39"/>
                  </a:cubicBezTo>
                  <a:cubicBezTo>
                    <a:pt x="54" y="17"/>
                    <a:pt x="54" y="17"/>
                    <a:pt x="54" y="17"/>
                  </a:cubicBezTo>
                  <a:cubicBezTo>
                    <a:pt x="58" y="20"/>
                    <a:pt x="58" y="20"/>
                    <a:pt x="58" y="20"/>
                  </a:cubicBezTo>
                  <a:lnTo>
                    <a:pt x="28"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26" name="Group 125">
            <a:extLst>
              <a:ext uri="{FF2B5EF4-FFF2-40B4-BE49-F238E27FC236}">
                <a16:creationId xmlns:a16="http://schemas.microsoft.com/office/drawing/2014/main" id="{2863EA1E-0F20-4207-9DDE-3A806989E1D9}"/>
              </a:ext>
            </a:extLst>
          </p:cNvPr>
          <p:cNvGrpSpPr>
            <a:grpSpLocks noChangeAspect="1"/>
          </p:cNvGrpSpPr>
          <p:nvPr/>
        </p:nvGrpSpPr>
        <p:grpSpPr>
          <a:xfrm>
            <a:off x="4367080" y="4594797"/>
            <a:ext cx="270612" cy="274320"/>
            <a:chOff x="4092575" y="4862513"/>
            <a:chExt cx="579438" cy="587375"/>
          </a:xfrm>
          <a:solidFill>
            <a:srgbClr val="595555"/>
          </a:solidFill>
        </p:grpSpPr>
        <p:sp>
          <p:nvSpPr>
            <p:cNvPr id="127" name="Freeform 138">
              <a:extLst>
                <a:ext uri="{FF2B5EF4-FFF2-40B4-BE49-F238E27FC236}">
                  <a16:creationId xmlns:a16="http://schemas.microsoft.com/office/drawing/2014/main" id="{458E19CC-2F51-4D20-A987-B4B11CF3DE8A}"/>
                </a:ext>
              </a:extLst>
            </p:cNvPr>
            <p:cNvSpPr>
              <a:spLocks/>
            </p:cNvSpPr>
            <p:nvPr/>
          </p:nvSpPr>
          <p:spPr bwMode="auto">
            <a:xfrm>
              <a:off x="4148138" y="4965700"/>
              <a:ext cx="422275" cy="422275"/>
            </a:xfrm>
            <a:custGeom>
              <a:avLst/>
              <a:gdLst>
                <a:gd name="T0" fmla="*/ 0 w 266"/>
                <a:gd name="T1" fmla="*/ 206 h 266"/>
                <a:gd name="T2" fmla="*/ 60 w 266"/>
                <a:gd name="T3" fmla="*/ 266 h 266"/>
                <a:gd name="T4" fmla="*/ 266 w 266"/>
                <a:gd name="T5" fmla="*/ 60 h 266"/>
                <a:gd name="T6" fmla="*/ 206 w 266"/>
                <a:gd name="T7" fmla="*/ 0 h 266"/>
                <a:gd name="T8" fmla="*/ 0 w 266"/>
                <a:gd name="T9" fmla="*/ 206 h 266"/>
              </a:gdLst>
              <a:ahLst/>
              <a:cxnLst>
                <a:cxn ang="0">
                  <a:pos x="T0" y="T1"/>
                </a:cxn>
                <a:cxn ang="0">
                  <a:pos x="T2" y="T3"/>
                </a:cxn>
                <a:cxn ang="0">
                  <a:pos x="T4" y="T5"/>
                </a:cxn>
                <a:cxn ang="0">
                  <a:pos x="T6" y="T7"/>
                </a:cxn>
                <a:cxn ang="0">
                  <a:pos x="T8" y="T9"/>
                </a:cxn>
              </a:cxnLst>
              <a:rect l="0" t="0" r="r" b="b"/>
              <a:pathLst>
                <a:path w="266" h="266">
                  <a:moveTo>
                    <a:pt x="0" y="206"/>
                  </a:moveTo>
                  <a:lnTo>
                    <a:pt x="60" y="266"/>
                  </a:lnTo>
                  <a:lnTo>
                    <a:pt x="266" y="60"/>
                  </a:lnTo>
                  <a:lnTo>
                    <a:pt x="206" y="0"/>
                  </a:lnTo>
                  <a:lnTo>
                    <a:pt x="0" y="2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8" name="Freeform 139">
              <a:extLst>
                <a:ext uri="{FF2B5EF4-FFF2-40B4-BE49-F238E27FC236}">
                  <a16:creationId xmlns:a16="http://schemas.microsoft.com/office/drawing/2014/main" id="{D79D89C7-8FF6-41C5-A7F9-B7F696000085}"/>
                </a:ext>
              </a:extLst>
            </p:cNvPr>
            <p:cNvSpPr>
              <a:spLocks/>
            </p:cNvSpPr>
            <p:nvPr/>
          </p:nvSpPr>
          <p:spPr bwMode="auto">
            <a:xfrm>
              <a:off x="4508500" y="4862513"/>
              <a:ext cx="163513" cy="163513"/>
            </a:xfrm>
            <a:custGeom>
              <a:avLst/>
              <a:gdLst>
                <a:gd name="T0" fmla="*/ 9 w 24"/>
                <a:gd name="T1" fmla="*/ 1 h 24"/>
                <a:gd name="T2" fmla="*/ 0 w 24"/>
                <a:gd name="T3" fmla="*/ 10 h 24"/>
                <a:gd name="T4" fmla="*/ 14 w 24"/>
                <a:gd name="T5" fmla="*/ 24 h 24"/>
                <a:gd name="T6" fmla="*/ 23 w 24"/>
                <a:gd name="T7" fmla="*/ 15 h 24"/>
                <a:gd name="T8" fmla="*/ 23 w 24"/>
                <a:gd name="T9" fmla="*/ 11 h 24"/>
                <a:gd name="T10" fmla="*/ 13 w 24"/>
                <a:gd name="T11" fmla="*/ 1 h 24"/>
                <a:gd name="T12" fmla="*/ 9 w 24"/>
                <a:gd name="T13" fmla="*/ 1 h 24"/>
              </a:gdLst>
              <a:ahLst/>
              <a:cxnLst>
                <a:cxn ang="0">
                  <a:pos x="T0" y="T1"/>
                </a:cxn>
                <a:cxn ang="0">
                  <a:pos x="T2" y="T3"/>
                </a:cxn>
                <a:cxn ang="0">
                  <a:pos x="T4" y="T5"/>
                </a:cxn>
                <a:cxn ang="0">
                  <a:pos x="T6" y="T7"/>
                </a:cxn>
                <a:cxn ang="0">
                  <a:pos x="T8" y="T9"/>
                </a:cxn>
                <a:cxn ang="0">
                  <a:pos x="T10" y="T11"/>
                </a:cxn>
                <a:cxn ang="0">
                  <a:pos x="T12" y="T13"/>
                </a:cxn>
              </a:cxnLst>
              <a:rect l="0" t="0" r="r" b="b"/>
              <a:pathLst>
                <a:path w="24" h="24">
                  <a:moveTo>
                    <a:pt x="9" y="1"/>
                  </a:moveTo>
                  <a:cubicBezTo>
                    <a:pt x="0" y="10"/>
                    <a:pt x="0" y="10"/>
                    <a:pt x="0" y="10"/>
                  </a:cubicBezTo>
                  <a:cubicBezTo>
                    <a:pt x="14" y="24"/>
                    <a:pt x="14" y="24"/>
                    <a:pt x="14" y="24"/>
                  </a:cubicBezTo>
                  <a:cubicBezTo>
                    <a:pt x="23" y="15"/>
                    <a:pt x="23" y="15"/>
                    <a:pt x="23" y="15"/>
                  </a:cubicBezTo>
                  <a:cubicBezTo>
                    <a:pt x="24" y="14"/>
                    <a:pt x="24" y="12"/>
                    <a:pt x="23" y="11"/>
                  </a:cubicBezTo>
                  <a:cubicBezTo>
                    <a:pt x="13" y="1"/>
                    <a:pt x="13" y="1"/>
                    <a:pt x="13" y="1"/>
                  </a:cubicBezTo>
                  <a:cubicBezTo>
                    <a:pt x="12" y="0"/>
                    <a:pt x="10" y="0"/>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9" name="Freeform 140">
              <a:extLst>
                <a:ext uri="{FF2B5EF4-FFF2-40B4-BE49-F238E27FC236}">
                  <a16:creationId xmlns:a16="http://schemas.microsoft.com/office/drawing/2014/main" id="{A0C2DC05-B82E-45AB-A68F-58ECC417A4B9}"/>
                </a:ext>
              </a:extLst>
            </p:cNvPr>
            <p:cNvSpPr>
              <a:spLocks/>
            </p:cNvSpPr>
            <p:nvPr/>
          </p:nvSpPr>
          <p:spPr bwMode="auto">
            <a:xfrm>
              <a:off x="4092575" y="5326063"/>
              <a:ext cx="123825" cy="123825"/>
            </a:xfrm>
            <a:custGeom>
              <a:avLst/>
              <a:gdLst>
                <a:gd name="T0" fmla="*/ 3 w 18"/>
                <a:gd name="T1" fmla="*/ 17 h 18"/>
                <a:gd name="T2" fmla="*/ 18 w 18"/>
                <a:gd name="T3" fmla="*/ 14 h 18"/>
                <a:gd name="T4" fmla="*/ 3 w 18"/>
                <a:gd name="T5" fmla="*/ 0 h 18"/>
                <a:gd name="T6" fmla="*/ 0 w 18"/>
                <a:gd name="T7" fmla="*/ 14 h 18"/>
                <a:gd name="T8" fmla="*/ 3 w 18"/>
                <a:gd name="T9" fmla="*/ 17 h 18"/>
              </a:gdLst>
              <a:ahLst/>
              <a:cxnLst>
                <a:cxn ang="0">
                  <a:pos x="T0" y="T1"/>
                </a:cxn>
                <a:cxn ang="0">
                  <a:pos x="T2" y="T3"/>
                </a:cxn>
                <a:cxn ang="0">
                  <a:pos x="T4" y="T5"/>
                </a:cxn>
                <a:cxn ang="0">
                  <a:pos x="T6" y="T7"/>
                </a:cxn>
                <a:cxn ang="0">
                  <a:pos x="T8" y="T9"/>
                </a:cxn>
              </a:cxnLst>
              <a:rect l="0" t="0" r="r" b="b"/>
              <a:pathLst>
                <a:path w="18" h="18">
                  <a:moveTo>
                    <a:pt x="3" y="17"/>
                  </a:moveTo>
                  <a:cubicBezTo>
                    <a:pt x="18" y="14"/>
                    <a:pt x="18" y="14"/>
                    <a:pt x="18" y="14"/>
                  </a:cubicBezTo>
                  <a:cubicBezTo>
                    <a:pt x="3" y="0"/>
                    <a:pt x="3" y="0"/>
                    <a:pt x="3" y="0"/>
                  </a:cubicBezTo>
                  <a:cubicBezTo>
                    <a:pt x="0" y="14"/>
                    <a:pt x="0" y="14"/>
                    <a:pt x="0" y="14"/>
                  </a:cubicBezTo>
                  <a:cubicBezTo>
                    <a:pt x="0" y="16"/>
                    <a:pt x="1" y="18"/>
                    <a:pt x="3"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0" name="Group 129">
            <a:extLst>
              <a:ext uri="{FF2B5EF4-FFF2-40B4-BE49-F238E27FC236}">
                <a16:creationId xmlns:a16="http://schemas.microsoft.com/office/drawing/2014/main" id="{A95619C9-BFEE-4CDD-9145-98481339C106}"/>
              </a:ext>
            </a:extLst>
          </p:cNvPr>
          <p:cNvGrpSpPr>
            <a:grpSpLocks noChangeAspect="1"/>
          </p:cNvGrpSpPr>
          <p:nvPr/>
        </p:nvGrpSpPr>
        <p:grpSpPr>
          <a:xfrm>
            <a:off x="7133351" y="4636942"/>
            <a:ext cx="314865" cy="274320"/>
            <a:chOff x="6384925" y="4897438"/>
            <a:chExt cx="579438" cy="504825"/>
          </a:xfrm>
          <a:solidFill>
            <a:srgbClr val="595555"/>
          </a:solidFill>
        </p:grpSpPr>
        <p:sp>
          <p:nvSpPr>
            <p:cNvPr id="131" name="Freeform 141">
              <a:extLst>
                <a:ext uri="{FF2B5EF4-FFF2-40B4-BE49-F238E27FC236}">
                  <a16:creationId xmlns:a16="http://schemas.microsoft.com/office/drawing/2014/main" id="{587BDA53-2149-4103-84A6-2939D027DDCA}"/>
                </a:ext>
              </a:extLst>
            </p:cNvPr>
            <p:cNvSpPr>
              <a:spLocks noEditPoints="1"/>
            </p:cNvSpPr>
            <p:nvPr/>
          </p:nvSpPr>
          <p:spPr bwMode="auto">
            <a:xfrm>
              <a:off x="6384925" y="4897438"/>
              <a:ext cx="463550" cy="436563"/>
            </a:xfrm>
            <a:custGeom>
              <a:avLst/>
              <a:gdLst>
                <a:gd name="T0" fmla="*/ 65 w 68"/>
                <a:gd name="T1" fmla="*/ 48 h 64"/>
                <a:gd name="T2" fmla="*/ 68 w 68"/>
                <a:gd name="T3" fmla="*/ 46 h 64"/>
                <a:gd name="T4" fmla="*/ 68 w 68"/>
                <a:gd name="T5" fmla="*/ 35 h 64"/>
                <a:gd name="T6" fmla="*/ 68 w 68"/>
                <a:gd name="T7" fmla="*/ 34 h 64"/>
                <a:gd name="T8" fmla="*/ 68 w 68"/>
                <a:gd name="T9" fmla="*/ 30 h 64"/>
                <a:gd name="T10" fmla="*/ 68 w 68"/>
                <a:gd name="T11" fmla="*/ 11 h 64"/>
                <a:gd name="T12" fmla="*/ 68 w 68"/>
                <a:gd name="T13" fmla="*/ 3 h 64"/>
                <a:gd name="T14" fmla="*/ 65 w 68"/>
                <a:gd name="T15" fmla="*/ 0 h 64"/>
                <a:gd name="T16" fmla="*/ 57 w 68"/>
                <a:gd name="T17" fmla="*/ 0 h 64"/>
                <a:gd name="T18" fmla="*/ 35 w 68"/>
                <a:gd name="T19" fmla="*/ 0 h 64"/>
                <a:gd name="T20" fmla="*/ 3 w 68"/>
                <a:gd name="T21" fmla="*/ 0 h 64"/>
                <a:gd name="T22" fmla="*/ 0 w 68"/>
                <a:gd name="T23" fmla="*/ 3 h 64"/>
                <a:gd name="T24" fmla="*/ 0 w 68"/>
                <a:gd name="T25" fmla="*/ 15 h 64"/>
                <a:gd name="T26" fmla="*/ 0 w 68"/>
                <a:gd name="T27" fmla="*/ 37 h 64"/>
                <a:gd name="T28" fmla="*/ 0 w 68"/>
                <a:gd name="T29" fmla="*/ 46 h 64"/>
                <a:gd name="T30" fmla="*/ 3 w 68"/>
                <a:gd name="T31" fmla="*/ 48 h 64"/>
                <a:gd name="T32" fmla="*/ 11 w 68"/>
                <a:gd name="T33" fmla="*/ 48 h 64"/>
                <a:gd name="T34" fmla="*/ 20 w 68"/>
                <a:gd name="T35" fmla="*/ 48 h 64"/>
                <a:gd name="T36" fmla="*/ 20 w 68"/>
                <a:gd name="T37" fmla="*/ 52 h 64"/>
                <a:gd name="T38" fmla="*/ 19 w 68"/>
                <a:gd name="T39" fmla="*/ 61 h 64"/>
                <a:gd name="T40" fmla="*/ 20 w 68"/>
                <a:gd name="T41" fmla="*/ 63 h 64"/>
                <a:gd name="T42" fmla="*/ 24 w 68"/>
                <a:gd name="T43" fmla="*/ 63 h 64"/>
                <a:gd name="T44" fmla="*/ 24 w 68"/>
                <a:gd name="T45" fmla="*/ 62 h 64"/>
                <a:gd name="T46" fmla="*/ 39 w 68"/>
                <a:gd name="T47" fmla="*/ 48 h 64"/>
                <a:gd name="T48" fmla="*/ 47 w 68"/>
                <a:gd name="T49" fmla="*/ 48 h 64"/>
                <a:gd name="T50" fmla="*/ 65 w 68"/>
                <a:gd name="T51" fmla="*/ 48 h 64"/>
                <a:gd name="T52" fmla="*/ 16 w 68"/>
                <a:gd name="T53" fmla="*/ 14 h 64"/>
                <a:gd name="T54" fmla="*/ 52 w 68"/>
                <a:gd name="T55" fmla="*/ 14 h 64"/>
                <a:gd name="T56" fmla="*/ 52 w 68"/>
                <a:gd name="T57" fmla="*/ 18 h 64"/>
                <a:gd name="T58" fmla="*/ 16 w 68"/>
                <a:gd name="T59" fmla="*/ 18 h 64"/>
                <a:gd name="T60" fmla="*/ 16 w 68"/>
                <a:gd name="T61" fmla="*/ 14 h 64"/>
                <a:gd name="T62" fmla="*/ 16 w 68"/>
                <a:gd name="T63" fmla="*/ 22 h 64"/>
                <a:gd name="T64" fmla="*/ 52 w 68"/>
                <a:gd name="T65" fmla="*/ 22 h 64"/>
                <a:gd name="T66" fmla="*/ 52 w 68"/>
                <a:gd name="T67" fmla="*/ 26 h 64"/>
                <a:gd name="T68" fmla="*/ 16 w 68"/>
                <a:gd name="T69" fmla="*/ 26 h 64"/>
                <a:gd name="T70" fmla="*/ 16 w 68"/>
                <a:gd name="T71" fmla="*/ 22 h 64"/>
                <a:gd name="T72" fmla="*/ 16 w 68"/>
                <a:gd name="T73" fmla="*/ 34 h 64"/>
                <a:gd name="T74" fmla="*/ 16 w 68"/>
                <a:gd name="T75" fmla="*/ 30 h 64"/>
                <a:gd name="T76" fmla="*/ 52 w 68"/>
                <a:gd name="T77" fmla="*/ 30 h 64"/>
                <a:gd name="T78" fmla="*/ 52 w 68"/>
                <a:gd name="T79" fmla="*/ 34 h 64"/>
                <a:gd name="T80" fmla="*/ 16 w 68"/>
                <a:gd name="T81" fmla="*/ 3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8" h="64">
                  <a:moveTo>
                    <a:pt x="65" y="48"/>
                  </a:moveTo>
                  <a:cubicBezTo>
                    <a:pt x="67" y="48"/>
                    <a:pt x="68" y="47"/>
                    <a:pt x="68" y="46"/>
                  </a:cubicBezTo>
                  <a:cubicBezTo>
                    <a:pt x="68" y="35"/>
                    <a:pt x="68" y="35"/>
                    <a:pt x="68" y="35"/>
                  </a:cubicBezTo>
                  <a:cubicBezTo>
                    <a:pt x="68" y="34"/>
                    <a:pt x="68" y="34"/>
                    <a:pt x="68" y="34"/>
                  </a:cubicBezTo>
                  <a:cubicBezTo>
                    <a:pt x="68" y="30"/>
                    <a:pt x="68" y="30"/>
                    <a:pt x="68" y="30"/>
                  </a:cubicBezTo>
                  <a:cubicBezTo>
                    <a:pt x="68" y="11"/>
                    <a:pt x="68" y="11"/>
                    <a:pt x="68" y="11"/>
                  </a:cubicBezTo>
                  <a:cubicBezTo>
                    <a:pt x="68" y="3"/>
                    <a:pt x="68" y="3"/>
                    <a:pt x="68" y="3"/>
                  </a:cubicBezTo>
                  <a:cubicBezTo>
                    <a:pt x="68" y="2"/>
                    <a:pt x="67" y="0"/>
                    <a:pt x="65" y="0"/>
                  </a:cubicBezTo>
                  <a:cubicBezTo>
                    <a:pt x="57" y="0"/>
                    <a:pt x="57" y="0"/>
                    <a:pt x="57" y="0"/>
                  </a:cubicBezTo>
                  <a:cubicBezTo>
                    <a:pt x="35" y="0"/>
                    <a:pt x="35" y="0"/>
                    <a:pt x="35" y="0"/>
                  </a:cubicBezTo>
                  <a:cubicBezTo>
                    <a:pt x="3" y="0"/>
                    <a:pt x="3" y="0"/>
                    <a:pt x="3" y="0"/>
                  </a:cubicBezTo>
                  <a:cubicBezTo>
                    <a:pt x="1" y="0"/>
                    <a:pt x="0" y="2"/>
                    <a:pt x="0" y="3"/>
                  </a:cubicBezTo>
                  <a:cubicBezTo>
                    <a:pt x="0" y="15"/>
                    <a:pt x="0" y="15"/>
                    <a:pt x="0" y="15"/>
                  </a:cubicBezTo>
                  <a:cubicBezTo>
                    <a:pt x="0" y="37"/>
                    <a:pt x="0" y="37"/>
                    <a:pt x="0" y="37"/>
                  </a:cubicBezTo>
                  <a:cubicBezTo>
                    <a:pt x="0" y="46"/>
                    <a:pt x="0" y="46"/>
                    <a:pt x="0" y="46"/>
                  </a:cubicBezTo>
                  <a:cubicBezTo>
                    <a:pt x="0" y="47"/>
                    <a:pt x="1" y="48"/>
                    <a:pt x="3" y="48"/>
                  </a:cubicBezTo>
                  <a:cubicBezTo>
                    <a:pt x="11" y="48"/>
                    <a:pt x="11" y="48"/>
                    <a:pt x="11" y="48"/>
                  </a:cubicBezTo>
                  <a:cubicBezTo>
                    <a:pt x="20" y="48"/>
                    <a:pt x="20" y="48"/>
                    <a:pt x="20" y="48"/>
                  </a:cubicBezTo>
                  <a:cubicBezTo>
                    <a:pt x="20" y="52"/>
                    <a:pt x="20" y="52"/>
                    <a:pt x="20" y="52"/>
                  </a:cubicBezTo>
                  <a:cubicBezTo>
                    <a:pt x="19" y="61"/>
                    <a:pt x="19" y="61"/>
                    <a:pt x="19" y="61"/>
                  </a:cubicBezTo>
                  <a:cubicBezTo>
                    <a:pt x="19" y="62"/>
                    <a:pt x="19" y="63"/>
                    <a:pt x="20" y="63"/>
                  </a:cubicBezTo>
                  <a:cubicBezTo>
                    <a:pt x="22" y="64"/>
                    <a:pt x="23" y="64"/>
                    <a:pt x="24" y="63"/>
                  </a:cubicBezTo>
                  <a:cubicBezTo>
                    <a:pt x="24" y="62"/>
                    <a:pt x="24" y="62"/>
                    <a:pt x="24" y="62"/>
                  </a:cubicBezTo>
                  <a:cubicBezTo>
                    <a:pt x="39" y="48"/>
                    <a:pt x="39" y="48"/>
                    <a:pt x="39" y="48"/>
                  </a:cubicBezTo>
                  <a:cubicBezTo>
                    <a:pt x="47" y="48"/>
                    <a:pt x="47" y="48"/>
                    <a:pt x="47" y="48"/>
                  </a:cubicBezTo>
                  <a:lnTo>
                    <a:pt x="65" y="48"/>
                  </a:lnTo>
                  <a:close/>
                  <a:moveTo>
                    <a:pt x="16" y="14"/>
                  </a:moveTo>
                  <a:cubicBezTo>
                    <a:pt x="52" y="14"/>
                    <a:pt x="52" y="14"/>
                    <a:pt x="52" y="14"/>
                  </a:cubicBezTo>
                  <a:cubicBezTo>
                    <a:pt x="52" y="18"/>
                    <a:pt x="52" y="18"/>
                    <a:pt x="52" y="18"/>
                  </a:cubicBezTo>
                  <a:cubicBezTo>
                    <a:pt x="16" y="18"/>
                    <a:pt x="16" y="18"/>
                    <a:pt x="16" y="18"/>
                  </a:cubicBezTo>
                  <a:lnTo>
                    <a:pt x="16" y="14"/>
                  </a:lnTo>
                  <a:close/>
                  <a:moveTo>
                    <a:pt x="16" y="22"/>
                  </a:moveTo>
                  <a:cubicBezTo>
                    <a:pt x="52" y="22"/>
                    <a:pt x="52" y="22"/>
                    <a:pt x="52" y="22"/>
                  </a:cubicBezTo>
                  <a:cubicBezTo>
                    <a:pt x="52" y="26"/>
                    <a:pt x="52" y="26"/>
                    <a:pt x="52" y="26"/>
                  </a:cubicBezTo>
                  <a:cubicBezTo>
                    <a:pt x="16" y="26"/>
                    <a:pt x="16" y="26"/>
                    <a:pt x="16" y="26"/>
                  </a:cubicBezTo>
                  <a:lnTo>
                    <a:pt x="16" y="22"/>
                  </a:lnTo>
                  <a:close/>
                  <a:moveTo>
                    <a:pt x="16" y="34"/>
                  </a:moveTo>
                  <a:cubicBezTo>
                    <a:pt x="16" y="30"/>
                    <a:pt x="16" y="30"/>
                    <a:pt x="16" y="30"/>
                  </a:cubicBezTo>
                  <a:cubicBezTo>
                    <a:pt x="52" y="30"/>
                    <a:pt x="52" y="30"/>
                    <a:pt x="52" y="30"/>
                  </a:cubicBezTo>
                  <a:cubicBezTo>
                    <a:pt x="52" y="34"/>
                    <a:pt x="52" y="34"/>
                    <a:pt x="52" y="34"/>
                  </a:cubicBezTo>
                  <a:lnTo>
                    <a:pt x="16"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2" name="Freeform 142">
              <a:extLst>
                <a:ext uri="{FF2B5EF4-FFF2-40B4-BE49-F238E27FC236}">
                  <a16:creationId xmlns:a16="http://schemas.microsoft.com/office/drawing/2014/main" id="{7132E26E-0CB9-4C33-ABB7-BFDBC888746D}"/>
                </a:ext>
              </a:extLst>
            </p:cNvPr>
            <p:cNvSpPr>
              <a:spLocks/>
            </p:cNvSpPr>
            <p:nvPr/>
          </p:nvSpPr>
          <p:spPr bwMode="auto">
            <a:xfrm>
              <a:off x="6684963" y="5135563"/>
              <a:ext cx="279400" cy="266700"/>
            </a:xfrm>
            <a:custGeom>
              <a:avLst/>
              <a:gdLst>
                <a:gd name="T0" fmla="*/ 39 w 41"/>
                <a:gd name="T1" fmla="*/ 0 h 39"/>
                <a:gd name="T2" fmla="*/ 35 w 41"/>
                <a:gd name="T3" fmla="*/ 0 h 39"/>
                <a:gd name="T4" fmla="*/ 32 w 41"/>
                <a:gd name="T5" fmla="*/ 0 h 39"/>
                <a:gd name="T6" fmla="*/ 28 w 41"/>
                <a:gd name="T7" fmla="*/ 0 h 39"/>
                <a:gd name="T8" fmla="*/ 28 w 41"/>
                <a:gd name="T9" fmla="*/ 6 h 39"/>
                <a:gd name="T10" fmla="*/ 28 w 41"/>
                <a:gd name="T11" fmla="*/ 15 h 39"/>
                <a:gd name="T12" fmla="*/ 25 w 41"/>
                <a:gd name="T13" fmla="*/ 17 h 39"/>
                <a:gd name="T14" fmla="*/ 17 w 41"/>
                <a:gd name="T15" fmla="*/ 17 h 39"/>
                <a:gd name="T16" fmla="*/ 3 w 41"/>
                <a:gd name="T17" fmla="*/ 17 h 39"/>
                <a:gd name="T18" fmla="*/ 0 w 41"/>
                <a:gd name="T19" fmla="*/ 17 h 39"/>
                <a:gd name="T20" fmla="*/ 0 w 41"/>
                <a:gd name="T21" fmla="*/ 20 h 39"/>
                <a:gd name="T22" fmla="*/ 0 w 41"/>
                <a:gd name="T23" fmla="*/ 23 h 39"/>
                <a:gd name="T24" fmla="*/ 0 w 41"/>
                <a:gd name="T25" fmla="*/ 27 h 39"/>
                <a:gd name="T26" fmla="*/ 3 w 41"/>
                <a:gd name="T27" fmla="*/ 29 h 39"/>
                <a:gd name="T28" fmla="*/ 7 w 41"/>
                <a:gd name="T29" fmla="*/ 29 h 39"/>
                <a:gd name="T30" fmla="*/ 15 w 41"/>
                <a:gd name="T31" fmla="*/ 29 h 39"/>
                <a:gd name="T32" fmla="*/ 17 w 41"/>
                <a:gd name="T33" fmla="*/ 29 h 39"/>
                <a:gd name="T34" fmla="*/ 27 w 41"/>
                <a:gd name="T35" fmla="*/ 38 h 39"/>
                <a:gd name="T36" fmla="*/ 28 w 41"/>
                <a:gd name="T37" fmla="*/ 39 h 39"/>
                <a:gd name="T38" fmla="*/ 30 w 41"/>
                <a:gd name="T39" fmla="*/ 37 h 39"/>
                <a:gd name="T40" fmla="*/ 29 w 41"/>
                <a:gd name="T41" fmla="*/ 29 h 39"/>
                <a:gd name="T42" fmla="*/ 32 w 41"/>
                <a:gd name="T43" fmla="*/ 29 h 39"/>
                <a:gd name="T44" fmla="*/ 39 w 41"/>
                <a:gd name="T45" fmla="*/ 29 h 39"/>
                <a:gd name="T46" fmla="*/ 41 w 41"/>
                <a:gd name="T47" fmla="*/ 27 h 39"/>
                <a:gd name="T48" fmla="*/ 41 w 41"/>
                <a:gd name="T49" fmla="*/ 21 h 39"/>
                <a:gd name="T50" fmla="*/ 41 w 41"/>
                <a:gd name="T51" fmla="*/ 11 h 39"/>
                <a:gd name="T52" fmla="*/ 41 w 41"/>
                <a:gd name="T53" fmla="*/ 7 h 39"/>
                <a:gd name="T54" fmla="*/ 41 w 41"/>
                <a:gd name="T55" fmla="*/ 3 h 39"/>
                <a:gd name="T56" fmla="*/ 39 w 41"/>
                <a:gd name="T5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9">
                  <a:moveTo>
                    <a:pt x="39" y="0"/>
                  </a:moveTo>
                  <a:cubicBezTo>
                    <a:pt x="35" y="0"/>
                    <a:pt x="35" y="0"/>
                    <a:pt x="35" y="0"/>
                  </a:cubicBezTo>
                  <a:cubicBezTo>
                    <a:pt x="32" y="0"/>
                    <a:pt x="32" y="0"/>
                    <a:pt x="32" y="0"/>
                  </a:cubicBezTo>
                  <a:cubicBezTo>
                    <a:pt x="28" y="0"/>
                    <a:pt x="28" y="0"/>
                    <a:pt x="28" y="0"/>
                  </a:cubicBezTo>
                  <a:cubicBezTo>
                    <a:pt x="28" y="6"/>
                    <a:pt x="28" y="6"/>
                    <a:pt x="28" y="6"/>
                  </a:cubicBezTo>
                  <a:cubicBezTo>
                    <a:pt x="28" y="15"/>
                    <a:pt x="28" y="15"/>
                    <a:pt x="28" y="15"/>
                  </a:cubicBezTo>
                  <a:cubicBezTo>
                    <a:pt x="28" y="16"/>
                    <a:pt x="27" y="17"/>
                    <a:pt x="25" y="17"/>
                  </a:cubicBezTo>
                  <a:cubicBezTo>
                    <a:pt x="17" y="17"/>
                    <a:pt x="17" y="17"/>
                    <a:pt x="17" y="17"/>
                  </a:cubicBezTo>
                  <a:cubicBezTo>
                    <a:pt x="3" y="17"/>
                    <a:pt x="3" y="17"/>
                    <a:pt x="3" y="17"/>
                  </a:cubicBezTo>
                  <a:cubicBezTo>
                    <a:pt x="0" y="17"/>
                    <a:pt x="0" y="17"/>
                    <a:pt x="0" y="17"/>
                  </a:cubicBezTo>
                  <a:cubicBezTo>
                    <a:pt x="0" y="20"/>
                    <a:pt x="0" y="20"/>
                    <a:pt x="0" y="20"/>
                  </a:cubicBezTo>
                  <a:cubicBezTo>
                    <a:pt x="0" y="23"/>
                    <a:pt x="0" y="23"/>
                    <a:pt x="0" y="23"/>
                  </a:cubicBezTo>
                  <a:cubicBezTo>
                    <a:pt x="0" y="27"/>
                    <a:pt x="0" y="27"/>
                    <a:pt x="0" y="27"/>
                  </a:cubicBezTo>
                  <a:cubicBezTo>
                    <a:pt x="0" y="28"/>
                    <a:pt x="1" y="29"/>
                    <a:pt x="3" y="29"/>
                  </a:cubicBezTo>
                  <a:cubicBezTo>
                    <a:pt x="7" y="29"/>
                    <a:pt x="7" y="29"/>
                    <a:pt x="7" y="29"/>
                  </a:cubicBezTo>
                  <a:cubicBezTo>
                    <a:pt x="15" y="29"/>
                    <a:pt x="15" y="29"/>
                    <a:pt x="15" y="29"/>
                  </a:cubicBezTo>
                  <a:cubicBezTo>
                    <a:pt x="17" y="29"/>
                    <a:pt x="17" y="29"/>
                    <a:pt x="17" y="29"/>
                  </a:cubicBezTo>
                  <a:cubicBezTo>
                    <a:pt x="27" y="38"/>
                    <a:pt x="27" y="38"/>
                    <a:pt x="27" y="38"/>
                  </a:cubicBezTo>
                  <a:cubicBezTo>
                    <a:pt x="27" y="39"/>
                    <a:pt x="28" y="39"/>
                    <a:pt x="28" y="39"/>
                  </a:cubicBezTo>
                  <a:cubicBezTo>
                    <a:pt x="29" y="39"/>
                    <a:pt x="30" y="38"/>
                    <a:pt x="30" y="37"/>
                  </a:cubicBezTo>
                  <a:cubicBezTo>
                    <a:pt x="29" y="29"/>
                    <a:pt x="29" y="29"/>
                    <a:pt x="29" y="29"/>
                  </a:cubicBezTo>
                  <a:cubicBezTo>
                    <a:pt x="32" y="29"/>
                    <a:pt x="32" y="29"/>
                    <a:pt x="32" y="29"/>
                  </a:cubicBezTo>
                  <a:cubicBezTo>
                    <a:pt x="39" y="29"/>
                    <a:pt x="39" y="29"/>
                    <a:pt x="39" y="29"/>
                  </a:cubicBezTo>
                  <a:cubicBezTo>
                    <a:pt x="40" y="29"/>
                    <a:pt x="41" y="28"/>
                    <a:pt x="41" y="27"/>
                  </a:cubicBezTo>
                  <a:cubicBezTo>
                    <a:pt x="41" y="21"/>
                    <a:pt x="41" y="21"/>
                    <a:pt x="41" y="21"/>
                  </a:cubicBezTo>
                  <a:cubicBezTo>
                    <a:pt x="41" y="11"/>
                    <a:pt x="41" y="11"/>
                    <a:pt x="41" y="11"/>
                  </a:cubicBezTo>
                  <a:cubicBezTo>
                    <a:pt x="41" y="7"/>
                    <a:pt x="41" y="7"/>
                    <a:pt x="41" y="7"/>
                  </a:cubicBezTo>
                  <a:cubicBezTo>
                    <a:pt x="41" y="3"/>
                    <a:pt x="41" y="3"/>
                    <a:pt x="41" y="3"/>
                  </a:cubicBezTo>
                  <a:cubicBezTo>
                    <a:pt x="41" y="1"/>
                    <a:pt x="40" y="0"/>
                    <a:pt x="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33" name="Group 132">
            <a:extLst>
              <a:ext uri="{FF2B5EF4-FFF2-40B4-BE49-F238E27FC236}">
                <a16:creationId xmlns:a16="http://schemas.microsoft.com/office/drawing/2014/main" id="{BBA64CAB-AD4B-453C-8681-67B2480297C8}"/>
              </a:ext>
            </a:extLst>
          </p:cNvPr>
          <p:cNvGrpSpPr>
            <a:grpSpLocks noChangeAspect="1"/>
          </p:cNvGrpSpPr>
          <p:nvPr/>
        </p:nvGrpSpPr>
        <p:grpSpPr>
          <a:xfrm>
            <a:off x="6209984" y="4636942"/>
            <a:ext cx="315726" cy="274320"/>
            <a:chOff x="5619750" y="4897438"/>
            <a:chExt cx="581026" cy="504825"/>
          </a:xfrm>
          <a:solidFill>
            <a:srgbClr val="595555"/>
          </a:solidFill>
        </p:grpSpPr>
        <p:sp>
          <p:nvSpPr>
            <p:cNvPr id="134" name="Freeform 143">
              <a:extLst>
                <a:ext uri="{FF2B5EF4-FFF2-40B4-BE49-F238E27FC236}">
                  <a16:creationId xmlns:a16="http://schemas.microsoft.com/office/drawing/2014/main" id="{63E4F1FE-E938-4D35-8598-B5E250D9B7AD}"/>
                </a:ext>
              </a:extLst>
            </p:cNvPr>
            <p:cNvSpPr>
              <a:spLocks/>
            </p:cNvSpPr>
            <p:nvPr/>
          </p:nvSpPr>
          <p:spPr bwMode="auto">
            <a:xfrm>
              <a:off x="5619750" y="4897438"/>
              <a:ext cx="465138" cy="436563"/>
            </a:xfrm>
            <a:custGeom>
              <a:avLst/>
              <a:gdLst>
                <a:gd name="T0" fmla="*/ 65 w 68"/>
                <a:gd name="T1" fmla="*/ 48 h 64"/>
                <a:gd name="T2" fmla="*/ 68 w 68"/>
                <a:gd name="T3" fmla="*/ 46 h 64"/>
                <a:gd name="T4" fmla="*/ 68 w 68"/>
                <a:gd name="T5" fmla="*/ 35 h 64"/>
                <a:gd name="T6" fmla="*/ 68 w 68"/>
                <a:gd name="T7" fmla="*/ 34 h 64"/>
                <a:gd name="T8" fmla="*/ 68 w 68"/>
                <a:gd name="T9" fmla="*/ 30 h 64"/>
                <a:gd name="T10" fmla="*/ 68 w 68"/>
                <a:gd name="T11" fmla="*/ 11 h 64"/>
                <a:gd name="T12" fmla="*/ 68 w 68"/>
                <a:gd name="T13" fmla="*/ 3 h 64"/>
                <a:gd name="T14" fmla="*/ 65 w 68"/>
                <a:gd name="T15" fmla="*/ 0 h 64"/>
                <a:gd name="T16" fmla="*/ 57 w 68"/>
                <a:gd name="T17" fmla="*/ 0 h 64"/>
                <a:gd name="T18" fmla="*/ 35 w 68"/>
                <a:gd name="T19" fmla="*/ 0 h 64"/>
                <a:gd name="T20" fmla="*/ 3 w 68"/>
                <a:gd name="T21" fmla="*/ 0 h 64"/>
                <a:gd name="T22" fmla="*/ 0 w 68"/>
                <a:gd name="T23" fmla="*/ 3 h 64"/>
                <a:gd name="T24" fmla="*/ 0 w 68"/>
                <a:gd name="T25" fmla="*/ 15 h 64"/>
                <a:gd name="T26" fmla="*/ 0 w 68"/>
                <a:gd name="T27" fmla="*/ 37 h 64"/>
                <a:gd name="T28" fmla="*/ 0 w 68"/>
                <a:gd name="T29" fmla="*/ 46 h 64"/>
                <a:gd name="T30" fmla="*/ 3 w 68"/>
                <a:gd name="T31" fmla="*/ 48 h 64"/>
                <a:gd name="T32" fmla="*/ 11 w 68"/>
                <a:gd name="T33" fmla="*/ 48 h 64"/>
                <a:gd name="T34" fmla="*/ 20 w 68"/>
                <a:gd name="T35" fmla="*/ 48 h 64"/>
                <a:gd name="T36" fmla="*/ 20 w 68"/>
                <a:gd name="T37" fmla="*/ 52 h 64"/>
                <a:gd name="T38" fmla="*/ 19 w 68"/>
                <a:gd name="T39" fmla="*/ 61 h 64"/>
                <a:gd name="T40" fmla="*/ 20 w 68"/>
                <a:gd name="T41" fmla="*/ 63 h 64"/>
                <a:gd name="T42" fmla="*/ 24 w 68"/>
                <a:gd name="T43" fmla="*/ 63 h 64"/>
                <a:gd name="T44" fmla="*/ 24 w 68"/>
                <a:gd name="T45" fmla="*/ 62 h 64"/>
                <a:gd name="T46" fmla="*/ 39 w 68"/>
                <a:gd name="T47" fmla="*/ 48 h 64"/>
                <a:gd name="T48" fmla="*/ 47 w 68"/>
                <a:gd name="T49" fmla="*/ 48 h 64"/>
                <a:gd name="T50" fmla="*/ 65 w 68"/>
                <a:gd name="T51" fmla="*/ 4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 h="64">
                  <a:moveTo>
                    <a:pt x="65" y="48"/>
                  </a:moveTo>
                  <a:cubicBezTo>
                    <a:pt x="67" y="48"/>
                    <a:pt x="68" y="47"/>
                    <a:pt x="68" y="46"/>
                  </a:cubicBezTo>
                  <a:cubicBezTo>
                    <a:pt x="68" y="35"/>
                    <a:pt x="68" y="35"/>
                    <a:pt x="68" y="35"/>
                  </a:cubicBezTo>
                  <a:cubicBezTo>
                    <a:pt x="68" y="34"/>
                    <a:pt x="68" y="34"/>
                    <a:pt x="68" y="34"/>
                  </a:cubicBezTo>
                  <a:cubicBezTo>
                    <a:pt x="68" y="30"/>
                    <a:pt x="68" y="30"/>
                    <a:pt x="68" y="30"/>
                  </a:cubicBezTo>
                  <a:cubicBezTo>
                    <a:pt x="68" y="11"/>
                    <a:pt x="68" y="11"/>
                    <a:pt x="68" y="11"/>
                  </a:cubicBezTo>
                  <a:cubicBezTo>
                    <a:pt x="68" y="3"/>
                    <a:pt x="68" y="3"/>
                    <a:pt x="68" y="3"/>
                  </a:cubicBezTo>
                  <a:cubicBezTo>
                    <a:pt x="68" y="2"/>
                    <a:pt x="67" y="0"/>
                    <a:pt x="65" y="0"/>
                  </a:cubicBezTo>
                  <a:cubicBezTo>
                    <a:pt x="57" y="0"/>
                    <a:pt x="57" y="0"/>
                    <a:pt x="57" y="0"/>
                  </a:cubicBezTo>
                  <a:cubicBezTo>
                    <a:pt x="35" y="0"/>
                    <a:pt x="35" y="0"/>
                    <a:pt x="35" y="0"/>
                  </a:cubicBezTo>
                  <a:cubicBezTo>
                    <a:pt x="3" y="0"/>
                    <a:pt x="3" y="0"/>
                    <a:pt x="3" y="0"/>
                  </a:cubicBezTo>
                  <a:cubicBezTo>
                    <a:pt x="1" y="0"/>
                    <a:pt x="0" y="2"/>
                    <a:pt x="0" y="3"/>
                  </a:cubicBezTo>
                  <a:cubicBezTo>
                    <a:pt x="0" y="15"/>
                    <a:pt x="0" y="15"/>
                    <a:pt x="0" y="15"/>
                  </a:cubicBezTo>
                  <a:cubicBezTo>
                    <a:pt x="0" y="37"/>
                    <a:pt x="0" y="37"/>
                    <a:pt x="0" y="37"/>
                  </a:cubicBezTo>
                  <a:cubicBezTo>
                    <a:pt x="0" y="46"/>
                    <a:pt x="0" y="46"/>
                    <a:pt x="0" y="46"/>
                  </a:cubicBezTo>
                  <a:cubicBezTo>
                    <a:pt x="0" y="47"/>
                    <a:pt x="1" y="48"/>
                    <a:pt x="3" y="48"/>
                  </a:cubicBezTo>
                  <a:cubicBezTo>
                    <a:pt x="11" y="48"/>
                    <a:pt x="11" y="48"/>
                    <a:pt x="11" y="48"/>
                  </a:cubicBezTo>
                  <a:cubicBezTo>
                    <a:pt x="20" y="48"/>
                    <a:pt x="20" y="48"/>
                    <a:pt x="20" y="48"/>
                  </a:cubicBezTo>
                  <a:cubicBezTo>
                    <a:pt x="20" y="52"/>
                    <a:pt x="20" y="52"/>
                    <a:pt x="20" y="52"/>
                  </a:cubicBezTo>
                  <a:cubicBezTo>
                    <a:pt x="19" y="61"/>
                    <a:pt x="19" y="61"/>
                    <a:pt x="19" y="61"/>
                  </a:cubicBezTo>
                  <a:cubicBezTo>
                    <a:pt x="19" y="62"/>
                    <a:pt x="19" y="63"/>
                    <a:pt x="20" y="63"/>
                  </a:cubicBezTo>
                  <a:cubicBezTo>
                    <a:pt x="22" y="64"/>
                    <a:pt x="23" y="64"/>
                    <a:pt x="24" y="63"/>
                  </a:cubicBezTo>
                  <a:cubicBezTo>
                    <a:pt x="24" y="62"/>
                    <a:pt x="24" y="62"/>
                    <a:pt x="24" y="62"/>
                  </a:cubicBezTo>
                  <a:cubicBezTo>
                    <a:pt x="39" y="48"/>
                    <a:pt x="39" y="48"/>
                    <a:pt x="39" y="48"/>
                  </a:cubicBezTo>
                  <a:cubicBezTo>
                    <a:pt x="47" y="48"/>
                    <a:pt x="47" y="48"/>
                    <a:pt x="47" y="48"/>
                  </a:cubicBezTo>
                  <a:lnTo>
                    <a:pt x="65"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5" name="Freeform 144">
              <a:extLst>
                <a:ext uri="{FF2B5EF4-FFF2-40B4-BE49-F238E27FC236}">
                  <a16:creationId xmlns:a16="http://schemas.microsoft.com/office/drawing/2014/main" id="{EC907330-08F4-43E6-B51E-DB6B355A7AD8}"/>
                </a:ext>
              </a:extLst>
            </p:cNvPr>
            <p:cNvSpPr>
              <a:spLocks/>
            </p:cNvSpPr>
            <p:nvPr/>
          </p:nvSpPr>
          <p:spPr bwMode="auto">
            <a:xfrm>
              <a:off x="5919788" y="5135563"/>
              <a:ext cx="280988" cy="266700"/>
            </a:xfrm>
            <a:custGeom>
              <a:avLst/>
              <a:gdLst>
                <a:gd name="T0" fmla="*/ 39 w 41"/>
                <a:gd name="T1" fmla="*/ 0 h 39"/>
                <a:gd name="T2" fmla="*/ 35 w 41"/>
                <a:gd name="T3" fmla="*/ 0 h 39"/>
                <a:gd name="T4" fmla="*/ 32 w 41"/>
                <a:gd name="T5" fmla="*/ 0 h 39"/>
                <a:gd name="T6" fmla="*/ 28 w 41"/>
                <a:gd name="T7" fmla="*/ 0 h 39"/>
                <a:gd name="T8" fmla="*/ 28 w 41"/>
                <a:gd name="T9" fmla="*/ 6 h 39"/>
                <a:gd name="T10" fmla="*/ 28 w 41"/>
                <a:gd name="T11" fmla="*/ 15 h 39"/>
                <a:gd name="T12" fmla="*/ 25 w 41"/>
                <a:gd name="T13" fmla="*/ 17 h 39"/>
                <a:gd name="T14" fmla="*/ 17 w 41"/>
                <a:gd name="T15" fmla="*/ 17 h 39"/>
                <a:gd name="T16" fmla="*/ 3 w 41"/>
                <a:gd name="T17" fmla="*/ 17 h 39"/>
                <a:gd name="T18" fmla="*/ 0 w 41"/>
                <a:gd name="T19" fmla="*/ 17 h 39"/>
                <a:gd name="T20" fmla="*/ 0 w 41"/>
                <a:gd name="T21" fmla="*/ 20 h 39"/>
                <a:gd name="T22" fmla="*/ 0 w 41"/>
                <a:gd name="T23" fmla="*/ 23 h 39"/>
                <a:gd name="T24" fmla="*/ 0 w 41"/>
                <a:gd name="T25" fmla="*/ 27 h 39"/>
                <a:gd name="T26" fmla="*/ 3 w 41"/>
                <a:gd name="T27" fmla="*/ 29 h 39"/>
                <a:gd name="T28" fmla="*/ 7 w 41"/>
                <a:gd name="T29" fmla="*/ 29 h 39"/>
                <a:gd name="T30" fmla="*/ 15 w 41"/>
                <a:gd name="T31" fmla="*/ 29 h 39"/>
                <a:gd name="T32" fmla="*/ 17 w 41"/>
                <a:gd name="T33" fmla="*/ 29 h 39"/>
                <a:gd name="T34" fmla="*/ 27 w 41"/>
                <a:gd name="T35" fmla="*/ 38 h 39"/>
                <a:gd name="T36" fmla="*/ 28 w 41"/>
                <a:gd name="T37" fmla="*/ 39 h 39"/>
                <a:gd name="T38" fmla="*/ 30 w 41"/>
                <a:gd name="T39" fmla="*/ 37 h 39"/>
                <a:gd name="T40" fmla="*/ 29 w 41"/>
                <a:gd name="T41" fmla="*/ 29 h 39"/>
                <a:gd name="T42" fmla="*/ 32 w 41"/>
                <a:gd name="T43" fmla="*/ 29 h 39"/>
                <a:gd name="T44" fmla="*/ 39 w 41"/>
                <a:gd name="T45" fmla="*/ 29 h 39"/>
                <a:gd name="T46" fmla="*/ 41 w 41"/>
                <a:gd name="T47" fmla="*/ 27 h 39"/>
                <a:gd name="T48" fmla="*/ 41 w 41"/>
                <a:gd name="T49" fmla="*/ 21 h 39"/>
                <a:gd name="T50" fmla="*/ 41 w 41"/>
                <a:gd name="T51" fmla="*/ 11 h 39"/>
                <a:gd name="T52" fmla="*/ 41 w 41"/>
                <a:gd name="T53" fmla="*/ 7 h 39"/>
                <a:gd name="T54" fmla="*/ 41 w 41"/>
                <a:gd name="T55" fmla="*/ 3 h 39"/>
                <a:gd name="T56" fmla="*/ 39 w 41"/>
                <a:gd name="T57"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 h="39">
                  <a:moveTo>
                    <a:pt x="39" y="0"/>
                  </a:moveTo>
                  <a:cubicBezTo>
                    <a:pt x="35" y="0"/>
                    <a:pt x="35" y="0"/>
                    <a:pt x="35" y="0"/>
                  </a:cubicBezTo>
                  <a:cubicBezTo>
                    <a:pt x="32" y="0"/>
                    <a:pt x="32" y="0"/>
                    <a:pt x="32" y="0"/>
                  </a:cubicBezTo>
                  <a:cubicBezTo>
                    <a:pt x="28" y="0"/>
                    <a:pt x="28" y="0"/>
                    <a:pt x="28" y="0"/>
                  </a:cubicBezTo>
                  <a:cubicBezTo>
                    <a:pt x="28" y="6"/>
                    <a:pt x="28" y="6"/>
                    <a:pt x="28" y="6"/>
                  </a:cubicBezTo>
                  <a:cubicBezTo>
                    <a:pt x="28" y="15"/>
                    <a:pt x="28" y="15"/>
                    <a:pt x="28" y="15"/>
                  </a:cubicBezTo>
                  <a:cubicBezTo>
                    <a:pt x="28" y="16"/>
                    <a:pt x="27" y="17"/>
                    <a:pt x="25" y="17"/>
                  </a:cubicBezTo>
                  <a:cubicBezTo>
                    <a:pt x="17" y="17"/>
                    <a:pt x="17" y="17"/>
                    <a:pt x="17" y="17"/>
                  </a:cubicBezTo>
                  <a:cubicBezTo>
                    <a:pt x="3" y="17"/>
                    <a:pt x="3" y="17"/>
                    <a:pt x="3" y="17"/>
                  </a:cubicBezTo>
                  <a:cubicBezTo>
                    <a:pt x="0" y="17"/>
                    <a:pt x="0" y="17"/>
                    <a:pt x="0" y="17"/>
                  </a:cubicBezTo>
                  <a:cubicBezTo>
                    <a:pt x="0" y="20"/>
                    <a:pt x="0" y="20"/>
                    <a:pt x="0" y="20"/>
                  </a:cubicBezTo>
                  <a:cubicBezTo>
                    <a:pt x="0" y="23"/>
                    <a:pt x="0" y="23"/>
                    <a:pt x="0" y="23"/>
                  </a:cubicBezTo>
                  <a:cubicBezTo>
                    <a:pt x="0" y="27"/>
                    <a:pt x="0" y="27"/>
                    <a:pt x="0" y="27"/>
                  </a:cubicBezTo>
                  <a:cubicBezTo>
                    <a:pt x="0" y="28"/>
                    <a:pt x="1" y="29"/>
                    <a:pt x="3" y="29"/>
                  </a:cubicBezTo>
                  <a:cubicBezTo>
                    <a:pt x="7" y="29"/>
                    <a:pt x="7" y="29"/>
                    <a:pt x="7" y="29"/>
                  </a:cubicBezTo>
                  <a:cubicBezTo>
                    <a:pt x="15" y="29"/>
                    <a:pt x="15" y="29"/>
                    <a:pt x="15" y="29"/>
                  </a:cubicBezTo>
                  <a:cubicBezTo>
                    <a:pt x="17" y="29"/>
                    <a:pt x="17" y="29"/>
                    <a:pt x="17" y="29"/>
                  </a:cubicBezTo>
                  <a:cubicBezTo>
                    <a:pt x="27" y="38"/>
                    <a:pt x="27" y="38"/>
                    <a:pt x="27" y="38"/>
                  </a:cubicBezTo>
                  <a:cubicBezTo>
                    <a:pt x="27" y="39"/>
                    <a:pt x="28" y="39"/>
                    <a:pt x="28" y="39"/>
                  </a:cubicBezTo>
                  <a:cubicBezTo>
                    <a:pt x="29" y="39"/>
                    <a:pt x="30" y="38"/>
                    <a:pt x="30" y="37"/>
                  </a:cubicBezTo>
                  <a:cubicBezTo>
                    <a:pt x="29" y="29"/>
                    <a:pt x="29" y="29"/>
                    <a:pt x="29" y="29"/>
                  </a:cubicBezTo>
                  <a:cubicBezTo>
                    <a:pt x="32" y="29"/>
                    <a:pt x="32" y="29"/>
                    <a:pt x="32" y="29"/>
                  </a:cubicBezTo>
                  <a:cubicBezTo>
                    <a:pt x="39" y="29"/>
                    <a:pt x="39" y="29"/>
                    <a:pt x="39" y="29"/>
                  </a:cubicBezTo>
                  <a:cubicBezTo>
                    <a:pt x="40" y="29"/>
                    <a:pt x="41" y="28"/>
                    <a:pt x="41" y="27"/>
                  </a:cubicBezTo>
                  <a:cubicBezTo>
                    <a:pt x="41" y="21"/>
                    <a:pt x="41" y="21"/>
                    <a:pt x="41" y="21"/>
                  </a:cubicBezTo>
                  <a:cubicBezTo>
                    <a:pt x="41" y="11"/>
                    <a:pt x="41" y="11"/>
                    <a:pt x="41" y="11"/>
                  </a:cubicBezTo>
                  <a:cubicBezTo>
                    <a:pt x="41" y="7"/>
                    <a:pt x="41" y="7"/>
                    <a:pt x="41" y="7"/>
                  </a:cubicBezTo>
                  <a:cubicBezTo>
                    <a:pt x="41" y="3"/>
                    <a:pt x="41" y="3"/>
                    <a:pt x="41" y="3"/>
                  </a:cubicBezTo>
                  <a:cubicBezTo>
                    <a:pt x="41" y="1"/>
                    <a:pt x="40" y="0"/>
                    <a:pt x="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36" name="Freeform 145">
            <a:extLst>
              <a:ext uri="{FF2B5EF4-FFF2-40B4-BE49-F238E27FC236}">
                <a16:creationId xmlns:a16="http://schemas.microsoft.com/office/drawing/2014/main" id="{9FC562C4-D1AB-438B-BDEE-1A4BB25DD6F7}"/>
              </a:ext>
            </a:extLst>
          </p:cNvPr>
          <p:cNvSpPr>
            <a:spLocks noChangeAspect="1" noEditPoints="1"/>
          </p:cNvSpPr>
          <p:nvPr/>
        </p:nvSpPr>
        <p:spPr bwMode="auto">
          <a:xfrm>
            <a:off x="5288532" y="4594797"/>
            <a:ext cx="270612" cy="274320"/>
          </a:xfrm>
          <a:custGeom>
            <a:avLst/>
            <a:gdLst>
              <a:gd name="T0" fmla="*/ 83 w 85"/>
              <a:gd name="T1" fmla="*/ 0 h 86"/>
              <a:gd name="T2" fmla="*/ 71 w 85"/>
              <a:gd name="T3" fmla="*/ 0 h 86"/>
              <a:gd name="T4" fmla="*/ 16 w 85"/>
              <a:gd name="T5" fmla="*/ 0 h 86"/>
              <a:gd name="T6" fmla="*/ 15 w 85"/>
              <a:gd name="T7" fmla="*/ 0 h 86"/>
              <a:gd name="T8" fmla="*/ 14 w 85"/>
              <a:gd name="T9" fmla="*/ 0 h 86"/>
              <a:gd name="T10" fmla="*/ 3 w 85"/>
              <a:gd name="T11" fmla="*/ 0 h 86"/>
              <a:gd name="T12" fmla="*/ 0 w 85"/>
              <a:gd name="T13" fmla="*/ 3 h 86"/>
              <a:gd name="T14" fmla="*/ 0 w 85"/>
              <a:gd name="T15" fmla="*/ 15 h 86"/>
              <a:gd name="T16" fmla="*/ 0 w 85"/>
              <a:gd name="T17" fmla="*/ 24 h 86"/>
              <a:gd name="T18" fmla="*/ 0 w 85"/>
              <a:gd name="T19" fmla="*/ 48 h 86"/>
              <a:gd name="T20" fmla="*/ 0 w 85"/>
              <a:gd name="T21" fmla="*/ 50 h 86"/>
              <a:gd name="T22" fmla="*/ 0 w 85"/>
              <a:gd name="T23" fmla="*/ 63 h 86"/>
              <a:gd name="T24" fmla="*/ 3 w 85"/>
              <a:gd name="T25" fmla="*/ 65 h 86"/>
              <a:gd name="T26" fmla="*/ 15 w 85"/>
              <a:gd name="T27" fmla="*/ 65 h 86"/>
              <a:gd name="T28" fmla="*/ 17 w 85"/>
              <a:gd name="T29" fmla="*/ 65 h 86"/>
              <a:gd name="T30" fmla="*/ 26 w 85"/>
              <a:gd name="T31" fmla="*/ 65 h 86"/>
              <a:gd name="T32" fmla="*/ 25 w 85"/>
              <a:gd name="T33" fmla="*/ 70 h 86"/>
              <a:gd name="T34" fmla="*/ 24 w 85"/>
              <a:gd name="T35" fmla="*/ 81 h 86"/>
              <a:gd name="T36" fmla="*/ 26 w 85"/>
              <a:gd name="T37" fmla="*/ 85 h 86"/>
              <a:gd name="T38" fmla="*/ 30 w 85"/>
              <a:gd name="T39" fmla="*/ 84 h 86"/>
              <a:gd name="T40" fmla="*/ 31 w 85"/>
              <a:gd name="T41" fmla="*/ 83 h 86"/>
              <a:gd name="T42" fmla="*/ 48 w 85"/>
              <a:gd name="T43" fmla="*/ 65 h 86"/>
              <a:gd name="T44" fmla="*/ 83 w 85"/>
              <a:gd name="T45" fmla="*/ 65 h 86"/>
              <a:gd name="T46" fmla="*/ 85 w 85"/>
              <a:gd name="T47" fmla="*/ 63 h 86"/>
              <a:gd name="T48" fmla="*/ 85 w 85"/>
              <a:gd name="T49" fmla="*/ 50 h 86"/>
              <a:gd name="T50" fmla="*/ 85 w 85"/>
              <a:gd name="T51" fmla="*/ 47 h 86"/>
              <a:gd name="T52" fmla="*/ 85 w 85"/>
              <a:gd name="T53" fmla="*/ 15 h 86"/>
              <a:gd name="T54" fmla="*/ 85 w 85"/>
              <a:gd name="T55" fmla="*/ 3 h 86"/>
              <a:gd name="T56" fmla="*/ 83 w 85"/>
              <a:gd name="T57" fmla="*/ 0 h 86"/>
              <a:gd name="T58" fmla="*/ 65 w 85"/>
              <a:gd name="T59" fmla="*/ 16 h 86"/>
              <a:gd name="T60" fmla="*/ 65 w 85"/>
              <a:gd name="T61" fmla="*/ 21 h 86"/>
              <a:gd name="T62" fmla="*/ 20 w 85"/>
              <a:gd name="T63" fmla="*/ 21 h 86"/>
              <a:gd name="T64" fmla="*/ 20 w 85"/>
              <a:gd name="T65" fmla="*/ 16 h 86"/>
              <a:gd name="T66" fmla="*/ 65 w 85"/>
              <a:gd name="T67" fmla="*/ 16 h 86"/>
              <a:gd name="T68" fmla="*/ 65 w 85"/>
              <a:gd name="T69" fmla="*/ 48 h 86"/>
              <a:gd name="T70" fmla="*/ 20 w 85"/>
              <a:gd name="T71" fmla="*/ 48 h 86"/>
              <a:gd name="T72" fmla="*/ 20 w 85"/>
              <a:gd name="T73" fmla="*/ 43 h 86"/>
              <a:gd name="T74" fmla="*/ 65 w 85"/>
              <a:gd name="T75" fmla="*/ 43 h 86"/>
              <a:gd name="T76" fmla="*/ 65 w 85"/>
              <a:gd name="T77" fmla="*/ 48 h 86"/>
              <a:gd name="T78" fmla="*/ 65 w 85"/>
              <a:gd name="T79" fmla="*/ 35 h 86"/>
              <a:gd name="T80" fmla="*/ 20 w 85"/>
              <a:gd name="T81" fmla="*/ 35 h 86"/>
              <a:gd name="T82" fmla="*/ 20 w 85"/>
              <a:gd name="T83" fmla="*/ 29 h 86"/>
              <a:gd name="T84" fmla="*/ 65 w 85"/>
              <a:gd name="T85" fmla="*/ 29 h 86"/>
              <a:gd name="T86" fmla="*/ 65 w 85"/>
              <a:gd name="T87" fmla="*/ 3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6">
                <a:moveTo>
                  <a:pt x="83" y="0"/>
                </a:moveTo>
                <a:cubicBezTo>
                  <a:pt x="71" y="0"/>
                  <a:pt x="71" y="0"/>
                  <a:pt x="71" y="0"/>
                </a:cubicBezTo>
                <a:cubicBezTo>
                  <a:pt x="16" y="0"/>
                  <a:pt x="16" y="0"/>
                  <a:pt x="16" y="0"/>
                </a:cubicBezTo>
                <a:cubicBezTo>
                  <a:pt x="15" y="0"/>
                  <a:pt x="15" y="0"/>
                  <a:pt x="15" y="0"/>
                </a:cubicBezTo>
                <a:cubicBezTo>
                  <a:pt x="14" y="0"/>
                  <a:pt x="14" y="0"/>
                  <a:pt x="14" y="0"/>
                </a:cubicBezTo>
                <a:cubicBezTo>
                  <a:pt x="3" y="0"/>
                  <a:pt x="3" y="0"/>
                  <a:pt x="3" y="0"/>
                </a:cubicBezTo>
                <a:cubicBezTo>
                  <a:pt x="1" y="0"/>
                  <a:pt x="0" y="1"/>
                  <a:pt x="0" y="3"/>
                </a:cubicBezTo>
                <a:cubicBezTo>
                  <a:pt x="0" y="15"/>
                  <a:pt x="0" y="15"/>
                  <a:pt x="0" y="15"/>
                </a:cubicBezTo>
                <a:cubicBezTo>
                  <a:pt x="0" y="24"/>
                  <a:pt x="0" y="24"/>
                  <a:pt x="0" y="24"/>
                </a:cubicBezTo>
                <a:cubicBezTo>
                  <a:pt x="0" y="48"/>
                  <a:pt x="0" y="48"/>
                  <a:pt x="0" y="48"/>
                </a:cubicBezTo>
                <a:cubicBezTo>
                  <a:pt x="0" y="50"/>
                  <a:pt x="0" y="50"/>
                  <a:pt x="0" y="50"/>
                </a:cubicBezTo>
                <a:cubicBezTo>
                  <a:pt x="0" y="63"/>
                  <a:pt x="0" y="63"/>
                  <a:pt x="0" y="63"/>
                </a:cubicBezTo>
                <a:cubicBezTo>
                  <a:pt x="0" y="64"/>
                  <a:pt x="1" y="65"/>
                  <a:pt x="3" y="65"/>
                </a:cubicBezTo>
                <a:cubicBezTo>
                  <a:pt x="15" y="65"/>
                  <a:pt x="15" y="65"/>
                  <a:pt x="15" y="65"/>
                </a:cubicBezTo>
                <a:cubicBezTo>
                  <a:pt x="17" y="65"/>
                  <a:pt x="17" y="65"/>
                  <a:pt x="17" y="65"/>
                </a:cubicBezTo>
                <a:cubicBezTo>
                  <a:pt x="26" y="65"/>
                  <a:pt x="26" y="65"/>
                  <a:pt x="26" y="65"/>
                </a:cubicBezTo>
                <a:cubicBezTo>
                  <a:pt x="25" y="70"/>
                  <a:pt x="25" y="70"/>
                  <a:pt x="25" y="70"/>
                </a:cubicBezTo>
                <a:cubicBezTo>
                  <a:pt x="24" y="81"/>
                  <a:pt x="24" y="81"/>
                  <a:pt x="24" y="81"/>
                </a:cubicBezTo>
                <a:cubicBezTo>
                  <a:pt x="24" y="83"/>
                  <a:pt x="25" y="85"/>
                  <a:pt x="26" y="85"/>
                </a:cubicBezTo>
                <a:cubicBezTo>
                  <a:pt x="27" y="86"/>
                  <a:pt x="29" y="85"/>
                  <a:pt x="30" y="84"/>
                </a:cubicBezTo>
                <a:cubicBezTo>
                  <a:pt x="31" y="83"/>
                  <a:pt x="31" y="83"/>
                  <a:pt x="31" y="83"/>
                </a:cubicBezTo>
                <a:cubicBezTo>
                  <a:pt x="48" y="65"/>
                  <a:pt x="48" y="65"/>
                  <a:pt x="48" y="65"/>
                </a:cubicBezTo>
                <a:cubicBezTo>
                  <a:pt x="83" y="65"/>
                  <a:pt x="83" y="65"/>
                  <a:pt x="83" y="65"/>
                </a:cubicBezTo>
                <a:cubicBezTo>
                  <a:pt x="84" y="65"/>
                  <a:pt x="85" y="64"/>
                  <a:pt x="85" y="63"/>
                </a:cubicBezTo>
                <a:cubicBezTo>
                  <a:pt x="85" y="50"/>
                  <a:pt x="85" y="50"/>
                  <a:pt x="85" y="50"/>
                </a:cubicBezTo>
                <a:cubicBezTo>
                  <a:pt x="85" y="47"/>
                  <a:pt x="85" y="47"/>
                  <a:pt x="85" y="47"/>
                </a:cubicBezTo>
                <a:cubicBezTo>
                  <a:pt x="85" y="15"/>
                  <a:pt x="85" y="15"/>
                  <a:pt x="85" y="15"/>
                </a:cubicBezTo>
                <a:cubicBezTo>
                  <a:pt x="85" y="3"/>
                  <a:pt x="85" y="3"/>
                  <a:pt x="85" y="3"/>
                </a:cubicBezTo>
                <a:cubicBezTo>
                  <a:pt x="85" y="1"/>
                  <a:pt x="84" y="0"/>
                  <a:pt x="83" y="0"/>
                </a:cubicBezTo>
                <a:close/>
                <a:moveTo>
                  <a:pt x="65" y="16"/>
                </a:moveTo>
                <a:cubicBezTo>
                  <a:pt x="65" y="21"/>
                  <a:pt x="65" y="21"/>
                  <a:pt x="65" y="21"/>
                </a:cubicBezTo>
                <a:cubicBezTo>
                  <a:pt x="20" y="21"/>
                  <a:pt x="20" y="21"/>
                  <a:pt x="20" y="21"/>
                </a:cubicBezTo>
                <a:cubicBezTo>
                  <a:pt x="20" y="16"/>
                  <a:pt x="20" y="16"/>
                  <a:pt x="20" y="16"/>
                </a:cubicBezTo>
                <a:lnTo>
                  <a:pt x="65" y="16"/>
                </a:lnTo>
                <a:close/>
                <a:moveTo>
                  <a:pt x="65" y="48"/>
                </a:moveTo>
                <a:cubicBezTo>
                  <a:pt x="20" y="48"/>
                  <a:pt x="20" y="48"/>
                  <a:pt x="20" y="48"/>
                </a:cubicBezTo>
                <a:cubicBezTo>
                  <a:pt x="20" y="43"/>
                  <a:pt x="20" y="43"/>
                  <a:pt x="20" y="43"/>
                </a:cubicBezTo>
                <a:cubicBezTo>
                  <a:pt x="65" y="43"/>
                  <a:pt x="65" y="43"/>
                  <a:pt x="65" y="43"/>
                </a:cubicBezTo>
                <a:lnTo>
                  <a:pt x="65" y="48"/>
                </a:lnTo>
                <a:close/>
                <a:moveTo>
                  <a:pt x="65" y="35"/>
                </a:moveTo>
                <a:cubicBezTo>
                  <a:pt x="20" y="35"/>
                  <a:pt x="20" y="35"/>
                  <a:pt x="20" y="35"/>
                </a:cubicBezTo>
                <a:cubicBezTo>
                  <a:pt x="20" y="29"/>
                  <a:pt x="20" y="29"/>
                  <a:pt x="20" y="29"/>
                </a:cubicBezTo>
                <a:cubicBezTo>
                  <a:pt x="65" y="29"/>
                  <a:pt x="65" y="29"/>
                  <a:pt x="65" y="29"/>
                </a:cubicBezTo>
                <a:lnTo>
                  <a:pt x="65" y="35"/>
                </a:lnTo>
                <a:close/>
              </a:path>
            </a:pathLst>
          </a:custGeom>
          <a:solidFill>
            <a:srgbClr val="595555"/>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137" name="Group 136">
            <a:extLst>
              <a:ext uri="{FF2B5EF4-FFF2-40B4-BE49-F238E27FC236}">
                <a16:creationId xmlns:a16="http://schemas.microsoft.com/office/drawing/2014/main" id="{F6ED8304-7DEC-49CE-BEB4-FF1DAAFB2DFA}"/>
              </a:ext>
            </a:extLst>
          </p:cNvPr>
          <p:cNvGrpSpPr>
            <a:grpSpLocks noChangeAspect="1"/>
          </p:cNvGrpSpPr>
          <p:nvPr/>
        </p:nvGrpSpPr>
        <p:grpSpPr>
          <a:xfrm>
            <a:off x="8054805" y="4594797"/>
            <a:ext cx="273570" cy="274320"/>
            <a:chOff x="7148513" y="4862513"/>
            <a:chExt cx="579438" cy="581025"/>
          </a:xfrm>
          <a:solidFill>
            <a:srgbClr val="595555"/>
          </a:solidFill>
        </p:grpSpPr>
        <p:sp>
          <p:nvSpPr>
            <p:cNvPr id="138" name="Freeform 146">
              <a:extLst>
                <a:ext uri="{FF2B5EF4-FFF2-40B4-BE49-F238E27FC236}">
                  <a16:creationId xmlns:a16="http://schemas.microsoft.com/office/drawing/2014/main" id="{6887B246-94BD-4260-AF51-CBFDAC12EB64}"/>
                </a:ext>
              </a:extLst>
            </p:cNvPr>
            <p:cNvSpPr>
              <a:spLocks noEditPoints="1"/>
            </p:cNvSpPr>
            <p:nvPr/>
          </p:nvSpPr>
          <p:spPr bwMode="auto">
            <a:xfrm>
              <a:off x="7148513" y="5060950"/>
              <a:ext cx="579438" cy="382588"/>
            </a:xfrm>
            <a:custGeom>
              <a:avLst/>
              <a:gdLst>
                <a:gd name="T0" fmla="*/ 0 w 365"/>
                <a:gd name="T1" fmla="*/ 241 h 241"/>
                <a:gd name="T2" fmla="*/ 365 w 365"/>
                <a:gd name="T3" fmla="*/ 241 h 241"/>
                <a:gd name="T4" fmla="*/ 365 w 365"/>
                <a:gd name="T5" fmla="*/ 0 h 241"/>
                <a:gd name="T6" fmla="*/ 0 w 365"/>
                <a:gd name="T7" fmla="*/ 0 h 241"/>
                <a:gd name="T8" fmla="*/ 0 w 365"/>
                <a:gd name="T9" fmla="*/ 241 h 241"/>
                <a:gd name="T10" fmla="*/ 124 w 365"/>
                <a:gd name="T11" fmla="*/ 112 h 241"/>
                <a:gd name="T12" fmla="*/ 171 w 365"/>
                <a:gd name="T13" fmla="*/ 112 h 241"/>
                <a:gd name="T14" fmla="*/ 171 w 365"/>
                <a:gd name="T15" fmla="*/ 64 h 241"/>
                <a:gd name="T16" fmla="*/ 193 w 365"/>
                <a:gd name="T17" fmla="*/ 64 h 241"/>
                <a:gd name="T18" fmla="*/ 193 w 365"/>
                <a:gd name="T19" fmla="*/ 112 h 241"/>
                <a:gd name="T20" fmla="*/ 240 w 365"/>
                <a:gd name="T21" fmla="*/ 112 h 241"/>
                <a:gd name="T22" fmla="*/ 240 w 365"/>
                <a:gd name="T23" fmla="*/ 133 h 241"/>
                <a:gd name="T24" fmla="*/ 193 w 365"/>
                <a:gd name="T25" fmla="*/ 133 h 241"/>
                <a:gd name="T26" fmla="*/ 193 w 365"/>
                <a:gd name="T27" fmla="*/ 180 h 241"/>
                <a:gd name="T28" fmla="*/ 171 w 365"/>
                <a:gd name="T29" fmla="*/ 180 h 241"/>
                <a:gd name="T30" fmla="*/ 171 w 365"/>
                <a:gd name="T31" fmla="*/ 133 h 241"/>
                <a:gd name="T32" fmla="*/ 124 w 365"/>
                <a:gd name="T33" fmla="*/ 133 h 241"/>
                <a:gd name="T34" fmla="*/ 124 w 365"/>
                <a:gd name="T35" fmla="*/ 112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5" h="241">
                  <a:moveTo>
                    <a:pt x="0" y="241"/>
                  </a:moveTo>
                  <a:lnTo>
                    <a:pt x="365" y="241"/>
                  </a:lnTo>
                  <a:lnTo>
                    <a:pt x="365" y="0"/>
                  </a:lnTo>
                  <a:lnTo>
                    <a:pt x="0" y="0"/>
                  </a:lnTo>
                  <a:lnTo>
                    <a:pt x="0" y="241"/>
                  </a:lnTo>
                  <a:close/>
                  <a:moveTo>
                    <a:pt x="124" y="112"/>
                  </a:moveTo>
                  <a:lnTo>
                    <a:pt x="171" y="112"/>
                  </a:lnTo>
                  <a:lnTo>
                    <a:pt x="171" y="64"/>
                  </a:lnTo>
                  <a:lnTo>
                    <a:pt x="193" y="64"/>
                  </a:lnTo>
                  <a:lnTo>
                    <a:pt x="193" y="112"/>
                  </a:lnTo>
                  <a:lnTo>
                    <a:pt x="240" y="112"/>
                  </a:lnTo>
                  <a:lnTo>
                    <a:pt x="240" y="133"/>
                  </a:lnTo>
                  <a:lnTo>
                    <a:pt x="193" y="133"/>
                  </a:lnTo>
                  <a:lnTo>
                    <a:pt x="193" y="180"/>
                  </a:lnTo>
                  <a:lnTo>
                    <a:pt x="171" y="180"/>
                  </a:lnTo>
                  <a:lnTo>
                    <a:pt x="171" y="133"/>
                  </a:lnTo>
                  <a:lnTo>
                    <a:pt x="124" y="133"/>
                  </a:lnTo>
                  <a:lnTo>
                    <a:pt x="124"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9" name="Freeform 147">
              <a:extLst>
                <a:ext uri="{FF2B5EF4-FFF2-40B4-BE49-F238E27FC236}">
                  <a16:creationId xmlns:a16="http://schemas.microsoft.com/office/drawing/2014/main" id="{3166202D-E396-4B43-819F-E3546D52B3EB}"/>
                </a:ext>
              </a:extLst>
            </p:cNvPr>
            <p:cNvSpPr>
              <a:spLocks/>
            </p:cNvSpPr>
            <p:nvPr/>
          </p:nvSpPr>
          <p:spPr bwMode="auto">
            <a:xfrm>
              <a:off x="7148513" y="4862513"/>
              <a:ext cx="271463" cy="163513"/>
            </a:xfrm>
            <a:custGeom>
              <a:avLst/>
              <a:gdLst>
                <a:gd name="T0" fmla="*/ 171 w 171"/>
                <a:gd name="T1" fmla="*/ 0 h 103"/>
                <a:gd name="T2" fmla="*/ 55 w 171"/>
                <a:gd name="T3" fmla="*/ 0 h 103"/>
                <a:gd name="T4" fmla="*/ 0 w 171"/>
                <a:gd name="T5" fmla="*/ 103 h 103"/>
                <a:gd name="T6" fmla="*/ 159 w 171"/>
                <a:gd name="T7" fmla="*/ 103 h 103"/>
                <a:gd name="T8" fmla="*/ 171 w 171"/>
                <a:gd name="T9" fmla="*/ 0 h 103"/>
              </a:gdLst>
              <a:ahLst/>
              <a:cxnLst>
                <a:cxn ang="0">
                  <a:pos x="T0" y="T1"/>
                </a:cxn>
                <a:cxn ang="0">
                  <a:pos x="T2" y="T3"/>
                </a:cxn>
                <a:cxn ang="0">
                  <a:pos x="T4" y="T5"/>
                </a:cxn>
                <a:cxn ang="0">
                  <a:pos x="T6" y="T7"/>
                </a:cxn>
                <a:cxn ang="0">
                  <a:pos x="T8" y="T9"/>
                </a:cxn>
              </a:cxnLst>
              <a:rect l="0" t="0" r="r" b="b"/>
              <a:pathLst>
                <a:path w="171" h="103">
                  <a:moveTo>
                    <a:pt x="171" y="0"/>
                  </a:moveTo>
                  <a:lnTo>
                    <a:pt x="55" y="0"/>
                  </a:lnTo>
                  <a:lnTo>
                    <a:pt x="0" y="103"/>
                  </a:lnTo>
                  <a:lnTo>
                    <a:pt x="159" y="103"/>
                  </a:lnTo>
                  <a:lnTo>
                    <a:pt x="17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0" name="Freeform 148">
              <a:extLst>
                <a:ext uri="{FF2B5EF4-FFF2-40B4-BE49-F238E27FC236}">
                  <a16:creationId xmlns:a16="http://schemas.microsoft.com/office/drawing/2014/main" id="{54258A00-00B3-402B-AC42-291AC2B60EF5}"/>
                </a:ext>
              </a:extLst>
            </p:cNvPr>
            <p:cNvSpPr>
              <a:spLocks/>
            </p:cNvSpPr>
            <p:nvPr/>
          </p:nvSpPr>
          <p:spPr bwMode="auto">
            <a:xfrm>
              <a:off x="7454900" y="4862513"/>
              <a:ext cx="273050" cy="163513"/>
            </a:xfrm>
            <a:custGeom>
              <a:avLst/>
              <a:gdLst>
                <a:gd name="T0" fmla="*/ 172 w 172"/>
                <a:gd name="T1" fmla="*/ 103 h 103"/>
                <a:gd name="T2" fmla="*/ 116 w 172"/>
                <a:gd name="T3" fmla="*/ 0 h 103"/>
                <a:gd name="T4" fmla="*/ 0 w 172"/>
                <a:gd name="T5" fmla="*/ 0 h 103"/>
                <a:gd name="T6" fmla="*/ 13 w 172"/>
                <a:gd name="T7" fmla="*/ 103 h 103"/>
                <a:gd name="T8" fmla="*/ 172 w 172"/>
                <a:gd name="T9" fmla="*/ 103 h 103"/>
              </a:gdLst>
              <a:ahLst/>
              <a:cxnLst>
                <a:cxn ang="0">
                  <a:pos x="T0" y="T1"/>
                </a:cxn>
                <a:cxn ang="0">
                  <a:pos x="T2" y="T3"/>
                </a:cxn>
                <a:cxn ang="0">
                  <a:pos x="T4" y="T5"/>
                </a:cxn>
                <a:cxn ang="0">
                  <a:pos x="T6" y="T7"/>
                </a:cxn>
                <a:cxn ang="0">
                  <a:pos x="T8" y="T9"/>
                </a:cxn>
              </a:cxnLst>
              <a:rect l="0" t="0" r="r" b="b"/>
              <a:pathLst>
                <a:path w="172" h="103">
                  <a:moveTo>
                    <a:pt x="172" y="103"/>
                  </a:moveTo>
                  <a:lnTo>
                    <a:pt x="116" y="0"/>
                  </a:lnTo>
                  <a:lnTo>
                    <a:pt x="0" y="0"/>
                  </a:lnTo>
                  <a:lnTo>
                    <a:pt x="13" y="103"/>
                  </a:lnTo>
                  <a:lnTo>
                    <a:pt x="172" y="1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1" name="Group 140">
            <a:extLst>
              <a:ext uri="{FF2B5EF4-FFF2-40B4-BE49-F238E27FC236}">
                <a16:creationId xmlns:a16="http://schemas.microsoft.com/office/drawing/2014/main" id="{DBFF821D-84F5-485C-B095-440FC2AF29A4}"/>
              </a:ext>
            </a:extLst>
          </p:cNvPr>
          <p:cNvGrpSpPr>
            <a:grpSpLocks noChangeAspect="1"/>
          </p:cNvGrpSpPr>
          <p:nvPr/>
        </p:nvGrpSpPr>
        <p:grpSpPr>
          <a:xfrm>
            <a:off x="1644869" y="5518165"/>
            <a:ext cx="242004" cy="274320"/>
            <a:chOff x="1836738" y="5627688"/>
            <a:chExt cx="511175" cy="579438"/>
          </a:xfrm>
          <a:solidFill>
            <a:srgbClr val="595555"/>
          </a:solidFill>
        </p:grpSpPr>
        <p:sp>
          <p:nvSpPr>
            <p:cNvPr id="142" name="Freeform 149">
              <a:extLst>
                <a:ext uri="{FF2B5EF4-FFF2-40B4-BE49-F238E27FC236}">
                  <a16:creationId xmlns:a16="http://schemas.microsoft.com/office/drawing/2014/main" id="{62F6EAA3-41C8-4C7A-ADF8-7ECD732E2CCE}"/>
                </a:ext>
              </a:extLst>
            </p:cNvPr>
            <p:cNvSpPr>
              <a:spLocks noEditPoints="1"/>
            </p:cNvSpPr>
            <p:nvPr/>
          </p:nvSpPr>
          <p:spPr bwMode="auto">
            <a:xfrm>
              <a:off x="1876425" y="5627688"/>
              <a:ext cx="471488" cy="579438"/>
            </a:xfrm>
            <a:custGeom>
              <a:avLst/>
              <a:gdLst>
                <a:gd name="T0" fmla="*/ 66 w 69"/>
                <a:gd name="T1" fmla="*/ 0 h 85"/>
                <a:gd name="T2" fmla="*/ 2 w 69"/>
                <a:gd name="T3" fmla="*/ 0 h 85"/>
                <a:gd name="T4" fmla="*/ 0 w 69"/>
                <a:gd name="T5" fmla="*/ 3 h 85"/>
                <a:gd name="T6" fmla="*/ 0 w 69"/>
                <a:gd name="T7" fmla="*/ 9 h 85"/>
                <a:gd name="T8" fmla="*/ 8 w 69"/>
                <a:gd name="T9" fmla="*/ 9 h 85"/>
                <a:gd name="T10" fmla="*/ 10 w 69"/>
                <a:gd name="T11" fmla="*/ 12 h 85"/>
                <a:gd name="T12" fmla="*/ 10 w 69"/>
                <a:gd name="T13" fmla="*/ 18 h 85"/>
                <a:gd name="T14" fmla="*/ 8 w 69"/>
                <a:gd name="T15" fmla="*/ 20 h 85"/>
                <a:gd name="T16" fmla="*/ 0 w 69"/>
                <a:gd name="T17" fmla="*/ 20 h 85"/>
                <a:gd name="T18" fmla="*/ 0 w 69"/>
                <a:gd name="T19" fmla="*/ 28 h 85"/>
                <a:gd name="T20" fmla="*/ 8 w 69"/>
                <a:gd name="T21" fmla="*/ 28 h 85"/>
                <a:gd name="T22" fmla="*/ 10 w 69"/>
                <a:gd name="T23" fmla="*/ 31 h 85"/>
                <a:gd name="T24" fmla="*/ 10 w 69"/>
                <a:gd name="T25" fmla="*/ 36 h 85"/>
                <a:gd name="T26" fmla="*/ 8 w 69"/>
                <a:gd name="T27" fmla="*/ 39 h 85"/>
                <a:gd name="T28" fmla="*/ 0 w 69"/>
                <a:gd name="T29" fmla="*/ 39 h 85"/>
                <a:gd name="T30" fmla="*/ 0 w 69"/>
                <a:gd name="T31" fmla="*/ 47 h 85"/>
                <a:gd name="T32" fmla="*/ 8 w 69"/>
                <a:gd name="T33" fmla="*/ 47 h 85"/>
                <a:gd name="T34" fmla="*/ 10 w 69"/>
                <a:gd name="T35" fmla="*/ 49 h 85"/>
                <a:gd name="T36" fmla="*/ 10 w 69"/>
                <a:gd name="T37" fmla="*/ 55 h 85"/>
                <a:gd name="T38" fmla="*/ 8 w 69"/>
                <a:gd name="T39" fmla="*/ 57 h 85"/>
                <a:gd name="T40" fmla="*/ 0 w 69"/>
                <a:gd name="T41" fmla="*/ 57 h 85"/>
                <a:gd name="T42" fmla="*/ 0 w 69"/>
                <a:gd name="T43" fmla="*/ 64 h 85"/>
                <a:gd name="T44" fmla="*/ 8 w 69"/>
                <a:gd name="T45" fmla="*/ 64 h 85"/>
                <a:gd name="T46" fmla="*/ 10 w 69"/>
                <a:gd name="T47" fmla="*/ 67 h 85"/>
                <a:gd name="T48" fmla="*/ 10 w 69"/>
                <a:gd name="T49" fmla="*/ 72 h 85"/>
                <a:gd name="T50" fmla="*/ 8 w 69"/>
                <a:gd name="T51" fmla="*/ 75 h 85"/>
                <a:gd name="T52" fmla="*/ 0 w 69"/>
                <a:gd name="T53" fmla="*/ 75 h 85"/>
                <a:gd name="T54" fmla="*/ 0 w 69"/>
                <a:gd name="T55" fmla="*/ 83 h 85"/>
                <a:gd name="T56" fmla="*/ 2 w 69"/>
                <a:gd name="T57" fmla="*/ 85 h 85"/>
                <a:gd name="T58" fmla="*/ 66 w 69"/>
                <a:gd name="T59" fmla="*/ 85 h 85"/>
                <a:gd name="T60" fmla="*/ 69 w 69"/>
                <a:gd name="T61" fmla="*/ 83 h 85"/>
                <a:gd name="T62" fmla="*/ 69 w 69"/>
                <a:gd name="T63" fmla="*/ 3 h 85"/>
                <a:gd name="T64" fmla="*/ 66 w 69"/>
                <a:gd name="T65" fmla="*/ 0 h 85"/>
                <a:gd name="T66" fmla="*/ 35 w 69"/>
                <a:gd name="T67" fmla="*/ 12 h 85"/>
                <a:gd name="T68" fmla="*/ 42 w 69"/>
                <a:gd name="T69" fmla="*/ 19 h 85"/>
                <a:gd name="T70" fmla="*/ 35 w 69"/>
                <a:gd name="T71" fmla="*/ 27 h 85"/>
                <a:gd name="T72" fmla="*/ 28 w 69"/>
                <a:gd name="T73" fmla="*/ 19 h 85"/>
                <a:gd name="T74" fmla="*/ 35 w 69"/>
                <a:gd name="T75" fmla="*/ 12 h 85"/>
                <a:gd name="T76" fmla="*/ 36 w 69"/>
                <a:gd name="T77" fmla="*/ 39 h 85"/>
                <a:gd name="T78" fmla="*/ 36 w 69"/>
                <a:gd name="T79" fmla="*/ 39 h 85"/>
                <a:gd name="T80" fmla="*/ 34 w 69"/>
                <a:gd name="T81" fmla="*/ 39 h 85"/>
                <a:gd name="T82" fmla="*/ 33 w 69"/>
                <a:gd name="T83" fmla="*/ 39 h 85"/>
                <a:gd name="T84" fmla="*/ 22 w 69"/>
                <a:gd name="T85" fmla="*/ 39 h 85"/>
                <a:gd name="T86" fmla="*/ 32 w 69"/>
                <a:gd name="T87" fmla="*/ 29 h 85"/>
                <a:gd name="T88" fmla="*/ 33 w 69"/>
                <a:gd name="T89" fmla="*/ 29 h 85"/>
                <a:gd name="T90" fmla="*/ 33 w 69"/>
                <a:gd name="T91" fmla="*/ 29 h 85"/>
                <a:gd name="T92" fmla="*/ 34 w 69"/>
                <a:gd name="T93" fmla="*/ 29 h 85"/>
                <a:gd name="T94" fmla="*/ 36 w 69"/>
                <a:gd name="T95" fmla="*/ 29 h 85"/>
                <a:gd name="T96" fmla="*/ 36 w 69"/>
                <a:gd name="T97" fmla="*/ 29 h 85"/>
                <a:gd name="T98" fmla="*/ 37 w 69"/>
                <a:gd name="T99" fmla="*/ 29 h 85"/>
                <a:gd name="T100" fmla="*/ 37 w 69"/>
                <a:gd name="T101" fmla="*/ 29 h 85"/>
                <a:gd name="T102" fmla="*/ 48 w 69"/>
                <a:gd name="T103" fmla="*/ 39 h 85"/>
                <a:gd name="T104" fmla="*/ 36 w 69"/>
                <a:gd name="T105" fmla="*/ 3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 h="85">
                  <a:moveTo>
                    <a:pt x="66" y="0"/>
                  </a:moveTo>
                  <a:cubicBezTo>
                    <a:pt x="2" y="0"/>
                    <a:pt x="2" y="0"/>
                    <a:pt x="2" y="0"/>
                  </a:cubicBezTo>
                  <a:cubicBezTo>
                    <a:pt x="1" y="0"/>
                    <a:pt x="0" y="1"/>
                    <a:pt x="0" y="3"/>
                  </a:cubicBezTo>
                  <a:cubicBezTo>
                    <a:pt x="0" y="9"/>
                    <a:pt x="0" y="9"/>
                    <a:pt x="0" y="9"/>
                  </a:cubicBezTo>
                  <a:cubicBezTo>
                    <a:pt x="8" y="9"/>
                    <a:pt x="8" y="9"/>
                    <a:pt x="8" y="9"/>
                  </a:cubicBezTo>
                  <a:cubicBezTo>
                    <a:pt x="9" y="9"/>
                    <a:pt x="10" y="11"/>
                    <a:pt x="10" y="12"/>
                  </a:cubicBezTo>
                  <a:cubicBezTo>
                    <a:pt x="10" y="18"/>
                    <a:pt x="10" y="18"/>
                    <a:pt x="10" y="18"/>
                  </a:cubicBezTo>
                  <a:cubicBezTo>
                    <a:pt x="10" y="19"/>
                    <a:pt x="9" y="20"/>
                    <a:pt x="8" y="20"/>
                  </a:cubicBezTo>
                  <a:cubicBezTo>
                    <a:pt x="0" y="20"/>
                    <a:pt x="0" y="20"/>
                    <a:pt x="0" y="20"/>
                  </a:cubicBezTo>
                  <a:cubicBezTo>
                    <a:pt x="0" y="28"/>
                    <a:pt x="0" y="28"/>
                    <a:pt x="0" y="28"/>
                  </a:cubicBezTo>
                  <a:cubicBezTo>
                    <a:pt x="8" y="28"/>
                    <a:pt x="8" y="28"/>
                    <a:pt x="8" y="28"/>
                  </a:cubicBezTo>
                  <a:cubicBezTo>
                    <a:pt x="9" y="28"/>
                    <a:pt x="10" y="29"/>
                    <a:pt x="10" y="31"/>
                  </a:cubicBezTo>
                  <a:cubicBezTo>
                    <a:pt x="10" y="36"/>
                    <a:pt x="10" y="36"/>
                    <a:pt x="10" y="36"/>
                  </a:cubicBezTo>
                  <a:cubicBezTo>
                    <a:pt x="10" y="38"/>
                    <a:pt x="9" y="39"/>
                    <a:pt x="8" y="39"/>
                  </a:cubicBezTo>
                  <a:cubicBezTo>
                    <a:pt x="0" y="39"/>
                    <a:pt x="0" y="39"/>
                    <a:pt x="0" y="39"/>
                  </a:cubicBezTo>
                  <a:cubicBezTo>
                    <a:pt x="0" y="47"/>
                    <a:pt x="0" y="47"/>
                    <a:pt x="0" y="47"/>
                  </a:cubicBezTo>
                  <a:cubicBezTo>
                    <a:pt x="8" y="47"/>
                    <a:pt x="8" y="47"/>
                    <a:pt x="8" y="47"/>
                  </a:cubicBezTo>
                  <a:cubicBezTo>
                    <a:pt x="9" y="47"/>
                    <a:pt x="10" y="48"/>
                    <a:pt x="10" y="49"/>
                  </a:cubicBezTo>
                  <a:cubicBezTo>
                    <a:pt x="10" y="55"/>
                    <a:pt x="10" y="55"/>
                    <a:pt x="10" y="55"/>
                  </a:cubicBezTo>
                  <a:cubicBezTo>
                    <a:pt x="10" y="56"/>
                    <a:pt x="9" y="57"/>
                    <a:pt x="8" y="57"/>
                  </a:cubicBezTo>
                  <a:cubicBezTo>
                    <a:pt x="0" y="57"/>
                    <a:pt x="0" y="57"/>
                    <a:pt x="0" y="57"/>
                  </a:cubicBezTo>
                  <a:cubicBezTo>
                    <a:pt x="0" y="64"/>
                    <a:pt x="0" y="64"/>
                    <a:pt x="0" y="64"/>
                  </a:cubicBezTo>
                  <a:cubicBezTo>
                    <a:pt x="8" y="64"/>
                    <a:pt x="8" y="64"/>
                    <a:pt x="8" y="64"/>
                  </a:cubicBezTo>
                  <a:cubicBezTo>
                    <a:pt x="9" y="64"/>
                    <a:pt x="10" y="65"/>
                    <a:pt x="10" y="67"/>
                  </a:cubicBezTo>
                  <a:cubicBezTo>
                    <a:pt x="10" y="72"/>
                    <a:pt x="10" y="72"/>
                    <a:pt x="10" y="72"/>
                  </a:cubicBezTo>
                  <a:cubicBezTo>
                    <a:pt x="10" y="74"/>
                    <a:pt x="9" y="75"/>
                    <a:pt x="8" y="75"/>
                  </a:cubicBezTo>
                  <a:cubicBezTo>
                    <a:pt x="0" y="75"/>
                    <a:pt x="0" y="75"/>
                    <a:pt x="0" y="75"/>
                  </a:cubicBezTo>
                  <a:cubicBezTo>
                    <a:pt x="0" y="83"/>
                    <a:pt x="0" y="83"/>
                    <a:pt x="0" y="83"/>
                  </a:cubicBezTo>
                  <a:cubicBezTo>
                    <a:pt x="0" y="84"/>
                    <a:pt x="1" y="85"/>
                    <a:pt x="2" y="85"/>
                  </a:cubicBezTo>
                  <a:cubicBezTo>
                    <a:pt x="66" y="85"/>
                    <a:pt x="66" y="85"/>
                    <a:pt x="66" y="85"/>
                  </a:cubicBezTo>
                  <a:cubicBezTo>
                    <a:pt x="68" y="85"/>
                    <a:pt x="69" y="84"/>
                    <a:pt x="69" y="83"/>
                  </a:cubicBezTo>
                  <a:cubicBezTo>
                    <a:pt x="69" y="3"/>
                    <a:pt x="69" y="3"/>
                    <a:pt x="69" y="3"/>
                  </a:cubicBezTo>
                  <a:cubicBezTo>
                    <a:pt x="69" y="1"/>
                    <a:pt x="68" y="0"/>
                    <a:pt x="66" y="0"/>
                  </a:cubicBezTo>
                  <a:close/>
                  <a:moveTo>
                    <a:pt x="35" y="12"/>
                  </a:moveTo>
                  <a:cubicBezTo>
                    <a:pt x="39" y="12"/>
                    <a:pt x="42" y="15"/>
                    <a:pt x="42" y="19"/>
                  </a:cubicBezTo>
                  <a:cubicBezTo>
                    <a:pt x="42" y="23"/>
                    <a:pt x="39" y="27"/>
                    <a:pt x="35" y="27"/>
                  </a:cubicBezTo>
                  <a:cubicBezTo>
                    <a:pt x="31" y="27"/>
                    <a:pt x="28" y="23"/>
                    <a:pt x="28" y="19"/>
                  </a:cubicBezTo>
                  <a:cubicBezTo>
                    <a:pt x="28" y="15"/>
                    <a:pt x="31" y="12"/>
                    <a:pt x="35" y="12"/>
                  </a:cubicBezTo>
                  <a:close/>
                  <a:moveTo>
                    <a:pt x="36" y="39"/>
                  </a:moveTo>
                  <a:cubicBezTo>
                    <a:pt x="36" y="39"/>
                    <a:pt x="36" y="39"/>
                    <a:pt x="36" y="39"/>
                  </a:cubicBezTo>
                  <a:cubicBezTo>
                    <a:pt x="34" y="39"/>
                    <a:pt x="34" y="39"/>
                    <a:pt x="34" y="39"/>
                  </a:cubicBezTo>
                  <a:cubicBezTo>
                    <a:pt x="33" y="39"/>
                    <a:pt x="33" y="39"/>
                    <a:pt x="33" y="39"/>
                  </a:cubicBezTo>
                  <a:cubicBezTo>
                    <a:pt x="22" y="39"/>
                    <a:pt x="22" y="39"/>
                    <a:pt x="22" y="39"/>
                  </a:cubicBezTo>
                  <a:cubicBezTo>
                    <a:pt x="22" y="39"/>
                    <a:pt x="25" y="29"/>
                    <a:pt x="32" y="29"/>
                  </a:cubicBezTo>
                  <a:cubicBezTo>
                    <a:pt x="33" y="29"/>
                    <a:pt x="33" y="29"/>
                    <a:pt x="33" y="29"/>
                  </a:cubicBezTo>
                  <a:cubicBezTo>
                    <a:pt x="33" y="29"/>
                    <a:pt x="33" y="29"/>
                    <a:pt x="33" y="29"/>
                  </a:cubicBezTo>
                  <a:cubicBezTo>
                    <a:pt x="34" y="29"/>
                    <a:pt x="34" y="29"/>
                    <a:pt x="34" y="29"/>
                  </a:cubicBezTo>
                  <a:cubicBezTo>
                    <a:pt x="36" y="29"/>
                    <a:pt x="36" y="29"/>
                    <a:pt x="36" y="29"/>
                  </a:cubicBezTo>
                  <a:cubicBezTo>
                    <a:pt x="36" y="29"/>
                    <a:pt x="36" y="29"/>
                    <a:pt x="36" y="29"/>
                  </a:cubicBezTo>
                  <a:cubicBezTo>
                    <a:pt x="37" y="29"/>
                    <a:pt x="37" y="29"/>
                    <a:pt x="37" y="29"/>
                  </a:cubicBezTo>
                  <a:cubicBezTo>
                    <a:pt x="37" y="29"/>
                    <a:pt x="37" y="29"/>
                    <a:pt x="37" y="29"/>
                  </a:cubicBezTo>
                  <a:cubicBezTo>
                    <a:pt x="45" y="29"/>
                    <a:pt x="48" y="39"/>
                    <a:pt x="48" y="39"/>
                  </a:cubicBezTo>
                  <a:lnTo>
                    <a:pt x="36"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3" name="Freeform 150">
              <a:extLst>
                <a:ext uri="{FF2B5EF4-FFF2-40B4-BE49-F238E27FC236}">
                  <a16:creationId xmlns:a16="http://schemas.microsoft.com/office/drawing/2014/main" id="{9710A297-398D-4DC2-BB0B-0297DE4D130B}"/>
                </a:ext>
              </a:extLst>
            </p:cNvPr>
            <p:cNvSpPr>
              <a:spLocks/>
            </p:cNvSpPr>
            <p:nvPr/>
          </p:nvSpPr>
          <p:spPr bwMode="auto">
            <a:xfrm>
              <a:off x="1836738" y="6083300"/>
              <a:ext cx="95250" cy="34925"/>
            </a:xfrm>
            <a:custGeom>
              <a:avLst/>
              <a:gdLst>
                <a:gd name="T0" fmla="*/ 11 w 14"/>
                <a:gd name="T1" fmla="*/ 5 h 5"/>
                <a:gd name="T2" fmla="*/ 14 w 14"/>
                <a:gd name="T3" fmla="*/ 3 h 5"/>
                <a:gd name="T4" fmla="*/ 14 w 14"/>
                <a:gd name="T5" fmla="*/ 2 h 5"/>
                <a:gd name="T6" fmla="*/ 11 w 14"/>
                <a:gd name="T7" fmla="*/ 0 h 5"/>
                <a:gd name="T8" fmla="*/ 6 w 14"/>
                <a:gd name="T9" fmla="*/ 0 h 5"/>
                <a:gd name="T10" fmla="*/ 3 w 14"/>
                <a:gd name="T11" fmla="*/ 0 h 5"/>
                <a:gd name="T12" fmla="*/ 0 w 14"/>
                <a:gd name="T13" fmla="*/ 2 h 5"/>
                <a:gd name="T14" fmla="*/ 0 w 14"/>
                <a:gd name="T15" fmla="*/ 3 h 5"/>
                <a:gd name="T16" fmla="*/ 3 w 14"/>
                <a:gd name="T17" fmla="*/ 5 h 5"/>
                <a:gd name="T18" fmla="*/ 6 w 14"/>
                <a:gd name="T19" fmla="*/ 5 h 5"/>
                <a:gd name="T20" fmla="*/ 11 w 14"/>
                <a:gd name="T21"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5">
                  <a:moveTo>
                    <a:pt x="11" y="5"/>
                  </a:moveTo>
                  <a:cubicBezTo>
                    <a:pt x="12" y="5"/>
                    <a:pt x="14" y="4"/>
                    <a:pt x="14" y="3"/>
                  </a:cubicBezTo>
                  <a:cubicBezTo>
                    <a:pt x="14" y="2"/>
                    <a:pt x="14" y="2"/>
                    <a:pt x="14" y="2"/>
                  </a:cubicBezTo>
                  <a:cubicBezTo>
                    <a:pt x="14" y="1"/>
                    <a:pt x="12" y="0"/>
                    <a:pt x="11" y="0"/>
                  </a:cubicBezTo>
                  <a:cubicBezTo>
                    <a:pt x="6" y="0"/>
                    <a:pt x="6" y="0"/>
                    <a:pt x="6" y="0"/>
                  </a:cubicBezTo>
                  <a:cubicBezTo>
                    <a:pt x="3" y="0"/>
                    <a:pt x="3" y="0"/>
                    <a:pt x="3" y="0"/>
                  </a:cubicBezTo>
                  <a:cubicBezTo>
                    <a:pt x="1" y="0"/>
                    <a:pt x="0" y="1"/>
                    <a:pt x="0" y="2"/>
                  </a:cubicBezTo>
                  <a:cubicBezTo>
                    <a:pt x="0" y="3"/>
                    <a:pt x="0" y="3"/>
                    <a:pt x="0" y="3"/>
                  </a:cubicBezTo>
                  <a:cubicBezTo>
                    <a:pt x="0" y="4"/>
                    <a:pt x="1" y="5"/>
                    <a:pt x="3" y="5"/>
                  </a:cubicBezTo>
                  <a:cubicBezTo>
                    <a:pt x="6" y="5"/>
                    <a:pt x="6" y="5"/>
                    <a:pt x="6" y="5"/>
                  </a:cubicBezTo>
                  <a:lnTo>
                    <a:pt x="11"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4" name="Freeform 151">
              <a:extLst>
                <a:ext uri="{FF2B5EF4-FFF2-40B4-BE49-F238E27FC236}">
                  <a16:creationId xmlns:a16="http://schemas.microsoft.com/office/drawing/2014/main" id="{1C49EBAD-D088-4779-8EAF-B66A818B985C}"/>
                </a:ext>
              </a:extLst>
            </p:cNvPr>
            <p:cNvSpPr>
              <a:spLocks/>
            </p:cNvSpPr>
            <p:nvPr/>
          </p:nvSpPr>
          <p:spPr bwMode="auto">
            <a:xfrm>
              <a:off x="1836738" y="5961063"/>
              <a:ext cx="95250" cy="41275"/>
            </a:xfrm>
            <a:custGeom>
              <a:avLst/>
              <a:gdLst>
                <a:gd name="T0" fmla="*/ 3 w 14"/>
                <a:gd name="T1" fmla="*/ 6 h 6"/>
                <a:gd name="T2" fmla="*/ 6 w 14"/>
                <a:gd name="T3" fmla="*/ 6 h 6"/>
                <a:gd name="T4" fmla="*/ 11 w 14"/>
                <a:gd name="T5" fmla="*/ 6 h 6"/>
                <a:gd name="T6" fmla="*/ 14 w 14"/>
                <a:gd name="T7" fmla="*/ 3 h 6"/>
                <a:gd name="T8" fmla="*/ 14 w 14"/>
                <a:gd name="T9" fmla="*/ 3 h 6"/>
                <a:gd name="T10" fmla="*/ 11 w 14"/>
                <a:gd name="T11" fmla="*/ 0 h 6"/>
                <a:gd name="T12" fmla="*/ 6 w 14"/>
                <a:gd name="T13" fmla="*/ 0 h 6"/>
                <a:gd name="T14" fmla="*/ 3 w 14"/>
                <a:gd name="T15" fmla="*/ 0 h 6"/>
                <a:gd name="T16" fmla="*/ 0 w 14"/>
                <a:gd name="T17" fmla="*/ 3 h 6"/>
                <a:gd name="T18" fmla="*/ 0 w 14"/>
                <a:gd name="T19" fmla="*/ 3 h 6"/>
                <a:gd name="T20" fmla="*/ 3 w 14"/>
                <a:gd name="T21"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6">
                  <a:moveTo>
                    <a:pt x="3" y="6"/>
                  </a:moveTo>
                  <a:cubicBezTo>
                    <a:pt x="6" y="6"/>
                    <a:pt x="6" y="6"/>
                    <a:pt x="6" y="6"/>
                  </a:cubicBezTo>
                  <a:cubicBezTo>
                    <a:pt x="11" y="6"/>
                    <a:pt x="11" y="6"/>
                    <a:pt x="11" y="6"/>
                  </a:cubicBezTo>
                  <a:cubicBezTo>
                    <a:pt x="12" y="6"/>
                    <a:pt x="14" y="5"/>
                    <a:pt x="14" y="3"/>
                  </a:cubicBezTo>
                  <a:cubicBezTo>
                    <a:pt x="14" y="3"/>
                    <a:pt x="14" y="3"/>
                    <a:pt x="14" y="3"/>
                  </a:cubicBezTo>
                  <a:cubicBezTo>
                    <a:pt x="14" y="2"/>
                    <a:pt x="12" y="0"/>
                    <a:pt x="11" y="0"/>
                  </a:cubicBezTo>
                  <a:cubicBezTo>
                    <a:pt x="6" y="0"/>
                    <a:pt x="6" y="0"/>
                    <a:pt x="6" y="0"/>
                  </a:cubicBezTo>
                  <a:cubicBezTo>
                    <a:pt x="3" y="0"/>
                    <a:pt x="3" y="0"/>
                    <a:pt x="3" y="0"/>
                  </a:cubicBezTo>
                  <a:cubicBezTo>
                    <a:pt x="1" y="0"/>
                    <a:pt x="0" y="2"/>
                    <a:pt x="0" y="3"/>
                  </a:cubicBezTo>
                  <a:cubicBezTo>
                    <a:pt x="0" y="3"/>
                    <a:pt x="0" y="3"/>
                    <a:pt x="0" y="3"/>
                  </a:cubicBezTo>
                  <a:cubicBezTo>
                    <a:pt x="0" y="5"/>
                    <a:pt x="1" y="6"/>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5" name="Freeform 152">
              <a:extLst>
                <a:ext uri="{FF2B5EF4-FFF2-40B4-BE49-F238E27FC236}">
                  <a16:creationId xmlns:a16="http://schemas.microsoft.com/office/drawing/2014/main" id="{1CF4D433-5AD1-4B59-A4B1-89CF4D90AE39}"/>
                </a:ext>
              </a:extLst>
            </p:cNvPr>
            <p:cNvSpPr>
              <a:spLocks/>
            </p:cNvSpPr>
            <p:nvPr/>
          </p:nvSpPr>
          <p:spPr bwMode="auto">
            <a:xfrm>
              <a:off x="1836738" y="5838825"/>
              <a:ext cx="95250" cy="33338"/>
            </a:xfrm>
            <a:custGeom>
              <a:avLst/>
              <a:gdLst>
                <a:gd name="T0" fmla="*/ 3 w 14"/>
                <a:gd name="T1" fmla="*/ 5 h 5"/>
                <a:gd name="T2" fmla="*/ 6 w 14"/>
                <a:gd name="T3" fmla="*/ 5 h 5"/>
                <a:gd name="T4" fmla="*/ 11 w 14"/>
                <a:gd name="T5" fmla="*/ 5 h 5"/>
                <a:gd name="T6" fmla="*/ 14 w 14"/>
                <a:gd name="T7" fmla="*/ 3 h 5"/>
                <a:gd name="T8" fmla="*/ 14 w 14"/>
                <a:gd name="T9" fmla="*/ 2 h 5"/>
                <a:gd name="T10" fmla="*/ 11 w 14"/>
                <a:gd name="T11" fmla="*/ 0 h 5"/>
                <a:gd name="T12" fmla="*/ 6 w 14"/>
                <a:gd name="T13" fmla="*/ 0 h 5"/>
                <a:gd name="T14" fmla="*/ 3 w 14"/>
                <a:gd name="T15" fmla="*/ 0 h 5"/>
                <a:gd name="T16" fmla="*/ 0 w 14"/>
                <a:gd name="T17" fmla="*/ 2 h 5"/>
                <a:gd name="T18" fmla="*/ 0 w 14"/>
                <a:gd name="T19" fmla="*/ 3 h 5"/>
                <a:gd name="T20" fmla="*/ 3 w 14"/>
                <a:gd name="T21"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5">
                  <a:moveTo>
                    <a:pt x="3" y="5"/>
                  </a:moveTo>
                  <a:cubicBezTo>
                    <a:pt x="6" y="5"/>
                    <a:pt x="6" y="5"/>
                    <a:pt x="6" y="5"/>
                  </a:cubicBezTo>
                  <a:cubicBezTo>
                    <a:pt x="11" y="5"/>
                    <a:pt x="11" y="5"/>
                    <a:pt x="11" y="5"/>
                  </a:cubicBezTo>
                  <a:cubicBezTo>
                    <a:pt x="12" y="5"/>
                    <a:pt x="14" y="4"/>
                    <a:pt x="14" y="3"/>
                  </a:cubicBezTo>
                  <a:cubicBezTo>
                    <a:pt x="14" y="2"/>
                    <a:pt x="14" y="2"/>
                    <a:pt x="14" y="2"/>
                  </a:cubicBezTo>
                  <a:cubicBezTo>
                    <a:pt x="14" y="1"/>
                    <a:pt x="12" y="0"/>
                    <a:pt x="11" y="0"/>
                  </a:cubicBezTo>
                  <a:cubicBezTo>
                    <a:pt x="6" y="0"/>
                    <a:pt x="6" y="0"/>
                    <a:pt x="6" y="0"/>
                  </a:cubicBezTo>
                  <a:cubicBezTo>
                    <a:pt x="3" y="0"/>
                    <a:pt x="3" y="0"/>
                    <a:pt x="3" y="0"/>
                  </a:cubicBezTo>
                  <a:cubicBezTo>
                    <a:pt x="1" y="0"/>
                    <a:pt x="0" y="1"/>
                    <a:pt x="0" y="2"/>
                  </a:cubicBezTo>
                  <a:cubicBezTo>
                    <a:pt x="0" y="3"/>
                    <a:pt x="0" y="3"/>
                    <a:pt x="0" y="3"/>
                  </a:cubicBezTo>
                  <a:cubicBezTo>
                    <a:pt x="0" y="4"/>
                    <a:pt x="1" y="5"/>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6" name="Freeform 153">
              <a:extLst>
                <a:ext uri="{FF2B5EF4-FFF2-40B4-BE49-F238E27FC236}">
                  <a16:creationId xmlns:a16="http://schemas.microsoft.com/office/drawing/2014/main" id="{E33CF892-0D9A-4DCC-9C33-D125150C2B62}"/>
                </a:ext>
              </a:extLst>
            </p:cNvPr>
            <p:cNvSpPr>
              <a:spLocks/>
            </p:cNvSpPr>
            <p:nvPr/>
          </p:nvSpPr>
          <p:spPr bwMode="auto">
            <a:xfrm>
              <a:off x="1836738" y="5708650"/>
              <a:ext cx="95250" cy="34925"/>
            </a:xfrm>
            <a:custGeom>
              <a:avLst/>
              <a:gdLst>
                <a:gd name="T0" fmla="*/ 3 w 14"/>
                <a:gd name="T1" fmla="*/ 5 h 5"/>
                <a:gd name="T2" fmla="*/ 6 w 14"/>
                <a:gd name="T3" fmla="*/ 5 h 5"/>
                <a:gd name="T4" fmla="*/ 11 w 14"/>
                <a:gd name="T5" fmla="*/ 5 h 5"/>
                <a:gd name="T6" fmla="*/ 14 w 14"/>
                <a:gd name="T7" fmla="*/ 3 h 5"/>
                <a:gd name="T8" fmla="*/ 14 w 14"/>
                <a:gd name="T9" fmla="*/ 3 h 5"/>
                <a:gd name="T10" fmla="*/ 11 w 14"/>
                <a:gd name="T11" fmla="*/ 0 h 5"/>
                <a:gd name="T12" fmla="*/ 6 w 14"/>
                <a:gd name="T13" fmla="*/ 0 h 5"/>
                <a:gd name="T14" fmla="*/ 3 w 14"/>
                <a:gd name="T15" fmla="*/ 0 h 5"/>
                <a:gd name="T16" fmla="*/ 0 w 14"/>
                <a:gd name="T17" fmla="*/ 3 h 5"/>
                <a:gd name="T18" fmla="*/ 0 w 14"/>
                <a:gd name="T19" fmla="*/ 3 h 5"/>
                <a:gd name="T20" fmla="*/ 3 w 14"/>
                <a:gd name="T21" fmla="*/ 5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5">
                  <a:moveTo>
                    <a:pt x="3" y="5"/>
                  </a:moveTo>
                  <a:cubicBezTo>
                    <a:pt x="6" y="5"/>
                    <a:pt x="6" y="5"/>
                    <a:pt x="6" y="5"/>
                  </a:cubicBezTo>
                  <a:cubicBezTo>
                    <a:pt x="11" y="5"/>
                    <a:pt x="11" y="5"/>
                    <a:pt x="11" y="5"/>
                  </a:cubicBezTo>
                  <a:cubicBezTo>
                    <a:pt x="12" y="5"/>
                    <a:pt x="14" y="4"/>
                    <a:pt x="14" y="3"/>
                  </a:cubicBezTo>
                  <a:cubicBezTo>
                    <a:pt x="14" y="3"/>
                    <a:pt x="14" y="3"/>
                    <a:pt x="14" y="3"/>
                  </a:cubicBezTo>
                  <a:cubicBezTo>
                    <a:pt x="14" y="1"/>
                    <a:pt x="12" y="0"/>
                    <a:pt x="11" y="0"/>
                  </a:cubicBezTo>
                  <a:cubicBezTo>
                    <a:pt x="6" y="0"/>
                    <a:pt x="6" y="0"/>
                    <a:pt x="6" y="0"/>
                  </a:cubicBezTo>
                  <a:cubicBezTo>
                    <a:pt x="3" y="0"/>
                    <a:pt x="3" y="0"/>
                    <a:pt x="3" y="0"/>
                  </a:cubicBezTo>
                  <a:cubicBezTo>
                    <a:pt x="1" y="0"/>
                    <a:pt x="0" y="1"/>
                    <a:pt x="0" y="3"/>
                  </a:cubicBezTo>
                  <a:cubicBezTo>
                    <a:pt x="0" y="3"/>
                    <a:pt x="0" y="3"/>
                    <a:pt x="0" y="3"/>
                  </a:cubicBezTo>
                  <a:cubicBezTo>
                    <a:pt x="0" y="4"/>
                    <a:pt x="1" y="5"/>
                    <a:pt x="3"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47" name="Group 146">
            <a:extLst>
              <a:ext uri="{FF2B5EF4-FFF2-40B4-BE49-F238E27FC236}">
                <a16:creationId xmlns:a16="http://schemas.microsoft.com/office/drawing/2014/main" id="{6734A49C-4F3E-48B3-8F78-073EC93F27E7}"/>
              </a:ext>
            </a:extLst>
          </p:cNvPr>
          <p:cNvGrpSpPr>
            <a:grpSpLocks noChangeAspect="1"/>
          </p:cNvGrpSpPr>
          <p:nvPr/>
        </p:nvGrpSpPr>
        <p:grpSpPr>
          <a:xfrm>
            <a:off x="8976256" y="4594797"/>
            <a:ext cx="273570" cy="274320"/>
            <a:chOff x="7912100" y="4862513"/>
            <a:chExt cx="579438" cy="581025"/>
          </a:xfrm>
          <a:solidFill>
            <a:srgbClr val="595555"/>
          </a:solidFill>
        </p:grpSpPr>
        <p:sp>
          <p:nvSpPr>
            <p:cNvPr id="148" name="Freeform 154">
              <a:extLst>
                <a:ext uri="{FF2B5EF4-FFF2-40B4-BE49-F238E27FC236}">
                  <a16:creationId xmlns:a16="http://schemas.microsoft.com/office/drawing/2014/main" id="{94F5A4E1-0618-4CC3-B18A-BF4C78E876EB}"/>
                </a:ext>
              </a:extLst>
            </p:cNvPr>
            <p:cNvSpPr>
              <a:spLocks noEditPoints="1"/>
            </p:cNvSpPr>
            <p:nvPr/>
          </p:nvSpPr>
          <p:spPr bwMode="auto">
            <a:xfrm>
              <a:off x="7912100" y="4862513"/>
              <a:ext cx="579438" cy="415925"/>
            </a:xfrm>
            <a:custGeom>
              <a:avLst/>
              <a:gdLst>
                <a:gd name="T0" fmla="*/ 80 w 85"/>
                <a:gd name="T1" fmla="*/ 24 h 61"/>
                <a:gd name="T2" fmla="*/ 69 w 85"/>
                <a:gd name="T3" fmla="*/ 24 h 61"/>
                <a:gd name="T4" fmla="*/ 69 w 85"/>
                <a:gd name="T5" fmla="*/ 5 h 61"/>
                <a:gd name="T6" fmla="*/ 69 w 85"/>
                <a:gd name="T7" fmla="*/ 0 h 61"/>
                <a:gd name="T8" fmla="*/ 64 w 85"/>
                <a:gd name="T9" fmla="*/ 0 h 61"/>
                <a:gd name="T10" fmla="*/ 21 w 85"/>
                <a:gd name="T11" fmla="*/ 0 h 61"/>
                <a:gd name="T12" fmla="*/ 16 w 85"/>
                <a:gd name="T13" fmla="*/ 0 h 61"/>
                <a:gd name="T14" fmla="*/ 16 w 85"/>
                <a:gd name="T15" fmla="*/ 5 h 61"/>
                <a:gd name="T16" fmla="*/ 16 w 85"/>
                <a:gd name="T17" fmla="*/ 24 h 61"/>
                <a:gd name="T18" fmla="*/ 5 w 85"/>
                <a:gd name="T19" fmla="*/ 24 h 61"/>
                <a:gd name="T20" fmla="*/ 0 w 85"/>
                <a:gd name="T21" fmla="*/ 29 h 61"/>
                <a:gd name="T22" fmla="*/ 0 w 85"/>
                <a:gd name="T23" fmla="*/ 56 h 61"/>
                <a:gd name="T24" fmla="*/ 5 w 85"/>
                <a:gd name="T25" fmla="*/ 61 h 61"/>
                <a:gd name="T26" fmla="*/ 11 w 85"/>
                <a:gd name="T27" fmla="*/ 61 h 61"/>
                <a:gd name="T28" fmla="*/ 11 w 85"/>
                <a:gd name="T29" fmla="*/ 53 h 61"/>
                <a:gd name="T30" fmla="*/ 11 w 85"/>
                <a:gd name="T31" fmla="*/ 48 h 61"/>
                <a:gd name="T32" fmla="*/ 16 w 85"/>
                <a:gd name="T33" fmla="*/ 48 h 61"/>
                <a:gd name="T34" fmla="*/ 19 w 85"/>
                <a:gd name="T35" fmla="*/ 48 h 61"/>
                <a:gd name="T36" fmla="*/ 67 w 85"/>
                <a:gd name="T37" fmla="*/ 48 h 61"/>
                <a:gd name="T38" fmla="*/ 69 w 85"/>
                <a:gd name="T39" fmla="*/ 48 h 61"/>
                <a:gd name="T40" fmla="*/ 75 w 85"/>
                <a:gd name="T41" fmla="*/ 48 h 61"/>
                <a:gd name="T42" fmla="*/ 75 w 85"/>
                <a:gd name="T43" fmla="*/ 52 h 61"/>
                <a:gd name="T44" fmla="*/ 75 w 85"/>
                <a:gd name="T45" fmla="*/ 61 h 61"/>
                <a:gd name="T46" fmla="*/ 80 w 85"/>
                <a:gd name="T47" fmla="*/ 61 h 61"/>
                <a:gd name="T48" fmla="*/ 85 w 85"/>
                <a:gd name="T49" fmla="*/ 56 h 61"/>
                <a:gd name="T50" fmla="*/ 85 w 85"/>
                <a:gd name="T51" fmla="*/ 29 h 61"/>
                <a:gd name="T52" fmla="*/ 80 w 85"/>
                <a:gd name="T53" fmla="*/ 24 h 61"/>
                <a:gd name="T54" fmla="*/ 65 w 85"/>
                <a:gd name="T55" fmla="*/ 24 h 61"/>
                <a:gd name="T56" fmla="*/ 20 w 85"/>
                <a:gd name="T57" fmla="*/ 24 h 61"/>
                <a:gd name="T58" fmla="*/ 20 w 85"/>
                <a:gd name="T59" fmla="*/ 4 h 61"/>
                <a:gd name="T60" fmla="*/ 65 w 85"/>
                <a:gd name="T61" fmla="*/ 4 h 61"/>
                <a:gd name="T62" fmla="*/ 65 w 85"/>
                <a:gd name="T63" fmla="*/ 24 h 61"/>
                <a:gd name="T64" fmla="*/ 77 w 85"/>
                <a:gd name="T65" fmla="*/ 35 h 61"/>
                <a:gd name="T66" fmla="*/ 75 w 85"/>
                <a:gd name="T67" fmla="*/ 32 h 61"/>
                <a:gd name="T68" fmla="*/ 77 w 85"/>
                <a:gd name="T69" fmla="*/ 30 h 61"/>
                <a:gd name="T70" fmla="*/ 80 w 85"/>
                <a:gd name="T71" fmla="*/ 32 h 61"/>
                <a:gd name="T72" fmla="*/ 77 w 85"/>
                <a:gd name="T73" fmla="*/ 3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5" h="61">
                  <a:moveTo>
                    <a:pt x="80" y="24"/>
                  </a:moveTo>
                  <a:cubicBezTo>
                    <a:pt x="69" y="24"/>
                    <a:pt x="69" y="24"/>
                    <a:pt x="69" y="24"/>
                  </a:cubicBezTo>
                  <a:cubicBezTo>
                    <a:pt x="69" y="5"/>
                    <a:pt x="69" y="5"/>
                    <a:pt x="69" y="5"/>
                  </a:cubicBezTo>
                  <a:cubicBezTo>
                    <a:pt x="69" y="0"/>
                    <a:pt x="69" y="0"/>
                    <a:pt x="69" y="0"/>
                  </a:cubicBezTo>
                  <a:cubicBezTo>
                    <a:pt x="64" y="0"/>
                    <a:pt x="64" y="0"/>
                    <a:pt x="64" y="0"/>
                  </a:cubicBezTo>
                  <a:cubicBezTo>
                    <a:pt x="21" y="0"/>
                    <a:pt x="21" y="0"/>
                    <a:pt x="21" y="0"/>
                  </a:cubicBezTo>
                  <a:cubicBezTo>
                    <a:pt x="16" y="0"/>
                    <a:pt x="16" y="0"/>
                    <a:pt x="16" y="0"/>
                  </a:cubicBezTo>
                  <a:cubicBezTo>
                    <a:pt x="16" y="5"/>
                    <a:pt x="16" y="5"/>
                    <a:pt x="16" y="5"/>
                  </a:cubicBezTo>
                  <a:cubicBezTo>
                    <a:pt x="16" y="24"/>
                    <a:pt x="16" y="24"/>
                    <a:pt x="16" y="24"/>
                  </a:cubicBezTo>
                  <a:cubicBezTo>
                    <a:pt x="5" y="24"/>
                    <a:pt x="5" y="24"/>
                    <a:pt x="5" y="24"/>
                  </a:cubicBezTo>
                  <a:cubicBezTo>
                    <a:pt x="2" y="24"/>
                    <a:pt x="0" y="26"/>
                    <a:pt x="0" y="29"/>
                  </a:cubicBezTo>
                  <a:cubicBezTo>
                    <a:pt x="0" y="56"/>
                    <a:pt x="0" y="56"/>
                    <a:pt x="0" y="56"/>
                  </a:cubicBezTo>
                  <a:cubicBezTo>
                    <a:pt x="0" y="59"/>
                    <a:pt x="2" y="61"/>
                    <a:pt x="5" y="61"/>
                  </a:cubicBezTo>
                  <a:cubicBezTo>
                    <a:pt x="11" y="61"/>
                    <a:pt x="11" y="61"/>
                    <a:pt x="11" y="61"/>
                  </a:cubicBezTo>
                  <a:cubicBezTo>
                    <a:pt x="11" y="53"/>
                    <a:pt x="11" y="53"/>
                    <a:pt x="11" y="53"/>
                  </a:cubicBezTo>
                  <a:cubicBezTo>
                    <a:pt x="11" y="48"/>
                    <a:pt x="11" y="48"/>
                    <a:pt x="11" y="48"/>
                  </a:cubicBezTo>
                  <a:cubicBezTo>
                    <a:pt x="16" y="48"/>
                    <a:pt x="16" y="48"/>
                    <a:pt x="16" y="48"/>
                  </a:cubicBezTo>
                  <a:cubicBezTo>
                    <a:pt x="19" y="48"/>
                    <a:pt x="19" y="48"/>
                    <a:pt x="19" y="48"/>
                  </a:cubicBezTo>
                  <a:cubicBezTo>
                    <a:pt x="67" y="48"/>
                    <a:pt x="67" y="48"/>
                    <a:pt x="67" y="48"/>
                  </a:cubicBezTo>
                  <a:cubicBezTo>
                    <a:pt x="69" y="48"/>
                    <a:pt x="69" y="48"/>
                    <a:pt x="69" y="48"/>
                  </a:cubicBezTo>
                  <a:cubicBezTo>
                    <a:pt x="75" y="48"/>
                    <a:pt x="75" y="48"/>
                    <a:pt x="75" y="48"/>
                  </a:cubicBezTo>
                  <a:cubicBezTo>
                    <a:pt x="75" y="52"/>
                    <a:pt x="75" y="52"/>
                    <a:pt x="75" y="52"/>
                  </a:cubicBezTo>
                  <a:cubicBezTo>
                    <a:pt x="75" y="61"/>
                    <a:pt x="75" y="61"/>
                    <a:pt x="75" y="61"/>
                  </a:cubicBezTo>
                  <a:cubicBezTo>
                    <a:pt x="80" y="61"/>
                    <a:pt x="80" y="61"/>
                    <a:pt x="80" y="61"/>
                  </a:cubicBezTo>
                  <a:cubicBezTo>
                    <a:pt x="83" y="61"/>
                    <a:pt x="85" y="59"/>
                    <a:pt x="85" y="56"/>
                  </a:cubicBezTo>
                  <a:cubicBezTo>
                    <a:pt x="85" y="29"/>
                    <a:pt x="85" y="29"/>
                    <a:pt x="85" y="29"/>
                  </a:cubicBezTo>
                  <a:cubicBezTo>
                    <a:pt x="85" y="26"/>
                    <a:pt x="83" y="24"/>
                    <a:pt x="80" y="24"/>
                  </a:cubicBezTo>
                  <a:close/>
                  <a:moveTo>
                    <a:pt x="65" y="24"/>
                  </a:moveTo>
                  <a:cubicBezTo>
                    <a:pt x="20" y="24"/>
                    <a:pt x="20" y="24"/>
                    <a:pt x="20" y="24"/>
                  </a:cubicBezTo>
                  <a:cubicBezTo>
                    <a:pt x="20" y="4"/>
                    <a:pt x="20" y="4"/>
                    <a:pt x="20" y="4"/>
                  </a:cubicBezTo>
                  <a:cubicBezTo>
                    <a:pt x="65" y="4"/>
                    <a:pt x="65" y="4"/>
                    <a:pt x="65" y="4"/>
                  </a:cubicBezTo>
                  <a:lnTo>
                    <a:pt x="65" y="24"/>
                  </a:lnTo>
                  <a:close/>
                  <a:moveTo>
                    <a:pt x="77" y="35"/>
                  </a:moveTo>
                  <a:cubicBezTo>
                    <a:pt x="76" y="35"/>
                    <a:pt x="75" y="34"/>
                    <a:pt x="75" y="32"/>
                  </a:cubicBezTo>
                  <a:cubicBezTo>
                    <a:pt x="75" y="31"/>
                    <a:pt x="76" y="30"/>
                    <a:pt x="77" y="30"/>
                  </a:cubicBezTo>
                  <a:cubicBezTo>
                    <a:pt x="79" y="30"/>
                    <a:pt x="80" y="31"/>
                    <a:pt x="80" y="32"/>
                  </a:cubicBezTo>
                  <a:cubicBezTo>
                    <a:pt x="80" y="34"/>
                    <a:pt x="79" y="35"/>
                    <a:pt x="7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9" name="Freeform 155">
              <a:extLst>
                <a:ext uri="{FF2B5EF4-FFF2-40B4-BE49-F238E27FC236}">
                  <a16:creationId xmlns:a16="http://schemas.microsoft.com/office/drawing/2014/main" id="{2339D231-298D-40E9-8E0C-C02C97A58489}"/>
                </a:ext>
              </a:extLst>
            </p:cNvPr>
            <p:cNvSpPr>
              <a:spLocks noEditPoints="1"/>
            </p:cNvSpPr>
            <p:nvPr/>
          </p:nvSpPr>
          <p:spPr bwMode="auto">
            <a:xfrm>
              <a:off x="8020050" y="5224463"/>
              <a:ext cx="361950" cy="219075"/>
            </a:xfrm>
            <a:custGeom>
              <a:avLst/>
              <a:gdLst>
                <a:gd name="T0" fmla="*/ 13 w 228"/>
                <a:gd name="T1" fmla="*/ 0 h 138"/>
                <a:gd name="T2" fmla="*/ 0 w 228"/>
                <a:gd name="T3" fmla="*/ 0 h 138"/>
                <a:gd name="T4" fmla="*/ 0 w 228"/>
                <a:gd name="T5" fmla="*/ 43 h 138"/>
                <a:gd name="T6" fmla="*/ 0 w 228"/>
                <a:gd name="T7" fmla="*/ 138 h 138"/>
                <a:gd name="T8" fmla="*/ 228 w 228"/>
                <a:gd name="T9" fmla="*/ 138 h 138"/>
                <a:gd name="T10" fmla="*/ 228 w 228"/>
                <a:gd name="T11" fmla="*/ 43 h 138"/>
                <a:gd name="T12" fmla="*/ 228 w 228"/>
                <a:gd name="T13" fmla="*/ 4 h 138"/>
                <a:gd name="T14" fmla="*/ 228 w 228"/>
                <a:gd name="T15" fmla="*/ 0 h 138"/>
                <a:gd name="T16" fmla="*/ 219 w 228"/>
                <a:gd name="T17" fmla="*/ 0 h 138"/>
                <a:gd name="T18" fmla="*/ 13 w 228"/>
                <a:gd name="T19" fmla="*/ 0 h 138"/>
                <a:gd name="T20" fmla="*/ 194 w 228"/>
                <a:gd name="T21" fmla="*/ 112 h 138"/>
                <a:gd name="T22" fmla="*/ 30 w 228"/>
                <a:gd name="T23" fmla="*/ 112 h 138"/>
                <a:gd name="T24" fmla="*/ 30 w 228"/>
                <a:gd name="T25" fmla="*/ 99 h 138"/>
                <a:gd name="T26" fmla="*/ 194 w 228"/>
                <a:gd name="T27" fmla="*/ 99 h 138"/>
                <a:gd name="T28" fmla="*/ 194 w 228"/>
                <a:gd name="T29" fmla="*/ 112 h 138"/>
                <a:gd name="T30" fmla="*/ 194 w 228"/>
                <a:gd name="T31" fmla="*/ 77 h 138"/>
                <a:gd name="T32" fmla="*/ 30 w 228"/>
                <a:gd name="T33" fmla="*/ 77 h 138"/>
                <a:gd name="T34" fmla="*/ 30 w 228"/>
                <a:gd name="T35" fmla="*/ 64 h 138"/>
                <a:gd name="T36" fmla="*/ 194 w 228"/>
                <a:gd name="T37" fmla="*/ 64 h 138"/>
                <a:gd name="T38" fmla="*/ 194 w 228"/>
                <a:gd name="T39" fmla="*/ 77 h 138"/>
                <a:gd name="T40" fmla="*/ 194 w 228"/>
                <a:gd name="T41" fmla="*/ 43 h 138"/>
                <a:gd name="T42" fmla="*/ 30 w 228"/>
                <a:gd name="T43" fmla="*/ 43 h 138"/>
                <a:gd name="T44" fmla="*/ 30 w 228"/>
                <a:gd name="T45" fmla="*/ 30 h 138"/>
                <a:gd name="T46" fmla="*/ 194 w 228"/>
                <a:gd name="T47" fmla="*/ 30 h 138"/>
                <a:gd name="T48" fmla="*/ 194 w 228"/>
                <a:gd name="T49" fmla="*/ 43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28" h="138">
                  <a:moveTo>
                    <a:pt x="13" y="0"/>
                  </a:moveTo>
                  <a:lnTo>
                    <a:pt x="0" y="0"/>
                  </a:lnTo>
                  <a:lnTo>
                    <a:pt x="0" y="43"/>
                  </a:lnTo>
                  <a:lnTo>
                    <a:pt x="0" y="138"/>
                  </a:lnTo>
                  <a:lnTo>
                    <a:pt x="228" y="138"/>
                  </a:lnTo>
                  <a:lnTo>
                    <a:pt x="228" y="43"/>
                  </a:lnTo>
                  <a:lnTo>
                    <a:pt x="228" y="4"/>
                  </a:lnTo>
                  <a:lnTo>
                    <a:pt x="228" y="0"/>
                  </a:lnTo>
                  <a:lnTo>
                    <a:pt x="219" y="0"/>
                  </a:lnTo>
                  <a:lnTo>
                    <a:pt x="13" y="0"/>
                  </a:lnTo>
                  <a:close/>
                  <a:moveTo>
                    <a:pt x="194" y="112"/>
                  </a:moveTo>
                  <a:lnTo>
                    <a:pt x="30" y="112"/>
                  </a:lnTo>
                  <a:lnTo>
                    <a:pt x="30" y="99"/>
                  </a:lnTo>
                  <a:lnTo>
                    <a:pt x="194" y="99"/>
                  </a:lnTo>
                  <a:lnTo>
                    <a:pt x="194" y="112"/>
                  </a:lnTo>
                  <a:close/>
                  <a:moveTo>
                    <a:pt x="194" y="77"/>
                  </a:moveTo>
                  <a:lnTo>
                    <a:pt x="30" y="77"/>
                  </a:lnTo>
                  <a:lnTo>
                    <a:pt x="30" y="64"/>
                  </a:lnTo>
                  <a:lnTo>
                    <a:pt x="194" y="64"/>
                  </a:lnTo>
                  <a:lnTo>
                    <a:pt x="194" y="77"/>
                  </a:lnTo>
                  <a:close/>
                  <a:moveTo>
                    <a:pt x="194" y="43"/>
                  </a:moveTo>
                  <a:lnTo>
                    <a:pt x="30" y="43"/>
                  </a:lnTo>
                  <a:lnTo>
                    <a:pt x="30" y="30"/>
                  </a:lnTo>
                  <a:lnTo>
                    <a:pt x="194" y="30"/>
                  </a:lnTo>
                  <a:lnTo>
                    <a:pt x="194"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0" name="Group 149">
            <a:extLst>
              <a:ext uri="{FF2B5EF4-FFF2-40B4-BE49-F238E27FC236}">
                <a16:creationId xmlns:a16="http://schemas.microsoft.com/office/drawing/2014/main" id="{78E3C205-B617-489C-8AE2-A189808BFF1D}"/>
              </a:ext>
            </a:extLst>
          </p:cNvPr>
          <p:cNvGrpSpPr>
            <a:grpSpLocks noChangeAspect="1"/>
          </p:cNvGrpSpPr>
          <p:nvPr/>
        </p:nvGrpSpPr>
        <p:grpSpPr>
          <a:xfrm>
            <a:off x="2524174" y="5518165"/>
            <a:ext cx="271347" cy="274320"/>
            <a:chOff x="2565400" y="5627688"/>
            <a:chExt cx="579438" cy="585788"/>
          </a:xfrm>
          <a:solidFill>
            <a:srgbClr val="595555"/>
          </a:solidFill>
        </p:grpSpPr>
        <p:sp>
          <p:nvSpPr>
            <p:cNvPr id="151" name="Freeform 156">
              <a:extLst>
                <a:ext uri="{FF2B5EF4-FFF2-40B4-BE49-F238E27FC236}">
                  <a16:creationId xmlns:a16="http://schemas.microsoft.com/office/drawing/2014/main" id="{E3C78C04-7E7A-4DEF-B17E-3AB5248CD84F}"/>
                </a:ext>
              </a:extLst>
            </p:cNvPr>
            <p:cNvSpPr>
              <a:spLocks/>
            </p:cNvSpPr>
            <p:nvPr/>
          </p:nvSpPr>
          <p:spPr bwMode="auto">
            <a:xfrm>
              <a:off x="2565400" y="5783263"/>
              <a:ext cx="463550" cy="307975"/>
            </a:xfrm>
            <a:custGeom>
              <a:avLst/>
              <a:gdLst>
                <a:gd name="T0" fmla="*/ 49 w 68"/>
                <a:gd name="T1" fmla="*/ 9 h 45"/>
                <a:gd name="T2" fmla="*/ 68 w 68"/>
                <a:gd name="T3" fmla="*/ 15 h 45"/>
                <a:gd name="T4" fmla="*/ 68 w 68"/>
                <a:gd name="T5" fmla="*/ 0 h 45"/>
                <a:gd name="T6" fmla="*/ 0 w 68"/>
                <a:gd name="T7" fmla="*/ 0 h 45"/>
                <a:gd name="T8" fmla="*/ 0 w 68"/>
                <a:gd name="T9" fmla="*/ 45 h 45"/>
                <a:gd name="T10" fmla="*/ 37 w 68"/>
                <a:gd name="T11" fmla="*/ 45 h 45"/>
                <a:gd name="T12" fmla="*/ 31 w 68"/>
                <a:gd name="T13" fmla="*/ 27 h 45"/>
                <a:gd name="T14" fmla="*/ 49 w 68"/>
                <a:gd name="T15" fmla="*/ 9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45">
                  <a:moveTo>
                    <a:pt x="49" y="9"/>
                  </a:moveTo>
                  <a:cubicBezTo>
                    <a:pt x="57" y="8"/>
                    <a:pt x="63" y="10"/>
                    <a:pt x="68" y="15"/>
                  </a:cubicBezTo>
                  <a:cubicBezTo>
                    <a:pt x="68" y="0"/>
                    <a:pt x="68" y="0"/>
                    <a:pt x="68" y="0"/>
                  </a:cubicBezTo>
                  <a:cubicBezTo>
                    <a:pt x="0" y="0"/>
                    <a:pt x="0" y="0"/>
                    <a:pt x="0" y="0"/>
                  </a:cubicBezTo>
                  <a:cubicBezTo>
                    <a:pt x="0" y="45"/>
                    <a:pt x="0" y="45"/>
                    <a:pt x="0" y="45"/>
                  </a:cubicBezTo>
                  <a:cubicBezTo>
                    <a:pt x="37" y="45"/>
                    <a:pt x="37" y="45"/>
                    <a:pt x="37" y="45"/>
                  </a:cubicBezTo>
                  <a:cubicBezTo>
                    <a:pt x="32" y="41"/>
                    <a:pt x="30" y="34"/>
                    <a:pt x="31" y="27"/>
                  </a:cubicBezTo>
                  <a:cubicBezTo>
                    <a:pt x="32" y="17"/>
                    <a:pt x="40" y="10"/>
                    <a:pt x="49"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2" name="Freeform 157">
              <a:extLst>
                <a:ext uri="{FF2B5EF4-FFF2-40B4-BE49-F238E27FC236}">
                  <a16:creationId xmlns:a16="http://schemas.microsoft.com/office/drawing/2014/main" id="{74C860DF-0E9D-4259-BD37-719584C37495}"/>
                </a:ext>
              </a:extLst>
            </p:cNvPr>
            <p:cNvSpPr>
              <a:spLocks/>
            </p:cNvSpPr>
            <p:nvPr/>
          </p:nvSpPr>
          <p:spPr bwMode="auto">
            <a:xfrm>
              <a:off x="2565400" y="5627688"/>
              <a:ext cx="219075" cy="128588"/>
            </a:xfrm>
            <a:custGeom>
              <a:avLst/>
              <a:gdLst>
                <a:gd name="T0" fmla="*/ 138 w 138"/>
                <a:gd name="T1" fmla="*/ 0 h 81"/>
                <a:gd name="T2" fmla="*/ 43 w 138"/>
                <a:gd name="T3" fmla="*/ 0 h 81"/>
                <a:gd name="T4" fmla="*/ 0 w 138"/>
                <a:gd name="T5" fmla="*/ 81 h 81"/>
                <a:gd name="T6" fmla="*/ 129 w 138"/>
                <a:gd name="T7" fmla="*/ 81 h 81"/>
                <a:gd name="T8" fmla="*/ 138 w 138"/>
                <a:gd name="T9" fmla="*/ 0 h 81"/>
              </a:gdLst>
              <a:ahLst/>
              <a:cxnLst>
                <a:cxn ang="0">
                  <a:pos x="T0" y="T1"/>
                </a:cxn>
                <a:cxn ang="0">
                  <a:pos x="T2" y="T3"/>
                </a:cxn>
                <a:cxn ang="0">
                  <a:pos x="T4" y="T5"/>
                </a:cxn>
                <a:cxn ang="0">
                  <a:pos x="T6" y="T7"/>
                </a:cxn>
                <a:cxn ang="0">
                  <a:pos x="T8" y="T9"/>
                </a:cxn>
              </a:cxnLst>
              <a:rect l="0" t="0" r="r" b="b"/>
              <a:pathLst>
                <a:path w="138" h="81">
                  <a:moveTo>
                    <a:pt x="138" y="0"/>
                  </a:moveTo>
                  <a:lnTo>
                    <a:pt x="43" y="0"/>
                  </a:lnTo>
                  <a:lnTo>
                    <a:pt x="0" y="81"/>
                  </a:lnTo>
                  <a:lnTo>
                    <a:pt x="129" y="81"/>
                  </a:lnTo>
                  <a:lnTo>
                    <a:pt x="1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3" name="Freeform 158">
              <a:extLst>
                <a:ext uri="{FF2B5EF4-FFF2-40B4-BE49-F238E27FC236}">
                  <a16:creationId xmlns:a16="http://schemas.microsoft.com/office/drawing/2014/main" id="{BD97B54A-ADF6-4A88-9881-B02132C150AA}"/>
                </a:ext>
              </a:extLst>
            </p:cNvPr>
            <p:cNvSpPr>
              <a:spLocks/>
            </p:cNvSpPr>
            <p:nvPr/>
          </p:nvSpPr>
          <p:spPr bwMode="auto">
            <a:xfrm>
              <a:off x="2805113" y="5627688"/>
              <a:ext cx="223838" cy="128588"/>
            </a:xfrm>
            <a:custGeom>
              <a:avLst/>
              <a:gdLst>
                <a:gd name="T0" fmla="*/ 141 w 141"/>
                <a:gd name="T1" fmla="*/ 81 h 81"/>
                <a:gd name="T2" fmla="*/ 94 w 141"/>
                <a:gd name="T3" fmla="*/ 0 h 81"/>
                <a:gd name="T4" fmla="*/ 0 w 141"/>
                <a:gd name="T5" fmla="*/ 0 h 81"/>
                <a:gd name="T6" fmla="*/ 12 w 141"/>
                <a:gd name="T7" fmla="*/ 81 h 81"/>
                <a:gd name="T8" fmla="*/ 141 w 141"/>
                <a:gd name="T9" fmla="*/ 81 h 81"/>
              </a:gdLst>
              <a:ahLst/>
              <a:cxnLst>
                <a:cxn ang="0">
                  <a:pos x="T0" y="T1"/>
                </a:cxn>
                <a:cxn ang="0">
                  <a:pos x="T2" y="T3"/>
                </a:cxn>
                <a:cxn ang="0">
                  <a:pos x="T4" y="T5"/>
                </a:cxn>
                <a:cxn ang="0">
                  <a:pos x="T6" y="T7"/>
                </a:cxn>
                <a:cxn ang="0">
                  <a:pos x="T8" y="T9"/>
                </a:cxn>
              </a:cxnLst>
              <a:rect l="0" t="0" r="r" b="b"/>
              <a:pathLst>
                <a:path w="141" h="81">
                  <a:moveTo>
                    <a:pt x="141" y="81"/>
                  </a:moveTo>
                  <a:lnTo>
                    <a:pt x="94" y="0"/>
                  </a:lnTo>
                  <a:lnTo>
                    <a:pt x="0" y="0"/>
                  </a:lnTo>
                  <a:lnTo>
                    <a:pt x="12" y="81"/>
                  </a:lnTo>
                  <a:lnTo>
                    <a:pt x="141"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4" name="Freeform 159">
              <a:extLst>
                <a:ext uri="{FF2B5EF4-FFF2-40B4-BE49-F238E27FC236}">
                  <a16:creationId xmlns:a16="http://schemas.microsoft.com/office/drawing/2014/main" id="{2FAFF29E-34DD-4991-B2E9-FC5485C65170}"/>
                </a:ext>
              </a:extLst>
            </p:cNvPr>
            <p:cNvSpPr>
              <a:spLocks noEditPoints="1"/>
            </p:cNvSpPr>
            <p:nvPr/>
          </p:nvSpPr>
          <p:spPr bwMode="auto">
            <a:xfrm>
              <a:off x="2805113" y="5865813"/>
              <a:ext cx="339725" cy="347663"/>
            </a:xfrm>
            <a:custGeom>
              <a:avLst/>
              <a:gdLst>
                <a:gd name="T0" fmla="*/ 50 w 50"/>
                <a:gd name="T1" fmla="*/ 45 h 51"/>
                <a:gd name="T2" fmla="*/ 35 w 50"/>
                <a:gd name="T3" fmla="*/ 31 h 51"/>
                <a:gd name="T4" fmla="*/ 33 w 50"/>
                <a:gd name="T5" fmla="*/ 28 h 51"/>
                <a:gd name="T6" fmla="*/ 32 w 50"/>
                <a:gd name="T7" fmla="*/ 27 h 51"/>
                <a:gd name="T8" fmla="*/ 33 w 50"/>
                <a:gd name="T9" fmla="*/ 26 h 51"/>
                <a:gd name="T10" fmla="*/ 35 w 50"/>
                <a:gd name="T11" fmla="*/ 18 h 51"/>
                <a:gd name="T12" fmla="*/ 33 w 50"/>
                <a:gd name="T13" fmla="*/ 9 h 51"/>
                <a:gd name="T14" fmla="*/ 17 w 50"/>
                <a:gd name="T15" fmla="*/ 0 h 51"/>
                <a:gd name="T16" fmla="*/ 0 w 50"/>
                <a:gd name="T17" fmla="*/ 18 h 51"/>
                <a:gd name="T18" fmla="*/ 9 w 50"/>
                <a:gd name="T19" fmla="*/ 33 h 51"/>
                <a:gd name="T20" fmla="*/ 17 w 50"/>
                <a:gd name="T21" fmla="*/ 35 h 51"/>
                <a:gd name="T22" fmla="*/ 26 w 50"/>
                <a:gd name="T23" fmla="*/ 33 h 51"/>
                <a:gd name="T24" fmla="*/ 27 w 50"/>
                <a:gd name="T25" fmla="*/ 33 h 51"/>
                <a:gd name="T26" fmla="*/ 27 w 50"/>
                <a:gd name="T27" fmla="*/ 33 h 51"/>
                <a:gd name="T28" fmla="*/ 30 w 50"/>
                <a:gd name="T29" fmla="*/ 36 h 51"/>
                <a:gd name="T30" fmla="*/ 45 w 50"/>
                <a:gd name="T31" fmla="*/ 50 h 51"/>
                <a:gd name="T32" fmla="*/ 47 w 50"/>
                <a:gd name="T33" fmla="*/ 50 h 51"/>
                <a:gd name="T34" fmla="*/ 50 w 50"/>
                <a:gd name="T35" fmla="*/ 48 h 51"/>
                <a:gd name="T36" fmla="*/ 50 w 50"/>
                <a:gd name="T37" fmla="*/ 45 h 51"/>
                <a:gd name="T38" fmla="*/ 17 w 50"/>
                <a:gd name="T39" fmla="*/ 29 h 51"/>
                <a:gd name="T40" fmla="*/ 6 w 50"/>
                <a:gd name="T41" fmla="*/ 18 h 51"/>
                <a:gd name="T42" fmla="*/ 17 w 50"/>
                <a:gd name="T43" fmla="*/ 7 h 51"/>
                <a:gd name="T44" fmla="*/ 28 w 50"/>
                <a:gd name="T45" fmla="*/ 18 h 51"/>
                <a:gd name="T46" fmla="*/ 17 w 50"/>
                <a:gd name="T47" fmla="*/ 2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1">
                  <a:moveTo>
                    <a:pt x="50" y="45"/>
                  </a:moveTo>
                  <a:cubicBezTo>
                    <a:pt x="35" y="31"/>
                    <a:pt x="35" y="31"/>
                    <a:pt x="35" y="31"/>
                  </a:cubicBezTo>
                  <a:cubicBezTo>
                    <a:pt x="33" y="28"/>
                    <a:pt x="33" y="28"/>
                    <a:pt x="33" y="28"/>
                  </a:cubicBezTo>
                  <a:cubicBezTo>
                    <a:pt x="32" y="27"/>
                    <a:pt x="32" y="27"/>
                    <a:pt x="32" y="27"/>
                  </a:cubicBezTo>
                  <a:cubicBezTo>
                    <a:pt x="32" y="27"/>
                    <a:pt x="33" y="26"/>
                    <a:pt x="33" y="26"/>
                  </a:cubicBezTo>
                  <a:cubicBezTo>
                    <a:pt x="34" y="24"/>
                    <a:pt x="35" y="21"/>
                    <a:pt x="35" y="18"/>
                  </a:cubicBezTo>
                  <a:cubicBezTo>
                    <a:pt x="35" y="15"/>
                    <a:pt x="34" y="12"/>
                    <a:pt x="33" y="9"/>
                  </a:cubicBezTo>
                  <a:cubicBezTo>
                    <a:pt x="30" y="4"/>
                    <a:pt x="24" y="0"/>
                    <a:pt x="17" y="0"/>
                  </a:cubicBezTo>
                  <a:cubicBezTo>
                    <a:pt x="8" y="0"/>
                    <a:pt x="0" y="8"/>
                    <a:pt x="0" y="18"/>
                  </a:cubicBezTo>
                  <a:cubicBezTo>
                    <a:pt x="0" y="24"/>
                    <a:pt x="3" y="30"/>
                    <a:pt x="9" y="33"/>
                  </a:cubicBezTo>
                  <a:cubicBezTo>
                    <a:pt x="11" y="35"/>
                    <a:pt x="14" y="35"/>
                    <a:pt x="17" y="35"/>
                  </a:cubicBezTo>
                  <a:cubicBezTo>
                    <a:pt x="20" y="35"/>
                    <a:pt x="23" y="35"/>
                    <a:pt x="26" y="33"/>
                  </a:cubicBezTo>
                  <a:cubicBezTo>
                    <a:pt x="26" y="33"/>
                    <a:pt x="27" y="33"/>
                    <a:pt x="27" y="33"/>
                  </a:cubicBezTo>
                  <a:cubicBezTo>
                    <a:pt x="27" y="33"/>
                    <a:pt x="27" y="33"/>
                    <a:pt x="27" y="33"/>
                  </a:cubicBezTo>
                  <a:cubicBezTo>
                    <a:pt x="30" y="36"/>
                    <a:pt x="30" y="36"/>
                    <a:pt x="30" y="36"/>
                  </a:cubicBezTo>
                  <a:cubicBezTo>
                    <a:pt x="45" y="50"/>
                    <a:pt x="45" y="50"/>
                    <a:pt x="45" y="50"/>
                  </a:cubicBezTo>
                  <a:cubicBezTo>
                    <a:pt x="45" y="51"/>
                    <a:pt x="46" y="51"/>
                    <a:pt x="47" y="50"/>
                  </a:cubicBezTo>
                  <a:cubicBezTo>
                    <a:pt x="50" y="48"/>
                    <a:pt x="50" y="48"/>
                    <a:pt x="50" y="48"/>
                  </a:cubicBezTo>
                  <a:cubicBezTo>
                    <a:pt x="50" y="47"/>
                    <a:pt x="50" y="46"/>
                    <a:pt x="50" y="45"/>
                  </a:cubicBezTo>
                  <a:close/>
                  <a:moveTo>
                    <a:pt x="17" y="29"/>
                  </a:moveTo>
                  <a:cubicBezTo>
                    <a:pt x="11" y="29"/>
                    <a:pt x="6" y="24"/>
                    <a:pt x="6" y="18"/>
                  </a:cubicBezTo>
                  <a:cubicBezTo>
                    <a:pt x="6" y="12"/>
                    <a:pt x="11" y="7"/>
                    <a:pt x="17" y="7"/>
                  </a:cubicBezTo>
                  <a:cubicBezTo>
                    <a:pt x="23" y="7"/>
                    <a:pt x="28" y="12"/>
                    <a:pt x="28" y="18"/>
                  </a:cubicBezTo>
                  <a:cubicBezTo>
                    <a:pt x="28" y="24"/>
                    <a:pt x="23" y="29"/>
                    <a:pt x="17"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55" name="Group 154">
            <a:extLst>
              <a:ext uri="{FF2B5EF4-FFF2-40B4-BE49-F238E27FC236}">
                <a16:creationId xmlns:a16="http://schemas.microsoft.com/office/drawing/2014/main" id="{D2422A41-EFD6-47E5-8AF4-EFB05B3D5BF5}"/>
              </a:ext>
            </a:extLst>
          </p:cNvPr>
          <p:cNvGrpSpPr>
            <a:grpSpLocks noChangeAspect="1"/>
          </p:cNvGrpSpPr>
          <p:nvPr/>
        </p:nvGrpSpPr>
        <p:grpSpPr>
          <a:xfrm>
            <a:off x="10819161" y="4792113"/>
            <a:ext cx="645978" cy="274320"/>
            <a:chOff x="9439275" y="5026025"/>
            <a:chExt cx="579438" cy="246063"/>
          </a:xfrm>
          <a:solidFill>
            <a:srgbClr val="595555"/>
          </a:solidFill>
        </p:grpSpPr>
        <p:sp>
          <p:nvSpPr>
            <p:cNvPr id="156" name="Freeform 160">
              <a:extLst>
                <a:ext uri="{FF2B5EF4-FFF2-40B4-BE49-F238E27FC236}">
                  <a16:creationId xmlns:a16="http://schemas.microsoft.com/office/drawing/2014/main" id="{AAC46B0A-6414-47FF-9535-8CFBD6C0AC1E}"/>
                </a:ext>
              </a:extLst>
            </p:cNvPr>
            <p:cNvSpPr>
              <a:spLocks noEditPoints="1"/>
            </p:cNvSpPr>
            <p:nvPr/>
          </p:nvSpPr>
          <p:spPr bwMode="auto">
            <a:xfrm>
              <a:off x="9848850" y="5060950"/>
              <a:ext cx="169863" cy="177800"/>
            </a:xfrm>
            <a:custGeom>
              <a:avLst/>
              <a:gdLst>
                <a:gd name="T0" fmla="*/ 25 w 25"/>
                <a:gd name="T1" fmla="*/ 22 h 26"/>
                <a:gd name="T2" fmla="*/ 25 w 25"/>
                <a:gd name="T3" fmla="*/ 17 h 26"/>
                <a:gd name="T4" fmla="*/ 24 w 25"/>
                <a:gd name="T5" fmla="*/ 15 h 26"/>
                <a:gd name="T6" fmla="*/ 22 w 25"/>
                <a:gd name="T7" fmla="*/ 14 h 26"/>
                <a:gd name="T8" fmla="*/ 15 w 25"/>
                <a:gd name="T9" fmla="*/ 12 h 26"/>
                <a:gd name="T10" fmla="*/ 13 w 25"/>
                <a:gd name="T11" fmla="*/ 7 h 26"/>
                <a:gd name="T12" fmla="*/ 12 w 25"/>
                <a:gd name="T13" fmla="*/ 4 h 26"/>
                <a:gd name="T14" fmla="*/ 12 w 25"/>
                <a:gd name="T15" fmla="*/ 2 h 26"/>
                <a:gd name="T16" fmla="*/ 9 w 25"/>
                <a:gd name="T17" fmla="*/ 0 h 26"/>
                <a:gd name="T18" fmla="*/ 4 w 25"/>
                <a:gd name="T19" fmla="*/ 0 h 26"/>
                <a:gd name="T20" fmla="*/ 3 w 25"/>
                <a:gd name="T21" fmla="*/ 0 h 26"/>
                <a:gd name="T22" fmla="*/ 0 w 25"/>
                <a:gd name="T23" fmla="*/ 0 h 26"/>
                <a:gd name="T24" fmla="*/ 0 w 25"/>
                <a:gd name="T25" fmla="*/ 26 h 26"/>
                <a:gd name="T26" fmla="*/ 3 w 25"/>
                <a:gd name="T27" fmla="*/ 26 h 26"/>
                <a:gd name="T28" fmla="*/ 3 w 25"/>
                <a:gd name="T29" fmla="*/ 26 h 26"/>
                <a:gd name="T30" fmla="*/ 10 w 25"/>
                <a:gd name="T31" fmla="*/ 20 h 26"/>
                <a:gd name="T32" fmla="*/ 17 w 25"/>
                <a:gd name="T33" fmla="*/ 26 h 26"/>
                <a:gd name="T34" fmla="*/ 17 w 25"/>
                <a:gd name="T35" fmla="*/ 26 h 26"/>
                <a:gd name="T36" fmla="*/ 25 w 25"/>
                <a:gd name="T37" fmla="*/ 26 h 26"/>
                <a:gd name="T38" fmla="*/ 25 w 25"/>
                <a:gd name="T39" fmla="*/ 22 h 26"/>
                <a:gd name="T40" fmla="*/ 4 w 25"/>
                <a:gd name="T41" fmla="*/ 12 h 26"/>
                <a:gd name="T42" fmla="*/ 4 w 25"/>
                <a:gd name="T43" fmla="*/ 5 h 26"/>
                <a:gd name="T44" fmla="*/ 9 w 25"/>
                <a:gd name="T45" fmla="*/ 5 h 26"/>
                <a:gd name="T46" fmla="*/ 12 w 25"/>
                <a:gd name="T47" fmla="*/ 12 h 26"/>
                <a:gd name="T48" fmla="*/ 4 w 25"/>
                <a:gd name="T49" fmla="*/ 12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 h="26">
                  <a:moveTo>
                    <a:pt x="25" y="22"/>
                  </a:moveTo>
                  <a:cubicBezTo>
                    <a:pt x="25" y="20"/>
                    <a:pt x="25" y="18"/>
                    <a:pt x="25" y="17"/>
                  </a:cubicBezTo>
                  <a:cubicBezTo>
                    <a:pt x="25" y="16"/>
                    <a:pt x="24" y="15"/>
                    <a:pt x="24" y="15"/>
                  </a:cubicBezTo>
                  <a:cubicBezTo>
                    <a:pt x="24" y="14"/>
                    <a:pt x="23" y="14"/>
                    <a:pt x="22" y="14"/>
                  </a:cubicBezTo>
                  <a:cubicBezTo>
                    <a:pt x="20" y="13"/>
                    <a:pt x="17" y="12"/>
                    <a:pt x="15" y="12"/>
                  </a:cubicBezTo>
                  <a:cubicBezTo>
                    <a:pt x="15" y="12"/>
                    <a:pt x="13" y="7"/>
                    <a:pt x="13" y="7"/>
                  </a:cubicBezTo>
                  <a:cubicBezTo>
                    <a:pt x="13" y="6"/>
                    <a:pt x="12" y="5"/>
                    <a:pt x="12" y="4"/>
                  </a:cubicBezTo>
                  <a:cubicBezTo>
                    <a:pt x="12" y="3"/>
                    <a:pt x="12" y="3"/>
                    <a:pt x="12" y="2"/>
                  </a:cubicBezTo>
                  <a:cubicBezTo>
                    <a:pt x="11" y="1"/>
                    <a:pt x="10" y="0"/>
                    <a:pt x="9" y="0"/>
                  </a:cubicBezTo>
                  <a:cubicBezTo>
                    <a:pt x="4" y="0"/>
                    <a:pt x="4" y="0"/>
                    <a:pt x="4" y="0"/>
                  </a:cubicBezTo>
                  <a:cubicBezTo>
                    <a:pt x="3" y="0"/>
                    <a:pt x="3" y="0"/>
                    <a:pt x="3" y="0"/>
                  </a:cubicBezTo>
                  <a:cubicBezTo>
                    <a:pt x="0" y="0"/>
                    <a:pt x="0" y="0"/>
                    <a:pt x="0" y="0"/>
                  </a:cubicBezTo>
                  <a:cubicBezTo>
                    <a:pt x="0" y="26"/>
                    <a:pt x="0" y="26"/>
                    <a:pt x="0" y="26"/>
                  </a:cubicBezTo>
                  <a:cubicBezTo>
                    <a:pt x="3" y="26"/>
                    <a:pt x="3" y="26"/>
                    <a:pt x="3" y="26"/>
                  </a:cubicBezTo>
                  <a:cubicBezTo>
                    <a:pt x="3" y="26"/>
                    <a:pt x="3" y="26"/>
                    <a:pt x="3" y="26"/>
                  </a:cubicBezTo>
                  <a:cubicBezTo>
                    <a:pt x="4" y="23"/>
                    <a:pt x="7" y="20"/>
                    <a:pt x="10" y="20"/>
                  </a:cubicBezTo>
                  <a:cubicBezTo>
                    <a:pt x="13" y="20"/>
                    <a:pt x="16" y="23"/>
                    <a:pt x="17" y="26"/>
                  </a:cubicBezTo>
                  <a:cubicBezTo>
                    <a:pt x="17" y="26"/>
                    <a:pt x="17" y="26"/>
                    <a:pt x="17" y="26"/>
                  </a:cubicBezTo>
                  <a:cubicBezTo>
                    <a:pt x="25" y="26"/>
                    <a:pt x="25" y="26"/>
                    <a:pt x="25" y="26"/>
                  </a:cubicBezTo>
                  <a:cubicBezTo>
                    <a:pt x="25" y="22"/>
                    <a:pt x="25" y="22"/>
                    <a:pt x="25" y="22"/>
                  </a:cubicBezTo>
                  <a:close/>
                  <a:moveTo>
                    <a:pt x="4" y="12"/>
                  </a:moveTo>
                  <a:cubicBezTo>
                    <a:pt x="4" y="5"/>
                    <a:pt x="4" y="5"/>
                    <a:pt x="4" y="5"/>
                  </a:cubicBezTo>
                  <a:cubicBezTo>
                    <a:pt x="9" y="5"/>
                    <a:pt x="9" y="5"/>
                    <a:pt x="9" y="5"/>
                  </a:cubicBezTo>
                  <a:cubicBezTo>
                    <a:pt x="12" y="12"/>
                    <a:pt x="12" y="12"/>
                    <a:pt x="12" y="12"/>
                  </a:cubicBezTo>
                  <a:lnTo>
                    <a:pt x="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7" name="Freeform 161">
              <a:extLst>
                <a:ext uri="{FF2B5EF4-FFF2-40B4-BE49-F238E27FC236}">
                  <a16:creationId xmlns:a16="http://schemas.microsoft.com/office/drawing/2014/main" id="{38D55D86-9AD6-44C6-8C8D-9813AB11F01F}"/>
                </a:ext>
              </a:extLst>
            </p:cNvPr>
            <p:cNvSpPr>
              <a:spLocks/>
            </p:cNvSpPr>
            <p:nvPr/>
          </p:nvSpPr>
          <p:spPr bwMode="auto">
            <a:xfrm>
              <a:off x="9439275" y="5026025"/>
              <a:ext cx="388938" cy="212725"/>
            </a:xfrm>
            <a:custGeom>
              <a:avLst/>
              <a:gdLst>
                <a:gd name="T0" fmla="*/ 0 w 57"/>
                <a:gd name="T1" fmla="*/ 0 h 31"/>
                <a:gd name="T2" fmla="*/ 0 w 57"/>
                <a:gd name="T3" fmla="*/ 31 h 31"/>
                <a:gd name="T4" fmla="*/ 3 w 57"/>
                <a:gd name="T5" fmla="*/ 31 h 31"/>
                <a:gd name="T6" fmla="*/ 3 w 57"/>
                <a:gd name="T7" fmla="*/ 31 h 31"/>
                <a:gd name="T8" fmla="*/ 9 w 57"/>
                <a:gd name="T9" fmla="*/ 25 h 31"/>
                <a:gd name="T10" fmla="*/ 15 w 57"/>
                <a:gd name="T11" fmla="*/ 29 h 31"/>
                <a:gd name="T12" fmla="*/ 21 w 57"/>
                <a:gd name="T13" fmla="*/ 25 h 31"/>
                <a:gd name="T14" fmla="*/ 28 w 57"/>
                <a:gd name="T15" fmla="*/ 31 h 31"/>
                <a:gd name="T16" fmla="*/ 28 w 57"/>
                <a:gd name="T17" fmla="*/ 31 h 31"/>
                <a:gd name="T18" fmla="*/ 42 w 57"/>
                <a:gd name="T19" fmla="*/ 31 h 31"/>
                <a:gd name="T20" fmla="*/ 42 w 57"/>
                <a:gd name="T21" fmla="*/ 31 h 31"/>
                <a:gd name="T22" fmla="*/ 48 w 57"/>
                <a:gd name="T23" fmla="*/ 25 h 31"/>
                <a:gd name="T24" fmla="*/ 55 w 57"/>
                <a:gd name="T25" fmla="*/ 31 h 31"/>
                <a:gd name="T26" fmla="*/ 55 w 57"/>
                <a:gd name="T27" fmla="*/ 31 h 31"/>
                <a:gd name="T28" fmla="*/ 57 w 57"/>
                <a:gd name="T29" fmla="*/ 31 h 31"/>
                <a:gd name="T30" fmla="*/ 57 w 57"/>
                <a:gd name="T31" fmla="*/ 3 h 31"/>
                <a:gd name="T32" fmla="*/ 57 w 57"/>
                <a:gd name="T33" fmla="*/ 0 h 31"/>
                <a:gd name="T34" fmla="*/ 57 w 57"/>
                <a:gd name="T35" fmla="*/ 0 h 31"/>
                <a:gd name="T36" fmla="*/ 0 w 57"/>
                <a:gd name="T3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31">
                  <a:moveTo>
                    <a:pt x="0" y="0"/>
                  </a:moveTo>
                  <a:cubicBezTo>
                    <a:pt x="0" y="31"/>
                    <a:pt x="0" y="31"/>
                    <a:pt x="0" y="31"/>
                  </a:cubicBezTo>
                  <a:cubicBezTo>
                    <a:pt x="3" y="31"/>
                    <a:pt x="3" y="31"/>
                    <a:pt x="3" y="31"/>
                  </a:cubicBezTo>
                  <a:cubicBezTo>
                    <a:pt x="3" y="31"/>
                    <a:pt x="3" y="31"/>
                    <a:pt x="3" y="31"/>
                  </a:cubicBezTo>
                  <a:cubicBezTo>
                    <a:pt x="3" y="28"/>
                    <a:pt x="6" y="25"/>
                    <a:pt x="9" y="25"/>
                  </a:cubicBezTo>
                  <a:cubicBezTo>
                    <a:pt x="12" y="25"/>
                    <a:pt x="14" y="27"/>
                    <a:pt x="15" y="29"/>
                  </a:cubicBezTo>
                  <a:cubicBezTo>
                    <a:pt x="16" y="27"/>
                    <a:pt x="19" y="25"/>
                    <a:pt x="21" y="25"/>
                  </a:cubicBezTo>
                  <a:cubicBezTo>
                    <a:pt x="24" y="25"/>
                    <a:pt x="27" y="28"/>
                    <a:pt x="28" y="31"/>
                  </a:cubicBezTo>
                  <a:cubicBezTo>
                    <a:pt x="28" y="31"/>
                    <a:pt x="28" y="31"/>
                    <a:pt x="28" y="31"/>
                  </a:cubicBezTo>
                  <a:cubicBezTo>
                    <a:pt x="42" y="31"/>
                    <a:pt x="42" y="31"/>
                    <a:pt x="42" y="31"/>
                  </a:cubicBezTo>
                  <a:cubicBezTo>
                    <a:pt x="42" y="31"/>
                    <a:pt x="42" y="31"/>
                    <a:pt x="42" y="31"/>
                  </a:cubicBezTo>
                  <a:cubicBezTo>
                    <a:pt x="42" y="28"/>
                    <a:pt x="45" y="25"/>
                    <a:pt x="48" y="25"/>
                  </a:cubicBezTo>
                  <a:cubicBezTo>
                    <a:pt x="51" y="25"/>
                    <a:pt x="54" y="28"/>
                    <a:pt x="55" y="31"/>
                  </a:cubicBezTo>
                  <a:cubicBezTo>
                    <a:pt x="55" y="31"/>
                    <a:pt x="55" y="31"/>
                    <a:pt x="55" y="31"/>
                  </a:cubicBezTo>
                  <a:cubicBezTo>
                    <a:pt x="57" y="31"/>
                    <a:pt x="57" y="31"/>
                    <a:pt x="57" y="31"/>
                  </a:cubicBezTo>
                  <a:cubicBezTo>
                    <a:pt x="57" y="3"/>
                    <a:pt x="57" y="3"/>
                    <a:pt x="57" y="3"/>
                  </a:cubicBezTo>
                  <a:cubicBezTo>
                    <a:pt x="57" y="0"/>
                    <a:pt x="57" y="0"/>
                    <a:pt x="57" y="0"/>
                  </a:cubicBezTo>
                  <a:cubicBezTo>
                    <a:pt x="57" y="0"/>
                    <a:pt x="57" y="0"/>
                    <a:pt x="57"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8" name="Freeform 162">
              <a:extLst>
                <a:ext uri="{FF2B5EF4-FFF2-40B4-BE49-F238E27FC236}">
                  <a16:creationId xmlns:a16="http://schemas.microsoft.com/office/drawing/2014/main" id="{AB9284C9-2394-43D1-A303-2D73FE884738}"/>
                </a:ext>
              </a:extLst>
            </p:cNvPr>
            <p:cNvSpPr>
              <a:spLocks/>
            </p:cNvSpPr>
            <p:nvPr/>
          </p:nvSpPr>
          <p:spPr bwMode="auto">
            <a:xfrm>
              <a:off x="9888538" y="5218113"/>
              <a:ext cx="55563" cy="53975"/>
            </a:xfrm>
            <a:custGeom>
              <a:avLst/>
              <a:gdLst>
                <a:gd name="T0" fmla="*/ 8 w 8"/>
                <a:gd name="T1" fmla="*/ 3 h 8"/>
                <a:gd name="T2" fmla="*/ 4 w 8"/>
                <a:gd name="T3" fmla="*/ 0 h 8"/>
                <a:gd name="T4" fmla="*/ 0 w 8"/>
                <a:gd name="T5" fmla="*/ 3 h 8"/>
                <a:gd name="T6" fmla="*/ 0 w 8"/>
                <a:gd name="T7" fmla="*/ 3 h 8"/>
                <a:gd name="T8" fmla="*/ 0 w 8"/>
                <a:gd name="T9" fmla="*/ 4 h 8"/>
                <a:gd name="T10" fmla="*/ 4 w 8"/>
                <a:gd name="T11" fmla="*/ 8 h 8"/>
                <a:gd name="T12" fmla="*/ 8 w 8"/>
                <a:gd name="T13" fmla="*/ 4 h 8"/>
                <a:gd name="T14" fmla="*/ 8 w 8"/>
                <a:gd name="T15" fmla="*/ 3 h 8"/>
                <a:gd name="T16" fmla="*/ 8 w 8"/>
                <a:gd name="T17"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3"/>
                  </a:moveTo>
                  <a:cubicBezTo>
                    <a:pt x="7" y="1"/>
                    <a:pt x="6" y="0"/>
                    <a:pt x="4" y="0"/>
                  </a:cubicBezTo>
                  <a:cubicBezTo>
                    <a:pt x="2" y="0"/>
                    <a:pt x="0" y="1"/>
                    <a:pt x="0" y="3"/>
                  </a:cubicBezTo>
                  <a:cubicBezTo>
                    <a:pt x="0" y="3"/>
                    <a:pt x="0" y="3"/>
                    <a:pt x="0" y="3"/>
                  </a:cubicBezTo>
                  <a:cubicBezTo>
                    <a:pt x="0" y="3"/>
                    <a:pt x="0" y="4"/>
                    <a:pt x="0" y="4"/>
                  </a:cubicBezTo>
                  <a:cubicBezTo>
                    <a:pt x="0" y="6"/>
                    <a:pt x="2" y="8"/>
                    <a:pt x="4" y="8"/>
                  </a:cubicBezTo>
                  <a:cubicBezTo>
                    <a:pt x="6" y="8"/>
                    <a:pt x="8" y="6"/>
                    <a:pt x="8" y="4"/>
                  </a:cubicBezTo>
                  <a:cubicBezTo>
                    <a:pt x="8" y="4"/>
                    <a:pt x="8" y="3"/>
                    <a:pt x="8" y="3"/>
                  </a:cubicBezTo>
                  <a:cubicBezTo>
                    <a:pt x="8" y="3"/>
                    <a:pt x="8"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9" name="Freeform 163">
              <a:extLst>
                <a:ext uri="{FF2B5EF4-FFF2-40B4-BE49-F238E27FC236}">
                  <a16:creationId xmlns:a16="http://schemas.microsoft.com/office/drawing/2014/main" id="{0CC8CA4D-0F0C-4813-9D7A-CBB3F83C507F}"/>
                </a:ext>
              </a:extLst>
            </p:cNvPr>
            <p:cNvSpPr>
              <a:spLocks/>
            </p:cNvSpPr>
            <p:nvPr/>
          </p:nvSpPr>
          <p:spPr bwMode="auto">
            <a:xfrm>
              <a:off x="9739313" y="5218113"/>
              <a:ext cx="53975" cy="53975"/>
            </a:xfrm>
            <a:custGeom>
              <a:avLst/>
              <a:gdLst>
                <a:gd name="T0" fmla="*/ 8 w 8"/>
                <a:gd name="T1" fmla="*/ 3 h 8"/>
                <a:gd name="T2" fmla="*/ 4 w 8"/>
                <a:gd name="T3" fmla="*/ 0 h 8"/>
                <a:gd name="T4" fmla="*/ 0 w 8"/>
                <a:gd name="T5" fmla="*/ 3 h 8"/>
                <a:gd name="T6" fmla="*/ 0 w 8"/>
                <a:gd name="T7" fmla="*/ 3 h 8"/>
                <a:gd name="T8" fmla="*/ 0 w 8"/>
                <a:gd name="T9" fmla="*/ 4 h 8"/>
                <a:gd name="T10" fmla="*/ 4 w 8"/>
                <a:gd name="T11" fmla="*/ 8 h 8"/>
                <a:gd name="T12" fmla="*/ 8 w 8"/>
                <a:gd name="T13" fmla="*/ 4 h 8"/>
                <a:gd name="T14" fmla="*/ 8 w 8"/>
                <a:gd name="T15" fmla="*/ 3 h 8"/>
                <a:gd name="T16" fmla="*/ 8 w 8"/>
                <a:gd name="T17"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3"/>
                  </a:moveTo>
                  <a:cubicBezTo>
                    <a:pt x="8" y="1"/>
                    <a:pt x="6" y="0"/>
                    <a:pt x="4" y="0"/>
                  </a:cubicBezTo>
                  <a:cubicBezTo>
                    <a:pt x="2" y="0"/>
                    <a:pt x="1" y="1"/>
                    <a:pt x="0" y="3"/>
                  </a:cubicBezTo>
                  <a:cubicBezTo>
                    <a:pt x="0" y="3"/>
                    <a:pt x="0" y="3"/>
                    <a:pt x="0" y="3"/>
                  </a:cubicBezTo>
                  <a:cubicBezTo>
                    <a:pt x="0" y="3"/>
                    <a:pt x="0" y="4"/>
                    <a:pt x="0" y="4"/>
                  </a:cubicBezTo>
                  <a:cubicBezTo>
                    <a:pt x="0" y="6"/>
                    <a:pt x="2" y="8"/>
                    <a:pt x="4" y="8"/>
                  </a:cubicBezTo>
                  <a:cubicBezTo>
                    <a:pt x="6" y="8"/>
                    <a:pt x="8" y="6"/>
                    <a:pt x="8" y="4"/>
                  </a:cubicBezTo>
                  <a:cubicBezTo>
                    <a:pt x="8" y="4"/>
                    <a:pt x="8" y="3"/>
                    <a:pt x="8" y="3"/>
                  </a:cubicBezTo>
                  <a:cubicBezTo>
                    <a:pt x="8" y="3"/>
                    <a:pt x="8"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0" name="Freeform 164">
              <a:extLst>
                <a:ext uri="{FF2B5EF4-FFF2-40B4-BE49-F238E27FC236}">
                  <a16:creationId xmlns:a16="http://schemas.microsoft.com/office/drawing/2014/main" id="{055FDB09-14EA-4A4F-9980-8D95B1D63928}"/>
                </a:ext>
              </a:extLst>
            </p:cNvPr>
            <p:cNvSpPr>
              <a:spLocks/>
            </p:cNvSpPr>
            <p:nvPr/>
          </p:nvSpPr>
          <p:spPr bwMode="auto">
            <a:xfrm>
              <a:off x="9472613" y="5218113"/>
              <a:ext cx="55563" cy="53975"/>
            </a:xfrm>
            <a:custGeom>
              <a:avLst/>
              <a:gdLst>
                <a:gd name="T0" fmla="*/ 8 w 8"/>
                <a:gd name="T1" fmla="*/ 3 h 8"/>
                <a:gd name="T2" fmla="*/ 4 w 8"/>
                <a:gd name="T3" fmla="*/ 0 h 8"/>
                <a:gd name="T4" fmla="*/ 0 w 8"/>
                <a:gd name="T5" fmla="*/ 3 h 8"/>
                <a:gd name="T6" fmla="*/ 0 w 8"/>
                <a:gd name="T7" fmla="*/ 3 h 8"/>
                <a:gd name="T8" fmla="*/ 0 w 8"/>
                <a:gd name="T9" fmla="*/ 4 h 8"/>
                <a:gd name="T10" fmla="*/ 4 w 8"/>
                <a:gd name="T11" fmla="*/ 8 h 8"/>
                <a:gd name="T12" fmla="*/ 8 w 8"/>
                <a:gd name="T13" fmla="*/ 4 h 8"/>
                <a:gd name="T14" fmla="*/ 8 w 8"/>
                <a:gd name="T15" fmla="*/ 3 h 8"/>
                <a:gd name="T16" fmla="*/ 8 w 8"/>
                <a:gd name="T17"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3"/>
                  </a:moveTo>
                  <a:cubicBezTo>
                    <a:pt x="8" y="1"/>
                    <a:pt x="6" y="0"/>
                    <a:pt x="4" y="0"/>
                  </a:cubicBezTo>
                  <a:cubicBezTo>
                    <a:pt x="2" y="0"/>
                    <a:pt x="1" y="1"/>
                    <a:pt x="0" y="3"/>
                  </a:cubicBezTo>
                  <a:cubicBezTo>
                    <a:pt x="0" y="3"/>
                    <a:pt x="0" y="3"/>
                    <a:pt x="0" y="3"/>
                  </a:cubicBezTo>
                  <a:cubicBezTo>
                    <a:pt x="0" y="3"/>
                    <a:pt x="0" y="4"/>
                    <a:pt x="0" y="4"/>
                  </a:cubicBezTo>
                  <a:cubicBezTo>
                    <a:pt x="0" y="6"/>
                    <a:pt x="2" y="8"/>
                    <a:pt x="4" y="8"/>
                  </a:cubicBezTo>
                  <a:cubicBezTo>
                    <a:pt x="6" y="8"/>
                    <a:pt x="8" y="6"/>
                    <a:pt x="8" y="4"/>
                  </a:cubicBezTo>
                  <a:cubicBezTo>
                    <a:pt x="8" y="4"/>
                    <a:pt x="8" y="3"/>
                    <a:pt x="8" y="3"/>
                  </a:cubicBezTo>
                  <a:cubicBezTo>
                    <a:pt x="8" y="3"/>
                    <a:pt x="8"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1" name="Freeform 165">
              <a:extLst>
                <a:ext uri="{FF2B5EF4-FFF2-40B4-BE49-F238E27FC236}">
                  <a16:creationId xmlns:a16="http://schemas.microsoft.com/office/drawing/2014/main" id="{4809F81D-4437-45F3-AE20-FCF57325A06F}"/>
                </a:ext>
              </a:extLst>
            </p:cNvPr>
            <p:cNvSpPr>
              <a:spLocks/>
            </p:cNvSpPr>
            <p:nvPr/>
          </p:nvSpPr>
          <p:spPr bwMode="auto">
            <a:xfrm>
              <a:off x="9555163" y="5218113"/>
              <a:ext cx="53975" cy="53975"/>
            </a:xfrm>
            <a:custGeom>
              <a:avLst/>
              <a:gdLst>
                <a:gd name="T0" fmla="*/ 8 w 8"/>
                <a:gd name="T1" fmla="*/ 3 h 8"/>
                <a:gd name="T2" fmla="*/ 4 w 8"/>
                <a:gd name="T3" fmla="*/ 0 h 8"/>
                <a:gd name="T4" fmla="*/ 0 w 8"/>
                <a:gd name="T5" fmla="*/ 3 h 8"/>
                <a:gd name="T6" fmla="*/ 0 w 8"/>
                <a:gd name="T7" fmla="*/ 3 h 8"/>
                <a:gd name="T8" fmla="*/ 0 w 8"/>
                <a:gd name="T9" fmla="*/ 4 h 8"/>
                <a:gd name="T10" fmla="*/ 4 w 8"/>
                <a:gd name="T11" fmla="*/ 8 h 8"/>
                <a:gd name="T12" fmla="*/ 8 w 8"/>
                <a:gd name="T13" fmla="*/ 4 h 8"/>
                <a:gd name="T14" fmla="*/ 8 w 8"/>
                <a:gd name="T15" fmla="*/ 3 h 8"/>
                <a:gd name="T16" fmla="*/ 8 w 8"/>
                <a:gd name="T17"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8">
                  <a:moveTo>
                    <a:pt x="8" y="3"/>
                  </a:moveTo>
                  <a:cubicBezTo>
                    <a:pt x="8" y="1"/>
                    <a:pt x="6" y="0"/>
                    <a:pt x="4" y="0"/>
                  </a:cubicBezTo>
                  <a:cubicBezTo>
                    <a:pt x="2" y="0"/>
                    <a:pt x="1" y="1"/>
                    <a:pt x="0" y="3"/>
                  </a:cubicBezTo>
                  <a:cubicBezTo>
                    <a:pt x="0" y="3"/>
                    <a:pt x="0" y="3"/>
                    <a:pt x="0" y="3"/>
                  </a:cubicBezTo>
                  <a:cubicBezTo>
                    <a:pt x="0" y="3"/>
                    <a:pt x="0" y="4"/>
                    <a:pt x="0" y="4"/>
                  </a:cubicBezTo>
                  <a:cubicBezTo>
                    <a:pt x="0" y="6"/>
                    <a:pt x="2" y="8"/>
                    <a:pt x="4" y="8"/>
                  </a:cubicBezTo>
                  <a:cubicBezTo>
                    <a:pt x="7" y="8"/>
                    <a:pt x="8" y="6"/>
                    <a:pt x="8" y="4"/>
                  </a:cubicBezTo>
                  <a:cubicBezTo>
                    <a:pt x="8" y="4"/>
                    <a:pt x="8" y="3"/>
                    <a:pt x="8" y="3"/>
                  </a:cubicBezTo>
                  <a:cubicBezTo>
                    <a:pt x="8" y="3"/>
                    <a:pt x="8" y="3"/>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62" name="Group 161">
            <a:extLst>
              <a:ext uri="{FF2B5EF4-FFF2-40B4-BE49-F238E27FC236}">
                <a16:creationId xmlns:a16="http://schemas.microsoft.com/office/drawing/2014/main" id="{78562452-CC21-4014-A49D-D41C246A2EB5}"/>
              </a:ext>
            </a:extLst>
          </p:cNvPr>
          <p:cNvGrpSpPr>
            <a:grpSpLocks noChangeAspect="1"/>
          </p:cNvGrpSpPr>
          <p:nvPr/>
        </p:nvGrpSpPr>
        <p:grpSpPr>
          <a:xfrm>
            <a:off x="681271" y="5658010"/>
            <a:ext cx="457200" cy="274320"/>
            <a:chOff x="1038225" y="5743575"/>
            <a:chExt cx="579438" cy="347663"/>
          </a:xfrm>
          <a:solidFill>
            <a:srgbClr val="595555"/>
          </a:solidFill>
        </p:grpSpPr>
        <p:sp>
          <p:nvSpPr>
            <p:cNvPr id="163" name="Freeform 166">
              <a:extLst>
                <a:ext uri="{FF2B5EF4-FFF2-40B4-BE49-F238E27FC236}">
                  <a16:creationId xmlns:a16="http://schemas.microsoft.com/office/drawing/2014/main" id="{0CFE9D67-727D-45BB-9716-5D26A0D14A42}"/>
                </a:ext>
              </a:extLst>
            </p:cNvPr>
            <p:cNvSpPr>
              <a:spLocks/>
            </p:cNvSpPr>
            <p:nvPr/>
          </p:nvSpPr>
          <p:spPr bwMode="auto">
            <a:xfrm>
              <a:off x="1038225" y="5743575"/>
              <a:ext cx="579438" cy="107950"/>
            </a:xfrm>
            <a:custGeom>
              <a:avLst/>
              <a:gdLst>
                <a:gd name="T0" fmla="*/ 344 w 365"/>
                <a:gd name="T1" fmla="*/ 0 h 68"/>
                <a:gd name="T2" fmla="*/ 344 w 365"/>
                <a:gd name="T3" fmla="*/ 25 h 68"/>
                <a:gd name="T4" fmla="*/ 22 w 365"/>
                <a:gd name="T5" fmla="*/ 25 h 68"/>
                <a:gd name="T6" fmla="*/ 22 w 365"/>
                <a:gd name="T7" fmla="*/ 0 h 68"/>
                <a:gd name="T8" fmla="*/ 0 w 365"/>
                <a:gd name="T9" fmla="*/ 0 h 68"/>
                <a:gd name="T10" fmla="*/ 0 w 365"/>
                <a:gd name="T11" fmla="*/ 68 h 68"/>
                <a:gd name="T12" fmla="*/ 22 w 365"/>
                <a:gd name="T13" fmla="*/ 68 h 68"/>
                <a:gd name="T14" fmla="*/ 22 w 365"/>
                <a:gd name="T15" fmla="*/ 47 h 68"/>
                <a:gd name="T16" fmla="*/ 344 w 365"/>
                <a:gd name="T17" fmla="*/ 47 h 68"/>
                <a:gd name="T18" fmla="*/ 344 w 365"/>
                <a:gd name="T19" fmla="*/ 68 h 68"/>
                <a:gd name="T20" fmla="*/ 365 w 365"/>
                <a:gd name="T21" fmla="*/ 68 h 68"/>
                <a:gd name="T22" fmla="*/ 365 w 365"/>
                <a:gd name="T23" fmla="*/ 0 h 68"/>
                <a:gd name="T24" fmla="*/ 344 w 365"/>
                <a:gd name="T25" fmla="*/ 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5" h="68">
                  <a:moveTo>
                    <a:pt x="344" y="0"/>
                  </a:moveTo>
                  <a:lnTo>
                    <a:pt x="344" y="25"/>
                  </a:lnTo>
                  <a:lnTo>
                    <a:pt x="22" y="25"/>
                  </a:lnTo>
                  <a:lnTo>
                    <a:pt x="22" y="0"/>
                  </a:lnTo>
                  <a:lnTo>
                    <a:pt x="0" y="0"/>
                  </a:lnTo>
                  <a:lnTo>
                    <a:pt x="0" y="68"/>
                  </a:lnTo>
                  <a:lnTo>
                    <a:pt x="22" y="68"/>
                  </a:lnTo>
                  <a:lnTo>
                    <a:pt x="22" y="47"/>
                  </a:lnTo>
                  <a:lnTo>
                    <a:pt x="344" y="47"/>
                  </a:lnTo>
                  <a:lnTo>
                    <a:pt x="344" y="68"/>
                  </a:lnTo>
                  <a:lnTo>
                    <a:pt x="365" y="68"/>
                  </a:lnTo>
                  <a:lnTo>
                    <a:pt x="365" y="0"/>
                  </a:lnTo>
                  <a:lnTo>
                    <a:pt x="34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4" name="Freeform 167">
              <a:extLst>
                <a:ext uri="{FF2B5EF4-FFF2-40B4-BE49-F238E27FC236}">
                  <a16:creationId xmlns:a16="http://schemas.microsoft.com/office/drawing/2014/main" id="{38075BFC-DD4A-47FE-9348-9D67134658FB}"/>
                </a:ext>
              </a:extLst>
            </p:cNvPr>
            <p:cNvSpPr>
              <a:spLocks noEditPoints="1"/>
            </p:cNvSpPr>
            <p:nvPr/>
          </p:nvSpPr>
          <p:spPr bwMode="auto">
            <a:xfrm>
              <a:off x="1038225" y="5892800"/>
              <a:ext cx="579438" cy="198438"/>
            </a:xfrm>
            <a:custGeom>
              <a:avLst/>
              <a:gdLst>
                <a:gd name="T0" fmla="*/ 0 w 365"/>
                <a:gd name="T1" fmla="*/ 125 h 125"/>
                <a:gd name="T2" fmla="*/ 365 w 365"/>
                <a:gd name="T3" fmla="*/ 125 h 125"/>
                <a:gd name="T4" fmla="*/ 365 w 365"/>
                <a:gd name="T5" fmla="*/ 0 h 125"/>
                <a:gd name="T6" fmla="*/ 0 w 365"/>
                <a:gd name="T7" fmla="*/ 0 h 125"/>
                <a:gd name="T8" fmla="*/ 0 w 365"/>
                <a:gd name="T9" fmla="*/ 125 h 125"/>
                <a:gd name="T10" fmla="*/ 309 w 365"/>
                <a:gd name="T11" fmla="*/ 9 h 125"/>
                <a:gd name="T12" fmla="*/ 331 w 365"/>
                <a:gd name="T13" fmla="*/ 9 h 125"/>
                <a:gd name="T14" fmla="*/ 331 w 365"/>
                <a:gd name="T15" fmla="*/ 77 h 125"/>
                <a:gd name="T16" fmla="*/ 309 w 365"/>
                <a:gd name="T17" fmla="*/ 77 h 125"/>
                <a:gd name="T18" fmla="*/ 309 w 365"/>
                <a:gd name="T19" fmla="*/ 9 h 125"/>
                <a:gd name="T20" fmla="*/ 271 w 365"/>
                <a:gd name="T21" fmla="*/ 9 h 125"/>
                <a:gd name="T22" fmla="*/ 279 w 365"/>
                <a:gd name="T23" fmla="*/ 9 h 125"/>
                <a:gd name="T24" fmla="*/ 279 w 365"/>
                <a:gd name="T25" fmla="*/ 69 h 125"/>
                <a:gd name="T26" fmla="*/ 271 w 365"/>
                <a:gd name="T27" fmla="*/ 69 h 125"/>
                <a:gd name="T28" fmla="*/ 271 w 365"/>
                <a:gd name="T29" fmla="*/ 9 h 125"/>
                <a:gd name="T30" fmla="*/ 219 w 365"/>
                <a:gd name="T31" fmla="*/ 9 h 125"/>
                <a:gd name="T32" fmla="*/ 241 w 365"/>
                <a:gd name="T33" fmla="*/ 9 h 125"/>
                <a:gd name="T34" fmla="*/ 241 w 365"/>
                <a:gd name="T35" fmla="*/ 77 h 125"/>
                <a:gd name="T36" fmla="*/ 219 w 365"/>
                <a:gd name="T37" fmla="*/ 77 h 125"/>
                <a:gd name="T38" fmla="*/ 219 w 365"/>
                <a:gd name="T39" fmla="*/ 9 h 125"/>
                <a:gd name="T40" fmla="*/ 176 w 365"/>
                <a:gd name="T41" fmla="*/ 9 h 125"/>
                <a:gd name="T42" fmla="*/ 189 w 365"/>
                <a:gd name="T43" fmla="*/ 9 h 125"/>
                <a:gd name="T44" fmla="*/ 189 w 365"/>
                <a:gd name="T45" fmla="*/ 69 h 125"/>
                <a:gd name="T46" fmla="*/ 176 w 365"/>
                <a:gd name="T47" fmla="*/ 69 h 125"/>
                <a:gd name="T48" fmla="*/ 176 w 365"/>
                <a:gd name="T49" fmla="*/ 9 h 125"/>
                <a:gd name="T50" fmla="*/ 125 w 365"/>
                <a:gd name="T51" fmla="*/ 9 h 125"/>
                <a:gd name="T52" fmla="*/ 150 w 365"/>
                <a:gd name="T53" fmla="*/ 9 h 125"/>
                <a:gd name="T54" fmla="*/ 150 w 365"/>
                <a:gd name="T55" fmla="*/ 77 h 125"/>
                <a:gd name="T56" fmla="*/ 125 w 365"/>
                <a:gd name="T57" fmla="*/ 77 h 125"/>
                <a:gd name="T58" fmla="*/ 125 w 365"/>
                <a:gd name="T59" fmla="*/ 9 h 125"/>
                <a:gd name="T60" fmla="*/ 86 w 365"/>
                <a:gd name="T61" fmla="*/ 9 h 125"/>
                <a:gd name="T62" fmla="*/ 99 w 365"/>
                <a:gd name="T63" fmla="*/ 9 h 125"/>
                <a:gd name="T64" fmla="*/ 99 w 365"/>
                <a:gd name="T65" fmla="*/ 69 h 125"/>
                <a:gd name="T66" fmla="*/ 86 w 365"/>
                <a:gd name="T67" fmla="*/ 69 h 125"/>
                <a:gd name="T68" fmla="*/ 86 w 365"/>
                <a:gd name="T69" fmla="*/ 9 h 125"/>
                <a:gd name="T70" fmla="*/ 34 w 365"/>
                <a:gd name="T71" fmla="*/ 9 h 125"/>
                <a:gd name="T72" fmla="*/ 56 w 365"/>
                <a:gd name="T73" fmla="*/ 9 h 125"/>
                <a:gd name="T74" fmla="*/ 56 w 365"/>
                <a:gd name="T75" fmla="*/ 77 h 125"/>
                <a:gd name="T76" fmla="*/ 34 w 365"/>
                <a:gd name="T77" fmla="*/ 77 h 125"/>
                <a:gd name="T78" fmla="*/ 34 w 365"/>
                <a:gd name="T79" fmla="*/ 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65" h="125">
                  <a:moveTo>
                    <a:pt x="0" y="125"/>
                  </a:moveTo>
                  <a:lnTo>
                    <a:pt x="365" y="125"/>
                  </a:lnTo>
                  <a:lnTo>
                    <a:pt x="365" y="0"/>
                  </a:lnTo>
                  <a:lnTo>
                    <a:pt x="0" y="0"/>
                  </a:lnTo>
                  <a:lnTo>
                    <a:pt x="0" y="125"/>
                  </a:lnTo>
                  <a:close/>
                  <a:moveTo>
                    <a:pt x="309" y="9"/>
                  </a:moveTo>
                  <a:lnTo>
                    <a:pt x="331" y="9"/>
                  </a:lnTo>
                  <a:lnTo>
                    <a:pt x="331" y="77"/>
                  </a:lnTo>
                  <a:lnTo>
                    <a:pt x="309" y="77"/>
                  </a:lnTo>
                  <a:lnTo>
                    <a:pt x="309" y="9"/>
                  </a:lnTo>
                  <a:close/>
                  <a:moveTo>
                    <a:pt x="271" y="9"/>
                  </a:moveTo>
                  <a:lnTo>
                    <a:pt x="279" y="9"/>
                  </a:lnTo>
                  <a:lnTo>
                    <a:pt x="279" y="69"/>
                  </a:lnTo>
                  <a:lnTo>
                    <a:pt x="271" y="69"/>
                  </a:lnTo>
                  <a:lnTo>
                    <a:pt x="271" y="9"/>
                  </a:lnTo>
                  <a:close/>
                  <a:moveTo>
                    <a:pt x="219" y="9"/>
                  </a:moveTo>
                  <a:lnTo>
                    <a:pt x="241" y="9"/>
                  </a:lnTo>
                  <a:lnTo>
                    <a:pt x="241" y="77"/>
                  </a:lnTo>
                  <a:lnTo>
                    <a:pt x="219" y="77"/>
                  </a:lnTo>
                  <a:lnTo>
                    <a:pt x="219" y="9"/>
                  </a:lnTo>
                  <a:close/>
                  <a:moveTo>
                    <a:pt x="176" y="9"/>
                  </a:moveTo>
                  <a:lnTo>
                    <a:pt x="189" y="9"/>
                  </a:lnTo>
                  <a:lnTo>
                    <a:pt x="189" y="69"/>
                  </a:lnTo>
                  <a:lnTo>
                    <a:pt x="176" y="69"/>
                  </a:lnTo>
                  <a:lnTo>
                    <a:pt x="176" y="9"/>
                  </a:lnTo>
                  <a:close/>
                  <a:moveTo>
                    <a:pt x="125" y="9"/>
                  </a:moveTo>
                  <a:lnTo>
                    <a:pt x="150" y="9"/>
                  </a:lnTo>
                  <a:lnTo>
                    <a:pt x="150" y="77"/>
                  </a:lnTo>
                  <a:lnTo>
                    <a:pt x="125" y="77"/>
                  </a:lnTo>
                  <a:lnTo>
                    <a:pt x="125" y="9"/>
                  </a:lnTo>
                  <a:close/>
                  <a:moveTo>
                    <a:pt x="86" y="9"/>
                  </a:moveTo>
                  <a:lnTo>
                    <a:pt x="99" y="9"/>
                  </a:lnTo>
                  <a:lnTo>
                    <a:pt x="99" y="69"/>
                  </a:lnTo>
                  <a:lnTo>
                    <a:pt x="86" y="69"/>
                  </a:lnTo>
                  <a:lnTo>
                    <a:pt x="86" y="9"/>
                  </a:lnTo>
                  <a:close/>
                  <a:moveTo>
                    <a:pt x="34" y="9"/>
                  </a:moveTo>
                  <a:lnTo>
                    <a:pt x="56" y="9"/>
                  </a:lnTo>
                  <a:lnTo>
                    <a:pt x="56" y="77"/>
                  </a:lnTo>
                  <a:lnTo>
                    <a:pt x="34" y="77"/>
                  </a:lnTo>
                  <a:lnTo>
                    <a:pt x="34"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165" name="Group 164">
            <a:extLst>
              <a:ext uri="{FF2B5EF4-FFF2-40B4-BE49-F238E27FC236}">
                <a16:creationId xmlns:a16="http://schemas.microsoft.com/office/drawing/2014/main" id="{163F39A0-FF2F-4D2A-BE4E-86287C059769}"/>
              </a:ext>
            </a:extLst>
          </p:cNvPr>
          <p:cNvGrpSpPr>
            <a:grpSpLocks noChangeAspect="1"/>
          </p:cNvGrpSpPr>
          <p:nvPr/>
        </p:nvGrpSpPr>
        <p:grpSpPr>
          <a:xfrm>
            <a:off x="9897709" y="4644605"/>
            <a:ext cx="324036" cy="274320"/>
            <a:chOff x="8675688" y="4903788"/>
            <a:chExt cx="579438" cy="490538"/>
          </a:xfrm>
          <a:solidFill>
            <a:srgbClr val="595555"/>
          </a:solidFill>
        </p:grpSpPr>
        <p:sp>
          <p:nvSpPr>
            <p:cNvPr id="166" name="Freeform 168">
              <a:extLst>
                <a:ext uri="{FF2B5EF4-FFF2-40B4-BE49-F238E27FC236}">
                  <a16:creationId xmlns:a16="http://schemas.microsoft.com/office/drawing/2014/main" id="{6AF80D57-200C-4F1B-A9EF-7382C20E129D}"/>
                </a:ext>
              </a:extLst>
            </p:cNvPr>
            <p:cNvSpPr>
              <a:spLocks/>
            </p:cNvSpPr>
            <p:nvPr/>
          </p:nvSpPr>
          <p:spPr bwMode="auto">
            <a:xfrm>
              <a:off x="8832850" y="5129213"/>
              <a:ext cx="122238" cy="265113"/>
            </a:xfrm>
            <a:custGeom>
              <a:avLst/>
              <a:gdLst>
                <a:gd name="T0" fmla="*/ 4 w 18"/>
                <a:gd name="T1" fmla="*/ 0 h 39"/>
                <a:gd name="T2" fmla="*/ 4 w 18"/>
                <a:gd name="T3" fmla="*/ 0 h 39"/>
                <a:gd name="T4" fmla="*/ 0 w 18"/>
                <a:gd name="T5" fmla="*/ 39 h 39"/>
                <a:gd name="T6" fmla="*/ 18 w 18"/>
                <a:gd name="T7" fmla="*/ 30 h 39"/>
                <a:gd name="T8" fmla="*/ 18 w 18"/>
                <a:gd name="T9" fmla="*/ 22 h 39"/>
                <a:gd name="T10" fmla="*/ 18 w 18"/>
                <a:gd name="T11" fmla="*/ 22 h 39"/>
                <a:gd name="T12" fmla="*/ 4 w 18"/>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8" h="39">
                  <a:moveTo>
                    <a:pt x="4" y="0"/>
                  </a:moveTo>
                  <a:cubicBezTo>
                    <a:pt x="4" y="0"/>
                    <a:pt x="4" y="0"/>
                    <a:pt x="4" y="0"/>
                  </a:cubicBezTo>
                  <a:cubicBezTo>
                    <a:pt x="0" y="39"/>
                    <a:pt x="0" y="39"/>
                    <a:pt x="0" y="39"/>
                  </a:cubicBezTo>
                  <a:cubicBezTo>
                    <a:pt x="18" y="30"/>
                    <a:pt x="18" y="30"/>
                    <a:pt x="18" y="30"/>
                  </a:cubicBezTo>
                  <a:cubicBezTo>
                    <a:pt x="18" y="22"/>
                    <a:pt x="18" y="22"/>
                    <a:pt x="18" y="22"/>
                  </a:cubicBezTo>
                  <a:cubicBezTo>
                    <a:pt x="18" y="22"/>
                    <a:pt x="18" y="22"/>
                    <a:pt x="18" y="22"/>
                  </a:cubicBezTo>
                  <a:cubicBezTo>
                    <a:pt x="18" y="22"/>
                    <a:pt x="10" y="11"/>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7" name="Freeform 169">
              <a:extLst>
                <a:ext uri="{FF2B5EF4-FFF2-40B4-BE49-F238E27FC236}">
                  <a16:creationId xmlns:a16="http://schemas.microsoft.com/office/drawing/2014/main" id="{A14FCF1E-AA3B-4905-99AB-49D39F722ACB}"/>
                </a:ext>
              </a:extLst>
            </p:cNvPr>
            <p:cNvSpPr>
              <a:spLocks/>
            </p:cNvSpPr>
            <p:nvPr/>
          </p:nvSpPr>
          <p:spPr bwMode="auto">
            <a:xfrm>
              <a:off x="8675688" y="5033963"/>
              <a:ext cx="149225" cy="347663"/>
            </a:xfrm>
            <a:custGeom>
              <a:avLst/>
              <a:gdLst>
                <a:gd name="T0" fmla="*/ 47 w 94"/>
                <a:gd name="T1" fmla="*/ 0 h 219"/>
                <a:gd name="T2" fmla="*/ 0 w 94"/>
                <a:gd name="T3" fmla="*/ 172 h 219"/>
                <a:gd name="T4" fmla="*/ 77 w 94"/>
                <a:gd name="T5" fmla="*/ 219 h 219"/>
                <a:gd name="T6" fmla="*/ 94 w 94"/>
                <a:gd name="T7" fmla="*/ 38 h 219"/>
                <a:gd name="T8" fmla="*/ 47 w 94"/>
                <a:gd name="T9" fmla="*/ 0 h 219"/>
              </a:gdLst>
              <a:ahLst/>
              <a:cxnLst>
                <a:cxn ang="0">
                  <a:pos x="T0" y="T1"/>
                </a:cxn>
                <a:cxn ang="0">
                  <a:pos x="T2" y="T3"/>
                </a:cxn>
                <a:cxn ang="0">
                  <a:pos x="T4" y="T5"/>
                </a:cxn>
                <a:cxn ang="0">
                  <a:pos x="T6" y="T7"/>
                </a:cxn>
                <a:cxn ang="0">
                  <a:pos x="T8" y="T9"/>
                </a:cxn>
              </a:cxnLst>
              <a:rect l="0" t="0" r="r" b="b"/>
              <a:pathLst>
                <a:path w="94" h="219">
                  <a:moveTo>
                    <a:pt x="47" y="0"/>
                  </a:moveTo>
                  <a:lnTo>
                    <a:pt x="0" y="172"/>
                  </a:lnTo>
                  <a:lnTo>
                    <a:pt x="77" y="219"/>
                  </a:lnTo>
                  <a:lnTo>
                    <a:pt x="94" y="38"/>
                  </a:lnTo>
                  <a:lnTo>
                    <a:pt x="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8" name="Freeform 170">
              <a:extLst>
                <a:ext uri="{FF2B5EF4-FFF2-40B4-BE49-F238E27FC236}">
                  <a16:creationId xmlns:a16="http://schemas.microsoft.com/office/drawing/2014/main" id="{7023F5C7-1D7F-4920-AAD6-89507CF023EE}"/>
                </a:ext>
              </a:extLst>
            </p:cNvPr>
            <p:cNvSpPr>
              <a:spLocks/>
            </p:cNvSpPr>
            <p:nvPr/>
          </p:nvSpPr>
          <p:spPr bwMode="auto">
            <a:xfrm>
              <a:off x="8975725" y="5129213"/>
              <a:ext cx="128588" cy="265113"/>
            </a:xfrm>
            <a:custGeom>
              <a:avLst/>
              <a:gdLst>
                <a:gd name="T0" fmla="*/ 14 w 19"/>
                <a:gd name="T1" fmla="*/ 0 h 39"/>
                <a:gd name="T2" fmla="*/ 0 w 19"/>
                <a:gd name="T3" fmla="*/ 22 h 39"/>
                <a:gd name="T4" fmla="*/ 0 w 19"/>
                <a:gd name="T5" fmla="*/ 22 h 39"/>
                <a:gd name="T6" fmla="*/ 0 w 19"/>
                <a:gd name="T7" fmla="*/ 30 h 39"/>
                <a:gd name="T8" fmla="*/ 19 w 19"/>
                <a:gd name="T9" fmla="*/ 39 h 39"/>
                <a:gd name="T10" fmla="*/ 15 w 19"/>
                <a:gd name="T11" fmla="*/ 0 h 39"/>
                <a:gd name="T12" fmla="*/ 14 w 19"/>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4" y="0"/>
                  </a:moveTo>
                  <a:cubicBezTo>
                    <a:pt x="8" y="11"/>
                    <a:pt x="0" y="22"/>
                    <a:pt x="0" y="22"/>
                  </a:cubicBezTo>
                  <a:cubicBezTo>
                    <a:pt x="0" y="22"/>
                    <a:pt x="0" y="22"/>
                    <a:pt x="0" y="22"/>
                  </a:cubicBezTo>
                  <a:cubicBezTo>
                    <a:pt x="0" y="30"/>
                    <a:pt x="0" y="30"/>
                    <a:pt x="0" y="30"/>
                  </a:cubicBezTo>
                  <a:cubicBezTo>
                    <a:pt x="19" y="39"/>
                    <a:pt x="19" y="39"/>
                    <a:pt x="19" y="39"/>
                  </a:cubicBezTo>
                  <a:cubicBezTo>
                    <a:pt x="15" y="0"/>
                    <a:pt x="15" y="0"/>
                    <a:pt x="15" y="0"/>
                  </a:cubicBez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9" name="Freeform 171">
              <a:extLst>
                <a:ext uri="{FF2B5EF4-FFF2-40B4-BE49-F238E27FC236}">
                  <a16:creationId xmlns:a16="http://schemas.microsoft.com/office/drawing/2014/main" id="{540ACD8B-8AD8-436E-8339-C19CDDE3673B}"/>
                </a:ext>
              </a:extLst>
            </p:cNvPr>
            <p:cNvSpPr>
              <a:spLocks noEditPoints="1"/>
            </p:cNvSpPr>
            <p:nvPr/>
          </p:nvSpPr>
          <p:spPr bwMode="auto">
            <a:xfrm>
              <a:off x="8851900" y="4903788"/>
              <a:ext cx="225425" cy="327025"/>
            </a:xfrm>
            <a:custGeom>
              <a:avLst/>
              <a:gdLst>
                <a:gd name="T0" fmla="*/ 29 w 33"/>
                <a:gd name="T1" fmla="*/ 30 h 48"/>
                <a:gd name="T2" fmla="*/ 33 w 33"/>
                <a:gd name="T3" fmla="*/ 17 h 48"/>
                <a:gd name="T4" fmla="*/ 17 w 33"/>
                <a:gd name="T5" fmla="*/ 0 h 48"/>
                <a:gd name="T6" fmla="*/ 0 w 33"/>
                <a:gd name="T7" fmla="*/ 17 h 48"/>
                <a:gd name="T8" fmla="*/ 4 w 33"/>
                <a:gd name="T9" fmla="*/ 30 h 48"/>
                <a:gd name="T10" fmla="*/ 15 w 33"/>
                <a:gd name="T11" fmla="*/ 47 h 48"/>
                <a:gd name="T12" fmla="*/ 15 w 33"/>
                <a:gd name="T13" fmla="*/ 48 h 48"/>
                <a:gd name="T14" fmla="*/ 18 w 33"/>
                <a:gd name="T15" fmla="*/ 48 h 48"/>
                <a:gd name="T16" fmla="*/ 18 w 33"/>
                <a:gd name="T17" fmla="*/ 47 h 48"/>
                <a:gd name="T18" fmla="*/ 29 w 33"/>
                <a:gd name="T19" fmla="*/ 30 h 48"/>
                <a:gd name="T20" fmla="*/ 17 w 33"/>
                <a:gd name="T21" fmla="*/ 23 h 48"/>
                <a:gd name="T22" fmla="*/ 11 w 33"/>
                <a:gd name="T23" fmla="*/ 17 h 48"/>
                <a:gd name="T24" fmla="*/ 17 w 33"/>
                <a:gd name="T25" fmla="*/ 11 h 48"/>
                <a:gd name="T26" fmla="*/ 23 w 33"/>
                <a:gd name="T27" fmla="*/ 17 h 48"/>
                <a:gd name="T28" fmla="*/ 17 w 33"/>
                <a:gd name="T29" fmla="*/ 2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 h="48">
                  <a:moveTo>
                    <a:pt x="29" y="30"/>
                  </a:moveTo>
                  <a:cubicBezTo>
                    <a:pt x="32" y="25"/>
                    <a:pt x="33" y="20"/>
                    <a:pt x="33" y="17"/>
                  </a:cubicBezTo>
                  <a:cubicBezTo>
                    <a:pt x="33" y="8"/>
                    <a:pt x="26" y="0"/>
                    <a:pt x="17" y="0"/>
                  </a:cubicBezTo>
                  <a:cubicBezTo>
                    <a:pt x="7" y="0"/>
                    <a:pt x="0" y="8"/>
                    <a:pt x="0" y="17"/>
                  </a:cubicBezTo>
                  <a:cubicBezTo>
                    <a:pt x="0" y="20"/>
                    <a:pt x="2" y="25"/>
                    <a:pt x="4" y="30"/>
                  </a:cubicBezTo>
                  <a:cubicBezTo>
                    <a:pt x="8" y="38"/>
                    <a:pt x="14" y="46"/>
                    <a:pt x="15" y="47"/>
                  </a:cubicBezTo>
                  <a:cubicBezTo>
                    <a:pt x="15" y="47"/>
                    <a:pt x="15" y="48"/>
                    <a:pt x="15" y="48"/>
                  </a:cubicBezTo>
                  <a:cubicBezTo>
                    <a:pt x="16" y="48"/>
                    <a:pt x="17" y="48"/>
                    <a:pt x="18" y="48"/>
                  </a:cubicBezTo>
                  <a:cubicBezTo>
                    <a:pt x="18" y="48"/>
                    <a:pt x="18" y="47"/>
                    <a:pt x="18" y="47"/>
                  </a:cubicBezTo>
                  <a:cubicBezTo>
                    <a:pt x="19" y="46"/>
                    <a:pt x="25" y="38"/>
                    <a:pt x="29" y="30"/>
                  </a:cubicBezTo>
                  <a:close/>
                  <a:moveTo>
                    <a:pt x="17" y="23"/>
                  </a:moveTo>
                  <a:cubicBezTo>
                    <a:pt x="13" y="23"/>
                    <a:pt x="11" y="20"/>
                    <a:pt x="11" y="17"/>
                  </a:cubicBezTo>
                  <a:cubicBezTo>
                    <a:pt x="11" y="13"/>
                    <a:pt x="13" y="11"/>
                    <a:pt x="17" y="11"/>
                  </a:cubicBezTo>
                  <a:cubicBezTo>
                    <a:pt x="20" y="11"/>
                    <a:pt x="23" y="13"/>
                    <a:pt x="23" y="17"/>
                  </a:cubicBezTo>
                  <a:cubicBezTo>
                    <a:pt x="23" y="20"/>
                    <a:pt x="20" y="23"/>
                    <a:pt x="1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0" name="Freeform 172">
              <a:extLst>
                <a:ext uri="{FF2B5EF4-FFF2-40B4-BE49-F238E27FC236}">
                  <a16:creationId xmlns:a16="http://schemas.microsoft.com/office/drawing/2014/main" id="{1DD90382-22C2-4F88-A2E1-45A55D2CE751}"/>
                </a:ext>
              </a:extLst>
            </p:cNvPr>
            <p:cNvSpPr>
              <a:spLocks/>
            </p:cNvSpPr>
            <p:nvPr/>
          </p:nvSpPr>
          <p:spPr bwMode="auto">
            <a:xfrm>
              <a:off x="9104313" y="5033963"/>
              <a:ext cx="150813" cy="347663"/>
            </a:xfrm>
            <a:custGeom>
              <a:avLst/>
              <a:gdLst>
                <a:gd name="T0" fmla="*/ 48 w 95"/>
                <a:gd name="T1" fmla="*/ 0 h 219"/>
                <a:gd name="T2" fmla="*/ 95 w 95"/>
                <a:gd name="T3" fmla="*/ 172 h 219"/>
                <a:gd name="T4" fmla="*/ 13 w 95"/>
                <a:gd name="T5" fmla="*/ 219 h 219"/>
                <a:gd name="T6" fmla="*/ 0 w 95"/>
                <a:gd name="T7" fmla="*/ 38 h 219"/>
                <a:gd name="T8" fmla="*/ 48 w 95"/>
                <a:gd name="T9" fmla="*/ 0 h 219"/>
              </a:gdLst>
              <a:ahLst/>
              <a:cxnLst>
                <a:cxn ang="0">
                  <a:pos x="T0" y="T1"/>
                </a:cxn>
                <a:cxn ang="0">
                  <a:pos x="T2" y="T3"/>
                </a:cxn>
                <a:cxn ang="0">
                  <a:pos x="T4" y="T5"/>
                </a:cxn>
                <a:cxn ang="0">
                  <a:pos x="T6" y="T7"/>
                </a:cxn>
                <a:cxn ang="0">
                  <a:pos x="T8" y="T9"/>
                </a:cxn>
              </a:cxnLst>
              <a:rect l="0" t="0" r="r" b="b"/>
              <a:pathLst>
                <a:path w="95" h="219">
                  <a:moveTo>
                    <a:pt x="48" y="0"/>
                  </a:moveTo>
                  <a:lnTo>
                    <a:pt x="95" y="172"/>
                  </a:lnTo>
                  <a:lnTo>
                    <a:pt x="13" y="219"/>
                  </a:lnTo>
                  <a:lnTo>
                    <a:pt x="0" y="38"/>
                  </a:lnTo>
                  <a:lnTo>
                    <a:pt x="4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41190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5839A-5F6C-DA8E-9FCD-A62040EF831B}"/>
              </a:ext>
            </a:extLst>
          </p:cNvPr>
          <p:cNvSpPr>
            <a:spLocks noGrp="1"/>
          </p:cNvSpPr>
          <p:nvPr>
            <p:ph type="title"/>
          </p:nvPr>
        </p:nvSpPr>
        <p:spPr/>
        <p:txBody>
          <a:bodyPr/>
          <a:lstStyle/>
          <a:p>
            <a:r>
              <a:rPr lang="en-US" dirty="0"/>
              <a:t>HARVEY BALL ICONS</a:t>
            </a:r>
          </a:p>
        </p:txBody>
      </p:sp>
      <p:pic>
        <p:nvPicPr>
          <p:cNvPr id="3" name="Graphic 2" descr="Harvey Balls 10% with solid fill">
            <a:extLst>
              <a:ext uri="{FF2B5EF4-FFF2-40B4-BE49-F238E27FC236}">
                <a16:creationId xmlns:a16="http://schemas.microsoft.com/office/drawing/2014/main" id="{69551C68-049F-3A82-EEDD-F197166C815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0218" y="1491062"/>
            <a:ext cx="548640" cy="548640"/>
          </a:xfrm>
          <a:prstGeom prst="rect">
            <a:avLst/>
          </a:prstGeom>
        </p:spPr>
      </p:pic>
      <p:pic>
        <p:nvPicPr>
          <p:cNvPr id="4" name="Graphic 3" descr="Harvey Balls 20% with solid fill">
            <a:extLst>
              <a:ext uri="{FF2B5EF4-FFF2-40B4-BE49-F238E27FC236}">
                <a16:creationId xmlns:a16="http://schemas.microsoft.com/office/drawing/2014/main" id="{F1AFE220-B1F6-47FC-9263-5523DB88100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24561" y="1491062"/>
            <a:ext cx="548640" cy="548640"/>
          </a:xfrm>
          <a:prstGeom prst="rect">
            <a:avLst/>
          </a:prstGeom>
        </p:spPr>
      </p:pic>
      <p:pic>
        <p:nvPicPr>
          <p:cNvPr id="5" name="Graphic 4" descr="Harvey Balls 25% with solid fill">
            <a:extLst>
              <a:ext uri="{FF2B5EF4-FFF2-40B4-BE49-F238E27FC236}">
                <a16:creationId xmlns:a16="http://schemas.microsoft.com/office/drawing/2014/main" id="{FFA02FAB-035B-AED8-871F-325E21A351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48904" y="1491062"/>
            <a:ext cx="548640" cy="548640"/>
          </a:xfrm>
          <a:prstGeom prst="rect">
            <a:avLst/>
          </a:prstGeom>
        </p:spPr>
      </p:pic>
      <p:pic>
        <p:nvPicPr>
          <p:cNvPr id="6" name="Graphic 5" descr="Harvey Balls 35% with solid fill">
            <a:extLst>
              <a:ext uri="{FF2B5EF4-FFF2-40B4-BE49-F238E27FC236}">
                <a16:creationId xmlns:a16="http://schemas.microsoft.com/office/drawing/2014/main" id="{4A3C6E4B-6BE3-FA5C-EFE6-AFD536AEE5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73247" y="1491062"/>
            <a:ext cx="548640" cy="548640"/>
          </a:xfrm>
          <a:prstGeom prst="rect">
            <a:avLst/>
          </a:prstGeom>
        </p:spPr>
      </p:pic>
      <p:pic>
        <p:nvPicPr>
          <p:cNvPr id="7" name="Graphic 6" descr="Harvey Balls 50% with solid fill">
            <a:extLst>
              <a:ext uri="{FF2B5EF4-FFF2-40B4-BE49-F238E27FC236}">
                <a16:creationId xmlns:a16="http://schemas.microsoft.com/office/drawing/2014/main" id="{7599B3CC-DC11-E7EB-F960-D21475F7EF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97590" y="1491062"/>
            <a:ext cx="548640" cy="548640"/>
          </a:xfrm>
          <a:prstGeom prst="rect">
            <a:avLst/>
          </a:prstGeom>
        </p:spPr>
      </p:pic>
      <p:pic>
        <p:nvPicPr>
          <p:cNvPr id="8" name="Graphic 7" descr="Harvey Balls 65% with solid fill">
            <a:extLst>
              <a:ext uri="{FF2B5EF4-FFF2-40B4-BE49-F238E27FC236}">
                <a16:creationId xmlns:a16="http://schemas.microsoft.com/office/drawing/2014/main" id="{4A9D7CF1-734D-47F1-446E-62E9814E11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21933" y="1491062"/>
            <a:ext cx="548640" cy="548640"/>
          </a:xfrm>
          <a:prstGeom prst="rect">
            <a:avLst/>
          </a:prstGeom>
        </p:spPr>
      </p:pic>
      <p:pic>
        <p:nvPicPr>
          <p:cNvPr id="9" name="Graphic 8" descr="Harvey Balls 85% with solid fill">
            <a:extLst>
              <a:ext uri="{FF2B5EF4-FFF2-40B4-BE49-F238E27FC236}">
                <a16:creationId xmlns:a16="http://schemas.microsoft.com/office/drawing/2014/main" id="{C240EAF7-BE94-2D4D-3D27-9BA578E91E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33459" y="1491062"/>
            <a:ext cx="548640" cy="548640"/>
          </a:xfrm>
          <a:prstGeom prst="rect">
            <a:avLst/>
          </a:prstGeom>
        </p:spPr>
      </p:pic>
      <p:pic>
        <p:nvPicPr>
          <p:cNvPr id="10" name="Graphic 9" descr="Harvey Balls 100% with solid fill">
            <a:extLst>
              <a:ext uri="{FF2B5EF4-FFF2-40B4-BE49-F238E27FC236}">
                <a16:creationId xmlns:a16="http://schemas.microsoft.com/office/drawing/2014/main" id="{6DDB5BD8-9902-150C-671E-9F35E308A2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957798" y="1491062"/>
            <a:ext cx="548640" cy="548640"/>
          </a:xfrm>
          <a:prstGeom prst="rect">
            <a:avLst/>
          </a:prstGeom>
        </p:spPr>
      </p:pic>
      <p:pic>
        <p:nvPicPr>
          <p:cNvPr id="11" name="Graphic 10" descr="Harvey Balls 10% with solid fill">
            <a:extLst>
              <a:ext uri="{FF2B5EF4-FFF2-40B4-BE49-F238E27FC236}">
                <a16:creationId xmlns:a16="http://schemas.microsoft.com/office/drawing/2014/main" id="{3A3355D4-93CB-9D89-297D-4C00B96FB0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4498" y="2858924"/>
            <a:ext cx="640080" cy="640080"/>
          </a:xfrm>
          <a:prstGeom prst="rect">
            <a:avLst/>
          </a:prstGeom>
        </p:spPr>
      </p:pic>
      <p:pic>
        <p:nvPicPr>
          <p:cNvPr id="12" name="Graphic 11" descr="Harvey Balls 20% with solid fill">
            <a:extLst>
              <a:ext uri="{FF2B5EF4-FFF2-40B4-BE49-F238E27FC236}">
                <a16:creationId xmlns:a16="http://schemas.microsoft.com/office/drawing/2014/main" id="{CC3C7813-6755-E31D-291F-0BC2CF6AEA5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78840" y="2858924"/>
            <a:ext cx="640080" cy="640080"/>
          </a:xfrm>
          <a:prstGeom prst="rect">
            <a:avLst/>
          </a:prstGeom>
        </p:spPr>
      </p:pic>
      <p:pic>
        <p:nvPicPr>
          <p:cNvPr id="13" name="Graphic 12" descr="Harvey Balls 25% with solid fill">
            <a:extLst>
              <a:ext uri="{FF2B5EF4-FFF2-40B4-BE49-F238E27FC236}">
                <a16:creationId xmlns:a16="http://schemas.microsoft.com/office/drawing/2014/main" id="{F21F39D5-CF1A-DA76-CD3C-6F0942742E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27524" y="2858924"/>
            <a:ext cx="640080" cy="640080"/>
          </a:xfrm>
          <a:prstGeom prst="rect">
            <a:avLst/>
          </a:prstGeom>
        </p:spPr>
      </p:pic>
      <p:pic>
        <p:nvPicPr>
          <p:cNvPr id="14" name="Graphic 13" descr="Harvey Balls 35% with solid fill">
            <a:extLst>
              <a:ext uri="{FF2B5EF4-FFF2-40B4-BE49-F238E27FC236}">
                <a16:creationId xmlns:a16="http://schemas.microsoft.com/office/drawing/2014/main" id="{BE092900-0028-F8AC-7162-9F60ED26E1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03182" y="2858924"/>
            <a:ext cx="640080" cy="640080"/>
          </a:xfrm>
          <a:prstGeom prst="rect">
            <a:avLst/>
          </a:prstGeom>
        </p:spPr>
      </p:pic>
      <p:pic>
        <p:nvPicPr>
          <p:cNvPr id="15" name="Graphic 14" descr="Harvey Balls 50% with solid fill">
            <a:extLst>
              <a:ext uri="{FF2B5EF4-FFF2-40B4-BE49-F238E27FC236}">
                <a16:creationId xmlns:a16="http://schemas.microsoft.com/office/drawing/2014/main" id="{6FDAC18A-65CD-BE06-090A-42356B11CD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76208" y="2858924"/>
            <a:ext cx="640080" cy="640080"/>
          </a:xfrm>
          <a:prstGeom prst="rect">
            <a:avLst/>
          </a:prstGeom>
        </p:spPr>
      </p:pic>
      <p:pic>
        <p:nvPicPr>
          <p:cNvPr id="16" name="Graphic 15" descr="Harvey Balls 65% with solid fill">
            <a:extLst>
              <a:ext uri="{FF2B5EF4-FFF2-40B4-BE49-F238E27FC236}">
                <a16:creationId xmlns:a16="http://schemas.microsoft.com/office/drawing/2014/main" id="{5FC3E025-46FE-72C6-D0DD-44109877A5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51866" y="2858924"/>
            <a:ext cx="640080" cy="640080"/>
          </a:xfrm>
          <a:prstGeom prst="rect">
            <a:avLst/>
          </a:prstGeom>
        </p:spPr>
      </p:pic>
      <p:pic>
        <p:nvPicPr>
          <p:cNvPr id="17" name="Graphic 16" descr="Harvey Balls 85% with solid fill">
            <a:extLst>
              <a:ext uri="{FF2B5EF4-FFF2-40B4-BE49-F238E27FC236}">
                <a16:creationId xmlns:a16="http://schemas.microsoft.com/office/drawing/2014/main" id="{A0733248-2650-F619-F23A-A397CB3244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87733" y="2858924"/>
            <a:ext cx="640080" cy="640080"/>
          </a:xfrm>
          <a:prstGeom prst="rect">
            <a:avLst/>
          </a:prstGeom>
        </p:spPr>
      </p:pic>
      <p:pic>
        <p:nvPicPr>
          <p:cNvPr id="18" name="Graphic 17" descr="Harvey Balls 100% with solid fill">
            <a:extLst>
              <a:ext uri="{FF2B5EF4-FFF2-40B4-BE49-F238E27FC236}">
                <a16:creationId xmlns:a16="http://schemas.microsoft.com/office/drawing/2014/main" id="{5F63E9C5-BA0A-C6A2-517E-21AC95D567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912078" y="2858924"/>
            <a:ext cx="640080" cy="640080"/>
          </a:xfrm>
          <a:prstGeom prst="rect">
            <a:avLst/>
          </a:prstGeom>
        </p:spPr>
      </p:pic>
      <p:pic>
        <p:nvPicPr>
          <p:cNvPr id="19" name="Graphic 18" descr="Harvey Balls 10% with solid fill">
            <a:extLst>
              <a:ext uri="{FF2B5EF4-FFF2-40B4-BE49-F238E27FC236}">
                <a16:creationId xmlns:a16="http://schemas.microsoft.com/office/drawing/2014/main" id="{C8C8711F-095B-7164-9DB3-8831496ECB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8778" y="4452290"/>
            <a:ext cx="731520" cy="731520"/>
          </a:xfrm>
          <a:prstGeom prst="rect">
            <a:avLst/>
          </a:prstGeom>
        </p:spPr>
      </p:pic>
      <p:pic>
        <p:nvPicPr>
          <p:cNvPr id="20" name="Graphic 19" descr="Harvey Balls 20% with solid fill">
            <a:extLst>
              <a:ext uri="{FF2B5EF4-FFF2-40B4-BE49-F238E27FC236}">
                <a16:creationId xmlns:a16="http://schemas.microsoft.com/office/drawing/2014/main" id="{12E6E074-E381-8669-6587-F7E6D6748B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38835" y="4452290"/>
            <a:ext cx="731520" cy="731520"/>
          </a:xfrm>
          <a:prstGeom prst="rect">
            <a:avLst/>
          </a:prstGeom>
        </p:spPr>
      </p:pic>
      <p:pic>
        <p:nvPicPr>
          <p:cNvPr id="21" name="Graphic 20" descr="Harvey Balls 25% with solid fill">
            <a:extLst>
              <a:ext uri="{FF2B5EF4-FFF2-40B4-BE49-F238E27FC236}">
                <a16:creationId xmlns:a16="http://schemas.microsoft.com/office/drawing/2014/main" id="{39FB38BB-687B-1A9F-D851-4EE2ADB05F3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98949" y="4452290"/>
            <a:ext cx="731520" cy="731520"/>
          </a:xfrm>
          <a:prstGeom prst="rect">
            <a:avLst/>
          </a:prstGeom>
        </p:spPr>
      </p:pic>
      <p:pic>
        <p:nvPicPr>
          <p:cNvPr id="22" name="Graphic 21" descr="Harvey Balls 35% with solid fill">
            <a:extLst>
              <a:ext uri="{FF2B5EF4-FFF2-40B4-BE49-F238E27FC236}">
                <a16:creationId xmlns:a16="http://schemas.microsoft.com/office/drawing/2014/main" id="{944DDA2F-E560-AB57-4DA5-407FF9EAEDD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68892" y="4452290"/>
            <a:ext cx="731520" cy="731520"/>
          </a:xfrm>
          <a:prstGeom prst="rect">
            <a:avLst/>
          </a:prstGeom>
        </p:spPr>
      </p:pic>
      <p:pic>
        <p:nvPicPr>
          <p:cNvPr id="23" name="Graphic 22" descr="Harvey Balls 50% with solid fill">
            <a:extLst>
              <a:ext uri="{FF2B5EF4-FFF2-40B4-BE49-F238E27FC236}">
                <a16:creationId xmlns:a16="http://schemas.microsoft.com/office/drawing/2014/main" id="{4497869F-069D-A42D-E74B-4D1BB09AC50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59063" y="4452290"/>
            <a:ext cx="731520" cy="731520"/>
          </a:xfrm>
          <a:prstGeom prst="rect">
            <a:avLst/>
          </a:prstGeom>
        </p:spPr>
      </p:pic>
      <p:pic>
        <p:nvPicPr>
          <p:cNvPr id="24" name="Graphic 23" descr="Harvey Balls 65% with solid fill">
            <a:extLst>
              <a:ext uri="{FF2B5EF4-FFF2-40B4-BE49-F238E27FC236}">
                <a16:creationId xmlns:a16="http://schemas.microsoft.com/office/drawing/2014/main" id="{9BA7E2A7-FDFE-A7EE-17E0-1E9E6D1056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9006" y="4452290"/>
            <a:ext cx="731520" cy="731520"/>
          </a:xfrm>
          <a:prstGeom prst="rect">
            <a:avLst/>
          </a:prstGeom>
        </p:spPr>
      </p:pic>
      <p:pic>
        <p:nvPicPr>
          <p:cNvPr id="25" name="Graphic 24" descr="Harvey Balls 85% with solid fill">
            <a:extLst>
              <a:ext uri="{FF2B5EF4-FFF2-40B4-BE49-F238E27FC236}">
                <a16:creationId xmlns:a16="http://schemas.microsoft.com/office/drawing/2014/main" id="{E28D9268-2E09-131B-1F94-8735490749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36297" y="4452290"/>
            <a:ext cx="731520" cy="731520"/>
          </a:xfrm>
          <a:prstGeom prst="rect">
            <a:avLst/>
          </a:prstGeom>
        </p:spPr>
      </p:pic>
      <p:pic>
        <p:nvPicPr>
          <p:cNvPr id="26" name="Graphic 25" descr="Harvey Balls 100% with solid fill">
            <a:extLst>
              <a:ext uri="{FF2B5EF4-FFF2-40B4-BE49-F238E27FC236}">
                <a16:creationId xmlns:a16="http://schemas.microsoft.com/office/drawing/2014/main" id="{B5BDE72F-7618-F08A-43A1-69C3BDA3BB9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66358" y="4452290"/>
            <a:ext cx="731520" cy="731520"/>
          </a:xfrm>
          <a:prstGeom prst="rect">
            <a:avLst/>
          </a:prstGeom>
        </p:spPr>
      </p:pic>
      <p:grpSp>
        <p:nvGrpSpPr>
          <p:cNvPr id="29" name="Group 28">
            <a:extLst>
              <a:ext uri="{FF2B5EF4-FFF2-40B4-BE49-F238E27FC236}">
                <a16:creationId xmlns:a16="http://schemas.microsoft.com/office/drawing/2014/main" id="{42BB492C-F61D-72AD-C41F-2DD89B9AC405}"/>
              </a:ext>
            </a:extLst>
          </p:cNvPr>
          <p:cNvGrpSpPr/>
          <p:nvPr/>
        </p:nvGrpSpPr>
        <p:grpSpPr>
          <a:xfrm>
            <a:off x="8446276" y="1559642"/>
            <a:ext cx="411480" cy="411480"/>
            <a:chOff x="4676801" y="557013"/>
            <a:chExt cx="548640" cy="548640"/>
          </a:xfrm>
        </p:grpSpPr>
        <p:sp>
          <p:nvSpPr>
            <p:cNvPr id="27" name="Oval 26">
              <a:extLst>
                <a:ext uri="{FF2B5EF4-FFF2-40B4-BE49-F238E27FC236}">
                  <a16:creationId xmlns:a16="http://schemas.microsoft.com/office/drawing/2014/main" id="{52EF79E2-74F8-6576-9D9C-5F77CCE88D9C}"/>
                </a:ext>
              </a:extLst>
            </p:cNvPr>
            <p:cNvSpPr/>
            <p:nvPr/>
          </p:nvSpPr>
          <p:spPr>
            <a:xfrm>
              <a:off x="4676801" y="557013"/>
              <a:ext cx="548640" cy="548640"/>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28" name="Partial Circle 27">
              <a:extLst>
                <a:ext uri="{FF2B5EF4-FFF2-40B4-BE49-F238E27FC236}">
                  <a16:creationId xmlns:a16="http://schemas.microsoft.com/office/drawing/2014/main" id="{C35F5B20-015E-A0BB-C0AA-D83237DAC5E1}"/>
                </a:ext>
              </a:extLst>
            </p:cNvPr>
            <p:cNvSpPr/>
            <p:nvPr/>
          </p:nvSpPr>
          <p:spPr>
            <a:xfrm rot="16200000">
              <a:off x="4676801" y="557013"/>
              <a:ext cx="548640" cy="548640"/>
            </a:xfrm>
            <a:prstGeom prst="pi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Verdana" panose="020B0604030504040204" pitchFamily="34" charset="0"/>
              </a:endParaRPr>
            </a:p>
          </p:txBody>
        </p:sp>
      </p:grpSp>
      <p:grpSp>
        <p:nvGrpSpPr>
          <p:cNvPr id="30" name="Group 29">
            <a:extLst>
              <a:ext uri="{FF2B5EF4-FFF2-40B4-BE49-F238E27FC236}">
                <a16:creationId xmlns:a16="http://schemas.microsoft.com/office/drawing/2014/main" id="{9EB7FBA1-2754-F743-AE78-443C9D21DFD4}"/>
              </a:ext>
            </a:extLst>
          </p:cNvPr>
          <p:cNvGrpSpPr/>
          <p:nvPr/>
        </p:nvGrpSpPr>
        <p:grpSpPr>
          <a:xfrm>
            <a:off x="8389120" y="4543730"/>
            <a:ext cx="548640" cy="548640"/>
            <a:chOff x="4676801" y="557013"/>
            <a:chExt cx="548640" cy="548640"/>
          </a:xfrm>
        </p:grpSpPr>
        <p:sp>
          <p:nvSpPr>
            <p:cNvPr id="31" name="Oval 30">
              <a:extLst>
                <a:ext uri="{FF2B5EF4-FFF2-40B4-BE49-F238E27FC236}">
                  <a16:creationId xmlns:a16="http://schemas.microsoft.com/office/drawing/2014/main" id="{B6A0C6A6-A2AB-23FB-89E8-9B5DD4A525E3}"/>
                </a:ext>
              </a:extLst>
            </p:cNvPr>
            <p:cNvSpPr/>
            <p:nvPr/>
          </p:nvSpPr>
          <p:spPr>
            <a:xfrm>
              <a:off x="4676801" y="557013"/>
              <a:ext cx="548640" cy="548640"/>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32" name="Partial Circle 31">
              <a:extLst>
                <a:ext uri="{FF2B5EF4-FFF2-40B4-BE49-F238E27FC236}">
                  <a16:creationId xmlns:a16="http://schemas.microsoft.com/office/drawing/2014/main" id="{0E0D976C-4F6F-F490-82BD-57B9DDEAB698}"/>
                </a:ext>
              </a:extLst>
            </p:cNvPr>
            <p:cNvSpPr/>
            <p:nvPr/>
          </p:nvSpPr>
          <p:spPr>
            <a:xfrm rot="16200000">
              <a:off x="4676801" y="557013"/>
              <a:ext cx="548640" cy="548640"/>
            </a:xfrm>
            <a:prstGeom prst="pi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Verdana" panose="020B0604030504040204" pitchFamily="34" charset="0"/>
              </a:endParaRPr>
            </a:p>
          </p:txBody>
        </p:sp>
      </p:grpSp>
      <p:grpSp>
        <p:nvGrpSpPr>
          <p:cNvPr id="33" name="Group 32">
            <a:extLst>
              <a:ext uri="{FF2B5EF4-FFF2-40B4-BE49-F238E27FC236}">
                <a16:creationId xmlns:a16="http://schemas.microsoft.com/office/drawing/2014/main" id="{5A890C7A-6003-B026-CE52-79A570B480E1}"/>
              </a:ext>
            </a:extLst>
          </p:cNvPr>
          <p:cNvGrpSpPr/>
          <p:nvPr/>
        </p:nvGrpSpPr>
        <p:grpSpPr>
          <a:xfrm>
            <a:off x="8400550" y="2927504"/>
            <a:ext cx="502920" cy="502920"/>
            <a:chOff x="4676801" y="557013"/>
            <a:chExt cx="548640" cy="548640"/>
          </a:xfrm>
        </p:grpSpPr>
        <p:sp>
          <p:nvSpPr>
            <p:cNvPr id="34" name="Oval 33">
              <a:extLst>
                <a:ext uri="{FF2B5EF4-FFF2-40B4-BE49-F238E27FC236}">
                  <a16:creationId xmlns:a16="http://schemas.microsoft.com/office/drawing/2014/main" id="{0BED154E-42DA-68CF-C3C7-7156548162AF}"/>
                </a:ext>
              </a:extLst>
            </p:cNvPr>
            <p:cNvSpPr/>
            <p:nvPr/>
          </p:nvSpPr>
          <p:spPr>
            <a:xfrm>
              <a:off x="4676801" y="557013"/>
              <a:ext cx="548640" cy="548640"/>
            </a:xfrm>
            <a:prstGeom prst="ellipse">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Verdana" panose="020B0604030504040204" pitchFamily="34" charset="0"/>
              </a:endParaRPr>
            </a:p>
          </p:txBody>
        </p:sp>
        <p:sp>
          <p:nvSpPr>
            <p:cNvPr id="35" name="Partial Circle 34">
              <a:extLst>
                <a:ext uri="{FF2B5EF4-FFF2-40B4-BE49-F238E27FC236}">
                  <a16:creationId xmlns:a16="http://schemas.microsoft.com/office/drawing/2014/main" id="{1A0CEF1C-8648-4565-C884-85CC8CB48284}"/>
                </a:ext>
              </a:extLst>
            </p:cNvPr>
            <p:cNvSpPr/>
            <p:nvPr/>
          </p:nvSpPr>
          <p:spPr>
            <a:xfrm rot="16200000">
              <a:off x="4676801" y="557013"/>
              <a:ext cx="548640" cy="548640"/>
            </a:xfrm>
            <a:prstGeom prst="pi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Verdana" panose="020B0604030504040204" pitchFamily="34" charset="0"/>
              </a:endParaRPr>
            </a:p>
          </p:txBody>
        </p:sp>
      </p:grpSp>
    </p:spTree>
    <p:extLst>
      <p:ext uri="{BB962C8B-B14F-4D97-AF65-F5344CB8AC3E}">
        <p14:creationId xmlns:p14="http://schemas.microsoft.com/office/powerpoint/2010/main" val="3528914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F450ED-3F31-B6B3-0320-198061C730B8}"/>
              </a:ext>
            </a:extLst>
          </p:cNvPr>
          <p:cNvSpPr>
            <a:spLocks noGrp="1"/>
          </p:cNvSpPr>
          <p:nvPr>
            <p:ph type="sldNum" sz="quarter" idx="12"/>
          </p:nvPr>
        </p:nvSpPr>
        <p:spPr/>
        <p:txBody>
          <a:bodyPr/>
          <a:lstStyle/>
          <a:p>
            <a:pPr algn="r"/>
            <a:fld id="{4FA92F45-BA5D-4C7A-ACC7-D44B34072B97}" type="slidenum">
              <a:rPr lang="en-IN" smtClean="0"/>
              <a:pPr algn="r"/>
              <a:t>59</a:t>
            </a:fld>
            <a:endParaRPr lang="en-IN" dirty="0"/>
          </a:p>
        </p:txBody>
      </p:sp>
      <p:sp>
        <p:nvSpPr>
          <p:cNvPr id="3" name="Title 2">
            <a:extLst>
              <a:ext uri="{FF2B5EF4-FFF2-40B4-BE49-F238E27FC236}">
                <a16:creationId xmlns:a16="http://schemas.microsoft.com/office/drawing/2014/main" id="{76ACC423-8E9D-5665-8598-F95A42AE9A7A}"/>
              </a:ext>
            </a:extLst>
          </p:cNvPr>
          <p:cNvSpPr>
            <a:spLocks noGrp="1"/>
          </p:cNvSpPr>
          <p:nvPr>
            <p:ph type="title"/>
          </p:nvPr>
        </p:nvSpPr>
        <p:spPr/>
        <p:txBody>
          <a:bodyPr/>
          <a:lstStyle/>
          <a:p>
            <a:r>
              <a:rPr lang="en-US" dirty="0"/>
              <a:t>NEW ICONS</a:t>
            </a:r>
          </a:p>
        </p:txBody>
      </p:sp>
      <p:pic>
        <p:nvPicPr>
          <p:cNvPr id="19" name="Picture 18">
            <a:extLst>
              <a:ext uri="{FF2B5EF4-FFF2-40B4-BE49-F238E27FC236}">
                <a16:creationId xmlns:a16="http://schemas.microsoft.com/office/drawing/2014/main" id="{7406E17A-7A99-CC4A-CC01-2F89EDE708D9}"/>
              </a:ext>
            </a:extLst>
          </p:cNvPr>
          <p:cNvPicPr>
            <a:picLocks noChangeAspect="1"/>
          </p:cNvPicPr>
          <p:nvPr/>
        </p:nvPicPr>
        <p:blipFill>
          <a:blip r:embed="rId3"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665295" y="4209297"/>
            <a:ext cx="2032106" cy="885451"/>
          </a:xfrm>
          <a:prstGeom prst="rect">
            <a:avLst/>
          </a:prstGeom>
        </p:spPr>
      </p:pic>
      <p:sp>
        <p:nvSpPr>
          <p:cNvPr id="20" name="TextBox 12">
            <a:extLst>
              <a:ext uri="{FF2B5EF4-FFF2-40B4-BE49-F238E27FC236}">
                <a16:creationId xmlns:a16="http://schemas.microsoft.com/office/drawing/2014/main" id="{41238F8E-802C-98CA-3863-6BF2B7079BE3}"/>
              </a:ext>
            </a:extLst>
          </p:cNvPr>
          <p:cNvSpPr txBox="1"/>
          <p:nvPr/>
        </p:nvSpPr>
        <p:spPr>
          <a:xfrm>
            <a:off x="242729" y="1054558"/>
            <a:ext cx="2032106" cy="2230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r>
              <a:rPr lang="en-US" sz="849" b="1" kern="0" dirty="0">
                <a:solidFill>
                  <a:srgbClr val="FFBE00"/>
                </a:solidFill>
                <a:ea typeface="Verdana" panose="020B0604030504040204" pitchFamily="34" charset="0"/>
                <a:cs typeface="Verdana" panose="020B0604030504040204" pitchFamily="34" charset="0"/>
              </a:rPr>
              <a:t>OUTCOMES</a:t>
            </a:r>
          </a:p>
        </p:txBody>
      </p:sp>
      <p:sp>
        <p:nvSpPr>
          <p:cNvPr id="21" name="TextBox 17">
            <a:extLst>
              <a:ext uri="{FF2B5EF4-FFF2-40B4-BE49-F238E27FC236}">
                <a16:creationId xmlns:a16="http://schemas.microsoft.com/office/drawing/2014/main" id="{8276A626-3F99-05E6-4488-6FCCA73454A4}"/>
              </a:ext>
            </a:extLst>
          </p:cNvPr>
          <p:cNvSpPr txBox="1"/>
          <p:nvPr/>
        </p:nvSpPr>
        <p:spPr>
          <a:xfrm>
            <a:off x="242729" y="3529957"/>
            <a:ext cx="2032106" cy="2230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r>
              <a:rPr lang="en-US" sz="849" b="1" kern="0" dirty="0">
                <a:solidFill>
                  <a:srgbClr val="FFBE00"/>
                </a:solidFill>
                <a:ea typeface="Verdana" panose="020B0604030504040204" pitchFamily="34" charset="0"/>
                <a:cs typeface="Verdana" panose="020B0604030504040204" pitchFamily="34" charset="0"/>
              </a:rPr>
              <a:t>HOW WE WORK</a:t>
            </a:r>
          </a:p>
        </p:txBody>
      </p:sp>
      <p:sp>
        <p:nvSpPr>
          <p:cNvPr id="22" name="Rectangle 21">
            <a:extLst>
              <a:ext uri="{FF2B5EF4-FFF2-40B4-BE49-F238E27FC236}">
                <a16:creationId xmlns:a16="http://schemas.microsoft.com/office/drawing/2014/main" id="{AA45C7AA-773B-3555-833D-802DA2FA8543}"/>
              </a:ext>
            </a:extLst>
          </p:cNvPr>
          <p:cNvSpPr/>
          <p:nvPr/>
        </p:nvSpPr>
        <p:spPr>
          <a:xfrm>
            <a:off x="9347514" y="3364278"/>
            <a:ext cx="2677712" cy="2283697"/>
          </a:xfrm>
          <a:prstGeom prst="rect">
            <a:avLst/>
          </a:prstGeom>
          <a:noFill/>
          <a:ln w="28575" cap="flat" cmpd="sng" algn="ctr">
            <a:solidFill>
              <a:srgbClr val="FFBE00"/>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0" cap="none" spc="0" normalizeH="0" baseline="0" noProof="0" dirty="0">
              <a:ln>
                <a:noFill/>
              </a:ln>
              <a:solidFill>
                <a:srgbClr val="FFFFFF"/>
              </a:solidFill>
              <a:effectLst/>
              <a:uLnTx/>
              <a:uFillTx/>
              <a:latin typeface="Calibri"/>
              <a:ea typeface="+mn-ea"/>
              <a:cs typeface="+mn-cs"/>
            </a:endParaRPr>
          </a:p>
        </p:txBody>
      </p:sp>
      <p:sp>
        <p:nvSpPr>
          <p:cNvPr id="23" name="TextBox 4">
            <a:extLst>
              <a:ext uri="{FF2B5EF4-FFF2-40B4-BE49-F238E27FC236}">
                <a16:creationId xmlns:a16="http://schemas.microsoft.com/office/drawing/2014/main" id="{22F7662C-55D5-0486-D0CA-D217E0803E6B}"/>
              </a:ext>
            </a:extLst>
          </p:cNvPr>
          <p:cNvSpPr txBox="1"/>
          <p:nvPr/>
        </p:nvSpPr>
        <p:spPr>
          <a:xfrm>
            <a:off x="9607499" y="3529957"/>
            <a:ext cx="2032106" cy="2230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54492"/>
            <a:r>
              <a:rPr lang="en-US" sz="849" b="1" kern="0" dirty="0">
                <a:solidFill>
                  <a:srgbClr val="FFBE00"/>
                </a:solidFill>
                <a:ea typeface="Verdana" panose="020B0604030504040204" pitchFamily="34" charset="0"/>
                <a:cs typeface="Verdana" panose="020B0604030504040204" pitchFamily="34" charset="0"/>
              </a:rPr>
              <a:t>EFFICIENCY</a:t>
            </a:r>
          </a:p>
        </p:txBody>
      </p:sp>
      <p:pic>
        <p:nvPicPr>
          <p:cNvPr id="24" name="Picture 23" descr="A light bulb with circles and dots&#10;&#10;Description automatically generated">
            <a:extLst>
              <a:ext uri="{FF2B5EF4-FFF2-40B4-BE49-F238E27FC236}">
                <a16:creationId xmlns:a16="http://schemas.microsoft.com/office/drawing/2014/main" id="{0C5D6D8E-E175-A2B7-922C-A963D186AC1D}"/>
              </a:ext>
            </a:extLst>
          </p:cNvPr>
          <p:cNvPicPr>
            <a:picLocks noChangeAspect="1"/>
          </p:cNvPicPr>
          <p:nvPr/>
        </p:nvPicPr>
        <p:blipFill>
          <a:blip r:embed="rId4"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795037" y="3519745"/>
            <a:ext cx="2283697" cy="2283697"/>
          </a:xfrm>
          <a:prstGeom prst="rect">
            <a:avLst/>
          </a:prstGeom>
        </p:spPr>
      </p:pic>
      <p:pic>
        <p:nvPicPr>
          <p:cNvPr id="25" name="Picture 24" descr="A yellow magnifying glass with circles and dots&#10;&#10;Description automatically generated">
            <a:extLst>
              <a:ext uri="{FF2B5EF4-FFF2-40B4-BE49-F238E27FC236}">
                <a16:creationId xmlns:a16="http://schemas.microsoft.com/office/drawing/2014/main" id="{A77169E9-3DBD-3B11-61E1-0E4E3DFD4971}"/>
              </a:ext>
            </a:extLst>
          </p:cNvPr>
          <p:cNvPicPr>
            <a:picLocks noChangeAspect="1"/>
          </p:cNvPicPr>
          <p:nvPr/>
        </p:nvPicPr>
        <p:blipFill>
          <a:blip r:embed="rId5"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80600" y="3519745"/>
            <a:ext cx="2283697" cy="2283697"/>
          </a:xfrm>
          <a:prstGeom prst="rect">
            <a:avLst/>
          </a:prstGeom>
        </p:spPr>
      </p:pic>
      <p:pic>
        <p:nvPicPr>
          <p:cNvPr id="26" name="Picture 25" descr="A yellow and white gear with a power button&#10;&#10;Description automatically generated">
            <a:extLst>
              <a:ext uri="{FF2B5EF4-FFF2-40B4-BE49-F238E27FC236}">
                <a16:creationId xmlns:a16="http://schemas.microsoft.com/office/drawing/2014/main" id="{8B447669-A86A-2498-772E-C4C9A4A668C6}"/>
              </a:ext>
            </a:extLst>
          </p:cNvPr>
          <p:cNvPicPr>
            <a:picLocks noChangeAspect="1"/>
          </p:cNvPicPr>
          <p:nvPr/>
        </p:nvPicPr>
        <p:blipFill>
          <a:blip r:embed="rId6"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102256" y="3519745"/>
            <a:ext cx="2283697" cy="2283697"/>
          </a:xfrm>
          <a:prstGeom prst="rect">
            <a:avLst/>
          </a:prstGeom>
        </p:spPr>
      </p:pic>
      <p:pic>
        <p:nvPicPr>
          <p:cNvPr id="27" name="Picture 26" descr="A yellow circle with circles and dots&#10;&#10;Description automatically generated">
            <a:extLst>
              <a:ext uri="{FF2B5EF4-FFF2-40B4-BE49-F238E27FC236}">
                <a16:creationId xmlns:a16="http://schemas.microsoft.com/office/drawing/2014/main" id="{C6A4D7E6-94FB-758B-CBC6-179118A1A3AB}"/>
              </a:ext>
            </a:extLst>
          </p:cNvPr>
          <p:cNvPicPr>
            <a:picLocks noChangeAspect="1"/>
          </p:cNvPicPr>
          <p:nvPr/>
        </p:nvPicPr>
        <p:blipFill>
          <a:blip r:embed="rId7"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487819" y="3519745"/>
            <a:ext cx="2283697" cy="2283697"/>
          </a:xfrm>
          <a:prstGeom prst="rect">
            <a:avLst/>
          </a:prstGeom>
        </p:spPr>
      </p:pic>
      <p:pic>
        <p:nvPicPr>
          <p:cNvPr id="28" name="Picture 27" descr="A yellow wrench in a circle with dots and circles around it&#10;&#10;Description automatically generated">
            <a:extLst>
              <a:ext uri="{FF2B5EF4-FFF2-40B4-BE49-F238E27FC236}">
                <a16:creationId xmlns:a16="http://schemas.microsoft.com/office/drawing/2014/main" id="{20232688-0FC6-5524-37CD-C2213AFBCA43}"/>
              </a:ext>
            </a:extLst>
          </p:cNvPr>
          <p:cNvPicPr>
            <a:picLocks noChangeAspect="1"/>
          </p:cNvPicPr>
          <p:nvPr/>
        </p:nvPicPr>
        <p:blipFill>
          <a:blip r:embed="rId8"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66775" y="1203254"/>
            <a:ext cx="2283697" cy="2283697"/>
          </a:xfrm>
          <a:prstGeom prst="rect">
            <a:avLst/>
          </a:prstGeom>
        </p:spPr>
      </p:pic>
      <p:pic>
        <p:nvPicPr>
          <p:cNvPr id="29" name="Picture 28" descr="A yellow shield with a check mark in center&#10;&#10;Description automatically generated">
            <a:extLst>
              <a:ext uri="{FF2B5EF4-FFF2-40B4-BE49-F238E27FC236}">
                <a16:creationId xmlns:a16="http://schemas.microsoft.com/office/drawing/2014/main" id="{009D705D-0AA1-4913-DAAD-7C944548D7E9}"/>
              </a:ext>
            </a:extLst>
          </p:cNvPr>
          <p:cNvPicPr>
            <a:picLocks noChangeAspect="1"/>
          </p:cNvPicPr>
          <p:nvPr/>
        </p:nvPicPr>
        <p:blipFill>
          <a:blip r:embed="rId9"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476409" y="1203254"/>
            <a:ext cx="2283697" cy="2283697"/>
          </a:xfrm>
          <a:prstGeom prst="rect">
            <a:avLst/>
          </a:prstGeom>
        </p:spPr>
      </p:pic>
      <p:pic>
        <p:nvPicPr>
          <p:cNvPr id="30" name="Picture 29" descr="A yellow logo with stars and a person in the center&#10;&#10;Description automatically generated">
            <a:extLst>
              <a:ext uri="{FF2B5EF4-FFF2-40B4-BE49-F238E27FC236}">
                <a16:creationId xmlns:a16="http://schemas.microsoft.com/office/drawing/2014/main" id="{125194C6-F130-741D-636E-CFFC67BCEA00}"/>
              </a:ext>
            </a:extLst>
          </p:cNvPr>
          <p:cNvPicPr>
            <a:picLocks noChangeAspect="1"/>
          </p:cNvPicPr>
          <p:nvPr/>
        </p:nvPicPr>
        <p:blipFill>
          <a:blip r:embed="rId10"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405315" y="1203254"/>
            <a:ext cx="2283697" cy="2283697"/>
          </a:xfrm>
          <a:prstGeom prst="rect">
            <a:avLst/>
          </a:prstGeom>
        </p:spPr>
      </p:pic>
      <p:pic>
        <p:nvPicPr>
          <p:cNvPr id="31" name="Picture 30" descr="A logo of a plant&#10;&#10;Description automatically generated">
            <a:extLst>
              <a:ext uri="{FF2B5EF4-FFF2-40B4-BE49-F238E27FC236}">
                <a16:creationId xmlns:a16="http://schemas.microsoft.com/office/drawing/2014/main" id="{F56496A0-59A4-EC79-D09B-8972CBBB1238}"/>
              </a:ext>
            </a:extLst>
          </p:cNvPr>
          <p:cNvPicPr>
            <a:picLocks noChangeAspect="1"/>
          </p:cNvPicPr>
          <p:nvPr/>
        </p:nvPicPr>
        <p:blipFill>
          <a:blip r:embed="rId11"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095680" y="1203254"/>
            <a:ext cx="2283697" cy="2283697"/>
          </a:xfrm>
          <a:prstGeom prst="rect">
            <a:avLst/>
          </a:prstGeom>
        </p:spPr>
      </p:pic>
      <p:pic>
        <p:nvPicPr>
          <p:cNvPr id="32" name="Picture 31" descr="A yellow bar chart with arrows and circles around it&#10;&#10;Description automatically generated">
            <a:extLst>
              <a:ext uri="{FF2B5EF4-FFF2-40B4-BE49-F238E27FC236}">
                <a16:creationId xmlns:a16="http://schemas.microsoft.com/office/drawing/2014/main" id="{CC94458F-5876-7B37-7FF4-4C8BED635A2E}"/>
              </a:ext>
            </a:extLst>
          </p:cNvPr>
          <p:cNvPicPr>
            <a:picLocks noChangeAspect="1"/>
          </p:cNvPicPr>
          <p:nvPr/>
        </p:nvPicPr>
        <p:blipFill>
          <a:blip r:embed="rId12"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786044" y="1203254"/>
            <a:ext cx="2283697" cy="2283697"/>
          </a:xfrm>
          <a:prstGeom prst="rect">
            <a:avLst/>
          </a:prstGeom>
        </p:spPr>
      </p:pic>
    </p:spTree>
    <p:extLst>
      <p:ext uri="{BB962C8B-B14F-4D97-AF65-F5344CB8AC3E}">
        <p14:creationId xmlns:p14="http://schemas.microsoft.com/office/powerpoint/2010/main" val="4017493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C0C26A-8809-45F1-574F-8BD701DA05C8}"/>
              </a:ext>
            </a:extLst>
          </p:cNvPr>
          <p:cNvSpPr>
            <a:spLocks noGrp="1"/>
          </p:cNvSpPr>
          <p:nvPr>
            <p:ph type="sldNum" sz="quarter" idx="12"/>
          </p:nvPr>
        </p:nvSpPr>
        <p:spPr/>
        <p:txBody>
          <a:bodyPr/>
          <a:lstStyle/>
          <a:p>
            <a:pPr algn="r"/>
            <a:fld id="{4FA92F45-BA5D-4C7A-ACC7-D44B34072B97}" type="slidenum">
              <a:rPr lang="en-IN" smtClean="0"/>
              <a:pPr algn="r"/>
              <a:t>60</a:t>
            </a:fld>
            <a:endParaRPr lang="en-IN" dirty="0"/>
          </a:p>
        </p:txBody>
      </p:sp>
      <p:sp>
        <p:nvSpPr>
          <p:cNvPr id="3" name="Title 2">
            <a:extLst>
              <a:ext uri="{FF2B5EF4-FFF2-40B4-BE49-F238E27FC236}">
                <a16:creationId xmlns:a16="http://schemas.microsoft.com/office/drawing/2014/main" id="{530C3A70-C7D3-DA7F-4980-3BD1C1004D39}"/>
              </a:ext>
            </a:extLst>
          </p:cNvPr>
          <p:cNvSpPr>
            <a:spLocks noGrp="1"/>
          </p:cNvSpPr>
          <p:nvPr>
            <p:ph type="title"/>
          </p:nvPr>
        </p:nvSpPr>
        <p:spPr/>
        <p:txBody>
          <a:bodyPr/>
          <a:lstStyle/>
          <a:p>
            <a:r>
              <a:rPr lang="en-US" dirty="0"/>
              <a:t>NEW ICONS</a:t>
            </a:r>
          </a:p>
        </p:txBody>
      </p:sp>
      <p:sp>
        <p:nvSpPr>
          <p:cNvPr id="4" name="Text Placeholder 3">
            <a:extLst>
              <a:ext uri="{FF2B5EF4-FFF2-40B4-BE49-F238E27FC236}">
                <a16:creationId xmlns:a16="http://schemas.microsoft.com/office/drawing/2014/main" id="{82744336-AF5B-BB59-F44C-4218BD7FAFA7}"/>
              </a:ext>
            </a:extLst>
          </p:cNvPr>
          <p:cNvSpPr>
            <a:spLocks noGrp="1"/>
          </p:cNvSpPr>
          <p:nvPr>
            <p:ph type="body" sz="quarter" idx="13"/>
          </p:nvPr>
        </p:nvSpPr>
        <p:spPr/>
        <p:txBody>
          <a:bodyPr/>
          <a:lstStyle/>
          <a:p>
            <a:endParaRPr lang="en-US" dirty="0"/>
          </a:p>
        </p:txBody>
      </p:sp>
      <p:pic>
        <p:nvPicPr>
          <p:cNvPr id="70" name="Picture 69">
            <a:extLst>
              <a:ext uri="{FF2B5EF4-FFF2-40B4-BE49-F238E27FC236}">
                <a16:creationId xmlns:a16="http://schemas.microsoft.com/office/drawing/2014/main" id="{BD0803EE-875C-AFC7-05FE-040BC5A6BCEB}"/>
              </a:ext>
            </a:extLst>
          </p:cNvPr>
          <p:cNvPicPr>
            <a:picLocks noChangeAspect="1"/>
          </p:cNvPicPr>
          <p:nvPr/>
        </p:nvPicPr>
        <p:blipFill>
          <a:blip r:embed="rId3"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55577" y="1566609"/>
            <a:ext cx="435678" cy="457193"/>
          </a:xfrm>
          <a:prstGeom prst="rect">
            <a:avLst/>
          </a:prstGeom>
        </p:spPr>
      </p:pic>
      <p:pic>
        <p:nvPicPr>
          <p:cNvPr id="71" name="Picture 70">
            <a:extLst>
              <a:ext uri="{FF2B5EF4-FFF2-40B4-BE49-F238E27FC236}">
                <a16:creationId xmlns:a16="http://schemas.microsoft.com/office/drawing/2014/main" id="{E7DEB46E-D19C-884F-B050-9CF9817E1D5D}"/>
              </a:ext>
            </a:extLst>
          </p:cNvPr>
          <p:cNvPicPr>
            <a:picLocks noChangeAspect="1"/>
          </p:cNvPicPr>
          <p:nvPr/>
        </p:nvPicPr>
        <p:blipFill>
          <a:blip r:embed="rId4"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505439" y="1704851"/>
            <a:ext cx="685740" cy="266967"/>
          </a:xfrm>
          <a:prstGeom prst="rect">
            <a:avLst/>
          </a:prstGeom>
        </p:spPr>
      </p:pic>
      <p:pic>
        <p:nvPicPr>
          <p:cNvPr id="72" name="Picture 71">
            <a:extLst>
              <a:ext uri="{FF2B5EF4-FFF2-40B4-BE49-F238E27FC236}">
                <a16:creationId xmlns:a16="http://schemas.microsoft.com/office/drawing/2014/main" id="{A4C1BAF6-B3C9-5D0D-A556-EAE3B21FF03C}"/>
              </a:ext>
            </a:extLst>
          </p:cNvPr>
          <p:cNvPicPr>
            <a:picLocks noChangeAspect="1"/>
          </p:cNvPicPr>
          <p:nvPr/>
        </p:nvPicPr>
        <p:blipFill>
          <a:blip r:embed="rId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397363" y="1593052"/>
            <a:ext cx="524164" cy="457533"/>
          </a:xfrm>
          <a:prstGeom prst="rect">
            <a:avLst/>
          </a:prstGeom>
        </p:spPr>
      </p:pic>
      <p:pic>
        <p:nvPicPr>
          <p:cNvPr id="73" name="Picture 72">
            <a:extLst>
              <a:ext uri="{FF2B5EF4-FFF2-40B4-BE49-F238E27FC236}">
                <a16:creationId xmlns:a16="http://schemas.microsoft.com/office/drawing/2014/main" id="{362020EA-579A-222F-3760-7EC50C470B72}"/>
              </a:ext>
            </a:extLst>
          </p:cNvPr>
          <p:cNvPicPr>
            <a:picLocks noChangeAspect="1"/>
          </p:cNvPicPr>
          <p:nvPr/>
        </p:nvPicPr>
        <p:blipFill>
          <a:blip r:embed="rId6"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3170041" y="1626668"/>
            <a:ext cx="720166" cy="382588"/>
          </a:xfrm>
          <a:prstGeom prst="rect">
            <a:avLst/>
          </a:prstGeom>
        </p:spPr>
      </p:pic>
      <p:pic>
        <p:nvPicPr>
          <p:cNvPr id="74" name="Picture 73">
            <a:extLst>
              <a:ext uri="{FF2B5EF4-FFF2-40B4-BE49-F238E27FC236}">
                <a16:creationId xmlns:a16="http://schemas.microsoft.com/office/drawing/2014/main" id="{8E60831E-1696-4157-2970-0E3F53F5679E}"/>
              </a:ext>
            </a:extLst>
          </p:cNvPr>
          <p:cNvPicPr>
            <a:picLocks noChangeAspect="1"/>
          </p:cNvPicPr>
          <p:nvPr/>
        </p:nvPicPr>
        <p:blipFill>
          <a:blip r:embed="rId7"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002819" y="1667431"/>
            <a:ext cx="697578" cy="363953"/>
          </a:xfrm>
          <a:prstGeom prst="rect">
            <a:avLst/>
          </a:prstGeom>
        </p:spPr>
      </p:pic>
      <p:pic>
        <p:nvPicPr>
          <p:cNvPr id="75" name="Picture 74">
            <a:extLst>
              <a:ext uri="{FF2B5EF4-FFF2-40B4-BE49-F238E27FC236}">
                <a16:creationId xmlns:a16="http://schemas.microsoft.com/office/drawing/2014/main" id="{B6E4DF13-137B-BAB8-14B4-989B794A188C}"/>
              </a:ext>
            </a:extLst>
          </p:cNvPr>
          <p:cNvPicPr>
            <a:picLocks noChangeAspect="1"/>
          </p:cNvPicPr>
          <p:nvPr/>
        </p:nvPicPr>
        <p:blipFill>
          <a:blip r:embed="rId8"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5825585" y="1511619"/>
            <a:ext cx="412949" cy="550598"/>
          </a:xfrm>
          <a:prstGeom prst="rect">
            <a:avLst/>
          </a:prstGeom>
        </p:spPr>
      </p:pic>
      <p:pic>
        <p:nvPicPr>
          <p:cNvPr id="76" name="Picture 75">
            <a:extLst>
              <a:ext uri="{FF2B5EF4-FFF2-40B4-BE49-F238E27FC236}">
                <a16:creationId xmlns:a16="http://schemas.microsoft.com/office/drawing/2014/main" id="{EE7DE955-1D25-4A9B-726F-ACDA27765988}"/>
              </a:ext>
            </a:extLst>
          </p:cNvPr>
          <p:cNvPicPr>
            <a:picLocks noChangeAspect="1"/>
          </p:cNvPicPr>
          <p:nvPr/>
        </p:nvPicPr>
        <p:blipFill>
          <a:blip r:embed="rId9"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591908" y="2349216"/>
            <a:ext cx="539876" cy="457192"/>
          </a:xfrm>
          <a:prstGeom prst="rect">
            <a:avLst/>
          </a:prstGeom>
        </p:spPr>
      </p:pic>
      <p:pic>
        <p:nvPicPr>
          <p:cNvPr id="77" name="Picture 76">
            <a:extLst>
              <a:ext uri="{FF2B5EF4-FFF2-40B4-BE49-F238E27FC236}">
                <a16:creationId xmlns:a16="http://schemas.microsoft.com/office/drawing/2014/main" id="{7672B46C-7DAF-51EF-D562-93172B2848C1}"/>
              </a:ext>
            </a:extLst>
          </p:cNvPr>
          <p:cNvPicPr>
            <a:picLocks noChangeAspect="1"/>
          </p:cNvPicPr>
          <p:nvPr/>
        </p:nvPicPr>
        <p:blipFill>
          <a:blip r:embed="rId10"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6653110" y="1630462"/>
            <a:ext cx="492564" cy="430286"/>
          </a:xfrm>
          <a:prstGeom prst="rect">
            <a:avLst/>
          </a:prstGeom>
        </p:spPr>
      </p:pic>
      <p:pic>
        <p:nvPicPr>
          <p:cNvPr id="78" name="Picture 77">
            <a:extLst>
              <a:ext uri="{FF2B5EF4-FFF2-40B4-BE49-F238E27FC236}">
                <a16:creationId xmlns:a16="http://schemas.microsoft.com/office/drawing/2014/main" id="{92E8A540-F087-A88F-8A14-26456E2FBCA9}"/>
              </a:ext>
            </a:extLst>
          </p:cNvPr>
          <p:cNvPicPr>
            <a:picLocks noChangeAspect="1"/>
          </p:cNvPicPr>
          <p:nvPr/>
        </p:nvPicPr>
        <p:blipFill>
          <a:blip r:embed="rId1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485496" y="1671746"/>
            <a:ext cx="492564" cy="404274"/>
          </a:xfrm>
          <a:prstGeom prst="rect">
            <a:avLst/>
          </a:prstGeom>
        </p:spPr>
      </p:pic>
      <p:pic>
        <p:nvPicPr>
          <p:cNvPr id="79" name="Picture 78">
            <a:extLst>
              <a:ext uri="{FF2B5EF4-FFF2-40B4-BE49-F238E27FC236}">
                <a16:creationId xmlns:a16="http://schemas.microsoft.com/office/drawing/2014/main" id="{AFEF6F6E-4891-2C3C-8921-C544AFE83674}"/>
              </a:ext>
            </a:extLst>
          </p:cNvPr>
          <p:cNvPicPr>
            <a:picLocks noChangeAspect="1"/>
          </p:cNvPicPr>
          <p:nvPr/>
        </p:nvPicPr>
        <p:blipFill>
          <a:blip r:embed="rId12"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8332737" y="1535241"/>
            <a:ext cx="446591" cy="522606"/>
          </a:xfrm>
          <a:prstGeom prst="rect">
            <a:avLst/>
          </a:prstGeom>
        </p:spPr>
      </p:pic>
      <p:pic>
        <p:nvPicPr>
          <p:cNvPr id="80" name="Picture 79">
            <a:extLst>
              <a:ext uri="{FF2B5EF4-FFF2-40B4-BE49-F238E27FC236}">
                <a16:creationId xmlns:a16="http://schemas.microsoft.com/office/drawing/2014/main" id="{E1B8DDA1-E92D-44C2-471D-6CB6E51570C3}"/>
              </a:ext>
            </a:extLst>
          </p:cNvPr>
          <p:cNvPicPr>
            <a:picLocks noChangeAspect="1"/>
          </p:cNvPicPr>
          <p:nvPr/>
        </p:nvPicPr>
        <p:blipFill>
          <a:blip r:embed="rId13"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997894" y="1630462"/>
            <a:ext cx="446591" cy="404559"/>
          </a:xfrm>
          <a:prstGeom prst="rect">
            <a:avLst/>
          </a:prstGeom>
        </p:spPr>
      </p:pic>
      <p:pic>
        <p:nvPicPr>
          <p:cNvPr id="81" name="Picture 80">
            <a:extLst>
              <a:ext uri="{FF2B5EF4-FFF2-40B4-BE49-F238E27FC236}">
                <a16:creationId xmlns:a16="http://schemas.microsoft.com/office/drawing/2014/main" id="{CC908E03-96DB-48F7-ED3B-9DF3029C593E}"/>
              </a:ext>
            </a:extLst>
          </p:cNvPr>
          <p:cNvPicPr>
            <a:picLocks noChangeAspect="1"/>
          </p:cNvPicPr>
          <p:nvPr/>
        </p:nvPicPr>
        <p:blipFill>
          <a:blip r:embed="rId14"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153536" y="1617877"/>
            <a:ext cx="454636" cy="439970"/>
          </a:xfrm>
          <a:prstGeom prst="rect">
            <a:avLst/>
          </a:prstGeom>
        </p:spPr>
      </p:pic>
      <p:pic>
        <p:nvPicPr>
          <p:cNvPr id="82" name="Picture 81">
            <a:extLst>
              <a:ext uri="{FF2B5EF4-FFF2-40B4-BE49-F238E27FC236}">
                <a16:creationId xmlns:a16="http://schemas.microsoft.com/office/drawing/2014/main" id="{1193D7FA-108F-F57B-6257-0B38032B9132}"/>
              </a:ext>
            </a:extLst>
          </p:cNvPr>
          <p:cNvPicPr>
            <a:picLocks noChangeAspect="1"/>
          </p:cNvPicPr>
          <p:nvPr/>
        </p:nvPicPr>
        <p:blipFill>
          <a:blip r:embed="rId1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938348" y="1595857"/>
            <a:ext cx="536841" cy="482061"/>
          </a:xfrm>
          <a:prstGeom prst="rect">
            <a:avLst/>
          </a:prstGeom>
        </p:spPr>
      </p:pic>
      <p:pic>
        <p:nvPicPr>
          <p:cNvPr id="83" name="Picture 82">
            <a:extLst>
              <a:ext uri="{FF2B5EF4-FFF2-40B4-BE49-F238E27FC236}">
                <a16:creationId xmlns:a16="http://schemas.microsoft.com/office/drawing/2014/main" id="{A15D9DA3-D0EB-FC89-686D-279046F28AA7}"/>
              </a:ext>
            </a:extLst>
          </p:cNvPr>
          <p:cNvPicPr>
            <a:picLocks noChangeAspect="1"/>
          </p:cNvPicPr>
          <p:nvPr/>
        </p:nvPicPr>
        <p:blipFill>
          <a:blip r:embed="rId16"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0787096" y="1573449"/>
            <a:ext cx="536841" cy="482061"/>
          </a:xfrm>
          <a:prstGeom prst="rect">
            <a:avLst/>
          </a:prstGeom>
        </p:spPr>
      </p:pic>
      <p:pic>
        <p:nvPicPr>
          <p:cNvPr id="84" name="Picture 83">
            <a:extLst>
              <a:ext uri="{FF2B5EF4-FFF2-40B4-BE49-F238E27FC236}">
                <a16:creationId xmlns:a16="http://schemas.microsoft.com/office/drawing/2014/main" id="{7C1EC9DD-9ADE-A16A-51AE-6CEDD412C928}"/>
              </a:ext>
            </a:extLst>
          </p:cNvPr>
          <p:cNvPicPr>
            <a:picLocks noChangeAspect="1"/>
          </p:cNvPicPr>
          <p:nvPr/>
        </p:nvPicPr>
        <p:blipFill>
          <a:blip r:embed="rId17"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837841" y="2358877"/>
            <a:ext cx="294467" cy="509078"/>
          </a:xfrm>
          <a:prstGeom prst="rect">
            <a:avLst/>
          </a:prstGeom>
        </p:spPr>
      </p:pic>
      <p:pic>
        <p:nvPicPr>
          <p:cNvPr id="85" name="Picture 84">
            <a:extLst>
              <a:ext uri="{FF2B5EF4-FFF2-40B4-BE49-F238E27FC236}">
                <a16:creationId xmlns:a16="http://schemas.microsoft.com/office/drawing/2014/main" id="{0FC4B185-450A-F66E-8B1E-25F353A97CC4}"/>
              </a:ext>
            </a:extLst>
          </p:cNvPr>
          <p:cNvPicPr>
            <a:picLocks noChangeAspect="1"/>
          </p:cNvPicPr>
          <p:nvPr/>
        </p:nvPicPr>
        <p:blipFill>
          <a:blip r:embed="rId18"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537421" y="2346664"/>
            <a:ext cx="293969" cy="506531"/>
          </a:xfrm>
          <a:prstGeom prst="rect">
            <a:avLst/>
          </a:prstGeom>
        </p:spPr>
      </p:pic>
      <p:pic>
        <p:nvPicPr>
          <p:cNvPr id="86" name="Picture 85">
            <a:extLst>
              <a:ext uri="{FF2B5EF4-FFF2-40B4-BE49-F238E27FC236}">
                <a16:creationId xmlns:a16="http://schemas.microsoft.com/office/drawing/2014/main" id="{E381AE15-292A-6659-0939-DC3FA978886E}"/>
              </a:ext>
            </a:extLst>
          </p:cNvPr>
          <p:cNvPicPr>
            <a:picLocks noChangeAspect="1"/>
          </p:cNvPicPr>
          <p:nvPr/>
        </p:nvPicPr>
        <p:blipFill>
          <a:blip r:embed="rId19"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3377600" y="2334075"/>
            <a:ext cx="293969" cy="506531"/>
          </a:xfrm>
          <a:prstGeom prst="rect">
            <a:avLst/>
          </a:prstGeom>
        </p:spPr>
      </p:pic>
      <p:pic>
        <p:nvPicPr>
          <p:cNvPr id="87" name="Picture 86">
            <a:extLst>
              <a:ext uri="{FF2B5EF4-FFF2-40B4-BE49-F238E27FC236}">
                <a16:creationId xmlns:a16="http://schemas.microsoft.com/office/drawing/2014/main" id="{85447849-7A34-23F7-0324-B660BB0305B1}"/>
              </a:ext>
            </a:extLst>
          </p:cNvPr>
          <p:cNvPicPr>
            <a:picLocks noChangeAspect="1"/>
          </p:cNvPicPr>
          <p:nvPr/>
        </p:nvPicPr>
        <p:blipFill>
          <a:blip r:embed="rId20"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941563" y="2345454"/>
            <a:ext cx="539876" cy="507741"/>
          </a:xfrm>
          <a:prstGeom prst="rect">
            <a:avLst/>
          </a:prstGeom>
        </p:spPr>
      </p:pic>
      <p:pic>
        <p:nvPicPr>
          <p:cNvPr id="88" name="Picture 87">
            <a:extLst>
              <a:ext uri="{FF2B5EF4-FFF2-40B4-BE49-F238E27FC236}">
                <a16:creationId xmlns:a16="http://schemas.microsoft.com/office/drawing/2014/main" id="{F9FBF8C6-AAFE-013F-7EEC-99508EB1A70B}"/>
              </a:ext>
            </a:extLst>
          </p:cNvPr>
          <p:cNvPicPr>
            <a:picLocks noChangeAspect="1"/>
          </p:cNvPicPr>
          <p:nvPr/>
        </p:nvPicPr>
        <p:blipFill>
          <a:blip r:embed="rId2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5801403" y="2345339"/>
            <a:ext cx="539876" cy="507741"/>
          </a:xfrm>
          <a:prstGeom prst="rect">
            <a:avLst/>
          </a:prstGeom>
        </p:spPr>
      </p:pic>
      <p:pic>
        <p:nvPicPr>
          <p:cNvPr id="89" name="Picture 88">
            <a:extLst>
              <a:ext uri="{FF2B5EF4-FFF2-40B4-BE49-F238E27FC236}">
                <a16:creationId xmlns:a16="http://schemas.microsoft.com/office/drawing/2014/main" id="{34998350-2B05-CD06-D04F-38760233D9BE}"/>
              </a:ext>
            </a:extLst>
          </p:cNvPr>
          <p:cNvPicPr>
            <a:picLocks noChangeAspect="1"/>
          </p:cNvPicPr>
          <p:nvPr/>
        </p:nvPicPr>
        <p:blipFill>
          <a:blip r:embed="rId22"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6564114" y="2383182"/>
            <a:ext cx="603250" cy="361950"/>
          </a:xfrm>
          <a:prstGeom prst="rect">
            <a:avLst/>
          </a:prstGeom>
        </p:spPr>
      </p:pic>
      <p:pic>
        <p:nvPicPr>
          <p:cNvPr id="90" name="Picture 89">
            <a:extLst>
              <a:ext uri="{FF2B5EF4-FFF2-40B4-BE49-F238E27FC236}">
                <a16:creationId xmlns:a16="http://schemas.microsoft.com/office/drawing/2014/main" id="{EA716001-1520-0F17-CC85-2FCEA717610A}"/>
              </a:ext>
            </a:extLst>
          </p:cNvPr>
          <p:cNvPicPr>
            <a:picLocks noChangeAspect="1"/>
          </p:cNvPicPr>
          <p:nvPr/>
        </p:nvPicPr>
        <p:blipFill>
          <a:blip r:embed="rId23"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493720" y="2331716"/>
            <a:ext cx="481014" cy="426968"/>
          </a:xfrm>
          <a:prstGeom prst="rect">
            <a:avLst/>
          </a:prstGeom>
        </p:spPr>
      </p:pic>
      <p:pic>
        <p:nvPicPr>
          <p:cNvPr id="91" name="Picture 90">
            <a:extLst>
              <a:ext uri="{FF2B5EF4-FFF2-40B4-BE49-F238E27FC236}">
                <a16:creationId xmlns:a16="http://schemas.microsoft.com/office/drawing/2014/main" id="{F496C019-A160-8F5D-17B9-CB3C250D4145}"/>
              </a:ext>
            </a:extLst>
          </p:cNvPr>
          <p:cNvPicPr>
            <a:picLocks noChangeAspect="1"/>
          </p:cNvPicPr>
          <p:nvPr/>
        </p:nvPicPr>
        <p:blipFill>
          <a:blip r:embed="rId24"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090842" y="2309982"/>
            <a:ext cx="526781" cy="507741"/>
          </a:xfrm>
          <a:prstGeom prst="rect">
            <a:avLst/>
          </a:prstGeom>
        </p:spPr>
      </p:pic>
      <p:pic>
        <p:nvPicPr>
          <p:cNvPr id="92" name="Picture 91">
            <a:extLst>
              <a:ext uri="{FF2B5EF4-FFF2-40B4-BE49-F238E27FC236}">
                <a16:creationId xmlns:a16="http://schemas.microsoft.com/office/drawing/2014/main" id="{740D8BC8-DB99-23CD-075D-D0629961CA2F}"/>
              </a:ext>
            </a:extLst>
          </p:cNvPr>
          <p:cNvPicPr>
            <a:picLocks noChangeAspect="1"/>
          </p:cNvPicPr>
          <p:nvPr/>
        </p:nvPicPr>
        <p:blipFill>
          <a:blip r:embed="rId2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8349650" y="2315079"/>
            <a:ext cx="341693" cy="455591"/>
          </a:xfrm>
          <a:prstGeom prst="rect">
            <a:avLst/>
          </a:prstGeom>
        </p:spPr>
      </p:pic>
      <p:pic>
        <p:nvPicPr>
          <p:cNvPr id="93" name="Picture 92">
            <a:extLst>
              <a:ext uri="{FF2B5EF4-FFF2-40B4-BE49-F238E27FC236}">
                <a16:creationId xmlns:a16="http://schemas.microsoft.com/office/drawing/2014/main" id="{4548D033-36E3-AD83-1B23-310BC0909B0E}"/>
              </a:ext>
            </a:extLst>
          </p:cNvPr>
          <p:cNvPicPr>
            <a:picLocks noChangeAspect="1"/>
          </p:cNvPicPr>
          <p:nvPr/>
        </p:nvPicPr>
        <p:blipFill>
          <a:blip r:embed="rId26"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153536" y="2425357"/>
            <a:ext cx="517249" cy="283980"/>
          </a:xfrm>
          <a:prstGeom prst="rect">
            <a:avLst/>
          </a:prstGeom>
        </p:spPr>
      </p:pic>
      <p:pic>
        <p:nvPicPr>
          <p:cNvPr id="94" name="Picture 93">
            <a:extLst>
              <a:ext uri="{FF2B5EF4-FFF2-40B4-BE49-F238E27FC236}">
                <a16:creationId xmlns:a16="http://schemas.microsoft.com/office/drawing/2014/main" id="{3C2E1CFA-BBA6-9108-B597-462AFC3A9BC0}"/>
              </a:ext>
            </a:extLst>
          </p:cNvPr>
          <p:cNvPicPr>
            <a:picLocks noChangeAspect="1"/>
          </p:cNvPicPr>
          <p:nvPr/>
        </p:nvPicPr>
        <p:blipFill>
          <a:blip r:embed="rId27"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0107398" y="2315465"/>
            <a:ext cx="242970" cy="506531"/>
          </a:xfrm>
          <a:prstGeom prst="rect">
            <a:avLst/>
          </a:prstGeom>
        </p:spPr>
      </p:pic>
      <p:pic>
        <p:nvPicPr>
          <p:cNvPr id="95" name="Picture 94">
            <a:extLst>
              <a:ext uri="{FF2B5EF4-FFF2-40B4-BE49-F238E27FC236}">
                <a16:creationId xmlns:a16="http://schemas.microsoft.com/office/drawing/2014/main" id="{B88B0F5E-AA86-CC97-4EFA-11E05D625A77}"/>
              </a:ext>
            </a:extLst>
          </p:cNvPr>
          <p:cNvPicPr>
            <a:picLocks noChangeAspect="1"/>
          </p:cNvPicPr>
          <p:nvPr/>
        </p:nvPicPr>
        <p:blipFill>
          <a:blip r:embed="rId28"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0836297" y="2367653"/>
            <a:ext cx="526781" cy="392398"/>
          </a:xfrm>
          <a:prstGeom prst="rect">
            <a:avLst/>
          </a:prstGeom>
        </p:spPr>
      </p:pic>
      <p:pic>
        <p:nvPicPr>
          <p:cNvPr id="96" name="Picture 95">
            <a:extLst>
              <a:ext uri="{FF2B5EF4-FFF2-40B4-BE49-F238E27FC236}">
                <a16:creationId xmlns:a16="http://schemas.microsoft.com/office/drawing/2014/main" id="{E09371B7-99EA-3D2F-B8A2-D2C93515C552}"/>
              </a:ext>
            </a:extLst>
          </p:cNvPr>
          <p:cNvPicPr>
            <a:picLocks noChangeAspect="1"/>
          </p:cNvPicPr>
          <p:nvPr/>
        </p:nvPicPr>
        <p:blipFill>
          <a:blip r:embed="rId29"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649217" y="3195519"/>
            <a:ext cx="399035" cy="441285"/>
          </a:xfrm>
          <a:prstGeom prst="rect">
            <a:avLst/>
          </a:prstGeom>
        </p:spPr>
      </p:pic>
      <p:pic>
        <p:nvPicPr>
          <p:cNvPr id="97" name="Picture 96">
            <a:extLst>
              <a:ext uri="{FF2B5EF4-FFF2-40B4-BE49-F238E27FC236}">
                <a16:creationId xmlns:a16="http://schemas.microsoft.com/office/drawing/2014/main" id="{D90169C7-E410-8B39-8F93-F3088E89739F}"/>
              </a:ext>
            </a:extLst>
          </p:cNvPr>
          <p:cNvPicPr>
            <a:picLocks noChangeAspect="1"/>
          </p:cNvPicPr>
          <p:nvPr/>
        </p:nvPicPr>
        <p:blipFill>
          <a:blip r:embed="rId30"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81376" y="3207613"/>
            <a:ext cx="441285" cy="441285"/>
          </a:xfrm>
          <a:prstGeom prst="rect">
            <a:avLst/>
          </a:prstGeom>
        </p:spPr>
      </p:pic>
      <p:cxnSp>
        <p:nvCxnSpPr>
          <p:cNvPr id="98" name="Straight Connector 97">
            <a:extLst>
              <a:ext uri="{FF2B5EF4-FFF2-40B4-BE49-F238E27FC236}">
                <a16:creationId xmlns:a16="http://schemas.microsoft.com/office/drawing/2014/main" id="{911444BB-B4FD-FDA3-6C41-BF3DC157A9E0}"/>
              </a:ext>
            </a:extLst>
          </p:cNvPr>
          <p:cNvCxnSpPr/>
          <p:nvPr/>
        </p:nvCxnSpPr>
        <p:spPr>
          <a:xfrm>
            <a:off x="585618" y="2173764"/>
            <a:ext cx="10935439" cy="0"/>
          </a:xfrm>
          <a:prstGeom prst="line">
            <a:avLst/>
          </a:prstGeom>
          <a:noFill/>
          <a:ln w="12700" cap="flat" cmpd="sng" algn="ctr">
            <a:solidFill>
              <a:srgbClr val="0E2554"/>
            </a:solidFill>
            <a:prstDash val="solid"/>
            <a:miter lim="800000"/>
          </a:ln>
          <a:effectLst/>
        </p:spPr>
      </p:cxnSp>
      <p:cxnSp>
        <p:nvCxnSpPr>
          <p:cNvPr id="99" name="Straight Connector 98">
            <a:extLst>
              <a:ext uri="{FF2B5EF4-FFF2-40B4-BE49-F238E27FC236}">
                <a16:creationId xmlns:a16="http://schemas.microsoft.com/office/drawing/2014/main" id="{42BEE6E3-A0F0-8D70-10F8-1A62D3A5F98B}"/>
              </a:ext>
            </a:extLst>
          </p:cNvPr>
          <p:cNvCxnSpPr/>
          <p:nvPr/>
        </p:nvCxnSpPr>
        <p:spPr>
          <a:xfrm>
            <a:off x="585618" y="2996724"/>
            <a:ext cx="10935439" cy="0"/>
          </a:xfrm>
          <a:prstGeom prst="line">
            <a:avLst/>
          </a:prstGeom>
          <a:noFill/>
          <a:ln w="12700" cap="flat" cmpd="sng" algn="ctr">
            <a:solidFill>
              <a:srgbClr val="0E2554"/>
            </a:solidFill>
            <a:prstDash val="solid"/>
            <a:miter lim="800000"/>
          </a:ln>
          <a:effectLst/>
        </p:spPr>
      </p:cxnSp>
      <p:cxnSp>
        <p:nvCxnSpPr>
          <p:cNvPr id="100" name="Straight Connector 99">
            <a:extLst>
              <a:ext uri="{FF2B5EF4-FFF2-40B4-BE49-F238E27FC236}">
                <a16:creationId xmlns:a16="http://schemas.microsoft.com/office/drawing/2014/main" id="{FE854821-7C52-0F88-3D6D-5D4BF80542FC}"/>
              </a:ext>
            </a:extLst>
          </p:cNvPr>
          <p:cNvCxnSpPr/>
          <p:nvPr/>
        </p:nvCxnSpPr>
        <p:spPr>
          <a:xfrm>
            <a:off x="585618" y="3819684"/>
            <a:ext cx="10935439" cy="0"/>
          </a:xfrm>
          <a:prstGeom prst="line">
            <a:avLst/>
          </a:prstGeom>
          <a:noFill/>
          <a:ln w="12700" cap="flat" cmpd="sng" algn="ctr">
            <a:solidFill>
              <a:srgbClr val="0E2554"/>
            </a:solidFill>
            <a:prstDash val="solid"/>
            <a:miter lim="800000"/>
          </a:ln>
          <a:effectLst/>
        </p:spPr>
      </p:cxnSp>
      <p:pic>
        <p:nvPicPr>
          <p:cNvPr id="101" name="Picture 100">
            <a:extLst>
              <a:ext uri="{FF2B5EF4-FFF2-40B4-BE49-F238E27FC236}">
                <a16:creationId xmlns:a16="http://schemas.microsoft.com/office/drawing/2014/main" id="{DC56FB26-C570-AE73-19E6-02B0ADE3663E}"/>
              </a:ext>
            </a:extLst>
          </p:cNvPr>
          <p:cNvPicPr>
            <a:picLocks noChangeAspect="1"/>
          </p:cNvPicPr>
          <p:nvPr/>
        </p:nvPicPr>
        <p:blipFill>
          <a:blip r:embed="rId3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439311" y="3176972"/>
            <a:ext cx="548821" cy="459823"/>
          </a:xfrm>
          <a:prstGeom prst="rect">
            <a:avLst/>
          </a:prstGeom>
        </p:spPr>
      </p:pic>
      <p:pic>
        <p:nvPicPr>
          <p:cNvPr id="102" name="Picture 101">
            <a:extLst>
              <a:ext uri="{FF2B5EF4-FFF2-40B4-BE49-F238E27FC236}">
                <a16:creationId xmlns:a16="http://schemas.microsoft.com/office/drawing/2014/main" id="{145528D3-C8C2-8598-4ABF-6712EEDAA33A}"/>
              </a:ext>
            </a:extLst>
          </p:cNvPr>
          <p:cNvPicPr>
            <a:picLocks noChangeAspect="1"/>
          </p:cNvPicPr>
          <p:nvPr/>
        </p:nvPicPr>
        <p:blipFill>
          <a:blip r:embed="rId32"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3248656" y="3233398"/>
            <a:ext cx="593706" cy="317890"/>
          </a:xfrm>
          <a:prstGeom prst="rect">
            <a:avLst/>
          </a:prstGeom>
        </p:spPr>
      </p:pic>
      <p:pic>
        <p:nvPicPr>
          <p:cNvPr id="103" name="Picture 102">
            <a:extLst>
              <a:ext uri="{FF2B5EF4-FFF2-40B4-BE49-F238E27FC236}">
                <a16:creationId xmlns:a16="http://schemas.microsoft.com/office/drawing/2014/main" id="{CC26BE91-906A-B687-F083-6D3CD978B19A}"/>
              </a:ext>
            </a:extLst>
          </p:cNvPr>
          <p:cNvPicPr>
            <a:picLocks noChangeAspect="1"/>
          </p:cNvPicPr>
          <p:nvPr/>
        </p:nvPicPr>
        <p:blipFill>
          <a:blip r:embed="rId33"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127783" y="3148443"/>
            <a:ext cx="523655" cy="467182"/>
          </a:xfrm>
          <a:prstGeom prst="rect">
            <a:avLst/>
          </a:prstGeom>
        </p:spPr>
      </p:pic>
      <p:pic>
        <p:nvPicPr>
          <p:cNvPr id="104" name="Picture 103">
            <a:extLst>
              <a:ext uri="{FF2B5EF4-FFF2-40B4-BE49-F238E27FC236}">
                <a16:creationId xmlns:a16="http://schemas.microsoft.com/office/drawing/2014/main" id="{5C7B8B69-B1EC-D003-A04A-00F8EB772C49}"/>
              </a:ext>
            </a:extLst>
          </p:cNvPr>
          <p:cNvPicPr>
            <a:picLocks noChangeAspect="1"/>
          </p:cNvPicPr>
          <p:nvPr/>
        </p:nvPicPr>
        <p:blipFill>
          <a:blip r:embed="rId34"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968179" y="3148443"/>
            <a:ext cx="513260" cy="456801"/>
          </a:xfrm>
          <a:prstGeom prst="rect">
            <a:avLst/>
          </a:prstGeom>
        </p:spPr>
      </p:pic>
      <p:pic>
        <p:nvPicPr>
          <p:cNvPr id="105" name="Picture 104">
            <a:extLst>
              <a:ext uri="{FF2B5EF4-FFF2-40B4-BE49-F238E27FC236}">
                <a16:creationId xmlns:a16="http://schemas.microsoft.com/office/drawing/2014/main" id="{CAD6F1E0-1C3F-24B5-1055-54285BF7E7DF}"/>
              </a:ext>
            </a:extLst>
          </p:cNvPr>
          <p:cNvPicPr>
            <a:picLocks noChangeAspect="1"/>
          </p:cNvPicPr>
          <p:nvPr/>
        </p:nvPicPr>
        <p:blipFill>
          <a:blip r:embed="rId3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5851118" y="3125864"/>
            <a:ext cx="402683" cy="510931"/>
          </a:xfrm>
          <a:prstGeom prst="rect">
            <a:avLst/>
          </a:prstGeom>
        </p:spPr>
      </p:pic>
      <p:pic>
        <p:nvPicPr>
          <p:cNvPr id="106" name="Picture 105">
            <a:extLst>
              <a:ext uri="{FF2B5EF4-FFF2-40B4-BE49-F238E27FC236}">
                <a16:creationId xmlns:a16="http://schemas.microsoft.com/office/drawing/2014/main" id="{86ED4870-4783-EC7E-4F6F-C4415B84D0D3}"/>
              </a:ext>
            </a:extLst>
          </p:cNvPr>
          <p:cNvPicPr>
            <a:picLocks noChangeAspect="1"/>
          </p:cNvPicPr>
          <p:nvPr/>
        </p:nvPicPr>
        <p:blipFill>
          <a:blip r:embed="rId36"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6591542" y="3095320"/>
            <a:ext cx="502798" cy="541475"/>
          </a:xfrm>
          <a:prstGeom prst="rect">
            <a:avLst/>
          </a:prstGeom>
        </p:spPr>
      </p:pic>
      <p:pic>
        <p:nvPicPr>
          <p:cNvPr id="107" name="Picture 106">
            <a:extLst>
              <a:ext uri="{FF2B5EF4-FFF2-40B4-BE49-F238E27FC236}">
                <a16:creationId xmlns:a16="http://schemas.microsoft.com/office/drawing/2014/main" id="{C6E61AE9-C09A-B4C5-3D31-2040F1B9779D}"/>
              </a:ext>
            </a:extLst>
          </p:cNvPr>
          <p:cNvPicPr>
            <a:picLocks noChangeAspect="1"/>
          </p:cNvPicPr>
          <p:nvPr/>
        </p:nvPicPr>
        <p:blipFill>
          <a:blip r:embed="rId37"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451381" y="3171453"/>
            <a:ext cx="483496" cy="410712"/>
          </a:xfrm>
          <a:prstGeom prst="rect">
            <a:avLst/>
          </a:prstGeom>
        </p:spPr>
      </p:pic>
      <p:pic>
        <p:nvPicPr>
          <p:cNvPr id="108" name="Picture 107">
            <a:extLst>
              <a:ext uri="{FF2B5EF4-FFF2-40B4-BE49-F238E27FC236}">
                <a16:creationId xmlns:a16="http://schemas.microsoft.com/office/drawing/2014/main" id="{BFBDCC63-92AB-811E-5749-9CB3C9DCBB34}"/>
              </a:ext>
            </a:extLst>
          </p:cNvPr>
          <p:cNvPicPr>
            <a:picLocks noChangeAspect="1"/>
          </p:cNvPicPr>
          <p:nvPr/>
        </p:nvPicPr>
        <p:blipFill>
          <a:blip r:embed="rId38"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8298106" y="3161372"/>
            <a:ext cx="483491" cy="452955"/>
          </a:xfrm>
          <a:prstGeom prst="rect">
            <a:avLst/>
          </a:prstGeom>
        </p:spPr>
      </p:pic>
      <p:pic>
        <p:nvPicPr>
          <p:cNvPr id="109" name="Picture 108">
            <a:extLst>
              <a:ext uri="{FF2B5EF4-FFF2-40B4-BE49-F238E27FC236}">
                <a16:creationId xmlns:a16="http://schemas.microsoft.com/office/drawing/2014/main" id="{AF0C2523-6234-683F-D4DB-2E22F4E8FD58}"/>
              </a:ext>
            </a:extLst>
          </p:cNvPr>
          <p:cNvPicPr>
            <a:picLocks noChangeAspect="1"/>
          </p:cNvPicPr>
          <p:nvPr/>
        </p:nvPicPr>
        <p:blipFill>
          <a:blip r:embed="rId39"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138647" y="3171048"/>
            <a:ext cx="483489" cy="448004"/>
          </a:xfrm>
          <a:prstGeom prst="rect">
            <a:avLst/>
          </a:prstGeom>
        </p:spPr>
      </p:pic>
      <p:pic>
        <p:nvPicPr>
          <p:cNvPr id="110" name="Picture 109">
            <a:extLst>
              <a:ext uri="{FF2B5EF4-FFF2-40B4-BE49-F238E27FC236}">
                <a16:creationId xmlns:a16="http://schemas.microsoft.com/office/drawing/2014/main" id="{23A1B5EF-A4FE-2C29-6FBC-33F8E7FA9AA6}"/>
              </a:ext>
            </a:extLst>
          </p:cNvPr>
          <p:cNvPicPr>
            <a:picLocks noChangeAspect="1"/>
          </p:cNvPicPr>
          <p:nvPr/>
        </p:nvPicPr>
        <p:blipFill>
          <a:blip r:embed="rId40"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950864" y="3215865"/>
            <a:ext cx="524325" cy="336722"/>
          </a:xfrm>
          <a:prstGeom prst="rect">
            <a:avLst/>
          </a:prstGeom>
        </p:spPr>
      </p:pic>
      <p:pic>
        <p:nvPicPr>
          <p:cNvPr id="111" name="Picture 110">
            <a:extLst>
              <a:ext uri="{FF2B5EF4-FFF2-40B4-BE49-F238E27FC236}">
                <a16:creationId xmlns:a16="http://schemas.microsoft.com/office/drawing/2014/main" id="{CE577DC4-4C1A-7FE4-B5FF-9AC0E2E6E7E2}"/>
              </a:ext>
            </a:extLst>
          </p:cNvPr>
          <p:cNvPicPr>
            <a:picLocks noChangeAspect="1"/>
          </p:cNvPicPr>
          <p:nvPr/>
        </p:nvPicPr>
        <p:blipFill>
          <a:blip r:embed="rId4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0853312" y="3153392"/>
            <a:ext cx="475406" cy="483396"/>
          </a:xfrm>
          <a:prstGeom prst="rect">
            <a:avLst/>
          </a:prstGeom>
        </p:spPr>
      </p:pic>
      <p:pic>
        <p:nvPicPr>
          <p:cNvPr id="112" name="Picture 111">
            <a:extLst>
              <a:ext uri="{FF2B5EF4-FFF2-40B4-BE49-F238E27FC236}">
                <a16:creationId xmlns:a16="http://schemas.microsoft.com/office/drawing/2014/main" id="{DE4FC159-A7FC-E817-1094-CF990B57CD98}"/>
              </a:ext>
            </a:extLst>
          </p:cNvPr>
          <p:cNvPicPr>
            <a:picLocks noChangeAspect="1"/>
          </p:cNvPicPr>
          <p:nvPr/>
        </p:nvPicPr>
        <p:blipFill>
          <a:blip r:embed="rId42"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481867" y="3973835"/>
            <a:ext cx="490744" cy="490744"/>
          </a:xfrm>
          <a:prstGeom prst="rect">
            <a:avLst/>
          </a:prstGeom>
        </p:spPr>
      </p:pic>
      <p:pic>
        <p:nvPicPr>
          <p:cNvPr id="113" name="Picture 112">
            <a:extLst>
              <a:ext uri="{FF2B5EF4-FFF2-40B4-BE49-F238E27FC236}">
                <a16:creationId xmlns:a16="http://schemas.microsoft.com/office/drawing/2014/main" id="{A54EA6EE-4524-FA59-7803-9A1F4F28027C}"/>
              </a:ext>
            </a:extLst>
          </p:cNvPr>
          <p:cNvPicPr>
            <a:picLocks noChangeAspect="1"/>
          </p:cNvPicPr>
          <p:nvPr/>
        </p:nvPicPr>
        <p:blipFill>
          <a:blip r:embed="rId43"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3305725" y="4034125"/>
            <a:ext cx="602044" cy="355538"/>
          </a:xfrm>
          <a:prstGeom prst="rect">
            <a:avLst/>
          </a:prstGeom>
        </p:spPr>
      </p:pic>
      <p:pic>
        <p:nvPicPr>
          <p:cNvPr id="114" name="Picture 113">
            <a:extLst>
              <a:ext uri="{FF2B5EF4-FFF2-40B4-BE49-F238E27FC236}">
                <a16:creationId xmlns:a16="http://schemas.microsoft.com/office/drawing/2014/main" id="{BD74115C-9601-9E73-EC5F-151434C9BF6D}"/>
              </a:ext>
            </a:extLst>
          </p:cNvPr>
          <p:cNvPicPr>
            <a:picLocks noChangeAspect="1"/>
          </p:cNvPicPr>
          <p:nvPr/>
        </p:nvPicPr>
        <p:blipFill>
          <a:blip r:embed="rId44"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206687" y="4001497"/>
            <a:ext cx="568814" cy="422387"/>
          </a:xfrm>
          <a:prstGeom prst="rect">
            <a:avLst/>
          </a:prstGeom>
        </p:spPr>
      </p:pic>
      <p:pic>
        <p:nvPicPr>
          <p:cNvPr id="115" name="Picture 114">
            <a:extLst>
              <a:ext uri="{FF2B5EF4-FFF2-40B4-BE49-F238E27FC236}">
                <a16:creationId xmlns:a16="http://schemas.microsoft.com/office/drawing/2014/main" id="{7368B559-0CAA-A2B0-AE47-55FCDF90D94E}"/>
              </a:ext>
            </a:extLst>
          </p:cNvPr>
          <p:cNvPicPr>
            <a:picLocks noChangeAspect="1"/>
          </p:cNvPicPr>
          <p:nvPr/>
        </p:nvPicPr>
        <p:blipFill>
          <a:blip r:embed="rId4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5078237" y="3952815"/>
            <a:ext cx="370795" cy="545893"/>
          </a:xfrm>
          <a:prstGeom prst="rect">
            <a:avLst/>
          </a:prstGeom>
        </p:spPr>
      </p:pic>
      <p:pic>
        <p:nvPicPr>
          <p:cNvPr id="116" name="Picture 115">
            <a:extLst>
              <a:ext uri="{FF2B5EF4-FFF2-40B4-BE49-F238E27FC236}">
                <a16:creationId xmlns:a16="http://schemas.microsoft.com/office/drawing/2014/main" id="{FCE15606-3712-DF18-CF1E-2CA8EDB4D1B7}"/>
              </a:ext>
            </a:extLst>
          </p:cNvPr>
          <p:cNvPicPr>
            <a:picLocks noChangeAspect="1"/>
          </p:cNvPicPr>
          <p:nvPr/>
        </p:nvPicPr>
        <p:blipFill>
          <a:blip r:embed="rId46"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812546" y="3906100"/>
            <a:ext cx="389352" cy="584028"/>
          </a:xfrm>
          <a:prstGeom prst="rect">
            <a:avLst/>
          </a:prstGeom>
        </p:spPr>
      </p:pic>
      <p:pic>
        <p:nvPicPr>
          <p:cNvPr id="117" name="Picture 116">
            <a:extLst>
              <a:ext uri="{FF2B5EF4-FFF2-40B4-BE49-F238E27FC236}">
                <a16:creationId xmlns:a16="http://schemas.microsoft.com/office/drawing/2014/main" id="{112B2326-4219-2843-F317-F6E88E9D7FF2}"/>
              </a:ext>
            </a:extLst>
          </p:cNvPr>
          <p:cNvPicPr>
            <a:picLocks noChangeAspect="1"/>
          </p:cNvPicPr>
          <p:nvPr/>
        </p:nvPicPr>
        <p:blipFill>
          <a:blip r:embed="rId47"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5814297" y="3978191"/>
            <a:ext cx="431946" cy="511937"/>
          </a:xfrm>
          <a:prstGeom prst="rect">
            <a:avLst/>
          </a:prstGeom>
        </p:spPr>
      </p:pic>
      <p:pic>
        <p:nvPicPr>
          <p:cNvPr id="118" name="Picture 117">
            <a:extLst>
              <a:ext uri="{FF2B5EF4-FFF2-40B4-BE49-F238E27FC236}">
                <a16:creationId xmlns:a16="http://schemas.microsoft.com/office/drawing/2014/main" id="{7065097B-D1DE-101F-CCA1-1E39861A0EFF}"/>
              </a:ext>
            </a:extLst>
          </p:cNvPr>
          <p:cNvPicPr>
            <a:picLocks noChangeAspect="1"/>
          </p:cNvPicPr>
          <p:nvPr/>
        </p:nvPicPr>
        <p:blipFill>
          <a:blip r:embed="rId48"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574572" y="4000093"/>
            <a:ext cx="527322" cy="522440"/>
          </a:xfrm>
          <a:prstGeom prst="rect">
            <a:avLst/>
          </a:prstGeom>
        </p:spPr>
      </p:pic>
      <p:pic>
        <p:nvPicPr>
          <p:cNvPr id="119" name="Picture 118">
            <a:extLst>
              <a:ext uri="{FF2B5EF4-FFF2-40B4-BE49-F238E27FC236}">
                <a16:creationId xmlns:a16="http://schemas.microsoft.com/office/drawing/2014/main" id="{618366D1-E46B-36F4-E83E-34947FBACCDB}"/>
              </a:ext>
            </a:extLst>
          </p:cNvPr>
          <p:cNvPicPr>
            <a:picLocks noChangeAspect="1"/>
          </p:cNvPicPr>
          <p:nvPr/>
        </p:nvPicPr>
        <p:blipFill>
          <a:blip r:embed="rId49"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6655064" y="3962866"/>
            <a:ext cx="456382" cy="541954"/>
          </a:xfrm>
          <a:prstGeom prst="rect">
            <a:avLst/>
          </a:prstGeom>
        </p:spPr>
      </p:pic>
      <p:pic>
        <p:nvPicPr>
          <p:cNvPr id="120" name="Picture 119">
            <a:extLst>
              <a:ext uri="{FF2B5EF4-FFF2-40B4-BE49-F238E27FC236}">
                <a16:creationId xmlns:a16="http://schemas.microsoft.com/office/drawing/2014/main" id="{61E064BC-EBB9-F315-DBE5-3A495084D4FA}"/>
              </a:ext>
            </a:extLst>
          </p:cNvPr>
          <p:cNvPicPr>
            <a:picLocks noChangeAspect="1"/>
          </p:cNvPicPr>
          <p:nvPr/>
        </p:nvPicPr>
        <p:blipFill>
          <a:blip r:embed="rId50"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451381" y="4034125"/>
            <a:ext cx="566894" cy="337325"/>
          </a:xfrm>
          <a:prstGeom prst="rect">
            <a:avLst/>
          </a:prstGeom>
        </p:spPr>
      </p:pic>
      <p:pic>
        <p:nvPicPr>
          <p:cNvPr id="121" name="Picture 120">
            <a:extLst>
              <a:ext uri="{FF2B5EF4-FFF2-40B4-BE49-F238E27FC236}">
                <a16:creationId xmlns:a16="http://schemas.microsoft.com/office/drawing/2014/main" id="{4CE19A0E-9BEB-3F0B-5AAA-8C9B82B39093}"/>
              </a:ext>
            </a:extLst>
          </p:cNvPr>
          <p:cNvPicPr>
            <a:picLocks noChangeAspect="1"/>
          </p:cNvPicPr>
          <p:nvPr/>
        </p:nvPicPr>
        <p:blipFill>
          <a:blip r:embed="rId5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8279638" y="3921563"/>
            <a:ext cx="499687" cy="512179"/>
          </a:xfrm>
          <a:prstGeom prst="rect">
            <a:avLst/>
          </a:prstGeom>
        </p:spPr>
      </p:pic>
      <p:pic>
        <p:nvPicPr>
          <p:cNvPr id="122" name="Picture 121">
            <a:extLst>
              <a:ext uri="{FF2B5EF4-FFF2-40B4-BE49-F238E27FC236}">
                <a16:creationId xmlns:a16="http://schemas.microsoft.com/office/drawing/2014/main" id="{06709715-2E16-96E5-06F6-6E8F02D5C942}"/>
              </a:ext>
            </a:extLst>
          </p:cNvPr>
          <p:cNvPicPr>
            <a:picLocks noChangeAspect="1"/>
          </p:cNvPicPr>
          <p:nvPr/>
        </p:nvPicPr>
        <p:blipFill>
          <a:blip r:embed="rId52"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128758" y="3962866"/>
            <a:ext cx="491106" cy="497654"/>
          </a:xfrm>
          <a:prstGeom prst="rect">
            <a:avLst/>
          </a:prstGeom>
        </p:spPr>
      </p:pic>
      <p:pic>
        <p:nvPicPr>
          <p:cNvPr id="123" name="Picture 122">
            <a:extLst>
              <a:ext uri="{FF2B5EF4-FFF2-40B4-BE49-F238E27FC236}">
                <a16:creationId xmlns:a16="http://schemas.microsoft.com/office/drawing/2014/main" id="{5A85B101-6812-987C-1426-670ECABA88E8}"/>
              </a:ext>
            </a:extLst>
          </p:cNvPr>
          <p:cNvPicPr>
            <a:picLocks noChangeAspect="1"/>
          </p:cNvPicPr>
          <p:nvPr/>
        </p:nvPicPr>
        <p:blipFill>
          <a:blip r:embed="rId53"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9980022" y="4005515"/>
            <a:ext cx="491100" cy="479407"/>
          </a:xfrm>
          <a:prstGeom prst="rect">
            <a:avLst/>
          </a:prstGeom>
        </p:spPr>
      </p:pic>
      <p:pic>
        <p:nvPicPr>
          <p:cNvPr id="124" name="Picture 123">
            <a:extLst>
              <a:ext uri="{FF2B5EF4-FFF2-40B4-BE49-F238E27FC236}">
                <a16:creationId xmlns:a16="http://schemas.microsoft.com/office/drawing/2014/main" id="{80E40175-8BFA-7A6F-53B2-898EC429FB76}"/>
              </a:ext>
            </a:extLst>
          </p:cNvPr>
          <p:cNvPicPr>
            <a:picLocks noChangeAspect="1"/>
          </p:cNvPicPr>
          <p:nvPr/>
        </p:nvPicPr>
        <p:blipFill>
          <a:blip r:embed="rId54"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0830478" y="4030080"/>
            <a:ext cx="618349" cy="410129"/>
          </a:xfrm>
          <a:prstGeom prst="rect">
            <a:avLst/>
          </a:prstGeom>
        </p:spPr>
      </p:pic>
      <p:cxnSp>
        <p:nvCxnSpPr>
          <p:cNvPr id="125" name="Straight Connector 124">
            <a:extLst>
              <a:ext uri="{FF2B5EF4-FFF2-40B4-BE49-F238E27FC236}">
                <a16:creationId xmlns:a16="http://schemas.microsoft.com/office/drawing/2014/main" id="{D14F4D6F-CDF7-3035-6D96-273CFACDC614}"/>
              </a:ext>
            </a:extLst>
          </p:cNvPr>
          <p:cNvCxnSpPr/>
          <p:nvPr/>
        </p:nvCxnSpPr>
        <p:spPr>
          <a:xfrm>
            <a:off x="585618" y="4644277"/>
            <a:ext cx="10935439" cy="0"/>
          </a:xfrm>
          <a:prstGeom prst="line">
            <a:avLst/>
          </a:prstGeom>
          <a:noFill/>
          <a:ln w="12700" cap="flat" cmpd="sng" algn="ctr">
            <a:solidFill>
              <a:srgbClr val="0E2554"/>
            </a:solidFill>
            <a:prstDash val="solid"/>
            <a:miter lim="800000"/>
          </a:ln>
          <a:effectLst/>
        </p:spPr>
      </p:cxnSp>
      <p:pic>
        <p:nvPicPr>
          <p:cNvPr id="126" name="Picture 125">
            <a:extLst>
              <a:ext uri="{FF2B5EF4-FFF2-40B4-BE49-F238E27FC236}">
                <a16:creationId xmlns:a16="http://schemas.microsoft.com/office/drawing/2014/main" id="{0C0A3446-ECE3-EA59-309D-4CDBE569D407}"/>
              </a:ext>
            </a:extLst>
          </p:cNvPr>
          <p:cNvPicPr>
            <a:picLocks noChangeAspect="1"/>
          </p:cNvPicPr>
          <p:nvPr/>
        </p:nvPicPr>
        <p:blipFill>
          <a:blip r:embed="rId5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743172" y="4797040"/>
            <a:ext cx="445529" cy="549342"/>
          </a:xfrm>
          <a:prstGeom prst="rect">
            <a:avLst/>
          </a:prstGeom>
        </p:spPr>
      </p:pic>
      <p:grpSp>
        <p:nvGrpSpPr>
          <p:cNvPr id="127" name="Group 126">
            <a:extLst>
              <a:ext uri="{FF2B5EF4-FFF2-40B4-BE49-F238E27FC236}">
                <a16:creationId xmlns:a16="http://schemas.microsoft.com/office/drawing/2014/main" id="{B3E81263-1B3D-5F47-6C76-BA4003DBC8AA}"/>
              </a:ext>
            </a:extLst>
          </p:cNvPr>
          <p:cNvGrpSpPr/>
          <p:nvPr/>
        </p:nvGrpSpPr>
        <p:grpSpPr>
          <a:xfrm>
            <a:off x="3771695" y="4824068"/>
            <a:ext cx="725467" cy="622698"/>
            <a:chOff x="1886882" y="4806020"/>
            <a:chExt cx="1028933" cy="864233"/>
          </a:xfrm>
        </p:grpSpPr>
        <p:pic>
          <p:nvPicPr>
            <p:cNvPr id="128" name="Picture 127">
              <a:extLst>
                <a:ext uri="{FF2B5EF4-FFF2-40B4-BE49-F238E27FC236}">
                  <a16:creationId xmlns:a16="http://schemas.microsoft.com/office/drawing/2014/main" id="{4AB01907-BFD8-E4DC-991E-C477997830BA}"/>
                </a:ext>
              </a:extLst>
            </p:cNvPr>
            <p:cNvPicPr>
              <a:picLocks noChangeAspect="1"/>
            </p:cNvPicPr>
            <p:nvPr/>
          </p:nvPicPr>
          <p:blipFill>
            <a:blip r:embed="rId1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423251" y="5232331"/>
              <a:ext cx="492564" cy="404274"/>
            </a:xfrm>
            <a:prstGeom prst="rect">
              <a:avLst/>
            </a:prstGeom>
          </p:spPr>
        </p:pic>
        <p:pic>
          <p:nvPicPr>
            <p:cNvPr id="129" name="Picture 128">
              <a:extLst>
                <a:ext uri="{FF2B5EF4-FFF2-40B4-BE49-F238E27FC236}">
                  <a16:creationId xmlns:a16="http://schemas.microsoft.com/office/drawing/2014/main" id="{D37D40CA-6412-9E10-AAA6-4C09C737EF72}"/>
                </a:ext>
              </a:extLst>
            </p:cNvPr>
            <p:cNvPicPr>
              <a:picLocks noChangeAspect="1"/>
            </p:cNvPicPr>
            <p:nvPr/>
          </p:nvPicPr>
          <p:blipFill>
            <a:blip r:embed="rId1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199529" y="4806020"/>
              <a:ext cx="492564" cy="404274"/>
            </a:xfrm>
            <a:prstGeom prst="rect">
              <a:avLst/>
            </a:prstGeom>
          </p:spPr>
        </p:pic>
        <p:pic>
          <p:nvPicPr>
            <p:cNvPr id="130" name="Picture 129">
              <a:extLst>
                <a:ext uri="{FF2B5EF4-FFF2-40B4-BE49-F238E27FC236}">
                  <a16:creationId xmlns:a16="http://schemas.microsoft.com/office/drawing/2014/main" id="{D91C8AF9-777A-E3A0-F1CC-9DC62D2B1BB5}"/>
                </a:ext>
              </a:extLst>
            </p:cNvPr>
            <p:cNvPicPr>
              <a:picLocks noChangeAspect="1"/>
            </p:cNvPicPr>
            <p:nvPr/>
          </p:nvPicPr>
          <p:blipFill>
            <a:blip r:embed="rId11"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1886882" y="5265979"/>
              <a:ext cx="492564" cy="404274"/>
            </a:xfrm>
            <a:prstGeom prst="rect">
              <a:avLst/>
            </a:prstGeom>
          </p:spPr>
        </p:pic>
      </p:grpSp>
      <p:pic>
        <p:nvPicPr>
          <p:cNvPr id="131" name="Picture 130">
            <a:extLst>
              <a:ext uri="{FF2B5EF4-FFF2-40B4-BE49-F238E27FC236}">
                <a16:creationId xmlns:a16="http://schemas.microsoft.com/office/drawing/2014/main" id="{B153EFC7-EF7F-232B-F1F5-C84FC14E0C3E}"/>
              </a:ext>
            </a:extLst>
          </p:cNvPr>
          <p:cNvPicPr>
            <a:picLocks noChangeAspect="1"/>
          </p:cNvPicPr>
          <p:nvPr/>
        </p:nvPicPr>
        <p:blipFill>
          <a:blip r:embed="rId10"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2788342" y="4792271"/>
            <a:ext cx="700944" cy="612319"/>
          </a:xfrm>
          <a:prstGeom prst="rect">
            <a:avLst/>
          </a:prstGeom>
        </p:spPr>
      </p:pic>
      <p:pic>
        <p:nvPicPr>
          <p:cNvPr id="132" name="Picture 131">
            <a:extLst>
              <a:ext uri="{FF2B5EF4-FFF2-40B4-BE49-F238E27FC236}">
                <a16:creationId xmlns:a16="http://schemas.microsoft.com/office/drawing/2014/main" id="{165D2300-13D4-FD86-00A5-C2ED59196F1D}"/>
              </a:ext>
            </a:extLst>
          </p:cNvPr>
          <p:cNvPicPr>
            <a:picLocks noChangeAspect="1"/>
          </p:cNvPicPr>
          <p:nvPr/>
        </p:nvPicPr>
        <p:blipFill>
          <a:blip r:embed="rId5" cstate="email">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flipH="1">
            <a:off x="1550639" y="4795360"/>
            <a:ext cx="779161" cy="680115"/>
          </a:xfrm>
          <a:prstGeom prst="rect">
            <a:avLst/>
          </a:prstGeom>
        </p:spPr>
      </p:pic>
      <p:pic>
        <p:nvPicPr>
          <p:cNvPr id="133" name="Picture 132" descr="A picture containing transport, aircraft, airplane&#10;&#10;Description automatically generated">
            <a:extLst>
              <a:ext uri="{FF2B5EF4-FFF2-40B4-BE49-F238E27FC236}">
                <a16:creationId xmlns:a16="http://schemas.microsoft.com/office/drawing/2014/main" id="{AB8E9DD1-E62C-4182-18CB-D05EDB96E54F}"/>
              </a:ext>
            </a:extLst>
          </p:cNvPr>
          <p:cNvPicPr>
            <a:picLocks noChangeAspect="1"/>
          </p:cNvPicPr>
          <p:nvPr/>
        </p:nvPicPr>
        <p:blipFill>
          <a:blip r:embed="rId56"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6030270" y="4766022"/>
            <a:ext cx="1040165" cy="935098"/>
          </a:xfrm>
          <a:prstGeom prst="rect">
            <a:avLst/>
          </a:prstGeom>
        </p:spPr>
      </p:pic>
      <p:pic>
        <p:nvPicPr>
          <p:cNvPr id="134" name="Picture 133" descr="A picture containing graphical user interface&#10;&#10;Description automatically generated">
            <a:extLst>
              <a:ext uri="{FF2B5EF4-FFF2-40B4-BE49-F238E27FC236}">
                <a16:creationId xmlns:a16="http://schemas.microsoft.com/office/drawing/2014/main" id="{AF1E1411-D325-6A0D-F0F2-248C3DDEF1B6}"/>
              </a:ext>
            </a:extLst>
          </p:cNvPr>
          <p:cNvPicPr>
            <a:picLocks noChangeAspect="1"/>
          </p:cNvPicPr>
          <p:nvPr/>
        </p:nvPicPr>
        <p:blipFill>
          <a:blip r:embed="rId57" cstate="screen">
            <a:duotone>
              <a:srgbClr val="426DA9">
                <a:shade val="45000"/>
                <a:satMod val="135000"/>
              </a:srgbClr>
              <a:prstClr val="white"/>
            </a:duotone>
            <a:extLst>
              <a:ext uri="{28A0092B-C50C-407E-A947-70E740481C1C}">
                <a14:useLocalDpi xmlns:a14="http://schemas.microsoft.com/office/drawing/2010/main"/>
              </a:ext>
            </a:extLst>
          </a:blip>
          <a:stretch>
            <a:fillRect/>
          </a:stretch>
        </p:blipFill>
        <p:spPr>
          <a:xfrm>
            <a:off x="4734370" y="4724095"/>
            <a:ext cx="1006885" cy="1006885"/>
          </a:xfrm>
          <a:prstGeom prst="rect">
            <a:avLst/>
          </a:prstGeom>
        </p:spPr>
      </p:pic>
    </p:spTree>
    <p:extLst>
      <p:ext uri="{BB962C8B-B14F-4D97-AF65-F5344CB8AC3E}">
        <p14:creationId xmlns:p14="http://schemas.microsoft.com/office/powerpoint/2010/main" val="225266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PS Theme">
  <a:themeElements>
    <a:clrScheme name="Custom 1">
      <a:dk1>
        <a:srgbClr val="000000"/>
      </a:dk1>
      <a:lt1>
        <a:srgbClr val="FFFFFF"/>
      </a:lt1>
      <a:dk2>
        <a:srgbClr val="58595B"/>
      </a:dk2>
      <a:lt2>
        <a:srgbClr val="D8D4D7"/>
      </a:lt2>
      <a:accent1>
        <a:srgbClr val="0E2554"/>
      </a:accent1>
      <a:accent2>
        <a:srgbClr val="426DA9"/>
      </a:accent2>
      <a:accent3>
        <a:srgbClr val="330000"/>
      </a:accent3>
      <a:accent4>
        <a:srgbClr val="FFBE00"/>
      </a:accent4>
      <a:accent5>
        <a:srgbClr val="00857D"/>
      </a:accent5>
      <a:accent6>
        <a:srgbClr val="88A7D1"/>
      </a:accent6>
      <a:hlink>
        <a:srgbClr val="330000"/>
      </a:hlink>
      <a:folHlink>
        <a:srgbClr val="88A7D1"/>
      </a:folHlink>
    </a:clrScheme>
    <a:fontScheme name="UPS">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HLD QBR Template PFv3" id="{0A4201F5-5387-4C28-889C-D3AFF3365F3B}" vid="{B165A5BA-F09A-4568-BDF7-5A6833FBE2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ffcd4ff1-3c15-400c-aae3-4b340754e297">New</Status>
    <lcf76f155ced4ddcb4097134ff3c332f xmlns="ffcd4ff1-3c15-400c-aae3-4b340754e297">
      <Terms xmlns="http://schemas.microsoft.com/office/infopath/2007/PartnerControls"/>
    </lcf76f155ced4ddcb4097134ff3c332f>
    <TaxCatchAll xmlns="76222f38-e815-43df-8a11-31cf78f182d1" xsi:nil="true"/>
    <ReportDate xmlns="ffcd4ff1-3c15-400c-aae3-4b340754e29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C32872D3A94D40B144440C07A7A709" ma:contentTypeVersion="14" ma:contentTypeDescription="Create a new document." ma:contentTypeScope="" ma:versionID="c77f16c2ede9b4247f80d0f4e8495178">
  <xsd:schema xmlns:xsd="http://www.w3.org/2001/XMLSchema" xmlns:xs="http://www.w3.org/2001/XMLSchema" xmlns:p="http://schemas.microsoft.com/office/2006/metadata/properties" xmlns:ns2="ffcd4ff1-3c15-400c-aae3-4b340754e297" xmlns:ns3="76222f38-e815-43df-8a11-31cf78f182d1" targetNamespace="http://schemas.microsoft.com/office/2006/metadata/properties" ma:root="true" ma:fieldsID="90fc5941b898ef938561e21b50b0936e" ns2:_="" ns3:_="">
    <xsd:import namespace="ffcd4ff1-3c15-400c-aae3-4b340754e297"/>
    <xsd:import namespace="76222f38-e815-43df-8a11-31cf78f182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Status" minOccurs="0"/>
                <xsd:element ref="ns2:Report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cd4ff1-3c15-400c-aae3-4b340754e2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f4fe5c3-4bde-44c3-bd21-e7b9bd71a94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Status" ma:index="20" nillable="true" ma:displayName="Status" ma:default="New" ma:format="Dropdown" ma:internalName="Status">
      <xsd:simpleType>
        <xsd:restriction base="dms:Choice">
          <xsd:enumeration value="New"/>
          <xsd:enumeration value="Pending"/>
          <xsd:enumeration value="In Progress"/>
          <xsd:enumeration value="Completed"/>
          <xsd:enumeration value="Test"/>
        </xsd:restriction>
      </xsd:simpleType>
    </xsd:element>
    <xsd:element name="ReportDate" ma:index="21" nillable="true" ma:displayName="Report Date" ma:description="Date Report was loaded" ma:format="DateOnly" ma:internalName="Report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76222f38-e815-43df-8a11-31cf78f182d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493d0b1-bc95-44b7-b71d-24895208b2ad}" ma:internalName="TaxCatchAll" ma:showField="CatchAllData" ma:web="76222f38-e815-43df-8a11-31cf78f182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VariableListDefinition name="AD_HOC" displayName="AD_HOC" id="0fd2cb45-b02a-4b7d-88c7-b8c292db6201" isdomainofvalue="False" dataSourceId="99e77dcf-0438-4201-b7d9-bfae80999154"/>
</file>

<file path=customXml/item5.xml><?xml version="1.0" encoding="utf-8"?>
<AllExternalAdhocVariableMappings/>
</file>

<file path=customXml/item6.xml><?xml version="1.0" encoding="utf-8"?>
<VariableListDefinition name="Computed" displayName="Computed" id="478ee2ae-be31-4e97-8bca-fb989a685921" isdomainofvalue="False" dataSourceId="2a47dc34-9518-4260-ab01-26965b6157c4"/>
</file>

<file path=customXml/item7.xml><?xml version="1.0" encoding="utf-8"?>
<VariableList UniqueId="0fd2cb45-b02a-4b7d-88c7-b8c292db6201" Name="AD_HOC" ContentType="XML" MajorVersion="0" MinorVersion="1" isLocalCopy="False" IsBaseObject="False" DataSourceId="99e77dcf-0438-4201-b7d9-bfae80999154" DataSourceMajorVersion="0" DataSourceMinorVersion="1"/>
</file>

<file path=customXml/item8.xml><?xml version="1.0" encoding="utf-8"?>
<VariableList UniqueId="478ee2ae-be31-4e97-8bca-fb989a685921" Name="Computed" ContentType="XML" MajorVersion="0" MinorVersion="1" isLocalCopy="False" IsBaseObject="False" DataSourceId="2a47dc34-9518-4260-ab01-26965b6157c4" DataSourceMajorVersion="0" DataSourceMinorVersion="1"/>
</file>

<file path=customXml/item9.xml><?xml version="1.0" encoding="utf-8"?>
<VariableList UniqueId="0cd4b5f2-edcf-418c-8dad-59e1531bb399" Name="System" ContentType="XML" MajorVersion="0" MinorVersion="1" isLocalCopy="False" IsBaseObject="False" DataSourceId="25dacd66-be26-468e-bcb7-b66c838a6c9c" DataSourceMajorVersion="0" DataSourceMinorVersion="1"/>
</file>

<file path=customXml/item10.xml><?xml version="1.0" encoding="utf-8"?>
<VariableListDefinition name="System" displayName="System" id="0cd4b5f2-edcf-418c-8dad-59e1531bb399" isdomainofvalue="False" dataSourceId="25dacd66-be26-468e-bcb7-b66c838a6c9c"/>
</file>

<file path=customXml/itemProps1.xml><?xml version="1.0" encoding="utf-8"?>
<ds:datastoreItem xmlns:ds="http://schemas.openxmlformats.org/officeDocument/2006/customXml" ds:itemID="{DFEEFF43-62A9-49FF-A478-77E35DB6F6EF}">
  <ds:schemaRefs>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elements/1.1/"/>
    <ds:schemaRef ds:uri="76222f38-e815-43df-8a11-31cf78f182d1"/>
    <ds:schemaRef ds:uri="http://purl.org/dc/terms/"/>
    <ds:schemaRef ds:uri="ffcd4ff1-3c15-400c-aae3-4b340754e297"/>
    <ds:schemaRef ds:uri="http://purl.org/dc/dcmitype/"/>
  </ds:schemaRefs>
</ds:datastoreItem>
</file>

<file path=customXml/itemProps2.xml><?xml version="1.0" encoding="utf-8"?>
<ds:datastoreItem xmlns:ds="http://schemas.openxmlformats.org/officeDocument/2006/customXml" ds:itemID="{95C94187-C666-4ECC-B160-AEED65B65C31}">
  <ds:schemaRefs>
    <ds:schemaRef ds:uri="http://schemas.microsoft.com/sharepoint/v3/contenttype/forms"/>
  </ds:schemaRefs>
</ds:datastoreItem>
</file>

<file path=customXml/itemProps3.xml><?xml version="1.0" encoding="utf-8"?>
<ds:datastoreItem xmlns:ds="http://schemas.openxmlformats.org/officeDocument/2006/customXml" ds:itemID="{6FCCD0A3-2ED5-4235-88C8-339030D91393}"/>
</file>

<file path=customXml/itemProps4.xml><?xml version="1.0" encoding="utf-8"?>
<ds:datastoreItem xmlns:ds="http://schemas.openxmlformats.org/officeDocument/2006/customXml" ds:itemID="{7EE9FB82-1B46-4525-A843-C4EA22D1B738}">
  <ds:schemaRefs/>
</ds:datastoreItem>
</file>

<file path=customXml/itemProps5.xml><?xml version="1.0" encoding="utf-8"?>
<ds:datastoreItem xmlns:ds="http://schemas.openxmlformats.org/officeDocument/2006/customXml" ds:itemID="{FD4F317E-4901-4A17-8902-92B424A48598}">
  <ds:schemaRefs/>
</ds:datastoreItem>
</file>

<file path=customXml/itemProps6.xml><?xml version="1.0" encoding="utf-8"?>
<ds:datastoreItem xmlns:ds="http://schemas.openxmlformats.org/officeDocument/2006/customXml" ds:itemID="{005677D2-CF37-4E5B-A627-513FDBC5F850}">
  <ds:schemaRefs/>
</ds:datastoreItem>
</file>

<file path=customXml/itemProps7.xml><?xml version="1.0" encoding="utf-8"?>
<ds:datastoreItem xmlns:ds="http://schemas.openxmlformats.org/officeDocument/2006/customXml" ds:itemID="{A1342A06-6502-4C9C-838B-59589D9D2783}">
  <ds:schemaRefs/>
</ds:datastoreItem>
</file>

<file path=customXml/itemProps8.xml><?xml version="1.0" encoding="utf-8"?>
<ds:datastoreItem xmlns:ds="http://schemas.openxmlformats.org/officeDocument/2006/customXml" ds:itemID="{FFFDAFCC-B25F-4EE1-9417-BF4688C43B3D}">
  <ds:schemaRefs/>
</ds:datastoreItem>
</file>

<file path=customXml/itemProps9.xml><?xml version="1.0" encoding="utf-8"?>
<ds:datastoreItem xmlns:ds="http://schemas.openxmlformats.org/officeDocument/2006/customXml" ds:itemID="{6865937B-A517-4D24-A2EA-174F87A16DCD}">
  <ds:schemaRefs/>
</ds:datastoreItem>
</file>

<file path=customXml/itemProps10.xml><?xml version="1.0" encoding="utf-8"?>
<ds:datastoreItem xmlns:ds="http://schemas.openxmlformats.org/officeDocument/2006/customXml" ds:itemID="{F94788A8-2AF6-4193-A951-C2DF2FB8E60B}">
  <ds:schemaRefs/>
</ds:datastoreItem>
</file>

<file path=docProps/app.xml><?xml version="1.0" encoding="utf-8"?>
<Properties xmlns="http://schemas.openxmlformats.org/officeDocument/2006/extended-properties" xmlns:vt="http://schemas.openxmlformats.org/officeDocument/2006/docPropsVTypes">
  <Template/>
  <TotalTime>17</TotalTime>
  <Words>2745</Words>
  <Application>Microsoft Office PowerPoint</Application>
  <PresentationFormat>Widescreen</PresentationFormat>
  <Paragraphs>879</Paragraphs>
  <Slides>60</Slides>
  <Notes>60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72" baseType="lpstr">
      <vt:lpstr>Arial</vt:lpstr>
      <vt:lpstr>Barlow</vt:lpstr>
      <vt:lpstr>Barlow Medium</vt:lpstr>
      <vt:lpstr>Calibri</vt:lpstr>
      <vt:lpstr>Courier New</vt:lpstr>
      <vt:lpstr>Montserrat</vt:lpstr>
      <vt:lpstr>Times New Roman</vt:lpstr>
      <vt:lpstr>Verdana</vt:lpstr>
      <vt:lpstr>Verdana</vt:lpstr>
      <vt:lpstr>Wingdings</vt:lpstr>
      <vt:lpstr>UPS Theme</vt:lpstr>
      <vt:lpstr>think-cell Slide</vt:lpstr>
      <vt:lpstr>PowerPoint Presentation</vt:lpstr>
      <vt:lpstr>PowerPoint Presentation</vt:lpstr>
      <vt:lpstr>ORGANIZATIONAL STRUCTURE FOR BIORIDGE</vt:lpstr>
      <vt:lpstr>PowerPoint Presentation</vt:lpstr>
      <vt:lpstr>PREVIOUS QUARTER ACHIEVEMENTS</vt:lpstr>
      <vt:lpstr>[CUSTOMER NAME] PRIORITIES</vt:lpstr>
      <vt:lpstr>[CUSTOMER NAME] PRIORITIES</vt:lpstr>
      <vt:lpstr>UPS HEALTHCARE™ LOGISTICS AND DISTRIBUTION PRIORITIES</vt:lpstr>
      <vt:lpstr>PowerPoint Presentation</vt:lpstr>
      <vt:lpstr>ACTION ITEM TRACKER</vt:lpstr>
      <vt:lpstr>VOICE OF THE CUSTOMER </vt:lpstr>
      <vt:lpstr>PERFORMANCE MANAGEMENT UPDATES</vt:lpstr>
      <vt:lpstr>KEY PERFORMANCE INDICATOR (KPI) DASHBOARD</vt:lpstr>
      <vt:lpstr>INBOUND SUMMARY</vt:lpstr>
      <vt:lpstr>OUTBOUND SUMMARY</vt:lpstr>
      <vt:lpstr>INVENTORY ACCURACY</vt:lpstr>
      <vt:lpstr>CUSTOMER FORECAST ACCURACY</vt:lpstr>
      <vt:lpstr>SPACE UTILIZATION</vt:lpstr>
      <vt:lpstr>SPEND SUMMARY</vt:lpstr>
      <vt:lpstr>ACCOUNTS RECEIVABLE UPDATES</vt:lpstr>
      <vt:lpstr>MASTER DATA MANAGEMENT KPI’S AND UPDATES</vt:lpstr>
      <vt:lpstr>CONTINUOUS IMPROVEMENT PROGRAM UPDATES </vt:lpstr>
      <vt:lpstr>GEMBA WALK SUMMARY</vt:lpstr>
      <vt:lpstr>CONTINUOUS IMPROVEMENT ACTIVITY TRACKER</vt:lpstr>
      <vt:lpstr>QUALITY MANAGEMENT SYSTEM UPDATES  </vt:lpstr>
      <vt:lpstr>QUALITY ORGANIZATIONAL STRUCTURE FOR [CLIENT NAME]</vt:lpstr>
      <vt:lpstr>NON-CONFORMANCE REVIEW</vt:lpstr>
      <vt:lpstr>NON-CONFORMANCE TRACKER</vt:lpstr>
      <vt:lpstr>NEXT STEPS</vt:lpstr>
      <vt:lpstr>NEXT STEPS</vt:lpstr>
      <vt:lpstr>PowerPoint Presentation</vt:lpstr>
      <vt:lpstr>OPTIONAL SLIDES</vt:lpstr>
      <vt:lpstr>KPI SCORECARD QUARTERLY SUMMARY</vt:lpstr>
      <vt:lpstr>KPI SCORECARD QUARTERLY SUMMARY</vt:lpstr>
      <vt:lpstr>PowerPoint Presentation</vt:lpstr>
      <vt:lpstr>VALUE-CENTRIC APPROACH FOR [CUSTOMER NAME]</vt:lpstr>
      <vt:lpstr>FINANCIAL VALUE</vt:lpstr>
      <vt:lpstr>COST / DATA / TREND ANALYSIS </vt:lpstr>
      <vt:lpstr>COST / DATA / TREND ANALYSIS </vt:lpstr>
      <vt:lpstr>FORWARD LOOKING ROADMAP</vt:lpstr>
      <vt:lpstr>TECHNOLOGY AND DIGITAL ENABLEMENT</vt:lpstr>
      <vt:lpstr>FORMATTING HELP</vt:lpstr>
      <vt:lpstr>GUARDRAILS</vt:lpstr>
      <vt:lpstr>BRAND APPROVED COLORS</vt:lpstr>
      <vt:lpstr>TITLE IS 22 PT VERDANA BOLD UPPERCASE</vt:lpstr>
      <vt:lpstr>VISUALIZE YOUR DATA IN AN EASY TO READ MANNER</vt:lpstr>
      <vt:lpstr>VISUALIZE YOUR DATA IN AN EASY TO READ MANNER</vt:lpstr>
      <vt:lpstr>SAMPLE TABLES CREATED USING THE TABLE FUNCTION</vt:lpstr>
      <vt:lpstr>SAMPLE TABLES CREATED USING THE TABLE FUNCTION</vt:lpstr>
      <vt:lpstr>SAMPLE TABLES CREATED USING THE TABLE FUNCTION</vt:lpstr>
      <vt:lpstr>PROCESS FLOW COMPARISON WITH COLOR SCHEMES</vt:lpstr>
      <vt:lpstr>CHART SAMPLES</vt:lpstr>
      <vt:lpstr>SAMPLE GRAPHS</vt:lpstr>
      <vt:lpstr>PowerPoint Presentation</vt:lpstr>
      <vt:lpstr>ICONS 1 – 60</vt:lpstr>
      <vt:lpstr>ICONS 61 – 120</vt:lpstr>
      <vt:lpstr>ICONS 121 – 183</vt:lpstr>
      <vt:lpstr>HARVEY BALL ICONS</vt:lpstr>
      <vt:lpstr>NEW ICONS</vt:lpstr>
      <vt:lpstr>NEW ICONS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 Walsingham</dc:creator>
  <cp:lastModifiedBy>Alyssa Walston</cp:lastModifiedBy>
  <cp:revision>10</cp:revision>
  <dcterms:created xsi:type="dcterms:W3CDTF">2022-02-18T01:21:21Z</dcterms:created>
  <dcterms:modified xsi:type="dcterms:W3CDTF">2026-07-14T15:56:14Z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ecd8ab5-5795-469a-8c51-9f21ba29bce6_Enabled">
    <vt:lpwstr>true</vt:lpwstr>
  </property>
  <property fmtid="{D5CDD505-2E9C-101B-9397-08002B2CF9AE}" pid="3" name="MSIP_Label_becd8ab5-5795-469a-8c51-9f21ba29bce6_SetDate">
    <vt:lpwstr>2025-10-16T13:43:49Z</vt:lpwstr>
  </property>
  <property fmtid="{D5CDD505-2E9C-101B-9397-08002B2CF9AE}" pid="4" name="MSIP_Label_becd8ab5-5795-469a-8c51-9f21ba29bce6_Method">
    <vt:lpwstr>Standard</vt:lpwstr>
  </property>
  <property fmtid="{D5CDD505-2E9C-101B-9397-08002B2CF9AE}" pid="5" name="MSIP_Label_becd8ab5-5795-469a-8c51-9f21ba29bce6_Name">
    <vt:lpwstr>GENERAL</vt:lpwstr>
  </property>
  <property fmtid="{D5CDD505-2E9C-101B-9397-08002B2CF9AE}" pid="6" name="MSIP_Label_becd8ab5-5795-469a-8c51-9f21ba29bce6_SiteId">
    <vt:lpwstr>e7520e4d-d5a0-488d-9e9f-949faae7dce8</vt:lpwstr>
  </property>
  <property fmtid="{D5CDD505-2E9C-101B-9397-08002B2CF9AE}" pid="7" name="MSIP_Label_becd8ab5-5795-469a-8c51-9f21ba29bce6_ActionId">
    <vt:lpwstr>13eb9cd6-7699-4151-82f9-f85af88584f4</vt:lpwstr>
  </property>
  <property fmtid="{D5CDD505-2E9C-101B-9397-08002B2CF9AE}" pid="8" name="MSIP_Label_becd8ab5-5795-469a-8c51-9f21ba29bce6_ContentBits">
    <vt:lpwstr>0</vt:lpwstr>
  </property>
  <property fmtid="{D5CDD505-2E9C-101B-9397-08002B2CF9AE}" pid="9" name="MSIP_Label_becd8ab5-5795-469a-8c51-9f21ba29bce6_Tag">
    <vt:lpwstr>10, 3, 0, 1</vt:lpwstr>
  </property>
  <property fmtid="{D5CDD505-2E9C-101B-9397-08002B2CF9AE}" pid="10" name="ContentTypeId">
    <vt:lpwstr>0x01010060C32872D3A94D40B144440C07A7A709</vt:lpwstr>
  </property>
  <property fmtid="{D5CDD505-2E9C-101B-9397-08002B2CF9AE}" pid="11" name="MediaServiceImageTags">
    <vt:lpwstr/>
  </property>
</Properties>
</file>