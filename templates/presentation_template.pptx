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669280"/>
            <a:ext cx="12191695" cy="9144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334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5334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Calibri"/>
              </a:rPr>
              <a:t>Presentation Title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4747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E0E0E0"/>
                </a:solidFill>
                <a:latin typeface="Calibri"/>
              </a:rPr>
              <a:t>Subtitle • Author • Date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2179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0A0B0"/>
                </a:solidFill>
                <a:latin typeface="Calibri"/>
              </a:rPr>
              <a:t>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128016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430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Slide Title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63040"/>
            <a:ext cx="11612880" cy="50292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111556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E0E0E0"/>
                </a:solidFill>
                <a:latin typeface="Calibri"/>
              </a:rPr>
              <a:t>• Key point one
• Key point two
• Key point three
• Key point four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04320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A0A0B0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128016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430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Slide Title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63040"/>
            <a:ext cx="5577840" cy="50292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55448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94560"/>
                </a:solidFill>
                <a:latin typeface="Calibri"/>
              </a:rPr>
              <a:t>Left Heading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194560"/>
            <a:ext cx="5303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E0E0E0"/>
                </a:solidFill>
                <a:latin typeface="Calibri"/>
              </a:rPr>
              <a:t>• Point one
• Point two
• Point three</a:t>
            </a:r>
          </a:p>
        </p:txBody>
      </p:sp>
      <p:sp>
        <p:nvSpPr>
          <p:cNvPr id="8" name="Rectangle 7"/>
          <p:cNvSpPr/>
          <p:nvPr/>
        </p:nvSpPr>
        <p:spPr>
          <a:xfrm>
            <a:off x="6035040" y="1463040"/>
            <a:ext cx="45720" cy="5029200"/>
          </a:xfrm>
          <a:prstGeom prst="rect">
            <a:avLst/>
          </a:prstGeom>
          <a:solidFill>
            <a:srgbClr val="5334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09360" y="1463040"/>
            <a:ext cx="5577840" cy="50292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55448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533483"/>
                </a:solidFill>
                <a:latin typeface="Calibri"/>
              </a:rPr>
              <a:t>Right Heading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194560"/>
            <a:ext cx="5303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E0E0E0"/>
                </a:solidFill>
                <a:latin typeface="Calibri"/>
              </a:rPr>
              <a:t>• Point one
• Point two
• Point three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346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12191695" cy="54864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058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Calibri"/>
              </a:rPr>
              <a:t>Section Title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3832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E0E0E0"/>
                </a:solidFill>
                <a:latin typeface="Calibri"/>
              </a:rPr>
              <a:t>Section description or subtitle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128016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430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Slide Title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63040"/>
            <a:ext cx="5486400" cy="50292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320040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A0A0B0"/>
                </a:solidFill>
                <a:latin typeface="Calibri"/>
              </a:rPr>
              <a:t>[ Image / Diagram ]</a:t>
            </a:r>
          </a:p>
        </p:txBody>
      </p:sp>
      <p:sp>
        <p:nvSpPr>
          <p:cNvPr id="7" name="Rectangle 6"/>
          <p:cNvSpPr/>
          <p:nvPr/>
        </p:nvSpPr>
        <p:spPr>
          <a:xfrm>
            <a:off x="6035040" y="1463040"/>
            <a:ext cx="5852160" cy="50292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E0E0E0"/>
                </a:solidFill>
                <a:latin typeface="Calibri"/>
              </a:rPr>
              <a:t>Description text
• Key detail one
• Key detail two
• Key detail three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128016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430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Comparison Title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63040"/>
            <a:ext cx="5486400" cy="64008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50876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Option A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2148840"/>
            <a:ext cx="5486400" cy="43434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286000"/>
            <a:ext cx="5212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E0E0E0"/>
                </a:solidFill>
                <a:latin typeface="Calibri"/>
              </a:rPr>
              <a:t>• Advantage one
• Advantage two
• Advantage three
• Advantage four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0" y="32004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533483"/>
                </a:solidFill>
                <a:latin typeface="Calibri"/>
              </a:rPr>
              <a:t>VS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463040"/>
            <a:ext cx="5486400" cy="640080"/>
          </a:xfrm>
          <a:prstGeom prst="rect">
            <a:avLst/>
          </a:prstGeom>
          <a:solidFill>
            <a:srgbClr val="5334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50876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Option B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2148840"/>
            <a:ext cx="5486400" cy="43434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2286000"/>
            <a:ext cx="5212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E0E0E0"/>
                </a:solidFill>
                <a:latin typeface="Calibri"/>
              </a:rPr>
              <a:t>• Advantage one
• Advantage two
• Advantage three
• Advantage four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128016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430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Timeline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3566160"/>
            <a:ext cx="11247120" cy="54864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91640" y="3337560"/>
            <a:ext cx="274320" cy="274320"/>
          </a:xfrm>
          <a:prstGeom prst="ellipse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3749039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E94560"/>
                </a:solidFill>
                <a:latin typeface="Calibri"/>
              </a:rPr>
              <a:t>2024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1828800"/>
            <a:ext cx="2011680" cy="13716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192024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E0E0E0"/>
                </a:solidFill>
                <a:latin typeface="Calibri"/>
              </a:rPr>
              <a:t>Phase One</a:t>
            </a:r>
          </a:p>
        </p:txBody>
      </p:sp>
      <p:sp>
        <p:nvSpPr>
          <p:cNvPr id="10" name="Oval 9"/>
          <p:cNvSpPr/>
          <p:nvPr/>
        </p:nvSpPr>
        <p:spPr>
          <a:xfrm>
            <a:off x="4434840" y="3337560"/>
            <a:ext cx="274320" cy="274320"/>
          </a:xfrm>
          <a:prstGeom prst="ellipse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0" y="3749039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E94560"/>
                </a:solidFill>
                <a:latin typeface="Calibri"/>
              </a:rPr>
              <a:t>2025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40480" y="4297680"/>
            <a:ext cx="2011680" cy="13716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31920" y="438912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E0E0E0"/>
                </a:solidFill>
                <a:latin typeface="Calibri"/>
              </a:rPr>
              <a:t>Phase Two</a:t>
            </a:r>
          </a:p>
        </p:txBody>
      </p:sp>
      <p:sp>
        <p:nvSpPr>
          <p:cNvPr id="14" name="Oval 13"/>
          <p:cNvSpPr/>
          <p:nvPr/>
        </p:nvSpPr>
        <p:spPr>
          <a:xfrm>
            <a:off x="7178040" y="3337560"/>
            <a:ext cx="274320" cy="274320"/>
          </a:xfrm>
          <a:prstGeom prst="ellipse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0" y="3749039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E94560"/>
                </a:solidFill>
                <a:latin typeface="Calibri"/>
              </a:rPr>
              <a:t>2026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0" y="1828800"/>
            <a:ext cx="2011680" cy="13716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0" y="192024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E0E0E0"/>
                </a:solidFill>
                <a:latin typeface="Calibri"/>
              </a:rPr>
              <a:t>Phase Three</a:t>
            </a:r>
          </a:p>
        </p:txBody>
      </p:sp>
      <p:sp>
        <p:nvSpPr>
          <p:cNvPr id="18" name="Oval 17"/>
          <p:cNvSpPr/>
          <p:nvPr/>
        </p:nvSpPr>
        <p:spPr>
          <a:xfrm>
            <a:off x="9921240" y="3337560"/>
            <a:ext cx="274320" cy="274320"/>
          </a:xfrm>
          <a:prstGeom prst="ellipse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0" y="3749039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E94560"/>
                </a:solidFill>
                <a:latin typeface="Calibri"/>
              </a:rPr>
              <a:t>2027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326880" y="4297680"/>
            <a:ext cx="2011680" cy="13716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438912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E0E0E0"/>
                </a:solidFill>
                <a:latin typeface="Calibri"/>
              </a:rPr>
              <a:t>Phase Four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128016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430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Process / Workflow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828800"/>
            <a:ext cx="2560320" cy="41148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280160" y="1691640"/>
            <a:ext cx="731520" cy="731520"/>
          </a:xfrm>
          <a:prstGeom prst="ellipse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173736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5176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E94560"/>
                </a:solidFill>
                <a:latin typeface="Calibri"/>
              </a:rPr>
              <a:t>Step 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291840"/>
            <a:ext cx="23774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E0E0E0"/>
                </a:solidFill>
                <a:latin typeface="Calibri"/>
              </a:rPr>
              <a:t>Description of this step and its key activities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71800" y="347472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E94560"/>
                </a:solidFill>
                <a:latin typeface="Calibri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91840" y="1828800"/>
            <a:ext cx="2560320" cy="41148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206240" y="1691640"/>
            <a:ext cx="731520" cy="731520"/>
          </a:xfrm>
          <a:prstGeom prst="ellipse">
            <a:avLst/>
          </a:prstGeom>
          <a:solidFill>
            <a:srgbClr val="5334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06240" y="173736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265176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533483"/>
                </a:solidFill>
                <a:latin typeface="Calibri"/>
              </a:rPr>
              <a:t>Step Two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3291840"/>
            <a:ext cx="23774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E0E0E0"/>
                </a:solidFill>
                <a:latin typeface="Calibri"/>
              </a:rPr>
              <a:t>Description of this step and its key activities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97880" y="347472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E94560"/>
                </a:solidFill>
                <a:latin typeface="Calibri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1828800"/>
            <a:ext cx="2560320" cy="41148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132320" y="1691640"/>
            <a:ext cx="731520" cy="731520"/>
          </a:xfrm>
          <a:prstGeom prst="ellipse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32320" y="173736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265176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F3460"/>
                </a:solidFill>
                <a:latin typeface="Calibri"/>
              </a:rPr>
              <a:t>Step Three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3291840"/>
            <a:ext cx="23774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E0E0E0"/>
                </a:solidFill>
                <a:latin typeface="Calibri"/>
              </a:rPr>
              <a:t>Description of this step and its key activities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23960" y="347472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E94560"/>
                </a:solidFill>
                <a:latin typeface="Calibri"/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44000" y="1828800"/>
            <a:ext cx="2560320" cy="41148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058400" y="1691640"/>
            <a:ext cx="731520" cy="731520"/>
          </a:xfrm>
          <a:prstGeom prst="ellipse">
            <a:avLst/>
          </a:prstGeom>
          <a:solidFill>
            <a:srgbClr val="0088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0" y="173736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35440" y="265176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088CC"/>
                </a:solidFill>
                <a:latin typeface="Calibri"/>
              </a:rPr>
              <a:t>Step Four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35440" y="3291840"/>
            <a:ext cx="23774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E0E0E0"/>
                </a:solidFill>
                <a:latin typeface="Calibri"/>
              </a:rPr>
              <a:t>Description of this step and its key activities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128016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430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System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463040"/>
            <a:ext cx="11430000" cy="100584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5087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Presentation Layer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1508760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0E0E0"/>
                </a:solidFill>
                <a:latin typeface="Calibri"/>
              </a:rPr>
              <a:t>User Interface &amp; APIs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0" y="246888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A0A0B0"/>
                </a:solidFill>
                <a:latin typeface="Calibri"/>
              </a:rPr>
              <a:t>↕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651760"/>
            <a:ext cx="11430000" cy="1005840"/>
          </a:xfrm>
          <a:prstGeom prst="rect">
            <a:avLst/>
          </a:prstGeom>
          <a:solidFill>
            <a:srgbClr val="5334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6974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Business Logic Layer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2697480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0E0E0"/>
                </a:solidFill>
                <a:latin typeface="Calibri"/>
              </a:rPr>
              <a:t>Core Services &amp; Orchestration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0" y="365760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A0A0B0"/>
                </a:solidFill>
                <a:latin typeface="Calibri"/>
              </a:rPr>
              <a:t>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840480"/>
            <a:ext cx="11430000" cy="100584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8862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Data Layer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3886200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0E0E0"/>
                </a:solidFill>
                <a:latin typeface="Calibri"/>
              </a:rPr>
              <a:t>Storage, Cache &amp; Messaging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484632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A0A0B0"/>
                </a:solidFill>
                <a:latin typeface="Calibri"/>
              </a:rPr>
              <a:t>↕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5029200"/>
            <a:ext cx="11430000" cy="1005840"/>
          </a:xfrm>
          <a:prstGeom prst="rect">
            <a:avLst/>
          </a:prstGeom>
          <a:solidFill>
            <a:srgbClr val="007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50749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Infrastructure Layer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5074920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0E0E0"/>
                </a:solidFill>
                <a:latin typeface="Calibri"/>
              </a:rPr>
              <a:t>Cloud, Security &amp; Monitoring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128016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430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Key Metrics &amp; Statistics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645920"/>
            <a:ext cx="2651760" cy="43891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645920"/>
            <a:ext cx="2651760" cy="73152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286000"/>
            <a:ext cx="2468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E94560"/>
                </a:solidFill>
                <a:latin typeface="Calibri"/>
              </a:rPr>
              <a:t>40%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749039"/>
            <a:ext cx="2468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E0E0E0"/>
                </a:solidFill>
                <a:latin typeface="Calibri"/>
              </a:rPr>
              <a:t>Reduction in
processing time</a:t>
            </a:r>
          </a:p>
        </p:txBody>
      </p:sp>
      <p:sp>
        <p:nvSpPr>
          <p:cNvPr id="9" name="Rectangle 8"/>
          <p:cNvSpPr/>
          <p:nvPr/>
        </p:nvSpPr>
        <p:spPr>
          <a:xfrm>
            <a:off x="3291840" y="1645920"/>
            <a:ext cx="2651760" cy="43891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91840" y="1645920"/>
            <a:ext cx="2651760" cy="73152"/>
          </a:xfrm>
          <a:prstGeom prst="rect">
            <a:avLst/>
          </a:prstGeom>
          <a:solidFill>
            <a:srgbClr val="5334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0" y="2286000"/>
            <a:ext cx="2468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533483"/>
                </a:solidFill>
                <a:latin typeface="Calibri"/>
              </a:rPr>
              <a:t>2x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3749039"/>
            <a:ext cx="2468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E0E0E0"/>
                </a:solidFill>
                <a:latin typeface="Calibri"/>
              </a:rPr>
              <a:t>Increase in
throughput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645920"/>
            <a:ext cx="2651760" cy="43891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1645920"/>
            <a:ext cx="2651760" cy="73152"/>
          </a:xfrm>
          <a:prstGeom prst="rect">
            <a:avLst/>
          </a:prstGeom>
          <a:solidFill>
            <a:srgbClr val="0099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2286000"/>
            <a:ext cx="2468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009966"/>
                </a:solidFill>
                <a:latin typeface="Calibri"/>
              </a:rPr>
              <a:t>$2M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3749039"/>
            <a:ext cx="2468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E0E0E0"/>
                </a:solidFill>
                <a:latin typeface="Calibri"/>
              </a:rPr>
              <a:t>Annual cost
savings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0" y="1645920"/>
            <a:ext cx="2651760" cy="43891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144000" y="1645920"/>
            <a:ext cx="2651760" cy="73152"/>
          </a:xfrm>
          <a:prstGeom prst="rect">
            <a:avLst/>
          </a:prstGeom>
          <a:solidFill>
            <a:srgbClr val="0088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35440" y="2286000"/>
            <a:ext cx="2468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0088CC"/>
                </a:solidFill>
                <a:latin typeface="Calibri"/>
              </a:rPr>
              <a:t>99.9%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5440" y="3749039"/>
            <a:ext cx="2468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E0E0E0"/>
                </a:solidFill>
                <a:latin typeface="Calibri"/>
              </a:rPr>
              <a:t>System
uptime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621792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A0A0B0"/>
                </a:solidFill>
                <a:latin typeface="Calibri"/>
              </a:rPr>
              <a:t>Based on comparative analysis of before/after implementation data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8288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18288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274320"/>
            <a:ext cx="11430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Key Takeaways &amp; Next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2011680"/>
            <a:ext cx="7132320" cy="44805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21031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94560"/>
                </a:solidFill>
                <a:latin typeface="Calibri"/>
              </a:rPr>
              <a:t>SUMMARY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560320"/>
            <a:ext cx="6858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E0E0E0"/>
                </a:solidFill>
                <a:latin typeface="Calibri"/>
              </a:rPr>
              <a:t>• Key takeaway one
• Key takeaway two
• Key takeaway three
• Key takeaway four</a:t>
            </a:r>
          </a:p>
        </p:txBody>
      </p:sp>
      <p:sp>
        <p:nvSpPr>
          <p:cNvPr id="8" name="Rectangle 7"/>
          <p:cNvSpPr/>
          <p:nvPr/>
        </p:nvSpPr>
        <p:spPr>
          <a:xfrm>
            <a:off x="7680960" y="2011680"/>
            <a:ext cx="4206240" cy="4480560"/>
          </a:xfrm>
          <a:prstGeom prst="rect">
            <a:avLst/>
          </a:prstGeom>
          <a:solidFill>
            <a:srgbClr val="5334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0" y="210312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NEXT STEPS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2560320"/>
            <a:ext cx="39319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1. Action item one
2. Action item two
3. Action item three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0" y="6400800"/>
            <a:ext cx="6675120" cy="32004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0" y="6400800"/>
            <a:ext cx="6675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Thank You — Questions Welcome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