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omments/modernComment_102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147480412" r:id="rId2"/>
    <p:sldId id="2146846565" r:id="rId3"/>
    <p:sldId id="258" r:id="rId4"/>
    <p:sldId id="259" r:id="rId5"/>
    <p:sldId id="2145708514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43F40FE-56CB-02E4-F2F4-97CD3281C818}" name="Daniel Orlopp" initials="DO" userId="S::DO001082299@TechMahindra.com::6030b91b-9574-427b-ab0f-b08d907cc8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EEC0"/>
    <a:srgbClr val="D48A00"/>
    <a:srgbClr val="F7E7C1"/>
    <a:srgbClr val="F7F4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B5C7EC-C8CD-4A67-B237-74051048FE8D}" v="45" dt="2026-09-04T18:01:30.9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4552" autoAdjust="0"/>
  </p:normalViewPr>
  <p:slideViewPr>
    <p:cSldViewPr snapToGrid="0" snapToObjects="1">
      <p:cViewPr varScale="1">
        <p:scale>
          <a:sx n="68" d="100"/>
          <a:sy n="68" d="100"/>
        </p:scale>
        <p:origin x="97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8E55CC1-6081-475C-A200-A4FB553E7E3E}" authorId="{A43F40FE-56CB-02E4-F2F4-97CD3281C818}" created="2026-09-01T03:17:25.229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84" creationId="{1A04DC7C-AE22-CFE6-E634-893C82CA527B}"/>
    </ac:deMkLst>
    <p188:txBody>
      <a:bodyPr/>
      <a:lstStyle/>
      <a:p>
        <a:r>
          <a:rPr lang="en-US"/>
          <a:t>Update and expand as needed in additional slides</a:t>
        </a:r>
      </a:p>
    </p188:txBody>
  </p188:cm>
  <p188:cm id="{42A5087D-CED7-466C-88D4-DD73BE5B2CED}" authorId="{A43F40FE-56CB-02E4-F2F4-97CD3281C818}" created="2026-09-01T20:18:16.16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70" creationId="{00000000-0000-0000-0000-000000000000}"/>
    </ac:deMkLst>
    <p188:txBody>
      <a:bodyPr/>
      <a:lstStyle/>
      <a:p>
        <a:r>
          <a:rPr lang="en-US"/>
          <a:t>Review update numbers for the story of PODs available to pick up as Day3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0"/>
            <a:ext cx="5892800" cy="6248400"/>
          </a:xfrm>
          <a:prstGeom prst="rect">
            <a:avLst/>
          </a:prstGeom>
          <a:solidFill>
            <a:srgbClr val="33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5761" y="340900"/>
            <a:ext cx="5077097" cy="1015614"/>
          </a:xfrm>
          <a:prstGeom prst="rect">
            <a:avLst/>
          </a:prstGeom>
        </p:spPr>
        <p:txBody>
          <a:bodyPr anchor="t"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92800" y="0"/>
            <a:ext cx="6299200" cy="6248400"/>
          </a:xfrm>
        </p:spPr>
        <p:txBody>
          <a:bodyPr anchor="ctr"/>
          <a:lstStyle>
            <a:lvl1pPr marL="0" indent="0" algn="ctr">
              <a:buNone/>
              <a:defRPr sz="18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1" y="1455951"/>
            <a:ext cx="5077097" cy="4340012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92F45-BA5D-4C7A-ACC7-D44B34072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259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8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working on a computer&#10;&#10;Description automatically generated with low confidence">
            <a:extLst>
              <a:ext uri="{FF2B5EF4-FFF2-40B4-BE49-F238E27FC236}">
                <a16:creationId xmlns:a16="http://schemas.microsoft.com/office/drawing/2014/main" id="{12A034F0-79F4-C60F-D831-29F6DC7C0A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51944" y="0"/>
            <a:ext cx="984005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26A0B9D-A5BA-8022-C45E-29034928C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4901045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A312C48-6B74-B0D8-409D-34B0AAF94EC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931" y="372371"/>
            <a:ext cx="1509392" cy="17047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9139" y="2311674"/>
            <a:ext cx="3301169" cy="3044952"/>
          </a:xfrm>
          <a:prstGeom prst="rect">
            <a:avLst/>
          </a:prstGeom>
        </p:spPr>
        <p:txBody>
          <a:bodyPr anchor="ctr"/>
          <a:lstStyle>
            <a:lvl1pPr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 style</a:t>
            </a:r>
          </a:p>
        </p:txBody>
      </p:sp>
    </p:spTree>
    <p:extLst>
      <p:ext uri="{BB962C8B-B14F-4D97-AF65-F5344CB8AC3E}">
        <p14:creationId xmlns:p14="http://schemas.microsoft.com/office/powerpoint/2010/main" val="3000139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840017" y="75324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BFBE85-1973-2546-831A-1604401DB129}"/>
              </a:ext>
            </a:extLst>
          </p:cNvPr>
          <p:cNvSpPr txBox="1"/>
          <p:nvPr userDrawn="1"/>
        </p:nvSpPr>
        <p:spPr>
          <a:xfrm>
            <a:off x="4825935" y="2878207"/>
            <a:ext cx="35974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>
                <a:solidFill>
                  <a:srgbClr val="595555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THANK YOU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97D48D-B6F7-134B-A8B6-8FD5A83056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6434" y="2483368"/>
            <a:ext cx="1349501" cy="1524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90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0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94D90-5EAB-DBC1-F9FA-95D3D6A73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09E55-1C40-9571-05D6-A314114CE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6" y="2283099"/>
            <a:ext cx="3763108" cy="3044952"/>
          </a:xfrm>
        </p:spPr>
        <p:txBody>
          <a:bodyPr/>
          <a:lstStyle/>
          <a:p>
            <a:r>
              <a:rPr lang="pt-BR" sz="3200" dirty="0">
                <a:latin typeface="Verdana"/>
                <a:ea typeface="Verdana"/>
              </a:rPr>
              <a:t>TechM Weekly Transformation</a:t>
            </a:r>
            <a:br>
              <a:rPr lang="en-US" sz="3200" dirty="0"/>
            </a:br>
            <a:br>
              <a:rPr lang="en-US" sz="3200" dirty="0"/>
            </a:br>
            <a:r>
              <a:rPr lang="en-US" sz="1800" dirty="0"/>
              <a:t>Program Status Updates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D5812D-5135-E4B4-C6F2-C4E55732030D}"/>
              </a:ext>
            </a:extLst>
          </p:cNvPr>
          <p:cNvCxnSpPr/>
          <p:nvPr/>
        </p:nvCxnSpPr>
        <p:spPr>
          <a:xfrm>
            <a:off x="736122" y="5439984"/>
            <a:ext cx="668311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A986E95D-C3FB-0FA3-BAF2-A71D8BCBEA33}"/>
              </a:ext>
            </a:extLst>
          </p:cNvPr>
          <p:cNvSpPr txBox="1"/>
          <p:nvPr/>
        </p:nvSpPr>
        <p:spPr>
          <a:xfrm>
            <a:off x="654066" y="5695006"/>
            <a:ext cx="183415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Verdana"/>
                <a:ea typeface="Verdana"/>
                <a:cs typeface="Verdana" panose="020B0604030504040204" pitchFamily="34" charset="0"/>
              </a:rPr>
              <a:t>September 4, 2026</a:t>
            </a:r>
          </a:p>
        </p:txBody>
      </p:sp>
    </p:spTree>
    <p:extLst>
      <p:ext uri="{BB962C8B-B14F-4D97-AF65-F5344CB8AC3E}">
        <p14:creationId xmlns:p14="http://schemas.microsoft.com/office/powerpoint/2010/main" val="3676537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0BBC8E-C89C-859C-458B-714B429EF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783705-93EB-FB5E-4A5A-FC7E7F466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124" y="2748199"/>
            <a:ext cx="5077097" cy="1015614"/>
          </a:xfrm>
        </p:spPr>
        <p:txBody>
          <a:bodyPr/>
          <a:lstStyle/>
          <a:p>
            <a:pPr algn="ctr"/>
            <a:r>
              <a:rPr lang="en-US" sz="4800" dirty="0"/>
              <a:t>Agenda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08B9F8F-6B7B-2D16-538D-DABC041F3603}"/>
              </a:ext>
            </a:extLst>
          </p:cNvPr>
          <p:cNvGrpSpPr/>
          <p:nvPr/>
        </p:nvGrpSpPr>
        <p:grpSpPr>
          <a:xfrm>
            <a:off x="6096000" y="1163125"/>
            <a:ext cx="6708903" cy="1005403"/>
            <a:chOff x="4791755" y="1953855"/>
            <a:chExt cx="6708903" cy="100540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7FCA7BB-FBE9-8066-61BB-6A48DA8A5C38}"/>
                </a:ext>
              </a:extLst>
            </p:cNvPr>
            <p:cNvSpPr txBox="1"/>
            <p:nvPr/>
          </p:nvSpPr>
          <p:spPr>
            <a:xfrm>
              <a:off x="4823438" y="1953855"/>
              <a:ext cx="6677220" cy="100540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359410" marR="0" lvl="0" indent="-359410" defTabSz="914400" eaLnBrk="1" fontAlgn="auto" latinLnBrk="0" hangingPunct="1">
                <a:lnSpc>
                  <a:spcPct val="100000"/>
                </a:lnSpc>
                <a:spcBef>
                  <a:spcPts val="800"/>
                </a:spcBef>
                <a:spcAft>
                  <a:spcPts val="20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</a:rPr>
                <a:t>Day 3 – Transition Updates Details </a:t>
              </a:r>
            </a:p>
            <a:p>
              <a:pPr marL="359410" lvl="0" indent="-359410">
                <a:spcBef>
                  <a:spcPts val="800"/>
                </a:spcBef>
                <a:spcAft>
                  <a:spcPts val="2000"/>
                </a:spcAft>
                <a:buFontTx/>
                <a:buAutoNum type="arabicPeriod"/>
                <a:defRPr/>
              </a:pPr>
              <a:r>
                <a:rPr lang="en-US" kern="0" dirty="0">
                  <a:solidFill>
                    <a:prstClr val="black"/>
                  </a:solidFill>
                </a:rPr>
                <a:t>UPS POD Transformation Journey PI13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E569531-20F0-ACB0-392B-78CCF2EC8C4E}"/>
                </a:ext>
              </a:extLst>
            </p:cNvPr>
            <p:cNvSpPr/>
            <p:nvPr/>
          </p:nvSpPr>
          <p:spPr>
            <a:xfrm>
              <a:off x="4791755" y="1972017"/>
              <a:ext cx="325988" cy="325988"/>
            </a:xfrm>
            <a:prstGeom prst="ellipse">
              <a:avLst/>
            </a:prstGeom>
            <a:solidFill>
              <a:srgbClr val="330000"/>
            </a:solidFill>
            <a:ln w="3175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rgbClr val="FFBE00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>
                  <a:ln>
                    <a:noFill/>
                  </a:ln>
                  <a:solidFill>
                    <a:srgbClr val="FFBE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1BA2EA9-B661-E617-3B11-550C8AFC9264}"/>
                </a:ext>
              </a:extLst>
            </p:cNvPr>
            <p:cNvSpPr/>
            <p:nvPr/>
          </p:nvSpPr>
          <p:spPr>
            <a:xfrm>
              <a:off x="4791755" y="2628700"/>
              <a:ext cx="325988" cy="325988"/>
            </a:xfrm>
            <a:prstGeom prst="ellipse">
              <a:avLst/>
            </a:prstGeom>
            <a:solidFill>
              <a:srgbClr val="330000"/>
            </a:solidFill>
            <a:ln w="3175" cap="flat" cmpd="sng" algn="ctr">
              <a:noFill/>
              <a:prstDash val="solid"/>
              <a:miter lim="800000"/>
            </a:ln>
            <a:effectLst>
              <a:outerShdw blurRad="50800" dist="38100" dir="2700000" algn="tl" rotWithShape="0">
                <a:srgbClr val="FFBE00">
                  <a:alpha val="40000"/>
                </a:srgb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800" b="1" i="0" u="none" strike="noStrike" kern="0" cap="none" spc="0" normalizeH="0" baseline="0" noProof="0" dirty="0">
                  <a:ln>
                    <a:noFill/>
                  </a:ln>
                  <a:solidFill>
                    <a:srgbClr val="FFBE00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2</a:t>
              </a:r>
            </a:p>
          </p:txBody>
        </p:sp>
      </p:grp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FE895E4-9F9E-FF78-EFEF-3E66F6E0D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92F45-BA5D-4C7A-ACC7-D44B34072B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36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502920" y="1078992"/>
            <a:ext cx="2697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67512" y="130219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7D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00200" y="132963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Uplift vs. PI12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1078992"/>
            <a:ext cx="2697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47872" y="130219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51C15"/>
                </a:solidFill>
                <a:latin typeface="Aptos"/>
              </a:rPr>
              <a:t>5215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80560" y="1329631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3A3531"/>
                </a:solidFill>
                <a:latin typeface="Aptos"/>
                <a:ea typeface="Aptos" pitchFamily="34" charset="-122"/>
                <a:cs typeface="Aptos" pitchFamily="34" charset="-120"/>
              </a:rPr>
              <a:t>SP PI13 actuals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63640" y="1078992"/>
            <a:ext cx="2697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 sz="2400" dirty="0"/>
          </a:p>
        </p:txBody>
      </p:sp>
      <p:sp>
        <p:nvSpPr>
          <p:cNvPr id="14" name="Text 12"/>
          <p:cNvSpPr/>
          <p:nvPr/>
        </p:nvSpPr>
        <p:spPr>
          <a:xfrm>
            <a:off x="6428232" y="130219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51C15"/>
                </a:solidFill>
                <a:latin typeface="Aptos"/>
              </a:rPr>
              <a:t>5122</a:t>
            </a:r>
            <a:endParaRPr lang="en-US" sz="2200" b="1" dirty="0">
              <a:solidFill>
                <a:srgbClr val="351C15"/>
              </a:solidFill>
              <a:latin typeface="Aptos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60920" y="1329630"/>
            <a:ext cx="1371600" cy="34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A3531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100" b="1" dirty="0">
                <a:solidFill>
                  <a:srgbClr val="3A3531"/>
                </a:solidFill>
                <a:latin typeface="Aptos"/>
                <a:ea typeface="Aptos" pitchFamily="34" charset="-122"/>
                <a:cs typeface="Aptos" pitchFamily="34" charset="-120"/>
              </a:rPr>
              <a:t>Target PI12 </a:t>
            </a:r>
            <a:br>
              <a:rPr lang="en-US" sz="1100" b="1" dirty="0">
                <a:solidFill>
                  <a:srgbClr val="3A3531"/>
                </a:solidFill>
                <a:latin typeface="Aptos"/>
                <a:ea typeface="Aptos" pitchFamily="34" charset="-122"/>
                <a:cs typeface="Aptos" pitchFamily="34" charset="-120"/>
              </a:rPr>
            </a:br>
            <a:r>
              <a:rPr lang="en-US" sz="1000" b="1" dirty="0">
                <a:solidFill>
                  <a:srgbClr val="3A3531"/>
                </a:solidFill>
                <a:latin typeface="Aptos"/>
                <a:ea typeface="Aptos" pitchFamily="34" charset="-122"/>
                <a:cs typeface="Aptos" pitchFamily="34" charset="-120"/>
              </a:rPr>
              <a:t>SP4657 +10%</a:t>
            </a:r>
            <a:endParaRPr lang="en-US" sz="1100" b="1" dirty="0"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9144000" y="1078992"/>
            <a:ext cx="269748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9308592" y="1302199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241280" y="1234380"/>
            <a:ext cx="1371600" cy="4700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PI13 PODs </a:t>
            </a:r>
          </a:p>
          <a:p>
            <a:pPr marL="0" indent="0" algn="l">
              <a:buNone/>
            </a:pPr>
            <a:r>
              <a:rPr lang="en-US" sz="1100" b="1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Dev 17 / Run 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2084832"/>
            <a:ext cx="6903720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49808" y="232257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App Dev PODs | Average velocity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97280" y="49377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68096" y="48828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097280" y="45948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768096" y="45399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097280" y="42519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768096" y="41970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56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097280" y="39090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768096" y="38541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097280" y="35661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68096" y="35112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1097280" y="32232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768096" y="31683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97280" y="2880360"/>
            <a:ext cx="5715000" cy="7315"/>
          </a:xfrm>
          <a:prstGeom prst="rect">
            <a:avLst/>
          </a:prstGeom>
          <a:solidFill>
            <a:srgbClr val="DDD6CE"/>
          </a:solidFill>
          <a:ln w="12700">
            <a:solidFill>
              <a:srgbClr val="DDD6C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768096" y="2825496"/>
            <a:ext cx="2468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097280" y="3394710"/>
            <a:ext cx="5715000" cy="22860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Shape 34"/>
          <p:cNvSpPr/>
          <p:nvPr/>
        </p:nvSpPr>
        <p:spPr>
          <a:xfrm>
            <a:off x="5742432" y="3099816"/>
            <a:ext cx="1005840" cy="196596"/>
          </a:xfrm>
          <a:prstGeom prst="roundRect">
            <a:avLst>
              <a:gd name="adj" fmla="val 15625"/>
            </a:avLst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788152" y="3129534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61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 flipV="1">
            <a:off x="1097280" y="4423410"/>
            <a:ext cx="816429" cy="68580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 flipV="1">
            <a:off x="1913709" y="4303395"/>
            <a:ext cx="816429" cy="120015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Shape 38"/>
          <p:cNvSpPr/>
          <p:nvPr/>
        </p:nvSpPr>
        <p:spPr>
          <a:xfrm flipV="1">
            <a:off x="2730137" y="4131945"/>
            <a:ext cx="816429" cy="171450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 flipV="1">
            <a:off x="3546566" y="3686175"/>
            <a:ext cx="816429" cy="445770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Shape 40"/>
          <p:cNvSpPr/>
          <p:nvPr/>
        </p:nvSpPr>
        <p:spPr>
          <a:xfrm flipV="1">
            <a:off x="4362994" y="3291840"/>
            <a:ext cx="816429" cy="394335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Shape 41"/>
          <p:cNvSpPr/>
          <p:nvPr/>
        </p:nvSpPr>
        <p:spPr>
          <a:xfrm>
            <a:off x="5179423" y="3291840"/>
            <a:ext cx="816429" cy="257175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 flipV="1">
            <a:off x="5995851" y="3399282"/>
            <a:ext cx="866721" cy="149732"/>
          </a:xfrm>
          <a:prstGeom prst="line">
            <a:avLst/>
          </a:prstGeom>
          <a:noFill/>
          <a:ln w="2921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46988" y="4441698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96112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12.4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63417" y="4373118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/>
          <p:nvPr/>
        </p:nvSpPr>
        <p:spPr>
          <a:xfrm>
            <a:off x="1712541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12.5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679845" y="4253103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2528969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12.6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496274" y="4081653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/>
          <p:nvPr/>
        </p:nvSpPr>
        <p:spPr>
          <a:xfrm>
            <a:off x="3345398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13.1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312702" y="3635883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/>
          <p:nvPr/>
        </p:nvSpPr>
        <p:spPr>
          <a:xfrm>
            <a:off x="4161826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13.2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5129131" y="3241548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/>
          <p:nvPr/>
        </p:nvSpPr>
        <p:spPr>
          <a:xfrm>
            <a:off x="4978255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13.3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945559" y="3489098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/>
          <p:nvPr/>
        </p:nvSpPr>
        <p:spPr>
          <a:xfrm>
            <a:off x="5794683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13.4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761988" y="3346828"/>
            <a:ext cx="100584" cy="100584"/>
          </a:xfrm>
          <a:prstGeom prst="ellipse">
            <a:avLst/>
          </a:prstGeom>
          <a:solidFill>
            <a:srgbClr val="FFB500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/>
          <p:nvPr/>
        </p:nvSpPr>
        <p:spPr>
          <a:xfrm>
            <a:off x="6611112" y="509320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96B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13.5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89520" y="2084832"/>
            <a:ext cx="4096512" cy="361188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/>
          <p:nvPr/>
        </p:nvSpPr>
        <p:spPr>
          <a:xfrm>
            <a:off x="7845552" y="23225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PI13 Retrospective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7845552" y="2788920"/>
            <a:ext cx="3566160" cy="493776"/>
          </a:xfrm>
          <a:prstGeom prst="roundRect">
            <a:avLst>
              <a:gd name="adj" fmla="val 7407"/>
            </a:avLst>
          </a:prstGeom>
          <a:solidFill>
            <a:srgbClr val="F7E7C1"/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8010144" y="2953512"/>
            <a:ext cx="128016" cy="128016"/>
          </a:xfrm>
          <a:prstGeom prst="ellipse">
            <a:avLst/>
          </a:prstGeom>
          <a:solidFill>
            <a:srgbClr val="D48A00"/>
          </a:solidFill>
          <a:ln w="12700">
            <a:solidFill>
              <a:srgbClr val="B94A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/>
          <p:nvPr/>
        </p:nvSpPr>
        <p:spPr>
          <a:xfrm>
            <a:off x="8247888" y="2862072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Backlog readiness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372600" y="28719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of 5 sampled PODs indicate insufficient backlog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845552" y="3383280"/>
            <a:ext cx="3566160" cy="493776"/>
          </a:xfrm>
          <a:prstGeom prst="roundRect">
            <a:avLst>
              <a:gd name="adj" fmla="val 7407"/>
            </a:avLst>
          </a:prstGeom>
          <a:solidFill>
            <a:srgbClr val="F7E7C1"/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Shape 70"/>
          <p:cNvSpPr/>
          <p:nvPr/>
        </p:nvSpPr>
        <p:spPr>
          <a:xfrm>
            <a:off x="8010144" y="3547872"/>
            <a:ext cx="128016" cy="128016"/>
          </a:xfrm>
          <a:prstGeom prst="ellipse">
            <a:avLst/>
          </a:prstGeom>
          <a:solidFill>
            <a:srgbClr val="D48A00"/>
          </a:solidFill>
          <a:ln w="12700">
            <a:solidFill>
              <a:srgbClr val="D48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/>
          <p:nvPr/>
        </p:nvSpPr>
        <p:spPr>
          <a:xfrm>
            <a:off x="8247888" y="344728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Prefix completion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372600" y="3480630"/>
            <a:ext cx="1874520" cy="206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Completed 6 remain outstanding</a:t>
            </a:r>
          </a:p>
          <a:p>
            <a:pPr marL="0" indent="0" algn="l">
              <a:buNone/>
            </a:pPr>
            <a:r>
              <a:rPr lang="en-US" sz="900" dirty="0">
                <a:solidFill>
                  <a:srgbClr val="3A3531"/>
                </a:solidFill>
                <a:latin typeface="Aptos" pitchFamily="34" charset="0"/>
              </a:rPr>
              <a:t>Owner and Dates Needed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845552" y="4005072"/>
            <a:ext cx="3566160" cy="493776"/>
          </a:xfrm>
          <a:prstGeom prst="roundRect">
            <a:avLst>
              <a:gd name="adj" fmla="val 7407"/>
            </a:avLst>
          </a:prstGeom>
          <a:solidFill>
            <a:srgbClr val="EEE7DE"/>
          </a:solidFill>
          <a:ln w="12700">
            <a:solidFill>
              <a:srgbClr val="E4D8C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8010144" y="4169664"/>
            <a:ext cx="128016" cy="128016"/>
          </a:xfrm>
          <a:prstGeom prst="ellipse">
            <a:avLst/>
          </a:prstGeom>
          <a:solidFill>
            <a:srgbClr val="351C15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/>
          <p:nvPr/>
        </p:nvSpPr>
        <p:spPr>
          <a:xfrm>
            <a:off x="8247888" y="4078224"/>
            <a:ext cx="12344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9372600" y="4083748"/>
            <a:ext cx="2051304" cy="3510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defect leakage and predictability</a:t>
            </a:r>
          </a:p>
          <a:p>
            <a:pPr marL="0" indent="0" algn="l">
              <a:buNone/>
            </a:pPr>
            <a:r>
              <a:rPr lang="en-US" sz="900" dirty="0"/>
              <a:t>AI Adoption and Maturity</a:t>
            </a:r>
          </a:p>
        </p:txBody>
      </p:sp>
      <p:sp>
        <p:nvSpPr>
          <p:cNvPr id="79" name="Shape 77"/>
          <p:cNvSpPr/>
          <p:nvPr/>
        </p:nvSpPr>
        <p:spPr>
          <a:xfrm>
            <a:off x="7845552" y="4700016"/>
            <a:ext cx="3566160" cy="292608"/>
          </a:xfrm>
          <a:prstGeom prst="roundRect">
            <a:avLst>
              <a:gd name="adj" fmla="val 15625"/>
            </a:avLst>
          </a:prstGeom>
          <a:solidFill>
            <a:srgbClr val="351C15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/>
          <p:nvPr/>
        </p:nvSpPr>
        <p:spPr>
          <a:xfrm>
            <a:off x="7891272" y="4764024"/>
            <a:ext cx="3474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Confirm prefix dates and backlog owners</a:t>
            </a:r>
            <a:endParaRPr lang="en-US" sz="850" dirty="0"/>
          </a:p>
        </p:txBody>
      </p:sp>
      <p:sp>
        <p:nvSpPr>
          <p:cNvPr id="5" name="Footer">
            <a:extLst>
              <a:ext uri="{FF2B5EF4-FFF2-40B4-BE49-F238E27FC236}">
                <a16:creationId xmlns:a16="http://schemas.microsoft.com/office/drawing/2014/main" id="{BB8D807B-0ED4-50AC-D561-711FCB8CEEF6}"/>
              </a:ext>
            </a:extLst>
          </p:cNvPr>
          <p:cNvSpPr/>
          <p:nvPr/>
        </p:nvSpPr>
        <p:spPr>
          <a:xfrm>
            <a:off x="609600" y="6440000"/>
            <a:ext cx="4832555" cy="31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srgbClr val="7A6555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Tech Mahindra  |  Confidential  |  POD based Outcome Transformation  | Sep 2026</a:t>
            </a:r>
          </a:p>
        </p:txBody>
      </p:sp>
      <p:sp>
        <p:nvSpPr>
          <p:cNvPr id="4" name="HeaderBar">
            <a:extLst>
              <a:ext uri="{FF2B5EF4-FFF2-40B4-BE49-F238E27FC236}">
                <a16:creationId xmlns:a16="http://schemas.microsoft.com/office/drawing/2014/main" id="{A74BC966-5F8B-20C5-52B9-75D4526CDA6B}"/>
              </a:ext>
            </a:extLst>
          </p:cNvPr>
          <p:cNvSpPr/>
          <p:nvPr/>
        </p:nvSpPr>
        <p:spPr>
          <a:xfrm>
            <a:off x="0" y="-40955"/>
            <a:ext cx="12192000" cy="1013333"/>
          </a:xfrm>
          <a:prstGeom prst="rect">
            <a:avLst/>
          </a:prstGeom>
          <a:solidFill>
            <a:srgbClr val="351C15"/>
          </a:solidFill>
          <a:ln/>
        </p:spPr>
        <p:txBody>
          <a:bodyPr/>
          <a:lstStyle/>
          <a:p>
            <a:pPr lvl="0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Title">
            <a:extLst>
              <a:ext uri="{FF2B5EF4-FFF2-40B4-BE49-F238E27FC236}">
                <a16:creationId xmlns:a16="http://schemas.microsoft.com/office/drawing/2014/main" id="{17EE75FD-4339-8467-C714-8822E5668AD9}"/>
              </a:ext>
            </a:extLst>
          </p:cNvPr>
          <p:cNvSpPr/>
          <p:nvPr/>
        </p:nvSpPr>
        <p:spPr>
          <a:xfrm>
            <a:off x="609600" y="105576"/>
            <a:ext cx="10972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50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UPS POD Transformation Journey PI13</a:t>
            </a:r>
          </a:p>
        </p:txBody>
      </p:sp>
      <p:sp>
        <p:nvSpPr>
          <p:cNvPr id="83" name="Subtitle">
            <a:extLst>
              <a:ext uri="{FF2B5EF4-FFF2-40B4-BE49-F238E27FC236}">
                <a16:creationId xmlns:a16="http://schemas.microsoft.com/office/drawing/2014/main" id="{E04924D7-E810-A3E6-D6A6-FFC234B342F2}"/>
              </a:ext>
            </a:extLst>
          </p:cNvPr>
          <p:cNvSpPr/>
          <p:nvPr/>
        </p:nvSpPr>
        <p:spPr>
          <a:xfrm>
            <a:off x="609600" y="598909"/>
            <a:ext cx="109728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0" b="0" i="0" u="none" strike="noStrike" kern="1200" cap="none" spc="0" normalizeH="0" baseline="0" noProof="0" dirty="0">
                <a:ln>
                  <a:noFill/>
                </a:ln>
                <a:solidFill>
                  <a:srgbClr val="FAF7F3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Day 3 PODs Update | KPIs| Risk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xmlns="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500"/>
          </a:solidFill>
          <a:ln w="12700">
            <a:solidFill>
              <a:srgbClr val="FFB5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21208" y="74980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96B61"/>
                </a:solidFill>
              </a:rPr>
              <a:t>Leadership action plan with clear decisions, due dates, and accountability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1115568"/>
            <a:ext cx="11201400" cy="438912"/>
          </a:xfrm>
          <a:prstGeom prst="roundRect">
            <a:avLst>
              <a:gd name="adj" fmla="val 6250"/>
            </a:avLst>
          </a:prstGeom>
          <a:solidFill>
            <a:srgbClr val="351C15"/>
          </a:solidFill>
          <a:ln w="12700">
            <a:solidFill>
              <a:srgbClr val="351C1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21792" y="1243584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1243584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outcome / next action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1243584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829800" y="1243584"/>
            <a:ext cx="1554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5300" y="4316166"/>
            <a:ext cx="112014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14172" y="4471614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Agile coach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827020" y="4435038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internal interviews and mobilize selected resource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965948" y="4444182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D48A00"/>
          </a:solidFill>
          <a:ln w="12700">
            <a:solidFill>
              <a:srgbClr val="2E7D4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011668" y="4508190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Sep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86188" y="447161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5300" y="4974534"/>
            <a:ext cx="11201400" cy="557784"/>
          </a:xfrm>
          <a:prstGeom prst="rect">
            <a:avLst/>
          </a:prstGeom>
          <a:solidFill>
            <a:srgbClr val="F2ECE5"/>
          </a:solidFill>
          <a:ln w="6350">
            <a:solidFill>
              <a:srgbClr val="E2D8CC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1" name="Text 29"/>
          <p:cNvSpPr/>
          <p:nvPr/>
        </p:nvSpPr>
        <p:spPr>
          <a:xfrm>
            <a:off x="614172" y="512998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access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827020" y="5093406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Enable ADID and PPOM access for TechM users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65948" y="5102550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D48A00"/>
          </a:solidFill>
          <a:ln w="12700">
            <a:solidFill>
              <a:srgbClr val="B94A3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8011668" y="5166558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Sep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95300" y="1658810"/>
            <a:ext cx="112014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614172" y="181425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telemetry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27020" y="177768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 user-level utilization and token consumption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965948" y="1786826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D48A00"/>
          </a:solidFill>
          <a:ln w="12700">
            <a:solidFill>
              <a:srgbClr val="D48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011668" y="185083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process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95300" y="2317178"/>
            <a:ext cx="11201400" cy="557784"/>
          </a:xfrm>
          <a:prstGeom prst="rect">
            <a:avLst/>
          </a:prstGeom>
          <a:solidFill>
            <a:srgbClr val="F2ECE5"/>
          </a:solidFill>
          <a:ln w="635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614172" y="2472626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for Day 2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2827020" y="243605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resource repurposing after POD analysis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965948" y="2445194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D48A00"/>
          </a:solidFill>
          <a:ln w="12700">
            <a:solidFill>
              <a:srgbClr val="D48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8011668" y="250920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Post-analysis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9886188" y="247262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Roshini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02920" y="5742432"/>
            <a:ext cx="11201400" cy="484632"/>
          </a:xfrm>
          <a:prstGeom prst="roundRect">
            <a:avLst>
              <a:gd name="adj" fmla="val 11321"/>
            </a:avLst>
          </a:prstGeom>
          <a:solidFill>
            <a:srgbClr val="EEE7DE"/>
          </a:solidFill>
          <a:ln w="762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/>
          <p:nvPr/>
        </p:nvSpPr>
        <p:spPr>
          <a:xfrm>
            <a:off x="685800" y="589788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Leadership ask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783080" y="5870448"/>
            <a:ext cx="950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Resolve access and telemetry dependencies; retain 02 Oct as the integrated QA and Day 2 decision checkpoint.</a:t>
            </a:r>
            <a:endParaRPr lang="en-US" sz="1050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7FD5112-ECEB-A004-C96D-D4692BC09FEC}"/>
              </a:ext>
            </a:extLst>
          </p:cNvPr>
          <p:cNvSpPr/>
          <p:nvPr/>
        </p:nvSpPr>
        <p:spPr>
          <a:xfrm>
            <a:off x="609600" y="106667"/>
            <a:ext cx="10972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50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UPS POD Transformation Program</a:t>
            </a:r>
          </a:p>
        </p:txBody>
      </p:sp>
      <p:sp>
        <p:nvSpPr>
          <p:cNvPr id="35" name="HeaderBar">
            <a:extLst>
              <a:ext uri="{FF2B5EF4-FFF2-40B4-BE49-F238E27FC236}">
                <a16:creationId xmlns:a16="http://schemas.microsoft.com/office/drawing/2014/main" id="{E042404B-B427-1817-3AC2-0C36DF79FF39}"/>
              </a:ext>
            </a:extLst>
          </p:cNvPr>
          <p:cNvSpPr/>
          <p:nvPr/>
        </p:nvSpPr>
        <p:spPr>
          <a:xfrm>
            <a:off x="0" y="-40955"/>
            <a:ext cx="12192000" cy="1013333"/>
          </a:xfrm>
          <a:prstGeom prst="rect">
            <a:avLst/>
          </a:prstGeom>
          <a:solidFill>
            <a:srgbClr val="351C15"/>
          </a:solidFill>
          <a:ln/>
        </p:spPr>
        <p:txBody>
          <a:bodyPr/>
          <a:lstStyle/>
          <a:p>
            <a:pPr lvl="0"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Title">
            <a:extLst>
              <a:ext uri="{FF2B5EF4-FFF2-40B4-BE49-F238E27FC236}">
                <a16:creationId xmlns:a16="http://schemas.microsoft.com/office/drawing/2014/main" id="{BE925CA8-0934-107F-6BF1-2955A2982883}"/>
              </a:ext>
            </a:extLst>
          </p:cNvPr>
          <p:cNvSpPr/>
          <p:nvPr/>
        </p:nvSpPr>
        <p:spPr>
          <a:xfrm>
            <a:off x="609600" y="105576"/>
            <a:ext cx="109728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B500"/>
                </a:solidFill>
                <a:effectLst/>
                <a:uLnTx/>
                <a:uFillTx/>
                <a:latin typeface="Georgia" pitchFamily="34" charset="0"/>
                <a:ea typeface="+mn-ea"/>
                <a:cs typeface="+mn-cs"/>
              </a:rPr>
              <a:t>UPS POD Transformation Journey PI13</a:t>
            </a:r>
          </a:p>
        </p:txBody>
      </p:sp>
      <p:sp>
        <p:nvSpPr>
          <p:cNvPr id="53" name="Subtitle">
            <a:extLst>
              <a:ext uri="{FF2B5EF4-FFF2-40B4-BE49-F238E27FC236}">
                <a16:creationId xmlns:a16="http://schemas.microsoft.com/office/drawing/2014/main" id="{5B78D55A-92C1-5FBE-7ADB-5DE4D79E7FAC}"/>
              </a:ext>
            </a:extLst>
          </p:cNvPr>
          <p:cNvSpPr/>
          <p:nvPr/>
        </p:nvSpPr>
        <p:spPr>
          <a:xfrm>
            <a:off x="609600" y="598909"/>
            <a:ext cx="109728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330" dirty="0">
                <a:solidFill>
                  <a:srgbClr val="FAF7F3"/>
                </a:solidFill>
                <a:latin typeface="Calibri" pitchFamily="34" charset="0"/>
              </a:rPr>
              <a:t>QA Strategy| Key Resource Needs | Day2 Strategy | GitHub Users</a:t>
            </a:r>
          </a:p>
        </p:txBody>
      </p:sp>
      <p:sp>
        <p:nvSpPr>
          <p:cNvPr id="55" name="Text 27">
            <a:extLst>
              <a:ext uri="{FF2B5EF4-FFF2-40B4-BE49-F238E27FC236}">
                <a16:creationId xmlns:a16="http://schemas.microsoft.com/office/drawing/2014/main" id="{79A34AE2-4505-57E1-7D94-DDD8053C7D12}"/>
              </a:ext>
            </a:extLst>
          </p:cNvPr>
          <p:cNvSpPr/>
          <p:nvPr/>
        </p:nvSpPr>
        <p:spPr>
          <a:xfrm>
            <a:off x="9913620" y="5130595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Trevor &amp; Andy R.</a:t>
            </a:r>
            <a:endParaRPr lang="en-US" sz="1000" dirty="0"/>
          </a:p>
        </p:txBody>
      </p:sp>
      <p:sp>
        <p:nvSpPr>
          <p:cNvPr id="57" name="Footer">
            <a:extLst>
              <a:ext uri="{FF2B5EF4-FFF2-40B4-BE49-F238E27FC236}">
                <a16:creationId xmlns:a16="http://schemas.microsoft.com/office/drawing/2014/main" id="{3637CB2C-862B-8E7F-640A-40C20644581F}"/>
              </a:ext>
            </a:extLst>
          </p:cNvPr>
          <p:cNvSpPr/>
          <p:nvPr/>
        </p:nvSpPr>
        <p:spPr>
          <a:xfrm>
            <a:off x="609600" y="6440000"/>
            <a:ext cx="4832555" cy="311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67" b="0" i="0" u="none" strike="noStrike" kern="1200" cap="none" spc="0" normalizeH="0" baseline="0" noProof="0" dirty="0">
                <a:ln>
                  <a:noFill/>
                </a:ln>
                <a:solidFill>
                  <a:srgbClr val="7A6555"/>
                </a:solidFill>
                <a:effectLst/>
                <a:uLnTx/>
                <a:uFillTx/>
                <a:latin typeface="Calibri" pitchFamily="34" charset="0"/>
                <a:ea typeface="+mn-ea"/>
                <a:cs typeface="+mn-cs"/>
              </a:rPr>
              <a:t>Tech Mahindra  |  Confidential  |  POD based Outcome Transformation  | Sep 2026</a:t>
            </a:r>
          </a:p>
        </p:txBody>
      </p:sp>
      <p:sp>
        <p:nvSpPr>
          <p:cNvPr id="59" name="Shape 10">
            <a:extLst>
              <a:ext uri="{FF2B5EF4-FFF2-40B4-BE49-F238E27FC236}">
                <a16:creationId xmlns:a16="http://schemas.microsoft.com/office/drawing/2014/main" id="{458A4184-7AEF-689E-805E-C3BD327E4FE3}"/>
              </a:ext>
            </a:extLst>
          </p:cNvPr>
          <p:cNvSpPr/>
          <p:nvPr/>
        </p:nvSpPr>
        <p:spPr>
          <a:xfrm>
            <a:off x="495300" y="3000572"/>
            <a:ext cx="11201400" cy="557784"/>
          </a:xfrm>
          <a:prstGeom prst="rect">
            <a:avLst/>
          </a:prstGeom>
          <a:solidFill>
            <a:srgbClr val="FFFFFF"/>
          </a:solidFill>
          <a:ln w="635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Text 11">
            <a:extLst>
              <a:ext uri="{FF2B5EF4-FFF2-40B4-BE49-F238E27FC236}">
                <a16:creationId xmlns:a16="http://schemas.microsoft.com/office/drawing/2014/main" id="{C50D2D59-C8AD-3904-37E6-95439B3913F1}"/>
              </a:ext>
            </a:extLst>
          </p:cNvPr>
          <p:cNvSpPr/>
          <p:nvPr/>
        </p:nvSpPr>
        <p:spPr>
          <a:xfrm>
            <a:off x="614172" y="31560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transition</a:t>
            </a:r>
            <a:endParaRPr lang="en-US" sz="1050" dirty="0"/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DCFCE38F-5C9E-E19F-9896-2E7535165357}"/>
              </a:ext>
            </a:extLst>
          </p:cNvPr>
          <p:cNvSpPr/>
          <p:nvPr/>
        </p:nvSpPr>
        <p:spPr>
          <a:xfrm>
            <a:off x="2827020" y="3119444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Finalize Day 3 transition model and report out to UPS</a:t>
            </a:r>
            <a:endParaRPr lang="en-US" sz="1000" dirty="0"/>
          </a:p>
        </p:txBody>
      </p:sp>
      <p:sp>
        <p:nvSpPr>
          <p:cNvPr id="65" name="Shape 13">
            <a:extLst>
              <a:ext uri="{FF2B5EF4-FFF2-40B4-BE49-F238E27FC236}">
                <a16:creationId xmlns:a16="http://schemas.microsoft.com/office/drawing/2014/main" id="{2F64285E-DB38-22D1-9DED-D98D2DD388AC}"/>
              </a:ext>
            </a:extLst>
          </p:cNvPr>
          <p:cNvSpPr/>
          <p:nvPr/>
        </p:nvSpPr>
        <p:spPr>
          <a:xfrm>
            <a:off x="7965948" y="3128588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D48A00"/>
          </a:solidFill>
          <a:ln w="12700">
            <a:solidFill>
              <a:srgbClr val="D48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Text 14">
            <a:extLst>
              <a:ext uri="{FF2B5EF4-FFF2-40B4-BE49-F238E27FC236}">
                <a16:creationId xmlns:a16="http://schemas.microsoft.com/office/drawing/2014/main" id="{A6BB9125-2993-01D8-E4AD-DC2B50CCF9C1}"/>
              </a:ext>
            </a:extLst>
          </p:cNvPr>
          <p:cNvSpPr/>
          <p:nvPr/>
        </p:nvSpPr>
        <p:spPr>
          <a:xfrm>
            <a:off x="8011668" y="3192596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Oct</a:t>
            </a:r>
            <a:endParaRPr lang="en-US" sz="850" dirty="0"/>
          </a:p>
        </p:txBody>
      </p:sp>
      <p:sp>
        <p:nvSpPr>
          <p:cNvPr id="69" name="Text 15">
            <a:extLst>
              <a:ext uri="{FF2B5EF4-FFF2-40B4-BE49-F238E27FC236}">
                <a16:creationId xmlns:a16="http://schemas.microsoft.com/office/drawing/2014/main" id="{3604E6B6-F94C-E1AD-D244-D685F144A261}"/>
              </a:ext>
            </a:extLst>
          </p:cNvPr>
          <p:cNvSpPr/>
          <p:nvPr/>
        </p:nvSpPr>
        <p:spPr>
          <a:xfrm>
            <a:off x="9886188" y="315602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TechM Delivery</a:t>
            </a:r>
            <a:endParaRPr lang="en-US" sz="1000" dirty="0"/>
          </a:p>
        </p:txBody>
      </p:sp>
      <p:sp>
        <p:nvSpPr>
          <p:cNvPr id="71" name="Shape 16">
            <a:extLst>
              <a:ext uri="{FF2B5EF4-FFF2-40B4-BE49-F238E27FC236}">
                <a16:creationId xmlns:a16="http://schemas.microsoft.com/office/drawing/2014/main" id="{6015AA75-33E5-9746-71A3-E16A5250CB78}"/>
              </a:ext>
            </a:extLst>
          </p:cNvPr>
          <p:cNvSpPr/>
          <p:nvPr/>
        </p:nvSpPr>
        <p:spPr>
          <a:xfrm>
            <a:off x="495300" y="3658940"/>
            <a:ext cx="11201400" cy="557784"/>
          </a:xfrm>
          <a:prstGeom prst="rect">
            <a:avLst/>
          </a:prstGeom>
          <a:solidFill>
            <a:srgbClr val="F2ECE5"/>
          </a:solidFill>
          <a:ln w="6350">
            <a:solidFill>
              <a:srgbClr val="E2D8C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17">
            <a:extLst>
              <a:ext uri="{FF2B5EF4-FFF2-40B4-BE49-F238E27FC236}">
                <a16:creationId xmlns:a16="http://schemas.microsoft.com/office/drawing/2014/main" id="{7BAA3E1F-0EE2-E7AB-BF4D-574B4F32ED74}"/>
              </a:ext>
            </a:extLst>
          </p:cNvPr>
          <p:cNvSpPr/>
          <p:nvPr/>
        </p:nvSpPr>
        <p:spPr>
          <a:xfrm>
            <a:off x="614172" y="381438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351C1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strategy</a:t>
            </a:r>
            <a:endParaRPr lang="en-US" sz="1050" dirty="0"/>
          </a:p>
        </p:txBody>
      </p:sp>
      <p:sp>
        <p:nvSpPr>
          <p:cNvPr id="75" name="Text 18">
            <a:extLst>
              <a:ext uri="{FF2B5EF4-FFF2-40B4-BE49-F238E27FC236}">
                <a16:creationId xmlns:a16="http://schemas.microsoft.com/office/drawing/2014/main" id="{EEF57419-84F1-1D58-A72E-F5F9ACB8BD23}"/>
              </a:ext>
            </a:extLst>
          </p:cNvPr>
          <p:cNvSpPr/>
          <p:nvPr/>
        </p:nvSpPr>
        <p:spPr>
          <a:xfrm>
            <a:off x="2827020" y="3777812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 joint TechM / ADM qualification and operating model</a:t>
            </a:r>
          </a:p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</a:rPr>
              <a:t>Move forward with credit approach for %</a:t>
            </a:r>
            <a:endParaRPr lang="en-US" sz="1000" dirty="0"/>
          </a:p>
        </p:txBody>
      </p:sp>
      <p:sp>
        <p:nvSpPr>
          <p:cNvPr id="77" name="Shape 19">
            <a:extLst>
              <a:ext uri="{FF2B5EF4-FFF2-40B4-BE49-F238E27FC236}">
                <a16:creationId xmlns:a16="http://schemas.microsoft.com/office/drawing/2014/main" id="{73B053D8-B4C3-C523-D364-B8A995FC5689}"/>
              </a:ext>
            </a:extLst>
          </p:cNvPr>
          <p:cNvSpPr/>
          <p:nvPr/>
        </p:nvSpPr>
        <p:spPr>
          <a:xfrm>
            <a:off x="7965948" y="3786956"/>
            <a:ext cx="1298448" cy="292608"/>
          </a:xfrm>
          <a:prstGeom prst="roundRect">
            <a:avLst>
              <a:gd name="adj" fmla="val 15625"/>
            </a:avLst>
          </a:prstGeom>
          <a:solidFill>
            <a:srgbClr val="D48A00"/>
          </a:solidFill>
          <a:ln w="12700">
            <a:solidFill>
              <a:srgbClr val="D48A0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20">
            <a:extLst>
              <a:ext uri="{FF2B5EF4-FFF2-40B4-BE49-F238E27FC236}">
                <a16:creationId xmlns:a16="http://schemas.microsoft.com/office/drawing/2014/main" id="{0A51001B-06B4-9CB0-E67B-09125ADAADDB}"/>
              </a:ext>
            </a:extLst>
          </p:cNvPr>
          <p:cNvSpPr/>
          <p:nvPr/>
        </p:nvSpPr>
        <p:spPr>
          <a:xfrm>
            <a:off x="8011668" y="3850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Oct</a:t>
            </a:r>
            <a:endParaRPr lang="en-US" sz="850" dirty="0"/>
          </a:p>
        </p:txBody>
      </p:sp>
      <p:sp>
        <p:nvSpPr>
          <p:cNvPr id="81" name="Text 21">
            <a:extLst>
              <a:ext uri="{FF2B5EF4-FFF2-40B4-BE49-F238E27FC236}">
                <a16:creationId xmlns:a16="http://schemas.microsoft.com/office/drawing/2014/main" id="{FAFF80D2-F184-53D4-4076-D91B9DCBF0FC}"/>
              </a:ext>
            </a:extLst>
          </p:cNvPr>
          <p:cNvSpPr/>
          <p:nvPr/>
        </p:nvSpPr>
        <p:spPr>
          <a:xfrm>
            <a:off x="9886188" y="38143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TechM / UPS</a:t>
            </a:r>
            <a:endParaRPr lang="en-US" sz="1000" dirty="0"/>
          </a:p>
        </p:txBody>
      </p:sp>
      <p:sp>
        <p:nvSpPr>
          <p:cNvPr id="6" name="Text 15">
            <a:extLst>
              <a:ext uri="{FF2B5EF4-FFF2-40B4-BE49-F238E27FC236}">
                <a16:creationId xmlns:a16="http://schemas.microsoft.com/office/drawing/2014/main" id="{E9136E8F-B066-D96A-EAB6-6324B93975CA}"/>
              </a:ext>
            </a:extLst>
          </p:cNvPr>
          <p:cNvSpPr/>
          <p:nvPr/>
        </p:nvSpPr>
        <p:spPr>
          <a:xfrm>
            <a:off x="9875520" y="181425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A35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 &amp; Andy 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7416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5911</TotalTime>
  <Words>316</Words>
  <Application>Microsoft Office PowerPoint</Application>
  <PresentationFormat>Widescreen</PresentationFormat>
  <Paragraphs>85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Georgia</vt:lpstr>
      <vt:lpstr>Verdana</vt:lpstr>
      <vt:lpstr>Office Theme</vt:lpstr>
      <vt:lpstr>TechM Weekly Transformation  Program Status Updates</vt:lpstr>
      <vt:lpstr>Agenda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UPS Weekly Transformation Executive Review</dc:title>
  <dc:subject>Executive program status</dc:subject>
  <dc:creator>Daniel Orlopp</dc:creator>
  <cp:lastModifiedBy>Admin</cp:lastModifiedBy>
  <cp:revision>48</cp:revision>
  <dcterms:created xsi:type="dcterms:W3CDTF">2026-08-31T02:32:53Z</dcterms:created>
  <dcterms:modified xsi:type="dcterms:W3CDTF">2026-09-16T10:40:39Z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2026-08-31T02:32:54Z</vt:lpwstr>
  </property>
  <property fmtid="{D5CDD505-2E9C-101B-9397-08002B2CF9AE}" pid="4" name="MSIP_Label_7331f486-f8b5-456b-a19a-dbe0d296c5fd_Method">
    <vt:lpwstr>Standard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4d33531c-89c9-4e65-a681-e7169995afe5</vt:lpwstr>
  </property>
  <property fmtid="{D5CDD505-2E9C-101B-9397-08002B2CF9AE}" pid="8" name="MSIP_Label_7331f486-f8b5-456b-a19a-dbe0d296c5fd_ContentBits">
    <vt:lpwstr>0</vt:lpwstr>
  </property>
</Properties>
</file>